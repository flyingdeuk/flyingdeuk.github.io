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6"/>
  </p:notesMasterIdLst>
  <p:sldIdLst>
    <p:sldId id="292" r:id="rId2"/>
    <p:sldId id="345" r:id="rId3"/>
    <p:sldId id="349" r:id="rId4"/>
    <p:sldId id="367" r:id="rId5"/>
    <p:sldId id="346" r:id="rId6"/>
    <p:sldId id="350" r:id="rId7"/>
    <p:sldId id="347" r:id="rId8"/>
    <p:sldId id="351" r:id="rId9"/>
    <p:sldId id="348" r:id="rId10"/>
    <p:sldId id="282" r:id="rId11"/>
    <p:sldId id="333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355" r:id="rId25"/>
    <p:sldId id="356" r:id="rId26"/>
    <p:sldId id="357" r:id="rId27"/>
    <p:sldId id="358" r:id="rId28"/>
    <p:sldId id="269" r:id="rId29"/>
    <p:sldId id="270" r:id="rId30"/>
    <p:sldId id="401" r:id="rId31"/>
    <p:sldId id="402" r:id="rId32"/>
    <p:sldId id="403" r:id="rId33"/>
    <p:sldId id="404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95" r:id="rId43"/>
    <p:sldId id="296" r:id="rId44"/>
    <p:sldId id="340" r:id="rId45"/>
    <p:sldId id="341" r:id="rId46"/>
    <p:sldId id="382" r:id="rId47"/>
    <p:sldId id="383" r:id="rId48"/>
    <p:sldId id="405" r:id="rId49"/>
    <p:sldId id="406" r:id="rId50"/>
    <p:sldId id="399" r:id="rId51"/>
    <p:sldId id="400" r:id="rId52"/>
    <p:sldId id="293" r:id="rId53"/>
    <p:sldId id="310" r:id="rId54"/>
    <p:sldId id="294" r:id="rId55"/>
    <p:sldId id="352" r:id="rId56"/>
    <p:sldId id="353" r:id="rId57"/>
    <p:sldId id="354" r:id="rId58"/>
    <p:sldId id="297" r:id="rId59"/>
    <p:sldId id="298" r:id="rId60"/>
    <p:sldId id="306" r:id="rId61"/>
    <p:sldId id="311" r:id="rId62"/>
    <p:sldId id="307" r:id="rId63"/>
    <p:sldId id="368" r:id="rId64"/>
    <p:sldId id="369" r:id="rId65"/>
    <p:sldId id="370" r:id="rId66"/>
    <p:sldId id="300" r:id="rId67"/>
    <p:sldId id="312" r:id="rId68"/>
    <p:sldId id="301" r:id="rId69"/>
    <p:sldId id="304" r:id="rId70"/>
    <p:sldId id="313" r:id="rId71"/>
    <p:sldId id="305" r:id="rId72"/>
    <p:sldId id="308" r:id="rId73"/>
    <p:sldId id="314" r:id="rId74"/>
    <p:sldId id="309" r:id="rId75"/>
    <p:sldId id="315" r:id="rId76"/>
    <p:sldId id="316" r:id="rId77"/>
    <p:sldId id="317" r:id="rId78"/>
    <p:sldId id="318" r:id="rId79"/>
    <p:sldId id="319" r:id="rId80"/>
    <p:sldId id="320" r:id="rId81"/>
    <p:sldId id="321" r:id="rId82"/>
    <p:sldId id="322" r:id="rId83"/>
    <p:sldId id="324" r:id="rId84"/>
    <p:sldId id="325" r:id="rId85"/>
    <p:sldId id="328" r:id="rId86"/>
    <p:sldId id="329" r:id="rId87"/>
    <p:sldId id="330" r:id="rId88"/>
    <p:sldId id="334" r:id="rId89"/>
    <p:sldId id="335" r:id="rId90"/>
    <p:sldId id="336" r:id="rId91"/>
    <p:sldId id="337" r:id="rId92"/>
    <p:sldId id="342" r:id="rId93"/>
    <p:sldId id="343" r:id="rId94"/>
    <p:sldId id="344" r:id="rId95"/>
    <p:sldId id="371" r:id="rId96"/>
    <p:sldId id="372" r:id="rId97"/>
    <p:sldId id="373" r:id="rId98"/>
    <p:sldId id="377" r:id="rId99"/>
    <p:sldId id="379" r:id="rId100"/>
    <p:sldId id="386" r:id="rId101"/>
    <p:sldId id="387" r:id="rId102"/>
    <p:sldId id="388" r:id="rId103"/>
    <p:sldId id="391" r:id="rId104"/>
    <p:sldId id="392" r:id="rId105"/>
    <p:sldId id="393" r:id="rId106"/>
    <p:sldId id="394" r:id="rId107"/>
    <p:sldId id="395" r:id="rId108"/>
    <p:sldId id="396" r:id="rId109"/>
    <p:sldId id="407" r:id="rId110"/>
    <p:sldId id="411" r:id="rId111"/>
    <p:sldId id="410" r:id="rId112"/>
    <p:sldId id="412" r:id="rId113"/>
    <p:sldId id="413" r:id="rId114"/>
    <p:sldId id="414" r:id="rId115"/>
    <p:sldId id="415" r:id="rId116"/>
    <p:sldId id="416" r:id="rId117"/>
    <p:sldId id="417" r:id="rId118"/>
    <p:sldId id="326" r:id="rId119"/>
    <p:sldId id="327" r:id="rId120"/>
    <p:sldId id="331" r:id="rId121"/>
    <p:sldId id="332" r:id="rId122"/>
    <p:sldId id="359" r:id="rId123"/>
    <p:sldId id="360" r:id="rId124"/>
    <p:sldId id="361" r:id="rId125"/>
    <p:sldId id="362" r:id="rId126"/>
    <p:sldId id="397" r:id="rId127"/>
    <p:sldId id="398" r:id="rId128"/>
    <p:sldId id="374" r:id="rId129"/>
    <p:sldId id="375" r:id="rId130"/>
    <p:sldId id="338" r:id="rId131"/>
    <p:sldId id="376" r:id="rId132"/>
    <p:sldId id="339" r:id="rId133"/>
    <p:sldId id="380" r:id="rId134"/>
    <p:sldId id="381" r:id="rId135"/>
    <p:sldId id="389" r:id="rId136"/>
    <p:sldId id="390" r:id="rId137"/>
    <p:sldId id="385" r:id="rId138"/>
    <p:sldId id="363" r:id="rId139"/>
    <p:sldId id="364" r:id="rId140"/>
    <p:sldId id="418" r:id="rId141"/>
    <p:sldId id="365" r:id="rId142"/>
    <p:sldId id="366" r:id="rId143"/>
    <p:sldId id="384" r:id="rId144"/>
    <p:sldId id="283" r:id="rId145"/>
    <p:sldId id="284" r:id="rId146"/>
    <p:sldId id="286" r:id="rId147"/>
    <p:sldId id="287" r:id="rId148"/>
    <p:sldId id="288" r:id="rId149"/>
    <p:sldId id="289" r:id="rId150"/>
    <p:sldId id="290" r:id="rId151"/>
    <p:sldId id="291" r:id="rId152"/>
    <p:sldId id="302" r:id="rId153"/>
    <p:sldId id="303" r:id="rId154"/>
    <p:sldId id="281" r:id="rId155"/>
  </p:sldIdLst>
  <p:sldSz cx="2328863" cy="5572125"/>
  <p:notesSz cx="6858000" cy="9144000"/>
  <p:embeddedFontLst>
    <p:embeddedFont>
      <p:font typeface="Cambria Math" panose="02040503050406030204" pitchFamily="18" charset="0"/>
      <p:regular r:id="rId157"/>
    </p:embeddedFont>
    <p:embeddedFont>
      <p:font typeface="Helvetica Neue" panose="02000503000000020004" pitchFamily="2" charset="0"/>
      <p:regular r:id="rId158"/>
      <p:bold r:id="rId159"/>
      <p:italic r:id="rId160"/>
      <p:boldItalic r:id="rId161"/>
    </p:embeddedFont>
    <p:embeddedFont>
      <p:font typeface="Lato" panose="020F0502020204030203" pitchFamily="34" charset="0"/>
      <p:regular r:id="rId162"/>
      <p:bold r:id="rId163"/>
      <p:italic r:id="rId164"/>
      <p:boldItalic r:id="rId16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55" userDrawn="1">
          <p15:clr>
            <a:srgbClr val="A4A3A4"/>
          </p15:clr>
        </p15:guide>
        <p15:guide id="2" pos="733" userDrawn="1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6" roundtripDataSignature="AMtx7mhbwbpmZl6Umln1q/ckcX3dt/NV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4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BE36-7E6F-4EC9-8D66-1CF97A6895EC}">
  <a:tblStyle styleId="{A521BE36-7E6F-4EC9-8D66-1CF97A68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62"/>
    <p:restoredTop sz="94637"/>
  </p:normalViewPr>
  <p:slideViewPr>
    <p:cSldViewPr snapToGrid="0" showGuides="1">
      <p:cViewPr>
        <p:scale>
          <a:sx n="241" d="100"/>
          <a:sy n="241" d="100"/>
        </p:scale>
        <p:origin x="1488" y="120"/>
      </p:cViewPr>
      <p:guideLst>
        <p:guide orient="horz" pos="1755"/>
        <p:guide pos="7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font" Target="fonts/font3.fntdata"/><Relationship Id="rId170" Type="http://schemas.openxmlformats.org/officeDocument/2006/relationships/tableStyles" Target="tableStyle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font" Target="fonts/font4.fntdata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font" Target="fonts/font5.fntdata"/><Relationship Id="rId166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6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font" Target="fonts/font1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7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8.fntdata"/><Relationship Id="rId16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9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Kneeboard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2641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Dometic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66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Domestic PA</a:t>
            </a:r>
            <a:endParaRPr dirty="0"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3173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0922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203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8737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670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826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78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095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8697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9193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820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66236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50065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723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3360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1761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3582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4084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9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11046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262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50385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53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203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68508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2615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15040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864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4879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4170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05145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383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9639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94690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21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52197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61932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255405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199117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9193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17301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89107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52725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84048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5281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34496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1439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8500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24088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97897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53129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47406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33714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406046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422846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5434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4998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85699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78983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772440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97918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55911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5444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75713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9870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390841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328296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5054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70062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84357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75361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320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0318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2274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780407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9826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95025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43294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112390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300198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49417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24246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28F04BC2-995A-883D-1F9C-8B964E3AB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9F159807-29A1-B76D-C4F7-3843C57BB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15EC3C7A-8250-B15C-56AD-35D23DB6B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92711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ABBAF33E-327A-3B8B-7BBD-71BD5BC6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5845856-0077-4466-289C-63A064B3A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747D5D3A-1071-4ADF-FE14-273E008A5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36409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0D68442-E925-0F27-93A9-B596FA1AF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33A5AF1F-D01F-A2BC-D51E-225431B06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1A86C6C-3B36-A104-8EE4-55FFB256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131818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BA007F9-A3EF-503B-612C-932CF554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492A2DDB-E43F-A118-7076-4FFB3401D1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6A75F646-7847-9AF5-2252-35AE8899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430315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7CF2D6D-B49F-DD01-1168-1C2FF64E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EAEC217-200D-8DAB-1AEC-38EF35CB20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16A325AA-530A-6502-93D9-02A5672BC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677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6EDB6F10-8EA4-E8E3-5121-2259ABE2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18419798-DFA3-502A-7854-681732BF8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E650C63-B66F-5140-BDD9-48A098E39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6059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8B52D91-7381-F071-5762-EC9E8E02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6BA88C35-4299-26A4-9FB4-F5EC93F1D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C35EE470-E9F0-B858-708E-D1F4B276F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3900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D2D883D-114D-4AC7-AC11-BBA06E2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7AEA3F3-61D3-AD3E-3686-76D6832CD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D08848B9-99DF-48DB-3F53-624D782A8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10596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BF77A258-E153-13BA-241A-10CFF6B7B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6AE2D417-9A59-CC2C-0E93-328401EEC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8E88688E-F8CF-67CB-F382-F094A7D16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683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523544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7955625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1589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3964762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4335809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5349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088383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543181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09664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082048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925406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53552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9400145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610407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6030226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495566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4391033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413914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368571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37767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7666556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651569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>
          <a:extLst>
            <a:ext uri="{FF2B5EF4-FFF2-40B4-BE49-F238E27FC236}">
              <a16:creationId xmlns:a16="http://schemas.microsoft.com/office/drawing/2014/main" id="{7D3EAA58-03C9-5B38-3634-9FC18AD6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>
            <a:extLst>
              <a:ext uri="{FF2B5EF4-FFF2-40B4-BE49-F238E27FC236}">
                <a16:creationId xmlns:a16="http://schemas.microsoft.com/office/drawing/2014/main" id="{810A13D0-080C-9792-FE38-F7F92108B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>
            <a:extLst>
              <a:ext uri="{FF2B5EF4-FFF2-40B4-BE49-F238E27FC236}">
                <a16:creationId xmlns:a16="http://schemas.microsoft.com/office/drawing/2014/main" id="{E033A82F-F386-248C-34A6-63506250D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53439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963361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630487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195189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8126148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4290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220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>
            <a:spLocks noGrp="1"/>
          </p:cNvSpPr>
          <p:nvPr>
            <p:ph type="ctrTitle"/>
          </p:nvPr>
        </p:nvSpPr>
        <p:spPr>
          <a:xfrm>
            <a:off x="174665" y="911920"/>
            <a:ext cx="1979534" cy="193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8"/>
          <p:cNvSpPr txBox="1">
            <a:spLocks noGrp="1"/>
          </p:cNvSpPr>
          <p:nvPr>
            <p:ph type="subTitle" idx="1"/>
          </p:nvPr>
        </p:nvSpPr>
        <p:spPr>
          <a:xfrm>
            <a:off x="291108" y="2926656"/>
            <a:ext cx="1746647" cy="1345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/>
            </a:lvl1pPr>
            <a:lvl2pPr lvl="1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/>
            </a:lvl2pPr>
            <a:lvl3pPr lvl="2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/>
            </a:lvl3pPr>
            <a:lvl4pPr lvl="3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4pPr>
            <a:lvl5pPr lvl="4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5pPr>
            <a:lvl6pPr lvl="5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6pPr>
            <a:lvl7pPr lvl="6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7pPr>
            <a:lvl8pPr lvl="7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8pPr>
            <a:lvl9pPr lvl="8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9pPr>
          </a:lstStyle>
          <a:p>
            <a:endParaRPr/>
          </a:p>
        </p:txBody>
      </p:sp>
      <p:sp>
        <p:nvSpPr>
          <p:cNvPr id="18" name="Google Shape;18;p3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9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9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9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9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9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0"/>
          <p:cNvSpPr txBox="1">
            <a:spLocks noGrp="1"/>
          </p:cNvSpPr>
          <p:nvPr>
            <p:ph type="title"/>
          </p:nvPr>
        </p:nvSpPr>
        <p:spPr>
          <a:xfrm>
            <a:off x="158897" y="1389163"/>
            <a:ext cx="2008644" cy="2317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0"/>
          <p:cNvSpPr txBox="1">
            <a:spLocks noGrp="1"/>
          </p:cNvSpPr>
          <p:nvPr>
            <p:ph type="body" idx="1"/>
          </p:nvPr>
        </p:nvSpPr>
        <p:spPr>
          <a:xfrm>
            <a:off x="158897" y="3728940"/>
            <a:ext cx="2008644" cy="1218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509"/>
              <a:buNone/>
              <a:defRPr sz="509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58"/>
              <a:buNone/>
              <a:defRPr sz="458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0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0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0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1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1"/>
          <p:cNvSpPr txBox="1">
            <a:spLocks noGrp="1"/>
          </p:cNvSpPr>
          <p:nvPr>
            <p:ph type="body" idx="1"/>
          </p:nvPr>
        </p:nvSpPr>
        <p:spPr>
          <a:xfrm>
            <a:off x="160109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41"/>
          <p:cNvSpPr txBox="1">
            <a:spLocks noGrp="1"/>
          </p:cNvSpPr>
          <p:nvPr>
            <p:ph type="body" idx="2"/>
          </p:nvPr>
        </p:nvSpPr>
        <p:spPr>
          <a:xfrm>
            <a:off x="1178987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41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1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1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2"/>
          <p:cNvSpPr txBox="1">
            <a:spLocks noGrp="1"/>
          </p:cNvSpPr>
          <p:nvPr>
            <p:ph type="title"/>
          </p:nvPr>
        </p:nvSpPr>
        <p:spPr>
          <a:xfrm>
            <a:off x="160413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2"/>
          <p:cNvSpPr txBox="1">
            <a:spLocks noGrp="1"/>
          </p:cNvSpPr>
          <p:nvPr>
            <p:ph type="body" idx="1"/>
          </p:nvPr>
        </p:nvSpPr>
        <p:spPr>
          <a:xfrm>
            <a:off x="160413" y="1365945"/>
            <a:ext cx="985218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3" name="Google Shape;43;p42"/>
          <p:cNvSpPr txBox="1">
            <a:spLocks noGrp="1"/>
          </p:cNvSpPr>
          <p:nvPr>
            <p:ph type="body" idx="2"/>
          </p:nvPr>
        </p:nvSpPr>
        <p:spPr>
          <a:xfrm>
            <a:off x="160413" y="2035373"/>
            <a:ext cx="985218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42"/>
          <p:cNvSpPr txBox="1">
            <a:spLocks noGrp="1"/>
          </p:cNvSpPr>
          <p:nvPr>
            <p:ph type="body" idx="3"/>
          </p:nvPr>
        </p:nvSpPr>
        <p:spPr>
          <a:xfrm>
            <a:off x="1178987" y="1365945"/>
            <a:ext cx="990070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5" name="Google Shape;45;p42"/>
          <p:cNvSpPr txBox="1">
            <a:spLocks noGrp="1"/>
          </p:cNvSpPr>
          <p:nvPr>
            <p:ph type="body" idx="4"/>
          </p:nvPr>
        </p:nvSpPr>
        <p:spPr>
          <a:xfrm>
            <a:off x="1178987" y="2035373"/>
            <a:ext cx="990070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42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2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2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3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3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3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3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4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4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4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5"/>
          <p:cNvSpPr txBox="1">
            <a:spLocks noGrp="1"/>
          </p:cNvSpPr>
          <p:nvPr>
            <p:ph type="body" idx="1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80352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815"/>
              <a:buChar char="•"/>
              <a:defRPr sz="814"/>
            </a:lvl1pPr>
            <a:lvl2pPr marL="914400" lvl="1" indent="-273875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713"/>
              <a:buChar char="•"/>
              <a:defRPr sz="713"/>
            </a:lvl2pPr>
            <a:lvl3pPr marL="1371600" lvl="2" indent="-267398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Char char="•"/>
              <a:defRPr sz="611"/>
            </a:lvl3pPr>
            <a:lvl4pPr marL="1828800" lvl="3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4pPr>
            <a:lvl5pPr marL="2286000" lvl="4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5pPr>
            <a:lvl6pPr marL="2743200" lvl="5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6pPr>
            <a:lvl7pPr marL="3200400" lvl="6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7pPr>
            <a:lvl8pPr marL="3657600" lvl="7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8pPr>
            <a:lvl9pPr marL="4114800" lvl="8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9pPr>
          </a:lstStyle>
          <a:p>
            <a:endParaRPr/>
          </a:p>
        </p:txBody>
      </p:sp>
      <p:sp>
        <p:nvSpPr>
          <p:cNvPr id="61" name="Google Shape;61;p45"/>
          <p:cNvSpPr txBox="1">
            <a:spLocks noGrp="1"/>
          </p:cNvSpPr>
          <p:nvPr>
            <p:ph type="body" idx="2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2" name="Google Shape;62;p45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5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5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6"/>
          <p:cNvSpPr>
            <a:spLocks noGrp="1"/>
          </p:cNvSpPr>
          <p:nvPr>
            <p:ph type="pic" idx="2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>
            <a:spLocks noGrp="1"/>
          </p:cNvSpPr>
          <p:nvPr>
            <p:ph type="body" idx="1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9" name="Google Shape;69;p46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6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6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7"/>
          <p:cNvSpPr txBox="1">
            <a:spLocks noGrp="1"/>
          </p:cNvSpPr>
          <p:nvPr>
            <p:ph type="body" idx="1"/>
          </p:nvPr>
        </p:nvSpPr>
        <p:spPr>
          <a:xfrm rot="5400000">
            <a:off x="-603299" y="2246729"/>
            <a:ext cx="3535462" cy="200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4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>
            <a:spLocks noGrp="1"/>
          </p:cNvSpPr>
          <p:nvPr>
            <p:ph type="title"/>
          </p:nvPr>
        </p:nvSpPr>
        <p:spPr>
          <a:xfrm rot="5400000">
            <a:off x="-443385" y="2406643"/>
            <a:ext cx="4722118" cy="502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8"/>
          <p:cNvSpPr txBox="1">
            <a:spLocks noGrp="1"/>
          </p:cNvSpPr>
          <p:nvPr>
            <p:ph type="body" idx="1"/>
          </p:nvPr>
        </p:nvSpPr>
        <p:spPr>
          <a:xfrm rot="5400000">
            <a:off x="-1462263" y="1919037"/>
            <a:ext cx="4722118" cy="1477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4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  <a:defRPr sz="11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7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73875" algn="l" rtl="0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713"/>
              <a:buFont typeface="Arial"/>
              <a:buChar char="•"/>
              <a:defRPr sz="7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67398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Font typeface="Arial"/>
              <a:buChar char="•"/>
              <a:defRPr sz="6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60921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Font typeface="Arial"/>
              <a:buChar char="•"/>
              <a:defRPr sz="50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37.xml"/><Relationship Id="rId13" Type="http://schemas.openxmlformats.org/officeDocument/2006/relationships/slide" Target="slide148.xml"/><Relationship Id="rId3" Type="http://schemas.openxmlformats.org/officeDocument/2006/relationships/slide" Target="slide2.xml"/><Relationship Id="rId7" Type="http://schemas.openxmlformats.org/officeDocument/2006/relationships/hyperlink" Target="https://flyingdeuk.github.io/posts/B737-kneeboard/" TargetMode="External"/><Relationship Id="rId12" Type="http://schemas.openxmlformats.org/officeDocument/2006/relationships/slide" Target="slide146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9.xml"/><Relationship Id="rId11" Type="http://schemas.openxmlformats.org/officeDocument/2006/relationships/slide" Target="slide143.xml"/><Relationship Id="rId5" Type="http://schemas.openxmlformats.org/officeDocument/2006/relationships/slide" Target="slide7.xml"/><Relationship Id="rId10" Type="http://schemas.openxmlformats.org/officeDocument/2006/relationships/slide" Target="slide141.xml"/><Relationship Id="rId4" Type="http://schemas.openxmlformats.org/officeDocument/2006/relationships/slide" Target="slide5.xml"/><Relationship Id="rId9" Type="http://schemas.openxmlformats.org/officeDocument/2006/relationships/slide" Target="slide138.xml"/><Relationship Id="rId14" Type="http://schemas.openxmlformats.org/officeDocument/2006/relationships/slide" Target="slide150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2.xml"/><Relationship Id="rId18" Type="http://schemas.openxmlformats.org/officeDocument/2006/relationships/slide" Target="slide27.xml"/><Relationship Id="rId3" Type="http://schemas.openxmlformats.org/officeDocument/2006/relationships/slide" Target="slide12.xml"/><Relationship Id="rId7" Type="http://schemas.openxmlformats.org/officeDocument/2006/relationships/slide" Target="slide16.xml"/><Relationship Id="rId12" Type="http://schemas.openxmlformats.org/officeDocument/2006/relationships/slide" Target="slide21.xml"/><Relationship Id="rId17" Type="http://schemas.openxmlformats.org/officeDocument/2006/relationships/slide" Target="slide26.xml"/><Relationship Id="rId2" Type="http://schemas.openxmlformats.org/officeDocument/2006/relationships/notesSlide" Target="../notesSlides/notesSlide2.xml"/><Relationship Id="rId16" Type="http://schemas.openxmlformats.org/officeDocument/2006/relationships/slide" Target="slide2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4.xml"/><Relationship Id="rId15" Type="http://schemas.openxmlformats.org/officeDocument/2006/relationships/slide" Target="slide24.xml"/><Relationship Id="rId10" Type="http://schemas.openxmlformats.org/officeDocument/2006/relationships/slide" Target="slide19.xml"/><Relationship Id="rId4" Type="http://schemas.openxmlformats.org/officeDocument/2006/relationships/slide" Target="slide13.xml"/><Relationship Id="rId9" Type="http://schemas.openxmlformats.org/officeDocument/2006/relationships/slide" Target="slide18.xml"/><Relationship Id="rId14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36.xml"/><Relationship Id="rId18" Type="http://schemas.openxmlformats.org/officeDocument/2006/relationships/slide" Target="slide41.xml"/><Relationship Id="rId26" Type="http://schemas.openxmlformats.org/officeDocument/2006/relationships/slide" Target="slide49.xml"/><Relationship Id="rId3" Type="http://schemas.openxmlformats.org/officeDocument/2006/relationships/slide" Target="slide58.xml"/><Relationship Id="rId21" Type="http://schemas.openxmlformats.org/officeDocument/2006/relationships/slide" Target="slide44.xml"/><Relationship Id="rId7" Type="http://schemas.openxmlformats.org/officeDocument/2006/relationships/slide" Target="slide30.xml"/><Relationship Id="rId12" Type="http://schemas.openxmlformats.org/officeDocument/2006/relationships/slide" Target="slide35.xml"/><Relationship Id="rId17" Type="http://schemas.openxmlformats.org/officeDocument/2006/relationships/slide" Target="slide40.xml"/><Relationship Id="rId25" Type="http://schemas.openxmlformats.org/officeDocument/2006/relationships/slide" Target="slide48.xml"/><Relationship Id="rId2" Type="http://schemas.openxmlformats.org/officeDocument/2006/relationships/notesSlide" Target="../notesSlides/notesSlide5.xml"/><Relationship Id="rId16" Type="http://schemas.openxmlformats.org/officeDocument/2006/relationships/slide" Target="slide39.xml"/><Relationship Id="rId20" Type="http://schemas.openxmlformats.org/officeDocument/2006/relationships/slide" Target="slide4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9.xml"/><Relationship Id="rId11" Type="http://schemas.openxmlformats.org/officeDocument/2006/relationships/slide" Target="slide34.xml"/><Relationship Id="rId24" Type="http://schemas.openxmlformats.org/officeDocument/2006/relationships/slide" Target="slide47.xml"/><Relationship Id="rId5" Type="http://schemas.openxmlformats.org/officeDocument/2006/relationships/slide" Target="slide28.xml"/><Relationship Id="rId15" Type="http://schemas.openxmlformats.org/officeDocument/2006/relationships/slide" Target="slide38.xml"/><Relationship Id="rId23" Type="http://schemas.openxmlformats.org/officeDocument/2006/relationships/slide" Target="slide46.xml"/><Relationship Id="rId28" Type="http://schemas.openxmlformats.org/officeDocument/2006/relationships/slide" Target="slide51.xml"/><Relationship Id="rId10" Type="http://schemas.openxmlformats.org/officeDocument/2006/relationships/slide" Target="slide33.xml"/><Relationship Id="rId19" Type="http://schemas.openxmlformats.org/officeDocument/2006/relationships/slide" Target="slide42.xml"/><Relationship Id="rId4" Type="http://schemas.openxmlformats.org/officeDocument/2006/relationships/slide" Target="slide59.xml"/><Relationship Id="rId9" Type="http://schemas.openxmlformats.org/officeDocument/2006/relationships/slide" Target="slide32.xml"/><Relationship Id="rId14" Type="http://schemas.openxmlformats.org/officeDocument/2006/relationships/slide" Target="slide37.xml"/><Relationship Id="rId22" Type="http://schemas.openxmlformats.org/officeDocument/2006/relationships/slide" Target="slide45.xml"/><Relationship Id="rId27" Type="http://schemas.openxmlformats.org/officeDocument/2006/relationships/slide" Target="slide5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slide" Target="slide69.xml"/><Relationship Id="rId18" Type="http://schemas.openxmlformats.org/officeDocument/2006/relationships/slide" Target="slide77.xml"/><Relationship Id="rId26" Type="http://schemas.openxmlformats.org/officeDocument/2006/relationships/slide" Target="slide91.xml"/><Relationship Id="rId39" Type="http://schemas.openxmlformats.org/officeDocument/2006/relationships/slide" Target="slide109.xml"/><Relationship Id="rId21" Type="http://schemas.openxmlformats.org/officeDocument/2006/relationships/slide" Target="slide81.xml"/><Relationship Id="rId34" Type="http://schemas.openxmlformats.org/officeDocument/2006/relationships/slide" Target="slide102.xml"/><Relationship Id="rId42" Type="http://schemas.openxmlformats.org/officeDocument/2006/relationships/slide" Target="slide114.xml"/><Relationship Id="rId7" Type="http://schemas.openxmlformats.org/officeDocument/2006/relationships/slide" Target="slide60.xml"/><Relationship Id="rId2" Type="http://schemas.openxmlformats.org/officeDocument/2006/relationships/notesSlide" Target="../notesSlides/notesSlide7.xml"/><Relationship Id="rId16" Type="http://schemas.openxmlformats.org/officeDocument/2006/relationships/slide" Target="slide74.xml"/><Relationship Id="rId20" Type="http://schemas.openxmlformats.org/officeDocument/2006/relationships/slide" Target="slide80.xml"/><Relationship Id="rId29" Type="http://schemas.openxmlformats.org/officeDocument/2006/relationships/slide" Target="slide95.xml"/><Relationship Id="rId41" Type="http://schemas.openxmlformats.org/officeDocument/2006/relationships/slide" Target="slide11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11" Type="http://schemas.openxmlformats.org/officeDocument/2006/relationships/slide" Target="slide66.xml"/><Relationship Id="rId24" Type="http://schemas.openxmlformats.org/officeDocument/2006/relationships/slide" Target="slide87.xml"/><Relationship Id="rId32" Type="http://schemas.openxmlformats.org/officeDocument/2006/relationships/slide" Target="slide99.xml"/><Relationship Id="rId37" Type="http://schemas.openxmlformats.org/officeDocument/2006/relationships/slide" Target="slide106.xml"/><Relationship Id="rId40" Type="http://schemas.openxmlformats.org/officeDocument/2006/relationships/slide" Target="slide111.xml"/><Relationship Id="rId5" Type="http://schemas.openxmlformats.org/officeDocument/2006/relationships/slide" Target="slide55.xml"/><Relationship Id="rId15" Type="http://schemas.openxmlformats.org/officeDocument/2006/relationships/slide" Target="slide72.xml"/><Relationship Id="rId23" Type="http://schemas.openxmlformats.org/officeDocument/2006/relationships/slide" Target="slide85.xml"/><Relationship Id="rId28" Type="http://schemas.openxmlformats.org/officeDocument/2006/relationships/slide" Target="slide94.xml"/><Relationship Id="rId36" Type="http://schemas.openxmlformats.org/officeDocument/2006/relationships/slide" Target="slide105.xml"/><Relationship Id="rId10" Type="http://schemas.openxmlformats.org/officeDocument/2006/relationships/slide" Target="slide65.xml"/><Relationship Id="rId19" Type="http://schemas.openxmlformats.org/officeDocument/2006/relationships/slide" Target="slide78.xml"/><Relationship Id="rId31" Type="http://schemas.openxmlformats.org/officeDocument/2006/relationships/slide" Target="slide98.xml"/><Relationship Id="rId44" Type="http://schemas.openxmlformats.org/officeDocument/2006/relationships/slide" Target="slide117.xml"/><Relationship Id="rId4" Type="http://schemas.openxmlformats.org/officeDocument/2006/relationships/slide" Target="slide54.xml"/><Relationship Id="rId9" Type="http://schemas.openxmlformats.org/officeDocument/2006/relationships/slide" Target="slide63.xml"/><Relationship Id="rId14" Type="http://schemas.openxmlformats.org/officeDocument/2006/relationships/slide" Target="slide71.xml"/><Relationship Id="rId22" Type="http://schemas.openxmlformats.org/officeDocument/2006/relationships/slide" Target="slide84.xml"/><Relationship Id="rId27" Type="http://schemas.openxmlformats.org/officeDocument/2006/relationships/slide" Target="slide92.xml"/><Relationship Id="rId30" Type="http://schemas.openxmlformats.org/officeDocument/2006/relationships/slide" Target="slide97.xml"/><Relationship Id="rId35" Type="http://schemas.openxmlformats.org/officeDocument/2006/relationships/slide" Target="slide103.xml"/><Relationship Id="rId43" Type="http://schemas.openxmlformats.org/officeDocument/2006/relationships/slide" Target="slide115.xml"/><Relationship Id="rId8" Type="http://schemas.openxmlformats.org/officeDocument/2006/relationships/slide" Target="slide62.xml"/><Relationship Id="rId3" Type="http://schemas.openxmlformats.org/officeDocument/2006/relationships/slide" Target="slide52.xml"/><Relationship Id="rId12" Type="http://schemas.openxmlformats.org/officeDocument/2006/relationships/slide" Target="slide68.xml"/><Relationship Id="rId17" Type="http://schemas.openxmlformats.org/officeDocument/2006/relationships/slide" Target="slide75.xml"/><Relationship Id="rId25" Type="http://schemas.openxmlformats.org/officeDocument/2006/relationships/slide" Target="slide88.xml"/><Relationship Id="rId33" Type="http://schemas.openxmlformats.org/officeDocument/2006/relationships/slide" Target="slide100.xml"/><Relationship Id="rId38" Type="http://schemas.openxmlformats.org/officeDocument/2006/relationships/slide" Target="slide10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23.xml"/><Relationship Id="rId13" Type="http://schemas.openxmlformats.org/officeDocument/2006/relationships/slide" Target="slide128.xml"/><Relationship Id="rId18" Type="http://schemas.openxmlformats.org/officeDocument/2006/relationships/slide" Target="slide132.xml"/><Relationship Id="rId3" Type="http://schemas.openxmlformats.org/officeDocument/2006/relationships/slide" Target="slide118.xml"/><Relationship Id="rId7" Type="http://schemas.openxmlformats.org/officeDocument/2006/relationships/slide" Target="slide122.xml"/><Relationship Id="rId12" Type="http://schemas.openxmlformats.org/officeDocument/2006/relationships/slide" Target="slide127.xml"/><Relationship Id="rId17" Type="http://schemas.openxmlformats.org/officeDocument/2006/relationships/slide" Target="slide130.xml"/><Relationship Id="rId2" Type="http://schemas.openxmlformats.org/officeDocument/2006/relationships/notesSlide" Target="../notesSlides/notesSlide9.xml"/><Relationship Id="rId16" Type="http://schemas.openxmlformats.org/officeDocument/2006/relationships/slide" Target="slide134.xml"/><Relationship Id="rId20" Type="http://schemas.openxmlformats.org/officeDocument/2006/relationships/slide" Target="slide13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1.xml"/><Relationship Id="rId11" Type="http://schemas.openxmlformats.org/officeDocument/2006/relationships/slide" Target="slide126.xml"/><Relationship Id="rId5" Type="http://schemas.openxmlformats.org/officeDocument/2006/relationships/slide" Target="slide120.xml"/><Relationship Id="rId15" Type="http://schemas.openxmlformats.org/officeDocument/2006/relationships/slide" Target="slide133.xml"/><Relationship Id="rId10" Type="http://schemas.openxmlformats.org/officeDocument/2006/relationships/slide" Target="slide125.xml"/><Relationship Id="rId19" Type="http://schemas.openxmlformats.org/officeDocument/2006/relationships/slide" Target="slide135.xml"/><Relationship Id="rId4" Type="http://schemas.openxmlformats.org/officeDocument/2006/relationships/slide" Target="slide119.xml"/><Relationship Id="rId9" Type="http://schemas.openxmlformats.org/officeDocument/2006/relationships/slide" Target="slide124.xml"/><Relationship Id="rId14" Type="http://schemas.openxmlformats.org/officeDocument/2006/relationships/slide" Target="slide1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KPC-CJU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hyperlink" Target="https://flyingdeuk.github.io/posts/RKSS-GMP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2.jp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RKPK-PUS/" TargetMode="External"/><Relationship Id="rId5" Type="http://schemas.openxmlformats.org/officeDocument/2006/relationships/hyperlink" Target="https://flyingdeuk.github.io/posts/RKSS-GMP/" TargetMode="External"/><Relationship Id="rId4" Type="http://schemas.openxmlformats.org/officeDocument/2006/relationships/slide" Target="slide152.xml"/><Relationship Id="rId9" Type="http://schemas.openxmlformats.org/officeDocument/2006/relationships/slide" Target="slide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jpg"/><Relationship Id="rId4" Type="http://schemas.openxmlformats.org/officeDocument/2006/relationships/hyperlink" Target="https://flyingdeuk.github.io/posts/RKSS-GM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JJ-KWJ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JJ-KW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PC-CJU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U-CJJ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U-CJ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8.jpg"/><Relationship Id="rId4" Type="http://schemas.openxmlformats.org/officeDocument/2006/relationships/hyperlink" Target="https://flyingdeuk.github.io/posts/RKPC-CJU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N-TAE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9.jpg"/><Relationship Id="rId4" Type="http://schemas.openxmlformats.org/officeDocument/2006/relationships/hyperlink" Target="https://flyingdeuk.github.io/posts/RKPC-CJU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PK-PUS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KPC-CJU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52.xml"/><Relationship Id="rId7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hyperlink" Target="https://flyingdeuk.github.io/posts/RKPK-PUS/" TargetMode="External"/><Relationship Id="rId4" Type="http://schemas.openxmlformats.org/officeDocument/2006/relationships/hyperlink" Target="https://flyingdeuk.github.io/posts/RKSI-ICN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TN-TAE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AA-NRT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GG-NGO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FF-FUK/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BB-KIX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CC-CTS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CC-CT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TT-HND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TT-HND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2.png"/><Relationship Id="rId4" Type="http://schemas.openxmlformats.org/officeDocument/2006/relationships/hyperlink" Target="https://flyingdeuk.github.io/posts/RKSI-ICN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GG-NGO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FF-FUK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A-AOJ/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A-AOJ/" TargetMode="External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N-KIJ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N-KIJ/" TargetMode="External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PC-CJU/" TargetMode="Externa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SSS-SHA/" TargetMode="External"/><Relationship Id="rId4" Type="http://schemas.openxmlformats.org/officeDocument/2006/relationships/hyperlink" Target="https://flyingdeuk.github.io/posts/RKSS-GMP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SS-SHA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BAA-PEK/" TargetMode="External"/><Relationship Id="rId4" Type="http://schemas.openxmlformats.org/officeDocument/2006/relationships/hyperlink" Target="https://flyingdeuk.github.io/posts/RKSS-GMP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S-GMP/" TargetMode="Externa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5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JBB-KIX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8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ZBAA-PEK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PK-PUS/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NJ-NKG/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NJ-NKG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QD-TAO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QD-TAO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AA-PEK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X-SHE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X-SHE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YJ-YNJ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YJ-YN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HC-HGH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3.xm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SHC-HGH/" TargetMode="Externa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WH-WEH/" TargetMode="Externa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WH-WEH/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LXY-XIY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slide" Target="slide3.xm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LXY-XIY/" TargetMode="Externa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HA-CSX/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HA-CSX/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HHH-HKG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slide" Target="slide3.xm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VHHH-HKG/" TargetMode="Externa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TJ-TSN/" TargetMode="Externa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TJ-TSN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HCC-CGO/" TargetMode="Externa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HCC-CGO/" TargetMode="External"/><Relationship Id="rId7" Type="http://schemas.openxmlformats.org/officeDocument/2006/relationships/image" Target="../media/image22.jpe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DY-DYG/" TargetMode="Externa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DY-DYG/" TargetMode="Externa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L-DLC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L-DLC/" TargetMode="Externa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OF-HFE/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OF-HFE/" TargetMode="Externa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139.xml"/><Relationship Id="rId7" Type="http://schemas.openxmlformats.org/officeDocument/2006/relationships/slide" Target="slide7.xm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ZPPP-KMG/" TargetMode="Externa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slide" Target="slide140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PPP-KMG/" TargetMode="External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CR-CXR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CR-CXR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25.jpeg"/><Relationship Id="rId4" Type="http://schemas.openxmlformats.org/officeDocument/2006/relationships/hyperlink" Target="https://flyingdeuk.github.io/posts/RKSI-ICN/" TargetMode="Externa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TS-SGN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TS-SGN/" TargetMode="External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DPP-PNH/" TargetMode="Externa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DPP-PNH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PLL-MNL/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PLL-MNL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MQ-RMQ/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MQ-RMQ/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PGUM-GUM/" TargetMode="Externa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PGUM-GUM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30.jpeg"/><Relationship Id="rId4" Type="http://schemas.openxmlformats.org/officeDocument/2006/relationships/hyperlink" Target="https://flyingdeuk.github.io/posts/RKSI-ICN/" TargetMode="External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g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TBS-BKK/" TargetMode="Externa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TBS-BKK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slide" Target="slide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slide" Target="slide146.xml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46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3.jpe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3.jpeg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692784493"/>
              </p:ext>
            </p:extLst>
          </p:nvPr>
        </p:nvGraphicFramePr>
        <p:xfrm>
          <a:off x="98101" y="1122494"/>
          <a:ext cx="2132650" cy="19737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3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cs typeface="Calibri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Domestic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Japan</a:t>
                      </a:r>
                      <a:endParaRPr sz="2400" b="1" u="none" strike="noStrike" cap="none" dirty="0">
                        <a:solidFill>
                          <a:srgbClr val="0070C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China</a:t>
                      </a:r>
                      <a:endParaRPr lang="en-US" altLang="ko-Kore-KR" sz="2400" b="1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AA47F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S.E Asia(GUM)</a:t>
                      </a:r>
                      <a:endParaRPr lang="en-US" altLang="ko-Kore-KR" sz="2400" b="1" u="none" strike="noStrike" cap="none" dirty="0">
                        <a:solidFill>
                          <a:srgbClr val="AA47F5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1">
            <a:hlinkClick r:id="rId7"/>
          </p:cNvPr>
          <p:cNvSpPr/>
          <p:nvPr/>
        </p:nvSpPr>
        <p:spPr>
          <a:xfrm>
            <a:off x="-5145" y="74068"/>
            <a:ext cx="2332054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45700" rIns="36000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KneeBoard</a:t>
            </a:r>
            <a:endParaRPr sz="3200" b="1" i="0" u="none" strike="noStrike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  <a:reflection blurRad="6350" stA="55000" endA="300" endPos="45500" dir="5400000" sy="-100000" algn="bl" rotWithShape="0"/>
              </a:effectLst>
              <a:latin typeface="+mj-lt"/>
              <a:ea typeface="BM DoHyeon OTF" panose="020B0600000101010101" pitchFamily="34" charset="-127"/>
              <a:cs typeface="Calibri"/>
              <a:sym typeface="Calibri"/>
            </a:endParaRPr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839919986"/>
              </p:ext>
            </p:extLst>
          </p:nvPr>
        </p:nvGraphicFramePr>
        <p:xfrm>
          <a:off x="185895" y="3190448"/>
          <a:ext cx="1969476" cy="230760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Supplement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FUEL Consumption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151611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3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/ FLAP 15 L/D</a:t>
                      </a:r>
                      <a:endParaRPr lang="en-US" altLang="ko-Kore-KR" sz="13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7045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GND Air / Cross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324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Temp Correction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</a:t>
                      </a:r>
                      <a:r>
                        <a:rPr lang="en-US" sz="1400" b="1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Wx</a:t>
                      </a: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Operation</a:t>
                      </a:r>
                      <a:endParaRPr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ON 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OFF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"/>
          <p:cNvSpPr txBox="1"/>
          <p:nvPr/>
        </p:nvSpPr>
        <p:spPr>
          <a:xfrm>
            <a:off x="1458410" y="792682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9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Flyingdeuk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384136" y="682099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VER. 24.11.28</a:t>
            </a:r>
            <a:endParaRPr sz="900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7724C-88B0-A932-6665-9CCC34DC2660}"/>
              </a:ext>
            </a:extLst>
          </p:cNvPr>
          <p:cNvSpPr txBox="1"/>
          <p:nvPr/>
        </p:nvSpPr>
        <p:spPr>
          <a:xfrm>
            <a:off x="203741" y="714044"/>
            <a:ext cx="1393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ore-KR" sz="1000" u="none" strike="noStrike" cap="none" dirty="0">
                <a:latin typeface="Calibri"/>
                <a:ea typeface="Calibri"/>
                <a:cs typeface="Calibri"/>
                <a:sym typeface="Calibri"/>
              </a:rPr>
              <a:t>☝️ </a:t>
            </a:r>
            <a:r>
              <a:rPr kumimoji="1" lang="en-US" altLang="ko-Kore-KR" sz="900" b="1" u="sng" dirty="0">
                <a:solidFill>
                  <a:schemeClr val="accent1"/>
                </a:solidFill>
              </a:rPr>
              <a:t>Click for Update</a:t>
            </a:r>
            <a:endParaRPr kumimoji="1" lang="ko-Kore-KR" altLang="en-US" sz="9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5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9993318"/>
              </p:ext>
            </p:extLst>
          </p:nvPr>
        </p:nvGraphicFramePr>
        <p:xfrm>
          <a:off x="98101" y="132865"/>
          <a:ext cx="2132650" cy="3519322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972615961"/>
                    </a:ext>
                  </a:extLst>
                </a:gridCol>
              </a:tblGrid>
              <a:tr h="460602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bg1"/>
                          </a:solidFill>
                          <a:sym typeface="Calibri"/>
                        </a:rPr>
                        <a:t>Domestic</a:t>
                      </a:r>
                      <a:endParaRPr sz="2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KWJ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3344358"/>
                  </a:ext>
                </a:extLst>
              </a:tr>
            </a:tbl>
          </a:graphicData>
        </a:graphic>
      </p:graphicFrame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3099304272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66FA5EE-DE6A-B27F-96EF-30D8A6622BEF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6172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1830274576"/>
              </p:ext>
            </p:extLst>
          </p:nvPr>
        </p:nvGraphicFramePr>
        <p:xfrm>
          <a:off x="0" y="-1"/>
          <a:ext cx="2328875" cy="376285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0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1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330995"/>
              </p:ext>
            </p:extLst>
          </p:nvPr>
        </p:nvGraphicFramePr>
        <p:xfrm>
          <a:off x="109959" y="3762857"/>
          <a:ext cx="2112380" cy="150998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7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38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Domestic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GMP</a:t>
                      </a:r>
                      <a:endParaRPr sz="9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서울</a:t>
                      </a:r>
                      <a:r>
                        <a:rPr lang="en-US" sz="900" b="0" dirty="0"/>
                        <a:t>/</a:t>
                      </a:r>
                      <a:r>
                        <a:rPr lang="en-US" sz="900" b="0" dirty="0" err="1"/>
                        <a:t>김포국제</a:t>
                      </a:r>
                      <a:endParaRPr sz="1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ICN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서울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인천국제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CJU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제주국제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PUS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부산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김해국제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청주국제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KWJ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광주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TAE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대구국제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75B34-8C64-6DD0-9FBE-ACB2C6F75CC8}"/>
              </a:ext>
            </a:extLst>
          </p:cNvPr>
          <p:cNvSpPr txBox="1"/>
          <p:nvPr/>
        </p:nvSpPr>
        <p:spPr>
          <a:xfrm>
            <a:off x="1708763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DF1224-C7E5-5FD7-658D-99524AF467D7}"/>
              </a:ext>
            </a:extLst>
          </p:cNvPr>
          <p:cNvSpPr/>
          <p:nvPr/>
        </p:nvSpPr>
        <p:spPr>
          <a:xfrm>
            <a:off x="59469" y="526610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75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422430745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58EF91-7A59-ED4B-8C85-329D79A12166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705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447013018"/>
              </p:ext>
            </p:extLst>
          </p:nvPr>
        </p:nvGraphicFramePr>
        <p:xfrm>
          <a:off x="98101" y="132867"/>
          <a:ext cx="2132650" cy="470135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400549661"/>
                    </a:ext>
                  </a:extLst>
                </a:gridCol>
              </a:tblGrid>
              <a:tr h="39729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Japan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504365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031822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CTS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HND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AOJ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43214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KIJ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89476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9721398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3491A8-D925-6BB2-F309-8A3F0C288540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8900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333811122"/>
              </p:ext>
            </p:extLst>
          </p:nvPr>
        </p:nvGraphicFramePr>
        <p:xfrm>
          <a:off x="0" y="0"/>
          <a:ext cx="2328875" cy="37360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92022177"/>
              </p:ext>
            </p:extLst>
          </p:nvPr>
        </p:nvGraphicFramePr>
        <p:xfrm>
          <a:off x="81023" y="3711435"/>
          <a:ext cx="2129742" cy="156653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1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5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bg1"/>
                          </a:solidFill>
                        </a:rPr>
                        <a:t>Japan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10945862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KIX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오사카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간사이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HND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하네다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NRT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나리타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CTS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삿포로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신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(New) 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치토세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NGO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나고야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주부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(Chubu </a:t>
                      </a:r>
                      <a:r>
                        <a:rPr lang="en-US" altLang="ko-KR" sz="900" b="0" dirty="0" err="1">
                          <a:solidFill>
                            <a:srgbClr val="0070C0"/>
                          </a:solidFill>
                        </a:rPr>
                        <a:t>Centrair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FUK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후쿠오카</a:t>
                      </a:r>
                      <a:endParaRPr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AOJ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아오모리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8825819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KIJ</a:t>
                      </a:r>
                      <a:endParaRPr lang="en-US" altLang="ko-Kore-KR"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니가타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17996534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92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843306757"/>
              </p:ext>
            </p:extLst>
          </p:nvPr>
        </p:nvGraphicFramePr>
        <p:xfrm>
          <a:off x="98101" y="37355"/>
          <a:ext cx="1874000" cy="5394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3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000">
                  <a:extLst>
                    <a:ext uri="{9D8B030D-6E8A-4147-A177-3AD203B41FA5}">
                      <a16:colId xmlns:a16="http://schemas.microsoft.com/office/drawing/2014/main" val="2763461019"/>
                    </a:ext>
                  </a:extLst>
                </a:gridCol>
              </a:tblGrid>
              <a:tr h="24984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China </a:t>
                      </a:r>
                      <a:endParaRPr sz="1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5177561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NKG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YNJ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1600" b="0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1600" b="0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HGH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XIY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71945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CSX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312734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HKG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3150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TSN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693792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CGO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655464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DYG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972211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DLC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24418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HFE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8836448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KMG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30567129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5500FA-F79C-DB43-B11F-C2A523428F55}"/>
              </a:ext>
            </a:extLst>
          </p:cNvPr>
          <p:cNvSpPr/>
          <p:nvPr/>
        </p:nvSpPr>
        <p:spPr>
          <a:xfrm>
            <a:off x="1807162" y="2015807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O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M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E</a:t>
            </a:r>
          </a:p>
          <a:p>
            <a:pPr algn="ctr"/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836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485572267"/>
              </p:ext>
            </p:extLst>
          </p:nvPr>
        </p:nvGraphicFramePr>
        <p:xfrm>
          <a:off x="0" y="0"/>
          <a:ext cx="2328875" cy="2849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 </a:t>
                      </a:r>
                      <a:endParaRPr sz="1100" b="1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541866836"/>
              </p:ext>
            </p:extLst>
          </p:nvPr>
        </p:nvGraphicFramePr>
        <p:xfrm>
          <a:off x="66044" y="2884010"/>
          <a:ext cx="1878761" cy="262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2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496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000" b="1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b="0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217164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SHA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NKG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난징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루커우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TAO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칭다오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자오동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PEK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베이징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소우뚜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(Capital)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선양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탸오쎈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PVG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푸동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YNJ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옌지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HGH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황저우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샤오산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WHE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웨이하이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따쉐이푸오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XIY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ore-KR" altLang="en-US" sz="900" dirty="0">
                          <a:solidFill>
                            <a:srgbClr val="00B050"/>
                          </a:solidFill>
                        </a:rPr>
                        <a:t>시안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시엔양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CSX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창사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후앙후아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140911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HKG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홍콩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46085828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TSN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톈진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빈하이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2204917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CGO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정저우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5996186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DYG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장자제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613279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DLC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다롄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쪼우쑤이쯔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45389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HFE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허페이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신치아오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851765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KMG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쿤밍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창쉐이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125491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1829993" y="3464323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0585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119683204"/>
              </p:ext>
            </p:extLst>
          </p:nvPr>
        </p:nvGraphicFramePr>
        <p:xfrm>
          <a:off x="98101" y="184953"/>
          <a:ext cx="2132650" cy="385166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055015791"/>
                    </a:ext>
                  </a:extLst>
                </a:gridCol>
              </a:tblGrid>
              <a:tr h="45313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S.E Asia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CXR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SGN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PNH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645477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MNL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31868389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RMQ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09742540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1315063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506459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GUM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619318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BKK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1878942"/>
                  </a:ext>
                </a:extLst>
              </a:tr>
            </a:tbl>
          </a:graphicData>
        </a:graphic>
      </p:graphicFrame>
      <p:graphicFrame>
        <p:nvGraphicFramePr>
          <p:cNvPr id="2" name="Google Shape;90;p1">
            <a:extLst>
              <a:ext uri="{FF2B5EF4-FFF2-40B4-BE49-F238E27FC236}">
                <a16:creationId xmlns:a16="http://schemas.microsoft.com/office/drawing/2014/main" id="{420D4B99-E8E2-695D-C567-AA64CB4A50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5471260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BBAE9-B926-F113-1CFE-703A0FA7B23A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1165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71327333"/>
              </p:ext>
            </p:extLst>
          </p:nvPr>
        </p:nvGraphicFramePr>
        <p:xfrm>
          <a:off x="0" y="0"/>
          <a:ext cx="2328875" cy="31462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32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4049633542"/>
              </p:ext>
            </p:extLst>
          </p:nvPr>
        </p:nvGraphicFramePr>
        <p:xfrm>
          <a:off x="114028" y="3146290"/>
          <a:ext cx="2100805" cy="1685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28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25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S.E Asia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8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8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CXR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나짱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7030A0"/>
                          </a:solidFill>
                        </a:rPr>
                        <a:t>Nha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 Trang)/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깜라인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SGN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호찌민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탄소넛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PNH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캄보디아 프놈펜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2661703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MNL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필리핀 마닐라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니노이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아키노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08017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TPE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타이페이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타오유엔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44170142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RMQ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타이중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칭찬강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9202432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FFFF00"/>
                          </a:solidFill>
                        </a:rPr>
                        <a:t>PGUM</a:t>
                      </a:r>
                      <a:endParaRPr sz="90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FFFF00"/>
                          </a:solidFill>
                        </a:rPr>
                        <a:t>괌</a:t>
                      </a:r>
                      <a:endParaRPr sz="900" b="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BKK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방콕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수완나폼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8308853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2AD511-3D77-5056-7372-44C616778F18}"/>
              </a:ext>
            </a:extLst>
          </p:cNvPr>
          <p:cNvSpPr txBox="1"/>
          <p:nvPr/>
        </p:nvSpPr>
        <p:spPr>
          <a:xfrm>
            <a:off x="1637044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756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608306669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 </a:t>
                      </a:r>
                      <a:endParaRPr lang="en-US" altLang="ko-Kore-KR"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F0EAA18-1047-FE78-D46B-153C8A14B8A3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721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7922502"/>
              </p:ext>
            </p:extLst>
          </p:nvPr>
        </p:nvGraphicFramePr>
        <p:xfrm>
          <a:off x="0" y="1059290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316435315"/>
              </p:ext>
            </p:extLst>
          </p:nvPr>
        </p:nvGraphicFramePr>
        <p:xfrm>
          <a:off x="4472" y="3784778"/>
          <a:ext cx="2310728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0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2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9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CJU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 dirty="0">
                          <a:solidFill>
                            <a:srgbClr val="FFC000"/>
                          </a:solidFill>
                        </a:rPr>
                        <a:t>AFT Merge PT(220kts) DCT IAF(210kts), FAF (160kts)</a:t>
                      </a:r>
                      <a:endParaRPr sz="70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07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 xP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YUMIN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160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69801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ILS Z 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xM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DUKAL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DOTOL/-10 160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1305194788"/>
              </p:ext>
            </p:extLst>
          </p:nvPr>
        </p:nvGraphicFramePr>
        <p:xfrm>
          <a:off x="-2501" y="16503"/>
          <a:ext cx="2328850" cy="56398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0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90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80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CJU 129.4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395358-67C5-B17F-BCD1-397471B84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3" name="그림 2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0A4BE269-C442-8267-320E-C71929B74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253278"/>
            <a:ext cx="546787" cy="545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3771C-A484-B3B3-0104-3947A3865324}"/>
              </a:ext>
            </a:extLst>
          </p:cNvPr>
          <p:cNvSpPr txBox="1"/>
          <p:nvPr/>
        </p:nvSpPr>
        <p:spPr>
          <a:xfrm>
            <a:off x="1268244" y="3478119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1E1E6C3-2FAC-67D6-CA78-10767C1FFA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95470389"/>
              </p:ext>
            </p:extLst>
          </p:nvPr>
        </p:nvGraphicFramePr>
        <p:xfrm>
          <a:off x="0" y="1070883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CJU : SID (NADP 1)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07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066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246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07 : NONE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25 : YDM246/3, R290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304168252"/>
              </p:ext>
            </p:extLst>
          </p:nvPr>
        </p:nvGraphicFramePr>
        <p:xfrm>
          <a:off x="4999" y="3494395"/>
          <a:ext cx="23308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7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00584867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617401"/>
            <a:ext cx="1166932" cy="82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2AAA03F3-9C76-BDAE-2BA4-2B888A843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9C51EF-5E3E-676B-B9A0-C6A5F8FD5CEF}"/>
              </a:ext>
            </a:extLst>
          </p:cNvPr>
          <p:cNvSpPr txBox="1"/>
          <p:nvPr/>
        </p:nvSpPr>
        <p:spPr>
          <a:xfrm>
            <a:off x="1268244" y="3184785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D9173A3-1ECF-6009-194E-99FFD55E035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1D9EE3FE-3D0C-40C8-D531-747FC2E1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53277"/>
            <a:ext cx="602791" cy="601513"/>
          </a:xfrm>
          <a:prstGeom prst="rect">
            <a:avLst/>
          </a:prstGeom>
        </p:spPr>
      </p:pic>
      <p:graphicFrame>
        <p:nvGraphicFramePr>
          <p:cNvPr id="136" name="Google Shape;136;p4"/>
          <p:cNvGraphicFramePr/>
          <p:nvPr>
            <p:extLst>
              <p:ext uri="{D42A27DB-BD31-4B8C-83A1-F6EECF244321}">
                <p14:modId xmlns:p14="http://schemas.microsoft.com/office/powerpoint/2010/main" val="1618809659"/>
              </p:ext>
            </p:extLst>
          </p:nvPr>
        </p:nvGraphicFramePr>
        <p:xfrm>
          <a:off x="0" y="1049052"/>
          <a:ext cx="2335800" cy="22318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08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xT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xQ)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324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xU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xZ)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144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2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075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075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325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APRON(130.875) -&gt; GND(121.9) -&gt; TWR (All by ATC)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7" name="Google Shape;137;p4"/>
          <p:cNvGraphicFramePr/>
          <p:nvPr>
            <p:extLst>
              <p:ext uri="{D42A27DB-BD31-4B8C-83A1-F6EECF244321}">
                <p14:modId xmlns:p14="http://schemas.microsoft.com/office/powerpoint/2010/main" val="2869455644"/>
              </p:ext>
            </p:extLst>
          </p:nvPr>
        </p:nvGraphicFramePr>
        <p:xfrm>
          <a:off x="-3340" y="3798485"/>
          <a:ext cx="23288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2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417267895"/>
              </p:ext>
            </p:extLst>
          </p:nvPr>
        </p:nvGraphicFramePr>
        <p:xfrm>
          <a:off x="-2501" y="16504"/>
          <a:ext cx="2328850" cy="5861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13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9" name="Google Shape;139;p4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 </a:t>
            </a:r>
            <a:endParaRPr sz="1800" b="1" dirty="0">
              <a:solidFill>
                <a:srgbClr val="C0000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F371A0-F72D-9E9E-6B0B-BD68FCA2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200D8-914C-01D7-557E-F73D37FB7632}"/>
              </a:ext>
            </a:extLst>
          </p:cNvPr>
          <p:cNvSpPr txBox="1"/>
          <p:nvPr/>
        </p:nvSpPr>
        <p:spPr>
          <a:xfrm>
            <a:off x="1268244" y="349151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9ADE64-A15F-6E0A-A757-78B60E7B34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Google Shape;155;p5"/>
          <p:cNvGraphicFramePr/>
          <p:nvPr>
            <p:extLst>
              <p:ext uri="{D42A27DB-BD31-4B8C-83A1-F6EECF244321}">
                <p14:modId xmlns:p14="http://schemas.microsoft.com/office/powerpoint/2010/main" val="124299396"/>
              </p:ext>
            </p:extLst>
          </p:nvPr>
        </p:nvGraphicFramePr>
        <p:xfrm>
          <a:off x="0" y="106354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6" name="Google Shape;156;p5"/>
          <p:cNvGraphicFramePr/>
          <p:nvPr>
            <p:extLst>
              <p:ext uri="{D42A27DB-BD31-4B8C-83A1-F6EECF244321}">
                <p14:modId xmlns:p14="http://schemas.microsoft.com/office/powerpoint/2010/main" val="3948340049"/>
              </p:ext>
            </p:extLst>
          </p:nvPr>
        </p:nvGraphicFramePr>
        <p:xfrm>
          <a:off x="-2501" y="3490966"/>
          <a:ext cx="233830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5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36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32L/R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GUKDO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BUMSI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14R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GUKDO </a:t>
                      </a:r>
                      <a:r>
                        <a:rPr lang="en-US" sz="800" b="1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DOKDO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57" name="Google Shape;157;p5"/>
          <p:cNvGraphicFramePr/>
          <p:nvPr>
            <p:extLst>
              <p:ext uri="{D42A27DB-BD31-4B8C-83A1-F6EECF244321}">
                <p14:modId xmlns:p14="http://schemas.microsoft.com/office/powerpoint/2010/main" val="210810163"/>
              </p:ext>
            </p:extLst>
          </p:nvPr>
        </p:nvGraphicFramePr>
        <p:xfrm>
          <a:off x="-2501" y="16504"/>
          <a:ext cx="2328850" cy="5682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2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" name="Google Shape;158;p5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68" name="Google Shape;168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723283"/>
            <a:ext cx="1056807" cy="71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55C3732C-B99F-06C8-0284-40550C1D6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2DFD9A-3DE5-9849-C4DF-4F8F47DFC0AA}"/>
              </a:ext>
            </a:extLst>
          </p:cNvPr>
          <p:cNvSpPr txBox="1"/>
          <p:nvPr/>
        </p:nvSpPr>
        <p:spPr>
          <a:xfrm>
            <a:off x="1268244" y="3167422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08367DE-04CA-9C27-2F38-9B696219DB2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" name="Google Shape;174;p6"/>
          <p:cNvGraphicFramePr/>
          <p:nvPr>
            <p:extLst>
              <p:ext uri="{D42A27DB-BD31-4B8C-83A1-F6EECF244321}">
                <p14:modId xmlns:p14="http://schemas.microsoft.com/office/powerpoint/2010/main" val="120629940"/>
              </p:ext>
            </p:extLst>
          </p:nvPr>
        </p:nvGraphicFramePr>
        <p:xfrm>
          <a:off x="0" y="631358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5" name="Google Shape;175;p6"/>
          <p:cNvGraphicFramePr/>
          <p:nvPr>
            <p:extLst>
              <p:ext uri="{D42A27DB-BD31-4B8C-83A1-F6EECF244321}">
                <p14:modId xmlns:p14="http://schemas.microsoft.com/office/powerpoint/2010/main" val="1885465656"/>
              </p:ext>
            </p:extLst>
          </p:nvPr>
        </p:nvGraphicFramePr>
        <p:xfrm>
          <a:off x="-15362" y="3048090"/>
          <a:ext cx="2363857" cy="251150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4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989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NO STAR (TL 140확인)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–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STAR RNP app Only</a:t>
                      </a:r>
                      <a:r>
                        <a:rPr lang="en-US" altLang="ko-KR" sz="800" b="0" dirty="0"/>
                        <a:t>!!</a:t>
                      </a:r>
                      <a:endParaRPr sz="800" b="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KOTTY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SAMUL/-15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CI04R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3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RNP 22L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ORUSA 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ORUSA Tx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14210947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LOC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D058Q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No PAR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22L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en-US" sz="800" b="1" dirty="0"/>
                        <a:t>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D058Q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Offset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3.29도 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PAR</a:t>
                      </a:r>
                      <a:endParaRPr kumimoji="0" lang="en-US" altLang="ko-Kore-KR" sz="458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145471554"/>
                  </a:ext>
                </a:extLst>
              </a:tr>
              <a:tr h="1634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04R(46’)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22L(48’)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49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04L(46’)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22R(48’)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04R : SAMUL(For reference)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49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 of RWY Vacating 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9021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 22L, VOR 22L/R </a:t>
                      </a:r>
                      <a:r>
                        <a:rPr lang="en-US" sz="8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-&gt;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LOC/VOR LNAV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지시고도 유지후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Establish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이후 강하</a:t>
                      </a:r>
                      <a:r>
                        <a:rPr lang="en-US" altLang="ko-KR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(TERR!!)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 04L/R, 22R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강하각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(6NM, 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15 kts (Max 30kts by ATC)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76" name="Google Shape;176;p6"/>
          <p:cNvGraphicFramePr/>
          <p:nvPr>
            <p:extLst>
              <p:ext uri="{D42A27DB-BD31-4B8C-83A1-F6EECF244321}">
                <p14:modId xmlns:p14="http://schemas.microsoft.com/office/powerpoint/2010/main" val="357371806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KWJ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8" name="Google Shape;178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784" y="2135843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59C90C-95A8-11D3-E92B-972143670888}"/>
              </a:ext>
            </a:extLst>
          </p:cNvPr>
          <p:cNvSpPr txBox="1"/>
          <p:nvPr/>
        </p:nvSpPr>
        <p:spPr>
          <a:xfrm>
            <a:off x="1268244" y="272225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05AB18E-6A6D-D896-C0E1-0B1F6C21F4C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" name="Google Shape;184;p7"/>
          <p:cNvGraphicFramePr/>
          <p:nvPr>
            <p:extLst>
              <p:ext uri="{D42A27DB-BD31-4B8C-83A1-F6EECF244321}">
                <p14:modId xmlns:p14="http://schemas.microsoft.com/office/powerpoint/2010/main" val="3104195885"/>
              </p:ext>
            </p:extLst>
          </p:nvPr>
        </p:nvGraphicFramePr>
        <p:xfrm>
          <a:off x="0" y="640885"/>
          <a:ext cx="233582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4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7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DALSU – Y711 – DOTOL Comm RTE(ATC CLR) 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확인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!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(Join Air Way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DCT DOTOL CRS 192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LNAV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KWA 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8000</a:t>
                      </a:r>
                      <a:endParaRPr sz="458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(GWJ 3)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038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(GWJ 4)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KWA 114.4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 111.1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22L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04 : KWA /4.5, R225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22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04L(46’)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22R(48’)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04R(46’)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22L(48’)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SPD MAX 15kts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MAX 30kts by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85" name="Google Shape;185;p7"/>
          <p:cNvGraphicFramePr/>
          <p:nvPr>
            <p:extLst>
              <p:ext uri="{D42A27DB-BD31-4B8C-83A1-F6EECF244321}">
                <p14:modId xmlns:p14="http://schemas.microsoft.com/office/powerpoint/2010/main" val="2187236667"/>
              </p:ext>
            </p:extLst>
          </p:nvPr>
        </p:nvGraphicFramePr>
        <p:xfrm>
          <a:off x="4472" y="3785736"/>
          <a:ext cx="234654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1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7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582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37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18647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DOTOL/-10  160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86" name="Google Shape;186;p7"/>
          <p:cNvGraphicFramePr/>
          <p:nvPr>
            <p:extLst>
              <p:ext uri="{D42A27DB-BD31-4B8C-83A1-F6EECF244321}">
                <p14:modId xmlns:p14="http://schemas.microsoft.com/office/powerpoint/2010/main" val="340456399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KWJ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88" name="Google Shape;188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12" y="2774431"/>
            <a:ext cx="1054108" cy="101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82A4B3-7311-E70E-8F1E-6AA2A950A9A9}"/>
              </a:ext>
            </a:extLst>
          </p:cNvPr>
          <p:cNvSpPr txBox="1"/>
          <p:nvPr/>
        </p:nvSpPr>
        <p:spPr>
          <a:xfrm>
            <a:off x="1268244" y="348247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F55EBE-A8D5-47A4-B1EE-6E09132604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677818939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5" name="Google Shape;195;p8"/>
          <p:cNvGraphicFramePr/>
          <p:nvPr>
            <p:extLst>
              <p:ext uri="{D42A27DB-BD31-4B8C-83A1-F6EECF244321}">
                <p14:modId xmlns:p14="http://schemas.microsoft.com/office/powerpoint/2010/main" val="2339552871"/>
              </p:ext>
            </p:extLst>
          </p:nvPr>
        </p:nvGraphicFramePr>
        <p:xfrm>
          <a:off x="-2501" y="3043740"/>
          <a:ext cx="2349350" cy="2515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CJJ : NO STAR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 PEBRI FL150, After OSPOT H/D060 – RDR Vector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Req ILS Z 24R via HYEIN</a:t>
                      </a:r>
                      <a:endParaRPr sz="7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STAR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(MATIZ x)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(JIKJI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TU761 / BAKJO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(STAR 안줌)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 STAR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(MATIZ x)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(HYEIN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HYEIN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(STAR 안줌)</a:t>
                      </a:r>
                      <a:endParaRPr sz="458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458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536119663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: B3(6443’), A3(8786’), 24R : C3(6230’), D3(8825’)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fluc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 - A/P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Dis’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– Back to Normal – A/P Reengage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 full length Landing (Vacate End of RWY) 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BACK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지나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있음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GND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13916354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CJJ 129.05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DCFA2-A5FB-A979-2969-6AF8C88B2C70}"/>
              </a:ext>
            </a:extLst>
          </p:cNvPr>
          <p:cNvSpPr txBox="1"/>
          <p:nvPr/>
        </p:nvSpPr>
        <p:spPr>
          <a:xfrm>
            <a:off x="1268244" y="264845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B715E8-BB37-04EE-10D7-8B1B1AEC34A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4" name="Google Shape;204;p9"/>
          <p:cNvGraphicFramePr/>
          <p:nvPr>
            <p:extLst>
              <p:ext uri="{D42A27DB-BD31-4B8C-83A1-F6EECF244321}">
                <p14:modId xmlns:p14="http://schemas.microsoft.com/office/powerpoint/2010/main" val="706008215"/>
              </p:ext>
            </p:extLst>
          </p:nvPr>
        </p:nvGraphicFramePr>
        <p:xfrm>
          <a:off x="0" y="640885"/>
          <a:ext cx="2330975" cy="2324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CJJ : SID (NADP 1) </a:t>
                      </a: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240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>
                          <a:solidFill>
                            <a:srgbClr val="C00000"/>
                          </a:solidFill>
                        </a:rPr>
                        <a:t>240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When ASR is out, RNAV SID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891660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(06L : BUKIL 1, 2 RNAV)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(24R : OLREG 1, UPTIL 1)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CHO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24R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06L/R : CHO /1.7, R235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24L/R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Upslope from Apron to RWY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TWR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Cross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Holdline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without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06" name="Google Shape;206;p9"/>
          <p:cNvGraphicFramePr/>
          <p:nvPr>
            <p:extLst>
              <p:ext uri="{D42A27DB-BD31-4B8C-83A1-F6EECF244321}">
                <p14:modId xmlns:p14="http://schemas.microsoft.com/office/powerpoint/2010/main" val="1722761944"/>
              </p:ext>
            </p:extLst>
          </p:nvPr>
        </p:nvGraphicFramePr>
        <p:xfrm>
          <a:off x="-5475" y="16504"/>
          <a:ext cx="2331824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5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CJJ 129.05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8" name="Google Shape;208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79" y="2968570"/>
            <a:ext cx="1357321" cy="5975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9797365"/>
              </p:ext>
            </p:extLst>
          </p:nvPr>
        </p:nvGraphicFramePr>
        <p:xfrm>
          <a:off x="4472" y="3777984"/>
          <a:ext cx="2304147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9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53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921916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DOTOL/-10 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27E7042-90F9-8233-76D0-9CC332B16296}"/>
              </a:ext>
            </a:extLst>
          </p:cNvPr>
          <p:cNvSpPr txBox="1"/>
          <p:nvPr/>
        </p:nvSpPr>
        <p:spPr>
          <a:xfrm>
            <a:off x="1268244" y="347233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B6FA1FD-940D-D3E2-F886-CF6AE7CF056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10"/>
          <p:cNvGraphicFramePr/>
          <p:nvPr>
            <p:extLst>
              <p:ext uri="{D42A27DB-BD31-4B8C-83A1-F6EECF244321}">
                <p14:modId xmlns:p14="http://schemas.microsoft.com/office/powerpoint/2010/main" val="3372224988"/>
              </p:ext>
            </p:extLst>
          </p:nvPr>
        </p:nvGraphicFramePr>
        <p:xfrm>
          <a:off x="0" y="646856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5" name="Google Shape;215;p10"/>
          <p:cNvGraphicFramePr/>
          <p:nvPr>
            <p:extLst>
              <p:ext uri="{D42A27DB-BD31-4B8C-83A1-F6EECF244321}">
                <p14:modId xmlns:p14="http://schemas.microsoft.com/office/powerpoint/2010/main" val="288910894"/>
              </p:ext>
            </p:extLst>
          </p:nvPr>
        </p:nvGraphicFramePr>
        <p:xfrm>
          <a:off x="-2501" y="3598722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TGU/-10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49700757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lang="en-US"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16" name="Google Shape;216;p10"/>
          <p:cNvGraphicFramePr/>
          <p:nvPr>
            <p:extLst>
              <p:ext uri="{D42A27DB-BD31-4B8C-83A1-F6EECF244321}">
                <p14:modId xmlns:p14="http://schemas.microsoft.com/office/powerpoint/2010/main" val="32434366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18" name="Google Shape;218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9439"/>
            <a:ext cx="1511236" cy="82824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E25A77-AD87-2891-BBA1-3541FE0A27F8}"/>
              </a:ext>
            </a:extLst>
          </p:cNvPr>
          <p:cNvSpPr txBox="1"/>
          <p:nvPr/>
        </p:nvSpPr>
        <p:spPr>
          <a:xfrm>
            <a:off x="1268244" y="324211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DA96E2-B950-6309-9DF7-4162EDFCF90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11"/>
          <p:cNvGraphicFramePr/>
          <p:nvPr>
            <p:extLst>
              <p:ext uri="{D42A27DB-BD31-4B8C-83A1-F6EECF244321}">
                <p14:modId xmlns:p14="http://schemas.microsoft.com/office/powerpoint/2010/main" val="4090759542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5" name="Google Shape;225;p11"/>
          <p:cNvGraphicFramePr/>
          <p:nvPr>
            <p:extLst>
              <p:ext uri="{D42A27DB-BD31-4B8C-83A1-F6EECF244321}">
                <p14:modId xmlns:p14="http://schemas.microsoft.com/office/powerpoint/2010/main" val="159884399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DCL Available</a:t>
                      </a:r>
                      <a:endParaRPr sz="700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7" name="Google Shape;227;p11"/>
          <p:cNvGraphicFramePr/>
          <p:nvPr>
            <p:extLst>
              <p:ext uri="{D42A27DB-BD31-4B8C-83A1-F6EECF244321}">
                <p14:modId xmlns:p14="http://schemas.microsoft.com/office/powerpoint/2010/main" val="3647467196"/>
              </p:ext>
            </p:extLst>
          </p:nvPr>
        </p:nvGraphicFramePr>
        <p:xfrm>
          <a:off x="4472" y="377842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5858961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28" name="Google Shape;22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454649"/>
            <a:ext cx="1619573" cy="7628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42074-6A94-228D-FDEE-D2295CA726A3}"/>
              </a:ext>
            </a:extLst>
          </p:cNvPr>
          <p:cNvSpPr txBox="1"/>
          <p:nvPr/>
        </p:nvSpPr>
        <p:spPr>
          <a:xfrm>
            <a:off x="1268244" y="347972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C6776-0487-EB3A-5D2B-8CFF3C519A7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" name="Google Shape;234;p12"/>
          <p:cNvGraphicFramePr/>
          <p:nvPr>
            <p:extLst>
              <p:ext uri="{D42A27DB-BD31-4B8C-83A1-F6EECF244321}">
                <p14:modId xmlns:p14="http://schemas.microsoft.com/office/powerpoint/2010/main" val="3736994476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5" name="Google Shape;235;p12"/>
          <p:cNvGraphicFramePr/>
          <p:nvPr>
            <p:extLst>
              <p:ext uri="{D42A27DB-BD31-4B8C-83A1-F6EECF244321}">
                <p14:modId xmlns:p14="http://schemas.microsoft.com/office/powerpoint/2010/main" val="48402823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8" name="Google Shape;238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40" y="2159090"/>
            <a:ext cx="1511235" cy="8282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37;p4">
            <a:extLst>
              <a:ext uri="{FF2B5EF4-FFF2-40B4-BE49-F238E27FC236}">
                <a16:creationId xmlns:a16="http://schemas.microsoft.com/office/drawing/2014/main" id="{C219BCFB-D529-B116-FE7F-CEFD0CAC2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0489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282C91-A9AE-BCC9-5FEC-78765E574F0D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183D78-F73C-097D-0450-1B0DF23C0E7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4" name="Google Shape;244;p13"/>
          <p:cNvGraphicFramePr/>
          <p:nvPr>
            <p:extLst>
              <p:ext uri="{D42A27DB-BD31-4B8C-83A1-F6EECF244321}">
                <p14:modId xmlns:p14="http://schemas.microsoft.com/office/powerpoint/2010/main" val="2774644071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7" name="Google Shape;247;p13"/>
          <p:cNvGraphicFramePr/>
          <p:nvPr>
            <p:extLst>
              <p:ext uri="{D42A27DB-BD31-4B8C-83A1-F6EECF244321}">
                <p14:modId xmlns:p14="http://schemas.microsoft.com/office/powerpoint/2010/main" val="2129385174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8" name="Google Shape;248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Google Shape;227;p11">
            <a:extLst>
              <a:ext uri="{FF2B5EF4-FFF2-40B4-BE49-F238E27FC236}">
                <a16:creationId xmlns:a16="http://schemas.microsoft.com/office/drawing/2014/main" id="{04159ABD-A06E-9C8C-66B0-59FD50E49E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908691"/>
              </p:ext>
            </p:extLst>
          </p:nvPr>
        </p:nvGraphicFramePr>
        <p:xfrm>
          <a:off x="4472" y="3782789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5528768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94E67-D6BE-5F51-CDC7-89AD8D49986E}"/>
              </a:ext>
            </a:extLst>
          </p:cNvPr>
          <p:cNvSpPr txBox="1"/>
          <p:nvPr/>
        </p:nvSpPr>
        <p:spPr>
          <a:xfrm>
            <a:off x="1268244" y="345960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E11C70-1767-EB3D-06A8-A5C6ED6404C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977029342"/>
              </p:ext>
            </p:extLst>
          </p:nvPr>
        </p:nvGraphicFramePr>
        <p:xfrm>
          <a:off x="4410" y="3733731"/>
          <a:ext cx="2328514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only,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/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4385758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4EAB618-D8DC-48CF-B02D-8D5856DA3E5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1D14C-1E21-FD11-21C8-4C6CDD0F96B8}"/>
              </a:ext>
            </a:extLst>
          </p:cNvPr>
          <p:cNvSpPr txBox="1"/>
          <p:nvPr/>
        </p:nvSpPr>
        <p:spPr>
          <a:xfrm>
            <a:off x="-40600" y="3234813"/>
            <a:ext cx="1707519" cy="352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dirty="0">
                <a:solidFill>
                  <a:srgbClr val="0070C0"/>
                </a:solidFill>
              </a:rPr>
              <a:t>ICN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국제선 이후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TRANSIT GD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필요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(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팀장님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)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ko-KR" sz="600" b="1" dirty="0">
                <a:solidFill>
                  <a:srgbClr val="0070C0"/>
                </a:solidFill>
              </a:rPr>
              <a:t>–&gt;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PUS PASSPORT Immigration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해야함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.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6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/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/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A4E246-6724-775D-52E5-7C58BBF23B1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01929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63464616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15489392"/>
              </p:ext>
            </p:extLst>
          </p:nvPr>
        </p:nvGraphicFramePr>
        <p:xfrm>
          <a:off x="0" y="603259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25455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15;p10">
            <a:extLst>
              <a:ext uri="{FF2B5EF4-FFF2-40B4-BE49-F238E27FC236}">
                <a16:creationId xmlns:a16="http://schemas.microsoft.com/office/drawing/2014/main" id="{46F2EAE1-83BB-44D8-D0AD-C94497717E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425447"/>
              </p:ext>
            </p:extLst>
          </p:nvPr>
        </p:nvGraphicFramePr>
        <p:xfrm>
          <a:off x="-2501" y="3608444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819058390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최소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ft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5B56488-523A-FABA-71D8-1FDCCDC5A78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138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15072075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24;p11">
            <a:extLst>
              <a:ext uri="{FF2B5EF4-FFF2-40B4-BE49-F238E27FC236}">
                <a16:creationId xmlns:a16="http://schemas.microsoft.com/office/drawing/2014/main" id="{C1B1F82E-30BE-00FB-5A4B-DD19939350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6694776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Google Shape;228;p11">
            <a:extLst>
              <a:ext uri="{FF2B5EF4-FFF2-40B4-BE49-F238E27FC236}">
                <a16:creationId xmlns:a16="http://schemas.microsoft.com/office/drawing/2014/main" id="{B662BD49-2593-FB88-2E41-E4E267C1E70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" y="2473309"/>
            <a:ext cx="1451344" cy="66194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49DF53-0E6F-B1AF-BAFC-7A192ADE9C4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1516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273620273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>
            <p:extLst>
              <p:ext uri="{D42A27DB-BD31-4B8C-83A1-F6EECF244321}">
                <p14:modId xmlns:p14="http://schemas.microsoft.com/office/powerpoint/2010/main" val="3945761188"/>
              </p:ext>
            </p:extLst>
          </p:nvPr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3" y="2389151"/>
            <a:ext cx="721464" cy="37597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8" name="Google Shape;258;p14"/>
          <p:cNvGraphicFramePr/>
          <p:nvPr>
            <p:extLst>
              <p:ext uri="{D42A27DB-BD31-4B8C-83A1-F6EECF244321}">
                <p14:modId xmlns:p14="http://schemas.microsoft.com/office/powerpoint/2010/main" val="1326104498"/>
              </p:ext>
            </p:extLst>
          </p:nvPr>
        </p:nvGraphicFramePr>
        <p:xfrm>
          <a:off x="1596" y="3233287"/>
          <a:ext cx="2331400" cy="2302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HAKKA 330,YAGAN 240,LIVET 210,SWAMP 150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Prepare Holding or RWY CHG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2779805"/>
            <a:ext cx="2335896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– 132.45 -124.1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128.2 – TKO APP 124.4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4" name="Google Shape;264;p15"/>
          <p:cNvGraphicFramePr/>
          <p:nvPr>
            <p:extLst>
              <p:ext uri="{D42A27DB-BD31-4B8C-83A1-F6EECF244321}">
                <p14:modId xmlns:p14="http://schemas.microsoft.com/office/powerpoint/2010/main" val="332034159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118653534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>
            <p:extLst>
              <p:ext uri="{D42A27DB-BD31-4B8C-83A1-F6EECF244321}">
                <p14:modId xmlns:p14="http://schemas.microsoft.com/office/powerpoint/2010/main" val="2168672014"/>
              </p:ext>
            </p:extLst>
          </p:nvPr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576930"/>
            <a:ext cx="178766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4146721415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SWISSPORT  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OPERATION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691489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</a:t>
            </a:r>
          </a:p>
          <a:p>
            <a:pPr>
              <a:lnSpc>
                <a:spcPct val="150000"/>
              </a:lnSpc>
            </a:pPr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2;p18">
            <a:extLst>
              <a:ext uri="{FF2B5EF4-FFF2-40B4-BE49-F238E27FC236}">
                <a16:creationId xmlns:a16="http://schemas.microsoft.com/office/drawing/2014/main" id="{83E1A208-D550-C97A-7CA4-81BFC5838C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9231886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1840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14058584"/>
              </p:ext>
            </p:extLst>
          </p:nvPr>
        </p:nvGraphicFramePr>
        <p:xfrm>
          <a:off x="-2501" y="16504"/>
          <a:ext cx="2328850" cy="682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3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SWISSPORT OPERATION</a:t>
                      </a:r>
                      <a:r>
                        <a:rPr lang="en-US" sz="9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180233"/>
            <a:ext cx="14814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300;p19">
            <a:extLst>
              <a:ext uri="{FF2B5EF4-FFF2-40B4-BE49-F238E27FC236}">
                <a16:creationId xmlns:a16="http://schemas.microsoft.com/office/drawing/2014/main" id="{A4C89653-4217-EFE7-7FC0-2E8C5F9AF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24174"/>
              </p:ext>
            </p:extLst>
          </p:nvPr>
        </p:nvGraphicFramePr>
        <p:xfrm>
          <a:off x="0" y="699320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675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104606748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073409"/>
            <a:ext cx="1786066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118.9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APP 119.65 – FUK RDR 121.125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73;p16">
            <a:extLst>
              <a:ext uri="{FF2B5EF4-FFF2-40B4-BE49-F238E27FC236}">
                <a16:creationId xmlns:a16="http://schemas.microsoft.com/office/drawing/2014/main" id="{2C7D814E-F3C6-1679-11D0-3BA5E49BE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3439758"/>
              </p:ext>
            </p:extLst>
          </p:nvPr>
        </p:nvGraphicFramePr>
        <p:xfrm>
          <a:off x="4410" y="3577043"/>
          <a:ext cx="2305886" cy="19638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8293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61834748"/>
              </p:ext>
            </p:extLst>
          </p:nvPr>
        </p:nvGraphicFramePr>
        <p:xfrm>
          <a:off x="-2501" y="16505"/>
          <a:ext cx="2328850" cy="6096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1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1204369" y="2315681"/>
            <a:ext cx="70403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135.65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82;p17">
            <a:extLst>
              <a:ext uri="{FF2B5EF4-FFF2-40B4-BE49-F238E27FC236}">
                <a16:creationId xmlns:a16="http://schemas.microsoft.com/office/drawing/2014/main" id="{C17B30FB-054D-E017-8A84-FFD35EC56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22756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8C59922-12DD-5524-7A34-49E960AAC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5" y="2239966"/>
            <a:ext cx="1102787" cy="99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5785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29749342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40006007"/>
              </p:ext>
            </p:extLst>
          </p:nvPr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00156307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74756" y="3192214"/>
            <a:ext cx="251222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 124.15 -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4712840-8D61-AB2A-6929-88E6EAC824AC}"/>
              </a:ext>
            </a:extLst>
          </p:cNvPr>
          <p:cNvSpPr/>
          <p:nvPr/>
        </p:nvSpPr>
        <p:spPr>
          <a:xfrm>
            <a:off x="1622852" y="33797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273FDD-E3BC-4C98-FE4C-6B5FFE0AD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2829744786"/>
              </p:ext>
            </p:extLst>
          </p:nvPr>
        </p:nvGraphicFramePr>
        <p:xfrm>
          <a:off x="0" y="611908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6571331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KIX 130.95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2245363245"/>
              </p:ext>
            </p:extLst>
          </p:nvPr>
        </p:nvGraphicFramePr>
        <p:xfrm>
          <a:off x="-5861" y="3410462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1FD245-E43C-5EBF-6DC5-C4C9F9774FB6}"/>
              </a:ext>
            </a:extLst>
          </p:cNvPr>
          <p:cNvSpPr txBox="1"/>
          <p:nvPr/>
        </p:nvSpPr>
        <p:spPr>
          <a:xfrm>
            <a:off x="-20938" y="2486190"/>
            <a:ext cx="99418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AE14337-B047-BE87-76E3-9B5D9B8E501D}"/>
              </a:ext>
            </a:extLst>
          </p:cNvPr>
          <p:cNvSpPr/>
          <p:nvPr/>
        </p:nvSpPr>
        <p:spPr>
          <a:xfrm>
            <a:off x="1622852" y="295147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F9DBE84-CD0F-95F2-9F79-E83F51FD81B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20"/>
          <p:cNvGraphicFramePr/>
          <p:nvPr>
            <p:extLst>
              <p:ext uri="{D42A27DB-BD31-4B8C-83A1-F6EECF244321}">
                <p14:modId xmlns:p14="http://schemas.microsoft.com/office/powerpoint/2010/main" val="1311934234"/>
              </p:ext>
            </p:extLst>
          </p:nvPr>
        </p:nvGraphicFramePr>
        <p:xfrm>
          <a:off x="0" y="565414"/>
          <a:ext cx="2332925" cy="2496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2069230007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HAKKA 330,YAGAN 240,LIVET 210,SWAMP 150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235661444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91698" y="3094015"/>
            <a:ext cx="2063385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.02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124.1-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128.2 –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>
            <p:extLst>
              <p:ext uri="{D42A27DB-BD31-4B8C-83A1-F6EECF244321}">
                <p14:modId xmlns:p14="http://schemas.microsoft.com/office/powerpoint/2010/main" val="3209609890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40801461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Tokyo 131.70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1" name="Google Shape;321;p21"/>
          <p:cNvGraphicFramePr/>
          <p:nvPr>
            <p:extLst>
              <p:ext uri="{D42A27DB-BD31-4B8C-83A1-F6EECF244321}">
                <p14:modId xmlns:p14="http://schemas.microsoft.com/office/powerpoint/2010/main" val="3534321627"/>
              </p:ext>
            </p:extLst>
          </p:nvPr>
        </p:nvGraphicFramePr>
        <p:xfrm>
          <a:off x="-5861" y="340566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566981"/>
            <a:ext cx="178766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123046964"/>
              </p:ext>
            </p:extLst>
          </p:nvPr>
        </p:nvGraphicFramePr>
        <p:xfrm>
          <a:off x="0" y="565414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49915081"/>
              </p:ext>
            </p:extLst>
          </p:nvPr>
        </p:nvGraphicFramePr>
        <p:xfrm>
          <a:off x="1596" y="3632328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CTS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(01R : IDEMI FL150, 19L : NAVER FL170)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01R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YOTEI SOUTH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(YUKII WEST)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YOTEI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not YOSEI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01R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3000/2000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19R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CAT III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NAVER(170)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 SOUTH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 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KAORY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19L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01L(62’)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19R(82’)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01R : B4(5278’), B3(7047’), 19L : B8(5177’), B9(7119’)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01L : A5(5538’), A4(6961’), 19R : A7(5390’), A8(6873’)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Do not Cross 01L/19R After L/D (No TWY)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to Gate Via D(J) or G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315412402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Chitose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1878" y="3155242"/>
            <a:ext cx="2085827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132.3 - SPR 133.3 -119.3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CTS APP 120.1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1608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/>
        </p:nvGraphicFramePr>
        <p:xfrm>
          <a:off x="0" y="611908"/>
          <a:ext cx="2332950" cy="1598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CTS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DALBI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SUVIT x SOSHU x</a:t>
                      </a:r>
                      <a:endParaRPr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002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116.9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01R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01L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19R 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01L(62’)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19R(82’)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accent1"/>
                          </a:solidFill>
                        </a:rPr>
                        <a:t>APU, Deicing at the Gate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R/H turn DCT to HWE -&gt; Confirm R/H Turn ND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423840068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Chitose Oper 132.05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NO DCL -5분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>
            <p:extLst>
              <p:ext uri="{D42A27DB-BD31-4B8C-83A1-F6EECF244321}">
                <p14:modId xmlns:p14="http://schemas.microsoft.com/office/powerpoint/2010/main" val="1453061728"/>
              </p:ext>
            </p:extLst>
          </p:nvPr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-20938" y="2172085"/>
            <a:ext cx="159691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119.3 – TKO 124.5 - 132.3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5" name="Google Shape;345;p24"/>
          <p:cNvGraphicFramePr/>
          <p:nvPr>
            <p:extLst>
              <p:ext uri="{D42A27DB-BD31-4B8C-83A1-F6EECF244321}">
                <p14:modId xmlns:p14="http://schemas.microsoft.com/office/powerpoint/2010/main" val="429565451"/>
              </p:ext>
            </p:extLst>
          </p:nvPr>
        </p:nvGraphicFramePr>
        <p:xfrm>
          <a:off x="0" y="565414"/>
          <a:ext cx="2332925" cy="252526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250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9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95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95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95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958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46" name="Google Shape;346;p24"/>
          <p:cNvGraphicFramePr/>
          <p:nvPr>
            <p:extLst>
              <p:ext uri="{D42A27DB-BD31-4B8C-83A1-F6EECF244321}">
                <p14:modId xmlns:p14="http://schemas.microsoft.com/office/powerpoint/2010/main" val="4181943612"/>
              </p:ext>
            </p:extLst>
          </p:nvPr>
        </p:nvGraphicFramePr>
        <p:xfrm>
          <a:off x="1596" y="3473578"/>
          <a:ext cx="2313550" cy="2065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413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XAC Night– APP xxx Y 1400z~</a:t>
                      </a:r>
                      <a:r>
                        <a:rPr lang="en-US" sz="800" dirty="0"/>
                        <a:t> </a:t>
                      </a:r>
                      <a:r>
                        <a:rPr lang="en-US" altLang="ko-Kore-KR" sz="800" dirty="0"/>
                        <a:t>SPENS 220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/H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KAIHO</a:t>
                      </a:r>
                      <a:r>
                        <a:rPr lang="en-US" sz="800" b="0" dirty="0"/>
                        <a:t>/CACAO</a:t>
                      </a:r>
                      <a:endParaRPr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</a:t>
                      </a:r>
                      <a:r>
                        <a:rPr lang="en-US" sz="800" b="0" dirty="0"/>
                        <a:t>/ VIS</a:t>
                      </a:r>
                      <a:endParaRPr sz="458" b="0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xB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BACON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22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NATTY</a:t>
                      </a:r>
                      <a:r>
                        <a:rPr lang="en-US" sz="800" b="0" dirty="0"/>
                        <a:t>/SANDY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RNP(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R16RT</a:t>
                      </a:r>
                      <a:r>
                        <a:rPr lang="en-US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/R16LT</a:t>
                      </a: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458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23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-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DANON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23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85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16R(77’) 8268’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9843’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16L(19’) 9744’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22(35’)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23(55’)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158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34L : L12(6515’), L13(7165’), 22 : B4(6207’), B3(6830’)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L5(5147’), L3(6361’), 23 : 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D5(5072’), D3(6391’)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0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xxx Z : 180kts, 160kts limit APP Chart, xxx Y After 1400z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47" name="Google Shape;347;p24"/>
          <p:cNvGraphicFramePr/>
          <p:nvPr>
            <p:extLst>
              <p:ext uri="{D42A27DB-BD31-4B8C-83A1-F6EECF244321}">
                <p14:modId xmlns:p14="http://schemas.microsoft.com/office/powerpoint/2010/main" val="13429994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Delta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132.075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3946-A7CD-77E9-F5B8-CBBDBDCC5ADA}"/>
              </a:ext>
            </a:extLst>
          </p:cNvPr>
          <p:cNvSpPr txBox="1"/>
          <p:nvPr/>
        </p:nvSpPr>
        <p:spPr>
          <a:xfrm>
            <a:off x="-41878" y="3028026"/>
            <a:ext cx="2212465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133.02 – TKO 120.5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133.35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APP 119.1 – 119.65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883402A-2C06-3020-A385-CD1C99F5016F}"/>
              </a:ext>
            </a:extLst>
          </p:cNvPr>
          <p:cNvSpPr/>
          <p:nvPr/>
        </p:nvSpPr>
        <p:spPr>
          <a:xfrm>
            <a:off x="1622852" y="315981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2E95AF-4A51-6082-8123-DE5EE03D2C2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11E119-4026-CE0D-8F48-49BFB4C46FBA}"/>
              </a:ext>
            </a:extLst>
          </p:cNvPr>
          <p:cNvSpPr txBox="1"/>
          <p:nvPr/>
        </p:nvSpPr>
        <p:spPr>
          <a:xfrm>
            <a:off x="624812" y="2553021"/>
            <a:ext cx="128753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ATIS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FUK 133.02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354" name="Google Shape;354;p25"/>
          <p:cNvGraphicFramePr/>
          <p:nvPr>
            <p:extLst>
              <p:ext uri="{D42A27DB-BD31-4B8C-83A1-F6EECF244321}">
                <p14:modId xmlns:p14="http://schemas.microsoft.com/office/powerpoint/2010/main" val="2578373620"/>
              </p:ext>
            </p:extLst>
          </p:nvPr>
        </p:nvGraphicFramePr>
        <p:xfrm>
          <a:off x="0" y="611909"/>
          <a:ext cx="2320125" cy="20055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5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4725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(xx B/C 2200-0230z 0600-1000z)</a:t>
                      </a:r>
                      <a:r>
                        <a:rPr lang="en-US" sz="800" dirty="0"/>
                        <a:t> NADP 1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ALL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BEKLA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OPPAR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RWY CRS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112.2</a:t>
                      </a:r>
                      <a:endParaRPr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111.7</a:t>
                      </a:r>
                      <a:endParaRPr sz="458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111.55</a:t>
                      </a:r>
                      <a:endParaRPr sz="80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111.95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110.5</a:t>
                      </a:r>
                      <a:endParaRPr sz="80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800">
                <a:tc rowSpan="3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       9843’       16R(77’)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      11024’      16L(19’)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04(19’)        8202’       05(46’)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65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34L : HME 351/1.1, R095, 34R : HME R080, R095, 22 : HME /2.2 R185 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89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34R BEKLA : KAIJI 230kts, TORAM Flap5 SPD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16L : BEKLA : PLUTO 230kts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</a:rPr>
                        <a:t>RWY05 RTE5 TAXI Chart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4361055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Delta Oper 132.075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7" name="Google Shape;357;p25"/>
          <p:cNvGraphicFramePr/>
          <p:nvPr>
            <p:extLst>
              <p:ext uri="{D42A27DB-BD31-4B8C-83A1-F6EECF244321}">
                <p14:modId xmlns:p14="http://schemas.microsoft.com/office/powerpoint/2010/main" val="4292766258"/>
              </p:ext>
            </p:extLst>
          </p:nvPr>
        </p:nvGraphicFramePr>
        <p:xfrm>
          <a:off x="-5861" y="34050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606644"/>
            <a:ext cx="711976" cy="609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3582B6-F7D2-6EF3-A8F0-CE2C1812FEDF}"/>
              </a:ext>
            </a:extLst>
          </p:cNvPr>
          <p:cNvSpPr/>
          <p:nvPr/>
        </p:nvSpPr>
        <p:spPr>
          <a:xfrm>
            <a:off x="1622852" y="300356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594720C-B6A0-A9A8-C0C5-31BACFE322E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535207270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41847903"/>
              </p:ext>
            </p:extLst>
          </p:nvPr>
        </p:nvGraphicFramePr>
        <p:xfrm>
          <a:off x="-2501" y="16504"/>
          <a:ext cx="2328850" cy="6050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</a:t>
                      </a:r>
                      <a:r>
                        <a:rPr lang="en-US" sz="800" dirty="0"/>
                        <a:t>SWISSPORT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    OPERATION    </a:t>
                      </a:r>
                      <a:r>
                        <a:rPr lang="en-US" sz="900" dirty="0"/>
                        <a:t>132.05</a:t>
                      </a:r>
                      <a:endParaRPr sz="900" dirty="0"/>
                    </a:p>
                  </a:txBody>
                  <a:tcPr marL="91450" marR="9145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Google Shape;292;p18">
            <a:extLst>
              <a:ext uri="{FF2B5EF4-FFF2-40B4-BE49-F238E27FC236}">
                <a16:creationId xmlns:a16="http://schemas.microsoft.com/office/drawing/2014/main" id="{875A20F2-11E7-1F75-20D8-CFED1D1E2C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715261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1FC2543-C4A5-9C11-508F-89BF4833E0A4}"/>
              </a:ext>
            </a:extLst>
          </p:cNvPr>
          <p:cNvSpPr txBox="1"/>
          <p:nvPr/>
        </p:nvSpPr>
        <p:spPr>
          <a:xfrm>
            <a:off x="27922" y="3289355"/>
            <a:ext cx="1632178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134.17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TKO 133.8 – 133.02</a:t>
            </a:r>
          </a:p>
          <a:p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F4ECAC-C9A4-C401-BEF9-9B74E7F75934}"/>
              </a:ext>
            </a:extLst>
          </p:cNvPr>
          <p:cNvSpPr/>
          <p:nvPr/>
        </p:nvSpPr>
        <p:spPr>
          <a:xfrm>
            <a:off x="1651788" y="340867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F7711A-A078-A852-471C-DDD7F032B1E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5679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943093384"/>
              </p:ext>
            </p:extLst>
          </p:nvPr>
        </p:nvGraphicFramePr>
        <p:xfrm>
          <a:off x="0" y="611908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4206623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/>
                        <a:t>SWISSPORT OPERATION</a:t>
                      </a:r>
                      <a:r>
                        <a:rPr lang="en-US" altLang="ko-Kore-KR" sz="900" dirty="0"/>
                        <a:t>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   132.05   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3777137728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1CF481-65C3-26D3-95AE-3671F3B5E010}"/>
              </a:ext>
            </a:extLst>
          </p:cNvPr>
          <p:cNvSpPr txBox="1"/>
          <p:nvPr/>
        </p:nvSpPr>
        <p:spPr>
          <a:xfrm>
            <a:off x="27922" y="2473269"/>
            <a:ext cx="163217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33.8 – 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52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5C69C5F-473C-23C7-E8DB-164948105765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D2B1E1-5D0A-9574-5547-A89097C5B4B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0644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153203903"/>
              </p:ext>
            </p:extLst>
          </p:nvPr>
        </p:nvGraphicFramePr>
        <p:xfrm>
          <a:off x="4410" y="3597139"/>
          <a:ext cx="2305886" cy="192485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6456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63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 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7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4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979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161901041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586232075"/>
              </p:ext>
            </p:extLst>
          </p:nvPr>
        </p:nvGraphicFramePr>
        <p:xfrm>
          <a:off x="0" y="635155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44765"/>
            <a:ext cx="15167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118.9 - FUK APP 119.65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RDR – 121.125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DBB501F-12C7-34CA-C78C-1FF1B317E880}"/>
              </a:ext>
            </a:extLst>
          </p:cNvPr>
          <p:cNvSpPr/>
          <p:nvPr/>
        </p:nvSpPr>
        <p:spPr>
          <a:xfrm>
            <a:off x="1622852" y="32292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C10F70C-499F-1525-282C-0C96F903AE7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72624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1763319469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264896593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KE FUK 132.05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1313820" y="2239966"/>
            <a:ext cx="1764127" cy="532316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71BB25A-EB2C-6C8E-4320-E80D2FF5995A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EADFD83-B1ED-4336-4BA9-069594F75EC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2EF0B45-A026-4882-552D-AE9B1DD5AD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" y="2239966"/>
            <a:ext cx="1232042" cy="111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7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308219643"/>
              </p:ext>
            </p:extLst>
          </p:nvPr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173449557"/>
              </p:ext>
            </p:extLst>
          </p:nvPr>
        </p:nvGraphicFramePr>
        <p:xfrm>
          <a:off x="1596" y="3665660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57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Obstacle Around Airport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(High FE, Cold Temp)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over MRE, MELOS, YACHI 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Confirm CRS, EFC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CAT II,III Request Before 15min By 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NONE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MRE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YACHI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24 (AR)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MELOS SOUTH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YACHI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MELOS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06 (AR)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VOR Z 06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6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654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24 : T2(5043’),T1(7043’),     06 : T3(5043’), T4(7043’)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5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ILS Y 24 Turn SPD : Max 200kts,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CHK MRE D12 Turn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시작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선회 반경으로 선회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</a:rPr>
                        <a:t>늦어짐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SPD Modify)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RWY, TWY color Yellow, 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5346048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sz="13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AOJ 130.17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ATIS</a:t>
                      </a:r>
                      <a:endParaRPr sz="80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125.15 - 133.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132.3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133.3 -127.57 -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AOJ TWR 118.3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4441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4011996195"/>
              </p:ext>
            </p:extLst>
          </p:nvPr>
        </p:nvGraphicFramePr>
        <p:xfrm>
          <a:off x="0" y="611908"/>
          <a:ext cx="2332950" cy="1547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IWAKI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MRE 114.1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24 : MRE 241/2, </a:t>
                      </a:r>
                      <a:r>
                        <a:rPr lang="en-US" altLang="ko-Kore-KR" sz="800" dirty="0"/>
                        <a:t>MRE R008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06 : MRE 061/1, R350, </a:t>
                      </a:r>
                      <a:r>
                        <a:rPr lang="en-US" altLang="ko-Kore-KR" sz="800" dirty="0"/>
                        <a:t>MRE R008</a:t>
                      </a:r>
                      <a:r>
                        <a:rPr lang="en-US" sz="800" dirty="0"/>
                        <a:t> 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ATC </a:t>
                      </a:r>
                      <a:r>
                        <a:rPr lang="ko-KR" altLang="en-US" sz="800" b="1">
                          <a:solidFill>
                            <a:schemeClr val="accent1"/>
                          </a:solidFill>
                        </a:rPr>
                        <a:t>순서 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특이함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.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Deicing at the Gate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2876772314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AOJ 130.17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ATIS, TWR 118.3 Voice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37789"/>
            <a:ext cx="145103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127.57 – 133.3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 – 133.02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C8115353-69BE-87FD-05F8-01C1A3AB7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83" y="2157696"/>
            <a:ext cx="966479" cy="8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59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/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620593510"/>
              </p:ext>
            </p:extLst>
          </p:nvPr>
        </p:nvGraphicFramePr>
        <p:xfrm>
          <a:off x="1596" y="3738754"/>
          <a:ext cx="2331375" cy="18061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1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GTC-50NM – TERAD (Modify!!)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At/Below 3000MSL : 200kts, Above 3000MSL : 250kts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EAST 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KYOGA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1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10</a:t>
                      </a:r>
                      <a:endParaRPr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WEST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(KAETSU)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RYUTO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INAHO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Y 10 (AR)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9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97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B4(6167’),B5(7906’),     10 : P3(6292’), B1(8100’)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2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LDC Data :  RWY28+81ft, RWY10+274ft (Due PAPI PSN)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RWY 10 Downslope, Vacate RWY04/22 by ATC Only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502802556"/>
              </p:ext>
            </p:extLst>
          </p:nvPr>
        </p:nvGraphicFramePr>
        <p:xfrm>
          <a:off x="-2501" y="16504"/>
          <a:ext cx="2328850" cy="5889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1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Niigata 131.85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133.8 - 132.45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KIJ RDR 121.4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0132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3416679218"/>
              </p:ext>
            </p:extLst>
          </p:nvPr>
        </p:nvGraphicFramePr>
        <p:xfrm>
          <a:off x="0" y="611908"/>
          <a:ext cx="2332950" cy="148259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MOKBA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GTC 115.5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10 : GTC 101/2, R360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Sometimes Cross 50NM SW GTC FL200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564158445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KIJ 131.85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TWR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64788"/>
            <a:ext cx="109517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폰트, 도표, 스크린샷이(가) 표시된 사진&#10;&#10;자동 생성된 설명">
            <a:extLst>
              <a:ext uri="{FF2B5EF4-FFF2-40B4-BE49-F238E27FC236}">
                <a16:creationId xmlns:a16="http://schemas.microsoft.com/office/drawing/2014/main" id="{DA774A71-0429-BF8E-9C9A-B87EB38399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106094"/>
            <a:ext cx="908959" cy="90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09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3820343038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MAMAS 240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ELGAR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(TYLER)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G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N)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GEMIN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(NORMA)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450456469"/>
              </p:ext>
            </p:extLst>
          </p:nvPr>
        </p:nvGraphicFramePr>
        <p:xfrm>
          <a:off x="-2501" y="16504"/>
          <a:ext cx="2328850" cy="5899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7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1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105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63376" y="2956451"/>
            <a:ext cx="2517036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</a:t>
            </a:r>
            <a:r>
              <a:rPr kumimoji="1" lang="en-US" altLang="ko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KOB</a:t>
            </a:r>
            <a:r>
              <a:rPr kumimoji="1" lang="en-US" altLang="ko-Kore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118.9 – FUK 133.15 – 119.35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134.35 - TKO 125.9 -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 – ARR 121.27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14;p10">
            <a:extLst>
              <a:ext uri="{FF2B5EF4-FFF2-40B4-BE49-F238E27FC236}">
                <a16:creationId xmlns:a16="http://schemas.microsoft.com/office/drawing/2014/main" id="{C861A1D2-8B8B-326B-9B77-97488D0896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122821"/>
              </p:ext>
            </p:extLst>
          </p:nvPr>
        </p:nvGraphicFramePr>
        <p:xfrm>
          <a:off x="0" y="614488"/>
          <a:ext cx="2326349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9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18;p10">
            <a:extLst>
              <a:ext uri="{FF2B5EF4-FFF2-40B4-BE49-F238E27FC236}">
                <a16:creationId xmlns:a16="http://schemas.microsoft.com/office/drawing/2014/main" id="{0D8669F7-0055-7495-FBE1-C5C99B795B7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501" y="2118979"/>
            <a:ext cx="1511236" cy="828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8108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/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16994320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486190"/>
            <a:ext cx="231826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128.12 – FUK 133.02 – KOB 133.55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132.7 – FUK 133.15 – KOB 118.9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121.2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27;p11">
            <a:extLst>
              <a:ext uri="{FF2B5EF4-FFF2-40B4-BE49-F238E27FC236}">
                <a16:creationId xmlns:a16="http://schemas.microsoft.com/office/drawing/2014/main" id="{7A61CDFA-D55D-A334-BEF7-D36F17824D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37702"/>
              </p:ext>
            </p:extLst>
          </p:nvPr>
        </p:nvGraphicFramePr>
        <p:xfrm>
          <a:off x="4472" y="377099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15447704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02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35347"/>
            <a:ext cx="526844" cy="525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66E64-8738-9A9D-AA0F-1948B59B16C4}"/>
              </a:ext>
            </a:extLst>
          </p:cNvPr>
          <p:cNvSpPr txBox="1"/>
          <p:nvPr/>
        </p:nvSpPr>
        <p:spPr>
          <a:xfrm>
            <a:off x="579347" y="3254455"/>
            <a:ext cx="1757212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CJU 124.52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125.625 - 125.4 – 126.65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11126693"/>
              </p:ext>
            </p:extLst>
          </p:nvPr>
        </p:nvGraphicFramePr>
        <p:xfrm>
          <a:off x="0" y="1055589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739915381"/>
              </p:ext>
            </p:extLst>
          </p:nvPr>
        </p:nvGraphicFramePr>
        <p:xfrm>
          <a:off x="4472" y="3732015"/>
          <a:ext cx="2331327" cy="17863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8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18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22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SPD Rest From IAF(210kts), 180kts, 160kts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18L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61A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SS204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above 2960ft  </a:t>
                      </a:r>
                      <a:r>
                        <a:rPr lang="en-US" altLang="ko-KR" sz="700" b="1" u="none" strike="noStrike" cap="none" dirty="0"/>
                        <a:t>PUD QRH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36R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71A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SS405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1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18L(6’)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36R(9’)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627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dk1"/>
                          </a:solidFill>
                        </a:rPr>
                        <a:t>18L: A3(6555’), A4(7578’) 36R: A2(5738’), A1(7089’)</a:t>
                      </a:r>
                      <a:r>
                        <a:rPr lang="en-US" sz="80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64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Traffic PTN West of RWY, Landing East RWY Normally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Des 550m (1800ft)</a:t>
                      </a:r>
                      <a:r>
                        <a:rPr lang="ko-KR" altLang="en-US" sz="800" u="none" strike="noStrike" cap="none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u="none" strike="noStrike" cap="none" dirty="0">
                          <a:solidFill>
                            <a:srgbClr val="FF0000"/>
                          </a:solidFill>
                        </a:rPr>
                        <a:t>”five five zero meters”</a:t>
                      </a:r>
                      <a:endParaRPr lang="en-US" sz="800" u="none" strike="noStrike" cap="none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L08, L09 not available B737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Shall CTC Apron Before Entering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350246762"/>
              </p:ext>
            </p:extLst>
          </p:nvPr>
        </p:nvGraphicFramePr>
        <p:xfrm>
          <a:off x="-2501" y="16504"/>
          <a:ext cx="2328850" cy="5181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China Eastern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51787" y="3258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EAE01E-69D0-D8DB-FED0-BC0AA46D14D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31324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9806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742688119"/>
              </p:ext>
            </p:extLst>
          </p:nvPr>
        </p:nvGraphicFramePr>
        <p:xfrm>
          <a:off x="-4045" y="1054227"/>
          <a:ext cx="2328848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3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7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25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5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4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9558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 DEP Freq : 126.65 South DEP : 121.10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(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넘겨줌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1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61D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81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73D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181"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or 4900</a:t>
                      </a:r>
                      <a:endParaRPr lang="ko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4900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109490131"/>
                  </a:ext>
                </a:extLst>
              </a:tr>
              <a:tr h="173254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SHA 117.2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18L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2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18R (9’)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 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254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RWY 36L LAMEN 71D : </a:t>
                      </a:r>
                      <a:r>
                        <a:rPr lang="en-US" sz="700" u="none" strike="noStrike" cap="none" dirty="0">
                          <a:solidFill>
                            <a:srgbClr val="FF0000"/>
                          </a:solidFill>
                        </a:rPr>
                        <a:t>L/H Turn Below 200m(660ft) in DCL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499141600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xT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xU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25420226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131.5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-20분, No READBACK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832225"/>
            <a:ext cx="193033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126.65(121.1)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.625 – 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 –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206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1856BBB-56E6-4488-8A2D-04F7685B1F5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73355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659" y="3044798"/>
            <a:ext cx="612949" cy="611649"/>
          </a:xfrm>
          <a:prstGeom prst="rect">
            <a:avLst/>
          </a:prstGeom>
        </p:spPr>
      </p:pic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2470370123"/>
              </p:ext>
            </p:extLst>
          </p:nvPr>
        </p:nvGraphicFramePr>
        <p:xfrm>
          <a:off x="0" y="1055589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(NOPIK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14L/R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3630342212"/>
              </p:ext>
            </p:extLst>
          </p:nvPr>
        </p:nvGraphicFramePr>
        <p:xfrm>
          <a:off x="-2501" y="16504"/>
          <a:ext cx="2328850" cy="563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Air China Beijing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77187" y="34741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890A9-B69E-05D9-E60A-AD033088563C}"/>
              </a:ext>
            </a:extLst>
          </p:cNvPr>
          <p:cNvSpPr txBox="1"/>
          <p:nvPr/>
        </p:nvSpPr>
        <p:spPr>
          <a:xfrm>
            <a:off x="514186" y="3018847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7" name="Google Shape;292;p18">
            <a:extLst>
              <a:ext uri="{FF2B5EF4-FFF2-40B4-BE49-F238E27FC236}">
                <a16:creationId xmlns:a16="http://schemas.microsoft.com/office/drawing/2014/main" id="{E94EF807-A170-3ABE-7636-38E13F4116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067178"/>
              </p:ext>
            </p:extLst>
          </p:nvPr>
        </p:nvGraphicFramePr>
        <p:xfrm>
          <a:off x="4472" y="375013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99F49BE-0B71-5C35-0AFE-AD9A502DB6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89323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5149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457008859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xQ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170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DOKDO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610925021"/>
              </p:ext>
            </p:extLst>
          </p:nvPr>
        </p:nvGraphicFramePr>
        <p:xfrm>
          <a:off x="-2501" y="16505"/>
          <a:ext cx="2328850" cy="7359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0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-30분, Voice -10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917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1108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75E8D5F0-0A96-9573-9A14-052BC186AC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734910"/>
              </p:ext>
            </p:extLst>
          </p:nvPr>
        </p:nvGraphicFramePr>
        <p:xfrm>
          <a:off x="-4046" y="11398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36DCDA-A924-2E89-F3AC-73E7B1A264ED}"/>
              </a:ext>
            </a:extLst>
          </p:cNvPr>
          <p:cNvSpPr txBox="1"/>
          <p:nvPr/>
        </p:nvSpPr>
        <p:spPr>
          <a:xfrm>
            <a:off x="617160" y="28350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BFC308FA-B01C-9CC6-AA03-F79FBDF32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19900"/>
            <a:ext cx="700981" cy="582267"/>
          </a:xfrm>
          <a:prstGeom prst="rect">
            <a:avLst/>
          </a:prstGeom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2416" y="660946"/>
            <a:ext cx="492402" cy="492402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D93B519-A7D3-A1D5-6DBB-ACF26C94319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3451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DA6E30-D248-DE64-F79D-540912ED830D}"/>
              </a:ext>
            </a:extLst>
          </p:cNvPr>
          <p:cNvSpPr txBox="1"/>
          <p:nvPr/>
        </p:nvSpPr>
        <p:spPr>
          <a:xfrm>
            <a:off x="551431" y="3091174"/>
            <a:ext cx="1851789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67645227"/>
              </p:ext>
            </p:extLst>
          </p:nvPr>
        </p:nvGraphicFramePr>
        <p:xfrm>
          <a:off x="0" y="1047637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(EGOBA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981840730"/>
              </p:ext>
            </p:extLst>
          </p:nvPr>
        </p:nvGraphicFramePr>
        <p:xfrm>
          <a:off x="-2501" y="16503"/>
          <a:ext cx="2328850" cy="5590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74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2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KIX 130.95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2" name="Google Shape;292;p18">
            <a:extLst>
              <a:ext uri="{FF2B5EF4-FFF2-40B4-BE49-F238E27FC236}">
                <a16:creationId xmlns:a16="http://schemas.microsoft.com/office/drawing/2014/main" id="{53B7324E-CA86-C6F7-B540-2D52A34E95EA}"/>
              </a:ext>
            </a:extLst>
          </p:cNvPr>
          <p:cNvGraphicFramePr/>
          <p:nvPr/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46A920D-DCD8-D4F8-94B9-AFF91EB1C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6" name="그림 5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33C8D53E-31DA-A0DB-5A3F-9E3DE67C2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091174"/>
            <a:ext cx="605879" cy="604595"/>
          </a:xfrm>
          <a:prstGeom prst="rect">
            <a:avLst/>
          </a:prstGeom>
        </p:spPr>
      </p:pic>
      <p:sp>
        <p:nvSpPr>
          <p:cNvPr id="7" name="직사각형 6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EBCE2EA-A0C1-6663-F76F-73FFEFF99A68}"/>
              </a:ext>
            </a:extLst>
          </p:cNvPr>
          <p:cNvSpPr/>
          <p:nvPr/>
        </p:nvSpPr>
        <p:spPr>
          <a:xfrm>
            <a:off x="1622852" y="333344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034726D-96DF-678B-60CF-56E0F85528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71157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879088562"/>
              </p:ext>
            </p:extLst>
          </p:nvPr>
        </p:nvGraphicFramePr>
        <p:xfrm>
          <a:off x="4999" y="3494395"/>
          <a:ext cx="23213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19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xT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29270949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3" name="Google Shape;300;p19">
            <a:extLst>
              <a:ext uri="{FF2B5EF4-FFF2-40B4-BE49-F238E27FC236}">
                <a16:creationId xmlns:a16="http://schemas.microsoft.com/office/drawing/2014/main" id="{322683CB-72F3-2968-45AE-8ECEC61EFA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279940"/>
              </p:ext>
            </p:extLst>
          </p:nvPr>
        </p:nvGraphicFramePr>
        <p:xfrm>
          <a:off x="0" y="1065982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A2514967-B32E-DB96-72C0-5C07E4BA6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6042E-1391-3EFF-D963-B4B8BE948E4D}"/>
              </a:ext>
            </a:extLst>
          </p:cNvPr>
          <p:cNvSpPr txBox="1"/>
          <p:nvPr/>
        </p:nvSpPr>
        <p:spPr>
          <a:xfrm>
            <a:off x="-20938" y="2762423"/>
            <a:ext cx="100219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5F609F-4F3D-A2FD-A1FC-659A46590E91}"/>
              </a:ext>
            </a:extLst>
          </p:cNvPr>
          <p:cNvSpPr/>
          <p:nvPr/>
        </p:nvSpPr>
        <p:spPr>
          <a:xfrm>
            <a:off x="1622852" y="306722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E158E-CC1B-0371-EDB5-08EB94C0DA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334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2947711465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LIMDI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46703506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 132.0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AB7941-7C38-1F6C-82DC-A7D9C3DC35E7}"/>
              </a:ext>
            </a:extLst>
          </p:cNvPr>
          <p:cNvSpPr txBox="1"/>
          <p:nvPr/>
        </p:nvSpPr>
        <p:spPr>
          <a:xfrm>
            <a:off x="-55838" y="3017712"/>
            <a:ext cx="236475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– 120.72 – 126.17 – 132.8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 - 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4" name="Google Shape;292;p18">
            <a:extLst>
              <a:ext uri="{FF2B5EF4-FFF2-40B4-BE49-F238E27FC236}">
                <a16:creationId xmlns:a16="http://schemas.microsoft.com/office/drawing/2014/main" id="{C27BC79A-3C53-AD4E-94CE-36669FDCFF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3432346"/>
              </p:ext>
            </p:extLst>
          </p:nvPr>
        </p:nvGraphicFramePr>
        <p:xfrm>
          <a:off x="4472" y="37405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82A2293-EC9A-B7D8-ACF6-EF97B81D97FB}"/>
              </a:ext>
            </a:extLst>
          </p:cNvPr>
          <p:cNvSpPr/>
          <p:nvPr/>
        </p:nvSpPr>
        <p:spPr>
          <a:xfrm>
            <a:off x="1651787" y="27199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49E9C38-1725-0B94-34E5-C8413D9A7D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5249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0472A8B-F324-573B-F17A-C6C16EB27F9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6836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56807" y="167132"/>
            <a:ext cx="230546" cy="415039"/>
          </a:xfrm>
          <a:prstGeom prst="rightArrow">
            <a:avLst>
              <a:gd name="adj1" fmla="val 47084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5792101"/>
              </p:ext>
            </p:extLst>
          </p:nvPr>
        </p:nvGraphicFramePr>
        <p:xfrm>
          <a:off x="4472" y="3782340"/>
          <a:ext cx="2346889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0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02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3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252207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9918FCD0-48F9-3742-0CD5-9F665B4316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51057"/>
              </p:ext>
            </p:extLst>
          </p:nvPr>
        </p:nvGraphicFramePr>
        <p:xfrm>
          <a:off x="-4046" y="78300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28763315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Google Shape;119;p3">
            <a:extLst>
              <a:ext uri="{FF2B5EF4-FFF2-40B4-BE49-F238E27FC236}">
                <a16:creationId xmlns:a16="http://schemas.microsoft.com/office/drawing/2014/main" id="{5B07C474-3B6B-EDED-1E83-D395F2D0A0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3888925"/>
              </p:ext>
            </p:extLst>
          </p:nvPr>
        </p:nvGraphicFramePr>
        <p:xfrm>
          <a:off x="-2501" y="254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88BEDC-7E6A-3E6E-FBE9-B8FA96093469}"/>
              </a:ext>
            </a:extLst>
          </p:cNvPr>
          <p:cNvSpPr txBox="1"/>
          <p:nvPr/>
        </p:nvSpPr>
        <p:spPr>
          <a:xfrm>
            <a:off x="998160" y="2545455"/>
            <a:ext cx="138691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126.17 – 120.72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124.52 -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009DE233-E4A5-B767-C030-140E38D6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66027"/>
            <a:ext cx="1029898" cy="855481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AA58C2A-AEE6-6B3E-1D32-AC3698AA1CB4}"/>
              </a:ext>
            </a:extLst>
          </p:cNvPr>
          <p:cNvSpPr/>
          <p:nvPr/>
        </p:nvSpPr>
        <p:spPr>
          <a:xfrm>
            <a:off x="1651787" y="346048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8" name="직사각형 7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C8CB044-4ABC-7385-D403-AC2C81F17F7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8255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46480"/>
            <a:ext cx="2085827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015713983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</a:t>
                      </a:r>
                      <a:r>
                        <a:rPr lang="en-US" altLang="ko-KR" sz="800" dirty="0"/>
                        <a:t>,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00863046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47;p13">
            <a:extLst>
              <a:ext uri="{FF2B5EF4-FFF2-40B4-BE49-F238E27FC236}">
                <a16:creationId xmlns:a16="http://schemas.microsoft.com/office/drawing/2014/main" id="{7B47DFB1-8D07-2EB7-86D8-21FEA1EC9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0412915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48;p13">
            <a:extLst>
              <a:ext uri="{FF2B5EF4-FFF2-40B4-BE49-F238E27FC236}">
                <a16:creationId xmlns:a16="http://schemas.microsoft.com/office/drawing/2014/main" id="{186D5FF2-55A4-B3AE-F6AA-857B1EA00A73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58851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19837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/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192046320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5736"/>
            <a:ext cx="1591782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137;p4">
            <a:extLst>
              <a:ext uri="{FF2B5EF4-FFF2-40B4-BE49-F238E27FC236}">
                <a16:creationId xmlns:a16="http://schemas.microsoft.com/office/drawing/2014/main" id="{DFD006B3-CF59-4097-9785-492612F46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053431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18647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2887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125.95 – 119.075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 – 119.25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619649902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304439633"/>
              </p:ext>
            </p:extLst>
          </p:nvPr>
        </p:nvGraphicFramePr>
        <p:xfrm>
          <a:off x="4472" y="3705686"/>
          <a:ext cx="2331400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NKG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(‘D’ N31 34.0 E118 42.1 – R101, R289)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ESB 71F/21A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(ESB 61F/11A)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SNQ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(ILS Z 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(24)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ESB 52F/22A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(ESB 42F/12A)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NJ210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(ILS Z 24)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07(41’)      11811’      25(39’)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06(43’)      11811’      24(38’)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D5(6499’), D6(7582’), 25 : D2(6505’), D1(7582’)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A5(6614’), A6(7860’), 24 : A3(6637’), A9(7864’)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IAF, Missed App SPD APP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210kts or 205kts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C 13,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412138817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43760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107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546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729305340"/>
              </p:ext>
            </p:extLst>
          </p:nvPr>
        </p:nvGraphicFramePr>
        <p:xfrm>
          <a:off x="-4046" y="595076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NKG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ESB 61X/11D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(ESB 71X/21D)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(25)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ESB 42X/12D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(ESB 52X/22D)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NJL 113.6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25 111.3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06(43’)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07(41’)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24(38’)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25(39’)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206454804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370769"/>
            <a:ext cx="193354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119.075 – 125.95 -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45131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0787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2095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21870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 – 134.85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19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77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119.4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746373860"/>
              </p:ext>
            </p:extLst>
          </p:nvPr>
        </p:nvGraphicFramePr>
        <p:xfrm>
          <a:off x="0" y="61494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04166409"/>
              </p:ext>
            </p:extLst>
          </p:nvPr>
        </p:nvGraphicFramePr>
        <p:xfrm>
          <a:off x="4472" y="3705686"/>
          <a:ext cx="2331400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81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TAO : STAR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(After AGAVO Direct IKEKA then LATUX)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5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35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34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LAT 91A/01A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JD405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35</a:t>
                      </a:r>
                      <a:r>
                        <a:rPr lang="en-US" sz="800" b="0" dirty="0"/>
                        <a:t>(34)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96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17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16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LAT 81A/11A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17</a:t>
                      </a:r>
                      <a:r>
                        <a:rPr lang="en-US" altLang="ko-Kore-KR" sz="800" b="0" dirty="0"/>
                        <a:t>(16)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96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35(27’)      11811’      17(29’)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796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34(27’)      11811’      16(27’)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96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AVBIK R014, LAROP R159, R183 (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 : S2(5255’), S4(6624’), 17 : S1(5282’), S3(6604’)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 : R2(5278’), R4(6650’), 16 : R1(5318’), R3(6706’)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위의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Point 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불가시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TWR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 보고</a:t>
                      </a:r>
                      <a:r>
                        <a:rPr lang="en-US" altLang="ko-KR" sz="800" dirty="0"/>
                        <a:t>,  </a:t>
                      </a:r>
                      <a:r>
                        <a:rPr lang="en-US" altLang="ko-KR" sz="800" dirty="0">
                          <a:solidFill>
                            <a:srgbClr val="FF0000"/>
                          </a:solidFill>
                        </a:rPr>
                        <a:t>Apron CTC 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주의</a:t>
                      </a:r>
                      <a:endParaRPr lang="en-US" altLang="ko-KR" sz="8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 </a:t>
                      </a:r>
                      <a:r>
                        <a:rPr lang="en-US" sz="800" dirty="0"/>
                        <a:t>Follow Me Car on </a:t>
                      </a:r>
                      <a:r>
                        <a:rPr lang="en-US" sz="800" dirty="0" err="1"/>
                        <a:t>Lxx</a:t>
                      </a:r>
                      <a:r>
                        <a:rPr lang="en-US" sz="800" dirty="0"/>
                        <a:t>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89720138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2354A7B-36AB-097D-3F10-173DF5226C8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6CC48E-992D-2E1B-2E89-6F444175F83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54328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190E0B1-16E2-F3B3-F774-AFEF578BCE9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41043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925535433"/>
              </p:ext>
            </p:extLst>
          </p:nvPr>
        </p:nvGraphicFramePr>
        <p:xfrm>
          <a:off x="-4046" y="706220"/>
          <a:ext cx="233572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TAO : SID (NADP 1)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Walk Around Ramp Pass &amp; PW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34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</a:t>
                      </a:r>
                      <a:r>
                        <a:rPr lang="en-US" altLang="ko-KR" sz="800" b="0" u="none" strike="noStrike" cap="none" dirty="0"/>
                        <a:t>35</a:t>
                      </a:r>
                      <a:r>
                        <a:rPr lang="en-US" sz="800" b="0" u="none" strike="noStrike" cap="none" dirty="0"/>
                        <a:t>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LAT 91D/01D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LAT 81D/11D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JDG 114.45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110.15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35 109.75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34 108.55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34(27’)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35(27’)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16(27’)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17(29’)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 FIX : AVBIK R014, LAROP R159, R183 (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kumimoji="0" lang="ko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188796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Heading 190, Join W209 -&gt;  DCT LATUX CRS 148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622359418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rgbClr val="FF0000"/>
                          </a:solidFill>
                        </a:rPr>
                        <a:t>부터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2069" y="2620659"/>
            <a:ext cx="1345240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119.4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119.73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134.85 – DLC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251849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AD61ED-F06C-861F-DFAF-3517618C08E7}"/>
              </a:ext>
            </a:extLst>
          </p:cNvPr>
          <p:cNvSpPr/>
          <p:nvPr/>
        </p:nvSpPr>
        <p:spPr>
          <a:xfrm>
            <a:off x="1651787" y="30787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C40C808-0869-8A3B-733B-1D7E7F429E8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61470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11536212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94330361"/>
              </p:ext>
            </p:extLst>
          </p:nvPr>
        </p:nvGraphicFramePr>
        <p:xfrm>
          <a:off x="4472" y="37056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61046548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96583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79959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85096044"/>
              </p:ext>
            </p:extLst>
          </p:nvPr>
        </p:nvGraphicFramePr>
        <p:xfrm>
          <a:off x="-4046" y="7969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0694353"/>
              </p:ext>
            </p:extLst>
          </p:nvPr>
        </p:nvGraphicFramePr>
        <p:xfrm>
          <a:off x="-2501" y="1650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998160" y="24921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255686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그림 2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9995A052-72E8-21E5-F8B4-8A7F91B0B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57950"/>
            <a:ext cx="1029898" cy="855481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4824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10626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56248"/>
            <a:ext cx="229101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134.325(128.775)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APP 12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5.55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119.825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9717443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333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87443432"/>
              </p:ext>
            </p:extLst>
          </p:nvPr>
        </p:nvGraphicFramePr>
        <p:xfrm>
          <a:off x="4472" y="3916715"/>
          <a:ext cx="2307200" cy="16250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22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SHE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(CLR Limit TOSID Late Handoff to SHE)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</a:t>
                      </a:r>
                      <a:r>
                        <a:rPr lang="en-US" altLang="ko-KR" sz="800" b="1" dirty="0"/>
                        <a:t>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TOSID 62A, 61A 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TX504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TOSID 72A, 11A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TX662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06(170’)          10499’         24(198’)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Around TOSID – Present TRK or HDG – CTC SHE CTL </a:t>
                      </a:r>
                      <a:endParaRPr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17591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D(6210’),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7854’),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24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: J(6227’),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K(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7864’) - ATC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: HP06(03), 24 : HP06(03)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Normally Remain Parking Brake SET!!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8702482"/>
              </p:ext>
            </p:extLst>
          </p:nvPr>
        </p:nvGraphicFramePr>
        <p:xfrm>
          <a:off x="-2501" y="16504"/>
          <a:ext cx="2328850" cy="589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China Southern Dispatch </a:t>
                      </a:r>
                      <a:r>
                        <a:rPr lang="en-US" altLang="ko-Kore-KR" sz="900" dirty="0"/>
                        <a:t>131.5</a:t>
                      </a:r>
                      <a:endParaRPr lang="en-US" altLang="ko-Kore-KR" sz="140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A73C37-CF59-7012-0D50-0A8C12736755}"/>
              </a:ext>
            </a:extLst>
          </p:cNvPr>
          <p:cNvSpPr/>
          <p:nvPr/>
        </p:nvSpPr>
        <p:spPr>
          <a:xfrm>
            <a:off x="1651787" y="353020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567F3E-FC40-CA1E-0895-08D2D9D7CB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2906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8907048-779E-BBF8-5B86-73A6715D9097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29758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632982756"/>
              </p:ext>
            </p:extLst>
          </p:nvPr>
        </p:nvGraphicFramePr>
        <p:xfrm>
          <a:off x="-4046" y="796960"/>
          <a:ext cx="2335723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SHE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A2, A8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by ATC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TOSID 61,62D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TOSID 71,72D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SEY 114.1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06 110.5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06(170’)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24(198’)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ADT = CTOT See </a:t>
                      </a:r>
                      <a:r>
                        <a:rPr lang="en-US" sz="800" b="1" u="none" strike="noStrike" cap="none" dirty="0" err="1">
                          <a:solidFill>
                            <a:schemeClr val="tx1"/>
                          </a:solidFill>
                        </a:rPr>
                        <a:t>Eroute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 ATIS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Follow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FollowMe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Car Until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HPxx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Be Careful “Hold short CAT I Hold line”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Maintain Present TRK/HDG Join A588(CRS 217)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Offset R3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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Active Fix DCT and EXE again!!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58332410"/>
              </p:ext>
            </p:extLst>
          </p:nvPr>
        </p:nvGraphicFramePr>
        <p:xfrm>
          <a:off x="-2501" y="16504"/>
          <a:ext cx="2328850" cy="7879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China Southern Dispatch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 </a:t>
                      </a: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9087" y="2406392"/>
            <a:ext cx="1601721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CTC APP without TWR Instruction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119.825 – 125.55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134.325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3935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E2EF10-FF6E-C94B-2725-B3EBD91DA06B}"/>
              </a:ext>
            </a:extLst>
          </p:cNvPr>
          <p:cNvSpPr/>
          <p:nvPr/>
        </p:nvSpPr>
        <p:spPr>
          <a:xfrm>
            <a:off x="1651787" y="305564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3EAA5DA-A424-1E7F-0ED4-BD3DFCBFA1E2}"/>
              </a:ext>
            </a:extLst>
          </p:cNvPr>
          <p:cNvSpPr/>
          <p:nvPr/>
        </p:nvSpPr>
        <p:spPr>
          <a:xfrm>
            <a:off x="897266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41633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3977185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2451258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17L(10’)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  <a:endParaRPr lang="en-US" altLang="ko-KR" sz="8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94831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5555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9350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497413401"/>
              </p:ext>
            </p:extLst>
          </p:nvPr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7793276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3127"/>
            <a:ext cx="1710405" cy="53860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8583957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0455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5720"/>
            <a:ext cx="229101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SHE 119.3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TWR 118.75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47586677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03814499"/>
              </p:ext>
            </p:extLst>
          </p:nvPr>
        </p:nvGraphicFramePr>
        <p:xfrm>
          <a:off x="-1706" y="3694129"/>
          <a:ext cx="2341562" cy="1869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4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YNJ : RNP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(RW09 main for L/D)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CHK NAV DATA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for Holding Area(Expect Hold Mil Train)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09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KAN/OMB 09A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(KAN/OMB 04(02)A)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YJ504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(D267T)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09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lang="en-US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27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KAN/OMB 19</a:t>
                      </a:r>
                      <a:r>
                        <a:rPr lang="en-US" altLang="ko-Kore-KR" sz="800" b="0" dirty="0"/>
                        <a:t>(18</a:t>
                      </a:r>
                      <a:r>
                        <a:rPr lang="en-US" altLang="ko-Kore-KR" sz="800" b="1" dirty="0"/>
                        <a:t>)A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0070C0"/>
                          </a:solidFill>
                        </a:rPr>
                        <a:t>(KAN/OMB 11(12)A)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YJ604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(D341N)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09(621’)      8530’      27(597’)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3.3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DPRKK(N43 01.6/E129 52.0) R100, R200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RWY27  /12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 not overshoot 12DME ARC)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406190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09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C(5330’),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180 BACK(8530’),  27 : B(7400’),A (8350’)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Expect Hold Due to MIL Train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(ADD FUEL 30min)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DEP.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Parking Brake Remain SET (Winter)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6534552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F8FC769-31D3-C65B-0A4D-8512B1FC1D77}"/>
              </a:ext>
            </a:extLst>
          </p:cNvPr>
          <p:cNvSpPr/>
          <p:nvPr/>
        </p:nvSpPr>
        <p:spPr>
          <a:xfrm>
            <a:off x="1651787" y="33995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4EF24A-3648-E4B6-92DD-3A591532AC2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20685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EB1F91-A32C-4EF8-0E55-67221839AEA3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71365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4243983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634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9500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7287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0332092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515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425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623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243799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YNJ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YNJ A/P Elevation : 623ft = 22.5hPa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773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62440562"/>
              </p:ext>
            </p:extLst>
          </p:nvPr>
        </p:nvGraphicFramePr>
        <p:xfrm>
          <a:off x="-4046" y="586900"/>
          <a:ext cx="2324402" cy="2036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2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0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800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YNJ : RNP SID (NADP 1)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RW27 Main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CTOT from GND Staff due to Mil Train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(ADD Fuel)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Consider Improve C/B &amp; NO Bleed T/O (in Summer)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KANVU 19D (11D)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(1800mQFE)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09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KANVU 09D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(01D)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091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SPD 200kts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YNJ 113.1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09 108.7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27 : YNJ 271/3.6, YNJ 073/10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(MAX 162kts)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09 : YNJ 091/4.5, YNJ 287/11 (MAX 162kts)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27(597’)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Must Check MTOW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RWY 27 180 Back(Clockwise)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/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118.75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1250078" y="2537716"/>
            <a:ext cx="113685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118.75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 132.35 – 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135.65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132.95 - ICN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F19609A6-7271-6D23-5630-D75089A26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7765"/>
            <a:ext cx="1311394" cy="602996"/>
          </a:xfrm>
          <a:prstGeom prst="rect">
            <a:avLst/>
          </a:prstGeom>
        </p:spPr>
      </p:pic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D96964-DA7D-DB70-8854-38CF355C9A8D}"/>
              </a:ext>
            </a:extLst>
          </p:cNvPr>
          <p:cNvSpPr/>
          <p:nvPr/>
        </p:nvSpPr>
        <p:spPr>
          <a:xfrm>
            <a:off x="1651787" y="3148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700386-C099-B304-A62F-487E189607C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926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4798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SHA APP 125.62 – 119.7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119.82 – 120.4 – 125.55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4056796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641533169"/>
              </p:ext>
            </p:extLst>
          </p:nvPr>
        </p:nvGraphicFramePr>
        <p:xfrm>
          <a:off x="4472" y="3681982"/>
          <a:ext cx="2311025" cy="1921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HGH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- STAR, APP, Missed APP Keep Track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Cauton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Military Traffic </a:t>
                      </a: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(Missed APP ALT In ATIS)</a:t>
                      </a:r>
                      <a:endParaRPr sz="800" b="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07/06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OKT, SUP 91A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HC410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25/24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OKT, SUP 81A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12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APP SPD REST in APP Chart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095565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C5(5613’), C6(6899’), 24 : C4(5613’), C3(6981’)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A5(6266’),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A6(7565’)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25 : A4(6250’),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A3(7555’) TWR </a:t>
                      </a:r>
                      <a:r>
                        <a:rPr lang="en-US" sz="800" b="1" dirty="0" err="1">
                          <a:solidFill>
                            <a:srgbClr val="FF0000"/>
                          </a:solidFill>
                        </a:rPr>
                        <a:t>Permisson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   </a:t>
                      </a:r>
                      <a:r>
                        <a:rPr lang="ko-KR" altLang="en-US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RWY Vacated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700" dirty="0"/>
                        <a:t>TAXI RTE In Jeppesen Chart, </a:t>
                      </a:r>
                      <a:r>
                        <a:rPr lang="en-US" sz="700" dirty="0"/>
                        <a:t>Follow Me Car, APU off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7130966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544921-59D8-2C59-3286-145F4315D9D9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987965-3A09-D2F6-CA7C-EAA8074C7BDE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58974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9B192A-52FC-825F-D237-334CAD1FDCC8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74068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B6882F-FDE6-F4CD-5407-162E3DE9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" y="2535825"/>
            <a:ext cx="832968" cy="631595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548670728"/>
              </p:ext>
            </p:extLst>
          </p:nvPr>
        </p:nvGraphicFramePr>
        <p:xfrm>
          <a:off x="-4045" y="860542"/>
          <a:ext cx="2339846" cy="169316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04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56088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HGH: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07/06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OKT, SUP 91D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25/24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SUP 81D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37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HGH 113.0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110.35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25 108.5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60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ko-Kore-KR" sz="800" b="0" u="none" strike="noStrike" cap="none" dirty="0">
                          <a:solidFill>
                            <a:schemeClr val="tx1"/>
                          </a:solidFill>
                        </a:rPr>
                        <a:t>24/25 : HGH 249/5.5, R020</a:t>
                      </a:r>
                      <a:endParaRPr lang="ko-Kore-KR" altLang="en-US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72556726"/>
                  </a:ext>
                </a:extLst>
              </a:tr>
              <a:tr h="141859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9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217085"/>
                  </a:ext>
                </a:extLst>
              </a:tr>
              <a:tr h="267567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Red/Blue </a:t>
                      </a:r>
                      <a:r>
                        <a:rPr lang="en-US" sz="800" u="none" strike="noStrike" cap="none" dirty="0" err="1"/>
                        <a:t>PushBack</a:t>
                      </a:r>
                      <a:r>
                        <a:rPr lang="en-US" sz="800" u="none" strike="noStrike" cap="none" dirty="0"/>
                        <a:t>, Verify RWY </a:t>
                      </a:r>
                      <a:r>
                        <a:rPr lang="en-US" altLang="ko-KR" sz="800" u="none" strike="noStrike" cap="none" dirty="0"/>
                        <a:t>&amp;</a:t>
                      </a:r>
                      <a:r>
                        <a:rPr lang="ko-KR" altLang="en-US" sz="800" u="none" strike="noStrike" cap="none" dirty="0"/>
                        <a:t> </a:t>
                      </a:r>
                      <a:r>
                        <a:rPr lang="en-US" sz="800" u="none" strike="noStrike" cap="none" dirty="0"/>
                        <a:t>Direction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B050"/>
                          </a:solidFill>
                        </a:rPr>
                        <a:t>After T/O, Report T/O RWY</a:t>
                      </a:r>
                      <a:endParaRPr lang="en-US" sz="800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5905173"/>
              </p:ext>
            </p:extLst>
          </p:nvPr>
        </p:nvGraphicFramePr>
        <p:xfrm>
          <a:off x="-2501" y="16504"/>
          <a:ext cx="2328850" cy="837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Voice 10min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5517" y="2723165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120.4 – 119.82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119.975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A72C02-893D-80AB-C1B5-D0AD7E61DEE9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A13C61-F219-F854-BFC9-F82AA1917851}"/>
              </a:ext>
            </a:extLst>
          </p:cNvPr>
          <p:cNvSpPr/>
          <p:nvPr/>
        </p:nvSpPr>
        <p:spPr>
          <a:xfrm>
            <a:off x="865296" y="37882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481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293811"/>
            <a:ext cx="1917513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WHE TWR 118.65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623327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7163590"/>
              </p:ext>
            </p:extLst>
          </p:nvPr>
        </p:nvGraphicFramePr>
        <p:xfrm>
          <a:off x="-1706" y="3951218"/>
          <a:ext cx="2333879" cy="159996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WEH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(TL 69)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(QFE but QNH Operation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lang="en-US" sz="800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Around AGAVO ATIS 126.25 get RWY, APP info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WH106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03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WH206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03(113’)          8530’          21(146’)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B(6500’), C(5300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21 : D(7300’)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 Turn Vacate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RWY 21 Short Track Miles -&gt; Req one Orbit WH113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Watch MLDW Due to RWY 21 </a:t>
                      </a:r>
                      <a:r>
                        <a:rPr lang="en-US" altLang="ko-Kore-KR" sz="800" b="0" dirty="0" err="1">
                          <a:solidFill>
                            <a:srgbClr val="C00000"/>
                          </a:solidFill>
                        </a:rPr>
                        <a:t>ShortCut</a:t>
                      </a:r>
                      <a:endParaRPr lang="en-US" altLang="ko-Kore-KR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Descend Published Report Published = CLR APP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967153133"/>
              </p:ext>
            </p:extLst>
          </p:nvPr>
        </p:nvGraphicFramePr>
        <p:xfrm>
          <a:off x="-2501" y="12087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E23E752-ACE1-7421-5106-79D1E7E0EF39}"/>
              </a:ext>
            </a:extLst>
          </p:cNvPr>
          <p:cNvSpPr/>
          <p:nvPr/>
        </p:nvSpPr>
        <p:spPr>
          <a:xfrm>
            <a:off x="1651787" y="35880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476D46B-565B-EB4B-5B7D-1257109BE44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2943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1261518" y="3548722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84456" y="3513354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AF21F4E-8C9C-427D-21CD-DFB14BD167E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06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8335596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409258293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900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8004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768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280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0234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03 : 113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 : 146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4247137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WEH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03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113ft = 4.0hPa, 21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146ft = 5.2hPa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57949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09956683"/>
              </p:ext>
            </p:extLst>
          </p:nvPr>
        </p:nvGraphicFramePr>
        <p:xfrm>
          <a:off x="4919" y="568970"/>
          <a:ext cx="2300363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WEH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(TA 4930’)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WHE 115.8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03 110.1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03(113’)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21(146’)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RWY03/21 Expect C – Taxi down on RWY – 180 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chemeClr val="tx1"/>
                          </a:solidFill>
                        </a:rPr>
                        <a:t>Taxi to RWY21 via B -&gt; Confirm 180 Back!!!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87823038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 Min, TWR 118.65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0119" y="2509276"/>
            <a:ext cx="74892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AC7CD4-98E6-8004-ECC6-D82BC228CB84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8726A69-B260-0DB1-8F3C-79808AA2BAA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55660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3971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 – 120.35 – 133.65 – 134.15 - 126.7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125.3 –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APP 119.05 – 120.2 – 125.1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338440718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01575567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XIY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</a:rPr>
                        <a:t>Spd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 Restriction at REF Page)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Req ILS APP instead of Visual APP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LOVRA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XY906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05L/R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LOVRA xx Y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XY801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23R/L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05L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A3(6778’), A2(9032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23R : A6(5544’), A7(6512’)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05R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D4(5613’), D3(7322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23L : D5(5646’), D6(7408’)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Follow Me Car, CTC Apron before Gate 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“Closing to xx TWY, apply to change to xx Freq”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Taxi RTE in Jeppesen Chart.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4980095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Airport Operation Center 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52508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78834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7427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도표, 라인, 원, 폰트이(가) 표시된 사진&#10;&#10;자동 생성된 설명">
            <a:extLst>
              <a:ext uri="{FF2B5EF4-FFF2-40B4-BE49-F238E27FC236}">
                <a16:creationId xmlns:a16="http://schemas.microsoft.com/office/drawing/2014/main" id="{79E91389-E6D4-6BB5-D030-8522DB1AF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46" y="2634634"/>
            <a:ext cx="818867" cy="487272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812185731"/>
              </p:ext>
            </p:extLst>
          </p:nvPr>
        </p:nvGraphicFramePr>
        <p:xfrm>
          <a:off x="-4046" y="692910"/>
          <a:ext cx="2334438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3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110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2376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879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165775">
                  <a:extLst>
                    <a:ext uri="{9D8B030D-6E8A-4147-A177-3AD203B41FA5}">
                      <a16:colId xmlns:a16="http://schemas.microsoft.com/office/drawing/2014/main" val="2630083129"/>
                    </a:ext>
                  </a:extLst>
                </a:gridCol>
                <a:gridCol w="28210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WJC xx W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/Z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WJC xx X</a:t>
                      </a: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/Y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LCZ 109.0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23R/L : LCZ /18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FF0000"/>
                          </a:solidFill>
                        </a:rPr>
                        <a:t>NOTAM TO Perf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, ADT = CTOT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845494477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altLang="ko-Kore-KR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Airport Operation Center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-30~10 Min,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0492" y="2737843"/>
            <a:ext cx="1794081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119.9- XIY 120.95 – 124.1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126.7 – 134.15 – 128.3 – 120.35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123.2 - 132.95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2766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6344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6857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– PEK 127.35 –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132.2 – SHA 118.9 – WUH 119.7 - 134.35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CSX 132.55 – 125.6 – 119.65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HUH TWR 118.55(118.175)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81837009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926825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CSX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After OLMIB 6600M, STAR or RDR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Vec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before GUSIV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PEX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HA366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18L/R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PEX xx X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HA383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36R/L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18L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C9(5629’),C7(6948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’),36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R : C11(5675’),C13(6961’)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18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B4(5167’), B3(6427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36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L : B5(5206’), B6(6443’)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Position Report to GND first CTC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TWY T9 less 29.2m ,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APU Procedure but APU available cabin 26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ko-KR" altLang="en-US" sz="800" dirty="0" err="1">
                          <a:solidFill>
                            <a:srgbClr val="0070C0"/>
                          </a:solidFill>
                        </a:rPr>
                        <a:t>이하시</a:t>
                      </a:r>
                      <a:endParaRPr lang="en-US"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64217243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Changsha Reporting Office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2950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240110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60758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04834433"/>
              </p:ext>
            </p:extLst>
          </p:nvPr>
        </p:nvGraphicFramePr>
        <p:xfrm>
          <a:off x="-4047" y="692910"/>
          <a:ext cx="2342652" cy="161892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79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21">
                  <a:extLst>
                    <a:ext uri="{9D8B030D-6E8A-4147-A177-3AD203B41FA5}">
                      <a16:colId xmlns:a16="http://schemas.microsoft.com/office/drawing/2014/main" val="1994765097"/>
                    </a:ext>
                  </a:extLst>
                </a:gridCol>
                <a:gridCol w="372124">
                  <a:extLst>
                    <a:ext uri="{9D8B030D-6E8A-4147-A177-3AD203B41FA5}">
                      <a16:colId xmlns:a16="http://schemas.microsoft.com/office/drawing/2014/main" val="3574586511"/>
                    </a:ext>
                  </a:extLst>
                </a:gridCol>
                <a:gridCol w="200613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71153">
                  <a:extLst>
                    <a:ext uri="{9D8B030D-6E8A-4147-A177-3AD203B41FA5}">
                      <a16:colId xmlns:a16="http://schemas.microsoft.com/office/drawing/2014/main" val="3691084646"/>
                    </a:ext>
                  </a:extLst>
                </a:gridCol>
                <a:gridCol w="2909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683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336965">
                  <a:extLst>
                    <a:ext uri="{9D8B030D-6E8A-4147-A177-3AD203B41FA5}">
                      <a16:colId xmlns:a16="http://schemas.microsoft.com/office/drawing/2014/main" val="3290678495"/>
                    </a:ext>
                  </a:extLst>
                </a:gridCol>
                <a:gridCol w="23577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36R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36L/R : LYH217/8.5, R190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(LYH 113.55 for EO)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CTC DEP 119.65 without TWR Instruction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84727226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Changsha Reporting Office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66500" y="2271735"/>
            <a:ext cx="1587294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119.65- CSX 132.55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WUH 134.35 – 120.975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125.775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132.4 - 125.325 - 120.55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4492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BE487A-EE0C-7027-8052-DEFA65E0A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5" y="2313175"/>
            <a:ext cx="699076" cy="6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47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122.0 – Final 119.1 – 119.35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4157552187"/>
              </p:ext>
            </p:extLst>
          </p:nvPr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01029949"/>
              </p:ext>
            </p:extLst>
          </p:nvPr>
        </p:nvGraphicFramePr>
        <p:xfrm>
          <a:off x="4472" y="3700084"/>
          <a:ext cx="2351640" cy="184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0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6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  <a:gridCol w="746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7788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HKG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Terminal Tx RTE + STAR Chart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(TL110)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ENPET FL260,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RWY25R After TOPUN - </a:t>
                      </a: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APP Mode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07L</a:t>
                      </a:r>
                      <a:r>
                        <a:rPr lang="en-US" sz="800" b="0" dirty="0"/>
                        <a:t>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ABBEY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SIERA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/C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LIMES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07L</a:t>
                      </a:r>
                      <a:r>
                        <a:rPr lang="en-US" sz="800" b="0" dirty="0"/>
                        <a:t>(R)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ABBEY </a:t>
                      </a:r>
                      <a:r>
                        <a:rPr lang="en-US" altLang="ko-Kore-KR" sz="800" b="1" dirty="0" err="1"/>
                        <a:t>xxB</a:t>
                      </a:r>
                      <a:endParaRPr lang="en-US" altLang="ko-Kore-KR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SIERA </a:t>
                      </a:r>
                      <a:r>
                        <a:rPr lang="en-US" altLang="ko-Kore-KR" sz="800" b="1" dirty="0" err="1"/>
                        <a:t>xxB</a:t>
                      </a:r>
                      <a:r>
                        <a:rPr lang="en-US" altLang="ko-Kore-KR" sz="800" b="1" dirty="0"/>
                        <a:t>/D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TD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RNAV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tx</a:t>
                      </a:r>
                      <a:r>
                        <a:rPr lang="en-US" sz="800" b="1" dirty="0"/>
                        <a:t> ILS 25R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25L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07L(23’)         11896’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      25R 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095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07R(27’) 11942’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12467’     25L(27’)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3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07L : C7(5882’), C8(7194’),   25R : C6(5882’), C5(7211’)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07R : J7(6916’), J8(7998’),     25L : J5(6916’), J4(8192’)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Confirm Chart SPD vs ATC SPD (ATC First)</a:t>
                      </a:r>
                      <a:endParaRPr lang="en-US" altLang="ko-KR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xxR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Dash Line for B737, APU BAN off Procedure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929003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Dispatch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131.6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74227" y="34132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32790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CE50AE8-CC83-E9FB-37A0-3FD0CCE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11" y="2490164"/>
            <a:ext cx="756864" cy="628119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80361153"/>
              </p:ext>
            </p:extLst>
          </p:nvPr>
        </p:nvGraphicFramePr>
        <p:xfrm>
          <a:off x="7175" y="707276"/>
          <a:ext cx="2300931" cy="179870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HKG : SID +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Terminal Tx RTE Chart</a:t>
                      </a:r>
                      <a:r>
                        <a:rPr lang="en-US" sz="800" u="none" strike="noStrike" cap="none" dirty="0"/>
                        <a:t> TA 9000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NADP2 : 1000 SPD INTV (Vzf+10~20kts), 1500 CLB TH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u="none" strike="noStrike" cap="none" dirty="0">
                          <a:solidFill>
                            <a:schemeClr val="bg1"/>
                          </a:solidFill>
                        </a:rPr>
                        <a:t>(NADP 1/2 for 07L/R)</a:t>
                      </a:r>
                      <a:endParaRPr sz="700" b="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(A)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(RASSE </a:t>
                      </a:r>
                      <a:r>
                        <a:rPr lang="en-US" sz="800" b="0" u="none" strike="noStrike" cap="none" dirty="0" err="1">
                          <a:solidFill>
                            <a:srgbClr val="0070C0"/>
                          </a:solidFill>
                        </a:rPr>
                        <a:t>xxZ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/X)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25R</a:t>
                      </a:r>
                      <a:r>
                        <a:rPr lang="en-US" sz="800" b="0" u="none" strike="noStrike" cap="none" dirty="0"/>
                        <a:t>(L)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/F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SMT 114.8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108.75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07R/L(27’/23’)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25L/R(27’/23’)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 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07L(R) : LKC R105(SMT /3), LKC105/9.5 R185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25R(L) : ITFR(ITFL)254/10, R156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SID – Tx RTE Chart Many SPD Restriction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836173499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</a:t>
                      </a:r>
                      <a:r>
                        <a:rPr lang="en-US" sz="900" dirty="0" err="1"/>
                        <a:t>Disp</a:t>
                      </a:r>
                      <a:r>
                        <a:rPr lang="en-US" sz="900" dirty="0"/>
                        <a:t> 131.6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20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차이시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794992" y="2499092"/>
            <a:ext cx="149880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DEP 123.8 – RDR 118.925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– 126.7 – 123.6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- 120.72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115118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672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TSN APP 119.27 –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118.425(130.0)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65032155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970969007"/>
              </p:ext>
            </p:extLst>
          </p:nvPr>
        </p:nvGraphicFramePr>
        <p:xfrm>
          <a:off x="4472" y="3705689"/>
          <a:ext cx="2333879" cy="18179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718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TSN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(Missed App 1970’ Initially)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</a:t>
                      </a:r>
                      <a:r>
                        <a:rPr lang="en-US" sz="800" b="0" dirty="0"/>
                        <a:t>/16R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/R/H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TJ960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TJ919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16L</a:t>
                      </a:r>
                      <a:r>
                        <a:rPr lang="en-US" sz="800" b="0" dirty="0"/>
                        <a:t>/16R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/34L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xQ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TJ841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34R</a:t>
                      </a:r>
                      <a:r>
                        <a:rPr lang="en-US" altLang="ko-Kore-KR" sz="800" b="0" dirty="0"/>
                        <a:t>/34L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02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16L(4’)          10 499’         34R(5’)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02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 16R(5’)    10499’/11811’    34L(6’)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02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/8,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/6 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160kts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(JEPP REF)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6227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:W3(6269’),W2(9809’), 34R :W7(6443’),W8(7591’)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16R :B4(5177’),B3(7191’), 34L :B5(5183’),B6(7201’)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891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D, TAXI SPD Max 27kts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40082249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Tianjin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25670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610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42580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4116751183"/>
              </p:ext>
            </p:extLst>
          </p:nvPr>
        </p:nvGraphicFramePr>
        <p:xfrm>
          <a:off x="-3431" y="676135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06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TSN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Caution 600</a:t>
                      </a:r>
                      <a:r>
                        <a:rPr lang="en-US" altLang="ko-KR" sz="800" u="none" strike="noStrike" cap="none" dirty="0">
                          <a:solidFill>
                            <a:schemeClr val="accent4"/>
                          </a:solidFill>
                        </a:rPr>
                        <a:t>m Level Off – SPD Inc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/16L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/34R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/R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TAJ 112.1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109.7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34R 111.5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34L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16R(5’)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34L(6’)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34R(5’)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16R : Do not pass A11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Confirm Parking Brake Release before Push back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515392825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Tianjin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971" y="2439767"/>
            <a:ext cx="122661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0720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388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251703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133.05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128.55 - 128.15 – PEK 127.35 – TAO 128.35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119.35 – 120.72 - APP 126.35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88881374"/>
              </p:ext>
            </p:extLst>
          </p:nvPr>
        </p:nvGraphicFramePr>
        <p:xfrm>
          <a:off x="0" y="3759696"/>
          <a:ext cx="2333879" cy="17959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9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/>
                        <a:t>CGO</a:t>
                      </a:r>
                      <a:r>
                        <a:rPr lang="en-US" sz="800" dirty="0"/>
                        <a:t> : STAR   </a:t>
                      </a:r>
                      <a:r>
                        <a:rPr lang="en-US" sz="800" dirty="0" err="1">
                          <a:solidFill>
                            <a:srgbClr val="7030A0"/>
                          </a:solidFill>
                        </a:rPr>
                        <a:t>xxL</a:t>
                      </a:r>
                      <a:r>
                        <a:rPr lang="en-US" sz="800" dirty="0">
                          <a:solidFill>
                            <a:srgbClr val="7030A0"/>
                          </a:solidFill>
                        </a:rPr>
                        <a:t>/R L/D RWY Freq CHG ATIS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(Caution 12R/30L LOC false Capture, Fluctuation)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</a:t>
                      </a:r>
                      <a:r>
                        <a:rPr lang="en-US" altLang="ko-KR" sz="800" b="1" dirty="0"/>
                        <a:t>2L</a:t>
                      </a:r>
                      <a:r>
                        <a:rPr lang="en-US" sz="800" b="0" dirty="0"/>
                        <a:t>/12R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NOP </a:t>
                      </a:r>
                      <a:r>
                        <a:rPr lang="en-US" sz="800" b="1" dirty="0" err="1"/>
                        <a:t>xxU</a:t>
                      </a:r>
                      <a:r>
                        <a:rPr lang="en-US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DZY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12L</a:t>
                      </a:r>
                      <a:r>
                        <a:rPr lang="en-US" sz="800" b="0" dirty="0"/>
                        <a:t>/12R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30L</a:t>
                      </a:r>
                      <a:r>
                        <a:rPr lang="en-US" sz="800" b="0" dirty="0"/>
                        <a:t>/30R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NOP </a:t>
                      </a:r>
                      <a:r>
                        <a:rPr lang="en-US" altLang="ko-Kore-KR" sz="800" b="1" dirty="0" err="1"/>
                        <a:t>xxV</a:t>
                      </a:r>
                      <a:r>
                        <a:rPr lang="en-US" altLang="ko-Kore-KR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CC527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30L</a:t>
                      </a:r>
                      <a:r>
                        <a:rPr lang="en-US" altLang="ko-Kore-KR" sz="800" b="0" dirty="0"/>
                        <a:t>/30R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12L(496’)          11811’         30R(484’)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12R(494’).         11155’          30L(484’)     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ILS Ident /8 (180kts) /6 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APP SPD in JEPP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12L : D7(5853’),D8(6955’), 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30R :D6(5833’),D5(6935’)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12R :H7(5702’),H8(6883’),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30L :H5(5672’),H4(6932’)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car, APU Off But 26</a:t>
                      </a:r>
                      <a:r>
                        <a:rPr lang="ko-KR" altLang="en-US" sz="800" dirty="0"/>
                        <a:t>도 이하 사용가능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611328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Zhengzhou AOC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7574" y="34946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59934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191039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372567521"/>
              </p:ext>
            </p:extLst>
          </p:nvPr>
        </p:nvGraphicFramePr>
        <p:xfrm>
          <a:off x="-3431" y="581398"/>
          <a:ext cx="2335724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3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293">
                  <a:extLst>
                    <a:ext uri="{9D8B030D-6E8A-4147-A177-3AD203B41FA5}">
                      <a16:colId xmlns:a16="http://schemas.microsoft.com/office/drawing/2014/main" val="1210640370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CGO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Lower ALT – Consider Add Fuel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12R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/12L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116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30R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/30L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296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CGO 114.5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30R 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12R(494’)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12L(496’)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30L(484’)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30R(484’)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 : CGO 296/4, R180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 : CGO /4, CRS 070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8298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Req Pushback to Apron 121.7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207632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Zhengzhou AOC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86954" y="2445968"/>
            <a:ext cx="1741909" cy="855482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126.35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 or NOT)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124.2 – 119.35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128.35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PEK 127.35 – 128.15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132.95 - ICN 128.7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004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스크린샷, 소프트웨어, 도표이(가) 표시된 사진&#10;&#10;자동 생성된 설명">
            <a:extLst>
              <a:ext uri="{FF2B5EF4-FFF2-40B4-BE49-F238E27FC236}">
                <a16:creationId xmlns:a16="http://schemas.microsoft.com/office/drawing/2014/main" id="{98C5E6F4-394E-6412-4449-3BC7BF7D0AC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49" t="31341" r="20715" b="11205"/>
          <a:stretch/>
        </p:blipFill>
        <p:spPr>
          <a:xfrm>
            <a:off x="0" y="2445969"/>
            <a:ext cx="647775" cy="94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062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987" y="3151645"/>
            <a:ext cx="24961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125.32 – 132.32 - 120.1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 124.9 – 133.5 - WUH 134.35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119.3 - CHS 123.9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DYG TWR 118.45</a:t>
            </a: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5221272"/>
              </p:ext>
            </p:extLst>
          </p:nvPr>
        </p:nvGraphicFramePr>
        <p:xfrm>
          <a:off x="1525" y="4082615"/>
          <a:ext cx="2331400" cy="146570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DYG : STAR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High Terr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, ATIS within 100NM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DYG TWR no RDR Service KEEP FLT PLAN RTE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81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08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LIN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 RNP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JX001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08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26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LIN </a:t>
                      </a:r>
                      <a:r>
                        <a:rPr lang="en-US" altLang="ko-Kore-KR" sz="800" b="0" dirty="0" err="1"/>
                        <a:t>xxA</a:t>
                      </a:r>
                      <a:r>
                        <a:rPr lang="en-US" altLang="ko-Kore-KR" sz="800" b="0" dirty="0"/>
                        <a:t> RNP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DG944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ILS X 26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08(713’)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8530’     26(665’)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0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8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J(6530’), </a:t>
                      </a:r>
                      <a:r>
                        <a:rPr lang="en-US" sz="800" b="0" dirty="0" err="1">
                          <a:solidFill>
                            <a:schemeClr val="dk1"/>
                          </a:solidFill>
                        </a:rPr>
                        <a:t>DownSlope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0.65%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Do not Intercept RWY08 inside DYG 11NM(FIX)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Grooved (AIP), Follow Me Car on A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73609132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52822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75191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84223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83296557"/>
              </p:ext>
            </p:extLst>
          </p:nvPr>
        </p:nvGraphicFramePr>
        <p:xfrm>
          <a:off x="0" y="578251"/>
          <a:ext cx="2335724" cy="1548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972">
                  <a:extLst>
                    <a:ext uri="{9D8B030D-6E8A-4147-A177-3AD203B41FA5}">
                      <a16:colId xmlns:a16="http://schemas.microsoft.com/office/drawing/2014/main" val="924808566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4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672">
                  <a:extLst>
                    <a:ext uri="{9D8B030D-6E8A-4147-A177-3AD203B41FA5}">
                      <a16:colId xmlns:a16="http://schemas.microsoft.com/office/drawing/2014/main" val="484641046"/>
                    </a:ext>
                  </a:extLst>
                </a:gridCol>
                <a:gridCol w="118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5242">
                  <a:extLst>
                    <a:ext uri="{9D8B030D-6E8A-4147-A177-3AD203B41FA5}">
                      <a16:colId xmlns:a16="http://schemas.microsoft.com/office/drawing/2014/main" val="4194299910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DYG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(RWY Grooved AIP)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08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sz="458" b="0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259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DYG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08 109.7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26 108.9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08(713’)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 : DYG 079/8, R055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 : DYG,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02685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08559832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Voice TWR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15566" y="2376477"/>
            <a:ext cx="239039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CHS 123.9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124.9 – 133.5 -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133.25 – SHA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120.1 – 132.32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128.12 – 125.32 – 126.17 – 120.55 –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13646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9F632F4C-60D3-9EE8-7A8D-0CA4319CC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5676" y="2123530"/>
            <a:ext cx="1090673" cy="6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9174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6FF77275-DC2D-7782-8A56-C3FCD4C1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C30C3-708C-B4A4-6427-5E6725C26554}"/>
              </a:ext>
            </a:extLst>
          </p:cNvPr>
          <p:cNvSpPr txBox="1"/>
          <p:nvPr/>
        </p:nvSpPr>
        <p:spPr>
          <a:xfrm>
            <a:off x="-55838" y="3280623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 – 119.6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184C1080-0236-2052-E1E9-648A12C01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395981"/>
              </p:ext>
            </p:extLst>
          </p:nvPr>
        </p:nvGraphicFramePr>
        <p:xfrm>
          <a:off x="0" y="60692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425BFED1-9719-706B-35CE-6D6E3D9DD9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657253"/>
              </p:ext>
            </p:extLst>
          </p:nvPr>
        </p:nvGraphicFramePr>
        <p:xfrm>
          <a:off x="-1706" y="3819333"/>
          <a:ext cx="2333880" cy="174281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DLC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dirty="0"/>
                        <a:t>: RNAV(PMS) STAR </a:t>
                      </a:r>
                      <a:r>
                        <a:rPr lang="en-US" sz="700" dirty="0">
                          <a:solidFill>
                            <a:srgbClr val="C00000"/>
                          </a:solidFill>
                        </a:rPr>
                        <a:t>CHK RWY 10 TL107 CAT C/D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4"/>
                          </a:solidFill>
                        </a:rPr>
                        <a:t>If Over MLDW, Report DLC -32NM for Holding or Missed APP</a:t>
                      </a:r>
                      <a:endParaRPr lang="en-US" sz="80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TL107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CHK ALT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 SET LOC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TL307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TL304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10(106’)  10171’  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   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28(89’)  9843’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10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(3.3/3.5)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E(5469’),D(6535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F(5393’),G(6555’)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10 Align After DA Due Terrain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AUTO L/D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AA47F5"/>
                          </a:solidFill>
                        </a:rPr>
                        <a:t>Align by Visual Follow GS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chemeClr val="tx1"/>
                          </a:solidFill>
                        </a:rPr>
                        <a:t>Parking Brake Remain SET </a:t>
                      </a:r>
                      <a:r>
                        <a:rPr lang="en-US" sz="600" b="1" dirty="0">
                          <a:solidFill>
                            <a:srgbClr val="0070C0"/>
                          </a:solidFill>
                        </a:rPr>
                        <a:t>(After All Offload then REQ Release) 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TAXI SPD Max 16kts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, APU off Procedure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2B7D9463-A88C-657E-36E3-FFACA0B4A9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0648043"/>
              </p:ext>
            </p:extLst>
          </p:nvPr>
        </p:nvGraphicFramePr>
        <p:xfrm>
          <a:off x="-2501" y="12087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 107ft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4BC288-4472-D50A-E876-6EB1EB95F6A1}"/>
              </a:ext>
            </a:extLst>
          </p:cNvPr>
          <p:cNvSpPr/>
          <p:nvPr/>
        </p:nvSpPr>
        <p:spPr>
          <a:xfrm>
            <a:off x="1651787" y="350455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7D4F3D-FF0C-FDED-A507-17DB62A3B3B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88576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899C8511-836F-F239-6741-D6AC626F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FEE7959D-3C0C-154D-04C3-CBA939701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64E036-24A6-4740-3AAE-4CBCE7AE3EA0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B2AF9A-775E-6F54-8C97-508EFCD60E7D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03358-AEE5-EB43-CBCB-FFC25292DE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29DFFA1-BE25-8CB2-ACDF-27EE6789585C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095466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2AE82B88-A031-A9EF-D496-D553CF65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1646C4F2-3ED5-5AF0-F68C-A238C964F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795127"/>
              </p:ext>
            </p:extLst>
          </p:nvPr>
        </p:nvGraphicFramePr>
        <p:xfrm>
          <a:off x="4919" y="705249"/>
          <a:ext cx="230036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DLC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DBL 115.4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10 109.1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10(106’)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28(89’)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 : DBL 283/2.9, DBL 280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2010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PushBack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Facing West (RWY28 180Back)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TAXI SPD 16kts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RWY28 Hold Short C/B – HP3/HP3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5CCFD6AD-7902-F336-4C89-5CED28736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5987276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9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ZYTL(DLC)107ft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DCL 20min(</a:t>
                      </a:r>
                      <a:r>
                        <a:rPr lang="en-US" altLang="ko-KR" sz="700" b="1" dirty="0" err="1">
                          <a:solidFill>
                            <a:srgbClr val="FF0000"/>
                          </a:solidFill>
                        </a:rPr>
                        <a:t>ReadBack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 to GND)</a:t>
                      </a:r>
                      <a:r>
                        <a:rPr lang="ko-KR" altLang="en-US" sz="7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Voice 10min(GND)</a:t>
                      </a:r>
                      <a:endParaRPr lang="en-US" altLang="ko-KR" sz="6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3070BD7-0C1A-83AC-8136-EF8CBE88DCDB}"/>
              </a:ext>
            </a:extLst>
          </p:cNvPr>
          <p:cNvSpPr txBox="1"/>
          <p:nvPr/>
        </p:nvSpPr>
        <p:spPr>
          <a:xfrm>
            <a:off x="969470" y="2622118"/>
            <a:ext cx="70884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561BE8A-EE22-E068-7878-1E854D00D85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0FA613-9312-F2DD-DC23-51909AB28B98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34D4E9-7B50-AB61-FEC1-B03789F420CB}"/>
              </a:ext>
            </a:extLst>
          </p:cNvPr>
          <p:cNvSpPr/>
          <p:nvPr/>
        </p:nvSpPr>
        <p:spPr>
          <a:xfrm>
            <a:off x="847312" y="18339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라인, 폰트, 도표이(가) 표시된 사진&#10;&#10;자동 생성된 설명">
            <a:extLst>
              <a:ext uri="{FF2B5EF4-FFF2-40B4-BE49-F238E27FC236}">
                <a16:creationId xmlns:a16="http://schemas.microsoft.com/office/drawing/2014/main" id="{FD37E064-C7D6-A385-2859-C7566E24A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" y="2568389"/>
            <a:ext cx="964551" cy="7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371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22FF73A4-94AA-8A00-AF77-9E8843AF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9AF4B-23CD-124F-C0C8-9DC20C1A596A}"/>
              </a:ext>
            </a:extLst>
          </p:cNvPr>
          <p:cNvSpPr txBox="1"/>
          <p:nvPr/>
        </p:nvSpPr>
        <p:spPr>
          <a:xfrm>
            <a:off x="-77262" y="3211794"/>
            <a:ext cx="249619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120.55 - 125.32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124.45 – 119.85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5225E797-C66F-3829-5728-529E7A13D967}"/>
              </a:ext>
            </a:extLst>
          </p:cNvPr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8FA9982D-D6D8-0E82-9799-7C6E20D00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7336891"/>
              </p:ext>
            </p:extLst>
          </p:nvPr>
        </p:nvGraphicFramePr>
        <p:xfrm>
          <a:off x="15324" y="3912947"/>
          <a:ext cx="2311025" cy="1655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HFE : STAR 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SA CAT I not Approved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RVR 550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Wx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Min (with HUD or AP or FD)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DCT “VEMEX”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MAD 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OF205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15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33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MAD 02A,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RDR </a:t>
                      </a:r>
                      <a:r>
                        <a:rPr lang="en-US" altLang="ko-Kore-KR" sz="800" b="1" dirty="0" err="1">
                          <a:solidFill>
                            <a:srgbClr val="0070C0"/>
                          </a:solidFill>
                        </a:rPr>
                        <a:t>Vec</a:t>
                      </a:r>
                      <a:endParaRPr lang="en-US" altLang="ko-Kore-KR"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OF108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33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 : A5(5500’), A6(6500’), 33 :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A4(5500’)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A3(6500’)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No AMM                  TWR CLR</a:t>
                      </a:r>
                      <a:endParaRPr lang="en-US" altLang="ko-KR" sz="800" b="0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Vacating RWY, TWY to TWR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H(F/G), Report Marshaller Insight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F6586E72-9505-A68D-6163-26752AF96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130584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7442CBE-0134-C613-4BC2-54B56810AE98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79B37DD-EE7B-8538-714F-0B0E69584813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32654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7A00444-65D0-C212-1393-2F273262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A399D77B-6746-0424-93E8-059E004A92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64775F-96C4-F314-6FEE-E605479C8C58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D16C1B-B2BE-39D5-6D32-5D55F65E2F0F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B962A-9955-6973-4956-E17DED997C74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9C970C1-71C2-3ACD-C30C-D0B0C078B52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227107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777628F0-D372-0CA9-C296-D7E3A92D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61CFE0C6-4258-86C9-1D05-8493D3F270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104227"/>
              </p:ext>
            </p:extLst>
          </p:nvPr>
        </p:nvGraphicFramePr>
        <p:xfrm>
          <a:off x="-4159" y="622988"/>
          <a:ext cx="2339846" cy="130078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5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HFE: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MAD 01/03D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33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MAD 02/04D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334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XQH 109.8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15    109.3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33    108.5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Confirm Pushback Direction &amp; RWY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A2BCE2B1-C74D-3AFF-60FB-3D3D12DC5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1418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EB04AD8-D9E4-76EC-E5FB-300A9A730A73}"/>
              </a:ext>
            </a:extLst>
          </p:cNvPr>
          <p:cNvSpPr txBox="1"/>
          <p:nvPr/>
        </p:nvSpPr>
        <p:spPr>
          <a:xfrm>
            <a:off x="32545" y="2128974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119.85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- 124.45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97B4D83-CABC-3458-4491-C849AB332E79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4003D5B-CD63-500B-2937-F0A8F12629AB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3EF7D9C-B8AB-C70B-000C-0CCBC7A1B98A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06372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55657D24-EF04-788C-A1E9-7789054D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0A2667-F766-B4F2-F036-D649D29449F8}"/>
              </a:ext>
            </a:extLst>
          </p:cNvPr>
          <p:cNvSpPr txBox="1"/>
          <p:nvPr/>
        </p:nvSpPr>
        <p:spPr>
          <a:xfrm>
            <a:off x="-77262" y="3102610"/>
            <a:ext cx="254749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 – TAO 128.55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127.35 – 127.5 - 132.2 – CAN 18.9 – 133.5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CAN 135.35 – 132.35 – 128.72 – CHD 132.25 – 133.65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134.35 - APP 120.35 – 119.0</a:t>
            </a:r>
          </a:p>
        </p:txBody>
      </p:sp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665C0695-28F6-DD44-D6A8-CC9C5617F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19103"/>
              </p:ext>
            </p:extLst>
          </p:nvPr>
        </p:nvGraphicFramePr>
        <p:xfrm>
          <a:off x="15324" y="3815434"/>
          <a:ext cx="2311025" cy="1773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514">
                  <a:extLst>
                    <a:ext uri="{9D8B030D-6E8A-4147-A177-3AD203B41FA5}">
                      <a16:colId xmlns:a16="http://schemas.microsoft.com/office/drawing/2014/main" val="1537120119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25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KMG : STAR no VOR at A/P 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LD ALT 6900 </a:t>
                      </a:r>
                      <a:r>
                        <a:rPr lang="en-US" sz="900" dirty="0" err="1">
                          <a:solidFill>
                            <a:srgbClr val="C00000"/>
                          </a:solidFill>
                        </a:rPr>
                        <a:t>ini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 DES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C000"/>
                          </a:solidFill>
                        </a:rPr>
                        <a:t>CHK LD Limit 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L/D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</a:rPr>
                        <a:t>, </a:t>
                      </a:r>
                      <a:r>
                        <a:rPr lang="en-US" sz="900" b="1" dirty="0">
                          <a:solidFill>
                            <a:schemeClr val="accent2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FLAP 15 L/D</a:t>
                      </a:r>
                      <a:endParaRPr lang="en-US" sz="900" b="1" dirty="0">
                        <a:solidFill>
                          <a:schemeClr val="accent2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03/04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XIS 2J </a:t>
                      </a:r>
                      <a:r>
                        <a:rPr lang="en-US" sz="800" b="0" dirty="0"/>
                        <a:t>(1,3J)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MP3 </a:t>
                      </a:r>
                      <a:r>
                        <a:rPr lang="en-US" sz="800" b="0" dirty="0"/>
                        <a:t>(XSJ)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21/22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XIS 2L </a:t>
                      </a:r>
                      <a:r>
                        <a:rPr lang="en-US" altLang="ko-Kore-KR" sz="800" b="0" dirty="0"/>
                        <a:t>(1,3L)</a:t>
                      </a:r>
                      <a:endParaRPr lang="en-US" altLang="ko-Kore-KR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r>
                        <a:rPr lang="en-US" sz="800" b="0" dirty="0"/>
                        <a:t> (MP2)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03(6896’)    11352’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04(6885’)    14764’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11352’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13123’     22(6879’)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RWY21/22 /8 170kts, /6 160kts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24519"/>
                  </a:ext>
                </a:extLst>
              </a:tr>
              <a:tr h="27058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03 : F4(5994’), F3(7227’),     21 : F7(5892’), F8(7204’)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04 : C5(6482’), C4(716’),       22 : C6(6509’), C7(7726’)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13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</a:t>
                      </a:r>
                      <a:r>
                        <a:rPr lang="en-US" sz="700" b="1" dirty="0"/>
                        <a:t>D7</a:t>
                      </a:r>
                      <a:r>
                        <a:rPr lang="en-US" sz="700" dirty="0"/>
                        <a:t>, </a:t>
                      </a:r>
                      <a:r>
                        <a:rPr lang="en-US" sz="800" b="1" dirty="0"/>
                        <a:t>R East only, Q West Only</a:t>
                      </a:r>
                      <a:endParaRPr b="1"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EF6D167-24A1-9215-ABD7-487F64DC0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60072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CHK below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LD ALT 6000ft for T/O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7245724-33D4-02A8-C4A0-C832FF8FFE59}"/>
              </a:ext>
            </a:extLst>
          </p:cNvPr>
          <p:cNvSpPr/>
          <p:nvPr/>
        </p:nvSpPr>
        <p:spPr>
          <a:xfrm>
            <a:off x="1610843" y="35499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235581E-ACC7-00F2-10B7-543CD2C385F8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1;p18">
            <a:extLst>
              <a:ext uri="{FF2B5EF4-FFF2-40B4-BE49-F238E27FC236}">
                <a16:creationId xmlns:a16="http://schemas.microsoft.com/office/drawing/2014/main" id="{5049F2F4-85AA-4A63-9F66-7192D50846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500826"/>
              </p:ext>
            </p:extLst>
          </p:nvPr>
        </p:nvGraphicFramePr>
        <p:xfrm>
          <a:off x="0" y="606927"/>
          <a:ext cx="2332925" cy="252511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161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0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82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05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056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0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683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DB7FAE1E-B18C-74EC-9B2A-076C45F40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BD773260-2EF4-64FA-451C-67FFE2E4B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0FAE85-9FD7-AAA7-8D18-E346FB76BA1D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9A2C8C-327C-FB35-BE2C-6164DD8593E3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87D75-AA7B-0E17-26E2-A9031A8B166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698FB7A-3563-0A57-494B-50A15AA0587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957764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9E1F807-0D99-3574-03F6-F70BD7E5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E8309597-2BC1-0786-685C-C832E85B0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2195289"/>
              </p:ext>
            </p:extLst>
          </p:nvPr>
        </p:nvGraphicFramePr>
        <p:xfrm>
          <a:off x="-4159" y="643460"/>
          <a:ext cx="2339848" cy="1555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959">
                  <a:extLst>
                    <a:ext uri="{9D8B030D-6E8A-4147-A177-3AD203B41FA5}">
                      <a16:colId xmlns:a16="http://schemas.microsoft.com/office/drawing/2014/main" val="2691487666"/>
                    </a:ext>
                  </a:extLst>
                </a:gridCol>
                <a:gridCol w="183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555">
                  <a:extLst>
                    <a:ext uri="{9D8B030D-6E8A-4147-A177-3AD203B41FA5}">
                      <a16:colId xmlns:a16="http://schemas.microsoft.com/office/drawing/2014/main" val="3936429666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8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4878">
                  <a:extLst>
                    <a:ext uri="{9D8B030D-6E8A-4147-A177-3AD203B41FA5}">
                      <a16:colId xmlns:a16="http://schemas.microsoft.com/office/drawing/2014/main" val="89384936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KMG: SID (NADP 1)  </a:t>
                      </a: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Check T/O Perf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Report SID to TWR Initial CTC</a:t>
                      </a:r>
                    </a:p>
                  </a:txBody>
                  <a:tcPr marL="36000" marR="72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03/04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NOD x W/X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21/22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NOD x Y/Z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03 111.3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21 110.1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03(6896’)            13123’       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04(6885’)            14764’            22(6879’)      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Pushback After 5min, Eng Start After Pushback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tx1"/>
                          </a:solidFill>
                        </a:rPr>
                        <a:t>Watch STOPBAR L/T, Don’t Confuse J, C1, C2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86851603-C2B9-746F-A760-C9423ACB89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54829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1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10-30min TOBT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26328A-E9B9-D486-502B-D68E01ED0134}"/>
              </a:ext>
            </a:extLst>
          </p:cNvPr>
          <p:cNvSpPr txBox="1"/>
          <p:nvPr/>
        </p:nvSpPr>
        <p:spPr>
          <a:xfrm>
            <a:off x="32545" y="2281540"/>
            <a:ext cx="1380186" cy="13644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APP 124.25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KMG 125.75</a:t>
            </a: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D12EC5-2C4E-47F2-1E10-686FD8FE7030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09BD212-F7DA-E363-F1F3-3E28935E209E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03;p19">
            <a:extLst>
              <a:ext uri="{FF2B5EF4-FFF2-40B4-BE49-F238E27FC236}">
                <a16:creationId xmlns:a16="http://schemas.microsoft.com/office/drawing/2014/main" id="{C1F55D7A-A272-9D92-C849-FD4500C0313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72627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6574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 – MNL 119.3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134.05 – CXR APP 127.9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6078334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978494010"/>
              </p:ext>
            </p:extLst>
          </p:nvPr>
        </p:nvGraphicFramePr>
        <p:xfrm>
          <a:off x="-2501" y="3686661"/>
          <a:ext cx="2327658" cy="18687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5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331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CXR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Wx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, Using RWY from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HoChiMinh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CTL)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RWY20 Max Tail Wind 15kts,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chk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condition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CAAV STAR, APP not Authorized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9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20L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COTUN, BANKE, HUNTA, NHATA xx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r>
                        <a:rPr lang="en-US" sz="800" b="1" dirty="0"/>
                        <a:t>CR xxx </a:t>
                      </a: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AFT IAF STEEP DES(3.8)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 20L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20R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02R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dirty="0"/>
                        <a:t>ILS X/Z 02L/R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02R(15’)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20L(34’)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02L(20’)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10010’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20R(46’)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20L : G3(6735’), G1(9603’),   02R : G5(6528’), G7(9662’)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20R : W4(5971’), W3(7680’),02L : W5(5606’), W6(7345’)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Service,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 Caution!!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9052970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246992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05063"/>
              </p:ext>
            </p:extLst>
          </p:nvPr>
        </p:nvGraphicFramePr>
        <p:xfrm>
          <a:off x="-4046" y="586900"/>
          <a:ext cx="2347194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8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4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3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CNX : RNP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Follow Restrictions due to Military Traffic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ATC/FL100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CRA 116.5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02L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20L 110.3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02 : CRA 020/2, R090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 20 : CRA 200/6, R150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02L(20’)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02R(15’) 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TWY Y5 only below wingspan 36m/118ft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691675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118.2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75855" y="2358321"/>
            <a:ext cx="161294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 – HCM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DAD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9" name="그림 8" descr="지도, 텍스트, 도표이(가) 표시된 사진&#10;&#10;자동 생성된 설명">
            <a:extLst>
              <a:ext uri="{FF2B5EF4-FFF2-40B4-BE49-F238E27FC236}">
                <a16:creationId xmlns:a16="http://schemas.microsoft.com/office/drawing/2014/main" id="{40FAD37A-76DB-4884-AE7F-03831C74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36310"/>
            <a:ext cx="845389" cy="825728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026387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3848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SGN APP 125.5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1539510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56095685"/>
              </p:ext>
            </p:extLst>
          </p:nvPr>
        </p:nvGraphicFramePr>
        <p:xfrm>
          <a:off x="-11466" y="3788344"/>
          <a:ext cx="236537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06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22411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94645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SGN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VVHM)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190</a:t>
                      </a:r>
                      <a:endParaRPr sz="8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xxH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/>
                        <a:t>SOKAN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W 25R/L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07R</a:t>
                      </a:r>
                      <a:r>
                        <a:rPr lang="en-US" sz="800" b="0" dirty="0"/>
                        <a:t>(L)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SAMDU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W 07R, VOR 07L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25R(33’)            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 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25L(32’)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12559’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10036’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07R(24’)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25R: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P4(6158’), P5(6991’)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07R:</a:t>
                      </a:r>
                      <a:r>
                        <a:rPr lang="en-US" altLang="ko-Kore-KR" sz="800" b="1" dirty="0">
                          <a:solidFill>
                            <a:schemeClr val="accent1"/>
                          </a:solidFill>
                        </a:rPr>
                        <a:t>S6(4412’),S5(6574’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,</a:t>
                      </a:r>
                      <a:r>
                        <a:rPr lang="en-US" altLang="ko-KR" sz="7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en-US" altLang="ko-Kore-KR" sz="700" b="1" dirty="0">
                          <a:solidFill>
                            <a:schemeClr val="accent1"/>
                          </a:solidFill>
                        </a:rPr>
                        <a:t>0도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accent1"/>
                          </a:solidFill>
                        </a:rPr>
                        <a:t>B737 P4, P5, S6, S5 Unable Tell ATC</a:t>
                      </a:r>
                      <a:endParaRPr lang="en-US" altLang="ko-Kore-KR"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25L : S7(6824’),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S8(9671’),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    07L : P3(6266’), P2(8907’)</a:t>
                      </a:r>
                      <a:endParaRPr lang="en-US" altLang="ko-Kore-KR" sz="80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 in Ramp </a:t>
                      </a: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(Caution STOPBAR L/T)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!!!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0.5m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이내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2m STOP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시 바로 정지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 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1334734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7640F26-AA68-BC81-60B9-DD726B8F893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75675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756709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5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7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SGN : RNP SID (NADP 1) TA 18000’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Request RWY due to Performance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25L</a:t>
                      </a:r>
                      <a:r>
                        <a:rPr lang="en-US" sz="800" b="0" u="none" strike="noStrike" cap="none" dirty="0"/>
                        <a:t>(R)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11000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TSH 116.8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07R 111.7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108.3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25R(33’)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10007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07L(20’)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25L(32’)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12559’          07R(24’)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Caution TSAT +- 5min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CLR, RWY CHG After TAXI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Caution STOPBAR L/T, 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Follow Car Service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21581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-15min,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DEL 121.8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8327" y="2363041"/>
            <a:ext cx="196399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 – HCM 120.1 - 134.05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 –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126.7 – 123.6 -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5CD2C11-84BB-CA3F-91BE-B3B15E82C8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243263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6663"/>
            <a:ext cx="243848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120.7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(MIGUG)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61752424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275025826"/>
              </p:ext>
            </p:extLst>
          </p:nvPr>
        </p:nvGraphicFramePr>
        <p:xfrm>
          <a:off x="20430" y="3857452"/>
          <a:ext cx="2286834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7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32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51832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595906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PNH : RNAV STAR (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ATC, ATIS)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Caution CLR Limit GONLY, Do not Confuse ANAT, ANAB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NANXY </a:t>
                      </a:r>
                      <a:r>
                        <a:rPr lang="en-US" sz="800" b="1" dirty="0" err="1"/>
                        <a:t>xxB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BOSET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DETMA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KOSDA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Del Holding Data</a:t>
                      </a:r>
                      <a:endParaRPr lang="en-US" sz="7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05(40’)       9843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9350’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23(37’)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05 : E(6240’), H(7148’),     23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C(7004’), 180 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Centerline L/T,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Vacate Lead L/T(Only Edge L/T)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APU Off after 5min after parking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Stand xx Yellow Lead-in Marking(xx A,B Blue Line!!)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5709730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PNH DIS 129.0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304DB22-750F-4097-365B-79B389FA23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169301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3847497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97551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PNH : RNAV SID (NADP 1) TA 10000’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accent4"/>
                          </a:solidFill>
                        </a:rPr>
                        <a:t>RWY 23 SEYHA Watch Over Bank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0</a:t>
                      </a:r>
                      <a:r>
                        <a:rPr lang="en-US" sz="800" b="1" u="none" strike="noStrike" cap="none" dirty="0"/>
                        <a:t>5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NANXY xx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(SEYHA xx)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(5000)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23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093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PNH 114.3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05(40’)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23(37’)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PNH 226/2.5, R160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648163"/>
                  </a:ext>
                </a:extLst>
              </a:tr>
              <a:tr h="28029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10min Before DEP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Line up 180 Back follow Yellow Guide Line</a:t>
                      </a:r>
                      <a:endParaRPr lang="en-US" sz="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493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PNH DIS 129.0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READY!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118.0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295394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라인, 도표이(가) 표시된 사진&#10;&#10;자동 생성된 설명">
            <a:extLst>
              <a:ext uri="{FF2B5EF4-FFF2-40B4-BE49-F238E27FC236}">
                <a16:creationId xmlns:a16="http://schemas.microsoft.com/office/drawing/2014/main" id="{48DFD2B7-3E52-6B57-0EA3-05AC6BD7B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232" y="2344525"/>
            <a:ext cx="806295" cy="678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598763" y="2378007"/>
            <a:ext cx="1491114" cy="117864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 –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134.05 – 120.7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8942/5655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(ARESI)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(AKOTA)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271B0A-E414-C9F5-151D-200BBB86EC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59318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20765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127.5 – 123.2 – 123.9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(BISIG ETA)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13300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(BEDIP)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APP 124.4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5462621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13761822"/>
              </p:ext>
            </p:extLst>
          </p:nvPr>
        </p:nvGraphicFramePr>
        <p:xfrm>
          <a:off x="-11466" y="3783028"/>
          <a:ext cx="236537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525">
                  <a:extLst>
                    <a:ext uri="{9D8B030D-6E8A-4147-A177-3AD203B41FA5}">
                      <a16:colId xmlns:a16="http://schemas.microsoft.com/office/drawing/2014/main" val="154479603"/>
                    </a:ext>
                  </a:extLst>
                </a:gridCol>
                <a:gridCol w="498528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MNL : RNP STAR with RNP APP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RPHI)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130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3 STAR Difference Track Mile &amp; IAF  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POLIO, NABAL 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7</a:t>
                      </a:r>
                      <a:r>
                        <a:rPr lang="en-US" altLang="ko-KR" sz="800" b="1" dirty="0"/>
                        <a:t>,5,3)R/P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DCT MIA RDR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</a:rPr>
                        <a:t>Vec</a:t>
                      </a:r>
                      <a:endParaRPr lang="en-US"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(TMA 250, 20NM 210)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GONDO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DAGAT</a:t>
                      </a:r>
                      <a:r>
                        <a:rPr lang="en-US" sz="800" b="1" dirty="0"/>
                        <a:t>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06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MUTAN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MEDAM</a:t>
                      </a:r>
                      <a:r>
                        <a:rPr lang="en-US" sz="800" b="1" dirty="0"/>
                        <a:t>)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RNP 24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24</a:t>
                      </a:r>
                      <a:endParaRPr lang="ko-Kore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(16’)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11188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             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24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(75’)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06 : R2(6223’), R1(8221’),     24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R4(6095’), R5(7746’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Unable advise ATC, </a:t>
                      </a:r>
                      <a:r>
                        <a:rPr lang="en-US" altLang="ko-KR" sz="800" b="0" dirty="0">
                          <a:solidFill>
                            <a:srgbClr val="C00000"/>
                          </a:solidFill>
                        </a:rPr>
                        <a:t>Do not confuse R2, E2, RWY31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CTC Ramp before Entering apron,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Report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Chockin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Time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Caution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HotSpot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RWY31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51370451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PAGSS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131.0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3365F54-8A36-6A9A-F1D4-D28F7D1796D7}"/>
              </a:ext>
            </a:extLst>
          </p:cNvPr>
          <p:cNvSpPr/>
          <p:nvPr/>
        </p:nvSpPr>
        <p:spPr>
          <a:xfrm>
            <a:off x="846113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221554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760667"/>
              </p:ext>
            </p:extLst>
          </p:nvPr>
        </p:nvGraphicFramePr>
        <p:xfrm>
          <a:off x="-15808" y="675701"/>
          <a:ext cx="2349162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04">
                  <a:extLst>
                    <a:ext uri="{9D8B030D-6E8A-4147-A177-3AD203B41FA5}">
                      <a16:colId xmlns:a16="http://schemas.microsoft.com/office/drawing/2014/main" val="2284565888"/>
                    </a:ext>
                  </a:extLst>
                </a:gridCol>
                <a:gridCol w="2447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14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03688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MNL : RDR Vector to CAB (NADP 1) TA 11000’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Main RWY H/D Climb 7000ft, CLR for T/O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CAB xx R/A 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CAB xx P/B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9000</a:t>
                      </a:r>
                      <a:r>
                        <a:rPr lang="ko-KR" altLang="en-US" sz="800" b="1" u="none" strike="noStrike" cap="none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6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MIA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06 109.1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06 </a:t>
                      </a:r>
                      <a:r>
                        <a:rPr lang="en-US" sz="800" b="0" u="none" strike="noStrike" cap="none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: MIA /2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310195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(16’)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11188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24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(75’)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643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ENG Startup to GND </a:t>
                      </a:r>
                      <a:r>
                        <a:rPr lang="en-US" altLang="ko-KR" sz="800" b="0" u="none" strike="noStrike" cap="none" dirty="0">
                          <a:solidFill>
                            <a:srgbClr val="C00000"/>
                          </a:solidFill>
                        </a:rPr>
                        <a:t>-&gt;</a:t>
                      </a:r>
                      <a:r>
                        <a:rPr lang="ko-KR" altLang="en-US" sz="800" b="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 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Pushback to Ramp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5956729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PAGSS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</a:rPr>
                        <a:t>Oper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 131.0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CLR 125.1 By Voice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Aircraft Type, Proposing ALT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901089" y="2339711"/>
            <a:ext cx="1522810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124.4(121.1)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(LEBIX ETA)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125.72 - 124.52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11245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라인, 도표, 폰트이(가) 표시된 사진&#10;&#10;자동 생성된 설명">
            <a:extLst>
              <a:ext uri="{FF2B5EF4-FFF2-40B4-BE49-F238E27FC236}">
                <a16:creationId xmlns:a16="http://schemas.microsoft.com/office/drawing/2014/main" id="{B005688E-5621-947C-9A52-94A084F0A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734" y="2423260"/>
            <a:ext cx="993580" cy="464007"/>
          </a:xfrm>
          <a:prstGeom prst="rect">
            <a:avLst/>
          </a:prstGeom>
        </p:spPr>
      </p:pic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363B5B1-8E7B-7609-6A41-4AC4F2531BE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884654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33882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130.1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25320391"/>
              </p:ext>
            </p:extLst>
          </p:nvPr>
        </p:nvGraphicFramePr>
        <p:xfrm>
          <a:off x="-2501" y="3771883"/>
          <a:ext cx="2327659" cy="178514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869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RMQ : No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FL220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4"/>
                          </a:solidFill>
                        </a:rPr>
                        <a:t>ILS Z 36 : HLG31 SPD Modify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RDR Vector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HLG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18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FATAN</a:t>
                      </a:r>
                    </a:p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(ARROZ)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36 </a:t>
                      </a:r>
                    </a:p>
                    <a:p>
                      <a:pPr algn="ctr"/>
                      <a:r>
                        <a:rPr lang="en-US" sz="800" b="1" dirty="0"/>
                        <a:t>(ILS Y 36</a:t>
                      </a:r>
                      <a:r>
                        <a:rPr lang="en-US" sz="800" b="0" dirty="0"/>
                        <a:t>)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18(653’)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12005’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36(663’)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 /8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43174176"/>
                  </a:ext>
                </a:extLst>
              </a:tr>
              <a:tr h="23641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EOR(12005’),  36 : W5(8500’)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E1~4, W1 for Military 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Follow Me Car on W, Report W3 Intersection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778245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Mandarin Operation 131.85/95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24277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443223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744170"/>
              </p:ext>
            </p:extLst>
          </p:nvPr>
        </p:nvGraphicFramePr>
        <p:xfrm>
          <a:off x="-4046" y="689875"/>
          <a:ext cx="2347194" cy="1376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RMQ : SID (NADP 1) TA 11000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xS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7000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xB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18 111.7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36 111.5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18(653’)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12005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36(663’)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 : TCK 181/7, R270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062539"/>
                  </a:ext>
                </a:extLst>
              </a:tr>
              <a:tr h="11570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 after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, Report W3 Intersection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17655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/>
                        <a:t>Madarin</a:t>
                      </a:r>
                      <a:r>
                        <a:rPr lang="en-US" sz="800" dirty="0"/>
                        <a:t> Operation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131.85/95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to GND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1166590" y="2223843"/>
            <a:ext cx="1213794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118.75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APP 130.1 – 119.7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도표, 라인이(가) 표시된 사진&#10;&#10;자동 생성된 설명">
            <a:extLst>
              <a:ext uri="{FF2B5EF4-FFF2-40B4-BE49-F238E27FC236}">
                <a16:creationId xmlns:a16="http://schemas.microsoft.com/office/drawing/2014/main" id="{B1A74796-EF8E-5C5F-D7DE-4AA33B5D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93371"/>
            <a:ext cx="1040674" cy="87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3583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290937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114335148"/>
              </p:ext>
            </p:extLst>
          </p:nvPr>
        </p:nvGraphicFramePr>
        <p:xfrm>
          <a:off x="-2501" y="3874835"/>
          <a:ext cx="2327659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TPE :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4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No VOR at TPE, A-VDGS see above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943571297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6533B1B9-4E05-6110-F9FE-1C5ADBF7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98" y="3339535"/>
            <a:ext cx="833046" cy="53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6950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107896"/>
              </p:ext>
            </p:extLst>
          </p:nvPr>
        </p:nvGraphicFramePr>
        <p:xfrm>
          <a:off x="-4046" y="5869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37348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0" y="2096731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24304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01904"/>
            <a:ext cx="150874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135.3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(BIXAK)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17904/8870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4666/8903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GUM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118.7</a:t>
            </a:r>
          </a:p>
        </p:txBody>
      </p:sp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481405603"/>
              </p:ext>
            </p:extLst>
          </p:nvPr>
        </p:nvGraphicFramePr>
        <p:xfrm>
          <a:off x="4410" y="3667475"/>
          <a:ext cx="230588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6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8799">
                  <a:extLst>
                    <a:ext uri="{9D8B030D-6E8A-4147-A177-3AD203B41FA5}">
                      <a16:colId xmlns:a16="http://schemas.microsoft.com/office/drawing/2014/main" val="3120437882"/>
                    </a:ext>
                  </a:extLst>
                </a:gridCol>
              </a:tblGrid>
              <a:tr h="39526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GUM : no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(UTC + 10, TL 180)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CPDLC BIXAK to NATSS : RJJJ to KZAK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CTC GUM CERAP 118.7 (SQ2100) Before 250NM 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06L/R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UNZ/-15,OBALE(MEMKE) </a:t>
                      </a:r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 6L/R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(Upslope)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24L/R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UNZ/-15,CIBOL(WABOX)</a:t>
                      </a:r>
                      <a:endParaRPr lang="en-US" sz="800" b="1" dirty="0"/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RNAV Y 24L/R </a:t>
                      </a:r>
                      <a:r>
                        <a:rPr kumimoji="0" lang="en-US" altLang="ko-Kore-KR" sz="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(Downslope)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4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6L(256’) 11014’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DIS TH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6R(258’) 10014’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24R(305’) 12014’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UNZ /250 </a:t>
                      </a:r>
                      <a:r>
                        <a:rPr lang="en-US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4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06L : E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(6473’), F(6975’),  24R : D(6282’), C(8264’)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06R : E(6502’), G(7808’) , 24L : B(8254’)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Prepare GS OUT, Vacate RWY CTC Ramp CTL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1948597028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Menzies Operations 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DATIS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814818659"/>
              </p:ext>
            </p:extLst>
          </p:nvPr>
        </p:nvGraphicFramePr>
        <p:xfrm>
          <a:off x="0" y="603073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885B48-D909-DBA8-463D-C2595910C8DE}"/>
              </a:ext>
            </a:extLst>
          </p:cNvPr>
          <p:cNvSpPr/>
          <p:nvPr/>
        </p:nvSpPr>
        <p:spPr>
          <a:xfrm>
            <a:off x="1469976" y="3356584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FCA215-6716-977F-75BA-F0B5E1689E17}"/>
              </a:ext>
            </a:extLst>
          </p:cNvPr>
          <p:cNvSpPr/>
          <p:nvPr/>
        </p:nvSpPr>
        <p:spPr>
          <a:xfrm>
            <a:off x="826930" y="270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830001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661764979"/>
              </p:ext>
            </p:extLst>
          </p:nvPr>
        </p:nvGraphicFramePr>
        <p:xfrm>
          <a:off x="0" y="1"/>
          <a:ext cx="2328875" cy="550992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4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EDTO Procedure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APU Remain ON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08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PREFLIGHT</a:t>
                      </a:r>
                    </a:p>
                    <a:p>
                      <a:pPr algn="l"/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Alternate Airport IFR </a:t>
                      </a:r>
                      <a:r>
                        <a:rPr lang="en-US" altLang="ko-Kore-KR" sz="7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Minima for Planning (Ops Pecs C055)</a:t>
                      </a:r>
                      <a:r>
                        <a:rPr lang="ko-KR" altLang="en-US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-&gt;</a:t>
                      </a:r>
                      <a:r>
                        <a:rPr lang="ko-KR" altLang="en-US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EDTO ERA Only(ERA no </a:t>
                      </a:r>
                      <a:r>
                        <a:rPr lang="en-US" altLang="ko-KR" sz="700" b="1" i="0" u="none" strike="noStrike" dirty="0" err="1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R" sz="700" b="1" i="0" u="none" strike="noStrike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)</a:t>
                      </a:r>
                      <a:endParaRPr lang="en-US" sz="700" b="1" dirty="0">
                        <a:solidFill>
                          <a:srgbClr val="AA47F5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RVSM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CAPT/FO 50ft, PILOT/FE 75ft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FUEL CROSS FEED V/V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 -&gt; Off, V/V L/T CHK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NAV DATA Input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EEP, ETP1, ETP2, EXP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HF SELCAL CHK : Jeppesen - ENT DATA Pacific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SEOUL RADIO : 8903(3004,6532,13300,13303,17904)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AFTER START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APU Remain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</a:t>
                      </a:r>
                      <a:r>
                        <a:rPr lang="en-US" sz="800" dirty="0">
                          <a:latin typeface="+mn-lt"/>
                        </a:rPr>
                        <a:t> Until Passing EXP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9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LEVEL OFF (CRZ CHK)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RVSM CHK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CAPT/FO 200ft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BEFORE EEP (Entry Point,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ERA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60min 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B737-900 398NM,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Others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408NM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(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winthin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MAX 120min 750NM)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1 ELEC SRC Fail Before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Reroute, Divert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FIX 1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EEP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FIX 2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ETP1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FMS ALT A/P SET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ALTN Page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Review Contingency Procedure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Drift Down 30</a:t>
                      </a:r>
                      <a:r>
                        <a:rPr kumimoji="0" lang="ko-Kore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도이상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5NM, FL290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이하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+-500ft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</a:t>
                      </a:r>
                      <a:r>
                        <a:rPr kumimoji="0" lang="en-US" altLang="ko-Kore-KR" sz="7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Dev 5NM 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이상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+-300ft</a:t>
                      </a:r>
                      <a:endParaRPr kumimoji="0" lang="en-US" altLang="ko-Kore-KR" sz="6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AA47F5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3740928111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Segment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1 ELEC SRC Fail After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Continue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Actual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for Actual Divert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99958746"/>
                  </a:ext>
                </a:extLst>
              </a:tr>
              <a:tr h="6703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ETP (Equal Time Point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ERA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FIX, ALTN Page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Last ETP(Critical Point) Fuel less then PLAN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– Continue by PIC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646462774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EXP (Exit Point)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APU -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OFF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122030425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1 HR Before TOD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 CROSS FEED V/V CHK :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On -&gt; Off, V/V L/T CHK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318742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2402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407271351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no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(RWY 06 LNAV not Arming on GND)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</a:t>
                      </a:r>
                      <a:r>
                        <a:rPr lang="en-US" sz="800" b="1" dirty="0"/>
                        <a:t>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063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243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UNZ 115.8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06R 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24 : UNZ /2.5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06L(256’)        12014’       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24R(305’)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06R(258’)        10014’        24L(293’)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RWY, Ramp Area have lots of Slope, Be Caution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Upslope, 24 Downslope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>
            <p:extLst>
              <p:ext uri="{D42A27DB-BD31-4B8C-83A1-F6EECF244321}">
                <p14:modId xmlns:p14="http://schemas.microsoft.com/office/powerpoint/2010/main" val="2685120419"/>
              </p:ext>
            </p:extLst>
          </p:nvPr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53389776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600" dirty="0"/>
                        <a:t>Menzies Operations   </a:t>
                      </a:r>
                      <a:r>
                        <a:rPr lang="en-US" altLang="ko-Kore-KR" sz="900" dirty="0"/>
                        <a:t>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By Voice, No DATIS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" name="그림 3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87A0FC69-EC5A-98B1-ECF9-3EE0D15E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" y="2257781"/>
            <a:ext cx="914393" cy="932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880917" y="2173448"/>
            <a:ext cx="1764127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118.7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8870/6532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3455/8903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132.3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(HIDEK)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133.85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F680019-B6B1-64EC-2F72-04F687483095}"/>
              </a:ext>
            </a:extLst>
          </p:cNvPr>
          <p:cNvSpPr/>
          <p:nvPr/>
        </p:nvSpPr>
        <p:spPr>
          <a:xfrm>
            <a:off x="1469976" y="3096153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2E5B13E-BE59-CD40-278E-11D41D54540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36631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9514618"/>
              </p:ext>
            </p:extLst>
          </p:nvPr>
        </p:nvGraphicFramePr>
        <p:xfrm>
          <a:off x="-2501" y="3903061"/>
          <a:ext cx="2327659" cy="16703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TPE : STAR TL130 </a:t>
                      </a:r>
                      <a:r>
                        <a:rPr lang="en-US" altLang="ko-Kore-KR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altLang="ko-Kore-KR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56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No VOR at TPE,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A-VDGS see above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459661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4171429"/>
              </p:ext>
            </p:extLst>
          </p:nvPr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F64CEF4C-47A5-8D86-A1CC-D5A6FCB545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272" y="3352795"/>
            <a:ext cx="867550" cy="55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2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0534173"/>
              </p:ext>
            </p:extLst>
          </p:nvPr>
        </p:nvGraphicFramePr>
        <p:xfrm>
          <a:off x="-4046" y="6430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776729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60107" y="2180607"/>
            <a:ext cx="130644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13174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597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129.1 – HKG 132.15 - 127.1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SNY 122.6 – HNI 123.3 – VTN 128.3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132.1 – 133.1 - APP 119.1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580172753"/>
              </p:ext>
            </p:extLst>
          </p:nvPr>
        </p:nvGraphicFramePr>
        <p:xfrm>
          <a:off x="-2501" y="3838579"/>
          <a:ext cx="2327659" cy="16960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916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0904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471166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145629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BKK : STAR TL130 UTC+7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(SPD CTL via STAR Chart)</a:t>
                      </a:r>
                      <a:endParaRPr lang="en-US" altLang="ko-Kore-KR" sz="800" b="1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EASTE </a:t>
                      </a:r>
                      <a:r>
                        <a:rPr lang="en-US" sz="800" b="1" dirty="0" err="1"/>
                        <a:t>xxC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Select Tx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EASTE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xxD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Select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01L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7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19L(4’)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13123’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 No </a:t>
                      </a:r>
                      <a:r>
                        <a:rPr lang="en-US" altLang="ko-KR" sz="800" b="1" dirty="0" err="1">
                          <a:solidFill>
                            <a:srgbClr val="C00000"/>
                          </a:solidFill>
                        </a:rPr>
                        <a:t>Groov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01R(4’)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007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19R(4’)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12139’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01L(4’)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/8 (180tks), /5 (160-150kts)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433256594"/>
                  </a:ext>
                </a:extLst>
              </a:tr>
              <a:tr h="19557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19L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B8(5567’), B10(6965’),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01R : B7(5964’), B5(7962’)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19R : E9(5052’), E13(7139’),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01L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E12(4872’), E7(6958’)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0077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HIRO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Standard Taxi Route, APU Off Procedure</a:t>
                      </a:r>
                      <a:endParaRPr 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3615981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Bangkok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131.25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572577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/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19665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931131"/>
              </p:ext>
            </p:extLst>
          </p:nvPr>
        </p:nvGraphicFramePr>
        <p:xfrm>
          <a:off x="-4045" y="643000"/>
          <a:ext cx="234215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6370">
                  <a:extLst>
                    <a:ext uri="{9D8B030D-6E8A-4147-A177-3AD203B41FA5}">
                      <a16:colId xmlns:a16="http://schemas.microsoft.com/office/drawing/2014/main" val="316027583"/>
                    </a:ext>
                  </a:extLst>
                </a:gridCol>
                <a:gridCol w="160014">
                  <a:extLst>
                    <a:ext uri="{9D8B030D-6E8A-4147-A177-3AD203B41FA5}">
                      <a16:colId xmlns:a16="http://schemas.microsoft.com/office/drawing/2014/main" val="3522764159"/>
                    </a:ext>
                  </a:extLst>
                </a:gridCol>
                <a:gridCol w="274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535">
                  <a:extLst>
                    <a:ext uri="{9D8B030D-6E8A-4147-A177-3AD203B41FA5}">
                      <a16:colId xmlns:a16="http://schemas.microsoft.com/office/drawing/2014/main" val="2506187783"/>
                    </a:ext>
                  </a:extLst>
                </a:gridCol>
                <a:gridCol w="137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1939">
                  <a:extLst>
                    <a:ext uri="{9D8B030D-6E8A-4147-A177-3AD203B41FA5}">
                      <a16:colId xmlns:a16="http://schemas.microsoft.com/office/drawing/2014/main" val="3421815691"/>
                    </a:ext>
                  </a:extLst>
                </a:gridCol>
                <a:gridCol w="335266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BKK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A-CDM REQ Pushback +-5min of TSAT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TSAT/CTOT Inform to GND CTL 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xxG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/J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xxK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/H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SVB 111.4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19L 110.5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01L 109.1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19R 109.5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01R 110.1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12139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 (4’)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13123’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No </a:t>
                      </a:r>
                      <a:r>
                        <a:rPr lang="en-US" sz="800" b="1" u="none" strike="noStrike" cap="none" dirty="0" err="1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Groov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within 10min, Standard TAXI Route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19R Do not Pass E1, D2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19825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KE Bangkok 131.25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-20min, Voice 133.8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48383" y="2534703"/>
            <a:ext cx="1987724" cy="94436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133.1 – VIE 128.3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123.3 - SNY 122.6 – HKG 127.1 – 125.35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129.1(126.7, 127.9)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00796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4389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959424697"/>
              </p:ext>
            </p:extLst>
          </p:nvPr>
        </p:nvGraphicFramePr>
        <p:xfrm>
          <a:off x="0" y="0"/>
          <a:ext cx="2328875" cy="18424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CRZ FUEL Penalty </a:t>
                      </a:r>
                      <a:r>
                        <a:rPr lang="en-US" sz="1000" dirty="0">
                          <a:latin typeface="+mn-lt"/>
                        </a:rPr>
                        <a:t>(Approximation)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ISA+10℃ : 1%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2000ft above/below OPT ALT : 1~2%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0ft below OPT ALT : 3~5%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8~14%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4000ft below OPT ALT : 2%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7%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0.01M above LRC : 1~2% increase in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1931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8C1A594E-6DAE-98B3-E918-E5F0370C4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7045316"/>
              </p:ext>
            </p:extLst>
          </p:nvPr>
        </p:nvGraphicFramePr>
        <p:xfrm>
          <a:off x="1933" y="1830722"/>
          <a:ext cx="2328875" cy="2082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FUEL Consumption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GND : 270LBS/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 FLT : 180LBS/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TAXI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2 ENG, no APU : 1500LBS/</a:t>
                      </a:r>
                      <a:r>
                        <a:rPr lang="en-US" altLang="ko-Kore-KR" sz="900" b="0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hr</a:t>
                      </a: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(400LBS 16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연료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CRZ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시간당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750ft 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상승가능</a:t>
                      </a:r>
                      <a:endParaRPr lang="en-US" altLang="ko-Kore-KR" sz="900" b="0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100LBS (4000LBS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는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가능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Missed App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&amp;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Landing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1200LBS (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과거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EDTO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자료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1500LBS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이상 적용</a:t>
                      </a:r>
                      <a:endParaRPr kumimoji="0" lang="en-US" altLang="ko-KR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77422953"/>
                  </a:ext>
                </a:extLst>
              </a:tr>
            </a:tbl>
          </a:graphicData>
        </a:graphic>
      </p:graphicFrame>
      <p:graphicFrame>
        <p:nvGraphicFramePr>
          <p:cNvPr id="5" name="Google Shape;402;p31">
            <a:extLst>
              <a:ext uri="{FF2B5EF4-FFF2-40B4-BE49-F238E27FC236}">
                <a16:creationId xmlns:a16="http://schemas.microsoft.com/office/drawing/2014/main" id="{CC58B19C-6D0D-9F37-979E-48EB846199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2519374"/>
              </p:ext>
            </p:extLst>
          </p:nvPr>
        </p:nvGraphicFramePr>
        <p:xfrm>
          <a:off x="3864" y="3904509"/>
          <a:ext cx="2328875" cy="130382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FUEL Loading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Center Tank 1000LBS </a:t>
                      </a:r>
                      <a:r>
                        <a:rPr lang="ko-KR" alt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이상시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Main Tank FULL FUEL Overfill : 1000LBS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기준</a:t>
                      </a:r>
                      <a:endParaRPr lang="en-US" altLang="ko-KR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CTR fuel 1000~2000LBS T/O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시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 Press L/T ON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-&gt;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CTR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Fuel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필요시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2000LBS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이상으로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Dispatch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76159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314084060"/>
              </p:ext>
            </p:extLst>
          </p:nvPr>
        </p:nvGraphicFramePr>
        <p:xfrm>
          <a:off x="0" y="0"/>
          <a:ext cx="2328875" cy="502529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TAKEOFF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 START</a:t>
                      </a:r>
                      <a:r>
                        <a:rPr lang="en-US" sz="1000" dirty="0">
                          <a:latin typeface="+mn-lt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C00000"/>
                          </a:solidFill>
                          <a:latin typeface="+mn-lt"/>
                        </a:rPr>
                        <a:t>(APU 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Consideration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Max Taxi Weight Check (MTOW+500lbs)</a:t>
                      </a:r>
                      <a:endParaRPr lang="en-US" sz="700" b="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sz="700" dirty="0">
                          <a:latin typeface="+mn-lt"/>
                        </a:rPr>
                        <a:t>Improved T/O &lt; No Bleed T/O &lt; Improved T/O + No Bleed T/O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OPT TOW Blank -&gt; </a:t>
                      </a: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MTOW Check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ELEC :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ENG GEN, BLEED : APU BLEED </a:t>
                      </a:r>
                      <a:r>
                        <a:rPr lang="en-US" altLang="ko-KR" sz="700" dirty="0">
                          <a:solidFill>
                            <a:srgbClr val="C00000"/>
                          </a:solidFill>
                          <a:latin typeface="+mn-lt"/>
                        </a:rPr>
                        <a:t>(Max 17000ft)</a:t>
                      </a:r>
                      <a:endParaRPr sz="7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Anti-ice </a:t>
                      </a:r>
                      <a:r>
                        <a:rPr lang="ko-KR" altLang="en-US" sz="700" dirty="0">
                          <a:latin typeface="+mn-lt"/>
                        </a:rPr>
                        <a:t>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이륙전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r>
                        <a:rPr lang="en-US" altLang="ko-KR" sz="700" dirty="0">
                          <a:latin typeface="+mn-lt"/>
                        </a:rPr>
                        <a:t>,</a:t>
                      </a:r>
                      <a:r>
                        <a:rPr lang="ko-KR" altLang="en-US" sz="700" dirty="0">
                          <a:latin typeface="+mn-lt"/>
                        </a:rPr>
                        <a:t> 불필요시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시동후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endParaRPr lang="en-US" altLang="ko-KR" sz="7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BLUE(S/W CHG)</a:t>
                      </a:r>
                      <a:r>
                        <a:rPr lang="en-US" sz="800" b="1" dirty="0">
                          <a:latin typeface="+mn-lt"/>
                        </a:rPr>
                        <a:t>,</a:t>
                      </a:r>
                      <a:r>
                        <a:rPr lang="en-US" sz="800" dirty="0">
                          <a:latin typeface="+mn-lt"/>
                        </a:rPr>
                        <a:t>  </a:t>
                      </a:r>
                      <a:r>
                        <a:rPr lang="en-US" sz="800" b="1" dirty="0">
                          <a:latin typeface="+mn-lt"/>
                        </a:rPr>
                        <a:t>BLACK(S/W NO CHG)</a:t>
                      </a:r>
                      <a:r>
                        <a:rPr lang="en-US" sz="800" dirty="0">
                          <a:latin typeface="+mn-lt"/>
                        </a:rPr>
                        <a:t> 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Flow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 BUS, Prob Heats ON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이후 수행</a:t>
                      </a:r>
                      <a:endParaRPr lang="en-US" sz="9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. . .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(ENG BLEED ON &amp; ISOL V/V AUTO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endParaRPr lang="en-US"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 Check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APU Remain – ON (OFF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)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lt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RECALL CHK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AFTER START CHECK LIST</a:t>
                      </a:r>
                      <a:endParaRPr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60215" y="5170979"/>
            <a:ext cx="84350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</a:rPr>
              <a:t>Continue 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98240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1645659515"/>
              </p:ext>
            </p:extLst>
          </p:nvPr>
        </p:nvGraphicFramePr>
        <p:xfrm>
          <a:off x="0" y="2511642"/>
          <a:ext cx="2328875" cy="269617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13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LANDING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50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GA Thrust </a:t>
                      </a:r>
                      <a:r>
                        <a:rPr lang="ko-KR" altLang="en-US" sz="700" dirty="0">
                          <a:latin typeface="+mn-lt"/>
                        </a:rPr>
                        <a:t>추가 필요시 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  <a:latin typeface="+mn-lt"/>
                        </a:rPr>
                        <a:t>10000ft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  <a:r>
                        <a:rPr lang="ko-KR" altLang="en-US" sz="700" dirty="0">
                          <a:latin typeface="+mn-lt"/>
                        </a:rPr>
                        <a:t>이하에서 수행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FL200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or TOD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이하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</a:t>
                      </a:r>
                      <a:endParaRPr sz="12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53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below 10,000 ft: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.. . 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APU bleed air supplies the packs.</a:t>
                      </a:r>
                      <a:endParaRPr sz="11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6452954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22E60F0B-EE5F-9463-9E12-FE63A897D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3942609"/>
              </p:ext>
            </p:extLst>
          </p:nvPr>
        </p:nvGraphicFramePr>
        <p:xfrm>
          <a:off x="-12" y="7167"/>
          <a:ext cx="2328875" cy="2441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AFTERTAKEOFF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ENG Fail</a:t>
                      </a:r>
                      <a:r>
                        <a:rPr lang="ko-KR" altLang="en-US" sz="700" dirty="0">
                          <a:latin typeface="+mn-lt"/>
                        </a:rPr>
                        <a:t>시 </a:t>
                      </a:r>
                      <a:r>
                        <a:rPr lang="en-US" altLang="ko-KR" sz="700" dirty="0">
                          <a:latin typeface="+mn-lt"/>
                        </a:rPr>
                        <a:t>FE+1500ft or Obstacle CLR</a:t>
                      </a:r>
                      <a:r>
                        <a:rPr lang="ko-KR" altLang="en-US" sz="700" dirty="0">
                          <a:latin typeface="+mn-lt"/>
                        </a:rPr>
                        <a:t>후 수행하라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N1, Climb Thrust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Bleed MAX 17000ft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lang="en-US" sz="900" b="1" dirty="0">
                        <a:solidFill>
                          <a:srgbClr val="C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CABIN rate of CLIMB indicator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안정되면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 . . OFF (or ON for EDTO)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EDTO flights, APU EXP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유지하라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17870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>
          <a:extLst>
            <a:ext uri="{FF2B5EF4-FFF2-40B4-BE49-F238E27FC236}">
              <a16:creationId xmlns:a16="http://schemas.microsoft.com/office/drawing/2014/main" id="{8CF74D2A-34DE-9C7E-664B-738C2755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2F52199-2BB4-AE92-B2DF-191959FBE5A8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CBF03987-8E54-340D-0952-0B89831F8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158286"/>
              </p:ext>
            </p:extLst>
          </p:nvPr>
        </p:nvGraphicFramePr>
        <p:xfrm>
          <a:off x="-12" y="7171"/>
          <a:ext cx="2328875" cy="5108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188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All Eng FLAP 15 LANDING 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(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+mn-lt"/>
                        </a:rPr>
                        <a:t>e.g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 KMG)</a:t>
                      </a:r>
                      <a:endParaRPr sz="1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88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5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Consideration</a:t>
                      </a:r>
                      <a:r>
                        <a:rPr lang="en-US" altLang="ko-Kore-KR" sz="10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NO AUTO L/D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Check Limit </a:t>
                      </a:r>
                      <a:r>
                        <a:rPr lang="en-US" altLang="ko-KR" sz="900" b="1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Wt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BY OPT LDG Dispatch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(1 ENG 2.1%, 2 ENG 3.2% FAR)</a:t>
                      </a:r>
                      <a:endParaRPr lang="en-US" altLang="ko-KR" sz="900" b="1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ore-KR" sz="9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“OPT With ICE” means ENG and/or Wing Anti-ice</a:t>
                      </a:r>
                      <a:endParaRPr lang="en-US" altLang="ko-Kore-KR" sz="900" b="1" i="0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(Flap 40 &lt; 30 &lt; Flap 30 No Bleed L/D &lt; Flap 15 L/D)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Increase EST PWR 5% (High TAS, GS)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L/D Pitch Increase 1-1.5 degree (Tail CLR)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500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Operating Instructions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Select Ground Proximity Flap Inhibit switch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INHIBIT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flaps 15 landing.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Note: GPWS INOP L/T - ON if  A/S exceeds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          250 kts for 60 secs.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VREF ICE = VREF 15 + 10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if    ENG Anti-ice ON L/D or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Wing Anti-ice ON one time in FLT 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Icing Condition FLT &amp; L/D below 10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 C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Do not carry excess airspeed on final.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Consider not using autothrottles.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15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Go-Around with both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engines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Go-Around with one engine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caution during flare to avoid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tail strike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Apply reverse thrust expeditiously upon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touchdown.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of maximum reverse thrust is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recommended.</a:t>
                      </a:r>
                      <a:endParaRPr lang="en-US" sz="7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95064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50407446"/>
              </p:ext>
            </p:extLst>
          </p:nvPr>
        </p:nvGraphicFramePr>
        <p:xfrm>
          <a:off x="0" y="2264316"/>
          <a:ext cx="2328875" cy="296027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AIR CART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APU </a:t>
                      </a:r>
                      <a:r>
                        <a:rPr lang="ko-KR" altLang="en-US" sz="700" dirty="0">
                          <a:latin typeface="+mn-lt"/>
                        </a:rPr>
                        <a:t>부작동시 </a:t>
                      </a:r>
                      <a:r>
                        <a:rPr lang="en-US" altLang="ko-KR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로 </a:t>
                      </a:r>
                      <a:r>
                        <a:rPr lang="en-US" altLang="ko-KR" sz="700" dirty="0">
                          <a:latin typeface="+mn-lt"/>
                        </a:rPr>
                        <a:t>PACK</a:t>
                      </a:r>
                      <a:r>
                        <a:rPr lang="ko-KR" altLang="en-US" sz="700" dirty="0">
                          <a:latin typeface="+mn-lt"/>
                        </a:rPr>
                        <a:t>과 시동을 위해 사용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는 외부 </a:t>
                      </a:r>
                      <a:r>
                        <a:rPr lang="en-US" altLang="ko-KR" sz="700" dirty="0">
                          <a:latin typeface="+mn-lt"/>
                        </a:rPr>
                        <a:t>BLEED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AIR</a:t>
                      </a:r>
                      <a:r>
                        <a:rPr lang="ko-KR" altLang="en-US" sz="700" dirty="0">
                          <a:latin typeface="+mn-lt"/>
                        </a:rPr>
                        <a:t>의 역할을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RECIRC FAN switches . . . . . . . . . .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. 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AUTO or HIGH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Cabin temperature selectors . . . . .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 for desired temperature.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pressure . . . . . . . . . 20 psi minimum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20 psi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이하고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사용가능시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.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external air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pack.</a:t>
                      </a:r>
                      <a:endParaRPr kumimoji="0" lang="en-US" altLang="ko-Kore-K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24847737"/>
                  </a:ext>
                </a:extLst>
              </a:tr>
            </a:tbl>
          </a:graphicData>
        </a:graphic>
      </p:graphicFrame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665009"/>
              </p:ext>
            </p:extLst>
          </p:nvPr>
        </p:nvGraphicFramePr>
        <p:xfrm>
          <a:off x="-12" y="9491"/>
          <a:ext cx="2328875" cy="22791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CONDITIONED AIR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dirty="0">
                          <a:latin typeface="+mn-lt"/>
                        </a:rPr>
                        <a:t>공항 요구로 </a:t>
                      </a:r>
                      <a:r>
                        <a:rPr lang="en-US" altLang="ko-KR" sz="700" dirty="0">
                          <a:latin typeface="+mn-lt"/>
                        </a:rPr>
                        <a:t>APU OFF</a:t>
                      </a:r>
                      <a:r>
                        <a:rPr lang="ko-KR" altLang="en-US" sz="700" dirty="0">
                          <a:latin typeface="+mn-lt"/>
                        </a:rPr>
                        <a:t>후 기내 온도 조절을 위한 방법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와는 다르며 단순 에어컨 기능만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GPU Connect – GPU ONBUS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APU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OFF</a:t>
                      </a: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(no POM)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시동후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분뒤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을 위해서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Ground conditioned air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연결 전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의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damage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를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방지하기 위함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Start – APU ONBUS – GPU, GND Air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제거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kumimoji="0" lang="en-US" altLang="ko-Kore-KR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.As needed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2min,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 </a:t>
                      </a:r>
                      <a:r>
                        <a:rPr lang="en-US" altLang="ko-Kore-KR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(no POM)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040379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06773" y="5170979"/>
            <a:ext cx="9941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ENG START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C530451-8D9A-9F43-6651-727AC3D815C1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57112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248538797"/>
              </p:ext>
            </p:extLst>
          </p:nvPr>
        </p:nvGraphicFramePr>
        <p:xfrm>
          <a:off x="0" y="2391489"/>
          <a:ext cx="2328875" cy="284273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ENG CROSSBLEED START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#1 ENGBLEED </a:t>
                      </a:r>
                      <a:r>
                        <a:rPr lang="ko-KR" altLang="en-US" sz="800" dirty="0">
                          <a:latin typeface="+mn-lt"/>
                        </a:rPr>
                        <a:t>로 </a:t>
                      </a:r>
                      <a:r>
                        <a:rPr lang="en-US" altLang="ko-KR" sz="800" dirty="0">
                          <a:latin typeface="+mn-lt"/>
                        </a:rPr>
                        <a:t>#2</a:t>
                      </a:r>
                      <a:r>
                        <a:rPr lang="ko-KR" altLang="en-US" sz="800" dirty="0">
                          <a:latin typeface="+mn-lt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</a:rPr>
                        <a:t>ENG START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PushBack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완료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Area CLR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. . . . . . . . . . . . . . . . . . .  SET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. . . . . . . . .ON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Bleed air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들어오는지 확인하라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#1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thrust lever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Advance thrust lever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 30PSI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증가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IDLE)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Starting ENG #2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#1 ENG IDLE – After START Flow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CHKLIST</a:t>
                      </a:r>
                      <a:endParaRPr sz="1000" b="1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0291280"/>
              </p:ext>
            </p:extLst>
          </p:nvPr>
        </p:nvGraphicFramePr>
        <p:xfrm>
          <a:off x="-12" y="9491"/>
          <a:ext cx="2328875" cy="23297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STARTING with GND AIR SOURCE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#1 ENG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먼저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우측에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AIR CART, GPU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연결됨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“Req Engine Start up Present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  <a:latin typeface="+mn-lt"/>
                        </a:rPr>
                        <a:t>Positon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~~~”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must be started first.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cleared to start: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Start CHKLIST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start . . . . . . . . . .Accomplish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normal start procedures.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 – OFF…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No. 1 switch . . . . . . . . . . . . 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Disconnect Air Cart &amp; GPU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“Request Pushback” (if needed)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#2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시동전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Air Cart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제거 반드시 확인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!!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616780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2732521415"/>
              </p:ext>
            </p:extLst>
          </p:nvPr>
        </p:nvGraphicFramePr>
        <p:xfrm>
          <a:off x="7" y="1099855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173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200-800ft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700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800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50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90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>
            <p:extLst>
              <p:ext uri="{D42A27DB-BD31-4B8C-83A1-F6EECF244321}">
                <p14:modId xmlns:p14="http://schemas.microsoft.com/office/powerpoint/2010/main" val="2425467214"/>
              </p:ext>
            </p:extLst>
          </p:nvPr>
        </p:nvGraphicFramePr>
        <p:xfrm>
          <a:off x="7" y="0"/>
          <a:ext cx="2328850" cy="10668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</a:rPr>
                        <a:t>COLD TEMP CORRECTION General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도 간격은 보수적으로 </a:t>
                      </a:r>
                      <a:r>
                        <a:rPr lang="ko-KR" altLang="en-US" sz="700" b="0" dirty="0" err="1">
                          <a:solidFill>
                            <a:schemeClr val="bg1"/>
                          </a:solidFill>
                        </a:rPr>
                        <a:t>보간법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 적용됨</a:t>
                      </a:r>
                      <a:endParaRPr sz="700" b="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B050"/>
                          </a:solidFill>
                        </a:rPr>
                        <a:t>Min</a:t>
                      </a:r>
                      <a:r>
                        <a:rPr lang="en-US" sz="700" dirty="0"/>
                        <a:t> </a:t>
                      </a:r>
                      <a:r>
                        <a:rPr lang="ko-KR" altLang="en-US" sz="700" dirty="0"/>
                        <a:t>제외한 모든 고도 수정은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인가 필요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Mandatory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Missed App </a:t>
                      </a:r>
                      <a:r>
                        <a:rPr lang="en-US" sz="700" b="1" dirty="0" err="1">
                          <a:solidFill>
                            <a:srgbClr val="C00000"/>
                          </a:solidFill>
                        </a:rPr>
                        <a:t>고도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사전 인가 없이 금지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반드시 고도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–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FE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후의 고도를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Ex) FE 200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ft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공항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: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5000ft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는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4800ft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만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226436469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5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GMP, CJU, CJJ next page</a:t>
            </a:r>
            <a:endParaRPr sz="1050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77;p28">
            <a:extLst>
              <a:ext uri="{FF2B5EF4-FFF2-40B4-BE49-F238E27FC236}">
                <a16:creationId xmlns:a16="http://schemas.microsoft.com/office/drawing/2014/main" id="{87F6FFF9-91B5-765E-7C49-0198867FA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32359"/>
              </p:ext>
            </p:extLst>
          </p:nvPr>
        </p:nvGraphicFramePr>
        <p:xfrm>
          <a:off x="2356" y="2496279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74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900-5000ft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900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66801E4-3ED8-B281-2C8A-63070C97C57C}"/>
              </a:ext>
            </a:extLst>
          </p:cNvPr>
          <p:cNvSpPr/>
          <p:nvPr/>
        </p:nvSpPr>
        <p:spPr>
          <a:xfrm>
            <a:off x="66127" y="45356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8B52D6-2250-6FEA-FA01-2747CB81C281}"/>
              </a:ext>
            </a:extLst>
          </p:cNvPr>
          <p:cNvSpPr/>
          <p:nvPr/>
        </p:nvSpPr>
        <p:spPr>
          <a:xfrm>
            <a:off x="73208" y="41952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527F55-1A9F-C247-A6B1-9D9CFFC42267}"/>
              </a:ext>
            </a:extLst>
          </p:cNvPr>
          <p:cNvSpPr txBox="1"/>
          <p:nvPr/>
        </p:nvSpPr>
        <p:spPr>
          <a:xfrm>
            <a:off x="-158860" y="388140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007039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1810471796"/>
              </p:ext>
            </p:extLst>
          </p:nvPr>
        </p:nvGraphicFramePr>
        <p:xfrm>
          <a:off x="7" y="550180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32L (261’) / 32R (262’) / 14R (254’)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8000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2800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2300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5600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5710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5820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2530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R14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1540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78" name="Google Shape;378;p28"/>
          <p:cNvGraphicFramePr/>
          <p:nvPr/>
        </p:nvGraphicFramePr>
        <p:xfrm>
          <a:off x="7" y="2364823"/>
          <a:ext cx="2328800" cy="9696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07 (307’) / 25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8000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9" name="Google Shape;379;p28"/>
          <p:cNvGraphicFramePr/>
          <p:nvPr/>
        </p:nvGraphicFramePr>
        <p:xfrm>
          <a:off x="0" y="3396272"/>
          <a:ext cx="2328800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CJJ 06L (387’) / 24R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4400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4200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2640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2700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/>
        </p:nvGraphicFramePr>
        <p:xfrm>
          <a:off x="7" y="0"/>
          <a:ext cx="2328850" cy="5486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COLD TEMP CORRECTION 1/2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Min </a:t>
                      </a:r>
                      <a:r>
                        <a:rPr lang="en-US" sz="700" dirty="0" err="1"/>
                        <a:t>은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반드시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수정</a:t>
                      </a:r>
                      <a:r>
                        <a:rPr lang="en-US" sz="700" dirty="0"/>
                        <a:t> (</a:t>
                      </a:r>
                      <a:r>
                        <a:rPr lang="en-US" sz="700" dirty="0" err="1"/>
                        <a:t>중간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고도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CORRECTION은</a:t>
                      </a:r>
                      <a:r>
                        <a:rPr lang="en-US" sz="700" dirty="0"/>
                        <a:t> PIC </a:t>
                      </a:r>
                      <a:r>
                        <a:rPr lang="en-US" sz="700" dirty="0" err="1"/>
                        <a:t>결정</a:t>
                      </a:r>
                      <a:r>
                        <a:rPr lang="en-US" sz="700" dirty="0"/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Missed App </a:t>
                      </a:r>
                      <a:r>
                        <a:rPr lang="en-US" sz="700" dirty="0" err="1"/>
                        <a:t>고도는</a:t>
                      </a:r>
                      <a:r>
                        <a:rPr lang="en-US" sz="700" dirty="0"/>
                        <a:t> ATC </a:t>
                      </a:r>
                      <a:r>
                        <a:rPr lang="en-US" sz="700" dirty="0" err="1"/>
                        <a:t>협조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필요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ICN, KWJ, PUS next page</a:t>
            </a:r>
            <a:endParaRPr sz="105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Google Shape;387;p29"/>
          <p:cNvGraphicFramePr/>
          <p:nvPr/>
        </p:nvGraphicFramePr>
        <p:xfrm>
          <a:off x="7" y="255716"/>
          <a:ext cx="23288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ALL RWY (243’)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33/34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15/16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3000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8" name="Google Shape;388;p29"/>
          <p:cNvGraphicFramePr/>
          <p:nvPr/>
        </p:nvGraphicFramePr>
        <p:xfrm>
          <a:off x="7" y="2016116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1475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KWJ 04R(266’),04L(610’) / 22L(610’)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04L/R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7500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22L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4100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2420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9" name="Google Shape;389;p29"/>
          <p:cNvGraphicFramePr/>
          <p:nvPr/>
        </p:nvGraphicFramePr>
        <p:xfrm>
          <a:off x="0" y="3780351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65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PUS 36L(233’),36R(228’) / 18L/R (see below)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3620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18L/R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91" name="Google Shape;391;p29"/>
          <p:cNvGraphicFramePr/>
          <p:nvPr/>
        </p:nvGraphicFramePr>
        <p:xfrm>
          <a:off x="7" y="0"/>
          <a:ext cx="2328850" cy="2438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COLD TEMP CORRECTION 2/2</a:t>
                      </a:r>
                      <a:endParaRPr sz="10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9FA331-F385-DAB6-152D-D16ACE7E220C}"/>
              </a:ext>
            </a:extLst>
          </p:cNvPr>
          <p:cNvSpPr/>
          <p:nvPr/>
        </p:nvSpPr>
        <p:spPr>
          <a:xfrm>
            <a:off x="1363204" y="263329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834570802"/>
              </p:ext>
            </p:extLst>
          </p:nvPr>
        </p:nvGraphicFramePr>
        <p:xfrm>
          <a:off x="0" y="-1"/>
          <a:ext cx="2328875" cy="5222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10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1/2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80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(GND) / TAT (TAT) is 10°C (50°F) or below :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visible moisture (clouds, fog with VIS 1SM (1600 m) or rain, snow, sleet, ice crystals...)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ice, snow, slush and standing water is present on the ramps, taxiways, or runways.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9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PREFLIGHT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PROBE HEAT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NG : OAT -35</a:t>
                      </a:r>
                      <a:r>
                        <a:rPr lang="en-US" altLang="ko-Kore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변경전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IDLE, Min Oil Press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수분간 유지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Oil Temp Nor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Oil Press High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</a:t>
                      </a:r>
                      <a:r>
                        <a:rPr lang="en-US" altLang="ko-KR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lang="en-US" altLang="ko-KR" sz="800" b="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49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ISO V/V  AUTO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42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Type II or IV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안할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거면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사용하라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94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1 and 2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IDG 1분이내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늦어도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5분이내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안정된다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할거면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하고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한다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endParaRPr sz="80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Full Travel UP – 40 – UP 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(Deicing</a:t>
                      </a:r>
                      <a:r>
                        <a:rPr lang="ko-KR" alt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하고 실시</a:t>
                      </a:r>
                      <a:r>
                        <a:rPr lang="en-US" altLang="ko-KR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UP Taxi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840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OUT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3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RUN UP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RUNUP : Behind CLR, Min 70% 30초, 30분간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격   </a:t>
                      </a:r>
                      <a:endParaRPr lang="en-US" altLang="ko-KR" sz="80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50%-IDLE, 60분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 (FZRA, FZDZ, FZFG, +SN) :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Min 70%, 1초, 10분간격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없음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TWY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상태 고려 허용되는 만큼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lang="en-US" sz="7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8" name="Google Shape;408;p32"/>
          <p:cNvGraphicFramePr/>
          <p:nvPr>
            <p:extLst>
              <p:ext uri="{D42A27DB-BD31-4B8C-83A1-F6EECF244321}">
                <p14:modId xmlns:p14="http://schemas.microsoft.com/office/powerpoint/2010/main" val="2744516737"/>
              </p:ext>
            </p:extLst>
          </p:nvPr>
        </p:nvGraphicFramePr>
        <p:xfrm>
          <a:off x="0" y="0"/>
          <a:ext cx="2328875" cy="522213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52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2/2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T/O </a:t>
                      </a:r>
                      <a:r>
                        <a:rPr lang="en-US" sz="900" b="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(Takeoff Signal - FLAPS 5)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-8 : Oil Temp 31°C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이상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확인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Standing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TAKEOFF</a:t>
                      </a:r>
                      <a:endParaRPr sz="8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with EAI  --------------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70%,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50%5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endParaRPr sz="8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RUNUP(OAT 3°C이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 NG 70%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: 50% 5초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SAT -4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1°C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부터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 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OFF, ISO V/V  AUTO, 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18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 REMOVAL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one ENG at a time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Moderate Severe Icing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가능하면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회피하라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Vibration 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발생 또는 예방을 위한 절차</a:t>
                      </a:r>
                      <a:endParaRPr lang="en-US" altLang="ko-KR" sz="8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(both)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FLT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engaged)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Disengage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Increase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(min 80%, 1초)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&amp; Adjust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15초이내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4.0이하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안정화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15분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반</a:t>
                      </a:r>
                      <a:r>
                        <a:rPr lang="ko-KR" alt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복가능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needed)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Engage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4.0보다 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크면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Engine High Vibration Check List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056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보이면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Deicer로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Anti-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icer도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FL350이상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-&gt; Emer Descend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지역</a:t>
                      </a: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Holding – Flap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APPROACH L/D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15 </a:t>
                      </a:r>
                      <a:r>
                        <a:rPr lang="ko-KR" alt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조건일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경우만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VREF ICE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L/D, SHUTDOWN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RUNUP, ICE SHEDDING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절차적용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15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까지만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ANTI-ICE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ShutDown전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Stabilizer trim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 5 units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19ACE0E-D4B8-D113-7C2B-F51F440D8340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4" name="Google Shape;414;p33"/>
          <p:cNvGraphicFramePr/>
          <p:nvPr>
            <p:extLst>
              <p:ext uri="{D42A27DB-BD31-4B8C-83A1-F6EECF244321}">
                <p14:modId xmlns:p14="http://schemas.microsoft.com/office/powerpoint/2010/main" val="4221559759"/>
              </p:ext>
            </p:extLst>
          </p:nvPr>
        </p:nvGraphicFramePr>
        <p:xfrm>
          <a:off x="0" y="7749"/>
          <a:ext cx="2326511" cy="523869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6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+mn-lt"/>
                        </a:rPr>
                        <a:t>ENG ON Deicing in </a:t>
                      </a:r>
                      <a:r>
                        <a:rPr lang="en-US" sz="1100" dirty="0">
                          <a:solidFill>
                            <a:srgbClr val="00B050"/>
                          </a:solidFill>
                          <a:latin typeface="+mn-lt"/>
                        </a:rPr>
                        <a:t>ICN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TOBT- 40min CTC KE ICN 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사전신청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 결과확인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Deicing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”Deicing Required ENG On Deicing”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Apron </a:t>
                      </a:r>
                      <a:r>
                        <a:rPr lang="en-US" sz="7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 Pushback Deicing Zone xxx”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SQ2000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Pad Control 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Arrange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Deicing Pad No.</a:t>
                      </a: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Man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Manage Deicing Process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2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 SET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Report Parking Brake SET - &gt; Ice Man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B737-8,900ER BROADBAND s/w ---- OFF</a:t>
                      </a:r>
                      <a:endParaRPr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------------------------------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UP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 LEVERS ---------------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STABILIZER TRIM ---------------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----- OFF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OFF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Report Ready for Deicing - &gt; Ice Man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 DE/ANTI-ICING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REQ DCL(CTC DEL)</a:t>
                      </a:r>
                      <a:endParaRPr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항공기이동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및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Configuration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금지</a:t>
                      </a:r>
                      <a:endParaRPr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DE/ANTI-ICING IS COMPLETED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(TIME CHECK 1분)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용액과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마지막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뿌린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시간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받고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적는다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Holdover Time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결정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!!!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B737-8,900ER BROADBAND s/w ------ ON 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6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TIME CHECK 1분후 </a:t>
                      </a:r>
                      <a:endParaRPr sz="8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 As needed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 ON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LEVER 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 Set for takeoff or UP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ice, snow, slush or standing water,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강수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지속시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</a:t>
                      </a:r>
                      <a:r>
                        <a:rPr 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full travel check 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(FLAP UP TAXI </a:t>
                      </a:r>
                      <a:r>
                        <a:rPr lang="ko-KR" alt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800" b="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</a:t>
                      </a:r>
                      <a:r>
                        <a:rPr lang="en-US" sz="900" b="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Cheklist</a:t>
                      </a:r>
                      <a:endParaRPr sz="800" b="0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6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TAXI, BEFORE T/O, T/O Procedure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DECISION TREE next page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71598603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54F4649-BD0D-E760-E72F-6EB5CB4F04CE}"/>
              </a:ext>
            </a:extLst>
          </p:cNvPr>
          <p:cNvSpPr/>
          <p:nvPr/>
        </p:nvSpPr>
        <p:spPr>
          <a:xfrm>
            <a:off x="1608188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7F3A02-AA51-DBC3-F6F5-0AAFB47EC18F}"/>
              </a:ext>
            </a:extLst>
          </p:cNvPr>
          <p:cNvSpPr/>
          <p:nvPr/>
        </p:nvSpPr>
        <p:spPr>
          <a:xfrm>
            <a:off x="54704" y="4610094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21" name="Google Shape;421;p3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22" name="Google Shape;42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4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997E6E1-18FF-431A-35CB-6F548E671CDF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REQ DCL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Deicing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“Deicing Required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 err="1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”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ko-Kore-KR" sz="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C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Helvetica Neue"/>
                                  <a:sym typeface="Helvetica Neue"/>
                                </a:rPr>
                                <m:t>±</m:t>
                              </m:r>
                            </m:oMath>
                          </a14:m>
                          <a:r>
                            <a:rPr kumimoji="0" lang="en-US" altLang="ko-Kore-KR" sz="7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5min TOBT</a:t>
                          </a:r>
                          <a:endParaRPr lang="en-US" sz="800" dirty="0">
                            <a:solidFill>
                              <a:srgbClr val="C0000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Apron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”Req Pushback Deicing </a:t>
                          </a:r>
                          <a:r>
                            <a:rPr lang="en-US" sz="80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” 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36000" marR="36000" marT="36000" marB="36000">
                        <a:blipFill>
                          <a:blip r:embed="rId3"/>
                          <a:stretch>
                            <a:fillRect t="-80556" r="-1081" b="-105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03DDE63-4142-5292-5212-CBAA9E926A97}"/>
              </a:ext>
            </a:extLst>
          </p:cNvPr>
          <p:cNvSpPr/>
          <p:nvPr/>
        </p:nvSpPr>
        <p:spPr>
          <a:xfrm>
            <a:off x="1637957" y="246168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BAAC3CB-C309-1E4C-1777-F739C1CDA2CB}"/>
              </a:ext>
            </a:extLst>
          </p:cNvPr>
          <p:cNvSpPr/>
          <p:nvPr/>
        </p:nvSpPr>
        <p:spPr>
          <a:xfrm>
            <a:off x="42407" y="5279729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37" name="Google Shape;437;p3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38" name="Google Shape;43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E2B9E81-8C15-BCB6-ACE9-2C1298DF2B3C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3662325515"/>
              </p:ext>
            </p:extLst>
          </p:nvPr>
        </p:nvGraphicFramePr>
        <p:xfrm>
          <a:off x="0" y="0"/>
          <a:ext cx="2328850" cy="966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VOR 18L/R </a:t>
                      </a:r>
                      <a:endParaRPr lang="en-US" sz="11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VOR18L/R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GAYHA</a:t>
                      </a:r>
                      <a:r>
                        <a:rPr lang="ko-KR" altLang="en-US" sz="9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284(Missed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5" name="그림 4" descr="텍스트, 야외, 장치, 계량기이(가) 표시된 사진&#10;&#10;자동 생성된 설명">
            <a:extLst>
              <a:ext uri="{FF2B5EF4-FFF2-40B4-BE49-F238E27FC236}">
                <a16:creationId xmlns:a16="http://schemas.microsoft.com/office/drawing/2014/main" id="{19EEF72C-78E5-61F3-2B86-EF01369AF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1" y="248016"/>
            <a:ext cx="1080097" cy="573801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3902082"/>
              </p:ext>
            </p:extLst>
          </p:nvPr>
        </p:nvGraphicFramePr>
        <p:xfrm>
          <a:off x="-4122" y="4139510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4BE8B393-F758-B69E-C71F-41B24ABD3B39}"/>
              </a:ext>
            </a:extLst>
          </p:cNvPr>
          <p:cNvGrpSpPr/>
          <p:nvPr/>
        </p:nvGrpSpPr>
        <p:grpSpPr>
          <a:xfrm>
            <a:off x="-48346" y="955136"/>
            <a:ext cx="2394309" cy="3138086"/>
            <a:chOff x="-48346" y="990763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21136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548692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37" y="2745299"/>
              <a:ext cx="354533" cy="488137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639281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14257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196760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14708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19339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99676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99112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578344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551319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374350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990763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165881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1348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195609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87128" y="2599564"/>
              <a:ext cx="579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(MA046)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/>
            <p:nvPr/>
          </p:nvCxnSpPr>
          <p:spPr>
            <a:xfrm>
              <a:off x="191911" y="3164206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구부러진 연결선[U] 131">
              <a:extLst>
                <a:ext uri="{FF2B5EF4-FFF2-40B4-BE49-F238E27FC236}">
                  <a16:creationId xmlns:a16="http://schemas.microsoft.com/office/drawing/2014/main" id="{414C5854-DCF3-751F-4CA3-DD8A308A66C6}"/>
                </a:ext>
              </a:extLst>
            </p:cNvPr>
            <p:cNvCxnSpPr/>
            <p:nvPr/>
          </p:nvCxnSpPr>
          <p:spPr>
            <a:xfrm>
              <a:off x="152401" y="3226298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0" y="3298447"/>
              <a:ext cx="302153" cy="381645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54533" y="339563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21224"/>
              <a:ext cx="836148" cy="465790"/>
            </a:xfrm>
            <a:prstGeom prst="wedgeRectCallout">
              <a:avLst>
                <a:gd name="adj1" fmla="val -118823"/>
                <a:gd name="adj2" fmla="val -330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L/D CHK Complete</a:t>
              </a:r>
            </a:p>
            <a:p>
              <a:r>
                <a:rPr kumimoji="1" lang="en-US" altLang="ko-Kore-KR" sz="800" dirty="0"/>
                <a:t>NEXT 1700ft</a:t>
              </a:r>
              <a:endParaRPr kumimoji="1" lang="ko-Kore-KR" altLang="en-US" sz="8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28182" y="3553474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FAF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(FF046)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907947" y="3061301"/>
              <a:ext cx="629556" cy="465790"/>
            </a:xfrm>
            <a:prstGeom prst="wedgeRectCallout">
              <a:avLst>
                <a:gd name="adj1" fmla="val -109055"/>
                <a:gd name="adj2" fmla="val -6660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1700ft L/O 6000ft SET</a:t>
              </a:r>
            </a:p>
            <a:p>
              <a:r>
                <a:rPr kumimoji="1" lang="en-US" altLang="ko-Kore-KR" sz="800" dirty="0"/>
                <a:t>CRS 284 </a:t>
              </a:r>
              <a:endParaRPr kumimoji="1" lang="ko-Kore-KR" altLang="en-US" sz="800" dirty="0"/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258171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07131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488263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477339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97F6DB83-E6BE-C7AD-44FF-AB2D0BD878C7}"/>
              </a:ext>
            </a:extLst>
          </p:cNvPr>
          <p:cNvSpPr txBox="1"/>
          <p:nvPr/>
        </p:nvSpPr>
        <p:spPr>
          <a:xfrm>
            <a:off x="1427395" y="5172015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 36 Circling</a:t>
            </a:r>
          </a:p>
          <a:p>
            <a:r>
              <a:rPr kumimoji="1" lang="en-US" altLang="ko-Kore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Page</a:t>
            </a:r>
            <a:endParaRPr kumimoji="1" lang="ko-Kore-KR" altLang="en-US" sz="10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E31F1-F9F0-C78C-4D15-80D409335936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5139595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2375068743"/>
              </p:ext>
            </p:extLst>
          </p:nvPr>
        </p:nvGraphicFramePr>
        <p:xfrm>
          <a:off x="0" y="0"/>
          <a:ext cx="2328850" cy="1104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LOC 36L/R Circling 18L/R</a:t>
                      </a: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36L18L/R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GEOJE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CI36L(CF36R) 3500 FI36L(FF36R) 2100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884486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310(Missed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5021DF9B-6AB4-7517-602B-0CD3A9E0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4" y="243355"/>
            <a:ext cx="1066737" cy="566704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/>
        </p:nvGraphicFramePr>
        <p:xfrm>
          <a:off x="-4122" y="4192952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4E3C12-23F7-925D-4989-9A1D08C75E1F}"/>
              </a:ext>
            </a:extLst>
          </p:cNvPr>
          <p:cNvGrpSpPr/>
          <p:nvPr/>
        </p:nvGrpSpPr>
        <p:grpSpPr>
          <a:xfrm>
            <a:off x="-48346" y="1067956"/>
            <a:ext cx="2394309" cy="3138086"/>
            <a:chOff x="-48346" y="1067956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98329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625885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5970" y="2822492"/>
              <a:ext cx="1038585" cy="862373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71647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91450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204479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91901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9653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107395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106831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655537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628512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451543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1067956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243074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9067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203328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103959" y="2676757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>
              <a:cxnSpLocks/>
            </p:cNvCxnSpPr>
            <p:nvPr/>
          </p:nvCxnSpPr>
          <p:spPr>
            <a:xfrm>
              <a:off x="1610387" y="3841126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83" y="3786668"/>
              <a:ext cx="4117" cy="397222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1679774" y="360759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53893"/>
              <a:ext cx="836148" cy="510314"/>
            </a:xfrm>
            <a:prstGeom prst="wedgeRectCallout">
              <a:avLst>
                <a:gd name="adj1" fmla="val 84272"/>
                <a:gd name="adj2" fmla="val 1671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FAF L/G DN FLAP15</a:t>
              </a:r>
            </a:p>
            <a:p>
              <a:r>
                <a:rPr kumimoji="1" lang="en-US" altLang="ko-Kore-KR" sz="800" dirty="0"/>
                <a:t>1700ft L/O</a:t>
              </a:r>
            </a:p>
            <a:p>
              <a:r>
                <a:rPr kumimoji="1" lang="en-US" altLang="ko-Kore-KR" sz="800" dirty="0"/>
                <a:t>6000ft SET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1711414" y="3383086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KMH18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25794" y="3080133"/>
              <a:ext cx="1032571" cy="531481"/>
            </a:xfrm>
            <a:prstGeom prst="wedgeRectCallout">
              <a:avLst>
                <a:gd name="adj1" fmla="val 94487"/>
                <a:gd name="adj2" fmla="val 3759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VOR SET CRS 310</a:t>
              </a:r>
            </a:p>
            <a:p>
              <a:r>
                <a:rPr kumimoji="1" lang="en-US" altLang="ko-Kore-KR" sz="800" dirty="0"/>
                <a:t>L/D FLAP</a:t>
              </a:r>
            </a:p>
            <a:p>
              <a:r>
                <a:rPr kumimoji="1" lang="en-US" altLang="ko-Kore-KR" sz="800" dirty="0"/>
                <a:t>Before L/D CHK Complete</a:t>
              </a:r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335364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84324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565456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554532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  <p:cxnSp>
          <p:nvCxnSpPr>
            <p:cNvPr id="13" name="구부러진 연결선[U] 12">
              <a:extLst>
                <a:ext uri="{FF2B5EF4-FFF2-40B4-BE49-F238E27FC236}">
                  <a16:creationId xmlns:a16="http://schemas.microsoft.com/office/drawing/2014/main" id="{3FA0277A-46F3-9B10-43A1-F9FC3A7CADA4}"/>
                </a:ext>
              </a:extLst>
            </p:cNvPr>
            <p:cNvCxnSpPr>
              <a:cxnSpLocks/>
            </p:cNvCxnSpPr>
            <p:nvPr/>
          </p:nvCxnSpPr>
          <p:spPr>
            <a:xfrm>
              <a:off x="1603294" y="3938785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D0B5CA-87B6-4833-6589-576CFFE0A29B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9871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26"/>
          <p:cNvGraphicFramePr/>
          <p:nvPr/>
        </p:nvGraphicFramePr>
        <p:xfrm>
          <a:off x="388143" y="11369"/>
          <a:ext cx="1552575" cy="51932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1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GS KTS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KM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MILES</a:t>
                      </a:r>
                      <a:endParaRPr sz="800"/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350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1300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B02B414-F437-EC29-A025-C000B0E23D64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42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45288</TotalTime>
  <Words>31779</Words>
  <Application>Microsoft Macintosh PowerPoint</Application>
  <PresentationFormat>사용자 지정</PresentationFormat>
  <Paragraphs>8556</Paragraphs>
  <Slides>154</Slides>
  <Notes>152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154</vt:i4>
      </vt:variant>
    </vt:vector>
  </HeadingPairs>
  <TitlesOfParts>
    <vt:vector size="163" baseType="lpstr">
      <vt:lpstr>Calibri</vt:lpstr>
      <vt:lpstr>Cambria Math</vt:lpstr>
      <vt:lpstr>Britannic Bold</vt:lpstr>
      <vt:lpstr>Wingdings</vt:lpstr>
      <vt:lpstr>Gulim</vt:lpstr>
      <vt:lpstr>Arial</vt:lpstr>
      <vt:lpstr>Helvetica Neue</vt:lpstr>
      <vt:lpstr>Lato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 deukhyeon</dc:creator>
  <cp:lastModifiedBy>deukhyeon cho</cp:lastModifiedBy>
  <cp:revision>358</cp:revision>
  <dcterms:created xsi:type="dcterms:W3CDTF">2022-05-17T08:00:10Z</dcterms:created>
  <dcterms:modified xsi:type="dcterms:W3CDTF">2024-11-27T19:36:48Z</dcterms:modified>
</cp:coreProperties>
</file>