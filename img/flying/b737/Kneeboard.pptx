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9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419" r:id="rId119"/>
    <p:sldId id="421" r:id="rId120"/>
    <p:sldId id="420" r:id="rId121"/>
    <p:sldId id="326" r:id="rId122"/>
    <p:sldId id="327" r:id="rId123"/>
    <p:sldId id="331" r:id="rId124"/>
    <p:sldId id="332" r:id="rId125"/>
    <p:sldId id="359" r:id="rId126"/>
    <p:sldId id="360" r:id="rId127"/>
    <p:sldId id="361" r:id="rId128"/>
    <p:sldId id="362" r:id="rId129"/>
    <p:sldId id="397" r:id="rId130"/>
    <p:sldId id="398" r:id="rId131"/>
    <p:sldId id="374" r:id="rId132"/>
    <p:sldId id="375" r:id="rId133"/>
    <p:sldId id="338" r:id="rId134"/>
    <p:sldId id="376" r:id="rId135"/>
    <p:sldId id="339" r:id="rId136"/>
    <p:sldId id="380" r:id="rId137"/>
    <p:sldId id="381" r:id="rId138"/>
    <p:sldId id="389" r:id="rId139"/>
    <p:sldId id="390" r:id="rId140"/>
    <p:sldId id="385" r:id="rId141"/>
    <p:sldId id="363" r:id="rId142"/>
    <p:sldId id="364" r:id="rId143"/>
    <p:sldId id="418" r:id="rId144"/>
    <p:sldId id="365" r:id="rId145"/>
    <p:sldId id="366" r:id="rId146"/>
    <p:sldId id="384" r:id="rId147"/>
    <p:sldId id="283" r:id="rId148"/>
    <p:sldId id="284" r:id="rId149"/>
    <p:sldId id="286" r:id="rId150"/>
    <p:sldId id="287" r:id="rId151"/>
    <p:sldId id="288" r:id="rId152"/>
    <p:sldId id="289" r:id="rId153"/>
    <p:sldId id="290" r:id="rId154"/>
    <p:sldId id="291" r:id="rId155"/>
    <p:sldId id="302" r:id="rId156"/>
    <p:sldId id="303" r:id="rId157"/>
    <p:sldId id="281" r:id="rId158"/>
  </p:sldIdLst>
  <p:sldSz cx="2328863" cy="5572125"/>
  <p:notesSz cx="6858000" cy="9144000"/>
  <p:embeddedFontLst>
    <p:embeddedFont>
      <p:font typeface="Cambria Math" panose="02040503050406030204" pitchFamily="18" charset="0"/>
      <p:regular r:id="rId160"/>
    </p:embeddedFont>
    <p:embeddedFont>
      <p:font typeface="Helvetica Neue" panose="02000503000000020004" pitchFamily="2" charset="0"/>
      <p:regular r:id="rId161"/>
      <p:bold r:id="rId162"/>
      <p:italic r:id="rId163"/>
      <p:boldItalic r:id="rId164"/>
    </p:embeddedFont>
    <p:embeddedFont>
      <p:font typeface="Lato" panose="020F0502020204030203" pitchFamily="34" charset="0"/>
      <p:regular r:id="rId165"/>
      <p:bold r:id="rId166"/>
      <p:italic r:id="rId167"/>
      <p:boldItalic r:id="rId1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9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869"/>
    <p:restoredTop sz="94605"/>
  </p:normalViewPr>
  <p:slideViewPr>
    <p:cSldViewPr snapToGrid="0" showGuides="1">
      <p:cViewPr>
        <p:scale>
          <a:sx n="348" d="100"/>
          <a:sy n="348" d="100"/>
        </p:scale>
        <p:origin x="952" y="-6408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notesMaster" Target="notesMasters/notesMaster1.xml"/><Relationship Id="rId170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1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8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3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4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5.fntdata"/><Relationship Id="rId16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6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4236683A-D5AD-6AC4-4975-AAD29AF32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187040F6-6DC7-E938-FDEA-8379143951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4DD61375-6C01-F34E-2837-482BFBA2C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53550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4FD1C760-C7DB-8C8D-FF37-EA1746F95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BEB4F4E-E41F-8BC6-C592-4F036D2DD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65FBAB2D-0449-4513-696D-4D3BF311D0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557558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5D628CC1-30A6-4CD0-F61B-7DCBF76D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BC59C445-D267-9F9B-1551-5645A75276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DFA8E44C-EBB9-D35D-6112-18B445F93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229698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174665" y="911920"/>
            <a:ext cx="1979534" cy="193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291108" y="2926656"/>
            <a:ext cx="1746647" cy="1345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/>
            </a:lvl1pPr>
            <a:lvl2pPr lvl="1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/>
            </a:lvl2pPr>
            <a:lvl3pPr lvl="2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/>
            </a:lvl3pPr>
            <a:lvl4pPr lvl="3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4pPr>
            <a:lvl5pPr lvl="4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5pPr>
            <a:lvl6pPr lvl="5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6pPr>
            <a:lvl7pPr lvl="6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7pPr>
            <a:lvl8pPr lvl="7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8pPr>
            <a:lvl9pPr lvl="8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9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9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>
            <a:spLocks noGrp="1"/>
          </p:cNvSpPr>
          <p:nvPr>
            <p:ph type="title"/>
          </p:nvPr>
        </p:nvSpPr>
        <p:spPr>
          <a:xfrm>
            <a:off x="158897" y="1389163"/>
            <a:ext cx="2008644" cy="2317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0"/>
          <p:cNvSpPr txBox="1">
            <a:spLocks noGrp="1"/>
          </p:cNvSpPr>
          <p:nvPr>
            <p:ph type="body" idx="1"/>
          </p:nvPr>
        </p:nvSpPr>
        <p:spPr>
          <a:xfrm>
            <a:off x="158897" y="3728940"/>
            <a:ext cx="2008644" cy="1218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509"/>
              <a:buNone/>
              <a:defRPr sz="509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58"/>
              <a:buNone/>
              <a:defRPr sz="458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0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0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0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1"/>
          </p:nvPr>
        </p:nvSpPr>
        <p:spPr>
          <a:xfrm>
            <a:off x="160109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2"/>
          </p:nvPr>
        </p:nvSpPr>
        <p:spPr>
          <a:xfrm>
            <a:off x="1178987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41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1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1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>
            <a:spLocks noGrp="1"/>
          </p:cNvSpPr>
          <p:nvPr>
            <p:ph type="title"/>
          </p:nvPr>
        </p:nvSpPr>
        <p:spPr>
          <a:xfrm>
            <a:off x="160413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2"/>
          <p:cNvSpPr txBox="1">
            <a:spLocks noGrp="1"/>
          </p:cNvSpPr>
          <p:nvPr>
            <p:ph type="body" idx="1"/>
          </p:nvPr>
        </p:nvSpPr>
        <p:spPr>
          <a:xfrm>
            <a:off x="160413" y="1365945"/>
            <a:ext cx="985218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3" name="Google Shape;43;p42"/>
          <p:cNvSpPr txBox="1">
            <a:spLocks noGrp="1"/>
          </p:cNvSpPr>
          <p:nvPr>
            <p:ph type="body" idx="2"/>
          </p:nvPr>
        </p:nvSpPr>
        <p:spPr>
          <a:xfrm>
            <a:off x="160413" y="2035373"/>
            <a:ext cx="985218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42"/>
          <p:cNvSpPr txBox="1">
            <a:spLocks noGrp="1"/>
          </p:cNvSpPr>
          <p:nvPr>
            <p:ph type="body" idx="3"/>
          </p:nvPr>
        </p:nvSpPr>
        <p:spPr>
          <a:xfrm>
            <a:off x="1178987" y="1365945"/>
            <a:ext cx="990070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5" name="Google Shape;45;p42"/>
          <p:cNvSpPr txBox="1">
            <a:spLocks noGrp="1"/>
          </p:cNvSpPr>
          <p:nvPr>
            <p:ph type="body" idx="4"/>
          </p:nvPr>
        </p:nvSpPr>
        <p:spPr>
          <a:xfrm>
            <a:off x="1178987" y="2035373"/>
            <a:ext cx="990070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42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4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4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5"/>
          <p:cNvSpPr txBox="1">
            <a:spLocks noGrp="1"/>
          </p:cNvSpPr>
          <p:nvPr>
            <p:ph type="body" idx="1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80352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815"/>
              <a:buChar char="•"/>
              <a:defRPr sz="814"/>
            </a:lvl1pPr>
            <a:lvl2pPr marL="914400" lvl="1" indent="-273875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713"/>
              <a:buChar char="•"/>
              <a:defRPr sz="713"/>
            </a:lvl2pPr>
            <a:lvl3pPr marL="1371600" lvl="2" indent="-267398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Char char="•"/>
              <a:defRPr sz="611"/>
            </a:lvl3pPr>
            <a:lvl4pPr marL="1828800" lvl="3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4pPr>
            <a:lvl5pPr marL="2286000" lvl="4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5pPr>
            <a:lvl6pPr marL="2743200" lvl="5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6pPr>
            <a:lvl7pPr marL="3200400" lvl="6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7pPr>
            <a:lvl8pPr marL="3657600" lvl="7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8pPr>
            <a:lvl9pPr marL="4114800" lvl="8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9pPr>
          </a:lstStyle>
          <a:p>
            <a:endParaRPr/>
          </a:p>
        </p:txBody>
      </p:sp>
      <p:sp>
        <p:nvSpPr>
          <p:cNvPr id="61" name="Google Shape;61;p45"/>
          <p:cNvSpPr txBox="1">
            <a:spLocks noGrp="1"/>
          </p:cNvSpPr>
          <p:nvPr>
            <p:ph type="body" idx="2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2" name="Google Shape;62;p45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5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6"/>
          <p:cNvSpPr>
            <a:spLocks noGrp="1"/>
          </p:cNvSpPr>
          <p:nvPr>
            <p:ph type="pic" idx="2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>
            <a:spLocks noGrp="1"/>
          </p:cNvSpPr>
          <p:nvPr>
            <p:ph type="body" idx="1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9" name="Google Shape;69;p46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6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6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7"/>
          <p:cNvSpPr txBox="1">
            <a:spLocks noGrp="1"/>
          </p:cNvSpPr>
          <p:nvPr>
            <p:ph type="body" idx="1"/>
          </p:nvPr>
        </p:nvSpPr>
        <p:spPr>
          <a:xfrm rot="5400000">
            <a:off x="-603299" y="2246729"/>
            <a:ext cx="3535462" cy="200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>
            <a:spLocks noGrp="1"/>
          </p:cNvSpPr>
          <p:nvPr>
            <p:ph type="title"/>
          </p:nvPr>
        </p:nvSpPr>
        <p:spPr>
          <a:xfrm rot="5400000">
            <a:off x="-443385" y="2406643"/>
            <a:ext cx="4722118" cy="502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8"/>
          <p:cNvSpPr txBox="1">
            <a:spLocks noGrp="1"/>
          </p:cNvSpPr>
          <p:nvPr>
            <p:ph type="body" idx="1"/>
          </p:nvPr>
        </p:nvSpPr>
        <p:spPr>
          <a:xfrm rot="5400000">
            <a:off x="-1462263" y="1919037"/>
            <a:ext cx="4722118" cy="1477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  <a:defRPr sz="11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7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73875" algn="l" rtl="0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713"/>
              <a:buFont typeface="Arial"/>
              <a:buChar char="•"/>
              <a:defRPr sz="7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67398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Font typeface="Arial"/>
              <a:buChar char="•"/>
              <a:defRPr sz="6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60921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Font typeface="Arial"/>
              <a:buChar char="•"/>
              <a:defRPr sz="50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40.xml"/><Relationship Id="rId13" Type="http://schemas.openxmlformats.org/officeDocument/2006/relationships/slide" Target="slide151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9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6.xml"/><Relationship Id="rId5" Type="http://schemas.openxmlformats.org/officeDocument/2006/relationships/slide" Target="slide7.xml"/><Relationship Id="rId10" Type="http://schemas.openxmlformats.org/officeDocument/2006/relationships/slide" Target="slide144.xml"/><Relationship Id="rId4" Type="http://schemas.openxmlformats.org/officeDocument/2006/relationships/slide" Target="slide5.xml"/><Relationship Id="rId9" Type="http://schemas.openxmlformats.org/officeDocument/2006/relationships/slide" Target="slide141.xml"/><Relationship Id="rId14" Type="http://schemas.openxmlformats.org/officeDocument/2006/relationships/slide" Target="slide15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9" Type="http://schemas.openxmlformats.org/officeDocument/2006/relationships/slide" Target="slide9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45" Type="http://schemas.openxmlformats.org/officeDocument/2006/relationships/slide" Target="slide118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Relationship Id="rId46" Type="http://schemas.openxmlformats.org/officeDocument/2006/relationships/slide" Target="slide120.xml"/><Relationship Id="rId20" Type="http://schemas.openxmlformats.org/officeDocument/2006/relationships/slide" Target="slide80.xml"/><Relationship Id="rId41" Type="http://schemas.openxmlformats.org/officeDocument/2006/relationships/slide" Target="slide1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6.xml"/><Relationship Id="rId13" Type="http://schemas.openxmlformats.org/officeDocument/2006/relationships/slide" Target="slide131.xml"/><Relationship Id="rId18" Type="http://schemas.openxmlformats.org/officeDocument/2006/relationships/slide" Target="slide135.xml"/><Relationship Id="rId3" Type="http://schemas.openxmlformats.org/officeDocument/2006/relationships/slide" Target="slide121.xml"/><Relationship Id="rId7" Type="http://schemas.openxmlformats.org/officeDocument/2006/relationships/slide" Target="slide125.xml"/><Relationship Id="rId12" Type="http://schemas.openxmlformats.org/officeDocument/2006/relationships/slide" Target="slide130.xml"/><Relationship Id="rId17" Type="http://schemas.openxmlformats.org/officeDocument/2006/relationships/slide" Target="slide133.xml"/><Relationship Id="rId2" Type="http://schemas.openxmlformats.org/officeDocument/2006/relationships/notesSlide" Target="../notesSlides/notesSlide9.xml"/><Relationship Id="rId16" Type="http://schemas.openxmlformats.org/officeDocument/2006/relationships/slide" Target="slide137.xml"/><Relationship Id="rId20" Type="http://schemas.openxmlformats.org/officeDocument/2006/relationships/slide" Target="slide139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4.xml"/><Relationship Id="rId11" Type="http://schemas.openxmlformats.org/officeDocument/2006/relationships/slide" Target="slide129.xml"/><Relationship Id="rId5" Type="http://schemas.openxmlformats.org/officeDocument/2006/relationships/slide" Target="slide123.xml"/><Relationship Id="rId15" Type="http://schemas.openxmlformats.org/officeDocument/2006/relationships/slide" Target="slide136.xml"/><Relationship Id="rId10" Type="http://schemas.openxmlformats.org/officeDocument/2006/relationships/slide" Target="slide128.xml"/><Relationship Id="rId19" Type="http://schemas.openxmlformats.org/officeDocument/2006/relationships/slide" Target="slide138.xml"/><Relationship Id="rId4" Type="http://schemas.openxmlformats.org/officeDocument/2006/relationships/slide" Target="slide122.xml"/><Relationship Id="rId9" Type="http://schemas.openxmlformats.org/officeDocument/2006/relationships/slide" Target="slide127.xml"/><Relationship Id="rId14" Type="http://schemas.openxmlformats.org/officeDocument/2006/relationships/slide" Target="slide13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5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5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5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5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2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142.xml"/><Relationship Id="rId7" Type="http://schemas.openxmlformats.org/officeDocument/2006/relationships/slide" Target="slide7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3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MMC-MFM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MMC-MFM/" TargetMode="External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6.jpeg"/><Relationship Id="rId4" Type="http://schemas.openxmlformats.org/officeDocument/2006/relationships/hyperlink" Target="https://flyingdeuk.github.io/posts/RKSI-ICN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30.jp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1.jpeg"/><Relationship Id="rId4" Type="http://schemas.openxmlformats.org/officeDocument/2006/relationships/hyperlink" Target="https://flyingdeuk.github.io/posts/RKSI-ICN/" TargetMode="External"/></Relationships>
</file>

<file path=ppt/slides/_rels/slide1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5.xml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slide" Target="slide149.xml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9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4.jpe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4.jpeg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-5145" y="74068"/>
            <a:ext cx="2332054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458410" y="792682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9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384136" y="682099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25.1.6</a:t>
            </a:r>
            <a:endParaRPr sz="9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203741" y="714044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920221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(Chubu 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Centrair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3469401366"/>
              </p:ext>
            </p:extLst>
          </p:nvPr>
        </p:nvGraphicFramePr>
        <p:xfrm>
          <a:off x="55371" y="3173"/>
          <a:ext cx="1874000" cy="55473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17666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2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MFM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405437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514459259"/>
              </p:ext>
            </p:extLst>
          </p:nvPr>
        </p:nvGraphicFramePr>
        <p:xfrm>
          <a:off x="66044" y="2829146"/>
          <a:ext cx="1878761" cy="27367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729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(Capital)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MFM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마카오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58851044"/>
                  </a:ext>
                </a:extLst>
              </a:tr>
            </a:tbl>
          </a:graphicData>
        </a:graphic>
      </p:graphicFrame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4049633542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7030A0"/>
                          </a:solidFill>
                        </a:rPr>
                        <a:t>Nha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 Trang)/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073409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3439758"/>
              </p:ext>
            </p:extLst>
          </p:nvPr>
        </p:nvGraphicFramePr>
        <p:xfrm>
          <a:off x="4410" y="3577043"/>
          <a:ext cx="2305886" cy="19638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153203903"/>
              </p:ext>
            </p:extLst>
          </p:nvPr>
        </p:nvGraphicFramePr>
        <p:xfrm>
          <a:off x="4410" y="3597139"/>
          <a:ext cx="2305886" cy="192485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6456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 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7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4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979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4476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672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970969007"/>
              </p:ext>
            </p:extLst>
          </p:nvPr>
        </p:nvGraphicFramePr>
        <p:xfrm>
          <a:off x="4472" y="3705689"/>
          <a:ext cx="2333879" cy="18179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718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/R/H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TJ919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xQ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TJ841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02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10 499’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02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02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/8,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/6 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160kts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(JEPP REF)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6227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91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25670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4116751183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/R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7756956"/>
              </p:ext>
            </p:extLst>
          </p:nvPr>
        </p:nvGraphicFramePr>
        <p:xfrm>
          <a:off x="15324" y="3815434"/>
          <a:ext cx="2311025" cy="1773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no VOR at A/P 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LD ALT 6900 </a:t>
                      </a:r>
                      <a:r>
                        <a:rPr lang="en-US" sz="900" dirty="0" err="1">
                          <a:solidFill>
                            <a:srgbClr val="C00000"/>
                          </a:solidFill>
                        </a:rPr>
                        <a:t>ini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 DES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CHK LD Limit 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PWR +4-5%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60072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CHK below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LD ALT 6000ft for T/O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A6C4FA8D-AB36-64AD-0C41-22D8EBAD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F06C4E-F900-1E16-77CC-12579246C61F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APP 123.85 – MFM TWR 118.0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B142E5DB-4913-0E81-A18E-599BE55C006A}"/>
              </a:ext>
            </a:extLst>
          </p:cNvPr>
          <p:cNvGraphicFramePr/>
          <p:nvPr/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F5602DF1-B5B4-1FC1-A507-6E71D395C2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7722462"/>
              </p:ext>
            </p:extLst>
          </p:nvPr>
        </p:nvGraphicFramePr>
        <p:xfrm>
          <a:off x="4472" y="3748852"/>
          <a:ext cx="231428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41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9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2880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</a:tblGrid>
              <a:tr h="25778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MFM :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STAR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ATC) 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Missed APP See Meter Table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ZAO R231 North X,  FL110 250kts, App 190kts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SMT xx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en-US" altLang="ko-KR" sz="800" b="1" dirty="0"/>
                        <a:t>A</a:t>
                      </a:r>
                      <a:endParaRPr lang="en-US"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HAZEL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ILS Z 34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SMT xx B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ZUM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Offset 54 LOC Z 16 1000ft Turn Final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NAV CHG (GS Warn)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34(20’) 9613’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9400’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ZAO R231, </a:t>
                      </a:r>
                      <a:r>
                        <a:rPr lang="en-US" sz="800" b="1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 /8</a:t>
                      </a:r>
                      <a:endParaRPr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26462761"/>
                  </a:ext>
                </a:extLst>
              </a:tr>
              <a:tr h="186514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34 : G(9074’)                                 16 : E(7020’),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D(8989’)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In Apron, Caution Wingtip &amp; Jet Blast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Advanced VDGS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2211FFD-03EB-93D5-28A6-B9931AD7D7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805698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4EDC834-7773-59FE-97E5-43CCAFAC5156}"/>
              </a:ext>
            </a:extLst>
          </p:cNvPr>
          <p:cNvSpPr/>
          <p:nvPr/>
        </p:nvSpPr>
        <p:spPr>
          <a:xfrm>
            <a:off x="1674227" y="34497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C1BBEA-1CB8-4E77-8A50-538B7C56BE5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860190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83C628C-ADA9-9C15-F3DF-99D5B8F9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41E6EB93-FEF2-1C9F-6F4E-33AE81F211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3035EA-DF68-8BC5-1CAC-01163F9A72E6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356E31E-69CF-997F-3FEB-698A82473E0E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A2AC44-241B-5D7B-FAF8-A7E4603494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44C2A75-2A01-AD59-CAF2-E45F45E3F83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219058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BBD43E86-00FC-2B4E-604E-A003C2849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0E119484-5864-648E-E57B-28487A91C0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15355587"/>
              </p:ext>
            </p:extLst>
          </p:nvPr>
        </p:nvGraphicFramePr>
        <p:xfrm>
          <a:off x="7175" y="603644"/>
          <a:ext cx="2300931" cy="1771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9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MFM :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RW34 Modified NADP</a:t>
                      </a:r>
                      <a:r>
                        <a:rPr lang="en-US" sz="800" u="none" strike="noStrike" cap="none" dirty="0"/>
                        <a:t> (TA 9000)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bg1"/>
                          </a:solidFill>
                        </a:rPr>
                        <a:t>Climb Offset 15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도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(359)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to 400ft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u="none" strike="noStrike" cap="none" dirty="0">
                          <a:solidFill>
                            <a:srgbClr val="FFC000"/>
                          </a:solidFill>
                        </a:rPr>
                        <a:t>(B737 No LNAV, 400ft </a:t>
                      </a:r>
                      <a:r>
                        <a:rPr lang="en-US" altLang="ko-KR" sz="700" b="0" u="none" strike="noStrike" cap="none">
                          <a:solidFill>
                            <a:srgbClr val="FFC000"/>
                          </a:solidFill>
                        </a:rPr>
                        <a:t>HDG SEL(028), </a:t>
                      </a:r>
                      <a:r>
                        <a:rPr lang="en-US" altLang="ko-KR" sz="700" b="0" u="none" strike="noStrike" cap="none" dirty="0">
                          <a:solidFill>
                            <a:srgbClr val="FFC000"/>
                          </a:solidFill>
                        </a:rPr>
                        <a:t>DCT LATOP then LNAV)</a:t>
                      </a:r>
                      <a:endParaRPr lang="en-US"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CONGA  xx T/U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FL160/ATC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16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CONGA xx 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MCU 116.4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34  109.7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 (20’)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11024’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 (20’)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ZAO R231 , RW34 E.O : MCU 344/2.5, R025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A1-15, A17, B1-6, B8 Confirm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Proc BLUE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After TWY Protection, Eng Start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65000D49-058D-E40D-4EF0-48B668949B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368869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lang="en-US" altLang="ko-Kore-KR"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 130.55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GND/TWR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Voice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703CDEB-16B8-E69C-A1F0-A6469B60D76F}"/>
              </a:ext>
            </a:extLst>
          </p:cNvPr>
          <p:cNvSpPr txBox="1"/>
          <p:nvPr/>
        </p:nvSpPr>
        <p:spPr>
          <a:xfrm>
            <a:off x="910816" y="2407652"/>
            <a:ext cx="1410643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DEP 121.4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RDR 133.82 - 118.92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129.1 - 125.5 - FUK 127.5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- 120.72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     126.17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D0AC14C0-AFE6-CB21-11C8-20EB8A8B424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963F5F-CB6D-A450-43AE-40BA3AFFA920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C5E36BA-68D9-3F9F-F76A-0E04064EB12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8" name="그림 7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45A9F79A-D38F-7264-637D-181668F136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2500" y="2389930"/>
            <a:ext cx="857950" cy="57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77771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158286"/>
              </p:ext>
            </p:extLst>
          </p:nvPr>
        </p:nvGraphicFramePr>
        <p:xfrm>
          <a:off x="-12" y="7171"/>
          <a:ext cx="2328875" cy="5108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18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88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NO AUTO L/D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BY OPT LDG Dispatch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(1 ENG 2.1%, 2 ENG 3.2% FAR)</a:t>
                      </a:r>
                      <a:endParaRPr lang="en-US" altLang="ko-KR" sz="900" b="1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ore-KR" sz="9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“OPT With ICE” means ENG and/or Wing Anti-ice</a:t>
                      </a:r>
                      <a:endParaRPr lang="en-US" altLang="ko-Kore-KR" sz="900" b="1" i="0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40 &lt; 30 &lt; Flap 30 No Bleed L/D &lt; Flap 15 L/D)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Increase EST PWR 5% (High TAS, GS)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500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45492</TotalTime>
  <Words>32328</Words>
  <Application>Microsoft Macintosh PowerPoint</Application>
  <PresentationFormat>사용자 지정</PresentationFormat>
  <Paragraphs>8710</Paragraphs>
  <Slides>157</Slides>
  <Notes>155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157</vt:i4>
      </vt:variant>
    </vt:vector>
  </HeadingPairs>
  <TitlesOfParts>
    <vt:vector size="166" baseType="lpstr">
      <vt:lpstr>Gulim</vt:lpstr>
      <vt:lpstr>Helvetica Neue</vt:lpstr>
      <vt:lpstr>Lato</vt:lpstr>
      <vt:lpstr>Arial</vt:lpstr>
      <vt:lpstr>Calibri</vt:lpstr>
      <vt:lpstr>Cambria Math</vt:lpstr>
      <vt:lpstr>Britannic Bold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367</cp:revision>
  <dcterms:created xsi:type="dcterms:W3CDTF">2022-05-17T08:00:10Z</dcterms:created>
  <dcterms:modified xsi:type="dcterms:W3CDTF">2025-01-05T18:45:35Z</dcterms:modified>
</cp:coreProperties>
</file>