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2.xml" ContentType="application/vnd.openxmlformats-officedocument.presentationml.notesSlide+xml"/>
  <Override PartName="/ppt/notesSlides/notesSlide123.xml" ContentType="application/vnd.openxmlformats-officedocument.presentationml.notesSlide+xml"/>
  <Override PartName="/ppt/notesSlides/notesSlide124.xml" ContentType="application/vnd.openxmlformats-officedocument.presentationml.notesSlide+xml"/>
  <Override PartName="/ppt/notesSlides/notesSlide125.xml" ContentType="application/vnd.openxmlformats-officedocument.presentationml.notesSlide+xml"/>
  <Override PartName="/ppt/notesSlides/notesSlide126.xml" ContentType="application/vnd.openxmlformats-officedocument.presentationml.notesSlide+xml"/>
  <Override PartName="/ppt/notesSlides/notesSlide127.xml" ContentType="application/vnd.openxmlformats-officedocument.presentationml.notesSlide+xml"/>
  <Override PartName="/ppt/notesSlides/notesSlide128.xml" ContentType="application/vnd.openxmlformats-officedocument.presentationml.notesSlide+xml"/>
  <Override PartName="/ppt/notesSlides/notesSlide129.xml" ContentType="application/vnd.openxmlformats-officedocument.presentationml.notesSlide+xml"/>
  <Override PartName="/ppt/notesSlides/notesSlide130.xml" ContentType="application/vnd.openxmlformats-officedocument.presentationml.notesSlide+xml"/>
  <Override PartName="/ppt/notesSlides/notesSlide131.xml" ContentType="application/vnd.openxmlformats-officedocument.presentationml.notesSlide+xml"/>
  <Override PartName="/ppt/notesSlides/notesSlide132.xml" ContentType="application/vnd.openxmlformats-officedocument.presentationml.notesSlide+xml"/>
  <Override PartName="/ppt/notesSlides/notesSlide133.xml" ContentType="application/vnd.openxmlformats-officedocument.presentationml.notesSlide+xml"/>
  <Override PartName="/ppt/notesSlides/notesSlide134.xml" ContentType="application/vnd.openxmlformats-officedocument.presentationml.notesSlide+xml"/>
  <Override PartName="/ppt/notesSlides/notesSlide135.xml" ContentType="application/vnd.openxmlformats-officedocument.presentationml.notesSlide+xml"/>
  <Override PartName="/ppt/notesSlides/notesSlide136.xml" ContentType="application/vnd.openxmlformats-officedocument.presentationml.notesSlide+xml"/>
  <Override PartName="/ppt/notesSlides/notesSlide137.xml" ContentType="application/vnd.openxmlformats-officedocument.presentationml.notesSlide+xml"/>
  <Override PartName="/ppt/notesSlides/notesSlide138.xml" ContentType="application/vnd.openxmlformats-officedocument.presentationml.notesSlide+xml"/>
  <Override PartName="/ppt/notesSlides/notesSlide139.xml" ContentType="application/vnd.openxmlformats-officedocument.presentationml.notesSlide+xml"/>
  <Override PartName="/ppt/notesSlides/notesSlide140.xml" ContentType="application/vnd.openxmlformats-officedocument.presentationml.notesSlide+xml"/>
  <Override PartName="/ppt/notesSlides/notesSlide141.xml" ContentType="application/vnd.openxmlformats-officedocument.presentationml.notesSlide+xml"/>
  <Override PartName="/ppt/notesSlides/notesSlide142.xml" ContentType="application/vnd.openxmlformats-officedocument.presentationml.notesSlide+xml"/>
  <Override PartName="/ppt/notesSlides/notesSlide143.xml" ContentType="application/vnd.openxmlformats-officedocument.presentationml.notesSlide+xml"/>
  <Override PartName="/ppt/notesSlides/notesSlide144.xml" ContentType="application/vnd.openxmlformats-officedocument.presentationml.notesSlide+xml"/>
  <Override PartName="/ppt/notesSlides/notesSlide145.xml" ContentType="application/vnd.openxmlformats-officedocument.presentationml.notesSlide+xml"/>
  <Override PartName="/ppt/notesSlides/notesSlide146.xml" ContentType="application/vnd.openxmlformats-officedocument.presentationml.notesSlide+xml"/>
  <Override PartName="/ppt/notesSlides/notesSlide147.xml" ContentType="application/vnd.openxmlformats-officedocument.presentationml.notesSlide+xml"/>
  <Override PartName="/ppt/notesSlides/notesSlide148.xml" ContentType="application/vnd.openxmlformats-officedocument.presentationml.notesSlide+xml"/>
  <Override PartName="/ppt/notesSlides/notesSlide149.xml" ContentType="application/vnd.openxmlformats-officedocument.presentationml.notesSlide+xml"/>
  <Override PartName="/ppt/notesSlides/notesSlide150.xml" ContentType="application/vnd.openxmlformats-officedocument.presentationml.notesSlide+xml"/>
  <Override PartName="/ppt/notesSlides/notesSlide151.xml" ContentType="application/vnd.openxmlformats-officedocument.presentationml.notesSlide+xml"/>
  <Override PartName="/ppt/notesSlides/notesSlide15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156"/>
  </p:notesMasterIdLst>
  <p:sldIdLst>
    <p:sldId id="292" r:id="rId2"/>
    <p:sldId id="345" r:id="rId3"/>
    <p:sldId id="349" r:id="rId4"/>
    <p:sldId id="367" r:id="rId5"/>
    <p:sldId id="346" r:id="rId6"/>
    <p:sldId id="350" r:id="rId7"/>
    <p:sldId id="347" r:id="rId8"/>
    <p:sldId id="351" r:id="rId9"/>
    <p:sldId id="348" r:id="rId10"/>
    <p:sldId id="282" r:id="rId11"/>
    <p:sldId id="333" r:id="rId12"/>
    <p:sldId id="257" r:id="rId13"/>
    <p:sldId id="258" r:id="rId14"/>
    <p:sldId id="259" r:id="rId15"/>
    <p:sldId id="260" r:id="rId16"/>
    <p:sldId id="261" r:id="rId17"/>
    <p:sldId id="262" r:id="rId18"/>
    <p:sldId id="263" r:id="rId19"/>
    <p:sldId id="264" r:id="rId20"/>
    <p:sldId id="265" r:id="rId21"/>
    <p:sldId id="266" r:id="rId22"/>
    <p:sldId id="267" r:id="rId23"/>
    <p:sldId id="268" r:id="rId24"/>
    <p:sldId id="355" r:id="rId25"/>
    <p:sldId id="356" r:id="rId26"/>
    <p:sldId id="357" r:id="rId27"/>
    <p:sldId id="358" r:id="rId28"/>
    <p:sldId id="269" r:id="rId29"/>
    <p:sldId id="270" r:id="rId30"/>
    <p:sldId id="401" r:id="rId31"/>
    <p:sldId id="402" r:id="rId32"/>
    <p:sldId id="403" r:id="rId33"/>
    <p:sldId id="404" r:id="rId34"/>
    <p:sldId id="273" r:id="rId35"/>
    <p:sldId id="274" r:id="rId36"/>
    <p:sldId id="275" r:id="rId37"/>
    <p:sldId id="276" r:id="rId38"/>
    <p:sldId id="277" r:id="rId39"/>
    <p:sldId id="278" r:id="rId40"/>
    <p:sldId id="279" r:id="rId41"/>
    <p:sldId id="280" r:id="rId42"/>
    <p:sldId id="295" r:id="rId43"/>
    <p:sldId id="296" r:id="rId44"/>
    <p:sldId id="340" r:id="rId45"/>
    <p:sldId id="341" r:id="rId46"/>
    <p:sldId id="382" r:id="rId47"/>
    <p:sldId id="383" r:id="rId48"/>
    <p:sldId id="405" r:id="rId49"/>
    <p:sldId id="406" r:id="rId50"/>
    <p:sldId id="399" r:id="rId51"/>
    <p:sldId id="400" r:id="rId52"/>
    <p:sldId id="293" r:id="rId53"/>
    <p:sldId id="310" r:id="rId54"/>
    <p:sldId id="294" r:id="rId55"/>
    <p:sldId id="352" r:id="rId56"/>
    <p:sldId id="353" r:id="rId57"/>
    <p:sldId id="354" r:id="rId58"/>
    <p:sldId id="297" r:id="rId59"/>
    <p:sldId id="298" r:id="rId60"/>
    <p:sldId id="306" r:id="rId61"/>
    <p:sldId id="311" r:id="rId62"/>
    <p:sldId id="307" r:id="rId63"/>
    <p:sldId id="368" r:id="rId64"/>
    <p:sldId id="369" r:id="rId65"/>
    <p:sldId id="370" r:id="rId66"/>
    <p:sldId id="300" r:id="rId67"/>
    <p:sldId id="312" r:id="rId68"/>
    <p:sldId id="301" r:id="rId69"/>
    <p:sldId id="304" r:id="rId70"/>
    <p:sldId id="313" r:id="rId71"/>
    <p:sldId id="305" r:id="rId72"/>
    <p:sldId id="308" r:id="rId73"/>
    <p:sldId id="314" r:id="rId74"/>
    <p:sldId id="309" r:id="rId75"/>
    <p:sldId id="315" r:id="rId76"/>
    <p:sldId id="316" r:id="rId77"/>
    <p:sldId id="317" r:id="rId78"/>
    <p:sldId id="318" r:id="rId79"/>
    <p:sldId id="319" r:id="rId80"/>
    <p:sldId id="320" r:id="rId81"/>
    <p:sldId id="321" r:id="rId82"/>
    <p:sldId id="322" r:id="rId83"/>
    <p:sldId id="324" r:id="rId84"/>
    <p:sldId id="325" r:id="rId85"/>
    <p:sldId id="328" r:id="rId86"/>
    <p:sldId id="329" r:id="rId87"/>
    <p:sldId id="330" r:id="rId88"/>
    <p:sldId id="334" r:id="rId89"/>
    <p:sldId id="335" r:id="rId90"/>
    <p:sldId id="336" r:id="rId91"/>
    <p:sldId id="337" r:id="rId92"/>
    <p:sldId id="342" r:id="rId93"/>
    <p:sldId id="343" r:id="rId94"/>
    <p:sldId id="344" r:id="rId95"/>
    <p:sldId id="371" r:id="rId96"/>
    <p:sldId id="372" r:id="rId97"/>
    <p:sldId id="373" r:id="rId98"/>
    <p:sldId id="377" r:id="rId99"/>
    <p:sldId id="379" r:id="rId100"/>
    <p:sldId id="386" r:id="rId101"/>
    <p:sldId id="387" r:id="rId102"/>
    <p:sldId id="388" r:id="rId103"/>
    <p:sldId id="391" r:id="rId104"/>
    <p:sldId id="392" r:id="rId105"/>
    <p:sldId id="393" r:id="rId106"/>
    <p:sldId id="394" r:id="rId107"/>
    <p:sldId id="395" r:id="rId108"/>
    <p:sldId id="396" r:id="rId109"/>
    <p:sldId id="407" r:id="rId110"/>
    <p:sldId id="411" r:id="rId111"/>
    <p:sldId id="410" r:id="rId112"/>
    <p:sldId id="412" r:id="rId113"/>
    <p:sldId id="413" r:id="rId114"/>
    <p:sldId id="414" r:id="rId115"/>
    <p:sldId id="415" r:id="rId116"/>
    <p:sldId id="416" r:id="rId117"/>
    <p:sldId id="417" r:id="rId118"/>
    <p:sldId id="326" r:id="rId119"/>
    <p:sldId id="327" r:id="rId120"/>
    <p:sldId id="331" r:id="rId121"/>
    <p:sldId id="332" r:id="rId122"/>
    <p:sldId id="359" r:id="rId123"/>
    <p:sldId id="360" r:id="rId124"/>
    <p:sldId id="361" r:id="rId125"/>
    <p:sldId id="362" r:id="rId126"/>
    <p:sldId id="397" r:id="rId127"/>
    <p:sldId id="398" r:id="rId128"/>
    <p:sldId id="374" r:id="rId129"/>
    <p:sldId id="375" r:id="rId130"/>
    <p:sldId id="338" r:id="rId131"/>
    <p:sldId id="376" r:id="rId132"/>
    <p:sldId id="339" r:id="rId133"/>
    <p:sldId id="380" r:id="rId134"/>
    <p:sldId id="381" r:id="rId135"/>
    <p:sldId id="389" r:id="rId136"/>
    <p:sldId id="390" r:id="rId137"/>
    <p:sldId id="385" r:id="rId138"/>
    <p:sldId id="363" r:id="rId139"/>
    <p:sldId id="364" r:id="rId140"/>
    <p:sldId id="418" r:id="rId141"/>
    <p:sldId id="365" r:id="rId142"/>
    <p:sldId id="366" r:id="rId143"/>
    <p:sldId id="384" r:id="rId144"/>
    <p:sldId id="283" r:id="rId145"/>
    <p:sldId id="284" r:id="rId146"/>
    <p:sldId id="286" r:id="rId147"/>
    <p:sldId id="287" r:id="rId148"/>
    <p:sldId id="288" r:id="rId149"/>
    <p:sldId id="289" r:id="rId150"/>
    <p:sldId id="290" r:id="rId151"/>
    <p:sldId id="291" r:id="rId152"/>
    <p:sldId id="302" r:id="rId153"/>
    <p:sldId id="303" r:id="rId154"/>
    <p:sldId id="281" r:id="rId155"/>
  </p:sldIdLst>
  <p:sldSz cx="2328863" cy="5572125"/>
  <p:notesSz cx="6858000" cy="9144000"/>
  <p:embeddedFontLst>
    <p:embeddedFont>
      <p:font typeface="Cambria Math" panose="02040503050406030204" pitchFamily="18" charset="0"/>
      <p:regular r:id="rId157"/>
    </p:embeddedFont>
    <p:embeddedFont>
      <p:font typeface="Helvetica Neue" panose="02000503000000020004" pitchFamily="2" charset="0"/>
      <p:regular r:id="rId158"/>
      <p:bold r:id="rId159"/>
      <p:italic r:id="rId160"/>
      <p:boldItalic r:id="rId161"/>
    </p:embeddedFont>
    <p:embeddedFont>
      <p:font typeface="Lato" panose="020F0502020204030203" pitchFamily="34" charset="0"/>
      <p:regular r:id="rId162"/>
      <p:bold r:id="rId163"/>
      <p:italic r:id="rId164"/>
      <p:boldItalic r:id="rId165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755" userDrawn="1">
          <p15:clr>
            <a:srgbClr val="A4A3A4"/>
          </p15:clr>
        </p15:guide>
        <p15:guide id="2" pos="733" userDrawn="1">
          <p15:clr>
            <a:srgbClr val="A4A3A4"/>
          </p15:clr>
        </p15:guide>
      </p15:sldGuideLst>
    </p:ext>
    <p:ext uri="http://customooxmlschemas.google.com/">
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r:id="rId166" roundtripDataSignature="AMtx7mhbwbpmZl6Umln1q/ckcX3dt/NVN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AA47F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A521BE36-7E6F-4EC9-8D66-1CF97A6895EC}">
  <a:tblStyle styleId="{A521BE36-7E6F-4EC9-8D66-1CF97A6895EC}" styleName="Table_0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E8EBF5"/>
          </a:solidFill>
        </a:fill>
      </a:tcStyle>
    </a:wholeTbl>
    <a:band1H>
      <a:tcTxStyle/>
      <a:tcStyle>
        <a:tcBdr/>
        <a:fill>
          <a:solidFill>
            <a:srgbClr val="CDD4EA"/>
          </a:solidFill>
        </a:fill>
      </a:tcStyle>
    </a:band1H>
    <a:band2H>
      <a:tcTxStyle/>
      <a:tcStyle>
        <a:tcBdr/>
      </a:tcStyle>
    </a:band2H>
    <a:band1V>
      <a:tcTxStyle/>
      <a:tcStyle>
        <a:tcBdr/>
        <a:fill>
          <a:solidFill>
            <a:srgbClr val="CDD4EA"/>
          </a:solidFill>
        </a:fill>
      </a:tcStyle>
    </a:band1V>
    <a:band2V>
      <a:tcTxStyle/>
      <a:tcStyle>
        <a:tcBdr/>
      </a:tcStyle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chemeClr val="accent1"/>
          </a:solidFill>
        </a:fill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</a:tcBdr>
        <a:fill>
          <a:solidFill>
            <a:schemeClr val="accent1"/>
          </a:solidFill>
        </a:fill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090"/>
    <p:restoredTop sz="94578"/>
  </p:normalViewPr>
  <p:slideViewPr>
    <p:cSldViewPr snapToGrid="0" showGuides="1">
      <p:cViewPr>
        <p:scale>
          <a:sx n="254" d="100"/>
          <a:sy n="254" d="100"/>
        </p:scale>
        <p:origin x="4440" y="8"/>
      </p:cViewPr>
      <p:guideLst>
        <p:guide orient="horz" pos="1755"/>
        <p:guide pos="733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60" d="100"/>
        <a:sy n="6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117" Type="http://schemas.openxmlformats.org/officeDocument/2006/relationships/slide" Target="slides/slide116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63" Type="http://schemas.openxmlformats.org/officeDocument/2006/relationships/slide" Target="slides/slide62.xml"/><Relationship Id="rId84" Type="http://schemas.openxmlformats.org/officeDocument/2006/relationships/slide" Target="slides/slide83.xml"/><Relationship Id="rId138" Type="http://schemas.openxmlformats.org/officeDocument/2006/relationships/slide" Target="slides/slide137.xml"/><Relationship Id="rId159" Type="http://schemas.openxmlformats.org/officeDocument/2006/relationships/font" Target="fonts/font3.fntdata"/><Relationship Id="rId170" Type="http://schemas.openxmlformats.org/officeDocument/2006/relationships/tableStyles" Target="tableStyles.xml"/><Relationship Id="rId107" Type="http://schemas.openxmlformats.org/officeDocument/2006/relationships/slide" Target="slides/slide106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53" Type="http://schemas.openxmlformats.org/officeDocument/2006/relationships/slide" Target="slides/slide52.xml"/><Relationship Id="rId74" Type="http://schemas.openxmlformats.org/officeDocument/2006/relationships/slide" Target="slides/slide73.xml"/><Relationship Id="rId128" Type="http://schemas.openxmlformats.org/officeDocument/2006/relationships/slide" Target="slides/slide127.xml"/><Relationship Id="rId149" Type="http://schemas.openxmlformats.org/officeDocument/2006/relationships/slide" Target="slides/slide148.xml"/><Relationship Id="rId5" Type="http://schemas.openxmlformats.org/officeDocument/2006/relationships/slide" Target="slides/slide4.xml"/><Relationship Id="rId95" Type="http://schemas.openxmlformats.org/officeDocument/2006/relationships/slide" Target="slides/slide94.xml"/><Relationship Id="rId160" Type="http://schemas.openxmlformats.org/officeDocument/2006/relationships/font" Target="fonts/font4.fntdata"/><Relationship Id="rId22" Type="http://schemas.openxmlformats.org/officeDocument/2006/relationships/slide" Target="slides/slide21.xml"/><Relationship Id="rId43" Type="http://schemas.openxmlformats.org/officeDocument/2006/relationships/slide" Target="slides/slide42.xml"/><Relationship Id="rId64" Type="http://schemas.openxmlformats.org/officeDocument/2006/relationships/slide" Target="slides/slide63.xml"/><Relationship Id="rId118" Type="http://schemas.openxmlformats.org/officeDocument/2006/relationships/slide" Target="slides/slide117.xml"/><Relationship Id="rId139" Type="http://schemas.openxmlformats.org/officeDocument/2006/relationships/slide" Target="slides/slide138.xml"/><Relationship Id="rId85" Type="http://schemas.openxmlformats.org/officeDocument/2006/relationships/slide" Target="slides/slide84.xml"/><Relationship Id="rId150" Type="http://schemas.openxmlformats.org/officeDocument/2006/relationships/slide" Target="slides/slide149.xml"/><Relationship Id="rId12" Type="http://schemas.openxmlformats.org/officeDocument/2006/relationships/slide" Target="slides/slide11.xml"/><Relationship Id="rId33" Type="http://schemas.openxmlformats.org/officeDocument/2006/relationships/slide" Target="slides/slide32.xml"/><Relationship Id="rId108" Type="http://schemas.openxmlformats.org/officeDocument/2006/relationships/slide" Target="slides/slide107.xml"/><Relationship Id="rId129" Type="http://schemas.openxmlformats.org/officeDocument/2006/relationships/slide" Target="slides/slide128.xml"/><Relationship Id="rId54" Type="http://schemas.openxmlformats.org/officeDocument/2006/relationships/slide" Target="slides/slide53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91" Type="http://schemas.openxmlformats.org/officeDocument/2006/relationships/slide" Target="slides/slide90.xml"/><Relationship Id="rId96" Type="http://schemas.openxmlformats.org/officeDocument/2006/relationships/slide" Target="slides/slide95.xml"/><Relationship Id="rId140" Type="http://schemas.openxmlformats.org/officeDocument/2006/relationships/slide" Target="slides/slide139.xml"/><Relationship Id="rId145" Type="http://schemas.openxmlformats.org/officeDocument/2006/relationships/slide" Target="slides/slide144.xml"/><Relationship Id="rId161" Type="http://schemas.openxmlformats.org/officeDocument/2006/relationships/font" Target="fonts/font5.fntdata"/><Relationship Id="rId166" Type="http://customschemas.google.com/relationships/presentationmetadata" Target="meta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49" Type="http://schemas.openxmlformats.org/officeDocument/2006/relationships/slide" Target="slides/slide48.xml"/><Relationship Id="rId114" Type="http://schemas.openxmlformats.org/officeDocument/2006/relationships/slide" Target="slides/slide113.xml"/><Relationship Id="rId119" Type="http://schemas.openxmlformats.org/officeDocument/2006/relationships/slide" Target="slides/slide118.xml"/><Relationship Id="rId44" Type="http://schemas.openxmlformats.org/officeDocument/2006/relationships/slide" Target="slides/slide43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130" Type="http://schemas.openxmlformats.org/officeDocument/2006/relationships/slide" Target="slides/slide129.xml"/><Relationship Id="rId135" Type="http://schemas.openxmlformats.org/officeDocument/2006/relationships/slide" Target="slides/slide134.xml"/><Relationship Id="rId151" Type="http://schemas.openxmlformats.org/officeDocument/2006/relationships/slide" Target="slides/slide150.xml"/><Relationship Id="rId156" Type="http://schemas.openxmlformats.org/officeDocument/2006/relationships/notesMaster" Target="notesMasters/notesMaster1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109" Type="http://schemas.openxmlformats.org/officeDocument/2006/relationships/slide" Target="slides/slide10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04" Type="http://schemas.openxmlformats.org/officeDocument/2006/relationships/slide" Target="slides/slide103.xml"/><Relationship Id="rId120" Type="http://schemas.openxmlformats.org/officeDocument/2006/relationships/slide" Target="slides/slide119.xml"/><Relationship Id="rId125" Type="http://schemas.openxmlformats.org/officeDocument/2006/relationships/slide" Target="slides/slide124.xml"/><Relationship Id="rId141" Type="http://schemas.openxmlformats.org/officeDocument/2006/relationships/slide" Target="slides/slide140.xml"/><Relationship Id="rId146" Type="http://schemas.openxmlformats.org/officeDocument/2006/relationships/slide" Target="slides/slide145.xml"/><Relationship Id="rId167" Type="http://schemas.openxmlformats.org/officeDocument/2006/relationships/presProps" Target="presProps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162" Type="http://schemas.openxmlformats.org/officeDocument/2006/relationships/font" Target="fonts/font6.fntdata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slide" Target="slides/slide109.xml"/><Relationship Id="rId115" Type="http://schemas.openxmlformats.org/officeDocument/2006/relationships/slide" Target="slides/slide114.xml"/><Relationship Id="rId131" Type="http://schemas.openxmlformats.org/officeDocument/2006/relationships/slide" Target="slides/slide130.xml"/><Relationship Id="rId136" Type="http://schemas.openxmlformats.org/officeDocument/2006/relationships/slide" Target="slides/slide135.xml"/><Relationship Id="rId157" Type="http://schemas.openxmlformats.org/officeDocument/2006/relationships/font" Target="fonts/font1.fntdata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52" Type="http://schemas.openxmlformats.org/officeDocument/2006/relationships/slide" Target="slides/slide15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slide" Target="slides/slide104.xml"/><Relationship Id="rId126" Type="http://schemas.openxmlformats.org/officeDocument/2006/relationships/slide" Target="slides/slide125.xml"/><Relationship Id="rId147" Type="http://schemas.openxmlformats.org/officeDocument/2006/relationships/slide" Target="slides/slide146.xml"/><Relationship Id="rId168" Type="http://schemas.openxmlformats.org/officeDocument/2006/relationships/viewProps" Target="view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121" Type="http://schemas.openxmlformats.org/officeDocument/2006/relationships/slide" Target="slides/slide120.xml"/><Relationship Id="rId142" Type="http://schemas.openxmlformats.org/officeDocument/2006/relationships/slide" Target="slides/slide141.xml"/><Relationship Id="rId163" Type="http://schemas.openxmlformats.org/officeDocument/2006/relationships/font" Target="fonts/font7.fntdata"/><Relationship Id="rId3" Type="http://schemas.openxmlformats.org/officeDocument/2006/relationships/slide" Target="slides/slide2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116" Type="http://schemas.openxmlformats.org/officeDocument/2006/relationships/slide" Target="slides/slide115.xml"/><Relationship Id="rId137" Type="http://schemas.openxmlformats.org/officeDocument/2006/relationships/slide" Target="slides/slide136.xml"/><Relationship Id="rId158" Type="http://schemas.openxmlformats.org/officeDocument/2006/relationships/font" Target="fonts/font2.fntdata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111" Type="http://schemas.openxmlformats.org/officeDocument/2006/relationships/slide" Target="slides/slide110.xml"/><Relationship Id="rId132" Type="http://schemas.openxmlformats.org/officeDocument/2006/relationships/slide" Target="slides/slide131.xml"/><Relationship Id="rId153" Type="http://schemas.openxmlformats.org/officeDocument/2006/relationships/slide" Target="slides/slide152.xml"/><Relationship Id="rId15" Type="http://schemas.openxmlformats.org/officeDocument/2006/relationships/slide" Target="slides/slide14.xml"/><Relationship Id="rId36" Type="http://schemas.openxmlformats.org/officeDocument/2006/relationships/slide" Target="slides/slide35.xml"/><Relationship Id="rId57" Type="http://schemas.openxmlformats.org/officeDocument/2006/relationships/slide" Target="slides/slide56.xml"/><Relationship Id="rId106" Type="http://schemas.openxmlformats.org/officeDocument/2006/relationships/slide" Target="slides/slide105.xml"/><Relationship Id="rId127" Type="http://schemas.openxmlformats.org/officeDocument/2006/relationships/slide" Target="slides/slide12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52" Type="http://schemas.openxmlformats.org/officeDocument/2006/relationships/slide" Target="slides/slide51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122" Type="http://schemas.openxmlformats.org/officeDocument/2006/relationships/slide" Target="slides/slide121.xml"/><Relationship Id="rId143" Type="http://schemas.openxmlformats.org/officeDocument/2006/relationships/slide" Target="slides/slide142.xml"/><Relationship Id="rId148" Type="http://schemas.openxmlformats.org/officeDocument/2006/relationships/slide" Target="slides/slide147.xml"/><Relationship Id="rId164" Type="http://schemas.openxmlformats.org/officeDocument/2006/relationships/font" Target="fonts/font8.fntdata"/><Relationship Id="rId16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26" Type="http://schemas.openxmlformats.org/officeDocument/2006/relationships/slide" Target="slides/slide25.xml"/><Relationship Id="rId47" Type="http://schemas.openxmlformats.org/officeDocument/2006/relationships/slide" Target="slides/slide46.xml"/><Relationship Id="rId68" Type="http://schemas.openxmlformats.org/officeDocument/2006/relationships/slide" Target="slides/slide67.xml"/><Relationship Id="rId89" Type="http://schemas.openxmlformats.org/officeDocument/2006/relationships/slide" Target="slides/slide88.xml"/><Relationship Id="rId112" Type="http://schemas.openxmlformats.org/officeDocument/2006/relationships/slide" Target="slides/slide111.xml"/><Relationship Id="rId133" Type="http://schemas.openxmlformats.org/officeDocument/2006/relationships/slide" Target="slides/slide132.xml"/><Relationship Id="rId154" Type="http://schemas.openxmlformats.org/officeDocument/2006/relationships/slide" Target="slides/slide153.xml"/><Relationship Id="rId16" Type="http://schemas.openxmlformats.org/officeDocument/2006/relationships/slide" Target="slides/slide15.xml"/><Relationship Id="rId37" Type="http://schemas.openxmlformats.org/officeDocument/2006/relationships/slide" Target="slides/slide36.xml"/><Relationship Id="rId58" Type="http://schemas.openxmlformats.org/officeDocument/2006/relationships/slide" Target="slides/slide57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123" Type="http://schemas.openxmlformats.org/officeDocument/2006/relationships/slide" Target="slides/slide122.xml"/><Relationship Id="rId144" Type="http://schemas.openxmlformats.org/officeDocument/2006/relationships/slide" Target="slides/slide143.xml"/><Relationship Id="rId90" Type="http://schemas.openxmlformats.org/officeDocument/2006/relationships/slide" Target="slides/slide89.xml"/><Relationship Id="rId165" Type="http://schemas.openxmlformats.org/officeDocument/2006/relationships/font" Target="fonts/font9.fntdata"/><Relationship Id="rId27" Type="http://schemas.openxmlformats.org/officeDocument/2006/relationships/slide" Target="slides/slide26.xml"/><Relationship Id="rId48" Type="http://schemas.openxmlformats.org/officeDocument/2006/relationships/slide" Target="slides/slide47.xml"/><Relationship Id="rId69" Type="http://schemas.openxmlformats.org/officeDocument/2006/relationships/slide" Target="slides/slide68.xml"/><Relationship Id="rId113" Type="http://schemas.openxmlformats.org/officeDocument/2006/relationships/slide" Target="slides/slide112.xml"/><Relationship Id="rId134" Type="http://schemas.openxmlformats.org/officeDocument/2006/relationships/slide" Target="slides/slide133.xml"/><Relationship Id="rId80" Type="http://schemas.openxmlformats.org/officeDocument/2006/relationships/slide" Target="slides/slide79.xml"/><Relationship Id="rId155" Type="http://schemas.openxmlformats.org/officeDocument/2006/relationships/slide" Target="slides/slide154.xml"/><Relationship Id="rId17" Type="http://schemas.openxmlformats.org/officeDocument/2006/relationships/slide" Target="slides/slide16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24" Type="http://schemas.openxmlformats.org/officeDocument/2006/relationships/slide" Target="slides/slide12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3.xml"/><Relationship Id="rId1" Type="http://schemas.openxmlformats.org/officeDocument/2006/relationships/notesMaster" Target="../notesMasters/notesMaster1.xml"/></Relationships>
</file>

<file path=ppt/notesSlides/_rels/notesSlide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_rels/notesSlide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5.xml"/><Relationship Id="rId1" Type="http://schemas.openxmlformats.org/officeDocument/2006/relationships/notesMaster" Target="../notesMasters/notesMaster1.xml"/></Relationships>
</file>

<file path=ppt/notesSlides/_rels/notesSlide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6.xml"/><Relationship Id="rId1" Type="http://schemas.openxmlformats.org/officeDocument/2006/relationships/notesMaster" Target="../notesMasters/notesMaster1.xml"/></Relationships>
</file>

<file path=ppt/notesSlides/_rels/notesSlide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7.xml"/><Relationship Id="rId1" Type="http://schemas.openxmlformats.org/officeDocument/2006/relationships/notesMaster" Target="../notesMasters/notesMaster1.xml"/></Relationships>
</file>

<file path=ppt/notesSlides/_rels/notesSlide7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8.xml"/><Relationship Id="rId1" Type="http://schemas.openxmlformats.org/officeDocument/2006/relationships/notesMaster" Target="../notesMasters/notesMaster1.xml"/></Relationships>
</file>

<file path=ppt/notesSlides/_rels/notesSlide7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9.xml"/><Relationship Id="rId1" Type="http://schemas.openxmlformats.org/officeDocument/2006/relationships/notesMaster" Target="../notesMasters/notesMaster1.xml"/></Relationships>
</file>

<file path=ppt/notesSlides/_rels/notesSlide8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0.xml"/><Relationship Id="rId1" Type="http://schemas.openxmlformats.org/officeDocument/2006/relationships/notesMaster" Target="../notesMasters/notesMaster1.xml"/></Relationships>
</file>

<file path=ppt/notesSlides/_rels/notesSlide8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1.xml"/><Relationship Id="rId1" Type="http://schemas.openxmlformats.org/officeDocument/2006/relationships/notesMaster" Target="../notesMasters/notesMaster1.xml"/></Relationships>
</file>

<file path=ppt/notesSlides/_rels/notesSlide8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2.xml"/><Relationship Id="rId1" Type="http://schemas.openxmlformats.org/officeDocument/2006/relationships/notesMaster" Target="../notesMasters/notesMaster1.xml"/></Relationships>
</file>

<file path=ppt/notesSlides/_rels/notesSlide8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4.xml"/><Relationship Id="rId1" Type="http://schemas.openxmlformats.org/officeDocument/2006/relationships/notesMaster" Target="../notesMasters/notesMaster1.xml"/></Relationships>
</file>

<file path=ppt/notesSlides/_rels/notesSlide8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5.xml"/><Relationship Id="rId1" Type="http://schemas.openxmlformats.org/officeDocument/2006/relationships/notesMaster" Target="../notesMasters/notesMaster1.xml"/></Relationships>
</file>

<file path=ppt/notesSlides/_rels/notesSlide8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6.xml"/><Relationship Id="rId1" Type="http://schemas.openxmlformats.org/officeDocument/2006/relationships/notesMaster" Target="../notesMasters/notesMaster1.xml"/></Relationships>
</file>

<file path=ppt/notesSlides/_rels/notesSlide8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7.xml"/><Relationship Id="rId1" Type="http://schemas.openxmlformats.org/officeDocument/2006/relationships/notesMaster" Target="../notesMasters/notesMaster1.xml"/></Relationships>
</file>

<file path=ppt/notesSlides/_rels/notesSlide8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8.xml"/><Relationship Id="rId1" Type="http://schemas.openxmlformats.org/officeDocument/2006/relationships/notesMaster" Target="../notesMasters/notesMaster1.xml"/></Relationships>
</file>

<file path=ppt/notesSlides/_rels/notesSlide8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9.xml"/><Relationship Id="rId1" Type="http://schemas.openxmlformats.org/officeDocument/2006/relationships/notesMaster" Target="../notesMasters/notesMaster1.xml"/></Relationships>
</file>

<file path=ppt/notesSlides/_rels/notesSlide8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1.xml"/><Relationship Id="rId1" Type="http://schemas.openxmlformats.org/officeDocument/2006/relationships/notesMaster" Target="../notesMasters/notesMaster1.xml"/></Relationships>
</file>

<file path=ppt/notesSlides/_rels/notesSlide9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2.xml"/><Relationship Id="rId1" Type="http://schemas.openxmlformats.org/officeDocument/2006/relationships/notesMaster" Target="../notesMasters/notesMaster1.xml"/></Relationships>
</file>

<file path=ppt/notesSlides/_rels/notesSlide9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3.xml"/><Relationship Id="rId1" Type="http://schemas.openxmlformats.org/officeDocument/2006/relationships/notesMaster" Target="../notesMasters/notesMaster1.xml"/></Relationships>
</file>

<file path=ppt/notesSlides/_rels/notesSlide9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4.xml"/><Relationship Id="rId1" Type="http://schemas.openxmlformats.org/officeDocument/2006/relationships/notesMaster" Target="../notesMasters/notesMaster1.xml"/></Relationships>
</file>

<file path=ppt/notesSlides/_rels/notesSlide9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5.xml"/><Relationship Id="rId1" Type="http://schemas.openxmlformats.org/officeDocument/2006/relationships/notesMaster" Target="../notesMasters/notesMaster1.xml"/></Relationships>
</file>

<file path=ppt/notesSlides/_rels/notesSlide9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6.xml"/><Relationship Id="rId1" Type="http://schemas.openxmlformats.org/officeDocument/2006/relationships/notesMaster" Target="../notesMasters/notesMaster1.xml"/></Relationships>
</file>

<file path=ppt/notesSlides/_rels/notesSlide9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7.xml"/><Relationship Id="rId1" Type="http://schemas.openxmlformats.org/officeDocument/2006/relationships/notesMaster" Target="../notesMasters/notesMaster1.xml"/></Relationships>
</file>

<file path=ppt/notesSlides/_rels/notesSlide9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8.xml"/><Relationship Id="rId1" Type="http://schemas.openxmlformats.org/officeDocument/2006/relationships/notesMaster" Target="../notesMasters/notesMaster1.xml"/></Relationships>
</file>

<file path=ppt/notesSlides/_rels/notesSlide9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9.xml"/><Relationship Id="rId1" Type="http://schemas.openxmlformats.org/officeDocument/2006/relationships/notesMaster" Target="../notesMasters/notesMaster1.xml"/></Relationships>
</file>

<file path=ppt/notesSlides/_rels/notesSlide9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0.xml"/><Relationship Id="rId1" Type="http://schemas.openxmlformats.org/officeDocument/2006/relationships/notesMaster" Target="../notesMasters/notesMaster1.xml"/></Relationships>
</file>

<file path=ppt/notesSlides/_rels/notesSlide9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1.xml"/><Relationship Id="rId1" Type="http://schemas.openxmlformats.org/officeDocument/2006/relationships/notesMaster" Target="../notesMasters/notesMaster1.xml"/></Relationships>
</file>

<file path=ppt/notesSlides/_rels/notesSlide10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2.xml"/><Relationship Id="rId1" Type="http://schemas.openxmlformats.org/officeDocument/2006/relationships/notesMaster" Target="../notesMasters/notesMaster1.xml"/></Relationships>
</file>

<file path=ppt/notesSlides/_rels/notesSlide10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3.xml"/><Relationship Id="rId1" Type="http://schemas.openxmlformats.org/officeDocument/2006/relationships/notesMaster" Target="../notesMasters/notesMaster1.xml"/></Relationships>
</file>

<file path=ppt/notesSlides/_rels/notesSlide10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4.xml"/><Relationship Id="rId1" Type="http://schemas.openxmlformats.org/officeDocument/2006/relationships/notesMaster" Target="../notesMasters/notesMaster1.xml"/></Relationships>
</file>

<file path=ppt/notesSlides/_rels/notesSlide10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5.xml"/><Relationship Id="rId1" Type="http://schemas.openxmlformats.org/officeDocument/2006/relationships/notesMaster" Target="../notesMasters/notesMaster1.xml"/></Relationships>
</file>

<file path=ppt/notesSlides/_rels/notesSlide10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6.xml"/><Relationship Id="rId1" Type="http://schemas.openxmlformats.org/officeDocument/2006/relationships/notesMaster" Target="../notesMasters/notesMaster1.xml"/></Relationships>
</file>

<file path=ppt/notesSlides/_rels/notesSlide10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7.xml"/><Relationship Id="rId1" Type="http://schemas.openxmlformats.org/officeDocument/2006/relationships/notesMaster" Target="../notesMasters/notesMaster1.xml"/></Relationships>
</file>

<file path=ppt/notesSlides/_rels/notesSlide10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8.xml"/><Relationship Id="rId1" Type="http://schemas.openxmlformats.org/officeDocument/2006/relationships/notesMaster" Target="../notesMasters/notesMaster1.xml"/></Relationships>
</file>

<file path=ppt/notesSlides/_rels/notesSlide10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9.xml"/><Relationship Id="rId1" Type="http://schemas.openxmlformats.org/officeDocument/2006/relationships/notesMaster" Target="../notesMasters/notesMaster1.xml"/></Relationships>
</file>

<file path=ppt/notesSlides/_rels/notesSlide10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0.xml"/><Relationship Id="rId1" Type="http://schemas.openxmlformats.org/officeDocument/2006/relationships/notesMaster" Target="../notesMasters/notesMaster1.xml"/></Relationships>
</file>

<file path=ppt/notesSlides/_rels/notesSlide10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1.xml"/><Relationship Id="rId1" Type="http://schemas.openxmlformats.org/officeDocument/2006/relationships/notesMaster" Target="../notesMasters/notesMaster1.xml"/></Relationships>
</file>

<file path=ppt/notesSlides/_rels/notesSlide1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2.xml"/><Relationship Id="rId1" Type="http://schemas.openxmlformats.org/officeDocument/2006/relationships/notesMaster" Target="../notesMasters/notesMaster1.xml"/></Relationships>
</file>

<file path=ppt/notesSlides/_rels/notesSlide1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3.xml"/><Relationship Id="rId1" Type="http://schemas.openxmlformats.org/officeDocument/2006/relationships/notesMaster" Target="../notesMasters/notesMaster1.xml"/></Relationships>
</file>

<file path=ppt/notesSlides/_rels/notesSlide1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4.xml"/><Relationship Id="rId1" Type="http://schemas.openxmlformats.org/officeDocument/2006/relationships/notesMaster" Target="../notesMasters/notesMaster1.xml"/></Relationships>
</file>

<file path=ppt/notesSlides/_rels/notesSlide1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5.xml"/><Relationship Id="rId1" Type="http://schemas.openxmlformats.org/officeDocument/2006/relationships/notesMaster" Target="../notesMasters/notesMaster1.xml"/></Relationships>
</file>

<file path=ppt/notesSlides/_rels/notesSlide1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6.xml"/><Relationship Id="rId1" Type="http://schemas.openxmlformats.org/officeDocument/2006/relationships/notesMaster" Target="../notesMasters/notesMaster1.xml"/></Relationships>
</file>

<file path=ppt/notesSlides/_rels/notesSlide1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7.xml"/><Relationship Id="rId1" Type="http://schemas.openxmlformats.org/officeDocument/2006/relationships/notesMaster" Target="../notesMasters/notesMaster1.xml"/></Relationships>
</file>

<file path=ppt/notesSlides/_rels/notesSlide1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8.xml"/><Relationship Id="rId1" Type="http://schemas.openxmlformats.org/officeDocument/2006/relationships/notesMaster" Target="../notesMasters/notesMaster1.xml"/></Relationships>
</file>

<file path=ppt/notesSlides/_rels/notesSlide1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9.xml"/><Relationship Id="rId1" Type="http://schemas.openxmlformats.org/officeDocument/2006/relationships/notesMaster" Target="../notesMasters/notesMaster1.xml"/></Relationships>
</file>

<file path=ppt/notesSlides/_rels/notesSlide1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0.xml"/><Relationship Id="rId1" Type="http://schemas.openxmlformats.org/officeDocument/2006/relationships/notesMaster" Target="../notesMasters/notesMaster1.xml"/></Relationships>
</file>

<file path=ppt/notesSlides/_rels/notesSlide1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1.xml"/><Relationship Id="rId1" Type="http://schemas.openxmlformats.org/officeDocument/2006/relationships/notesMaster" Target="../notesMasters/notesMaster1.xml"/></Relationships>
</file>

<file path=ppt/notesSlides/_rels/notesSlide1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2.xml"/><Relationship Id="rId1" Type="http://schemas.openxmlformats.org/officeDocument/2006/relationships/notesMaster" Target="../notesMasters/notesMaster1.xml"/></Relationships>
</file>

<file path=ppt/notesSlides/_rels/notesSlide1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3.xml"/><Relationship Id="rId1" Type="http://schemas.openxmlformats.org/officeDocument/2006/relationships/notesMaster" Target="../notesMasters/notesMaster1.xml"/></Relationships>
</file>

<file path=ppt/notesSlides/_rels/notesSlide1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4.xml"/><Relationship Id="rId1" Type="http://schemas.openxmlformats.org/officeDocument/2006/relationships/notesMaster" Target="../notesMasters/notesMaster1.xml"/></Relationships>
</file>

<file path=ppt/notesSlides/_rels/notesSlide1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5.xml"/><Relationship Id="rId1" Type="http://schemas.openxmlformats.org/officeDocument/2006/relationships/notesMaster" Target="../notesMasters/notesMaster1.xml"/></Relationships>
</file>

<file path=ppt/notesSlides/_rels/notesSlide1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6.xml"/><Relationship Id="rId1" Type="http://schemas.openxmlformats.org/officeDocument/2006/relationships/notesMaster" Target="../notesMasters/notesMaster1.xml"/></Relationships>
</file>

<file path=ppt/notesSlides/_rels/notesSlide1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7.xml"/><Relationship Id="rId1" Type="http://schemas.openxmlformats.org/officeDocument/2006/relationships/notesMaster" Target="../notesMasters/notesMaster1.xml"/></Relationships>
</file>

<file path=ppt/notesSlides/_rels/notesSlide1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8.xml"/><Relationship Id="rId1" Type="http://schemas.openxmlformats.org/officeDocument/2006/relationships/notesMaster" Target="../notesMasters/notesMaster1.xml"/></Relationships>
</file>

<file path=ppt/notesSlides/_rels/notesSlide1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9.xml"/><Relationship Id="rId1" Type="http://schemas.openxmlformats.org/officeDocument/2006/relationships/notesMaster" Target="../notesMasters/notesMaster1.xml"/></Relationships>
</file>

<file path=ppt/notesSlides/_rels/notesSlide1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0.xml"/><Relationship Id="rId1" Type="http://schemas.openxmlformats.org/officeDocument/2006/relationships/notesMaster" Target="../notesMasters/notesMaster1.xml"/></Relationships>
</file>

<file path=ppt/notesSlides/_rels/notesSlide1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1.xml"/><Relationship Id="rId1" Type="http://schemas.openxmlformats.org/officeDocument/2006/relationships/notesMaster" Target="../notesMasters/notesMaster1.xml"/></Relationships>
</file>

<file path=ppt/notesSlides/_rels/notesSlide1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2.xml"/><Relationship Id="rId1" Type="http://schemas.openxmlformats.org/officeDocument/2006/relationships/notesMaster" Target="../notesMasters/notesMaster1.xml"/></Relationships>
</file>

<file path=ppt/notesSlides/_rels/notesSlide1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3.xml"/><Relationship Id="rId1" Type="http://schemas.openxmlformats.org/officeDocument/2006/relationships/notesMaster" Target="../notesMasters/notesMaster1.xml"/></Relationships>
</file>

<file path=ppt/notesSlides/_rels/notesSlide1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4.xml"/><Relationship Id="rId1" Type="http://schemas.openxmlformats.org/officeDocument/2006/relationships/notesMaster" Target="../notesMasters/notesMaster1.xml"/></Relationships>
</file>

<file path=ppt/notesSlides/_rels/notesSlide1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5.xml"/><Relationship Id="rId1" Type="http://schemas.openxmlformats.org/officeDocument/2006/relationships/notesMaster" Target="../notesMasters/notesMaster1.xml"/></Relationships>
</file>

<file path=ppt/notesSlides/_rels/notesSlide1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6.xml"/><Relationship Id="rId1" Type="http://schemas.openxmlformats.org/officeDocument/2006/relationships/notesMaster" Target="../notesMasters/notesMaster1.xml"/></Relationships>
</file>

<file path=ppt/notesSlides/_rels/notesSlide1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7.xml"/><Relationship Id="rId1" Type="http://schemas.openxmlformats.org/officeDocument/2006/relationships/notesMaster" Target="../notesMasters/notesMaster1.xml"/></Relationships>
</file>

<file path=ppt/notesSlides/_rels/notesSlide1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8.xml"/><Relationship Id="rId1" Type="http://schemas.openxmlformats.org/officeDocument/2006/relationships/notesMaster" Target="../notesMasters/notesMaster1.xml"/></Relationships>
</file>

<file path=ppt/notesSlides/_rels/notesSlide1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9.xml"/><Relationship Id="rId1" Type="http://schemas.openxmlformats.org/officeDocument/2006/relationships/notesMaster" Target="../notesMasters/notesMaster1.xml"/></Relationships>
</file>

<file path=ppt/notesSlides/_rels/notesSlide1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0.xml"/><Relationship Id="rId1" Type="http://schemas.openxmlformats.org/officeDocument/2006/relationships/notesMaster" Target="../notesMasters/notesMaster1.xml"/></Relationships>
</file>

<file path=ppt/notesSlides/_rels/notesSlide1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1.xml"/><Relationship Id="rId1" Type="http://schemas.openxmlformats.org/officeDocument/2006/relationships/notesMaster" Target="../notesMasters/notesMaster1.xml"/></Relationships>
</file>

<file path=ppt/notesSlides/_rels/notesSlide1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2.xml"/><Relationship Id="rId1" Type="http://schemas.openxmlformats.org/officeDocument/2006/relationships/notesMaster" Target="../notesMasters/notesMaster1.xml"/></Relationships>
</file>

<file path=ppt/notesSlides/_rels/notesSlide1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3.xml"/><Relationship Id="rId1" Type="http://schemas.openxmlformats.org/officeDocument/2006/relationships/notesMaster" Target="../notesMasters/notesMaster1.xml"/></Relationships>
</file>

<file path=ppt/notesSlides/_rels/notesSlide1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4.xml"/><Relationship Id="rId1" Type="http://schemas.openxmlformats.org/officeDocument/2006/relationships/notesMaster" Target="../notesMasters/notesMaster1.xml"/></Relationships>
</file>

<file path=ppt/notesSlides/_rels/notesSlide1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5.xml"/><Relationship Id="rId1" Type="http://schemas.openxmlformats.org/officeDocument/2006/relationships/notesMaster" Target="../notesMasters/notesMaster1.xml"/></Relationships>
</file>

<file path=ppt/notesSlides/_rels/notesSlide1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6.xml"/><Relationship Id="rId1" Type="http://schemas.openxmlformats.org/officeDocument/2006/relationships/notesMaster" Target="../notesMasters/notesMaster1.xml"/></Relationships>
</file>

<file path=ppt/notesSlides/_rels/notesSlide1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7.xml"/><Relationship Id="rId1" Type="http://schemas.openxmlformats.org/officeDocument/2006/relationships/notesMaster" Target="../notesMasters/notesMaster1.xml"/></Relationships>
</file>

<file path=ppt/notesSlides/_rels/notesSlide1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8.xml"/><Relationship Id="rId1" Type="http://schemas.openxmlformats.org/officeDocument/2006/relationships/notesMaster" Target="../notesMasters/notesMaster1.xml"/></Relationships>
</file>

<file path=ppt/notesSlides/_rels/notesSlide1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9.xml"/><Relationship Id="rId1" Type="http://schemas.openxmlformats.org/officeDocument/2006/relationships/notesMaster" Target="../notesMasters/notesMaster1.xml"/></Relationships>
</file>

<file path=ppt/notesSlides/_rels/notesSlide1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0.xml"/><Relationship Id="rId1" Type="http://schemas.openxmlformats.org/officeDocument/2006/relationships/notesMaster" Target="../notesMasters/notesMaster1.xml"/></Relationships>
</file>

<file path=ppt/notesSlides/_rels/notesSlide1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1.xml"/><Relationship Id="rId1" Type="http://schemas.openxmlformats.org/officeDocument/2006/relationships/notesMaster" Target="../notesMasters/notesMaster1.xml"/></Relationships>
</file>

<file path=ppt/notesSlides/_rels/notesSlide1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2.xml"/><Relationship Id="rId1" Type="http://schemas.openxmlformats.org/officeDocument/2006/relationships/notesMaster" Target="../notesMasters/notesMaster1.xml"/></Relationships>
</file>

<file path=ppt/notesSlides/_rels/notesSlide1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3.xml"/><Relationship Id="rId1" Type="http://schemas.openxmlformats.org/officeDocument/2006/relationships/notesMaster" Target="../notesMasters/notesMaster1.xml"/></Relationships>
</file>

<file path=ppt/notesSlides/_rels/notesSlide1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Kneeboard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86" name="Google Shape;86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07264141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 err="1"/>
              <a:t>Dometic</a:t>
            </a:r>
            <a:endParaRPr dirty="0"/>
          </a:p>
        </p:txBody>
      </p:sp>
      <p:sp>
        <p:nvSpPr>
          <p:cNvPr id="86" name="Google Shape;86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7466131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7" name="Google Shape;367;p2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Domestic PA</a:t>
            </a:r>
            <a:endParaRPr dirty="0"/>
          </a:p>
        </p:txBody>
      </p:sp>
      <p:sp>
        <p:nvSpPr>
          <p:cNvPr id="368" name="Google Shape;368;p27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47317372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7" name="Google Shape;367;p2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68" name="Google Shape;368;p27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94092272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6" name="Google Shape;86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78520380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7" name="Google Shape;367;p2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68" name="Google Shape;368;p27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64873798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6" name="Google Shape;86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0126707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7" name="Google Shape;367;p2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68" name="Google Shape;368;p27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56982691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6" name="Google Shape;86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33678923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7" name="Google Shape;367;p2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68" name="Google Shape;368;p27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80095887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7" name="Google Shape;367;p2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68" name="Google Shape;368;p27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82869774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5" name="Google Shape;95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" name="Google Shape;114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3" name="Google Shape;133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2" name="Google Shape;152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1" name="Google Shape;171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p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1" name="Google Shape;181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1" name="Google Shape;191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Google Shape;200;p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1" name="Google Shape;201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Google Shape;210;p1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1" name="Google Shape;211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Google Shape;220;p1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1" name="Google Shape;221;p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" name="Google Shape;230;p1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1" name="Google Shape;231;p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1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1" name="Google Shape;241;p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" name="Google Shape;269;p1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0" name="Google Shape;270;p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855919343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Google Shape;278;p1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9" name="Google Shape;279;p17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818203206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" name="Google Shape;269;p1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0" name="Google Shape;270;p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546623610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Google Shape;278;p1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9" name="Google Shape;279;p17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695006536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" name="Google Shape;250;p1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1" name="Google Shape;251;p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1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1" name="Google Shape;261;p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" name="Google Shape;250;p1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1" name="Google Shape;251;p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256723913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1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1" name="Google Shape;261;p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223360839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" name="Google Shape;250;p1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1" name="Google Shape;251;p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6817610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1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1" name="Google Shape;261;p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053582395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p1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8" name="Google Shape;288;p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Google Shape;296;p1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7" name="Google Shape;297;p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5" name="Google Shape;305;p2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6" name="Google Shape;306;p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2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5" name="Google Shape;315;p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24" name="Google Shape;324;p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2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3" name="Google Shape;333;p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2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2" name="Google Shape;342;p24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0" name="Google Shape;350;p2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1" name="Google Shape;351;p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p1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8" name="Google Shape;288;p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862408479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Google Shape;296;p1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7" name="Google Shape;297;p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712559574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" name="Google Shape;269;p1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0" name="Google Shape;270;p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651104655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Google Shape;278;p1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9" name="Google Shape;279;p17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09526283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24" name="Google Shape;324;p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80503858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2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3" name="Google Shape;333;p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5415325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24" name="Google Shape;324;p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622037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2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3" name="Google Shape;333;p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926850823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5" name="Google Shape;305;p2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6" name="Google Shape;306;p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52615518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2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5" name="Google Shape;315;p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771504000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5" name="Google Shape;95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76386487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Google Shape;393;p3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4" name="Google Shape;394;p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67487946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" name="Google Shape;114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031417052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5" name="Google Shape;95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000514549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Google Shape;393;p3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4" name="Google Shape;394;p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803839488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" name="Google Shape;114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25896396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5" name="Google Shape;95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059469059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" name="Google Shape;114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33221063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1" name="Google Shape;191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975219717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Google Shape;393;p3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4" name="Google Shape;394;p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396193232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Google Shape;200;p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1" name="Google Shape;201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625540558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p1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8" name="Google Shape;288;p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191991175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Google Shape;393;p3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4" name="Google Shape;394;p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965919360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" name="Google Shape;114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717301807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p1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8" name="Google Shape;288;p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808910705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Google Shape;393;p3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4" name="Google Shape;394;p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17527259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" name="Google Shape;114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108404888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p1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8" name="Google Shape;288;p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085281466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Google Shape;393;p3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4" name="Google Shape;394;p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263449680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" name="Google Shape;114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341143918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p1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8" name="Google Shape;288;p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10850014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Google Shape;393;p3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4" name="Google Shape;394;p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282240887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" name="Google Shape;114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853978972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p1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8" name="Google Shape;288;p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975312968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Google Shape;393;p3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4" name="Google Shape;394;p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574740637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" name="Google Shape;114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173371497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p1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8" name="Google Shape;288;p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404060463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Google Shape;393;p3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4" name="Google Shape;394;p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564228466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" name="Google Shape;114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935434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p1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8" name="Google Shape;288;p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99499890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Google Shape;393;p3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4" name="Google Shape;394;p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865856994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" name="Google Shape;114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465789836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p1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8" name="Google Shape;288;p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257724403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Google Shape;393;p3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4" name="Google Shape;394;p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289791894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" name="Google Shape;114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022559117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p1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8" name="Google Shape;288;p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946154442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Google Shape;393;p3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4" name="Google Shape;394;p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197571369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" name="Google Shape;114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47987072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p1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8" name="Google Shape;288;p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603908419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Google Shape;393;p3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4" name="Google Shape;394;p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183282965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" name="Google Shape;114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17505480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p1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8" name="Google Shape;288;p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465700620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Google Shape;393;p3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4" name="Google Shape;394;p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579843573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" name="Google Shape;114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707536146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p1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8" name="Google Shape;288;p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271320473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" name="Google Shape;114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658031806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p1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8" name="Google Shape;288;p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803227430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Google Shape;393;p3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4" name="Google Shape;394;p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497804079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" name="Google Shape;114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889826059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p1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8" name="Google Shape;288;p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029502541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Google Shape;393;p3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4" name="Google Shape;394;p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734329477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" name="Google Shape;114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261123900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p1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8" name="Google Shape;288;p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813001987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Google Shape;393;p3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4" name="Google Shape;394;p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589494170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" name="Google Shape;114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122424628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6">
          <a:extLst>
            <a:ext uri="{FF2B5EF4-FFF2-40B4-BE49-F238E27FC236}">
              <a16:creationId xmlns:a16="http://schemas.microsoft.com/office/drawing/2014/main" id="{28F04BC2-995A-883D-1F9C-8B964E3AB0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p18:notes">
            <a:extLst>
              <a:ext uri="{FF2B5EF4-FFF2-40B4-BE49-F238E27FC236}">
                <a16:creationId xmlns:a16="http://schemas.microsoft.com/office/drawing/2014/main" id="{9F159807-29A1-B76D-C4F7-3843C57BB3C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8" name="Google Shape;288;p18:notes">
            <a:extLst>
              <a:ext uri="{FF2B5EF4-FFF2-40B4-BE49-F238E27FC236}">
                <a16:creationId xmlns:a16="http://schemas.microsoft.com/office/drawing/2014/main" id="{15EC3C7A-8250-B15C-56AD-35D23DB6B41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789271150"/>
      </p:ext>
    </p:extLst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2">
          <a:extLst>
            <a:ext uri="{FF2B5EF4-FFF2-40B4-BE49-F238E27FC236}">
              <a16:creationId xmlns:a16="http://schemas.microsoft.com/office/drawing/2014/main" id="{ABBAF33E-327A-3B8B-7BBD-71BD5BC6A7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Google Shape;393;p30:notes">
            <a:extLst>
              <a:ext uri="{FF2B5EF4-FFF2-40B4-BE49-F238E27FC236}">
                <a16:creationId xmlns:a16="http://schemas.microsoft.com/office/drawing/2014/main" id="{F5845856-0077-4466-289C-63A064B3AA1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4" name="Google Shape;394;p30:notes">
            <a:extLst>
              <a:ext uri="{FF2B5EF4-FFF2-40B4-BE49-F238E27FC236}">
                <a16:creationId xmlns:a16="http://schemas.microsoft.com/office/drawing/2014/main" id="{747D5D3A-1071-4ADF-FE14-273E008A54F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553640975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>
          <a:extLst>
            <a:ext uri="{FF2B5EF4-FFF2-40B4-BE49-F238E27FC236}">
              <a16:creationId xmlns:a16="http://schemas.microsoft.com/office/drawing/2014/main" id="{D0D68442-E925-0F27-93A9-B596FA1AF5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3:notes">
            <a:extLst>
              <a:ext uri="{FF2B5EF4-FFF2-40B4-BE49-F238E27FC236}">
                <a16:creationId xmlns:a16="http://schemas.microsoft.com/office/drawing/2014/main" id="{33A5AF1F-D01F-A2BC-D51E-225431B0623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" name="Google Shape;114;p3:notes">
            <a:extLst>
              <a:ext uri="{FF2B5EF4-FFF2-40B4-BE49-F238E27FC236}">
                <a16:creationId xmlns:a16="http://schemas.microsoft.com/office/drawing/2014/main" id="{91A86C6C-3B36-A104-8EE4-55FFB256923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311318186"/>
      </p:ext>
    </p:extLst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6">
          <a:extLst>
            <a:ext uri="{FF2B5EF4-FFF2-40B4-BE49-F238E27FC236}">
              <a16:creationId xmlns:a16="http://schemas.microsoft.com/office/drawing/2014/main" id="{CBA007F9-A3EF-503B-612C-932CF5540D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p18:notes">
            <a:extLst>
              <a:ext uri="{FF2B5EF4-FFF2-40B4-BE49-F238E27FC236}">
                <a16:creationId xmlns:a16="http://schemas.microsoft.com/office/drawing/2014/main" id="{492A2DDB-E43F-A118-7076-4FFB3401D1A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8" name="Google Shape;288;p18:notes">
            <a:extLst>
              <a:ext uri="{FF2B5EF4-FFF2-40B4-BE49-F238E27FC236}">
                <a16:creationId xmlns:a16="http://schemas.microsoft.com/office/drawing/2014/main" id="{6A75F646-7847-9AF5-2252-35AE8899C0F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244303157"/>
      </p:ext>
    </p:extLst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2">
          <a:extLst>
            <a:ext uri="{FF2B5EF4-FFF2-40B4-BE49-F238E27FC236}">
              <a16:creationId xmlns:a16="http://schemas.microsoft.com/office/drawing/2014/main" id="{17CF2D6D-B49F-DD01-1168-1C2FF64EE1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Google Shape;393;p30:notes">
            <a:extLst>
              <a:ext uri="{FF2B5EF4-FFF2-40B4-BE49-F238E27FC236}">
                <a16:creationId xmlns:a16="http://schemas.microsoft.com/office/drawing/2014/main" id="{FEAEC217-200D-8DAB-1AEC-38EF35CB208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4" name="Google Shape;394;p30:notes">
            <a:extLst>
              <a:ext uri="{FF2B5EF4-FFF2-40B4-BE49-F238E27FC236}">
                <a16:creationId xmlns:a16="http://schemas.microsoft.com/office/drawing/2014/main" id="{16A325AA-530A-6502-93D9-02A5672BC0B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263567780"/>
      </p:ext>
    </p:extLst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>
          <a:extLst>
            <a:ext uri="{FF2B5EF4-FFF2-40B4-BE49-F238E27FC236}">
              <a16:creationId xmlns:a16="http://schemas.microsoft.com/office/drawing/2014/main" id="{6EDB6F10-8EA4-E8E3-5121-2259ABE2AA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3:notes">
            <a:extLst>
              <a:ext uri="{FF2B5EF4-FFF2-40B4-BE49-F238E27FC236}">
                <a16:creationId xmlns:a16="http://schemas.microsoft.com/office/drawing/2014/main" id="{18419798-DFA3-502A-7854-681732BF800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" name="Google Shape;114;p3:notes">
            <a:extLst>
              <a:ext uri="{FF2B5EF4-FFF2-40B4-BE49-F238E27FC236}">
                <a16:creationId xmlns:a16="http://schemas.microsoft.com/office/drawing/2014/main" id="{9E650C63-B66F-5140-BDD9-48A098E39E6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103605961"/>
      </p:ext>
    </p:extLst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6">
          <a:extLst>
            <a:ext uri="{FF2B5EF4-FFF2-40B4-BE49-F238E27FC236}">
              <a16:creationId xmlns:a16="http://schemas.microsoft.com/office/drawing/2014/main" id="{C8B52D91-7381-F071-5762-EC9E8E0291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p18:notes">
            <a:extLst>
              <a:ext uri="{FF2B5EF4-FFF2-40B4-BE49-F238E27FC236}">
                <a16:creationId xmlns:a16="http://schemas.microsoft.com/office/drawing/2014/main" id="{6BA88C35-4299-26A4-9FB4-F5EC93F1D8D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8" name="Google Shape;288;p18:notes">
            <a:extLst>
              <a:ext uri="{FF2B5EF4-FFF2-40B4-BE49-F238E27FC236}">
                <a16:creationId xmlns:a16="http://schemas.microsoft.com/office/drawing/2014/main" id="{C35EE470-E9F0-B858-708E-D1F4B276F47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73900140"/>
      </p:ext>
    </p:extLst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2">
          <a:extLst>
            <a:ext uri="{FF2B5EF4-FFF2-40B4-BE49-F238E27FC236}">
              <a16:creationId xmlns:a16="http://schemas.microsoft.com/office/drawing/2014/main" id="{1D2D883D-114D-4AC7-AC11-BBA06E25D5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Google Shape;393;p30:notes">
            <a:extLst>
              <a:ext uri="{FF2B5EF4-FFF2-40B4-BE49-F238E27FC236}">
                <a16:creationId xmlns:a16="http://schemas.microsoft.com/office/drawing/2014/main" id="{C7AEA3F3-61D3-AD3E-3686-76D6832CDC4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4" name="Google Shape;394;p30:notes">
            <a:extLst>
              <a:ext uri="{FF2B5EF4-FFF2-40B4-BE49-F238E27FC236}">
                <a16:creationId xmlns:a16="http://schemas.microsoft.com/office/drawing/2014/main" id="{D08848B9-99DF-48DB-3F53-624D782A8CF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961059681"/>
      </p:ext>
    </p:extLst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>
          <a:extLst>
            <a:ext uri="{FF2B5EF4-FFF2-40B4-BE49-F238E27FC236}">
              <a16:creationId xmlns:a16="http://schemas.microsoft.com/office/drawing/2014/main" id="{BF77A258-E153-13BA-241A-10CFF6B7B6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3:notes">
            <a:extLst>
              <a:ext uri="{FF2B5EF4-FFF2-40B4-BE49-F238E27FC236}">
                <a16:creationId xmlns:a16="http://schemas.microsoft.com/office/drawing/2014/main" id="{6AE2D417-9A59-CC2C-0E93-328401EEC15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" name="Google Shape;114;p3:notes">
            <a:extLst>
              <a:ext uri="{FF2B5EF4-FFF2-40B4-BE49-F238E27FC236}">
                <a16:creationId xmlns:a16="http://schemas.microsoft.com/office/drawing/2014/main" id="{8E88688E-F8CF-67CB-F382-F094A7D1665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928683061"/>
      </p:ext>
    </p:extLst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p1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8" name="Google Shape;288;p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135235444"/>
      </p:ext>
    </p:extLst>
  </p:cSld>
  <p:clrMapOvr>
    <a:masterClrMapping/>
  </p:clrMapOvr>
</p:notes>
</file>

<file path=ppt/notesSlides/notesSlide1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" name="Google Shape;114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527955625"/>
      </p:ext>
    </p:extLst>
  </p:cSld>
  <p:clrMapOvr>
    <a:masterClrMapping/>
  </p:clrMapOvr>
</p:notes>
</file>

<file path=ppt/notesSlides/notesSlide1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p1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8" name="Google Shape;288;p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209158952"/>
      </p:ext>
    </p:extLst>
  </p:cSld>
  <p:clrMapOvr>
    <a:masterClrMapping/>
  </p:clrMapOvr>
</p:notes>
</file>

<file path=ppt/notesSlides/notesSlide1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" name="Google Shape;114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643964762"/>
      </p:ext>
    </p:extLst>
  </p:cSld>
  <p:clrMapOvr>
    <a:masterClrMapping/>
  </p:clrMapOvr>
</p:notes>
</file>

<file path=ppt/notesSlides/notesSlide1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p1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8" name="Google Shape;288;p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194335809"/>
      </p:ext>
    </p:extLst>
  </p:cSld>
  <p:clrMapOvr>
    <a:masterClrMapping/>
  </p:clrMapOvr>
</p:notes>
</file>

<file path=ppt/notesSlides/notesSlide1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" name="Google Shape;114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495349991"/>
      </p:ext>
    </p:extLst>
  </p:cSld>
  <p:clrMapOvr>
    <a:masterClrMapping/>
  </p:clrMapOvr>
</p:notes>
</file>

<file path=ppt/notesSlides/notesSlide1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p1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8" name="Google Shape;288;p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865088383"/>
      </p:ext>
    </p:extLst>
  </p:cSld>
  <p:clrMapOvr>
    <a:masterClrMapping/>
  </p:clrMapOvr>
</p:notes>
</file>

<file path=ppt/notesSlides/notesSlide1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" name="Google Shape;114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565431813"/>
      </p:ext>
    </p:extLst>
  </p:cSld>
  <p:clrMapOvr>
    <a:masterClrMapping/>
  </p:clrMapOvr>
</p:notes>
</file>

<file path=ppt/notesSlides/notesSlide1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p1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8" name="Google Shape;288;p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985096645"/>
      </p:ext>
    </p:extLst>
  </p:cSld>
  <p:clrMapOvr>
    <a:masterClrMapping/>
  </p:clrMapOvr>
</p:notes>
</file>

<file path=ppt/notesSlides/notesSlide1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" name="Google Shape;114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600820482"/>
      </p:ext>
    </p:extLst>
  </p:cSld>
  <p:clrMapOvr>
    <a:masterClrMapping/>
  </p:clrMapOvr>
</p:notes>
</file>

<file path=ppt/notesSlides/notesSlide1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p1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8" name="Google Shape;288;p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639254069"/>
      </p:ext>
    </p:extLst>
  </p:cSld>
  <p:clrMapOvr>
    <a:masterClrMapping/>
  </p:clrMapOvr>
</p:notes>
</file>

<file path=ppt/notesSlides/notesSlide1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" name="Google Shape;114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912535520"/>
      </p:ext>
    </p:extLst>
  </p:cSld>
  <p:clrMapOvr>
    <a:masterClrMapping/>
  </p:clrMapOvr>
</p:notes>
</file>

<file path=ppt/notesSlides/notesSlide1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" name="Google Shape;269;p1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0" name="Google Shape;270;p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559400145"/>
      </p:ext>
    </p:extLst>
  </p:cSld>
  <p:clrMapOvr>
    <a:masterClrMapping/>
  </p:clrMapOvr>
</p:notes>
</file>

<file path=ppt/notesSlides/notesSlide1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" name="Google Shape;399;p3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0" name="Google Shape;400;p31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38610407"/>
      </p:ext>
    </p:extLst>
  </p:cSld>
  <p:clrMapOvr>
    <a:masterClrMapping/>
  </p:clrMapOvr>
</p:notes>
</file>

<file path=ppt/notesSlides/notesSlide1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Google Shape;278;p1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9" name="Google Shape;279;p17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246030226"/>
      </p:ext>
    </p:extLst>
  </p:cSld>
  <p:clrMapOvr>
    <a:masterClrMapping/>
  </p:clrMapOvr>
</p:notes>
</file>

<file path=ppt/notesSlides/notesSlide1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p1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8" name="Google Shape;288;p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364495566"/>
      </p:ext>
    </p:extLst>
  </p:cSld>
  <p:clrMapOvr>
    <a:masterClrMapping/>
  </p:clrMapOvr>
</p:notes>
</file>

<file path=ppt/notesSlides/notesSlide1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" name="Google Shape;114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454391033"/>
      </p:ext>
    </p:extLst>
  </p:cSld>
  <p:clrMapOvr>
    <a:masterClrMapping/>
  </p:clrMapOvr>
</p:notes>
</file>

<file path=ppt/notesSlides/notesSlide13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p1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8" name="Google Shape;288;p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144413914"/>
      </p:ext>
    </p:extLst>
  </p:cSld>
  <p:clrMapOvr>
    <a:masterClrMapping/>
  </p:clrMapOvr>
</p:notes>
</file>

<file path=ppt/notesSlides/notesSlide13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" name="Google Shape;114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953685713"/>
      </p:ext>
    </p:extLst>
  </p:cSld>
  <p:clrMapOvr>
    <a:masterClrMapping/>
  </p:clrMapOvr>
</p:notes>
</file>

<file path=ppt/notesSlides/notesSlide13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" name="Google Shape;399;p3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0" name="Google Shape;400;p31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463776738"/>
      </p:ext>
    </p:extLst>
  </p:cSld>
  <p:clrMapOvr>
    <a:masterClrMapping/>
  </p:clrMapOvr>
</p:notes>
</file>

<file path=ppt/notesSlides/notesSlide13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" name="Google Shape;399;p3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0" name="Google Shape;400;p31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847666556"/>
      </p:ext>
    </p:extLst>
  </p:cSld>
  <p:clrMapOvr>
    <a:masterClrMapping/>
  </p:clrMapOvr>
</p:notes>
</file>

<file path=ppt/notesSlides/notesSlide13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" name="Google Shape;399;p3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0" name="Google Shape;400;p31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46651569"/>
      </p:ext>
    </p:extLst>
  </p:cSld>
  <p:clrMapOvr>
    <a:masterClrMapping/>
  </p:clrMapOvr>
</p:notes>
</file>

<file path=ppt/notesSlides/notesSlide13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8">
          <a:extLst>
            <a:ext uri="{FF2B5EF4-FFF2-40B4-BE49-F238E27FC236}">
              <a16:creationId xmlns:a16="http://schemas.microsoft.com/office/drawing/2014/main" id="{7D3EAA58-03C9-5B38-3634-9FC18AD6B3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" name="Google Shape;399;p31:notes">
            <a:extLst>
              <a:ext uri="{FF2B5EF4-FFF2-40B4-BE49-F238E27FC236}">
                <a16:creationId xmlns:a16="http://schemas.microsoft.com/office/drawing/2014/main" id="{810A13D0-080C-9792-FE38-F7F92108B7A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0" name="Google Shape;400;p31:notes">
            <a:extLst>
              <a:ext uri="{FF2B5EF4-FFF2-40B4-BE49-F238E27FC236}">
                <a16:creationId xmlns:a16="http://schemas.microsoft.com/office/drawing/2014/main" id="{E033A82F-F386-248C-34A6-63506250DF4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16534397"/>
      </p:ext>
    </p:extLst>
  </p:cSld>
  <p:clrMapOvr>
    <a:masterClrMapping/>
  </p:clrMapOvr>
</p:notes>
</file>

<file path=ppt/notesSlides/notesSlide13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" name="Google Shape;399;p3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0" name="Google Shape;400;p31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879633618"/>
      </p:ext>
    </p:extLst>
  </p:cSld>
  <p:clrMapOvr>
    <a:masterClrMapping/>
  </p:clrMapOvr>
</p:notes>
</file>

<file path=ppt/notesSlides/notesSlide14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" name="Google Shape;399;p3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0" name="Google Shape;400;p31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881630487"/>
      </p:ext>
    </p:extLst>
  </p:cSld>
  <p:clrMapOvr>
    <a:masterClrMapping/>
  </p:clrMapOvr>
</p:notes>
</file>

<file path=ppt/notesSlides/notesSlide14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4" name="Google Shape;374;p2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5" name="Google Shape;375;p28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301195189"/>
      </p:ext>
    </p:extLst>
  </p:cSld>
  <p:clrMapOvr>
    <a:masterClrMapping/>
  </p:clrMapOvr>
</p:notes>
</file>

<file path=ppt/notesSlides/notesSlide14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4" name="Google Shape;374;p2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5" name="Google Shape;375;p28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4" name="Google Shape;384;p2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85" name="Google Shape;385;p29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" name="Google Shape;399;p3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0" name="Google Shape;400;p31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5" name="Google Shape;405;p3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6" name="Google Shape;406;p32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1" name="Google Shape;411;p3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2" name="Google Shape;412;p33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Google Shape;417;p3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8" name="Google Shape;418;p34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7" name="Google Shape;427;p3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28" name="Google Shape;428;p35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3" name="Google Shape;433;p3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34" name="Google Shape;434;p36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3" name="Google Shape;133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008126148"/>
      </p:ext>
    </p:extLst>
  </p:cSld>
  <p:clrMapOvr>
    <a:masterClrMapping/>
  </p:clrMapOvr>
</p:notes>
</file>

<file path=ppt/notesSlides/notesSlide15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3" name="Google Shape;133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6414290"/>
      </p:ext>
    </p:extLst>
  </p:cSld>
  <p:clrMapOvr>
    <a:masterClrMapping/>
  </p:clrMapOvr>
</p:notes>
</file>

<file path=ppt/notesSlides/notesSlide15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0" name="Google Shape;360;p26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61" name="Google Shape;361;p2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62" name="Google Shape;362;p26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154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4022024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제목 슬라이드" type="title">
  <p:cSld name="TITL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8"/>
          <p:cNvSpPr txBox="1">
            <a:spLocks noGrp="1"/>
          </p:cNvSpPr>
          <p:nvPr>
            <p:ph type="ctrTitle"/>
          </p:nvPr>
        </p:nvSpPr>
        <p:spPr>
          <a:xfrm>
            <a:off x="174665" y="911920"/>
            <a:ext cx="1979534" cy="19399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28"/>
              <a:buFont typeface="Calibri"/>
              <a:buNone/>
              <a:defRPr sz="1528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38"/>
          <p:cNvSpPr txBox="1">
            <a:spLocks noGrp="1"/>
          </p:cNvSpPr>
          <p:nvPr>
            <p:ph type="subTitle" idx="1"/>
          </p:nvPr>
        </p:nvSpPr>
        <p:spPr>
          <a:xfrm>
            <a:off x="291108" y="2926656"/>
            <a:ext cx="1746647" cy="13453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255"/>
              </a:spcBef>
              <a:spcAft>
                <a:spcPts val="0"/>
              </a:spcAft>
              <a:buClr>
                <a:schemeClr val="dk1"/>
              </a:buClr>
              <a:buSzPts val="611"/>
              <a:buNone/>
              <a:defRPr sz="611"/>
            </a:lvl1pPr>
            <a:lvl2pPr lvl="1" algn="ctr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509"/>
              <a:buNone/>
              <a:defRPr sz="509"/>
            </a:lvl2pPr>
            <a:lvl3pPr lvl="2" algn="ctr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458"/>
              <a:buNone/>
              <a:defRPr sz="458"/>
            </a:lvl3pPr>
            <a:lvl4pPr lvl="3" algn="ctr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408"/>
              <a:buNone/>
              <a:defRPr sz="408"/>
            </a:lvl4pPr>
            <a:lvl5pPr lvl="4" algn="ctr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408"/>
              <a:buNone/>
              <a:defRPr sz="408"/>
            </a:lvl5pPr>
            <a:lvl6pPr lvl="5" algn="ctr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408"/>
              <a:buNone/>
              <a:defRPr sz="408"/>
            </a:lvl6pPr>
            <a:lvl7pPr lvl="6" algn="ctr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408"/>
              <a:buNone/>
              <a:defRPr sz="408"/>
            </a:lvl7pPr>
            <a:lvl8pPr lvl="7" algn="ctr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408"/>
              <a:buNone/>
              <a:defRPr sz="408"/>
            </a:lvl8pPr>
            <a:lvl9pPr lvl="8" algn="ctr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408"/>
              <a:buNone/>
              <a:defRPr sz="408"/>
            </a:lvl9pPr>
          </a:lstStyle>
          <a:p>
            <a:endParaRPr/>
          </a:p>
        </p:txBody>
      </p:sp>
      <p:sp>
        <p:nvSpPr>
          <p:cNvPr id="18" name="Google Shape;18;p38"/>
          <p:cNvSpPr txBox="1">
            <a:spLocks noGrp="1"/>
          </p:cNvSpPr>
          <p:nvPr>
            <p:ph type="dt" idx="10"/>
          </p:nvPr>
        </p:nvSpPr>
        <p:spPr>
          <a:xfrm>
            <a:off x="160109" y="5164536"/>
            <a:ext cx="523994" cy="296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38"/>
          <p:cNvSpPr txBox="1">
            <a:spLocks noGrp="1"/>
          </p:cNvSpPr>
          <p:nvPr>
            <p:ph type="ftr" idx="11"/>
          </p:nvPr>
        </p:nvSpPr>
        <p:spPr>
          <a:xfrm>
            <a:off x="771436" y="5164536"/>
            <a:ext cx="785991" cy="296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38"/>
          <p:cNvSpPr txBox="1">
            <a:spLocks noGrp="1"/>
          </p:cNvSpPr>
          <p:nvPr>
            <p:ph type="sldNum" idx="12"/>
          </p:nvPr>
        </p:nvSpPr>
        <p:spPr>
          <a:xfrm>
            <a:off x="1644760" y="5164536"/>
            <a:ext cx="523994" cy="296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제목 및 내용" type="obj">
  <p:cSld name="OBJECT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39"/>
          <p:cNvSpPr txBox="1">
            <a:spLocks noGrp="1"/>
          </p:cNvSpPr>
          <p:nvPr>
            <p:ph type="title"/>
          </p:nvPr>
        </p:nvSpPr>
        <p:spPr>
          <a:xfrm>
            <a:off x="160110" y="296665"/>
            <a:ext cx="2008644" cy="10770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39"/>
          <p:cNvSpPr txBox="1">
            <a:spLocks noGrp="1"/>
          </p:cNvSpPr>
          <p:nvPr>
            <p:ph type="body" idx="1"/>
          </p:nvPr>
        </p:nvSpPr>
        <p:spPr>
          <a:xfrm>
            <a:off x="160110" y="1483320"/>
            <a:ext cx="2008644" cy="35354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25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4" name="Google Shape;24;p39"/>
          <p:cNvSpPr txBox="1">
            <a:spLocks noGrp="1"/>
          </p:cNvSpPr>
          <p:nvPr>
            <p:ph type="dt" idx="10"/>
          </p:nvPr>
        </p:nvSpPr>
        <p:spPr>
          <a:xfrm>
            <a:off x="160109" y="5164536"/>
            <a:ext cx="523994" cy="296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39"/>
          <p:cNvSpPr txBox="1">
            <a:spLocks noGrp="1"/>
          </p:cNvSpPr>
          <p:nvPr>
            <p:ph type="ftr" idx="11"/>
          </p:nvPr>
        </p:nvSpPr>
        <p:spPr>
          <a:xfrm>
            <a:off x="771436" y="5164536"/>
            <a:ext cx="785991" cy="296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39"/>
          <p:cNvSpPr txBox="1">
            <a:spLocks noGrp="1"/>
          </p:cNvSpPr>
          <p:nvPr>
            <p:ph type="sldNum" idx="12"/>
          </p:nvPr>
        </p:nvSpPr>
        <p:spPr>
          <a:xfrm>
            <a:off x="1644760" y="5164536"/>
            <a:ext cx="523994" cy="296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구역 머리글" type="secHead">
  <p:cSld name="SECTION_HEADER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40"/>
          <p:cNvSpPr txBox="1">
            <a:spLocks noGrp="1"/>
          </p:cNvSpPr>
          <p:nvPr>
            <p:ph type="title"/>
          </p:nvPr>
        </p:nvSpPr>
        <p:spPr>
          <a:xfrm>
            <a:off x="158897" y="1389163"/>
            <a:ext cx="2008644" cy="23178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28"/>
              <a:buFont typeface="Calibri"/>
              <a:buNone/>
              <a:defRPr sz="1528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40"/>
          <p:cNvSpPr txBox="1">
            <a:spLocks noGrp="1"/>
          </p:cNvSpPr>
          <p:nvPr>
            <p:ph type="body" idx="1"/>
          </p:nvPr>
        </p:nvSpPr>
        <p:spPr>
          <a:xfrm>
            <a:off x="158897" y="3728940"/>
            <a:ext cx="2008644" cy="12189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255"/>
              </a:spcBef>
              <a:spcAft>
                <a:spcPts val="0"/>
              </a:spcAft>
              <a:buClr>
                <a:schemeClr val="dk1"/>
              </a:buClr>
              <a:buSzPts val="611"/>
              <a:buNone/>
              <a:defRPr sz="61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rgbClr val="888888"/>
              </a:buClr>
              <a:buSzPts val="509"/>
              <a:buNone/>
              <a:defRPr sz="509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rgbClr val="888888"/>
              </a:buClr>
              <a:buSzPts val="458"/>
              <a:buNone/>
              <a:defRPr sz="458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rgbClr val="888888"/>
              </a:buClr>
              <a:buSzPts val="408"/>
              <a:buNone/>
              <a:defRPr sz="408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rgbClr val="888888"/>
              </a:buClr>
              <a:buSzPts val="408"/>
              <a:buNone/>
              <a:defRPr sz="408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rgbClr val="888888"/>
              </a:buClr>
              <a:buSzPts val="408"/>
              <a:buNone/>
              <a:defRPr sz="408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rgbClr val="888888"/>
              </a:buClr>
              <a:buSzPts val="408"/>
              <a:buNone/>
              <a:defRPr sz="408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rgbClr val="888888"/>
              </a:buClr>
              <a:buSzPts val="408"/>
              <a:buNone/>
              <a:defRPr sz="408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rgbClr val="888888"/>
              </a:buClr>
              <a:buSzPts val="408"/>
              <a:buNone/>
              <a:defRPr sz="408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0" name="Google Shape;30;p40"/>
          <p:cNvSpPr txBox="1">
            <a:spLocks noGrp="1"/>
          </p:cNvSpPr>
          <p:nvPr>
            <p:ph type="dt" idx="10"/>
          </p:nvPr>
        </p:nvSpPr>
        <p:spPr>
          <a:xfrm>
            <a:off x="160109" y="5164536"/>
            <a:ext cx="523994" cy="296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40"/>
          <p:cNvSpPr txBox="1">
            <a:spLocks noGrp="1"/>
          </p:cNvSpPr>
          <p:nvPr>
            <p:ph type="ftr" idx="11"/>
          </p:nvPr>
        </p:nvSpPr>
        <p:spPr>
          <a:xfrm>
            <a:off x="771436" y="5164536"/>
            <a:ext cx="785991" cy="296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40"/>
          <p:cNvSpPr txBox="1">
            <a:spLocks noGrp="1"/>
          </p:cNvSpPr>
          <p:nvPr>
            <p:ph type="sldNum" idx="12"/>
          </p:nvPr>
        </p:nvSpPr>
        <p:spPr>
          <a:xfrm>
            <a:off x="1644760" y="5164536"/>
            <a:ext cx="523994" cy="296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콘텐츠 2개" type="twoObj">
  <p:cSld name="TWO_OBJECTS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41"/>
          <p:cNvSpPr txBox="1">
            <a:spLocks noGrp="1"/>
          </p:cNvSpPr>
          <p:nvPr>
            <p:ph type="title"/>
          </p:nvPr>
        </p:nvSpPr>
        <p:spPr>
          <a:xfrm>
            <a:off x="160110" y="296665"/>
            <a:ext cx="2008644" cy="10770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41"/>
          <p:cNvSpPr txBox="1">
            <a:spLocks noGrp="1"/>
          </p:cNvSpPr>
          <p:nvPr>
            <p:ph type="body" idx="1"/>
          </p:nvPr>
        </p:nvSpPr>
        <p:spPr>
          <a:xfrm>
            <a:off x="160109" y="1483320"/>
            <a:ext cx="989767" cy="35354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25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6" name="Google Shape;36;p41"/>
          <p:cNvSpPr txBox="1">
            <a:spLocks noGrp="1"/>
          </p:cNvSpPr>
          <p:nvPr>
            <p:ph type="body" idx="2"/>
          </p:nvPr>
        </p:nvSpPr>
        <p:spPr>
          <a:xfrm>
            <a:off x="1178987" y="1483320"/>
            <a:ext cx="989767" cy="35354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25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7" name="Google Shape;37;p41"/>
          <p:cNvSpPr txBox="1">
            <a:spLocks noGrp="1"/>
          </p:cNvSpPr>
          <p:nvPr>
            <p:ph type="dt" idx="10"/>
          </p:nvPr>
        </p:nvSpPr>
        <p:spPr>
          <a:xfrm>
            <a:off x="160109" y="5164536"/>
            <a:ext cx="523994" cy="296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41"/>
          <p:cNvSpPr txBox="1">
            <a:spLocks noGrp="1"/>
          </p:cNvSpPr>
          <p:nvPr>
            <p:ph type="ftr" idx="11"/>
          </p:nvPr>
        </p:nvSpPr>
        <p:spPr>
          <a:xfrm>
            <a:off x="771436" y="5164536"/>
            <a:ext cx="785991" cy="296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41"/>
          <p:cNvSpPr txBox="1">
            <a:spLocks noGrp="1"/>
          </p:cNvSpPr>
          <p:nvPr>
            <p:ph type="sldNum" idx="12"/>
          </p:nvPr>
        </p:nvSpPr>
        <p:spPr>
          <a:xfrm>
            <a:off x="1644760" y="5164536"/>
            <a:ext cx="523994" cy="296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비교" type="twoTxTwoObj">
  <p:cSld name="TWO_OBJECTS_WITH_TEXT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42"/>
          <p:cNvSpPr txBox="1">
            <a:spLocks noGrp="1"/>
          </p:cNvSpPr>
          <p:nvPr>
            <p:ph type="title"/>
          </p:nvPr>
        </p:nvSpPr>
        <p:spPr>
          <a:xfrm>
            <a:off x="160413" y="296665"/>
            <a:ext cx="2008644" cy="10770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42"/>
          <p:cNvSpPr txBox="1">
            <a:spLocks noGrp="1"/>
          </p:cNvSpPr>
          <p:nvPr>
            <p:ph type="body" idx="1"/>
          </p:nvPr>
        </p:nvSpPr>
        <p:spPr>
          <a:xfrm>
            <a:off x="160413" y="1365945"/>
            <a:ext cx="985218" cy="6694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255"/>
              </a:spcBef>
              <a:spcAft>
                <a:spcPts val="0"/>
              </a:spcAft>
              <a:buClr>
                <a:schemeClr val="dk1"/>
              </a:buClr>
              <a:buSzPts val="611"/>
              <a:buNone/>
              <a:defRPr sz="611" b="1"/>
            </a:lvl1pPr>
            <a:lvl2pPr marL="914400" lvl="1" indent="-2286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509"/>
              <a:buNone/>
              <a:defRPr sz="509" b="1"/>
            </a:lvl2pPr>
            <a:lvl3pPr marL="1371600" lvl="2" indent="-2286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458"/>
              <a:buNone/>
              <a:defRPr sz="458" b="1"/>
            </a:lvl3pPr>
            <a:lvl4pPr marL="1828800" lvl="3" indent="-2286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408"/>
              <a:buNone/>
              <a:defRPr sz="408" b="1"/>
            </a:lvl4pPr>
            <a:lvl5pPr marL="2286000" lvl="4" indent="-2286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408"/>
              <a:buNone/>
              <a:defRPr sz="408" b="1"/>
            </a:lvl5pPr>
            <a:lvl6pPr marL="2743200" lvl="5" indent="-2286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408"/>
              <a:buNone/>
              <a:defRPr sz="408" b="1"/>
            </a:lvl6pPr>
            <a:lvl7pPr marL="3200400" lvl="6" indent="-2286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408"/>
              <a:buNone/>
              <a:defRPr sz="408" b="1"/>
            </a:lvl7pPr>
            <a:lvl8pPr marL="3657600" lvl="7" indent="-2286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408"/>
              <a:buNone/>
              <a:defRPr sz="408" b="1"/>
            </a:lvl8pPr>
            <a:lvl9pPr marL="4114800" lvl="8" indent="-2286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408"/>
              <a:buNone/>
              <a:defRPr sz="408" b="1"/>
            </a:lvl9pPr>
          </a:lstStyle>
          <a:p>
            <a:endParaRPr/>
          </a:p>
        </p:txBody>
      </p:sp>
      <p:sp>
        <p:nvSpPr>
          <p:cNvPr id="43" name="Google Shape;43;p42"/>
          <p:cNvSpPr txBox="1">
            <a:spLocks noGrp="1"/>
          </p:cNvSpPr>
          <p:nvPr>
            <p:ph type="body" idx="2"/>
          </p:nvPr>
        </p:nvSpPr>
        <p:spPr>
          <a:xfrm>
            <a:off x="160413" y="2035373"/>
            <a:ext cx="985218" cy="29937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25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4" name="Google Shape;44;p42"/>
          <p:cNvSpPr txBox="1">
            <a:spLocks noGrp="1"/>
          </p:cNvSpPr>
          <p:nvPr>
            <p:ph type="body" idx="3"/>
          </p:nvPr>
        </p:nvSpPr>
        <p:spPr>
          <a:xfrm>
            <a:off x="1178987" y="1365945"/>
            <a:ext cx="990070" cy="6694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255"/>
              </a:spcBef>
              <a:spcAft>
                <a:spcPts val="0"/>
              </a:spcAft>
              <a:buClr>
                <a:schemeClr val="dk1"/>
              </a:buClr>
              <a:buSzPts val="611"/>
              <a:buNone/>
              <a:defRPr sz="611" b="1"/>
            </a:lvl1pPr>
            <a:lvl2pPr marL="914400" lvl="1" indent="-2286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509"/>
              <a:buNone/>
              <a:defRPr sz="509" b="1"/>
            </a:lvl2pPr>
            <a:lvl3pPr marL="1371600" lvl="2" indent="-2286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458"/>
              <a:buNone/>
              <a:defRPr sz="458" b="1"/>
            </a:lvl3pPr>
            <a:lvl4pPr marL="1828800" lvl="3" indent="-2286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408"/>
              <a:buNone/>
              <a:defRPr sz="408" b="1"/>
            </a:lvl4pPr>
            <a:lvl5pPr marL="2286000" lvl="4" indent="-2286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408"/>
              <a:buNone/>
              <a:defRPr sz="408" b="1"/>
            </a:lvl5pPr>
            <a:lvl6pPr marL="2743200" lvl="5" indent="-2286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408"/>
              <a:buNone/>
              <a:defRPr sz="408" b="1"/>
            </a:lvl6pPr>
            <a:lvl7pPr marL="3200400" lvl="6" indent="-2286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408"/>
              <a:buNone/>
              <a:defRPr sz="408" b="1"/>
            </a:lvl7pPr>
            <a:lvl8pPr marL="3657600" lvl="7" indent="-2286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408"/>
              <a:buNone/>
              <a:defRPr sz="408" b="1"/>
            </a:lvl8pPr>
            <a:lvl9pPr marL="4114800" lvl="8" indent="-2286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408"/>
              <a:buNone/>
              <a:defRPr sz="408" b="1"/>
            </a:lvl9pPr>
          </a:lstStyle>
          <a:p>
            <a:endParaRPr/>
          </a:p>
        </p:txBody>
      </p:sp>
      <p:sp>
        <p:nvSpPr>
          <p:cNvPr id="45" name="Google Shape;45;p42"/>
          <p:cNvSpPr txBox="1">
            <a:spLocks noGrp="1"/>
          </p:cNvSpPr>
          <p:nvPr>
            <p:ph type="body" idx="4"/>
          </p:nvPr>
        </p:nvSpPr>
        <p:spPr>
          <a:xfrm>
            <a:off x="1178987" y="2035373"/>
            <a:ext cx="990070" cy="29937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25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6" name="Google Shape;46;p42"/>
          <p:cNvSpPr txBox="1">
            <a:spLocks noGrp="1"/>
          </p:cNvSpPr>
          <p:nvPr>
            <p:ph type="dt" idx="10"/>
          </p:nvPr>
        </p:nvSpPr>
        <p:spPr>
          <a:xfrm>
            <a:off x="160109" y="5164536"/>
            <a:ext cx="523994" cy="296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42"/>
          <p:cNvSpPr txBox="1">
            <a:spLocks noGrp="1"/>
          </p:cNvSpPr>
          <p:nvPr>
            <p:ph type="ftr" idx="11"/>
          </p:nvPr>
        </p:nvSpPr>
        <p:spPr>
          <a:xfrm>
            <a:off x="771436" y="5164536"/>
            <a:ext cx="785991" cy="296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42"/>
          <p:cNvSpPr txBox="1">
            <a:spLocks noGrp="1"/>
          </p:cNvSpPr>
          <p:nvPr>
            <p:ph type="sldNum" idx="12"/>
          </p:nvPr>
        </p:nvSpPr>
        <p:spPr>
          <a:xfrm>
            <a:off x="1644760" y="5164536"/>
            <a:ext cx="523994" cy="296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제목만" type="titleOnly">
  <p:cSld name="TITLE_ONLY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43"/>
          <p:cNvSpPr txBox="1">
            <a:spLocks noGrp="1"/>
          </p:cNvSpPr>
          <p:nvPr>
            <p:ph type="title"/>
          </p:nvPr>
        </p:nvSpPr>
        <p:spPr>
          <a:xfrm>
            <a:off x="160110" y="296665"/>
            <a:ext cx="2008644" cy="10770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43"/>
          <p:cNvSpPr txBox="1">
            <a:spLocks noGrp="1"/>
          </p:cNvSpPr>
          <p:nvPr>
            <p:ph type="dt" idx="10"/>
          </p:nvPr>
        </p:nvSpPr>
        <p:spPr>
          <a:xfrm>
            <a:off x="160109" y="5164536"/>
            <a:ext cx="523994" cy="296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43"/>
          <p:cNvSpPr txBox="1">
            <a:spLocks noGrp="1"/>
          </p:cNvSpPr>
          <p:nvPr>
            <p:ph type="ftr" idx="11"/>
          </p:nvPr>
        </p:nvSpPr>
        <p:spPr>
          <a:xfrm>
            <a:off x="771436" y="5164536"/>
            <a:ext cx="785991" cy="296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43"/>
          <p:cNvSpPr txBox="1">
            <a:spLocks noGrp="1"/>
          </p:cNvSpPr>
          <p:nvPr>
            <p:ph type="sldNum" idx="12"/>
          </p:nvPr>
        </p:nvSpPr>
        <p:spPr>
          <a:xfrm>
            <a:off x="1644760" y="5164536"/>
            <a:ext cx="523994" cy="296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빈 화면" type="blank">
  <p:cSld name="BLANK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44"/>
          <p:cNvSpPr txBox="1">
            <a:spLocks noGrp="1"/>
          </p:cNvSpPr>
          <p:nvPr>
            <p:ph type="dt" idx="10"/>
          </p:nvPr>
        </p:nvSpPr>
        <p:spPr>
          <a:xfrm>
            <a:off x="160109" y="5164536"/>
            <a:ext cx="523994" cy="296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44"/>
          <p:cNvSpPr txBox="1">
            <a:spLocks noGrp="1"/>
          </p:cNvSpPr>
          <p:nvPr>
            <p:ph type="ftr" idx="11"/>
          </p:nvPr>
        </p:nvSpPr>
        <p:spPr>
          <a:xfrm>
            <a:off x="771436" y="5164536"/>
            <a:ext cx="785991" cy="296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7" name="Google Shape;57;p44"/>
          <p:cNvSpPr txBox="1">
            <a:spLocks noGrp="1"/>
          </p:cNvSpPr>
          <p:nvPr>
            <p:ph type="sldNum" idx="12"/>
          </p:nvPr>
        </p:nvSpPr>
        <p:spPr>
          <a:xfrm>
            <a:off x="1644760" y="5164536"/>
            <a:ext cx="523994" cy="296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캡션 있는 콘텐츠" type="objTx">
  <p:cSld name="OBJECT_WITH_CAPTION_TEXT"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45"/>
          <p:cNvSpPr txBox="1">
            <a:spLocks noGrp="1"/>
          </p:cNvSpPr>
          <p:nvPr>
            <p:ph type="title"/>
          </p:nvPr>
        </p:nvSpPr>
        <p:spPr>
          <a:xfrm>
            <a:off x="160413" y="371475"/>
            <a:ext cx="751119" cy="13001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15"/>
              <a:buFont typeface="Calibri"/>
              <a:buNone/>
              <a:defRPr sz="814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45"/>
          <p:cNvSpPr txBox="1">
            <a:spLocks noGrp="1"/>
          </p:cNvSpPr>
          <p:nvPr>
            <p:ph type="body" idx="1"/>
          </p:nvPr>
        </p:nvSpPr>
        <p:spPr>
          <a:xfrm>
            <a:off x="990070" y="802284"/>
            <a:ext cx="1178987" cy="39598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80352" algn="l">
              <a:lnSpc>
                <a:spcPct val="90000"/>
              </a:lnSpc>
              <a:spcBef>
                <a:spcPts val="255"/>
              </a:spcBef>
              <a:spcAft>
                <a:spcPts val="0"/>
              </a:spcAft>
              <a:buClr>
                <a:schemeClr val="dk1"/>
              </a:buClr>
              <a:buSzPts val="815"/>
              <a:buChar char="•"/>
              <a:defRPr sz="814"/>
            </a:lvl1pPr>
            <a:lvl2pPr marL="914400" lvl="1" indent="-273875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713"/>
              <a:buChar char="•"/>
              <a:defRPr sz="713"/>
            </a:lvl2pPr>
            <a:lvl3pPr marL="1371600" lvl="2" indent="-267398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611"/>
              <a:buChar char="•"/>
              <a:defRPr sz="611"/>
            </a:lvl3pPr>
            <a:lvl4pPr marL="1828800" lvl="3" indent="-260921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509"/>
              <a:buChar char="•"/>
              <a:defRPr sz="509"/>
            </a:lvl4pPr>
            <a:lvl5pPr marL="2286000" lvl="4" indent="-260921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509"/>
              <a:buChar char="•"/>
              <a:defRPr sz="509"/>
            </a:lvl5pPr>
            <a:lvl6pPr marL="2743200" lvl="5" indent="-260921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509"/>
              <a:buChar char="•"/>
              <a:defRPr sz="509"/>
            </a:lvl6pPr>
            <a:lvl7pPr marL="3200400" lvl="6" indent="-260921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509"/>
              <a:buChar char="•"/>
              <a:defRPr sz="509"/>
            </a:lvl7pPr>
            <a:lvl8pPr marL="3657600" lvl="7" indent="-260921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509"/>
              <a:buChar char="•"/>
              <a:defRPr sz="509"/>
            </a:lvl8pPr>
            <a:lvl9pPr marL="4114800" lvl="8" indent="-260921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509"/>
              <a:buChar char="•"/>
              <a:defRPr sz="509"/>
            </a:lvl9pPr>
          </a:lstStyle>
          <a:p>
            <a:endParaRPr/>
          </a:p>
        </p:txBody>
      </p:sp>
      <p:sp>
        <p:nvSpPr>
          <p:cNvPr id="61" name="Google Shape;61;p45"/>
          <p:cNvSpPr txBox="1">
            <a:spLocks noGrp="1"/>
          </p:cNvSpPr>
          <p:nvPr>
            <p:ph type="body" idx="2"/>
          </p:nvPr>
        </p:nvSpPr>
        <p:spPr>
          <a:xfrm>
            <a:off x="160413" y="1671638"/>
            <a:ext cx="751119" cy="30969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255"/>
              </a:spcBef>
              <a:spcAft>
                <a:spcPts val="0"/>
              </a:spcAft>
              <a:buClr>
                <a:schemeClr val="dk1"/>
              </a:buClr>
              <a:buSzPts val="408"/>
              <a:buNone/>
              <a:defRPr sz="408"/>
            </a:lvl1pPr>
            <a:lvl2pPr marL="914400" lvl="1" indent="-2286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357"/>
              <a:buNone/>
              <a:defRPr sz="357"/>
            </a:lvl2pPr>
            <a:lvl3pPr marL="1371600" lvl="2" indent="-2286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306"/>
              <a:buNone/>
              <a:defRPr sz="306"/>
            </a:lvl3pPr>
            <a:lvl4pPr marL="1828800" lvl="3" indent="-2286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255"/>
              <a:buNone/>
              <a:defRPr sz="255"/>
            </a:lvl4pPr>
            <a:lvl5pPr marL="2286000" lvl="4" indent="-2286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255"/>
              <a:buNone/>
              <a:defRPr sz="255"/>
            </a:lvl5pPr>
            <a:lvl6pPr marL="2743200" lvl="5" indent="-2286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255"/>
              <a:buNone/>
              <a:defRPr sz="255"/>
            </a:lvl6pPr>
            <a:lvl7pPr marL="3200400" lvl="6" indent="-2286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255"/>
              <a:buNone/>
              <a:defRPr sz="255"/>
            </a:lvl7pPr>
            <a:lvl8pPr marL="3657600" lvl="7" indent="-2286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255"/>
              <a:buNone/>
              <a:defRPr sz="255"/>
            </a:lvl8pPr>
            <a:lvl9pPr marL="4114800" lvl="8" indent="-2286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255"/>
              <a:buNone/>
              <a:defRPr sz="255"/>
            </a:lvl9pPr>
          </a:lstStyle>
          <a:p>
            <a:endParaRPr/>
          </a:p>
        </p:txBody>
      </p:sp>
      <p:sp>
        <p:nvSpPr>
          <p:cNvPr id="62" name="Google Shape;62;p45"/>
          <p:cNvSpPr txBox="1">
            <a:spLocks noGrp="1"/>
          </p:cNvSpPr>
          <p:nvPr>
            <p:ph type="dt" idx="10"/>
          </p:nvPr>
        </p:nvSpPr>
        <p:spPr>
          <a:xfrm>
            <a:off x="160109" y="5164536"/>
            <a:ext cx="523994" cy="296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45"/>
          <p:cNvSpPr txBox="1">
            <a:spLocks noGrp="1"/>
          </p:cNvSpPr>
          <p:nvPr>
            <p:ph type="ftr" idx="11"/>
          </p:nvPr>
        </p:nvSpPr>
        <p:spPr>
          <a:xfrm>
            <a:off x="771436" y="5164536"/>
            <a:ext cx="785991" cy="296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4" name="Google Shape;64;p45"/>
          <p:cNvSpPr txBox="1">
            <a:spLocks noGrp="1"/>
          </p:cNvSpPr>
          <p:nvPr>
            <p:ph type="sldNum" idx="12"/>
          </p:nvPr>
        </p:nvSpPr>
        <p:spPr>
          <a:xfrm>
            <a:off x="1644760" y="5164536"/>
            <a:ext cx="523994" cy="296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캡션 있는 그림" type="picTx">
  <p:cSld name="PICTURE_WITH_CAPTION_TEXT"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46"/>
          <p:cNvSpPr txBox="1">
            <a:spLocks noGrp="1"/>
          </p:cNvSpPr>
          <p:nvPr>
            <p:ph type="title"/>
          </p:nvPr>
        </p:nvSpPr>
        <p:spPr>
          <a:xfrm>
            <a:off x="160413" y="371475"/>
            <a:ext cx="751119" cy="13001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15"/>
              <a:buFont typeface="Calibri"/>
              <a:buNone/>
              <a:defRPr sz="814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46"/>
          <p:cNvSpPr>
            <a:spLocks noGrp="1"/>
          </p:cNvSpPr>
          <p:nvPr>
            <p:ph type="pic" idx="2"/>
          </p:nvPr>
        </p:nvSpPr>
        <p:spPr>
          <a:xfrm>
            <a:off x="990070" y="802284"/>
            <a:ext cx="1178987" cy="3959820"/>
          </a:xfrm>
          <a:prstGeom prst="rect">
            <a:avLst/>
          </a:prstGeom>
          <a:noFill/>
          <a:ln>
            <a:noFill/>
          </a:ln>
        </p:spPr>
      </p:sp>
      <p:sp>
        <p:nvSpPr>
          <p:cNvPr id="68" name="Google Shape;68;p46"/>
          <p:cNvSpPr txBox="1">
            <a:spLocks noGrp="1"/>
          </p:cNvSpPr>
          <p:nvPr>
            <p:ph type="body" idx="1"/>
          </p:nvPr>
        </p:nvSpPr>
        <p:spPr>
          <a:xfrm>
            <a:off x="160413" y="1671638"/>
            <a:ext cx="751119" cy="30969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255"/>
              </a:spcBef>
              <a:spcAft>
                <a:spcPts val="0"/>
              </a:spcAft>
              <a:buClr>
                <a:schemeClr val="dk1"/>
              </a:buClr>
              <a:buSzPts val="408"/>
              <a:buNone/>
              <a:defRPr sz="408"/>
            </a:lvl1pPr>
            <a:lvl2pPr marL="914400" lvl="1" indent="-2286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357"/>
              <a:buNone/>
              <a:defRPr sz="357"/>
            </a:lvl2pPr>
            <a:lvl3pPr marL="1371600" lvl="2" indent="-2286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306"/>
              <a:buNone/>
              <a:defRPr sz="306"/>
            </a:lvl3pPr>
            <a:lvl4pPr marL="1828800" lvl="3" indent="-2286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255"/>
              <a:buNone/>
              <a:defRPr sz="255"/>
            </a:lvl4pPr>
            <a:lvl5pPr marL="2286000" lvl="4" indent="-2286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255"/>
              <a:buNone/>
              <a:defRPr sz="255"/>
            </a:lvl5pPr>
            <a:lvl6pPr marL="2743200" lvl="5" indent="-2286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255"/>
              <a:buNone/>
              <a:defRPr sz="255"/>
            </a:lvl6pPr>
            <a:lvl7pPr marL="3200400" lvl="6" indent="-2286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255"/>
              <a:buNone/>
              <a:defRPr sz="255"/>
            </a:lvl7pPr>
            <a:lvl8pPr marL="3657600" lvl="7" indent="-2286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255"/>
              <a:buNone/>
              <a:defRPr sz="255"/>
            </a:lvl8pPr>
            <a:lvl9pPr marL="4114800" lvl="8" indent="-2286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255"/>
              <a:buNone/>
              <a:defRPr sz="255"/>
            </a:lvl9pPr>
          </a:lstStyle>
          <a:p>
            <a:endParaRPr/>
          </a:p>
        </p:txBody>
      </p:sp>
      <p:sp>
        <p:nvSpPr>
          <p:cNvPr id="69" name="Google Shape;69;p46"/>
          <p:cNvSpPr txBox="1">
            <a:spLocks noGrp="1"/>
          </p:cNvSpPr>
          <p:nvPr>
            <p:ph type="dt" idx="10"/>
          </p:nvPr>
        </p:nvSpPr>
        <p:spPr>
          <a:xfrm>
            <a:off x="160109" y="5164536"/>
            <a:ext cx="523994" cy="296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46"/>
          <p:cNvSpPr txBox="1">
            <a:spLocks noGrp="1"/>
          </p:cNvSpPr>
          <p:nvPr>
            <p:ph type="ftr" idx="11"/>
          </p:nvPr>
        </p:nvSpPr>
        <p:spPr>
          <a:xfrm>
            <a:off x="771436" y="5164536"/>
            <a:ext cx="785991" cy="296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1" name="Google Shape;71;p46"/>
          <p:cNvSpPr txBox="1">
            <a:spLocks noGrp="1"/>
          </p:cNvSpPr>
          <p:nvPr>
            <p:ph type="sldNum" idx="12"/>
          </p:nvPr>
        </p:nvSpPr>
        <p:spPr>
          <a:xfrm>
            <a:off x="1644760" y="5164536"/>
            <a:ext cx="523994" cy="296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제목 및 세로 텍스트" type="vertTx">
  <p:cSld name="VERTICAL_TEXT"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47"/>
          <p:cNvSpPr txBox="1">
            <a:spLocks noGrp="1"/>
          </p:cNvSpPr>
          <p:nvPr>
            <p:ph type="title"/>
          </p:nvPr>
        </p:nvSpPr>
        <p:spPr>
          <a:xfrm>
            <a:off x="160110" y="296665"/>
            <a:ext cx="2008644" cy="10770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4" name="Google Shape;74;p47"/>
          <p:cNvSpPr txBox="1">
            <a:spLocks noGrp="1"/>
          </p:cNvSpPr>
          <p:nvPr>
            <p:ph type="body" idx="1"/>
          </p:nvPr>
        </p:nvSpPr>
        <p:spPr>
          <a:xfrm rot="5400000">
            <a:off x="-603299" y="2246729"/>
            <a:ext cx="3535462" cy="20086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25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5" name="Google Shape;75;p47"/>
          <p:cNvSpPr txBox="1">
            <a:spLocks noGrp="1"/>
          </p:cNvSpPr>
          <p:nvPr>
            <p:ph type="dt" idx="10"/>
          </p:nvPr>
        </p:nvSpPr>
        <p:spPr>
          <a:xfrm>
            <a:off x="160109" y="5164536"/>
            <a:ext cx="523994" cy="296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47"/>
          <p:cNvSpPr txBox="1">
            <a:spLocks noGrp="1"/>
          </p:cNvSpPr>
          <p:nvPr>
            <p:ph type="ftr" idx="11"/>
          </p:nvPr>
        </p:nvSpPr>
        <p:spPr>
          <a:xfrm>
            <a:off x="771436" y="5164536"/>
            <a:ext cx="785991" cy="296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7" name="Google Shape;77;p47"/>
          <p:cNvSpPr txBox="1">
            <a:spLocks noGrp="1"/>
          </p:cNvSpPr>
          <p:nvPr>
            <p:ph type="sldNum" idx="12"/>
          </p:nvPr>
        </p:nvSpPr>
        <p:spPr>
          <a:xfrm>
            <a:off x="1644760" y="5164536"/>
            <a:ext cx="523994" cy="296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세로 제목 및 텍스트" type="vertTitleAndTx">
  <p:cSld name="VERTICAL_TITLE_AND_VERTICAL_TEXT"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48"/>
          <p:cNvSpPr txBox="1">
            <a:spLocks noGrp="1"/>
          </p:cNvSpPr>
          <p:nvPr>
            <p:ph type="title"/>
          </p:nvPr>
        </p:nvSpPr>
        <p:spPr>
          <a:xfrm rot="5400000">
            <a:off x="-443385" y="2406643"/>
            <a:ext cx="4722118" cy="5021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0" name="Google Shape;80;p48"/>
          <p:cNvSpPr txBox="1">
            <a:spLocks noGrp="1"/>
          </p:cNvSpPr>
          <p:nvPr>
            <p:ph type="body" idx="1"/>
          </p:nvPr>
        </p:nvSpPr>
        <p:spPr>
          <a:xfrm rot="5400000">
            <a:off x="-1462263" y="1919037"/>
            <a:ext cx="4722118" cy="14773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25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1" name="Google Shape;81;p48"/>
          <p:cNvSpPr txBox="1">
            <a:spLocks noGrp="1"/>
          </p:cNvSpPr>
          <p:nvPr>
            <p:ph type="dt" idx="10"/>
          </p:nvPr>
        </p:nvSpPr>
        <p:spPr>
          <a:xfrm>
            <a:off x="160109" y="5164536"/>
            <a:ext cx="523994" cy="296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2" name="Google Shape;82;p48"/>
          <p:cNvSpPr txBox="1">
            <a:spLocks noGrp="1"/>
          </p:cNvSpPr>
          <p:nvPr>
            <p:ph type="ftr" idx="11"/>
          </p:nvPr>
        </p:nvSpPr>
        <p:spPr>
          <a:xfrm>
            <a:off x="771436" y="5164536"/>
            <a:ext cx="785991" cy="296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3" name="Google Shape;83;p48"/>
          <p:cNvSpPr txBox="1">
            <a:spLocks noGrp="1"/>
          </p:cNvSpPr>
          <p:nvPr>
            <p:ph type="sldNum" idx="12"/>
          </p:nvPr>
        </p:nvSpPr>
        <p:spPr>
          <a:xfrm>
            <a:off x="1644760" y="5164536"/>
            <a:ext cx="523994" cy="296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37"/>
          <p:cNvSpPr txBox="1">
            <a:spLocks noGrp="1"/>
          </p:cNvSpPr>
          <p:nvPr>
            <p:ph type="title"/>
          </p:nvPr>
        </p:nvSpPr>
        <p:spPr>
          <a:xfrm>
            <a:off x="160110" y="296665"/>
            <a:ext cx="2008644" cy="10770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21"/>
              <a:buFont typeface="Calibri"/>
              <a:buNone/>
              <a:defRPr sz="1121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1" name="Google Shape;11;p37"/>
          <p:cNvSpPr txBox="1">
            <a:spLocks noGrp="1"/>
          </p:cNvSpPr>
          <p:nvPr>
            <p:ph type="body" idx="1"/>
          </p:nvPr>
        </p:nvSpPr>
        <p:spPr>
          <a:xfrm>
            <a:off x="160110" y="1483320"/>
            <a:ext cx="2008644" cy="35354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273875" algn="l" rtl="0">
              <a:lnSpc>
                <a:spcPct val="90000"/>
              </a:lnSpc>
              <a:spcBef>
                <a:spcPts val="255"/>
              </a:spcBef>
              <a:spcAft>
                <a:spcPts val="0"/>
              </a:spcAft>
              <a:buClr>
                <a:schemeClr val="dk1"/>
              </a:buClr>
              <a:buSzPts val="713"/>
              <a:buFont typeface="Arial"/>
              <a:buChar char="•"/>
              <a:defRPr sz="713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67398" algn="l" rtl="0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611"/>
              <a:buFont typeface="Arial"/>
              <a:buChar char="•"/>
              <a:defRPr sz="611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60921" algn="l" rtl="0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509"/>
              <a:buFont typeface="Arial"/>
              <a:buChar char="•"/>
              <a:defRPr sz="509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57683" algn="l" rtl="0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458"/>
              <a:buFont typeface="Arial"/>
              <a:buChar char="•"/>
              <a:defRPr sz="45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57682" algn="l" rtl="0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458"/>
              <a:buFont typeface="Arial"/>
              <a:buChar char="•"/>
              <a:defRPr sz="45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57682" algn="l" rtl="0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458"/>
              <a:buFont typeface="Arial"/>
              <a:buChar char="•"/>
              <a:defRPr sz="45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57682" algn="l" rtl="0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458"/>
              <a:buFont typeface="Arial"/>
              <a:buChar char="•"/>
              <a:defRPr sz="45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57683" algn="l" rtl="0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458"/>
              <a:buFont typeface="Arial"/>
              <a:buChar char="•"/>
              <a:defRPr sz="45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57683" algn="l" rtl="0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458"/>
              <a:buFont typeface="Arial"/>
              <a:buChar char="•"/>
              <a:defRPr sz="45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2" name="Google Shape;12;p37"/>
          <p:cNvSpPr txBox="1">
            <a:spLocks noGrp="1"/>
          </p:cNvSpPr>
          <p:nvPr>
            <p:ph type="dt" idx="10"/>
          </p:nvPr>
        </p:nvSpPr>
        <p:spPr>
          <a:xfrm>
            <a:off x="160109" y="5164536"/>
            <a:ext cx="523994" cy="296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306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3" name="Google Shape;13;p37"/>
          <p:cNvSpPr txBox="1">
            <a:spLocks noGrp="1"/>
          </p:cNvSpPr>
          <p:nvPr>
            <p:ph type="ftr" idx="11"/>
          </p:nvPr>
        </p:nvSpPr>
        <p:spPr>
          <a:xfrm>
            <a:off x="771436" y="5164536"/>
            <a:ext cx="785991" cy="296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306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4" name="Google Shape;14;p37"/>
          <p:cNvSpPr txBox="1">
            <a:spLocks noGrp="1"/>
          </p:cNvSpPr>
          <p:nvPr>
            <p:ph type="sldNum" idx="12"/>
          </p:nvPr>
        </p:nvSpPr>
        <p:spPr>
          <a:xfrm>
            <a:off x="1644760" y="5164536"/>
            <a:ext cx="523994" cy="296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306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306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306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306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306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306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306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306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306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slide" Target="slide137.xml"/><Relationship Id="rId13" Type="http://schemas.openxmlformats.org/officeDocument/2006/relationships/slide" Target="slide148.xml"/><Relationship Id="rId3" Type="http://schemas.openxmlformats.org/officeDocument/2006/relationships/slide" Target="slide2.xml"/><Relationship Id="rId7" Type="http://schemas.openxmlformats.org/officeDocument/2006/relationships/hyperlink" Target="https://flyingdeuk.github.io/posts/B737-kneeboard/" TargetMode="External"/><Relationship Id="rId12" Type="http://schemas.openxmlformats.org/officeDocument/2006/relationships/slide" Target="slide146.xm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slide" Target="slide9.xml"/><Relationship Id="rId11" Type="http://schemas.openxmlformats.org/officeDocument/2006/relationships/slide" Target="slide143.xml"/><Relationship Id="rId5" Type="http://schemas.openxmlformats.org/officeDocument/2006/relationships/slide" Target="slide7.xml"/><Relationship Id="rId10" Type="http://schemas.openxmlformats.org/officeDocument/2006/relationships/slide" Target="slide141.xml"/><Relationship Id="rId4" Type="http://schemas.openxmlformats.org/officeDocument/2006/relationships/slide" Target="slide5.xml"/><Relationship Id="rId9" Type="http://schemas.openxmlformats.org/officeDocument/2006/relationships/slide" Target="slide138.xml"/><Relationship Id="rId14" Type="http://schemas.openxmlformats.org/officeDocument/2006/relationships/slide" Target="slide150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slide" Target="slide17.xml"/><Relationship Id="rId13" Type="http://schemas.openxmlformats.org/officeDocument/2006/relationships/slide" Target="slide22.xml"/><Relationship Id="rId18" Type="http://schemas.openxmlformats.org/officeDocument/2006/relationships/slide" Target="slide27.xml"/><Relationship Id="rId3" Type="http://schemas.openxmlformats.org/officeDocument/2006/relationships/slide" Target="slide12.xml"/><Relationship Id="rId7" Type="http://schemas.openxmlformats.org/officeDocument/2006/relationships/slide" Target="slide16.xml"/><Relationship Id="rId12" Type="http://schemas.openxmlformats.org/officeDocument/2006/relationships/slide" Target="slide21.xml"/><Relationship Id="rId17" Type="http://schemas.openxmlformats.org/officeDocument/2006/relationships/slide" Target="slide26.xml"/><Relationship Id="rId2" Type="http://schemas.openxmlformats.org/officeDocument/2006/relationships/notesSlide" Target="../notesSlides/notesSlide2.xml"/><Relationship Id="rId16" Type="http://schemas.openxmlformats.org/officeDocument/2006/relationships/slide" Target="slide25.xml"/><Relationship Id="rId1" Type="http://schemas.openxmlformats.org/officeDocument/2006/relationships/slideLayout" Target="../slideLayouts/slideLayout1.xml"/><Relationship Id="rId6" Type="http://schemas.openxmlformats.org/officeDocument/2006/relationships/slide" Target="slide15.xml"/><Relationship Id="rId11" Type="http://schemas.openxmlformats.org/officeDocument/2006/relationships/slide" Target="slide20.xml"/><Relationship Id="rId5" Type="http://schemas.openxmlformats.org/officeDocument/2006/relationships/slide" Target="slide14.xml"/><Relationship Id="rId15" Type="http://schemas.openxmlformats.org/officeDocument/2006/relationships/slide" Target="slide24.xml"/><Relationship Id="rId10" Type="http://schemas.openxmlformats.org/officeDocument/2006/relationships/slide" Target="slide19.xml"/><Relationship Id="rId4" Type="http://schemas.openxmlformats.org/officeDocument/2006/relationships/slide" Target="slide13.xml"/><Relationship Id="rId9" Type="http://schemas.openxmlformats.org/officeDocument/2006/relationships/slide" Target="slide18.xml"/><Relationship Id="rId14" Type="http://schemas.openxmlformats.org/officeDocument/2006/relationships/slide" Target="slide2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slide" Target="slide2.xm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slide" Target="slide2.xm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slide" Target="slide31.xml"/><Relationship Id="rId13" Type="http://schemas.openxmlformats.org/officeDocument/2006/relationships/slide" Target="slide36.xml"/><Relationship Id="rId18" Type="http://schemas.openxmlformats.org/officeDocument/2006/relationships/slide" Target="slide41.xml"/><Relationship Id="rId26" Type="http://schemas.openxmlformats.org/officeDocument/2006/relationships/slide" Target="slide49.xml"/><Relationship Id="rId3" Type="http://schemas.openxmlformats.org/officeDocument/2006/relationships/slide" Target="slide58.xml"/><Relationship Id="rId21" Type="http://schemas.openxmlformats.org/officeDocument/2006/relationships/slide" Target="slide44.xml"/><Relationship Id="rId7" Type="http://schemas.openxmlformats.org/officeDocument/2006/relationships/slide" Target="slide30.xml"/><Relationship Id="rId12" Type="http://schemas.openxmlformats.org/officeDocument/2006/relationships/slide" Target="slide35.xml"/><Relationship Id="rId17" Type="http://schemas.openxmlformats.org/officeDocument/2006/relationships/slide" Target="slide40.xml"/><Relationship Id="rId25" Type="http://schemas.openxmlformats.org/officeDocument/2006/relationships/slide" Target="slide48.xml"/><Relationship Id="rId2" Type="http://schemas.openxmlformats.org/officeDocument/2006/relationships/notesSlide" Target="../notesSlides/notesSlide5.xml"/><Relationship Id="rId16" Type="http://schemas.openxmlformats.org/officeDocument/2006/relationships/slide" Target="slide39.xml"/><Relationship Id="rId20" Type="http://schemas.openxmlformats.org/officeDocument/2006/relationships/slide" Target="slide43.xml"/><Relationship Id="rId1" Type="http://schemas.openxmlformats.org/officeDocument/2006/relationships/slideLayout" Target="../slideLayouts/slideLayout1.xml"/><Relationship Id="rId6" Type="http://schemas.openxmlformats.org/officeDocument/2006/relationships/slide" Target="slide29.xml"/><Relationship Id="rId11" Type="http://schemas.openxmlformats.org/officeDocument/2006/relationships/slide" Target="slide34.xml"/><Relationship Id="rId24" Type="http://schemas.openxmlformats.org/officeDocument/2006/relationships/slide" Target="slide47.xml"/><Relationship Id="rId5" Type="http://schemas.openxmlformats.org/officeDocument/2006/relationships/slide" Target="slide28.xml"/><Relationship Id="rId15" Type="http://schemas.openxmlformats.org/officeDocument/2006/relationships/slide" Target="slide38.xml"/><Relationship Id="rId23" Type="http://schemas.openxmlformats.org/officeDocument/2006/relationships/slide" Target="slide46.xml"/><Relationship Id="rId28" Type="http://schemas.openxmlformats.org/officeDocument/2006/relationships/slide" Target="slide51.xml"/><Relationship Id="rId10" Type="http://schemas.openxmlformats.org/officeDocument/2006/relationships/slide" Target="slide33.xml"/><Relationship Id="rId19" Type="http://schemas.openxmlformats.org/officeDocument/2006/relationships/slide" Target="slide42.xml"/><Relationship Id="rId4" Type="http://schemas.openxmlformats.org/officeDocument/2006/relationships/slide" Target="slide59.xml"/><Relationship Id="rId9" Type="http://schemas.openxmlformats.org/officeDocument/2006/relationships/slide" Target="slide32.xml"/><Relationship Id="rId14" Type="http://schemas.openxmlformats.org/officeDocument/2006/relationships/slide" Target="slide37.xml"/><Relationship Id="rId22" Type="http://schemas.openxmlformats.org/officeDocument/2006/relationships/slide" Target="slide45.xml"/><Relationship Id="rId27" Type="http://schemas.openxmlformats.org/officeDocument/2006/relationships/slide" Target="slide50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slide" Target="slide5.xm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3" Type="http://schemas.openxmlformats.org/officeDocument/2006/relationships/slide" Target="slide69.xml"/><Relationship Id="rId18" Type="http://schemas.openxmlformats.org/officeDocument/2006/relationships/slide" Target="slide77.xml"/><Relationship Id="rId26" Type="http://schemas.openxmlformats.org/officeDocument/2006/relationships/slide" Target="slide91.xml"/><Relationship Id="rId39" Type="http://schemas.openxmlformats.org/officeDocument/2006/relationships/slide" Target="slide109.xml"/><Relationship Id="rId21" Type="http://schemas.openxmlformats.org/officeDocument/2006/relationships/slide" Target="slide81.xml"/><Relationship Id="rId34" Type="http://schemas.openxmlformats.org/officeDocument/2006/relationships/slide" Target="slide102.xml"/><Relationship Id="rId42" Type="http://schemas.openxmlformats.org/officeDocument/2006/relationships/slide" Target="slide114.xml"/><Relationship Id="rId7" Type="http://schemas.openxmlformats.org/officeDocument/2006/relationships/slide" Target="slide60.xml"/><Relationship Id="rId2" Type="http://schemas.openxmlformats.org/officeDocument/2006/relationships/notesSlide" Target="../notesSlides/notesSlide7.xml"/><Relationship Id="rId16" Type="http://schemas.openxmlformats.org/officeDocument/2006/relationships/slide" Target="slide74.xml"/><Relationship Id="rId20" Type="http://schemas.openxmlformats.org/officeDocument/2006/relationships/slide" Target="slide80.xml"/><Relationship Id="rId29" Type="http://schemas.openxmlformats.org/officeDocument/2006/relationships/slide" Target="slide95.xml"/><Relationship Id="rId41" Type="http://schemas.openxmlformats.org/officeDocument/2006/relationships/slide" Target="slide112.xml"/><Relationship Id="rId1" Type="http://schemas.openxmlformats.org/officeDocument/2006/relationships/slideLayout" Target="../slideLayouts/slideLayout1.xml"/><Relationship Id="rId6" Type="http://schemas.openxmlformats.org/officeDocument/2006/relationships/slide" Target="slide57.xml"/><Relationship Id="rId11" Type="http://schemas.openxmlformats.org/officeDocument/2006/relationships/slide" Target="slide66.xml"/><Relationship Id="rId24" Type="http://schemas.openxmlformats.org/officeDocument/2006/relationships/slide" Target="slide87.xml"/><Relationship Id="rId32" Type="http://schemas.openxmlformats.org/officeDocument/2006/relationships/slide" Target="slide99.xml"/><Relationship Id="rId37" Type="http://schemas.openxmlformats.org/officeDocument/2006/relationships/slide" Target="slide106.xml"/><Relationship Id="rId40" Type="http://schemas.openxmlformats.org/officeDocument/2006/relationships/slide" Target="slide111.xml"/><Relationship Id="rId5" Type="http://schemas.openxmlformats.org/officeDocument/2006/relationships/slide" Target="slide55.xml"/><Relationship Id="rId15" Type="http://schemas.openxmlformats.org/officeDocument/2006/relationships/slide" Target="slide72.xml"/><Relationship Id="rId23" Type="http://schemas.openxmlformats.org/officeDocument/2006/relationships/slide" Target="slide85.xml"/><Relationship Id="rId28" Type="http://schemas.openxmlformats.org/officeDocument/2006/relationships/slide" Target="slide94.xml"/><Relationship Id="rId36" Type="http://schemas.openxmlformats.org/officeDocument/2006/relationships/slide" Target="slide105.xml"/><Relationship Id="rId10" Type="http://schemas.openxmlformats.org/officeDocument/2006/relationships/slide" Target="slide65.xml"/><Relationship Id="rId19" Type="http://schemas.openxmlformats.org/officeDocument/2006/relationships/slide" Target="slide78.xml"/><Relationship Id="rId31" Type="http://schemas.openxmlformats.org/officeDocument/2006/relationships/slide" Target="slide98.xml"/><Relationship Id="rId44" Type="http://schemas.openxmlformats.org/officeDocument/2006/relationships/slide" Target="slide117.xml"/><Relationship Id="rId4" Type="http://schemas.openxmlformats.org/officeDocument/2006/relationships/slide" Target="slide54.xml"/><Relationship Id="rId9" Type="http://schemas.openxmlformats.org/officeDocument/2006/relationships/slide" Target="slide63.xml"/><Relationship Id="rId14" Type="http://schemas.openxmlformats.org/officeDocument/2006/relationships/slide" Target="slide71.xml"/><Relationship Id="rId22" Type="http://schemas.openxmlformats.org/officeDocument/2006/relationships/slide" Target="slide84.xml"/><Relationship Id="rId27" Type="http://schemas.openxmlformats.org/officeDocument/2006/relationships/slide" Target="slide92.xml"/><Relationship Id="rId30" Type="http://schemas.openxmlformats.org/officeDocument/2006/relationships/slide" Target="slide97.xml"/><Relationship Id="rId35" Type="http://schemas.openxmlformats.org/officeDocument/2006/relationships/slide" Target="slide103.xml"/><Relationship Id="rId43" Type="http://schemas.openxmlformats.org/officeDocument/2006/relationships/slide" Target="slide115.xml"/><Relationship Id="rId8" Type="http://schemas.openxmlformats.org/officeDocument/2006/relationships/slide" Target="slide62.xml"/><Relationship Id="rId3" Type="http://schemas.openxmlformats.org/officeDocument/2006/relationships/slide" Target="slide52.xml"/><Relationship Id="rId12" Type="http://schemas.openxmlformats.org/officeDocument/2006/relationships/slide" Target="slide68.xml"/><Relationship Id="rId17" Type="http://schemas.openxmlformats.org/officeDocument/2006/relationships/slide" Target="slide75.xml"/><Relationship Id="rId25" Type="http://schemas.openxmlformats.org/officeDocument/2006/relationships/slide" Target="slide88.xml"/><Relationship Id="rId33" Type="http://schemas.openxmlformats.org/officeDocument/2006/relationships/slide" Target="slide100.xml"/><Relationship Id="rId38" Type="http://schemas.openxmlformats.org/officeDocument/2006/relationships/slide" Target="slide108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slide" Target="slide7.xm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slide" Target="slide123.xml"/><Relationship Id="rId13" Type="http://schemas.openxmlformats.org/officeDocument/2006/relationships/slide" Target="slide128.xml"/><Relationship Id="rId18" Type="http://schemas.openxmlformats.org/officeDocument/2006/relationships/slide" Target="slide132.xml"/><Relationship Id="rId3" Type="http://schemas.openxmlformats.org/officeDocument/2006/relationships/slide" Target="slide118.xml"/><Relationship Id="rId7" Type="http://schemas.openxmlformats.org/officeDocument/2006/relationships/slide" Target="slide122.xml"/><Relationship Id="rId12" Type="http://schemas.openxmlformats.org/officeDocument/2006/relationships/slide" Target="slide127.xml"/><Relationship Id="rId17" Type="http://schemas.openxmlformats.org/officeDocument/2006/relationships/slide" Target="slide130.xml"/><Relationship Id="rId2" Type="http://schemas.openxmlformats.org/officeDocument/2006/relationships/notesSlide" Target="../notesSlides/notesSlide9.xml"/><Relationship Id="rId16" Type="http://schemas.openxmlformats.org/officeDocument/2006/relationships/slide" Target="slide134.xml"/><Relationship Id="rId20" Type="http://schemas.openxmlformats.org/officeDocument/2006/relationships/slide" Target="slide136.xml"/><Relationship Id="rId1" Type="http://schemas.openxmlformats.org/officeDocument/2006/relationships/slideLayout" Target="../slideLayouts/slideLayout1.xml"/><Relationship Id="rId6" Type="http://schemas.openxmlformats.org/officeDocument/2006/relationships/slide" Target="slide121.xml"/><Relationship Id="rId11" Type="http://schemas.openxmlformats.org/officeDocument/2006/relationships/slide" Target="slide126.xml"/><Relationship Id="rId5" Type="http://schemas.openxmlformats.org/officeDocument/2006/relationships/slide" Target="slide120.xml"/><Relationship Id="rId15" Type="http://schemas.openxmlformats.org/officeDocument/2006/relationships/slide" Target="slide133.xml"/><Relationship Id="rId10" Type="http://schemas.openxmlformats.org/officeDocument/2006/relationships/slide" Target="slide125.xml"/><Relationship Id="rId19" Type="http://schemas.openxmlformats.org/officeDocument/2006/relationships/slide" Target="slide135.xml"/><Relationship Id="rId4" Type="http://schemas.openxmlformats.org/officeDocument/2006/relationships/slide" Target="slide119.xml"/><Relationship Id="rId9" Type="http://schemas.openxmlformats.org/officeDocument/2006/relationships/slide" Target="slide124.xml"/><Relationship Id="rId14" Type="http://schemas.openxmlformats.org/officeDocument/2006/relationships/slide" Target="slide129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slide" Target="slide9.xm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slide" Target="slide9.xm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slide" Target="slide3.xml"/><Relationship Id="rId3" Type="http://schemas.openxmlformats.org/officeDocument/2006/relationships/hyperlink" Target="https://flyingdeuk.github.io/posts/RKSS-GMP/" TargetMode="External"/><Relationship Id="rId7" Type="http://schemas.openxmlformats.org/officeDocument/2006/relationships/slide" Target="slide2.xml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.jpg"/><Relationship Id="rId5" Type="http://schemas.openxmlformats.org/officeDocument/2006/relationships/image" Target="../media/image1.png"/><Relationship Id="rId4" Type="http://schemas.openxmlformats.org/officeDocument/2006/relationships/hyperlink" Target="https://flyingdeuk.github.io/posts/RKPC-CJU/" TargetMode="External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slide" Target="slide3.xml"/><Relationship Id="rId3" Type="http://schemas.openxmlformats.org/officeDocument/2006/relationships/hyperlink" Target="https://flyingdeuk.github.io/posts/RKPC-CJU/" TargetMode="External"/><Relationship Id="rId7" Type="http://schemas.openxmlformats.org/officeDocument/2006/relationships/slide" Target="slide2.xml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5" Type="http://schemas.openxmlformats.org/officeDocument/2006/relationships/image" Target="../media/image3.jpg"/><Relationship Id="rId4" Type="http://schemas.openxmlformats.org/officeDocument/2006/relationships/hyperlink" Target="https://flyingdeuk.github.io/posts/RKSS-GMP/" TargetMode="External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slide" Target="slide2.xml"/><Relationship Id="rId3" Type="http://schemas.openxmlformats.org/officeDocument/2006/relationships/image" Target="../media/image2.jpg"/><Relationship Id="rId7" Type="http://schemas.openxmlformats.org/officeDocument/2006/relationships/image" Target="../media/image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flyingdeuk.github.io/posts/RKPK-PUS/" TargetMode="External"/><Relationship Id="rId5" Type="http://schemas.openxmlformats.org/officeDocument/2006/relationships/hyperlink" Target="https://flyingdeuk.github.io/posts/RKSS-GMP/" TargetMode="External"/><Relationship Id="rId4" Type="http://schemas.openxmlformats.org/officeDocument/2006/relationships/slide" Target="slide152.xml"/><Relationship Id="rId9" Type="http://schemas.openxmlformats.org/officeDocument/2006/relationships/slide" Target="slide3.xml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slide" Target="slide3.xml"/><Relationship Id="rId3" Type="http://schemas.openxmlformats.org/officeDocument/2006/relationships/hyperlink" Target="https://flyingdeuk.github.io/posts/RKPK-PUS/" TargetMode="External"/><Relationship Id="rId7" Type="http://schemas.openxmlformats.org/officeDocument/2006/relationships/slide" Target="slide2.xml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5" Type="http://schemas.openxmlformats.org/officeDocument/2006/relationships/image" Target="../media/image5.jpg"/><Relationship Id="rId4" Type="http://schemas.openxmlformats.org/officeDocument/2006/relationships/hyperlink" Target="https://flyingdeuk.github.io/posts/RKSS-GMP/" TargetMode="Externa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PC-CJU/" TargetMode="External"/><Relationship Id="rId7" Type="http://schemas.openxmlformats.org/officeDocument/2006/relationships/slide" Target="slide3.xml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6" Type="http://schemas.openxmlformats.org/officeDocument/2006/relationships/slide" Target="slide2.xml"/><Relationship Id="rId5" Type="http://schemas.openxmlformats.org/officeDocument/2006/relationships/image" Target="../media/image6.jpg"/><Relationship Id="rId4" Type="http://schemas.openxmlformats.org/officeDocument/2006/relationships/hyperlink" Target="https://flyingdeuk.github.io/posts/RKJJ-KWJ/" TargetMode="Externa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JJ-KWJ/" TargetMode="External"/><Relationship Id="rId7" Type="http://schemas.openxmlformats.org/officeDocument/2006/relationships/slide" Target="slide3.xml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Relationship Id="rId6" Type="http://schemas.openxmlformats.org/officeDocument/2006/relationships/slide" Target="slide2.xml"/><Relationship Id="rId5" Type="http://schemas.openxmlformats.org/officeDocument/2006/relationships/image" Target="../media/image7.jpg"/><Relationship Id="rId4" Type="http://schemas.openxmlformats.org/officeDocument/2006/relationships/hyperlink" Target="https://flyingdeuk.github.io/posts/RKPC-CJU/" TargetMode="Externa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PC-CJU/" TargetMode="External"/><Relationship Id="rId7" Type="http://schemas.openxmlformats.org/officeDocument/2006/relationships/slide" Target="slide3.xml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Relationship Id="rId6" Type="http://schemas.openxmlformats.org/officeDocument/2006/relationships/slide" Target="slide2.xml"/><Relationship Id="rId5" Type="http://schemas.openxmlformats.org/officeDocument/2006/relationships/image" Target="../media/image6.jpg"/><Relationship Id="rId4" Type="http://schemas.openxmlformats.org/officeDocument/2006/relationships/hyperlink" Target="https://flyingdeuk.github.io/posts/RKTU-CJJ/" TargetMode="Externa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TU-CJJ/" TargetMode="External"/><Relationship Id="rId7" Type="http://schemas.openxmlformats.org/officeDocument/2006/relationships/slide" Target="slide3.xml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Relationship Id="rId6" Type="http://schemas.openxmlformats.org/officeDocument/2006/relationships/slide" Target="slide2.xml"/><Relationship Id="rId5" Type="http://schemas.openxmlformats.org/officeDocument/2006/relationships/image" Target="../media/image8.jpg"/><Relationship Id="rId4" Type="http://schemas.openxmlformats.org/officeDocument/2006/relationships/hyperlink" Target="https://flyingdeuk.github.io/posts/RKPC-CJU/" TargetMode="Externa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PC-CJU/" TargetMode="External"/><Relationship Id="rId7" Type="http://schemas.openxmlformats.org/officeDocument/2006/relationships/slide" Target="slide3.xml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Relationship Id="rId6" Type="http://schemas.openxmlformats.org/officeDocument/2006/relationships/slide" Target="slide2.xml"/><Relationship Id="rId5" Type="http://schemas.openxmlformats.org/officeDocument/2006/relationships/image" Target="../media/image6.jpg"/><Relationship Id="rId4" Type="http://schemas.openxmlformats.org/officeDocument/2006/relationships/hyperlink" Target="https://flyingdeuk.github.io/posts/RKTN-TAE/" TargetMode="Externa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TN-TAE/" TargetMode="External"/><Relationship Id="rId7" Type="http://schemas.openxmlformats.org/officeDocument/2006/relationships/slide" Target="slide3.xml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Relationship Id="rId6" Type="http://schemas.openxmlformats.org/officeDocument/2006/relationships/slide" Target="slide2.xml"/><Relationship Id="rId5" Type="http://schemas.openxmlformats.org/officeDocument/2006/relationships/image" Target="../media/image9.jpg"/><Relationship Id="rId4" Type="http://schemas.openxmlformats.org/officeDocument/2006/relationships/hyperlink" Target="https://flyingdeuk.github.io/posts/RKPC-CJU/" TargetMode="External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slide" Target="slide3.xml"/><Relationship Id="rId3" Type="http://schemas.openxmlformats.org/officeDocument/2006/relationships/hyperlink" Target="https://flyingdeuk.github.io/posts/RKPC-CJU/" TargetMode="External"/><Relationship Id="rId7" Type="http://schemas.openxmlformats.org/officeDocument/2006/relationships/slide" Target="slide2.xml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Relationship Id="rId6" Type="http://schemas.openxmlformats.org/officeDocument/2006/relationships/slide" Target="slide152.xml"/><Relationship Id="rId5" Type="http://schemas.openxmlformats.org/officeDocument/2006/relationships/image" Target="../media/image6.jpg"/><Relationship Id="rId4" Type="http://schemas.openxmlformats.org/officeDocument/2006/relationships/hyperlink" Target="https://flyingdeuk.github.io/posts/RKPK-PUS/" TargetMode="Externa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PK-PUS/" TargetMode="External"/><Relationship Id="rId7" Type="http://schemas.openxmlformats.org/officeDocument/2006/relationships/slide" Target="slide3.xml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Relationship Id="rId6" Type="http://schemas.openxmlformats.org/officeDocument/2006/relationships/slide" Target="slide2.xml"/><Relationship Id="rId5" Type="http://schemas.openxmlformats.org/officeDocument/2006/relationships/image" Target="../media/image10.jpg"/><Relationship Id="rId4" Type="http://schemas.openxmlformats.org/officeDocument/2006/relationships/hyperlink" Target="https://flyingdeuk.github.io/posts/RKPC-CJU/" TargetMode="Externa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slide" Target="slide152.xml"/><Relationship Id="rId7" Type="http://schemas.openxmlformats.org/officeDocument/2006/relationships/slide" Target="slide3.xml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Relationship Id="rId6" Type="http://schemas.openxmlformats.org/officeDocument/2006/relationships/slide" Target="slide2.xml"/><Relationship Id="rId5" Type="http://schemas.openxmlformats.org/officeDocument/2006/relationships/hyperlink" Target="https://flyingdeuk.github.io/posts/RKPK-PUS/" TargetMode="External"/><Relationship Id="rId4" Type="http://schemas.openxmlformats.org/officeDocument/2006/relationships/hyperlink" Target="https://flyingdeuk.github.io/posts/RKSI-ICN/" TargetMode="Externa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PK-PUS/" TargetMode="External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Relationship Id="rId6" Type="http://schemas.openxmlformats.org/officeDocument/2006/relationships/slide" Target="slide3.xml"/><Relationship Id="rId5" Type="http://schemas.openxmlformats.org/officeDocument/2006/relationships/slide" Target="slide2.xml"/><Relationship Id="rId4" Type="http://schemas.openxmlformats.org/officeDocument/2006/relationships/hyperlink" Target="https://flyingdeuk.github.io/posts/RKSI-ICN/" TargetMode="Externa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SI-ICN/" TargetMode="External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Relationship Id="rId6" Type="http://schemas.openxmlformats.org/officeDocument/2006/relationships/slide" Target="slide3.xml"/><Relationship Id="rId5" Type="http://schemas.openxmlformats.org/officeDocument/2006/relationships/slide" Target="slide2.xml"/><Relationship Id="rId4" Type="http://schemas.openxmlformats.org/officeDocument/2006/relationships/hyperlink" Target="https://flyingdeuk.github.io/posts/RKTN-TAE/" TargetMode="Externa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TN-TAE/" TargetMode="External"/><Relationship Id="rId7" Type="http://schemas.openxmlformats.org/officeDocument/2006/relationships/slide" Target="slide3.xml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jpg"/><Relationship Id="rId5" Type="http://schemas.openxmlformats.org/officeDocument/2006/relationships/slide" Target="slide2.xml"/><Relationship Id="rId4" Type="http://schemas.openxmlformats.org/officeDocument/2006/relationships/hyperlink" Target="https://flyingdeuk.github.io/posts/RKSI-ICN/" TargetMode="Externa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PK-PUS/" TargetMode="External"/><Relationship Id="rId7" Type="http://schemas.openxmlformats.org/officeDocument/2006/relationships/slide" Target="slide6.xml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Relationship Id="rId6" Type="http://schemas.openxmlformats.org/officeDocument/2006/relationships/slide" Target="slide5.xml"/><Relationship Id="rId5" Type="http://schemas.openxmlformats.org/officeDocument/2006/relationships/image" Target="../media/image10.jpg"/><Relationship Id="rId4" Type="http://schemas.openxmlformats.org/officeDocument/2006/relationships/hyperlink" Target="https://flyingdeuk.github.io/posts/RJAA-NRT/" TargetMode="Externa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JAA-NRT/" TargetMode="External"/><Relationship Id="rId7" Type="http://schemas.openxmlformats.org/officeDocument/2006/relationships/slide" Target="slide3.xml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Relationship Id="rId6" Type="http://schemas.openxmlformats.org/officeDocument/2006/relationships/slide" Target="slide5.xml"/><Relationship Id="rId5" Type="http://schemas.openxmlformats.org/officeDocument/2006/relationships/slide" Target="slide152.xml"/><Relationship Id="rId4" Type="http://schemas.openxmlformats.org/officeDocument/2006/relationships/hyperlink" Target="https://flyingdeuk.github.io/posts/RKPK-PUS/" TargetMode="Externa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PK-PUS/" TargetMode="External"/><Relationship Id="rId7" Type="http://schemas.openxmlformats.org/officeDocument/2006/relationships/slide" Target="slide6.xml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Relationship Id="rId6" Type="http://schemas.openxmlformats.org/officeDocument/2006/relationships/slide" Target="slide5.xml"/><Relationship Id="rId5" Type="http://schemas.openxmlformats.org/officeDocument/2006/relationships/image" Target="../media/image10.jpg"/><Relationship Id="rId4" Type="http://schemas.openxmlformats.org/officeDocument/2006/relationships/hyperlink" Target="https://flyingdeuk.github.io/posts/RJGG-NGO/" TargetMode="Externa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JGG-NGO/" TargetMode="External"/><Relationship Id="rId7" Type="http://schemas.openxmlformats.org/officeDocument/2006/relationships/slide" Target="slide3.xml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Relationship Id="rId6" Type="http://schemas.openxmlformats.org/officeDocument/2006/relationships/slide" Target="slide5.xml"/><Relationship Id="rId5" Type="http://schemas.openxmlformats.org/officeDocument/2006/relationships/slide" Target="slide152.xml"/><Relationship Id="rId4" Type="http://schemas.openxmlformats.org/officeDocument/2006/relationships/hyperlink" Target="https://flyingdeuk.github.io/posts/RKPK-PUS/" TargetMode="Externa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PK-PUS/" TargetMode="External"/><Relationship Id="rId7" Type="http://schemas.openxmlformats.org/officeDocument/2006/relationships/slide" Target="slide6.xml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Relationship Id="rId6" Type="http://schemas.openxmlformats.org/officeDocument/2006/relationships/slide" Target="slide5.xml"/><Relationship Id="rId5" Type="http://schemas.openxmlformats.org/officeDocument/2006/relationships/image" Target="../media/image10.jpg"/><Relationship Id="rId4" Type="http://schemas.openxmlformats.org/officeDocument/2006/relationships/hyperlink" Target="https://flyingdeuk.github.io/posts/RJFF-FUK/" TargetMode="External"/></Relationships>
</file>

<file path=ppt/slides/_rels/slide3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jpeg"/><Relationship Id="rId3" Type="http://schemas.openxmlformats.org/officeDocument/2006/relationships/hyperlink" Target="https://flyingdeuk.github.io/posts/RJFF-FUK/" TargetMode="External"/><Relationship Id="rId7" Type="http://schemas.openxmlformats.org/officeDocument/2006/relationships/slide" Target="slide3.xml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Relationship Id="rId6" Type="http://schemas.openxmlformats.org/officeDocument/2006/relationships/slide" Target="slide5.xml"/><Relationship Id="rId5" Type="http://schemas.openxmlformats.org/officeDocument/2006/relationships/slide" Target="slide152.xml"/><Relationship Id="rId4" Type="http://schemas.openxmlformats.org/officeDocument/2006/relationships/hyperlink" Target="https://flyingdeuk.github.io/posts/RKPK-PUS/" TargetMode="Externa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SI-ICN/" TargetMode="External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Relationship Id="rId6" Type="http://schemas.openxmlformats.org/officeDocument/2006/relationships/slide" Target="slide6.xml"/><Relationship Id="rId5" Type="http://schemas.openxmlformats.org/officeDocument/2006/relationships/slide" Target="slide5.xml"/><Relationship Id="rId4" Type="http://schemas.openxmlformats.org/officeDocument/2006/relationships/hyperlink" Target="https://flyingdeuk.github.io/posts/RJBB-KIX/" TargetMode="Externa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JBB-KIX/" TargetMode="External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Relationship Id="rId6" Type="http://schemas.openxmlformats.org/officeDocument/2006/relationships/slide" Target="slide3.xml"/><Relationship Id="rId5" Type="http://schemas.openxmlformats.org/officeDocument/2006/relationships/slide" Target="slide5.xml"/><Relationship Id="rId4" Type="http://schemas.openxmlformats.org/officeDocument/2006/relationships/hyperlink" Target="https://flyingdeuk.github.io/posts/RKSI-ICN/" TargetMode="Externa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SI-ICN/" TargetMode="External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Relationship Id="rId6" Type="http://schemas.openxmlformats.org/officeDocument/2006/relationships/slide" Target="slide6.xml"/><Relationship Id="rId5" Type="http://schemas.openxmlformats.org/officeDocument/2006/relationships/slide" Target="slide5.xml"/><Relationship Id="rId4" Type="http://schemas.openxmlformats.org/officeDocument/2006/relationships/hyperlink" Target="https://flyingdeuk.github.io/posts/RJAA-NRT/" TargetMode="Externa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JAA-NRT/" TargetMode="External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Relationship Id="rId6" Type="http://schemas.openxmlformats.org/officeDocument/2006/relationships/slide" Target="slide3.xml"/><Relationship Id="rId5" Type="http://schemas.openxmlformats.org/officeDocument/2006/relationships/slide" Target="slide5.xml"/><Relationship Id="rId4" Type="http://schemas.openxmlformats.org/officeDocument/2006/relationships/hyperlink" Target="https://flyingdeuk.github.io/posts/RKSI-ICN/" TargetMode="Externa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SI-ICN/" TargetMode="External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Relationship Id="rId6" Type="http://schemas.openxmlformats.org/officeDocument/2006/relationships/slide" Target="slide6.xml"/><Relationship Id="rId5" Type="http://schemas.openxmlformats.org/officeDocument/2006/relationships/slide" Target="slide5.xml"/><Relationship Id="rId4" Type="http://schemas.openxmlformats.org/officeDocument/2006/relationships/hyperlink" Target="https://flyingdeuk.github.io/posts/RJCC-CTS/" TargetMode="Externa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JCC-CTS/" TargetMode="External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Relationship Id="rId6" Type="http://schemas.openxmlformats.org/officeDocument/2006/relationships/slide" Target="slide3.xml"/><Relationship Id="rId5" Type="http://schemas.openxmlformats.org/officeDocument/2006/relationships/slide" Target="slide5.xml"/><Relationship Id="rId4" Type="http://schemas.openxmlformats.org/officeDocument/2006/relationships/hyperlink" Target="https://flyingdeuk.github.io/posts/RKSI-ICN/" TargetMode="Externa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SI-ICN/" TargetMode="External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2.xml"/><Relationship Id="rId6" Type="http://schemas.openxmlformats.org/officeDocument/2006/relationships/slide" Target="slide6.xml"/><Relationship Id="rId5" Type="http://schemas.openxmlformats.org/officeDocument/2006/relationships/slide" Target="slide5.xml"/><Relationship Id="rId4" Type="http://schemas.openxmlformats.org/officeDocument/2006/relationships/hyperlink" Target="https://flyingdeuk.github.io/posts/RJTT-HND/" TargetMode="Externa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JTT-HND/" TargetMode="External"/><Relationship Id="rId7" Type="http://schemas.openxmlformats.org/officeDocument/2006/relationships/slide" Target="slide3.xml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2.xml"/><Relationship Id="rId6" Type="http://schemas.openxmlformats.org/officeDocument/2006/relationships/slide" Target="slide5.xml"/><Relationship Id="rId5" Type="http://schemas.openxmlformats.org/officeDocument/2006/relationships/image" Target="../media/image12.png"/><Relationship Id="rId4" Type="http://schemas.openxmlformats.org/officeDocument/2006/relationships/hyperlink" Target="https://flyingdeuk.github.io/posts/RKSI-ICN/" TargetMode="Externa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SI-ICN/" TargetMode="External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2.xml"/><Relationship Id="rId6" Type="http://schemas.openxmlformats.org/officeDocument/2006/relationships/slide" Target="slide6.xml"/><Relationship Id="rId5" Type="http://schemas.openxmlformats.org/officeDocument/2006/relationships/slide" Target="slide5.xml"/><Relationship Id="rId4" Type="http://schemas.openxmlformats.org/officeDocument/2006/relationships/hyperlink" Target="https://flyingdeuk.github.io/posts/RJGG-NGO/" TargetMode="Externa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JGG-NGO/" TargetMode="External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2.xml"/><Relationship Id="rId6" Type="http://schemas.openxmlformats.org/officeDocument/2006/relationships/slide" Target="slide3.xml"/><Relationship Id="rId5" Type="http://schemas.openxmlformats.org/officeDocument/2006/relationships/slide" Target="slide5.xml"/><Relationship Id="rId4" Type="http://schemas.openxmlformats.org/officeDocument/2006/relationships/hyperlink" Target="https://flyingdeuk.github.io/posts/RKSI-ICN/" TargetMode="Externa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SI-ICN/" TargetMode="External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2.xml"/><Relationship Id="rId6" Type="http://schemas.openxmlformats.org/officeDocument/2006/relationships/slide" Target="slide6.xml"/><Relationship Id="rId5" Type="http://schemas.openxmlformats.org/officeDocument/2006/relationships/slide" Target="slide5.xml"/><Relationship Id="rId4" Type="http://schemas.openxmlformats.org/officeDocument/2006/relationships/hyperlink" Target="https://flyingdeuk.github.io/posts/RJFF-FUK/" TargetMode="Externa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JFF-FUK/" TargetMode="External"/><Relationship Id="rId7" Type="http://schemas.openxmlformats.org/officeDocument/2006/relationships/image" Target="../media/image11.jpeg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2.xml"/><Relationship Id="rId6" Type="http://schemas.openxmlformats.org/officeDocument/2006/relationships/slide" Target="slide3.xml"/><Relationship Id="rId5" Type="http://schemas.openxmlformats.org/officeDocument/2006/relationships/slide" Target="slide5.xml"/><Relationship Id="rId4" Type="http://schemas.openxmlformats.org/officeDocument/2006/relationships/hyperlink" Target="https://flyingdeuk.github.io/posts/RKSI-ICN/" TargetMode="Externa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SI-ICN/" TargetMode="External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2.xml"/><Relationship Id="rId6" Type="http://schemas.openxmlformats.org/officeDocument/2006/relationships/slide" Target="slide6.xml"/><Relationship Id="rId5" Type="http://schemas.openxmlformats.org/officeDocument/2006/relationships/slide" Target="slide5.xml"/><Relationship Id="rId4" Type="http://schemas.openxmlformats.org/officeDocument/2006/relationships/hyperlink" Target="https://flyingdeuk.github.io/posts/RJSA-AOJ/" TargetMode="Externa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JSA-AOJ/" TargetMode="External"/><Relationship Id="rId7" Type="http://schemas.openxmlformats.org/officeDocument/2006/relationships/image" Target="../media/image13.jpeg"/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2.xml"/><Relationship Id="rId6" Type="http://schemas.openxmlformats.org/officeDocument/2006/relationships/slide" Target="slide3.xml"/><Relationship Id="rId5" Type="http://schemas.openxmlformats.org/officeDocument/2006/relationships/slide" Target="slide5.xml"/><Relationship Id="rId4" Type="http://schemas.openxmlformats.org/officeDocument/2006/relationships/hyperlink" Target="https://flyingdeuk.github.io/posts/RKSI-ICN/" TargetMode="Externa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SI-ICN/" TargetMode="External"/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2.xml"/><Relationship Id="rId6" Type="http://schemas.openxmlformats.org/officeDocument/2006/relationships/slide" Target="slide6.xml"/><Relationship Id="rId5" Type="http://schemas.openxmlformats.org/officeDocument/2006/relationships/slide" Target="slide5.xml"/><Relationship Id="rId4" Type="http://schemas.openxmlformats.org/officeDocument/2006/relationships/hyperlink" Target="https://flyingdeuk.github.io/posts/RJSN-KIJ/" TargetMode="Externa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JSN-KIJ/" TargetMode="External"/><Relationship Id="rId7" Type="http://schemas.openxmlformats.org/officeDocument/2006/relationships/image" Target="../media/image14.jpeg"/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2.xml"/><Relationship Id="rId6" Type="http://schemas.openxmlformats.org/officeDocument/2006/relationships/slide" Target="slide3.xml"/><Relationship Id="rId5" Type="http://schemas.openxmlformats.org/officeDocument/2006/relationships/slide" Target="slide5.xml"/><Relationship Id="rId4" Type="http://schemas.openxmlformats.org/officeDocument/2006/relationships/hyperlink" Target="https://flyingdeuk.github.io/posts/RKSI-ICN/" TargetMode="Externa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PC-CJU/" TargetMode="External"/><Relationship Id="rId7" Type="http://schemas.openxmlformats.org/officeDocument/2006/relationships/image" Target="../media/image6.jpg"/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2.xml"/><Relationship Id="rId6" Type="http://schemas.openxmlformats.org/officeDocument/2006/relationships/slide" Target="slide6.xml"/><Relationship Id="rId5" Type="http://schemas.openxmlformats.org/officeDocument/2006/relationships/slide" Target="slide5.xml"/><Relationship Id="rId4" Type="http://schemas.openxmlformats.org/officeDocument/2006/relationships/hyperlink" Target="https://flyingdeuk.github.io/posts/RJAA-NRT/" TargetMode="Externa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JAA-NRT/" TargetMode="External"/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2.xml"/><Relationship Id="rId6" Type="http://schemas.openxmlformats.org/officeDocument/2006/relationships/slide" Target="slide3.xml"/><Relationship Id="rId5" Type="http://schemas.openxmlformats.org/officeDocument/2006/relationships/slide" Target="slide5.xml"/><Relationship Id="rId4" Type="http://schemas.openxmlformats.org/officeDocument/2006/relationships/hyperlink" Target="https://flyingdeuk.github.io/posts/RKPC-CJU/" TargetMode="External"/></Relationships>
</file>

<file path=ppt/slides/_rels/slide52.xml.rels><?xml version="1.0" encoding="UTF-8" standalone="yes"?>
<Relationships xmlns="http://schemas.openxmlformats.org/package/2006/relationships"><Relationship Id="rId8" Type="http://schemas.openxmlformats.org/officeDocument/2006/relationships/slide" Target="slide8.xml"/><Relationship Id="rId3" Type="http://schemas.openxmlformats.org/officeDocument/2006/relationships/image" Target="../media/image2.jpg"/><Relationship Id="rId7" Type="http://schemas.openxmlformats.org/officeDocument/2006/relationships/slide" Target="slide7.xml"/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.png"/><Relationship Id="rId5" Type="http://schemas.openxmlformats.org/officeDocument/2006/relationships/hyperlink" Target="https://flyingdeuk.github.io/posts/ZSSS-SHA/" TargetMode="External"/><Relationship Id="rId4" Type="http://schemas.openxmlformats.org/officeDocument/2006/relationships/hyperlink" Target="https://flyingdeuk.github.io/posts/RKSS-GMP/" TargetMode="Externa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2.xml"/><Relationship Id="rId4" Type="http://schemas.openxmlformats.org/officeDocument/2006/relationships/slide" Target="slide7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ZSSS-SHA/" TargetMode="External"/><Relationship Id="rId7" Type="http://schemas.openxmlformats.org/officeDocument/2006/relationships/slide" Target="slide3.xml"/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2.xml"/><Relationship Id="rId6" Type="http://schemas.openxmlformats.org/officeDocument/2006/relationships/slide" Target="slide7.xml"/><Relationship Id="rId5" Type="http://schemas.openxmlformats.org/officeDocument/2006/relationships/image" Target="../media/image4.png"/><Relationship Id="rId4" Type="http://schemas.openxmlformats.org/officeDocument/2006/relationships/hyperlink" Target="https://flyingdeuk.github.io/posts/RKSS-GMP/" TargetMode="External"/></Relationships>
</file>

<file path=ppt/slides/_rels/slide55.xml.rels><?xml version="1.0" encoding="UTF-8" standalone="yes"?>
<Relationships xmlns="http://schemas.openxmlformats.org/package/2006/relationships"><Relationship Id="rId8" Type="http://schemas.openxmlformats.org/officeDocument/2006/relationships/slide" Target="slide8.xml"/><Relationship Id="rId3" Type="http://schemas.openxmlformats.org/officeDocument/2006/relationships/image" Target="../media/image2.jpg"/><Relationship Id="rId7" Type="http://schemas.openxmlformats.org/officeDocument/2006/relationships/slide" Target="slide7.xml"/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.png"/><Relationship Id="rId5" Type="http://schemas.openxmlformats.org/officeDocument/2006/relationships/hyperlink" Target="https://flyingdeuk.github.io/posts/ZBAA-PEK/" TargetMode="External"/><Relationship Id="rId4" Type="http://schemas.openxmlformats.org/officeDocument/2006/relationships/hyperlink" Target="https://flyingdeuk.github.io/posts/RKSS-GMP/" TargetMode="Externa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2.xml"/><Relationship Id="rId4" Type="http://schemas.openxmlformats.org/officeDocument/2006/relationships/slide" Target="slide7.xml"/></Relationships>
</file>

<file path=ppt/slides/_rels/slide57.xml.rels><?xml version="1.0" encoding="UTF-8" standalone="yes"?>
<Relationships xmlns="http://schemas.openxmlformats.org/package/2006/relationships"><Relationship Id="rId8" Type="http://schemas.openxmlformats.org/officeDocument/2006/relationships/slide" Target="slide3.xml"/><Relationship Id="rId3" Type="http://schemas.openxmlformats.org/officeDocument/2006/relationships/hyperlink" Target="https://flyingdeuk.github.io/posts/ZBAA-PEK/" TargetMode="External"/><Relationship Id="rId7" Type="http://schemas.openxmlformats.org/officeDocument/2006/relationships/image" Target="../media/image4.png"/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.jpeg"/><Relationship Id="rId5" Type="http://schemas.openxmlformats.org/officeDocument/2006/relationships/slide" Target="slide7.xml"/><Relationship Id="rId4" Type="http://schemas.openxmlformats.org/officeDocument/2006/relationships/hyperlink" Target="https://flyingdeuk.github.io/posts/RKSS-GMP/" TargetMode="External"/></Relationships>
</file>

<file path=ppt/slides/_rels/slide58.xml.rels><?xml version="1.0" encoding="UTF-8" standalone="yes"?>
<Relationships xmlns="http://schemas.openxmlformats.org/package/2006/relationships"><Relationship Id="rId8" Type="http://schemas.openxmlformats.org/officeDocument/2006/relationships/slide" Target="slide6.xml"/><Relationship Id="rId3" Type="http://schemas.openxmlformats.org/officeDocument/2006/relationships/hyperlink" Target="https://flyingdeuk.github.io/posts/RKSS-GMP/" TargetMode="External"/><Relationship Id="rId7" Type="http://schemas.openxmlformats.org/officeDocument/2006/relationships/slide" Target="slide5.xml"/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.jpg"/><Relationship Id="rId5" Type="http://schemas.openxmlformats.org/officeDocument/2006/relationships/image" Target="../media/image1.png"/><Relationship Id="rId4" Type="http://schemas.openxmlformats.org/officeDocument/2006/relationships/hyperlink" Target="https://flyingdeuk.github.io/posts/RJBB-KIX/" TargetMode="Externa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JBB-KIX/" TargetMode="External"/><Relationship Id="rId7" Type="http://schemas.openxmlformats.org/officeDocument/2006/relationships/slide" Target="slide3.xml"/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2.xml"/><Relationship Id="rId6" Type="http://schemas.openxmlformats.org/officeDocument/2006/relationships/slide" Target="slide5.xml"/><Relationship Id="rId5" Type="http://schemas.openxmlformats.org/officeDocument/2006/relationships/image" Target="../media/image4.png"/><Relationship Id="rId4" Type="http://schemas.openxmlformats.org/officeDocument/2006/relationships/hyperlink" Target="https://flyingdeuk.github.io/posts/RKSS-GMP/" TargetMode="Externa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PC-CJU/" TargetMode="External"/><Relationship Id="rId7" Type="http://schemas.openxmlformats.org/officeDocument/2006/relationships/slide" Target="slide8.xml"/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2.xml"/><Relationship Id="rId6" Type="http://schemas.openxmlformats.org/officeDocument/2006/relationships/slide" Target="slide7.xml"/><Relationship Id="rId5" Type="http://schemas.openxmlformats.org/officeDocument/2006/relationships/image" Target="../media/image6.jpg"/><Relationship Id="rId4" Type="http://schemas.openxmlformats.org/officeDocument/2006/relationships/hyperlink" Target="https://flyingdeuk.github.io/posts/ZBAA-PEK/" TargetMode="External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2.xml"/><Relationship Id="rId4" Type="http://schemas.openxmlformats.org/officeDocument/2006/relationships/slide" Target="slide7.xml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ZBAA-PEK/" TargetMode="External"/><Relationship Id="rId7" Type="http://schemas.openxmlformats.org/officeDocument/2006/relationships/slide" Target="slide3.xml"/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2.xml"/><Relationship Id="rId6" Type="http://schemas.openxmlformats.org/officeDocument/2006/relationships/slide" Target="slide7.xml"/><Relationship Id="rId5" Type="http://schemas.openxmlformats.org/officeDocument/2006/relationships/image" Target="../media/image16.jpeg"/><Relationship Id="rId4" Type="http://schemas.openxmlformats.org/officeDocument/2006/relationships/hyperlink" Target="https://flyingdeuk.github.io/posts/RKSI-ICN/" TargetMode="External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PK-PUS/" TargetMode="External"/><Relationship Id="rId7" Type="http://schemas.openxmlformats.org/officeDocument/2006/relationships/image" Target="../media/image10.jpg"/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2.xml"/><Relationship Id="rId6" Type="http://schemas.openxmlformats.org/officeDocument/2006/relationships/slide" Target="slide8.xml"/><Relationship Id="rId5" Type="http://schemas.openxmlformats.org/officeDocument/2006/relationships/slide" Target="slide7.xml"/><Relationship Id="rId4" Type="http://schemas.openxmlformats.org/officeDocument/2006/relationships/hyperlink" Target="https://flyingdeuk.github.io/posts/ZSPD-PVG/" TargetMode="External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64.xml"/><Relationship Id="rId1" Type="http://schemas.openxmlformats.org/officeDocument/2006/relationships/slideLayout" Target="../slideLayouts/slideLayout2.xml"/><Relationship Id="rId4" Type="http://schemas.openxmlformats.org/officeDocument/2006/relationships/slide" Target="slide7.xml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ZSPD-PVG/" TargetMode="External"/><Relationship Id="rId7" Type="http://schemas.openxmlformats.org/officeDocument/2006/relationships/slide" Target="slide152.xml"/><Relationship Id="rId2" Type="http://schemas.openxmlformats.org/officeDocument/2006/relationships/notesSlide" Target="../notesSlides/notesSlide65.xml"/><Relationship Id="rId1" Type="http://schemas.openxmlformats.org/officeDocument/2006/relationships/slideLayout" Target="../slideLayouts/slideLayout2.xml"/><Relationship Id="rId6" Type="http://schemas.openxmlformats.org/officeDocument/2006/relationships/slide" Target="slide3.xml"/><Relationship Id="rId5" Type="http://schemas.openxmlformats.org/officeDocument/2006/relationships/slide" Target="slide7.xml"/><Relationship Id="rId4" Type="http://schemas.openxmlformats.org/officeDocument/2006/relationships/hyperlink" Target="https://flyingdeuk.github.io/posts/RKPK-PUS/" TargetMode="External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SI-ICN/" TargetMode="External"/><Relationship Id="rId2" Type="http://schemas.openxmlformats.org/officeDocument/2006/relationships/notesSlide" Target="../notesSlides/notesSlide66.xml"/><Relationship Id="rId1" Type="http://schemas.openxmlformats.org/officeDocument/2006/relationships/slideLayout" Target="../slideLayouts/slideLayout2.xml"/><Relationship Id="rId6" Type="http://schemas.openxmlformats.org/officeDocument/2006/relationships/slide" Target="slide8.xml"/><Relationship Id="rId5" Type="http://schemas.openxmlformats.org/officeDocument/2006/relationships/slide" Target="slide7.xml"/><Relationship Id="rId4" Type="http://schemas.openxmlformats.org/officeDocument/2006/relationships/hyperlink" Target="https://flyingdeuk.github.io/posts/ZSNJ-NKG/" TargetMode="External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67.xml"/><Relationship Id="rId1" Type="http://schemas.openxmlformats.org/officeDocument/2006/relationships/slideLayout" Target="../slideLayouts/slideLayout2.xml"/><Relationship Id="rId4" Type="http://schemas.openxmlformats.org/officeDocument/2006/relationships/slide" Target="slide7.xml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ZSNJ-NKG/" TargetMode="External"/><Relationship Id="rId2" Type="http://schemas.openxmlformats.org/officeDocument/2006/relationships/notesSlide" Target="../notesSlides/notesSlide68.xml"/><Relationship Id="rId1" Type="http://schemas.openxmlformats.org/officeDocument/2006/relationships/slideLayout" Target="../slideLayouts/slideLayout2.xml"/><Relationship Id="rId6" Type="http://schemas.openxmlformats.org/officeDocument/2006/relationships/slide" Target="slide3.xml"/><Relationship Id="rId5" Type="http://schemas.openxmlformats.org/officeDocument/2006/relationships/slide" Target="slide7.xml"/><Relationship Id="rId4" Type="http://schemas.openxmlformats.org/officeDocument/2006/relationships/hyperlink" Target="https://flyingdeuk.github.io/posts/RKSI-ICN/" TargetMode="External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SI-ICN/" TargetMode="External"/><Relationship Id="rId2" Type="http://schemas.openxmlformats.org/officeDocument/2006/relationships/notesSlide" Target="../notesSlides/notesSlide69.xml"/><Relationship Id="rId1" Type="http://schemas.openxmlformats.org/officeDocument/2006/relationships/slideLayout" Target="../slideLayouts/slideLayout2.xml"/><Relationship Id="rId6" Type="http://schemas.openxmlformats.org/officeDocument/2006/relationships/slide" Target="slide8.xml"/><Relationship Id="rId5" Type="http://schemas.openxmlformats.org/officeDocument/2006/relationships/slide" Target="slide7.xml"/><Relationship Id="rId4" Type="http://schemas.openxmlformats.org/officeDocument/2006/relationships/hyperlink" Target="https://flyingdeuk.github.io/posts/ZSQD-TAO/" TargetMode="External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70.xml"/><Relationship Id="rId1" Type="http://schemas.openxmlformats.org/officeDocument/2006/relationships/slideLayout" Target="../slideLayouts/slideLayout2.xml"/><Relationship Id="rId4" Type="http://schemas.openxmlformats.org/officeDocument/2006/relationships/slide" Target="slide7.xml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ZSQD-TAO/" TargetMode="External"/><Relationship Id="rId2" Type="http://schemas.openxmlformats.org/officeDocument/2006/relationships/notesSlide" Target="../notesSlides/notesSlide71.xml"/><Relationship Id="rId1" Type="http://schemas.openxmlformats.org/officeDocument/2006/relationships/slideLayout" Target="../slideLayouts/slideLayout2.xml"/><Relationship Id="rId6" Type="http://schemas.openxmlformats.org/officeDocument/2006/relationships/slide" Target="slide3.xml"/><Relationship Id="rId5" Type="http://schemas.openxmlformats.org/officeDocument/2006/relationships/slide" Target="slide7.xml"/><Relationship Id="rId4" Type="http://schemas.openxmlformats.org/officeDocument/2006/relationships/hyperlink" Target="https://flyingdeuk.github.io/posts/RKSI-ICN/" TargetMode="External"/></Relationships>
</file>

<file path=ppt/slides/_rels/slide72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SI-ICN/" TargetMode="External"/><Relationship Id="rId2" Type="http://schemas.openxmlformats.org/officeDocument/2006/relationships/notesSlide" Target="../notesSlides/notesSlide72.xml"/><Relationship Id="rId1" Type="http://schemas.openxmlformats.org/officeDocument/2006/relationships/slideLayout" Target="../slideLayouts/slideLayout2.xml"/><Relationship Id="rId6" Type="http://schemas.openxmlformats.org/officeDocument/2006/relationships/slide" Target="slide8.xml"/><Relationship Id="rId5" Type="http://schemas.openxmlformats.org/officeDocument/2006/relationships/slide" Target="slide7.xml"/><Relationship Id="rId4" Type="http://schemas.openxmlformats.org/officeDocument/2006/relationships/hyperlink" Target="https://flyingdeuk.github.io/posts/ZBAA-PEK/" TargetMode="External"/></Relationships>
</file>

<file path=ppt/slides/_rels/slide7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73.xml"/><Relationship Id="rId1" Type="http://schemas.openxmlformats.org/officeDocument/2006/relationships/slideLayout" Target="../slideLayouts/slideLayout2.xml"/><Relationship Id="rId4" Type="http://schemas.openxmlformats.org/officeDocument/2006/relationships/slide" Target="slide7.xml"/></Relationships>
</file>

<file path=ppt/slides/_rels/slide74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ZBAA-PEK/" TargetMode="External"/><Relationship Id="rId7" Type="http://schemas.openxmlformats.org/officeDocument/2006/relationships/slide" Target="slide3.xml"/><Relationship Id="rId2" Type="http://schemas.openxmlformats.org/officeDocument/2006/relationships/notesSlide" Target="../notesSlides/notesSlide74.xml"/><Relationship Id="rId1" Type="http://schemas.openxmlformats.org/officeDocument/2006/relationships/slideLayout" Target="../slideLayouts/slideLayout2.xml"/><Relationship Id="rId6" Type="http://schemas.openxmlformats.org/officeDocument/2006/relationships/slide" Target="slide7.xml"/><Relationship Id="rId5" Type="http://schemas.openxmlformats.org/officeDocument/2006/relationships/image" Target="../media/image16.jpeg"/><Relationship Id="rId4" Type="http://schemas.openxmlformats.org/officeDocument/2006/relationships/hyperlink" Target="https://flyingdeuk.github.io/posts/RKSI-ICN/" TargetMode="External"/></Relationships>
</file>

<file path=ppt/slides/_rels/slide75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SI-ICN/" TargetMode="External"/><Relationship Id="rId2" Type="http://schemas.openxmlformats.org/officeDocument/2006/relationships/notesSlide" Target="../notesSlides/notesSlide75.xml"/><Relationship Id="rId1" Type="http://schemas.openxmlformats.org/officeDocument/2006/relationships/slideLayout" Target="../slideLayouts/slideLayout2.xml"/><Relationship Id="rId6" Type="http://schemas.openxmlformats.org/officeDocument/2006/relationships/slide" Target="slide8.xml"/><Relationship Id="rId5" Type="http://schemas.openxmlformats.org/officeDocument/2006/relationships/slide" Target="slide7.xml"/><Relationship Id="rId4" Type="http://schemas.openxmlformats.org/officeDocument/2006/relationships/hyperlink" Target="https://flyingdeuk.github.io/posts/ZYTX-SHE/" TargetMode="External"/></Relationships>
</file>

<file path=ppt/slides/_rels/slide7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76.xml"/><Relationship Id="rId1" Type="http://schemas.openxmlformats.org/officeDocument/2006/relationships/slideLayout" Target="../slideLayouts/slideLayout2.xml"/><Relationship Id="rId4" Type="http://schemas.openxmlformats.org/officeDocument/2006/relationships/slide" Target="slide7.xml"/></Relationships>
</file>

<file path=ppt/slides/_rels/slide77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ZYTX-SHE/" TargetMode="External"/><Relationship Id="rId2" Type="http://schemas.openxmlformats.org/officeDocument/2006/relationships/notesSlide" Target="../notesSlides/notesSlide77.xml"/><Relationship Id="rId1" Type="http://schemas.openxmlformats.org/officeDocument/2006/relationships/slideLayout" Target="../slideLayouts/slideLayout2.xml"/><Relationship Id="rId6" Type="http://schemas.openxmlformats.org/officeDocument/2006/relationships/slide" Target="slide3.xml"/><Relationship Id="rId5" Type="http://schemas.openxmlformats.org/officeDocument/2006/relationships/slide" Target="slide7.xml"/><Relationship Id="rId4" Type="http://schemas.openxmlformats.org/officeDocument/2006/relationships/hyperlink" Target="https://flyingdeuk.github.io/posts/RKSI-ICN/" TargetMode="External"/></Relationships>
</file>

<file path=ppt/slides/_rels/slide78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SI-ICN/" TargetMode="External"/><Relationship Id="rId2" Type="http://schemas.openxmlformats.org/officeDocument/2006/relationships/notesSlide" Target="../notesSlides/notesSlide78.xml"/><Relationship Id="rId1" Type="http://schemas.openxmlformats.org/officeDocument/2006/relationships/slideLayout" Target="../slideLayouts/slideLayout2.xml"/><Relationship Id="rId6" Type="http://schemas.openxmlformats.org/officeDocument/2006/relationships/slide" Target="slide8.xml"/><Relationship Id="rId5" Type="http://schemas.openxmlformats.org/officeDocument/2006/relationships/slide" Target="slide7.xml"/><Relationship Id="rId4" Type="http://schemas.openxmlformats.org/officeDocument/2006/relationships/hyperlink" Target="https://flyingdeuk.github.io/posts/ZSPD-PVG/" TargetMode="External"/></Relationships>
</file>

<file path=ppt/slides/_rels/slide7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79.xml"/><Relationship Id="rId1" Type="http://schemas.openxmlformats.org/officeDocument/2006/relationships/slideLayout" Target="../slideLayouts/slideLayout2.xml"/><Relationship Id="rId4" Type="http://schemas.openxmlformats.org/officeDocument/2006/relationships/slide" Target="slide7.xml"/></Relationships>
</file>

<file path=ppt/slides/_rels/slide80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ZSPD-PVG/" TargetMode="External"/><Relationship Id="rId2" Type="http://schemas.openxmlformats.org/officeDocument/2006/relationships/notesSlide" Target="../notesSlides/notesSlide80.xml"/><Relationship Id="rId1" Type="http://schemas.openxmlformats.org/officeDocument/2006/relationships/slideLayout" Target="../slideLayouts/slideLayout2.xml"/><Relationship Id="rId6" Type="http://schemas.openxmlformats.org/officeDocument/2006/relationships/slide" Target="slide3.xml"/><Relationship Id="rId5" Type="http://schemas.openxmlformats.org/officeDocument/2006/relationships/slide" Target="slide7.xml"/><Relationship Id="rId4" Type="http://schemas.openxmlformats.org/officeDocument/2006/relationships/hyperlink" Target="https://flyingdeuk.github.io/posts/RKSI-ICN/" TargetMode="External"/></Relationships>
</file>

<file path=ppt/slides/_rels/slide81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SI-ICN/" TargetMode="External"/><Relationship Id="rId2" Type="http://schemas.openxmlformats.org/officeDocument/2006/relationships/notesSlide" Target="../notesSlides/notesSlide81.xml"/><Relationship Id="rId1" Type="http://schemas.openxmlformats.org/officeDocument/2006/relationships/slideLayout" Target="../slideLayouts/slideLayout2.xml"/><Relationship Id="rId6" Type="http://schemas.openxmlformats.org/officeDocument/2006/relationships/slide" Target="slide8.xml"/><Relationship Id="rId5" Type="http://schemas.openxmlformats.org/officeDocument/2006/relationships/slide" Target="slide7.xml"/><Relationship Id="rId4" Type="http://schemas.openxmlformats.org/officeDocument/2006/relationships/hyperlink" Target="https://flyingdeuk.github.io/posts/ZYYJ-YNJ/" TargetMode="External"/></Relationships>
</file>

<file path=ppt/slides/_rels/slide8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82.xml"/><Relationship Id="rId1" Type="http://schemas.openxmlformats.org/officeDocument/2006/relationships/slideLayout" Target="../slideLayouts/slideLayout2.xml"/><Relationship Id="rId4" Type="http://schemas.openxmlformats.org/officeDocument/2006/relationships/slide" Target="slide7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4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ZYYJ-YNJ/" TargetMode="External"/><Relationship Id="rId7" Type="http://schemas.openxmlformats.org/officeDocument/2006/relationships/slide" Target="slide3.xml"/><Relationship Id="rId2" Type="http://schemas.openxmlformats.org/officeDocument/2006/relationships/notesSlide" Target="../notesSlides/notesSlide83.xml"/><Relationship Id="rId1" Type="http://schemas.openxmlformats.org/officeDocument/2006/relationships/slideLayout" Target="../slideLayouts/slideLayout2.xml"/><Relationship Id="rId6" Type="http://schemas.openxmlformats.org/officeDocument/2006/relationships/slide" Target="slide7.xml"/><Relationship Id="rId5" Type="http://schemas.openxmlformats.org/officeDocument/2006/relationships/image" Target="../media/image17.jpeg"/><Relationship Id="rId4" Type="http://schemas.openxmlformats.org/officeDocument/2006/relationships/hyperlink" Target="https://flyingdeuk.github.io/posts/RKSI-ICN/" TargetMode="External"/></Relationships>
</file>

<file path=ppt/slides/_rels/slide85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SI-ICN/" TargetMode="External"/><Relationship Id="rId2" Type="http://schemas.openxmlformats.org/officeDocument/2006/relationships/notesSlide" Target="../notesSlides/notesSlide84.xml"/><Relationship Id="rId1" Type="http://schemas.openxmlformats.org/officeDocument/2006/relationships/slideLayout" Target="../slideLayouts/slideLayout2.xml"/><Relationship Id="rId6" Type="http://schemas.openxmlformats.org/officeDocument/2006/relationships/slide" Target="slide8.xml"/><Relationship Id="rId5" Type="http://schemas.openxmlformats.org/officeDocument/2006/relationships/slide" Target="slide7.xml"/><Relationship Id="rId4" Type="http://schemas.openxmlformats.org/officeDocument/2006/relationships/hyperlink" Target="https://flyingdeuk.github.io/posts/ZSHC-HGH/" TargetMode="External"/></Relationships>
</file>

<file path=ppt/slides/_rels/slide8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85.xml"/><Relationship Id="rId1" Type="http://schemas.openxmlformats.org/officeDocument/2006/relationships/slideLayout" Target="../slideLayouts/slideLayout2.xml"/><Relationship Id="rId4" Type="http://schemas.openxmlformats.org/officeDocument/2006/relationships/slide" Target="slide7.xml"/></Relationships>
</file>

<file path=ppt/slides/_rels/slide8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7" Type="http://schemas.openxmlformats.org/officeDocument/2006/relationships/slide" Target="slide3.xml"/><Relationship Id="rId2" Type="http://schemas.openxmlformats.org/officeDocument/2006/relationships/notesSlide" Target="../notesSlides/notesSlide86.xml"/><Relationship Id="rId1" Type="http://schemas.openxmlformats.org/officeDocument/2006/relationships/slideLayout" Target="../slideLayouts/slideLayout2.xml"/><Relationship Id="rId6" Type="http://schemas.openxmlformats.org/officeDocument/2006/relationships/slide" Target="slide7.xml"/><Relationship Id="rId5" Type="http://schemas.openxmlformats.org/officeDocument/2006/relationships/hyperlink" Target="https://flyingdeuk.github.io/posts/RKSI-ICN/" TargetMode="External"/><Relationship Id="rId4" Type="http://schemas.openxmlformats.org/officeDocument/2006/relationships/hyperlink" Target="https://flyingdeuk.github.io/posts/ZSHC-HGH/" TargetMode="External"/></Relationships>
</file>

<file path=ppt/slides/_rels/slide88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SI-ICN/" TargetMode="External"/><Relationship Id="rId2" Type="http://schemas.openxmlformats.org/officeDocument/2006/relationships/notesSlide" Target="../notesSlides/notesSlide87.xml"/><Relationship Id="rId1" Type="http://schemas.openxmlformats.org/officeDocument/2006/relationships/slideLayout" Target="../slideLayouts/slideLayout2.xml"/><Relationship Id="rId6" Type="http://schemas.openxmlformats.org/officeDocument/2006/relationships/slide" Target="slide8.xml"/><Relationship Id="rId5" Type="http://schemas.openxmlformats.org/officeDocument/2006/relationships/slide" Target="slide7.xml"/><Relationship Id="rId4" Type="http://schemas.openxmlformats.org/officeDocument/2006/relationships/hyperlink" Target="https://flyingdeuk.github.io/posts/ZSWH-WEH/" TargetMode="External"/></Relationships>
</file>

<file path=ppt/slides/_rels/slide8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88.xml"/><Relationship Id="rId1" Type="http://schemas.openxmlformats.org/officeDocument/2006/relationships/slideLayout" Target="../slideLayouts/slideLayout2.xml"/><Relationship Id="rId4" Type="http://schemas.openxmlformats.org/officeDocument/2006/relationships/slide" Target="slide7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1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ZSWH-WEH/" TargetMode="External"/><Relationship Id="rId2" Type="http://schemas.openxmlformats.org/officeDocument/2006/relationships/notesSlide" Target="../notesSlides/notesSlide89.xml"/><Relationship Id="rId1" Type="http://schemas.openxmlformats.org/officeDocument/2006/relationships/slideLayout" Target="../slideLayouts/slideLayout2.xml"/><Relationship Id="rId6" Type="http://schemas.openxmlformats.org/officeDocument/2006/relationships/slide" Target="slide3.xml"/><Relationship Id="rId5" Type="http://schemas.openxmlformats.org/officeDocument/2006/relationships/slide" Target="slide7.xml"/><Relationship Id="rId4" Type="http://schemas.openxmlformats.org/officeDocument/2006/relationships/hyperlink" Target="https://flyingdeuk.github.io/posts/RKSI-ICN/" TargetMode="External"/></Relationships>
</file>

<file path=ppt/slides/_rels/slide92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SI-ICN/" TargetMode="External"/><Relationship Id="rId2" Type="http://schemas.openxmlformats.org/officeDocument/2006/relationships/notesSlide" Target="../notesSlides/notesSlide90.xml"/><Relationship Id="rId1" Type="http://schemas.openxmlformats.org/officeDocument/2006/relationships/slideLayout" Target="../slideLayouts/slideLayout2.xml"/><Relationship Id="rId6" Type="http://schemas.openxmlformats.org/officeDocument/2006/relationships/slide" Target="slide8.xml"/><Relationship Id="rId5" Type="http://schemas.openxmlformats.org/officeDocument/2006/relationships/slide" Target="slide7.xml"/><Relationship Id="rId4" Type="http://schemas.openxmlformats.org/officeDocument/2006/relationships/hyperlink" Target="https://flyingdeuk.github.io/posts/ZLXY-XIY/" TargetMode="External"/></Relationships>
</file>

<file path=ppt/slides/_rels/slide9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91.xml"/><Relationship Id="rId1" Type="http://schemas.openxmlformats.org/officeDocument/2006/relationships/slideLayout" Target="../slideLayouts/slideLayout2.xml"/><Relationship Id="rId4" Type="http://schemas.openxmlformats.org/officeDocument/2006/relationships/slide" Target="slide7.xml"/></Relationships>
</file>

<file path=ppt/slides/_rels/slide9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jpeg"/><Relationship Id="rId7" Type="http://schemas.openxmlformats.org/officeDocument/2006/relationships/slide" Target="slide3.xml"/><Relationship Id="rId2" Type="http://schemas.openxmlformats.org/officeDocument/2006/relationships/notesSlide" Target="../notesSlides/notesSlide92.xml"/><Relationship Id="rId1" Type="http://schemas.openxmlformats.org/officeDocument/2006/relationships/slideLayout" Target="../slideLayouts/slideLayout2.xml"/><Relationship Id="rId6" Type="http://schemas.openxmlformats.org/officeDocument/2006/relationships/slide" Target="slide7.xml"/><Relationship Id="rId5" Type="http://schemas.openxmlformats.org/officeDocument/2006/relationships/hyperlink" Target="https://flyingdeuk.github.io/posts/RKSI-ICN/" TargetMode="External"/><Relationship Id="rId4" Type="http://schemas.openxmlformats.org/officeDocument/2006/relationships/hyperlink" Target="https://flyingdeuk.github.io/posts/ZLXY-XIY/" TargetMode="External"/></Relationships>
</file>

<file path=ppt/slides/_rels/slide95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SI-ICN/" TargetMode="External"/><Relationship Id="rId2" Type="http://schemas.openxmlformats.org/officeDocument/2006/relationships/notesSlide" Target="../notesSlides/notesSlide93.xml"/><Relationship Id="rId1" Type="http://schemas.openxmlformats.org/officeDocument/2006/relationships/slideLayout" Target="../slideLayouts/slideLayout2.xml"/><Relationship Id="rId6" Type="http://schemas.openxmlformats.org/officeDocument/2006/relationships/slide" Target="slide8.xml"/><Relationship Id="rId5" Type="http://schemas.openxmlformats.org/officeDocument/2006/relationships/slide" Target="slide7.xml"/><Relationship Id="rId4" Type="http://schemas.openxmlformats.org/officeDocument/2006/relationships/hyperlink" Target="https://flyingdeuk.github.io/posts/ZGHA-CSX/" TargetMode="External"/></Relationships>
</file>

<file path=ppt/slides/_rels/slide9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94.xml"/><Relationship Id="rId1" Type="http://schemas.openxmlformats.org/officeDocument/2006/relationships/slideLayout" Target="../slideLayouts/slideLayout2.xml"/><Relationship Id="rId4" Type="http://schemas.openxmlformats.org/officeDocument/2006/relationships/slide" Target="slide7.xml"/></Relationships>
</file>

<file path=ppt/slides/_rels/slide97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ZGHA-CSX/" TargetMode="External"/><Relationship Id="rId7" Type="http://schemas.openxmlformats.org/officeDocument/2006/relationships/image" Target="../media/image20.png"/><Relationship Id="rId2" Type="http://schemas.openxmlformats.org/officeDocument/2006/relationships/notesSlide" Target="../notesSlides/notesSlide95.xml"/><Relationship Id="rId1" Type="http://schemas.openxmlformats.org/officeDocument/2006/relationships/slideLayout" Target="../slideLayouts/slideLayout2.xml"/><Relationship Id="rId6" Type="http://schemas.openxmlformats.org/officeDocument/2006/relationships/slide" Target="slide3.xml"/><Relationship Id="rId5" Type="http://schemas.openxmlformats.org/officeDocument/2006/relationships/slide" Target="slide7.xml"/><Relationship Id="rId4" Type="http://schemas.openxmlformats.org/officeDocument/2006/relationships/hyperlink" Target="https://flyingdeuk.github.io/posts/RKSI-ICN/" TargetMode="External"/></Relationships>
</file>

<file path=ppt/slides/_rels/slide98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SI-ICN/" TargetMode="External"/><Relationship Id="rId2" Type="http://schemas.openxmlformats.org/officeDocument/2006/relationships/notesSlide" Target="../notesSlides/notesSlide96.xml"/><Relationship Id="rId1" Type="http://schemas.openxmlformats.org/officeDocument/2006/relationships/slideLayout" Target="../slideLayouts/slideLayout2.xml"/><Relationship Id="rId6" Type="http://schemas.openxmlformats.org/officeDocument/2006/relationships/slide" Target="slide8.xml"/><Relationship Id="rId5" Type="http://schemas.openxmlformats.org/officeDocument/2006/relationships/slide" Target="slide7.xml"/><Relationship Id="rId4" Type="http://schemas.openxmlformats.org/officeDocument/2006/relationships/hyperlink" Target="https://flyingdeuk.github.io/posts/VHHH-HKG/" TargetMode="External"/></Relationships>
</file>

<file path=ppt/slides/_rels/slide9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7" Type="http://schemas.openxmlformats.org/officeDocument/2006/relationships/slide" Target="slide3.xml"/><Relationship Id="rId2" Type="http://schemas.openxmlformats.org/officeDocument/2006/relationships/notesSlide" Target="../notesSlides/notesSlide97.xml"/><Relationship Id="rId1" Type="http://schemas.openxmlformats.org/officeDocument/2006/relationships/slideLayout" Target="../slideLayouts/slideLayout2.xml"/><Relationship Id="rId6" Type="http://schemas.openxmlformats.org/officeDocument/2006/relationships/slide" Target="slide7.xml"/><Relationship Id="rId5" Type="http://schemas.openxmlformats.org/officeDocument/2006/relationships/hyperlink" Target="https://flyingdeuk.github.io/posts/RKSI-ICN/" TargetMode="External"/><Relationship Id="rId4" Type="http://schemas.openxmlformats.org/officeDocument/2006/relationships/hyperlink" Target="https://flyingdeuk.github.io/posts/VHHH-HKG/" TargetMode="External"/></Relationships>
</file>

<file path=ppt/slides/_rels/slide100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SI-ICN/" TargetMode="External"/><Relationship Id="rId2" Type="http://schemas.openxmlformats.org/officeDocument/2006/relationships/notesSlide" Target="../notesSlides/notesSlide98.xml"/><Relationship Id="rId1" Type="http://schemas.openxmlformats.org/officeDocument/2006/relationships/slideLayout" Target="../slideLayouts/slideLayout2.xml"/><Relationship Id="rId6" Type="http://schemas.openxmlformats.org/officeDocument/2006/relationships/slide" Target="slide8.xml"/><Relationship Id="rId5" Type="http://schemas.openxmlformats.org/officeDocument/2006/relationships/slide" Target="slide7.xml"/><Relationship Id="rId4" Type="http://schemas.openxmlformats.org/officeDocument/2006/relationships/hyperlink" Target="https://flyingdeuk.github.io/posts/ZBTJ-TSN/" TargetMode="External"/></Relationships>
</file>

<file path=ppt/slides/_rels/slide10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99.xml"/><Relationship Id="rId1" Type="http://schemas.openxmlformats.org/officeDocument/2006/relationships/slideLayout" Target="../slideLayouts/slideLayout2.xml"/><Relationship Id="rId4" Type="http://schemas.openxmlformats.org/officeDocument/2006/relationships/slide" Target="slide7.xml"/></Relationships>
</file>

<file path=ppt/slides/_rels/slide102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ZBTJ-TSN/" TargetMode="External"/><Relationship Id="rId2" Type="http://schemas.openxmlformats.org/officeDocument/2006/relationships/notesSlide" Target="../notesSlides/notesSlide100.xml"/><Relationship Id="rId1" Type="http://schemas.openxmlformats.org/officeDocument/2006/relationships/slideLayout" Target="../slideLayouts/slideLayout2.xml"/><Relationship Id="rId6" Type="http://schemas.openxmlformats.org/officeDocument/2006/relationships/slide" Target="slide3.xml"/><Relationship Id="rId5" Type="http://schemas.openxmlformats.org/officeDocument/2006/relationships/slide" Target="slide7.xml"/><Relationship Id="rId4" Type="http://schemas.openxmlformats.org/officeDocument/2006/relationships/hyperlink" Target="https://flyingdeuk.github.io/posts/RKSI-ICN/" TargetMode="External"/></Relationships>
</file>

<file path=ppt/slides/_rels/slide103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SI-ICN/" TargetMode="External"/><Relationship Id="rId2" Type="http://schemas.openxmlformats.org/officeDocument/2006/relationships/notesSlide" Target="../notesSlides/notesSlide101.xml"/><Relationship Id="rId1" Type="http://schemas.openxmlformats.org/officeDocument/2006/relationships/slideLayout" Target="../slideLayouts/slideLayout2.xml"/><Relationship Id="rId6" Type="http://schemas.openxmlformats.org/officeDocument/2006/relationships/slide" Target="slide8.xml"/><Relationship Id="rId5" Type="http://schemas.openxmlformats.org/officeDocument/2006/relationships/slide" Target="slide7.xml"/><Relationship Id="rId4" Type="http://schemas.openxmlformats.org/officeDocument/2006/relationships/hyperlink" Target="https://flyingdeuk.github.io/posts/ZHCC-CGO/" TargetMode="External"/></Relationships>
</file>

<file path=ppt/slides/_rels/slide10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02.xml"/><Relationship Id="rId1" Type="http://schemas.openxmlformats.org/officeDocument/2006/relationships/slideLayout" Target="../slideLayouts/slideLayout2.xml"/><Relationship Id="rId4" Type="http://schemas.openxmlformats.org/officeDocument/2006/relationships/slide" Target="slide7.xml"/></Relationships>
</file>

<file path=ppt/slides/_rels/slide105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ZHCC-CGO/" TargetMode="External"/><Relationship Id="rId7" Type="http://schemas.openxmlformats.org/officeDocument/2006/relationships/image" Target="../media/image22.jpeg"/><Relationship Id="rId2" Type="http://schemas.openxmlformats.org/officeDocument/2006/relationships/notesSlide" Target="../notesSlides/notesSlide103.xml"/><Relationship Id="rId1" Type="http://schemas.openxmlformats.org/officeDocument/2006/relationships/slideLayout" Target="../slideLayouts/slideLayout2.xml"/><Relationship Id="rId6" Type="http://schemas.openxmlformats.org/officeDocument/2006/relationships/slide" Target="slide3.xml"/><Relationship Id="rId5" Type="http://schemas.openxmlformats.org/officeDocument/2006/relationships/slide" Target="slide7.xml"/><Relationship Id="rId4" Type="http://schemas.openxmlformats.org/officeDocument/2006/relationships/hyperlink" Target="https://flyingdeuk.github.io/posts/RKSI-ICN/" TargetMode="External"/></Relationships>
</file>

<file path=ppt/slides/_rels/slide106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SI-ICN/" TargetMode="External"/><Relationship Id="rId2" Type="http://schemas.openxmlformats.org/officeDocument/2006/relationships/notesSlide" Target="../notesSlides/notesSlide104.xml"/><Relationship Id="rId1" Type="http://schemas.openxmlformats.org/officeDocument/2006/relationships/slideLayout" Target="../slideLayouts/slideLayout2.xml"/><Relationship Id="rId6" Type="http://schemas.openxmlformats.org/officeDocument/2006/relationships/slide" Target="slide8.xml"/><Relationship Id="rId5" Type="http://schemas.openxmlformats.org/officeDocument/2006/relationships/slide" Target="slide7.xml"/><Relationship Id="rId4" Type="http://schemas.openxmlformats.org/officeDocument/2006/relationships/hyperlink" Target="https://flyingdeuk.github.io/posts/ZGDY-DYG/" TargetMode="External"/></Relationships>
</file>

<file path=ppt/slides/_rels/slide10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05.xml"/><Relationship Id="rId1" Type="http://schemas.openxmlformats.org/officeDocument/2006/relationships/slideLayout" Target="../slideLayouts/slideLayout2.xml"/><Relationship Id="rId4" Type="http://schemas.openxmlformats.org/officeDocument/2006/relationships/slide" Target="slide7.xml"/></Relationships>
</file>

<file path=ppt/slides/_rels/slide108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ZGDY-DYG/" TargetMode="External"/><Relationship Id="rId7" Type="http://schemas.openxmlformats.org/officeDocument/2006/relationships/image" Target="../media/image23.jpeg"/><Relationship Id="rId2" Type="http://schemas.openxmlformats.org/officeDocument/2006/relationships/notesSlide" Target="../notesSlides/notesSlide106.xml"/><Relationship Id="rId1" Type="http://schemas.openxmlformats.org/officeDocument/2006/relationships/slideLayout" Target="../slideLayouts/slideLayout2.xml"/><Relationship Id="rId6" Type="http://schemas.openxmlformats.org/officeDocument/2006/relationships/slide" Target="slide3.xml"/><Relationship Id="rId5" Type="http://schemas.openxmlformats.org/officeDocument/2006/relationships/slide" Target="slide7.xml"/><Relationship Id="rId4" Type="http://schemas.openxmlformats.org/officeDocument/2006/relationships/hyperlink" Target="https://flyingdeuk.github.io/posts/RKSI-ICN/" TargetMode="External"/></Relationships>
</file>

<file path=ppt/slides/_rels/slide109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SI-ICN/" TargetMode="External"/><Relationship Id="rId2" Type="http://schemas.openxmlformats.org/officeDocument/2006/relationships/notesSlide" Target="../notesSlides/notesSlide107.xml"/><Relationship Id="rId1" Type="http://schemas.openxmlformats.org/officeDocument/2006/relationships/slideLayout" Target="../slideLayouts/slideLayout2.xml"/><Relationship Id="rId6" Type="http://schemas.openxmlformats.org/officeDocument/2006/relationships/slide" Target="slide8.xml"/><Relationship Id="rId5" Type="http://schemas.openxmlformats.org/officeDocument/2006/relationships/slide" Target="slide7.xml"/><Relationship Id="rId4" Type="http://schemas.openxmlformats.org/officeDocument/2006/relationships/hyperlink" Target="https://flyingdeuk.github.io/posts/ZYTL-DLC/" TargetMode="External"/></Relationships>
</file>

<file path=ppt/slides/_rels/slide1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08.xml"/><Relationship Id="rId1" Type="http://schemas.openxmlformats.org/officeDocument/2006/relationships/slideLayout" Target="../slideLayouts/slideLayout2.xml"/><Relationship Id="rId4" Type="http://schemas.openxmlformats.org/officeDocument/2006/relationships/slide" Target="slide7.xml"/></Relationships>
</file>

<file path=ppt/slides/_rels/slide111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ZYTL-DLC/" TargetMode="External"/><Relationship Id="rId7" Type="http://schemas.openxmlformats.org/officeDocument/2006/relationships/image" Target="../media/image24.jpeg"/><Relationship Id="rId2" Type="http://schemas.openxmlformats.org/officeDocument/2006/relationships/notesSlide" Target="../notesSlides/notesSlide109.xml"/><Relationship Id="rId1" Type="http://schemas.openxmlformats.org/officeDocument/2006/relationships/slideLayout" Target="../slideLayouts/slideLayout2.xml"/><Relationship Id="rId6" Type="http://schemas.openxmlformats.org/officeDocument/2006/relationships/slide" Target="slide3.xml"/><Relationship Id="rId5" Type="http://schemas.openxmlformats.org/officeDocument/2006/relationships/slide" Target="slide7.xml"/><Relationship Id="rId4" Type="http://schemas.openxmlformats.org/officeDocument/2006/relationships/hyperlink" Target="https://flyingdeuk.github.io/posts/RKSI-ICN/" TargetMode="External"/></Relationships>
</file>

<file path=ppt/slides/_rels/slide112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SI-ICN/" TargetMode="External"/><Relationship Id="rId2" Type="http://schemas.openxmlformats.org/officeDocument/2006/relationships/notesSlide" Target="../notesSlides/notesSlide110.xml"/><Relationship Id="rId1" Type="http://schemas.openxmlformats.org/officeDocument/2006/relationships/slideLayout" Target="../slideLayouts/slideLayout2.xml"/><Relationship Id="rId6" Type="http://schemas.openxmlformats.org/officeDocument/2006/relationships/slide" Target="slide8.xml"/><Relationship Id="rId5" Type="http://schemas.openxmlformats.org/officeDocument/2006/relationships/slide" Target="slide7.xml"/><Relationship Id="rId4" Type="http://schemas.openxmlformats.org/officeDocument/2006/relationships/hyperlink" Target="https://flyingdeuk.github.io/posts/ZSOF-HFE/" TargetMode="External"/></Relationships>
</file>

<file path=ppt/slides/_rels/slide1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11.xml"/><Relationship Id="rId1" Type="http://schemas.openxmlformats.org/officeDocument/2006/relationships/slideLayout" Target="../slideLayouts/slideLayout2.xml"/><Relationship Id="rId4" Type="http://schemas.openxmlformats.org/officeDocument/2006/relationships/slide" Target="slide7.xml"/></Relationships>
</file>

<file path=ppt/slides/_rels/slide114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ZSOF-HFE/" TargetMode="External"/><Relationship Id="rId2" Type="http://schemas.openxmlformats.org/officeDocument/2006/relationships/notesSlide" Target="../notesSlides/notesSlide112.xml"/><Relationship Id="rId1" Type="http://schemas.openxmlformats.org/officeDocument/2006/relationships/slideLayout" Target="../slideLayouts/slideLayout2.xml"/><Relationship Id="rId6" Type="http://schemas.openxmlformats.org/officeDocument/2006/relationships/slide" Target="slide3.xml"/><Relationship Id="rId5" Type="http://schemas.openxmlformats.org/officeDocument/2006/relationships/slide" Target="slide7.xml"/><Relationship Id="rId4" Type="http://schemas.openxmlformats.org/officeDocument/2006/relationships/hyperlink" Target="https://flyingdeuk.github.io/posts/RKSI-ICN/" TargetMode="External"/></Relationships>
</file>

<file path=ppt/slides/_rels/slide115.xml.rels><?xml version="1.0" encoding="UTF-8" standalone="yes"?>
<Relationships xmlns="http://schemas.openxmlformats.org/package/2006/relationships"><Relationship Id="rId8" Type="http://schemas.openxmlformats.org/officeDocument/2006/relationships/slide" Target="slide8.xml"/><Relationship Id="rId3" Type="http://schemas.openxmlformats.org/officeDocument/2006/relationships/slide" Target="slide139.xml"/><Relationship Id="rId7" Type="http://schemas.openxmlformats.org/officeDocument/2006/relationships/slide" Target="slide7.xml"/><Relationship Id="rId2" Type="http://schemas.openxmlformats.org/officeDocument/2006/relationships/notesSlide" Target="../notesSlides/notesSlide113.xm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flyingdeuk.github.io/posts/ZPPP-KMG/" TargetMode="External"/><Relationship Id="rId5" Type="http://schemas.openxmlformats.org/officeDocument/2006/relationships/hyperlink" Target="https://flyingdeuk.github.io/posts/RKSI-ICN/" TargetMode="External"/><Relationship Id="rId4" Type="http://schemas.openxmlformats.org/officeDocument/2006/relationships/slide" Target="slide140.xml"/></Relationships>
</file>

<file path=ppt/slides/_rels/slide1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14.xml"/><Relationship Id="rId1" Type="http://schemas.openxmlformats.org/officeDocument/2006/relationships/slideLayout" Target="../slideLayouts/slideLayout2.xml"/><Relationship Id="rId4" Type="http://schemas.openxmlformats.org/officeDocument/2006/relationships/slide" Target="slide7.xml"/></Relationships>
</file>

<file path=ppt/slides/_rels/slide117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ZPPP-KMG/" TargetMode="External"/><Relationship Id="rId2" Type="http://schemas.openxmlformats.org/officeDocument/2006/relationships/notesSlide" Target="../notesSlides/notesSlide115.xml"/><Relationship Id="rId1" Type="http://schemas.openxmlformats.org/officeDocument/2006/relationships/slideLayout" Target="../slideLayouts/slideLayout2.xml"/><Relationship Id="rId6" Type="http://schemas.openxmlformats.org/officeDocument/2006/relationships/slide" Target="slide3.xml"/><Relationship Id="rId5" Type="http://schemas.openxmlformats.org/officeDocument/2006/relationships/slide" Target="slide7.xml"/><Relationship Id="rId4" Type="http://schemas.openxmlformats.org/officeDocument/2006/relationships/hyperlink" Target="https://flyingdeuk.github.io/posts/RKSI-ICN/" TargetMode="External"/></Relationships>
</file>

<file path=ppt/slides/_rels/slide118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SI-ICN/" TargetMode="External"/><Relationship Id="rId2" Type="http://schemas.openxmlformats.org/officeDocument/2006/relationships/notesSlide" Target="../notesSlides/notesSlide116.xml"/><Relationship Id="rId1" Type="http://schemas.openxmlformats.org/officeDocument/2006/relationships/slideLayout" Target="../slideLayouts/slideLayout2.xml"/><Relationship Id="rId6" Type="http://schemas.openxmlformats.org/officeDocument/2006/relationships/slide" Target="slide10.xml"/><Relationship Id="rId5" Type="http://schemas.openxmlformats.org/officeDocument/2006/relationships/slide" Target="slide9.xml"/><Relationship Id="rId4" Type="http://schemas.openxmlformats.org/officeDocument/2006/relationships/hyperlink" Target="https://flyingdeuk.github.io/posts/VVCR-CXR/" TargetMode="External"/></Relationships>
</file>

<file path=ppt/slides/_rels/slide119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VVCR-CXR/" TargetMode="External"/><Relationship Id="rId7" Type="http://schemas.openxmlformats.org/officeDocument/2006/relationships/slide" Target="slide3.xml"/><Relationship Id="rId2" Type="http://schemas.openxmlformats.org/officeDocument/2006/relationships/notesSlide" Target="../notesSlides/notesSlide117.xml"/><Relationship Id="rId1" Type="http://schemas.openxmlformats.org/officeDocument/2006/relationships/slideLayout" Target="../slideLayouts/slideLayout2.xml"/><Relationship Id="rId6" Type="http://schemas.openxmlformats.org/officeDocument/2006/relationships/slide" Target="slide9.xml"/><Relationship Id="rId5" Type="http://schemas.openxmlformats.org/officeDocument/2006/relationships/image" Target="../media/image25.jpeg"/><Relationship Id="rId4" Type="http://schemas.openxmlformats.org/officeDocument/2006/relationships/hyperlink" Target="https://flyingdeuk.github.io/posts/RKSI-ICN/" TargetMode="External"/></Relationships>
</file>

<file path=ppt/slides/_rels/slide120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SI-ICN/" TargetMode="External"/><Relationship Id="rId2" Type="http://schemas.openxmlformats.org/officeDocument/2006/relationships/notesSlide" Target="../notesSlides/notesSlide118.xml"/><Relationship Id="rId1" Type="http://schemas.openxmlformats.org/officeDocument/2006/relationships/slideLayout" Target="../slideLayouts/slideLayout2.xml"/><Relationship Id="rId6" Type="http://schemas.openxmlformats.org/officeDocument/2006/relationships/slide" Target="slide10.xml"/><Relationship Id="rId5" Type="http://schemas.openxmlformats.org/officeDocument/2006/relationships/slide" Target="slide9.xml"/><Relationship Id="rId4" Type="http://schemas.openxmlformats.org/officeDocument/2006/relationships/hyperlink" Target="https://flyingdeuk.github.io/posts/VVTS-SGN/" TargetMode="External"/></Relationships>
</file>

<file path=ppt/slides/_rels/slide121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VVTS-SGN/" TargetMode="External"/><Relationship Id="rId2" Type="http://schemas.openxmlformats.org/officeDocument/2006/relationships/notesSlide" Target="../notesSlides/notesSlide119.xml"/><Relationship Id="rId1" Type="http://schemas.openxmlformats.org/officeDocument/2006/relationships/slideLayout" Target="../slideLayouts/slideLayout2.xml"/><Relationship Id="rId6" Type="http://schemas.openxmlformats.org/officeDocument/2006/relationships/slide" Target="slide3.xml"/><Relationship Id="rId5" Type="http://schemas.openxmlformats.org/officeDocument/2006/relationships/slide" Target="slide9.xml"/><Relationship Id="rId4" Type="http://schemas.openxmlformats.org/officeDocument/2006/relationships/hyperlink" Target="https://flyingdeuk.github.io/posts/RKSI-ICN/" TargetMode="External"/></Relationships>
</file>

<file path=ppt/slides/_rels/slide122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SI-ICN/" TargetMode="External"/><Relationship Id="rId2" Type="http://schemas.openxmlformats.org/officeDocument/2006/relationships/notesSlide" Target="../notesSlides/notesSlide120.xml"/><Relationship Id="rId1" Type="http://schemas.openxmlformats.org/officeDocument/2006/relationships/slideLayout" Target="../slideLayouts/slideLayout2.xml"/><Relationship Id="rId6" Type="http://schemas.openxmlformats.org/officeDocument/2006/relationships/slide" Target="slide10.xml"/><Relationship Id="rId5" Type="http://schemas.openxmlformats.org/officeDocument/2006/relationships/slide" Target="slide9.xml"/><Relationship Id="rId4" Type="http://schemas.openxmlformats.org/officeDocument/2006/relationships/hyperlink" Target="https://flyingdeuk.github.io/posts/VDPP-PNH/" TargetMode="External"/></Relationships>
</file>

<file path=ppt/slides/_rels/slide123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VDPP-PNH/" TargetMode="External"/><Relationship Id="rId7" Type="http://schemas.openxmlformats.org/officeDocument/2006/relationships/slide" Target="slide3.xml"/><Relationship Id="rId2" Type="http://schemas.openxmlformats.org/officeDocument/2006/relationships/notesSlide" Target="../notesSlides/notesSlide12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6.jpeg"/><Relationship Id="rId5" Type="http://schemas.openxmlformats.org/officeDocument/2006/relationships/slide" Target="slide9.xml"/><Relationship Id="rId4" Type="http://schemas.openxmlformats.org/officeDocument/2006/relationships/hyperlink" Target="https://flyingdeuk.github.io/posts/RKSI-ICN/" TargetMode="External"/></Relationships>
</file>

<file path=ppt/slides/_rels/slide124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SI-ICN/" TargetMode="External"/><Relationship Id="rId2" Type="http://schemas.openxmlformats.org/officeDocument/2006/relationships/notesSlide" Target="../notesSlides/notesSlide122.xml"/><Relationship Id="rId1" Type="http://schemas.openxmlformats.org/officeDocument/2006/relationships/slideLayout" Target="../slideLayouts/slideLayout2.xml"/><Relationship Id="rId6" Type="http://schemas.openxmlformats.org/officeDocument/2006/relationships/slide" Target="slide10.xml"/><Relationship Id="rId5" Type="http://schemas.openxmlformats.org/officeDocument/2006/relationships/slide" Target="slide9.xml"/><Relationship Id="rId4" Type="http://schemas.openxmlformats.org/officeDocument/2006/relationships/hyperlink" Target="https://flyingdeuk.github.io/posts/RPLL-MNL/" TargetMode="External"/></Relationships>
</file>

<file path=ppt/slides/_rels/slide125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PLL-MNL/" TargetMode="External"/><Relationship Id="rId7" Type="http://schemas.openxmlformats.org/officeDocument/2006/relationships/slide" Target="slide3.xml"/><Relationship Id="rId2" Type="http://schemas.openxmlformats.org/officeDocument/2006/relationships/notesSlide" Target="../notesSlides/notesSlide12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7.jpeg"/><Relationship Id="rId5" Type="http://schemas.openxmlformats.org/officeDocument/2006/relationships/slide" Target="slide9.xml"/><Relationship Id="rId4" Type="http://schemas.openxmlformats.org/officeDocument/2006/relationships/hyperlink" Target="https://flyingdeuk.github.io/posts/RKSI-ICN/" TargetMode="External"/></Relationships>
</file>

<file path=ppt/slides/_rels/slide126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SI-ICN/" TargetMode="External"/><Relationship Id="rId2" Type="http://schemas.openxmlformats.org/officeDocument/2006/relationships/notesSlide" Target="../notesSlides/notesSlide124.xml"/><Relationship Id="rId1" Type="http://schemas.openxmlformats.org/officeDocument/2006/relationships/slideLayout" Target="../slideLayouts/slideLayout2.xml"/><Relationship Id="rId6" Type="http://schemas.openxmlformats.org/officeDocument/2006/relationships/slide" Target="slide10.xml"/><Relationship Id="rId5" Type="http://schemas.openxmlformats.org/officeDocument/2006/relationships/slide" Target="slide9.xml"/><Relationship Id="rId4" Type="http://schemas.openxmlformats.org/officeDocument/2006/relationships/hyperlink" Target="https://flyingdeuk.github.io/posts/RCMQ-RMQ/" TargetMode="External"/></Relationships>
</file>

<file path=ppt/slides/_rels/slide127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CMQ-RMQ/" TargetMode="External"/><Relationship Id="rId7" Type="http://schemas.openxmlformats.org/officeDocument/2006/relationships/image" Target="../media/image28.PNG"/><Relationship Id="rId2" Type="http://schemas.openxmlformats.org/officeDocument/2006/relationships/notesSlide" Target="../notesSlides/notesSlide125.xml"/><Relationship Id="rId1" Type="http://schemas.openxmlformats.org/officeDocument/2006/relationships/slideLayout" Target="../slideLayouts/slideLayout2.xml"/><Relationship Id="rId6" Type="http://schemas.openxmlformats.org/officeDocument/2006/relationships/slide" Target="slide3.xml"/><Relationship Id="rId5" Type="http://schemas.openxmlformats.org/officeDocument/2006/relationships/slide" Target="slide9.xml"/><Relationship Id="rId4" Type="http://schemas.openxmlformats.org/officeDocument/2006/relationships/hyperlink" Target="https://flyingdeuk.github.io/posts/RKSI-ICN/" TargetMode="External"/></Relationships>
</file>

<file path=ppt/slides/_rels/slide128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SI-ICN/" TargetMode="External"/><Relationship Id="rId7" Type="http://schemas.openxmlformats.org/officeDocument/2006/relationships/image" Target="../media/image29.jpg"/><Relationship Id="rId2" Type="http://schemas.openxmlformats.org/officeDocument/2006/relationships/notesSlide" Target="../notesSlides/notesSlide126.xml"/><Relationship Id="rId1" Type="http://schemas.openxmlformats.org/officeDocument/2006/relationships/slideLayout" Target="../slideLayouts/slideLayout2.xml"/><Relationship Id="rId6" Type="http://schemas.openxmlformats.org/officeDocument/2006/relationships/slide" Target="slide10.xml"/><Relationship Id="rId5" Type="http://schemas.openxmlformats.org/officeDocument/2006/relationships/slide" Target="slide9.xml"/><Relationship Id="rId4" Type="http://schemas.openxmlformats.org/officeDocument/2006/relationships/hyperlink" Target="https://flyingdeuk.github.io/posts/RCTP-TPE/" TargetMode="External"/></Relationships>
</file>

<file path=ppt/slides/_rels/slide129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CTP-TPE/" TargetMode="External"/><Relationship Id="rId2" Type="http://schemas.openxmlformats.org/officeDocument/2006/relationships/notesSlide" Target="../notesSlides/notesSlide127.xml"/><Relationship Id="rId1" Type="http://schemas.openxmlformats.org/officeDocument/2006/relationships/slideLayout" Target="../slideLayouts/slideLayout2.xml"/><Relationship Id="rId6" Type="http://schemas.openxmlformats.org/officeDocument/2006/relationships/slide" Target="slide3.xml"/><Relationship Id="rId5" Type="http://schemas.openxmlformats.org/officeDocument/2006/relationships/slide" Target="slide9.xml"/><Relationship Id="rId4" Type="http://schemas.openxmlformats.org/officeDocument/2006/relationships/hyperlink" Target="https://flyingdeuk.github.io/posts/RKSI-ICN/" TargetMode="External"/></Relationships>
</file>

<file path=ppt/slides/_rels/slide130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SI-ICN/" TargetMode="External"/><Relationship Id="rId2" Type="http://schemas.openxmlformats.org/officeDocument/2006/relationships/notesSlide" Target="../notesSlides/notesSlide128.xml"/><Relationship Id="rId1" Type="http://schemas.openxmlformats.org/officeDocument/2006/relationships/slideLayout" Target="../slideLayouts/slideLayout2.xml"/><Relationship Id="rId6" Type="http://schemas.openxmlformats.org/officeDocument/2006/relationships/slide" Target="slide10.xml"/><Relationship Id="rId5" Type="http://schemas.openxmlformats.org/officeDocument/2006/relationships/slide" Target="slide9.xml"/><Relationship Id="rId4" Type="http://schemas.openxmlformats.org/officeDocument/2006/relationships/hyperlink" Target="https://flyingdeuk.github.io/posts/PGUM-GUM/" TargetMode="External"/></Relationships>
</file>

<file path=ppt/slides/_rels/slide1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9.xml"/><Relationship Id="rId1" Type="http://schemas.openxmlformats.org/officeDocument/2006/relationships/slideLayout" Target="../slideLayouts/slideLayout2.xml"/></Relationships>
</file>

<file path=ppt/slides/_rels/slide132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PGUM-GUM/" TargetMode="External"/><Relationship Id="rId7" Type="http://schemas.openxmlformats.org/officeDocument/2006/relationships/slide" Target="slide3.xml"/><Relationship Id="rId2" Type="http://schemas.openxmlformats.org/officeDocument/2006/relationships/notesSlide" Target="../notesSlides/notesSlide130.xml"/><Relationship Id="rId1" Type="http://schemas.openxmlformats.org/officeDocument/2006/relationships/slideLayout" Target="../slideLayouts/slideLayout2.xml"/><Relationship Id="rId6" Type="http://schemas.openxmlformats.org/officeDocument/2006/relationships/slide" Target="slide9.xml"/><Relationship Id="rId5" Type="http://schemas.openxmlformats.org/officeDocument/2006/relationships/image" Target="../media/image30.jpeg"/><Relationship Id="rId4" Type="http://schemas.openxmlformats.org/officeDocument/2006/relationships/hyperlink" Target="https://flyingdeuk.github.io/posts/RKSI-ICN/" TargetMode="External"/></Relationships>
</file>

<file path=ppt/slides/_rels/slide13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.jpg"/><Relationship Id="rId3" Type="http://schemas.openxmlformats.org/officeDocument/2006/relationships/hyperlink" Target="https://flyingdeuk.github.io/posts/RKPK-PUS/" TargetMode="External"/><Relationship Id="rId7" Type="http://schemas.openxmlformats.org/officeDocument/2006/relationships/image" Target="../media/image10.jpg"/><Relationship Id="rId2" Type="http://schemas.openxmlformats.org/officeDocument/2006/relationships/notesSlide" Target="../notesSlides/notesSlide131.xml"/><Relationship Id="rId1" Type="http://schemas.openxmlformats.org/officeDocument/2006/relationships/slideLayout" Target="../slideLayouts/slideLayout2.xml"/><Relationship Id="rId6" Type="http://schemas.openxmlformats.org/officeDocument/2006/relationships/slide" Target="slide10.xml"/><Relationship Id="rId5" Type="http://schemas.openxmlformats.org/officeDocument/2006/relationships/slide" Target="slide9.xml"/><Relationship Id="rId4" Type="http://schemas.openxmlformats.org/officeDocument/2006/relationships/hyperlink" Target="https://flyingdeuk.github.io/posts/RCTP-TPE/" TargetMode="External"/></Relationships>
</file>

<file path=ppt/slides/_rels/slide134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CTP-TPE/" TargetMode="External"/><Relationship Id="rId7" Type="http://schemas.openxmlformats.org/officeDocument/2006/relationships/slide" Target="slide152.xml"/><Relationship Id="rId2" Type="http://schemas.openxmlformats.org/officeDocument/2006/relationships/notesSlide" Target="../notesSlides/notesSlide132.xml"/><Relationship Id="rId1" Type="http://schemas.openxmlformats.org/officeDocument/2006/relationships/slideLayout" Target="../slideLayouts/slideLayout2.xml"/><Relationship Id="rId6" Type="http://schemas.openxmlformats.org/officeDocument/2006/relationships/slide" Target="slide3.xml"/><Relationship Id="rId5" Type="http://schemas.openxmlformats.org/officeDocument/2006/relationships/slide" Target="slide9.xml"/><Relationship Id="rId4" Type="http://schemas.openxmlformats.org/officeDocument/2006/relationships/hyperlink" Target="https://flyingdeuk.github.io/posts/RKPK-PUS/" TargetMode="External"/></Relationships>
</file>

<file path=ppt/slides/_rels/slide135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PK-PUS/" TargetMode="External"/><Relationship Id="rId7" Type="http://schemas.openxmlformats.org/officeDocument/2006/relationships/image" Target="../media/image10.jpg"/><Relationship Id="rId2" Type="http://schemas.openxmlformats.org/officeDocument/2006/relationships/notesSlide" Target="../notesSlides/notesSlide133.xml"/><Relationship Id="rId1" Type="http://schemas.openxmlformats.org/officeDocument/2006/relationships/slideLayout" Target="../slideLayouts/slideLayout2.xml"/><Relationship Id="rId6" Type="http://schemas.openxmlformats.org/officeDocument/2006/relationships/slide" Target="slide10.xml"/><Relationship Id="rId5" Type="http://schemas.openxmlformats.org/officeDocument/2006/relationships/slide" Target="slide9.xml"/><Relationship Id="rId4" Type="http://schemas.openxmlformats.org/officeDocument/2006/relationships/hyperlink" Target="https://flyingdeuk.github.io/posts/VTBS-BKK/" TargetMode="External"/></Relationships>
</file>

<file path=ppt/slides/_rels/slide136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VTBS-BKK/" TargetMode="External"/><Relationship Id="rId7" Type="http://schemas.openxmlformats.org/officeDocument/2006/relationships/slide" Target="slide152.xml"/><Relationship Id="rId2" Type="http://schemas.openxmlformats.org/officeDocument/2006/relationships/notesSlide" Target="../notesSlides/notesSlide134.xml"/><Relationship Id="rId1" Type="http://schemas.openxmlformats.org/officeDocument/2006/relationships/slideLayout" Target="../slideLayouts/slideLayout2.xml"/><Relationship Id="rId6" Type="http://schemas.openxmlformats.org/officeDocument/2006/relationships/slide" Target="slide3.xml"/><Relationship Id="rId5" Type="http://schemas.openxmlformats.org/officeDocument/2006/relationships/slide" Target="slide9.xml"/><Relationship Id="rId4" Type="http://schemas.openxmlformats.org/officeDocument/2006/relationships/hyperlink" Target="https://flyingdeuk.github.io/posts/RKPK-PUS/" TargetMode="External"/></Relationships>
</file>

<file path=ppt/slides/_rels/slide1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5.xml"/><Relationship Id="rId1" Type="http://schemas.openxmlformats.org/officeDocument/2006/relationships/slideLayout" Target="../slideLayouts/slideLayout2.xml"/></Relationships>
</file>

<file path=ppt/slides/_rels/slide1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6.xml"/><Relationship Id="rId1" Type="http://schemas.openxmlformats.org/officeDocument/2006/relationships/slideLayout" Target="../slideLayouts/slideLayout2.xml"/></Relationships>
</file>

<file path=ppt/slides/_rels/slide1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7.xml"/><Relationship Id="rId1" Type="http://schemas.openxmlformats.org/officeDocument/2006/relationships/slideLayout" Target="../slideLayouts/slideLayout2.xml"/></Relationships>
</file>

<file path=ppt/slides/_rels/slide1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8.xml"/><Relationship Id="rId1" Type="http://schemas.openxmlformats.org/officeDocument/2006/relationships/slideLayout" Target="../slideLayouts/slideLayout2.xml"/></Relationships>
</file>

<file path=ppt/slides/_rels/slide1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9.xml"/><Relationship Id="rId1" Type="http://schemas.openxmlformats.org/officeDocument/2006/relationships/slideLayout" Target="../slideLayouts/slideLayout2.xml"/></Relationships>
</file>

<file path=ppt/slides/_rels/slide1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0.xml"/><Relationship Id="rId1" Type="http://schemas.openxmlformats.org/officeDocument/2006/relationships/slideLayout" Target="../slideLayouts/slideLayout2.xml"/></Relationships>
</file>

<file path=ppt/slides/_rels/slide143.xml.rels><?xml version="1.0" encoding="UTF-8" standalone="yes"?>
<Relationships xmlns="http://schemas.openxmlformats.org/package/2006/relationships"><Relationship Id="rId3" Type="http://schemas.openxmlformats.org/officeDocument/2006/relationships/slide" Target="slide7.xml"/><Relationship Id="rId2" Type="http://schemas.openxmlformats.org/officeDocument/2006/relationships/notesSlide" Target="../notesSlides/notesSlide141.xml"/><Relationship Id="rId1" Type="http://schemas.openxmlformats.org/officeDocument/2006/relationships/slideLayout" Target="../slideLayouts/slideLayout2.xml"/><Relationship Id="rId5" Type="http://schemas.openxmlformats.org/officeDocument/2006/relationships/slide" Target="slide2.xml"/><Relationship Id="rId4" Type="http://schemas.openxmlformats.org/officeDocument/2006/relationships/slide" Target="slide5.xml"/></Relationships>
</file>

<file path=ppt/slides/_rels/slide1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2.xml"/><Relationship Id="rId1" Type="http://schemas.openxmlformats.org/officeDocument/2006/relationships/slideLayout" Target="../slideLayouts/slideLayout2.xml"/></Relationships>
</file>

<file path=ppt/slides/_rels/slide1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3.xml"/><Relationship Id="rId1" Type="http://schemas.openxmlformats.org/officeDocument/2006/relationships/slideLayout" Target="../slideLayouts/slideLayout2.xml"/></Relationships>
</file>

<file path=ppt/slides/_rels/slide1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4.xml"/><Relationship Id="rId1" Type="http://schemas.openxmlformats.org/officeDocument/2006/relationships/slideLayout" Target="../slideLayouts/slideLayout2.xml"/></Relationships>
</file>

<file path=ppt/slides/_rels/slide1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5.xml"/><Relationship Id="rId1" Type="http://schemas.openxmlformats.org/officeDocument/2006/relationships/slideLayout" Target="../slideLayouts/slideLayout2.xml"/></Relationships>
</file>

<file path=ppt/slides/_rels/slide148.xml.rels><?xml version="1.0" encoding="UTF-8" standalone="yes"?>
<Relationships xmlns="http://schemas.openxmlformats.org/package/2006/relationships"><Relationship Id="rId3" Type="http://schemas.openxmlformats.org/officeDocument/2006/relationships/slide" Target="slide146.xml"/><Relationship Id="rId2" Type="http://schemas.openxmlformats.org/officeDocument/2006/relationships/notesSlide" Target="../notesSlides/notesSlide146.xml"/><Relationship Id="rId1" Type="http://schemas.openxmlformats.org/officeDocument/2006/relationships/slideLayout" Target="../slideLayouts/slideLayout2.xml"/></Relationships>
</file>

<file path=ppt/slides/_rels/slide1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147.xml"/><Relationship Id="rId1" Type="http://schemas.openxmlformats.org/officeDocument/2006/relationships/slideLayout" Target="../slideLayouts/slideLayout2.xml"/></Relationships>
</file>

<file path=ppt/slides/_rels/slide1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148.xml"/><Relationship Id="rId1" Type="http://schemas.openxmlformats.org/officeDocument/2006/relationships/slideLayout" Target="../slideLayouts/slideLayout2.xml"/><Relationship Id="rId4" Type="http://schemas.openxmlformats.org/officeDocument/2006/relationships/slide" Target="slide146.xml"/></Relationships>
</file>

<file path=ppt/slides/_rels/slide1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149.xml"/><Relationship Id="rId1" Type="http://schemas.openxmlformats.org/officeDocument/2006/relationships/slideLayout" Target="../slideLayouts/slideLayout2.xml"/></Relationships>
</file>

<file path=ppt/slides/_rels/slide1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jpeg"/><Relationship Id="rId2" Type="http://schemas.openxmlformats.org/officeDocument/2006/relationships/notesSlide" Target="../notesSlides/notesSlide150.xml"/><Relationship Id="rId1" Type="http://schemas.openxmlformats.org/officeDocument/2006/relationships/slideLayout" Target="../slideLayouts/slideLayout2.xml"/><Relationship Id="rId5" Type="http://schemas.openxmlformats.org/officeDocument/2006/relationships/slide" Target="slide2.xml"/><Relationship Id="rId4" Type="http://schemas.openxmlformats.org/officeDocument/2006/relationships/image" Target="../media/image33.jpeg"/></Relationships>
</file>

<file path=ppt/slides/_rels/slide1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jpg"/><Relationship Id="rId2" Type="http://schemas.openxmlformats.org/officeDocument/2006/relationships/notesSlide" Target="../notesSlides/notesSlide151.xml"/><Relationship Id="rId1" Type="http://schemas.openxmlformats.org/officeDocument/2006/relationships/slideLayout" Target="../slideLayouts/slideLayout2.xml"/><Relationship Id="rId5" Type="http://schemas.openxmlformats.org/officeDocument/2006/relationships/slide" Target="slide2.xml"/><Relationship Id="rId4" Type="http://schemas.openxmlformats.org/officeDocument/2006/relationships/image" Target="../media/image33.jpeg"/></Relationships>
</file>

<file path=ppt/slides/_rels/slide1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2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8" name="Google Shape;88;p1"/>
          <p:cNvGraphicFramePr/>
          <p:nvPr>
            <p:extLst>
              <p:ext uri="{D42A27DB-BD31-4B8C-83A1-F6EECF244321}">
                <p14:modId xmlns:p14="http://schemas.microsoft.com/office/powerpoint/2010/main" val="692784493"/>
              </p:ext>
            </p:extLst>
          </p:nvPr>
        </p:nvGraphicFramePr>
        <p:xfrm>
          <a:off x="98101" y="1122494"/>
          <a:ext cx="2132650" cy="1973732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1326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493433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400" b="1" u="none" strike="noStrike" cap="none" dirty="0">
                          <a:solidFill>
                            <a:schemeClr val="bg1"/>
                          </a:solidFill>
                          <a:latin typeface="Calibri"/>
                          <a:cs typeface="Calibri"/>
                          <a:sym typeface="Calibri"/>
                          <a:hlinkClick r:id="rId3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Domestic</a:t>
                      </a:r>
                      <a:endParaRPr sz="2400" b="1" u="none" strike="noStrike" cap="none" dirty="0">
                        <a:solidFill>
                          <a:schemeClr val="bg1"/>
                        </a:solidFill>
                        <a:latin typeface="Calibri"/>
                        <a:cs typeface="Calibri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93433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400" b="1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4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Japan</a:t>
                      </a:r>
                      <a:endParaRPr sz="2400" b="1" u="none" strike="noStrike" cap="none" dirty="0">
                        <a:solidFill>
                          <a:srgbClr val="0070C0"/>
                        </a:solidFill>
                        <a:latin typeface="Calibri"/>
                        <a:cs typeface="Calibri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93433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4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5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China</a:t>
                      </a:r>
                      <a:endParaRPr lang="en-US" altLang="ko-Kore-KR" sz="2400" b="1" u="none" strike="noStrike" cap="none" dirty="0">
                        <a:solidFill>
                          <a:srgbClr val="00B050"/>
                        </a:solidFill>
                        <a:latin typeface="Calibri"/>
                        <a:cs typeface="Calibri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93433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400" b="1" u="none" strike="noStrike" cap="none" dirty="0">
                          <a:solidFill>
                            <a:srgbClr val="AA47F5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6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S.E Asia(GUM)</a:t>
                      </a:r>
                      <a:endParaRPr lang="en-US" altLang="ko-Kore-KR" sz="2400" b="1" u="none" strike="noStrike" cap="none" dirty="0">
                        <a:solidFill>
                          <a:srgbClr val="AA47F5"/>
                        </a:solidFill>
                        <a:latin typeface="Calibri"/>
                        <a:cs typeface="Calibri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89" name="Google Shape;89;p1">
            <a:hlinkClick r:id="rId7"/>
          </p:cNvPr>
          <p:cNvSpPr/>
          <p:nvPr/>
        </p:nvSpPr>
        <p:spPr>
          <a:xfrm>
            <a:off x="-5145" y="74068"/>
            <a:ext cx="2332054" cy="5847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6000" tIns="45700" rIns="36000" bIns="45700" anchor="ctr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b="1" i="0" u="none" strike="noStrike" dirty="0" err="1">
                <a:ln w="9525">
                  <a:solidFill>
                    <a:schemeClr val="bg1"/>
                  </a:solidFill>
                  <a:prstDash val="solid"/>
                </a:ln>
                <a:solidFill>
                  <a:schemeClr val="tx1"/>
                </a:solidFill>
                <a:effectLst>
                  <a:outerShdw blurRad="50800" dist="38100" algn="l" rotWithShape="0">
                    <a:prstClr val="black">
                      <a:alpha val="40000"/>
                    </a:prstClr>
                  </a:outerShdw>
                  <a:reflection blurRad="6350" stA="55000" endA="300" endPos="45500" dir="5400000" sy="-100000" algn="bl" rotWithShape="0"/>
                </a:effectLst>
                <a:latin typeface="+mj-lt"/>
                <a:ea typeface="BM DoHyeon OTF" panose="020B0600000101010101" pitchFamily="34" charset="-127"/>
                <a:cs typeface="Calibri"/>
                <a:sym typeface="Calibri"/>
                <a:hlinkClick r:id="rId7"/>
              </a:rPr>
              <a:t>KneeBoard</a:t>
            </a:r>
            <a:endParaRPr sz="3200" b="1" i="0" u="none" strike="noStrike" dirty="0">
              <a:ln w="9525">
                <a:solidFill>
                  <a:schemeClr val="bg1"/>
                </a:solidFill>
                <a:prstDash val="solid"/>
              </a:ln>
              <a:solidFill>
                <a:schemeClr val="tx1"/>
              </a:solidFill>
              <a:effectLst>
                <a:outerShdw blurRad="50800" dist="38100" algn="l" rotWithShape="0">
                  <a:prstClr val="black">
                    <a:alpha val="40000"/>
                  </a:prstClr>
                </a:outerShdw>
                <a:reflection blurRad="6350" stA="55000" endA="300" endPos="45500" dir="5400000" sy="-100000" algn="bl" rotWithShape="0"/>
              </a:effectLst>
              <a:latin typeface="+mj-lt"/>
              <a:ea typeface="BM DoHyeon OTF" panose="020B0600000101010101" pitchFamily="34" charset="-127"/>
              <a:cs typeface="Calibri"/>
              <a:sym typeface="Calibri"/>
            </a:endParaRPr>
          </a:p>
        </p:txBody>
      </p:sp>
      <p:graphicFrame>
        <p:nvGraphicFramePr>
          <p:cNvPr id="90" name="Google Shape;90;p1"/>
          <p:cNvGraphicFramePr/>
          <p:nvPr>
            <p:extLst>
              <p:ext uri="{D42A27DB-BD31-4B8C-83A1-F6EECF244321}">
                <p14:modId xmlns:p14="http://schemas.microsoft.com/office/powerpoint/2010/main" val="2839919986"/>
              </p:ext>
            </p:extLst>
          </p:nvPr>
        </p:nvGraphicFramePr>
        <p:xfrm>
          <a:off x="185895" y="3190448"/>
          <a:ext cx="1969476" cy="2307606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98473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8473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29658"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1" u="none" strike="noStrike" cap="none" dirty="0">
                          <a:solidFill>
                            <a:schemeClr val="bg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Supplement</a:t>
                      </a:r>
                      <a:endParaRPr sz="1400" b="1" u="none" strike="noStrike" cap="none" dirty="0">
                        <a:solidFill>
                          <a:schemeClr val="bg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9658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1400" b="1" u="none" strike="noStrike" cap="none" dirty="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8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FUEL Consumption</a:t>
                      </a:r>
                      <a:endParaRPr lang="en-US" altLang="ko-Kore-KR" sz="1400" b="1" u="none" strike="noStrike" cap="none" dirty="0">
                        <a:solidFill>
                          <a:schemeClr val="tx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0" marB="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66151611"/>
                  </a:ext>
                </a:extLst>
              </a:tr>
              <a:tr h="329658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1300" b="1" u="none" strike="noStrike" cap="none" dirty="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9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NO ENG Bleed / FLAP 15 L/D</a:t>
                      </a:r>
                      <a:endParaRPr lang="en-US" altLang="ko-Kore-KR" sz="1300" b="1" u="none" strike="noStrike" cap="none" dirty="0">
                        <a:solidFill>
                          <a:schemeClr val="tx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00370452"/>
                  </a:ext>
                </a:extLst>
              </a:tr>
              <a:tr h="329658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1400" b="1" u="none" strike="noStrike" cap="none" dirty="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10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GND Air / Cross Bleed</a:t>
                      </a:r>
                      <a:endParaRPr lang="en-US" altLang="ko-Kore-KR" sz="1400" b="1" u="none" strike="noStrike" cap="none" dirty="0">
                        <a:solidFill>
                          <a:schemeClr val="tx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0" marB="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1395324"/>
                  </a:ext>
                </a:extLst>
              </a:tr>
              <a:tr h="329658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1400" b="1" u="none" strike="noStrike" cap="none" dirty="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11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Cold Temp Correction</a:t>
                      </a:r>
                      <a:endParaRPr lang="en-US" altLang="ko-Kore-KR" sz="1400" b="1" u="none" strike="noStrike" cap="none" dirty="0">
                        <a:solidFill>
                          <a:schemeClr val="tx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9658"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1" u="none" strike="noStrike" cap="none" dirty="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12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Cold </a:t>
                      </a:r>
                      <a:r>
                        <a:rPr lang="en-US" sz="1400" b="1" u="none" strike="noStrike" cap="none" dirty="0" err="1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12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Wx</a:t>
                      </a:r>
                      <a:r>
                        <a:rPr lang="en-US" sz="1400" b="1" u="none" strike="noStrike" cap="none" dirty="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12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 Operation</a:t>
                      </a:r>
                      <a:endParaRPr sz="1400" b="1" u="none" strike="noStrike" cap="none" dirty="0">
                        <a:solidFill>
                          <a:schemeClr val="tx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9658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u="none" strike="noStrike" cap="none" dirty="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13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ENG ON </a:t>
                      </a:r>
                      <a:r>
                        <a:rPr lang="en-US" sz="900" b="1" u="none" strike="noStrike" cap="none" dirty="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13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Deicing</a:t>
                      </a:r>
                      <a:endParaRPr sz="1200" b="1" u="none" strike="noStrike" cap="none" dirty="0">
                        <a:solidFill>
                          <a:schemeClr val="tx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u="none" strike="noStrike" cap="none" dirty="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14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ENG OFF</a:t>
                      </a:r>
                      <a:r>
                        <a:rPr lang="en-US" sz="900" b="1" u="none" strike="noStrike" cap="none" dirty="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14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Deicing</a:t>
                      </a:r>
                      <a:endParaRPr sz="1200" b="1" u="none" strike="noStrike" cap="none" dirty="0">
                        <a:solidFill>
                          <a:schemeClr val="tx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0" marB="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91" name="Google Shape;91;p1"/>
          <p:cNvSpPr txBox="1"/>
          <p:nvPr/>
        </p:nvSpPr>
        <p:spPr>
          <a:xfrm>
            <a:off x="1458410" y="792682"/>
            <a:ext cx="8466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by </a:t>
            </a:r>
            <a:r>
              <a:rPr lang="en-US" sz="900" b="0" i="0" u="none" strike="noStrike" cap="none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Flyingdeuk</a:t>
            </a:r>
            <a:endParaRPr sz="9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2" name="Google Shape;92;p1"/>
          <p:cNvSpPr txBox="1"/>
          <p:nvPr/>
        </p:nvSpPr>
        <p:spPr>
          <a:xfrm>
            <a:off x="1441865" y="638556"/>
            <a:ext cx="8466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1" dirty="0">
                <a:solidFill>
                  <a:srgbClr val="0070C0"/>
                </a:solidFill>
                <a:latin typeface="Calibri"/>
                <a:ea typeface="Calibri"/>
                <a:cs typeface="Calibri"/>
                <a:sym typeface="Calibri"/>
              </a:rPr>
              <a:t>VER. 24.11.18</a:t>
            </a:r>
            <a:endParaRPr sz="900" b="1" dirty="0">
              <a:solidFill>
                <a:srgbClr val="0070C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057724C-88B0-A932-6665-9CCC34DC2660}"/>
              </a:ext>
            </a:extLst>
          </p:cNvPr>
          <p:cNvSpPr txBox="1"/>
          <p:nvPr/>
        </p:nvSpPr>
        <p:spPr>
          <a:xfrm>
            <a:off x="203741" y="714044"/>
            <a:ext cx="139356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ore-KR" sz="1000" u="none" strike="noStrike" cap="none" dirty="0">
                <a:latin typeface="Calibri"/>
                <a:ea typeface="Calibri"/>
                <a:cs typeface="Calibri"/>
                <a:sym typeface="Calibri"/>
              </a:rPr>
              <a:t>☝️ </a:t>
            </a:r>
            <a:r>
              <a:rPr kumimoji="1" lang="en-US" altLang="ko-Kore-KR" sz="900" b="1" u="sng" dirty="0">
                <a:solidFill>
                  <a:schemeClr val="accent1"/>
                </a:solidFill>
              </a:rPr>
              <a:t>Click for Update</a:t>
            </a:r>
            <a:endParaRPr kumimoji="1" lang="ko-Kore-KR" altLang="en-US" sz="900" b="1" u="sng" dirty="0">
              <a:solidFill>
                <a:schemeClr val="accen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8395294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8" name="Google Shape;88;p1"/>
          <p:cNvGraphicFramePr/>
          <p:nvPr>
            <p:extLst>
              <p:ext uri="{D42A27DB-BD31-4B8C-83A1-F6EECF244321}">
                <p14:modId xmlns:p14="http://schemas.microsoft.com/office/powerpoint/2010/main" val="49993318"/>
              </p:ext>
            </p:extLst>
          </p:nvPr>
        </p:nvGraphicFramePr>
        <p:xfrm>
          <a:off x="98101" y="132865"/>
          <a:ext cx="2132650" cy="3519322"/>
        </p:xfrm>
        <a:graphic>
          <a:graphicData uri="http://schemas.openxmlformats.org/drawingml/2006/table">
            <a:tbl>
              <a:tblPr firstRow="1" bandRow="1">
                <a:tableStyleId>{A521BE36-7E6F-4EC9-8D66-1CF97A6895EC}</a:tableStyleId>
              </a:tblPr>
              <a:tblGrid>
                <a:gridCol w="10663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66325">
                  <a:extLst>
                    <a:ext uri="{9D8B030D-6E8A-4147-A177-3AD203B41FA5}">
                      <a16:colId xmlns:a16="http://schemas.microsoft.com/office/drawing/2014/main" val="972615961"/>
                    </a:ext>
                  </a:extLst>
                </a:gridCol>
              </a:tblGrid>
              <a:tr h="460602"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800" b="1" u="none" strike="noStrike" cap="none" dirty="0">
                          <a:solidFill>
                            <a:schemeClr val="bg1"/>
                          </a:solidFill>
                          <a:sym typeface="Calibri"/>
                        </a:rPr>
                        <a:t>Domestic</a:t>
                      </a:r>
                      <a:endParaRPr sz="2800" b="1" u="none" strike="noStrike" cap="none" dirty="0">
                        <a:solidFill>
                          <a:schemeClr val="bg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73297171"/>
                  </a:ext>
                </a:extLst>
              </a:tr>
              <a:tr h="38234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000" b="1" i="0" u="none" strike="noStrike" cap="none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+mj-ea"/>
                          <a:cs typeface="Calibri" panose="020F0502020204030204" pitchFamily="34" charset="0"/>
                          <a:sym typeface="Calibri"/>
                          <a:hlinkClick r:id="rId3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GMP</a:t>
                      </a:r>
                      <a:endParaRPr sz="2000" b="1" i="0" u="none" strike="noStrike" cap="none" dirty="0">
                        <a:solidFill>
                          <a:schemeClr val="tx1"/>
                        </a:solidFill>
                        <a:latin typeface="Calibri" panose="020F0502020204030204" pitchFamily="34" charset="0"/>
                        <a:ea typeface="+mj-ea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C0000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4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CJU</a:t>
                      </a:r>
                      <a:endParaRPr lang="en-US" altLang="ko-Kore-KR" sz="2000" b="1" i="0" u="none" strike="noStrike" cap="none" dirty="0">
                        <a:solidFill>
                          <a:srgbClr val="C0000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234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2000" b="1" i="0" u="none" strike="noStrike" cap="none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5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GMP</a:t>
                      </a:r>
                      <a:endParaRPr lang="en-US" altLang="ko-Kore-KR" sz="2000" b="1" i="0" u="none" strike="noStrike" cap="none" dirty="0">
                        <a:solidFill>
                          <a:schemeClr val="tx1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C0000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6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PUS</a:t>
                      </a:r>
                      <a:endParaRPr lang="en-US" altLang="ko-Kore-KR" sz="2000" b="1" i="0" u="none" strike="noStrike" cap="none" dirty="0">
                        <a:solidFill>
                          <a:srgbClr val="C0000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234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C0000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7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CJU</a:t>
                      </a:r>
                      <a:endParaRPr lang="en-US" altLang="ko-Kore-KR" sz="2000" b="1" i="0" u="none" strike="noStrike" cap="none" dirty="0">
                        <a:solidFill>
                          <a:srgbClr val="C0000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8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KWJ</a:t>
                      </a:r>
                      <a:endParaRPr lang="en-US" altLang="ko-Kore-KR" sz="2000" b="1" i="0" u="none" strike="noStrike" cap="none" dirty="0">
                        <a:solidFill>
                          <a:schemeClr val="tx1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23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C0000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9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CJU</a:t>
                      </a:r>
                      <a:endParaRPr lang="en-US" altLang="ko-Kore-KR" sz="2000" b="1" i="0" u="none" strike="noStrike" cap="none" dirty="0">
                        <a:solidFill>
                          <a:srgbClr val="C0000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10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CJJ</a:t>
                      </a:r>
                      <a:endParaRPr lang="en-US" altLang="ko-Kore-KR" sz="2000" b="1" i="0" u="none" strike="noStrike" cap="none" dirty="0">
                        <a:solidFill>
                          <a:schemeClr val="tx1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23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C0000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11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CJU</a:t>
                      </a:r>
                      <a:endParaRPr lang="en-US" altLang="ko-Kore-KR" sz="2000" b="1" i="0" u="none" strike="noStrike" cap="none" dirty="0">
                        <a:solidFill>
                          <a:srgbClr val="C0000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12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TAE</a:t>
                      </a:r>
                      <a:endParaRPr lang="en-US" altLang="ko-Kore-KR" sz="2000" b="1" i="0" u="none" strike="noStrike" cap="none" dirty="0">
                        <a:solidFill>
                          <a:schemeClr val="tx1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23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C0000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13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CJU</a:t>
                      </a:r>
                      <a:endParaRPr lang="en-US" altLang="ko-Kore-KR" sz="2000" b="1" i="0" u="none" strike="noStrike" cap="none" dirty="0">
                        <a:solidFill>
                          <a:srgbClr val="C0000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C0000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14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PUS</a:t>
                      </a:r>
                      <a:endParaRPr lang="en-US" altLang="ko-Kore-KR" sz="2000" b="1" i="0" u="none" strike="noStrike" cap="none" dirty="0">
                        <a:solidFill>
                          <a:srgbClr val="C0000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823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15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ICN</a:t>
                      </a:r>
                      <a:endParaRPr lang="en-US" altLang="ko-Kore-KR" sz="2000" b="1" i="0" u="none" strike="noStrike" cap="none" dirty="0">
                        <a:solidFill>
                          <a:schemeClr val="tx1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C0000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16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PUS</a:t>
                      </a:r>
                      <a:endParaRPr lang="en-US" altLang="ko-Kore-KR" sz="2000" b="1" i="0" u="none" strike="noStrike" cap="none" dirty="0">
                        <a:solidFill>
                          <a:srgbClr val="C0000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823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17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ICN</a:t>
                      </a:r>
                      <a:endParaRPr lang="en-US" altLang="ko-Kore-KR" sz="2000" b="1" i="0" u="none" strike="noStrike" cap="none" dirty="0">
                        <a:solidFill>
                          <a:schemeClr val="tx1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18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TAE</a:t>
                      </a:r>
                      <a:endParaRPr lang="en-US" altLang="ko-Kore-KR" sz="2000" b="1" i="0" u="none" strike="noStrike" cap="none" dirty="0">
                        <a:solidFill>
                          <a:schemeClr val="tx1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983344358"/>
                  </a:ext>
                </a:extLst>
              </a:tr>
            </a:tbl>
          </a:graphicData>
        </a:graphic>
      </p:graphicFrame>
      <p:graphicFrame>
        <p:nvGraphicFramePr>
          <p:cNvPr id="90" name="Google Shape;90;p1"/>
          <p:cNvGraphicFramePr/>
          <p:nvPr>
            <p:extLst>
              <p:ext uri="{D42A27DB-BD31-4B8C-83A1-F6EECF244321}">
                <p14:modId xmlns:p14="http://schemas.microsoft.com/office/powerpoint/2010/main" val="3099304272"/>
              </p:ext>
            </p:extLst>
          </p:nvPr>
        </p:nvGraphicFramePr>
        <p:xfrm>
          <a:off x="185895" y="4446365"/>
          <a:ext cx="1969476" cy="55630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96947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781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1" u="none" strike="noStrike" cap="none" dirty="0">
                          <a:solidFill>
                            <a:schemeClr val="bg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Welcome PA</a:t>
                      </a:r>
                      <a:endParaRPr sz="1400" b="1" u="none" strike="noStrike" cap="none" dirty="0">
                        <a:solidFill>
                          <a:schemeClr val="bg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815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1400" b="0" u="none" strike="noStrike" cap="none" dirty="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Next Page</a:t>
                      </a:r>
                    </a:p>
                  </a:txBody>
                  <a:tcPr marL="91450" marR="91450" marT="0" marB="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3" name="직사각형 2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166FA5EE-DE6A-B27F-96EF-30D8A6622BEF}"/>
              </a:ext>
            </a:extLst>
          </p:cNvPr>
          <p:cNvSpPr/>
          <p:nvPr/>
        </p:nvSpPr>
        <p:spPr>
          <a:xfrm>
            <a:off x="847353" y="522010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" action="ppaction://hlinkshowjump?jump=firstslide"/>
              </a:rPr>
              <a:t>Home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2617278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70" name="Google Shape;370;p27"/>
          <p:cNvGraphicFramePr/>
          <p:nvPr>
            <p:extLst>
              <p:ext uri="{D42A27DB-BD31-4B8C-83A1-F6EECF244321}">
                <p14:modId xmlns:p14="http://schemas.microsoft.com/office/powerpoint/2010/main" val="1830274576"/>
              </p:ext>
            </p:extLst>
          </p:nvPr>
        </p:nvGraphicFramePr>
        <p:xfrm>
          <a:off x="0" y="-1"/>
          <a:ext cx="2328875" cy="3762858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3288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50342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WELCOME PA</a:t>
                      </a:r>
                      <a:endParaRPr sz="11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45725" marB="45725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22843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손님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여러분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, 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안녕하십니까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? </a:t>
                      </a:r>
                      <a:endParaRPr lang="ko-Kore-KR" altLang="en-US" sz="800" dirty="0"/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저는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여러분을 모시고 가는 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기장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___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입니다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.</a:t>
                      </a:r>
                      <a:endParaRPr lang="ko-Kore-KR" altLang="en-US" sz="800" dirty="0"/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저희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대한항공을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이용해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주셔서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대단히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고맙습니다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.</a:t>
                      </a:r>
                      <a:endParaRPr lang="ko-Kore-KR" altLang="en-US" sz="800" dirty="0"/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___ (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국제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)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공항까지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비행시간은 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___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시간 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___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분 </a:t>
                      </a:r>
                      <a:r>
                        <a:rPr lang="ko-KR" alt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으로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예상됩니다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.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비행 중에는 항공기가 갑자기 흔들릴 수도 있으니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,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자리에 않아 계실 때에는 항상 좌석벨트를 매주시기 바랍니다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.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altLang="ko-Kore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저희 승무원 모두는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)</a:t>
                      </a:r>
                      <a:endParaRPr sz="8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저는 여러분을 안전하게 모시기 위해 최선을 다하겠습니다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.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고맙습니다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.</a:t>
                      </a:r>
                      <a:endParaRPr sz="8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22843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Good morning (afternoon /evening), ladies and gentlemen.</a:t>
                      </a:r>
                      <a:endParaRPr lang="ko-Kore-KR" altLang="en-US" sz="9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This is captain </a:t>
                      </a:r>
                      <a:r>
                        <a:rPr lang="en-US" sz="900" b="1" u="sng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last name</a:t>
                      </a:r>
                      <a:r>
                        <a:rPr 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speaking. </a:t>
                      </a:r>
                      <a:endParaRPr lang="ko-Kore-KR" altLang="en-US" sz="9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Welcome aboard Korean Air. </a:t>
                      </a: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This flight is bound for ___(international) airport</a:t>
                      </a:r>
                      <a:r>
                        <a:rPr lang="ko-KR" alt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altLang="ko-KR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and our flight time is ___ hours(s) and minutes.</a:t>
                      </a:r>
                      <a:r>
                        <a:rPr 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endParaRPr lang="ko-Kore-KR" altLang="en-US" sz="9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For your safety, keep your seatbelts fastened while you are seated. </a:t>
                      </a: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Thank you for choosing </a:t>
                      </a:r>
                      <a:r>
                        <a:rPr lang="en-US" sz="9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Koreanair</a:t>
                      </a:r>
                      <a:r>
                        <a:rPr 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. </a:t>
                      </a: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Please enjoy your flight. </a:t>
                      </a:r>
                      <a:endParaRPr sz="9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371" name="Google Shape;371;p27"/>
          <p:cNvGraphicFramePr/>
          <p:nvPr>
            <p:extLst>
              <p:ext uri="{D42A27DB-BD31-4B8C-83A1-F6EECF244321}">
                <p14:modId xmlns:p14="http://schemas.microsoft.com/office/powerpoint/2010/main" val="29330995"/>
              </p:ext>
            </p:extLst>
          </p:nvPr>
        </p:nvGraphicFramePr>
        <p:xfrm>
          <a:off x="109959" y="3762857"/>
          <a:ext cx="2112380" cy="1509984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4746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6491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84386"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dirty="0"/>
                        <a:t>Domestic</a:t>
                      </a:r>
                      <a:endParaRPr sz="1400" b="0" dirty="0"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b="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412390786"/>
                  </a:ext>
                </a:extLst>
              </a:tr>
              <a:tr h="162078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 dirty="0"/>
                        <a:t>GMP</a:t>
                      </a:r>
                      <a:endParaRPr sz="900" b="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 dirty="0" err="1"/>
                        <a:t>서울</a:t>
                      </a:r>
                      <a:r>
                        <a:rPr lang="en-US" sz="900" b="0" dirty="0"/>
                        <a:t>/</a:t>
                      </a:r>
                      <a:r>
                        <a:rPr lang="en-US" sz="900" b="0" dirty="0" err="1"/>
                        <a:t>김포국제</a:t>
                      </a:r>
                      <a:endParaRPr sz="1600" b="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2078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ICN</a:t>
                      </a:r>
                      <a:endParaRPr sz="9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 err="1"/>
                        <a:t>서울</a:t>
                      </a:r>
                      <a:r>
                        <a:rPr lang="en-US" sz="900" dirty="0"/>
                        <a:t>/</a:t>
                      </a:r>
                      <a:r>
                        <a:rPr lang="en-US" sz="900" dirty="0" err="1"/>
                        <a:t>인천국제</a:t>
                      </a:r>
                      <a:endParaRPr sz="16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2078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CJU</a:t>
                      </a:r>
                      <a:endParaRPr sz="9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 err="1"/>
                        <a:t>제주국제</a:t>
                      </a:r>
                      <a:endParaRPr sz="16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62078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PUS</a:t>
                      </a:r>
                      <a:endParaRPr sz="9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 err="1"/>
                        <a:t>부산</a:t>
                      </a:r>
                      <a:r>
                        <a:rPr lang="en-US" sz="900" dirty="0"/>
                        <a:t>/</a:t>
                      </a:r>
                      <a:r>
                        <a:rPr lang="en-US" sz="900" dirty="0" err="1"/>
                        <a:t>김해국제</a:t>
                      </a:r>
                      <a:endParaRPr sz="9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62078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CJJ</a:t>
                      </a:r>
                      <a:endParaRPr sz="9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 err="1"/>
                        <a:t>청주국제</a:t>
                      </a:r>
                      <a:endParaRPr sz="9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62078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KWJ</a:t>
                      </a:r>
                      <a:endParaRPr sz="9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 err="1"/>
                        <a:t>광주</a:t>
                      </a:r>
                      <a:endParaRPr sz="16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62078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TAE</a:t>
                      </a:r>
                      <a:endParaRPr sz="9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 err="1"/>
                        <a:t>대구국제</a:t>
                      </a:r>
                      <a:endParaRPr sz="16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62078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0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0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32924141"/>
                  </a:ext>
                </a:extLst>
              </a:tr>
            </a:tbl>
          </a:graphicData>
        </a:graphic>
      </p:graphicFrame>
      <p:sp>
        <p:nvSpPr>
          <p:cNvPr id="3" name="직사각형 2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F54BE12C-20D3-D21D-7388-B79C76711DD9}"/>
              </a:ext>
            </a:extLst>
          </p:cNvPr>
          <p:cNvSpPr/>
          <p:nvPr/>
        </p:nvSpPr>
        <p:spPr>
          <a:xfrm>
            <a:off x="702671" y="5277971"/>
            <a:ext cx="1085619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3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Domestic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8375B34-8C64-6DD0-9FBE-ACB2C6F75CC8}"/>
              </a:ext>
            </a:extLst>
          </p:cNvPr>
          <p:cNvSpPr txBox="1"/>
          <p:nvPr/>
        </p:nvSpPr>
        <p:spPr>
          <a:xfrm>
            <a:off x="1708763" y="5229777"/>
            <a:ext cx="7228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ko-Kore-KR" altLang="en-US" sz="800" b="1" dirty="0">
                <a:solidFill>
                  <a:srgbClr val="FF0000"/>
                </a:solidFill>
              </a:rPr>
              <a:t>도착</a:t>
            </a:r>
            <a:r>
              <a:rPr kumimoji="1" lang="ko-KR" altLang="en-US" sz="800" b="1" dirty="0">
                <a:solidFill>
                  <a:srgbClr val="FF0000"/>
                </a:solidFill>
              </a:rPr>
              <a:t> 방송 </a:t>
            </a:r>
            <a:r>
              <a:rPr kumimoji="1" lang="en-US" altLang="ko-KR" sz="800" b="1" dirty="0">
                <a:solidFill>
                  <a:srgbClr val="FF0000"/>
                </a:solidFill>
              </a:rPr>
              <a:t>Next Page</a:t>
            </a:r>
            <a:endParaRPr kumimoji="1" lang="ko-Kore-KR" altLang="en-US" sz="800" b="1" dirty="0">
              <a:solidFill>
                <a:srgbClr val="FF0000"/>
              </a:solidFill>
            </a:endParaRPr>
          </a:p>
        </p:txBody>
      </p:sp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CCDF1224-C7E5-5FD7-658D-99524AF467D7}"/>
              </a:ext>
            </a:extLst>
          </p:cNvPr>
          <p:cNvSpPr/>
          <p:nvPr/>
        </p:nvSpPr>
        <p:spPr>
          <a:xfrm>
            <a:off x="59469" y="5266109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" action="ppaction://hlinkshowjump?jump=firstslide"/>
              </a:rPr>
              <a:t>Home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93675017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70" name="Google Shape;370;p27"/>
          <p:cNvGraphicFramePr/>
          <p:nvPr>
            <p:extLst>
              <p:ext uri="{D42A27DB-BD31-4B8C-83A1-F6EECF244321}">
                <p14:modId xmlns:p14="http://schemas.microsoft.com/office/powerpoint/2010/main" val="2422430745"/>
              </p:ext>
            </p:extLst>
          </p:nvPr>
        </p:nvGraphicFramePr>
        <p:xfrm>
          <a:off x="0" y="0"/>
          <a:ext cx="2328876" cy="4921399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443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2476">
                  <a:extLst>
                    <a:ext uri="{9D8B030D-6E8A-4147-A177-3AD203B41FA5}">
                      <a16:colId xmlns:a16="http://schemas.microsoft.com/office/drawing/2014/main" val="2595559527"/>
                    </a:ext>
                  </a:extLst>
                </a:gridCol>
                <a:gridCol w="891962">
                  <a:extLst>
                    <a:ext uri="{9D8B030D-6E8A-4147-A177-3AD203B41FA5}">
                      <a16:colId xmlns:a16="http://schemas.microsoft.com/office/drawing/2014/main" val="1608007032"/>
                    </a:ext>
                  </a:extLst>
                </a:gridCol>
              </a:tblGrid>
              <a:tr h="0"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10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도착</a:t>
                      </a:r>
                      <a:r>
                        <a:rPr lang="en-US" sz="10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ko-KR" altLang="en-US" sz="10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방송 </a:t>
                      </a:r>
                      <a:r>
                        <a:rPr lang="en-US" altLang="ko-KR" sz="10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(5</a:t>
                      </a:r>
                      <a:r>
                        <a:rPr lang="ko-KR" altLang="en-US" sz="10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시간이상</a:t>
                      </a:r>
                      <a:r>
                        <a:rPr lang="en-US" altLang="ko-KR" sz="10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,</a:t>
                      </a:r>
                      <a:r>
                        <a:rPr lang="ko-KR" altLang="en-US" sz="10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altLang="ko-KR" sz="10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40</a:t>
                      </a:r>
                      <a:r>
                        <a:rPr lang="ko-KR" altLang="en-US" sz="10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분전</a:t>
                      </a:r>
                      <a:r>
                        <a:rPr lang="en-US" altLang="ko-KR" sz="10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)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1000" b="0" dirty="0">
                          <a:solidFill>
                            <a:srgbClr val="FFC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출발지 기준 </a:t>
                      </a:r>
                      <a:r>
                        <a:rPr lang="en-US" altLang="ko-KR" sz="1000" b="0" dirty="0">
                          <a:solidFill>
                            <a:srgbClr val="FFC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2200-0800</a:t>
                      </a:r>
                      <a:r>
                        <a:rPr lang="ko-KR" altLang="en-US" sz="1000" b="0" dirty="0">
                          <a:solidFill>
                            <a:srgbClr val="FFC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altLang="ko-KR" sz="1000" b="0" dirty="0">
                          <a:solidFill>
                            <a:srgbClr val="FFC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Quiet Hour</a:t>
                      </a:r>
                      <a:r>
                        <a:rPr lang="ko-KR" altLang="en-US" sz="1000" b="0" dirty="0">
                          <a:solidFill>
                            <a:srgbClr val="FFC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endParaRPr sz="1000" b="0" dirty="0">
                        <a:solidFill>
                          <a:srgbClr val="FFC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45725" marB="45725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74756">
                <a:tc gridSpan="3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손님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여러분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, 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저는 기장입니다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.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endParaRPr lang="ko-Kore-KR" altLang="en-US" sz="800" dirty="0"/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우리 비행기는 앞으로 약 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(40)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분 후에 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___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국제공항에 착륙 예정입니다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.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endParaRPr lang="ko-Kore-KR" altLang="en-US" sz="800" dirty="0"/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현재 공항의 날씨는 ◐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___,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기온은 섭씨 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__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도 입니다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.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endParaRPr lang="en-US" altLang="ko-KR" sz="8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3911">
                <a:tc gridSpan="2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6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◐</a:t>
                      </a:r>
                      <a:r>
                        <a:rPr lang="ko-KR" altLang="en-US" sz="6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맑으며 </a:t>
                      </a:r>
                      <a:endParaRPr lang="en-US" altLang="ko-KR" sz="6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6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◐ </a:t>
                      </a:r>
                      <a:r>
                        <a:rPr lang="en-US" altLang="ko-KR" sz="6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ko-KR" altLang="en-US" sz="6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다소</a:t>
                      </a:r>
                      <a:r>
                        <a:rPr lang="en-US" altLang="ko-KR" sz="6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)</a:t>
                      </a:r>
                      <a:r>
                        <a:rPr lang="ko-KR" altLang="en-US" sz="6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흐리며 </a:t>
                      </a:r>
                      <a:endParaRPr lang="en-US" altLang="ko-KR" sz="6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6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◐ </a:t>
                      </a:r>
                      <a:r>
                        <a:rPr lang="en-US" altLang="ko-KR" sz="6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ko-KR" altLang="en-US" sz="6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이슬</a:t>
                      </a:r>
                      <a:r>
                        <a:rPr lang="en-US" altLang="ko-KR" sz="6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)</a:t>
                      </a:r>
                      <a:r>
                        <a:rPr lang="ko-KR" altLang="en-US" sz="6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비가 내리며</a:t>
                      </a:r>
                      <a:r>
                        <a:rPr lang="en-US" altLang="ko-KR" sz="6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/</a:t>
                      </a:r>
                      <a:r>
                        <a:rPr lang="ko-KR" altLang="en-US" sz="6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소나기가 내리며 </a:t>
                      </a:r>
                      <a:endParaRPr lang="en-US" altLang="ko-KR" sz="6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6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◐ 바람이 불고 있으며</a:t>
                      </a:r>
                      <a:endParaRPr lang="en-US" altLang="ko-KR" sz="6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6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◐</a:t>
                      </a:r>
                      <a:r>
                        <a:rPr lang="ko-KR" altLang="en-US" sz="6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눈이 오고 있으며</a:t>
                      </a:r>
                      <a:endParaRPr lang="en-US" altLang="ko-KR" sz="6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6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◐</a:t>
                      </a:r>
                      <a:r>
                        <a:rPr lang="ko-KR" altLang="en-US" sz="6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안개가 끼어 있으며</a:t>
                      </a:r>
                      <a:endParaRPr lang="en-US" altLang="ko-KR" sz="6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6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◐ 황사가 있으며</a:t>
                      </a:r>
                      <a:endParaRPr lang="en-US" altLang="ko-KR" sz="6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3804322827"/>
                  </a:ext>
                </a:extLst>
              </a:tr>
              <a:tr h="356733">
                <a:tc gridSpan="3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ko-KR" altLang="en-US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지금 이곳의 시각은 </a:t>
                      </a:r>
                      <a:r>
                        <a:rPr kumimoji="0" lang="en-US" altLang="ko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__</a:t>
                      </a:r>
                      <a:r>
                        <a:rPr kumimoji="0" lang="ko-KR" altLang="en-US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월 </a:t>
                      </a:r>
                      <a:r>
                        <a:rPr kumimoji="0" lang="en-US" altLang="ko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__</a:t>
                      </a:r>
                      <a:r>
                        <a:rPr kumimoji="0" lang="ko-KR" altLang="en-US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일 </a:t>
                      </a:r>
                      <a:r>
                        <a:rPr kumimoji="0" lang="en-US" altLang="ko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__</a:t>
                      </a:r>
                      <a:r>
                        <a:rPr kumimoji="0" lang="ko-KR" altLang="en-US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요일</a:t>
                      </a:r>
                      <a:r>
                        <a:rPr kumimoji="0" lang="en-US" altLang="ko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,</a:t>
                      </a:r>
                      <a:r>
                        <a:rPr kumimoji="0" lang="ko-KR" altLang="en-US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오전</a:t>
                      </a:r>
                      <a:r>
                        <a:rPr kumimoji="0" lang="en-US" altLang="ko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kumimoji="0" lang="ko-KR" altLang="en-US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오후</a:t>
                      </a:r>
                      <a:r>
                        <a:rPr kumimoji="0" lang="en-US" altLang="ko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)</a:t>
                      </a:r>
                      <a:r>
                        <a:rPr kumimoji="0" lang="ko-KR" altLang="en-US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kumimoji="0" lang="en-US" altLang="ko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__</a:t>
                      </a:r>
                      <a:r>
                        <a:rPr kumimoji="0" lang="ko-KR" altLang="en-US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시 </a:t>
                      </a:r>
                      <a:r>
                        <a:rPr kumimoji="0" lang="en-US" altLang="ko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__</a:t>
                      </a:r>
                      <a:r>
                        <a:rPr kumimoji="0" lang="ko-KR" altLang="en-US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분 입니다</a:t>
                      </a:r>
                      <a:r>
                        <a:rPr kumimoji="0" lang="en-US" altLang="ko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.</a:t>
                      </a:r>
                      <a:r>
                        <a:rPr kumimoji="0" lang="ko-KR" altLang="en-US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endParaRPr kumimoji="0" lang="en-US" altLang="ko-KR" sz="800" b="1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ko-KR" altLang="en-US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고맙습니다</a:t>
                      </a:r>
                      <a:r>
                        <a:rPr kumimoji="0" lang="en-US" altLang="ko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.</a:t>
                      </a:r>
                      <a:r>
                        <a:rPr kumimoji="0" lang="ko-KR" altLang="en-US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endParaRPr kumimoji="0" lang="en-US" altLang="ko-KR" sz="800" b="1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91553393"/>
                  </a:ext>
                </a:extLst>
              </a:tr>
              <a:tr h="280822">
                <a:tc gridSpan="3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L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adies and gentlemen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,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his is </a:t>
                      </a:r>
                      <a:r>
                        <a:rPr lang="en-US" altLang="ko-KR" sz="800" b="1" u="sng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the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captain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speaking. 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We expect to land at __ international airport in about (40) minutes.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The current temperature at ___ is __ degrees Celsius, or __ degrees Fahrenheit </a:t>
                      </a:r>
                      <a:r>
                        <a:rPr lang="en-US" altLang="ko-KR" sz="700" b="0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ore-KR" sz="700" b="0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OPT </a:t>
                      </a:r>
                      <a:r>
                        <a:rPr lang="ko-KR" altLang="en-US" sz="700" b="0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참고</a:t>
                      </a:r>
                      <a:r>
                        <a:rPr lang="en-US" altLang="ko-KR" sz="700" b="0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)</a:t>
                      </a:r>
                      <a:endParaRPr lang="en-US" altLang="ko-Kore-KR" sz="700" b="0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and it is 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◐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___. </a:t>
                      </a:r>
                    </a:p>
                  </a:txBody>
                  <a:tcPr marL="36000" marR="36000" marT="36000" marB="36000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3012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◐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(mostly) clear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◐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(partly) cloudy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◐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drizzling / raining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◐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windy</a:t>
                      </a:r>
                      <a:endParaRPr lang="ko-Kore-KR" altLang="en-US" sz="8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◐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snowing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◐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foggy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◐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hazy or smoggy</a:t>
                      </a:r>
                    </a:p>
                  </a:txBody>
                  <a:tcPr marL="36000" marR="36000" marT="36000" marB="36000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04669382"/>
                  </a:ext>
                </a:extLst>
              </a:tr>
              <a:tr h="500625">
                <a:tc gridSpan="3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The current time is __ : __ </a:t>
                      </a:r>
                      <a:r>
                        <a:rPr lang="en-US" altLang="ko-Kore-KR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a.m</a:t>
                      </a:r>
                      <a:r>
                        <a:rPr lang="en-US" altLang="ko-Kore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ore-KR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p.m</a:t>
                      </a:r>
                      <a:r>
                        <a:rPr lang="en-US" altLang="ko-Kore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), on (day-of-the-week), (month)(date).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Thank you for flying with us today.</a:t>
                      </a:r>
                      <a:endParaRPr lang="ko-Kore-KR" altLang="en-US" sz="8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/>
                </a:tc>
                <a:tc hMerge="1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ko-Kore-KR" altLang="en-US" sz="8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71547286"/>
                  </a:ext>
                </a:extLst>
              </a:tr>
            </a:tbl>
          </a:graphicData>
        </a:graphic>
      </p:graphicFrame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2A58EF91-7A59-ED4B-8C85-329D79A12166}"/>
              </a:ext>
            </a:extLst>
          </p:cNvPr>
          <p:cNvSpPr/>
          <p:nvPr/>
        </p:nvSpPr>
        <p:spPr>
          <a:xfrm>
            <a:off x="702671" y="5277971"/>
            <a:ext cx="1085619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3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Domestic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82770574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8" name="Google Shape;88;p1"/>
          <p:cNvGraphicFramePr/>
          <p:nvPr>
            <p:extLst>
              <p:ext uri="{D42A27DB-BD31-4B8C-83A1-F6EECF244321}">
                <p14:modId xmlns:p14="http://schemas.microsoft.com/office/powerpoint/2010/main" val="1447013018"/>
              </p:ext>
            </p:extLst>
          </p:nvPr>
        </p:nvGraphicFramePr>
        <p:xfrm>
          <a:off x="98101" y="132867"/>
          <a:ext cx="2132650" cy="4701351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0663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66325">
                  <a:extLst>
                    <a:ext uri="{9D8B030D-6E8A-4147-A177-3AD203B41FA5}">
                      <a16:colId xmlns:a16="http://schemas.microsoft.com/office/drawing/2014/main" val="2400549661"/>
                    </a:ext>
                  </a:extLst>
                </a:gridCol>
              </a:tblGrid>
              <a:tr h="397298"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400" b="1" u="none" strike="noStrike" cap="none" dirty="0">
                          <a:solidFill>
                            <a:schemeClr val="bg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Japan</a:t>
                      </a:r>
                      <a:endParaRPr sz="2400" b="1" u="none" strike="noStrike" cap="none" dirty="0">
                        <a:solidFill>
                          <a:schemeClr val="bg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73297171"/>
                  </a:ext>
                </a:extLst>
              </a:tr>
              <a:tr h="33108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3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GMP</a:t>
                      </a:r>
                      <a:endParaRPr lang="en-US" altLang="ko-Kore-KR" sz="2000" b="1" i="0" u="none" strike="noStrike" cap="none" dirty="0">
                        <a:solidFill>
                          <a:srgbClr val="0070C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4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KIX</a:t>
                      </a:r>
                      <a:endParaRPr lang="en-US" altLang="ko-Kore-KR" sz="2000" b="1" i="0" u="none" strike="noStrike" cap="none" dirty="0">
                        <a:solidFill>
                          <a:srgbClr val="0070C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3108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C0000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5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PUS</a:t>
                      </a:r>
                      <a:endParaRPr lang="en-US" altLang="ko-Kore-KR" sz="2000" b="1" i="0" u="none" strike="noStrike" cap="none" dirty="0">
                        <a:solidFill>
                          <a:srgbClr val="C0000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6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NRT</a:t>
                      </a:r>
                      <a:endParaRPr lang="en-US" altLang="ko-Kore-KR" sz="2000" b="1" i="0" u="none" strike="noStrike" cap="none" dirty="0">
                        <a:solidFill>
                          <a:srgbClr val="0070C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3108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C0000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7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PUS</a:t>
                      </a:r>
                      <a:endParaRPr lang="en-US" altLang="ko-Kore-KR" sz="2000" b="1" i="0" u="none" strike="noStrike" cap="none" dirty="0">
                        <a:solidFill>
                          <a:srgbClr val="C0000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8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NGO</a:t>
                      </a:r>
                      <a:endParaRPr lang="en-US" altLang="ko-Kore-KR" sz="2000" b="1" i="0" u="none" strike="noStrike" cap="none" dirty="0">
                        <a:solidFill>
                          <a:srgbClr val="0070C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60504365"/>
                  </a:ext>
                </a:extLst>
              </a:tr>
              <a:tr h="33108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C0000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9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PUS</a:t>
                      </a:r>
                      <a:endParaRPr lang="en-US" altLang="ko-Kore-KR" sz="2000" b="1" i="0" u="none" strike="noStrike" cap="none" dirty="0">
                        <a:solidFill>
                          <a:srgbClr val="C0000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C0000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10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FUK</a:t>
                      </a:r>
                      <a:endParaRPr lang="en-US" altLang="ko-Kore-KR" sz="2000" b="1" i="0" u="none" strike="noStrike" cap="none" dirty="0">
                        <a:solidFill>
                          <a:srgbClr val="C0000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2260318220"/>
                  </a:ext>
                </a:extLst>
              </a:tr>
              <a:tr h="33108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11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ICN</a:t>
                      </a:r>
                      <a:endParaRPr lang="en-US" altLang="ko-Kore-KR" sz="2000" b="1" i="0" u="none" strike="noStrike" cap="none" dirty="0">
                        <a:solidFill>
                          <a:srgbClr val="0070C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12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KIX</a:t>
                      </a:r>
                      <a:endParaRPr lang="en-US" altLang="ko-Kore-KR" sz="2000" b="1" i="0" u="none" strike="noStrike" cap="none" dirty="0">
                        <a:solidFill>
                          <a:srgbClr val="0070C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3108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13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ICN</a:t>
                      </a:r>
                      <a:endParaRPr lang="en-US" altLang="ko-Kore-KR" sz="2000" b="1" i="0" u="none" strike="noStrike" cap="none" dirty="0">
                        <a:solidFill>
                          <a:srgbClr val="0070C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14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NRT</a:t>
                      </a:r>
                      <a:endParaRPr lang="en-US" altLang="ko-Kore-KR" sz="2000" b="1" i="0" u="none" strike="noStrike" cap="none" dirty="0">
                        <a:solidFill>
                          <a:srgbClr val="0070C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3108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15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ICN</a:t>
                      </a:r>
                      <a:endParaRPr lang="en-US" altLang="ko-Kore-KR" sz="2000" b="1" i="0" u="none" strike="noStrike" cap="none" dirty="0">
                        <a:solidFill>
                          <a:srgbClr val="0070C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16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CTS</a:t>
                      </a:r>
                      <a:endParaRPr lang="en-US" altLang="ko-Kore-KR" sz="2000" b="1" i="0" u="none" strike="noStrike" cap="none" dirty="0">
                        <a:solidFill>
                          <a:srgbClr val="0070C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3108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17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ICN</a:t>
                      </a:r>
                      <a:endParaRPr lang="en-US" altLang="ko-Kore-KR" sz="2000" b="1" i="0" u="none" strike="noStrike" cap="none" dirty="0">
                        <a:solidFill>
                          <a:srgbClr val="0070C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18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HND</a:t>
                      </a:r>
                      <a:endParaRPr lang="en-US" altLang="ko-Kore-KR" sz="2000" b="1" i="0" u="none" strike="noStrike" cap="none" dirty="0">
                        <a:solidFill>
                          <a:srgbClr val="0070C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3963828124"/>
                  </a:ext>
                </a:extLst>
              </a:tr>
              <a:tr h="33108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19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ICN</a:t>
                      </a:r>
                      <a:endParaRPr lang="en-US" altLang="ko-Kore-KR" sz="2000" b="1" i="0" u="none" strike="noStrike" cap="none" dirty="0">
                        <a:solidFill>
                          <a:srgbClr val="0070C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20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NGO</a:t>
                      </a:r>
                      <a:endParaRPr lang="en-US" altLang="ko-Kore-KR" sz="2000" b="1" i="0" u="none" strike="noStrike" cap="none" dirty="0">
                        <a:solidFill>
                          <a:srgbClr val="0070C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33108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21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ICN</a:t>
                      </a:r>
                      <a:endParaRPr lang="en-US" altLang="ko-Kore-KR" sz="2000" b="1" i="0" u="none" strike="noStrike" cap="none" dirty="0">
                        <a:solidFill>
                          <a:srgbClr val="0070C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C0000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22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FUK</a:t>
                      </a:r>
                      <a:endParaRPr lang="en-US" altLang="ko-Kore-KR" sz="2000" b="1" i="0" u="none" strike="noStrike" cap="none" dirty="0">
                        <a:solidFill>
                          <a:srgbClr val="C0000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823778637"/>
                  </a:ext>
                </a:extLst>
              </a:tr>
              <a:tr h="33108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23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ICN</a:t>
                      </a:r>
                      <a:endParaRPr lang="en-US" altLang="ko-Kore-KR" sz="2000" b="1" i="0" u="none" strike="noStrike" cap="none" dirty="0">
                        <a:solidFill>
                          <a:srgbClr val="0070C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C0000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24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AOJ</a:t>
                      </a:r>
                      <a:endParaRPr lang="en-US" altLang="ko-Kore-KR" sz="2000" b="1" i="0" u="none" strike="noStrike" cap="none" dirty="0">
                        <a:solidFill>
                          <a:srgbClr val="C0000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138432142"/>
                  </a:ext>
                </a:extLst>
              </a:tr>
              <a:tr h="33108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25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ICN</a:t>
                      </a:r>
                      <a:endParaRPr lang="en-US" altLang="ko-Kore-KR" sz="2000" b="1" i="0" u="none" strike="noStrike" cap="none" dirty="0">
                        <a:solidFill>
                          <a:srgbClr val="0070C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26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KIJ</a:t>
                      </a:r>
                      <a:endParaRPr lang="en-US" altLang="ko-Kore-KR" sz="2000" b="1" i="0" u="none" strike="noStrike" cap="none" dirty="0">
                        <a:solidFill>
                          <a:srgbClr val="0070C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391894762"/>
                  </a:ext>
                </a:extLst>
              </a:tr>
              <a:tr h="33108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FF000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27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CJU</a:t>
                      </a:r>
                      <a:endParaRPr lang="en-US" altLang="ko-Kore-KR" sz="2000" b="1" i="0" u="none" strike="noStrike" cap="none" dirty="0">
                        <a:solidFill>
                          <a:srgbClr val="FF000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28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NRT</a:t>
                      </a:r>
                      <a:endParaRPr lang="en-US" altLang="ko-Kore-KR" sz="2000" b="1" i="0" u="none" strike="noStrike" cap="none" dirty="0">
                        <a:solidFill>
                          <a:srgbClr val="0070C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3397213989"/>
                  </a:ext>
                </a:extLst>
              </a:tr>
            </a:tbl>
          </a:graphicData>
        </a:graphic>
      </p:graphicFrame>
      <p:sp>
        <p:nvSpPr>
          <p:cNvPr id="3" name="직사각형 2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FF3491A8-D925-6BB2-F309-8A3F0C288540}"/>
              </a:ext>
            </a:extLst>
          </p:cNvPr>
          <p:cNvSpPr/>
          <p:nvPr/>
        </p:nvSpPr>
        <p:spPr>
          <a:xfrm>
            <a:off x="847353" y="522010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" action="ppaction://hlinkshowjump?jump=firstslide"/>
              </a:rPr>
              <a:t>Home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16890059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70" name="Google Shape;370;p27"/>
          <p:cNvGraphicFramePr/>
          <p:nvPr>
            <p:extLst>
              <p:ext uri="{D42A27DB-BD31-4B8C-83A1-F6EECF244321}">
                <p14:modId xmlns:p14="http://schemas.microsoft.com/office/powerpoint/2010/main" val="3333811122"/>
              </p:ext>
            </p:extLst>
          </p:nvPr>
        </p:nvGraphicFramePr>
        <p:xfrm>
          <a:off x="0" y="0"/>
          <a:ext cx="2328875" cy="373601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3288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WELCOME PA</a:t>
                      </a:r>
                      <a:endParaRPr sz="12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45725" marB="45725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7712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손님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여러분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, 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안녕하십니까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? </a:t>
                      </a:r>
                      <a:endParaRPr lang="ko-Kore-KR" altLang="en-US" sz="800" dirty="0"/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저는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여러분을 모시고 가는 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기장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___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입니다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.</a:t>
                      </a:r>
                      <a:endParaRPr lang="ko-Kore-KR" altLang="en-US" sz="800" dirty="0"/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저희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대한항공을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이용해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주셔서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대단히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고맙습니다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.</a:t>
                      </a:r>
                      <a:endParaRPr lang="ko-Kore-KR" altLang="en-US" sz="800" dirty="0"/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___ (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국제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)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공항까지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비행시간은 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___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시간 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___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분 </a:t>
                      </a:r>
                      <a:r>
                        <a:rPr lang="ko-KR" alt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으로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예상됩니다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.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비행 중에는 항공기가 갑자기 흔들릴 수도 있으니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,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자리에 않아 계실 때에는 항상 좌석벨트를 매주시기 바랍니다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.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altLang="ko-Kore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저희 승무원 모두는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)</a:t>
                      </a:r>
                      <a:endParaRPr sz="8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저는 여러분을 안전하게 모시기 위해 최선을 다하겠습니다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.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고맙습니다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.</a:t>
                      </a:r>
                      <a:endParaRPr sz="8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06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Good morning (afternoon /evening), ladies and gentlemen.</a:t>
                      </a:r>
                      <a:endParaRPr lang="ko-Kore-KR" altLang="en-US" sz="9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This is captain </a:t>
                      </a:r>
                      <a:r>
                        <a:rPr lang="en-US" sz="900" b="1" u="sng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last name</a:t>
                      </a:r>
                      <a:r>
                        <a:rPr 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speaking. </a:t>
                      </a:r>
                      <a:endParaRPr lang="ko-Kore-KR" altLang="en-US" sz="9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Welcome aboard Korean Air. 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This flight is bound for ___(international) airport</a:t>
                      </a:r>
                      <a:r>
                        <a:rPr lang="ko-KR" alt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altLang="ko-KR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and our flight time is ___ hours(s) and minutes.</a:t>
                      </a:r>
                      <a:r>
                        <a:rPr 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endParaRPr lang="ko-Kore-KR" altLang="en-US" sz="9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For your safety, keep your seatbelts fastened while you are seated. 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Thank you for choosing </a:t>
                      </a:r>
                      <a:r>
                        <a:rPr lang="en-US" sz="9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Koreanair</a:t>
                      </a:r>
                      <a:r>
                        <a:rPr 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. 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Please enjoy your flight. </a:t>
                      </a:r>
                      <a:endParaRPr sz="9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371" name="Google Shape;371;p27"/>
          <p:cNvGraphicFramePr/>
          <p:nvPr>
            <p:extLst>
              <p:ext uri="{D42A27DB-BD31-4B8C-83A1-F6EECF244321}">
                <p14:modId xmlns:p14="http://schemas.microsoft.com/office/powerpoint/2010/main" val="2992022177"/>
              </p:ext>
            </p:extLst>
          </p:nvPr>
        </p:nvGraphicFramePr>
        <p:xfrm>
          <a:off x="81023" y="3711435"/>
          <a:ext cx="2129742" cy="1566534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5114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78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80558"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dirty="0">
                          <a:solidFill>
                            <a:schemeClr val="bg1"/>
                          </a:solidFill>
                        </a:rPr>
                        <a:t>Japan</a:t>
                      </a:r>
                      <a:endParaRPr sz="1100" b="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0" dirty="0">
                        <a:solidFill>
                          <a:srgbClr val="0070C0"/>
                        </a:solidFill>
                      </a:endParaRP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4210945862"/>
                  </a:ext>
                </a:extLst>
              </a:tr>
              <a:tr h="173247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 dirty="0">
                          <a:solidFill>
                            <a:srgbClr val="0070C0"/>
                          </a:solidFill>
                        </a:rPr>
                        <a:t>KIX</a:t>
                      </a:r>
                      <a:endParaRPr sz="900" b="0" dirty="0">
                        <a:solidFill>
                          <a:srgbClr val="0070C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 dirty="0" err="1">
                          <a:solidFill>
                            <a:srgbClr val="0070C0"/>
                          </a:solidFill>
                        </a:rPr>
                        <a:t>오사카</a:t>
                      </a:r>
                      <a:r>
                        <a:rPr lang="en-US" sz="900" b="0" dirty="0">
                          <a:solidFill>
                            <a:srgbClr val="0070C0"/>
                          </a:solidFill>
                        </a:rPr>
                        <a:t>/</a:t>
                      </a:r>
                      <a:r>
                        <a:rPr lang="en-US" sz="900" b="0" dirty="0" err="1">
                          <a:solidFill>
                            <a:srgbClr val="0070C0"/>
                          </a:solidFill>
                        </a:rPr>
                        <a:t>간사이</a:t>
                      </a:r>
                      <a:endParaRPr sz="900" b="0" dirty="0">
                        <a:solidFill>
                          <a:srgbClr val="0070C0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73247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>
                          <a:solidFill>
                            <a:srgbClr val="0070C0"/>
                          </a:solidFill>
                        </a:rPr>
                        <a:t>HND</a:t>
                      </a:r>
                      <a:endParaRPr sz="900" dirty="0">
                        <a:solidFill>
                          <a:srgbClr val="0070C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 dirty="0" err="1">
                          <a:solidFill>
                            <a:srgbClr val="0070C0"/>
                          </a:solidFill>
                        </a:rPr>
                        <a:t>도쿄</a:t>
                      </a:r>
                      <a:r>
                        <a:rPr lang="en-US" sz="900" b="0" dirty="0">
                          <a:solidFill>
                            <a:srgbClr val="0070C0"/>
                          </a:solidFill>
                        </a:rPr>
                        <a:t>/</a:t>
                      </a:r>
                      <a:r>
                        <a:rPr lang="en-US" sz="900" b="0" dirty="0" err="1">
                          <a:solidFill>
                            <a:srgbClr val="0070C0"/>
                          </a:solidFill>
                        </a:rPr>
                        <a:t>하네다</a:t>
                      </a:r>
                      <a:endParaRPr sz="900" b="0" dirty="0">
                        <a:solidFill>
                          <a:srgbClr val="0070C0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188143320"/>
                  </a:ext>
                </a:extLst>
              </a:tr>
              <a:tr h="173247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>
                          <a:solidFill>
                            <a:srgbClr val="0070C0"/>
                          </a:solidFill>
                        </a:rPr>
                        <a:t>NRT</a:t>
                      </a:r>
                      <a:endParaRPr sz="900" dirty="0">
                        <a:solidFill>
                          <a:srgbClr val="0070C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 dirty="0" err="1">
                          <a:solidFill>
                            <a:srgbClr val="0070C0"/>
                          </a:solidFill>
                        </a:rPr>
                        <a:t>도쿄</a:t>
                      </a:r>
                      <a:r>
                        <a:rPr lang="en-US" sz="900" b="0" dirty="0">
                          <a:solidFill>
                            <a:srgbClr val="0070C0"/>
                          </a:solidFill>
                        </a:rPr>
                        <a:t>/</a:t>
                      </a:r>
                      <a:r>
                        <a:rPr lang="en-US" sz="900" b="0" dirty="0" err="1">
                          <a:solidFill>
                            <a:srgbClr val="0070C0"/>
                          </a:solidFill>
                        </a:rPr>
                        <a:t>나리타</a:t>
                      </a:r>
                      <a:endParaRPr sz="900" b="0" dirty="0">
                        <a:solidFill>
                          <a:srgbClr val="0070C0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3275921985"/>
                  </a:ext>
                </a:extLst>
              </a:tr>
              <a:tr h="173247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>
                          <a:solidFill>
                            <a:srgbClr val="0070C0"/>
                          </a:solidFill>
                        </a:rPr>
                        <a:t>CTS</a:t>
                      </a:r>
                      <a:endParaRPr sz="900" dirty="0">
                        <a:solidFill>
                          <a:srgbClr val="0070C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 dirty="0" err="1">
                          <a:solidFill>
                            <a:srgbClr val="0070C0"/>
                          </a:solidFill>
                        </a:rPr>
                        <a:t>삿포로</a:t>
                      </a:r>
                      <a:r>
                        <a:rPr lang="en-US" sz="900" b="0" dirty="0">
                          <a:solidFill>
                            <a:srgbClr val="0070C0"/>
                          </a:solidFill>
                        </a:rPr>
                        <a:t>/</a:t>
                      </a:r>
                      <a:r>
                        <a:rPr lang="en-US" sz="900" b="0" dirty="0" err="1">
                          <a:solidFill>
                            <a:srgbClr val="0070C0"/>
                          </a:solidFill>
                        </a:rPr>
                        <a:t>신</a:t>
                      </a:r>
                      <a:r>
                        <a:rPr lang="en-US" sz="900" b="0" dirty="0">
                          <a:solidFill>
                            <a:srgbClr val="0070C0"/>
                          </a:solidFill>
                        </a:rPr>
                        <a:t>(New) </a:t>
                      </a:r>
                      <a:r>
                        <a:rPr lang="en-US" sz="900" b="0" dirty="0" err="1">
                          <a:solidFill>
                            <a:srgbClr val="0070C0"/>
                          </a:solidFill>
                        </a:rPr>
                        <a:t>치토세</a:t>
                      </a:r>
                      <a:endParaRPr sz="900" b="0" dirty="0">
                        <a:solidFill>
                          <a:srgbClr val="0070C0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2751862034"/>
                  </a:ext>
                </a:extLst>
              </a:tr>
              <a:tr h="173247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>
                          <a:solidFill>
                            <a:srgbClr val="0070C0"/>
                          </a:solidFill>
                        </a:rPr>
                        <a:t>NGO</a:t>
                      </a:r>
                      <a:endParaRPr sz="900" dirty="0">
                        <a:solidFill>
                          <a:srgbClr val="0070C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900" b="0" dirty="0">
                          <a:solidFill>
                            <a:srgbClr val="0070C0"/>
                          </a:solidFill>
                        </a:rPr>
                        <a:t>나고야</a:t>
                      </a:r>
                      <a:r>
                        <a:rPr lang="en-US" altLang="ko-KR" sz="900" b="0" dirty="0">
                          <a:solidFill>
                            <a:srgbClr val="0070C0"/>
                          </a:solidFill>
                        </a:rPr>
                        <a:t>/</a:t>
                      </a:r>
                      <a:r>
                        <a:rPr lang="ko-KR" altLang="en-US" sz="900" b="0" dirty="0">
                          <a:solidFill>
                            <a:srgbClr val="0070C0"/>
                          </a:solidFill>
                        </a:rPr>
                        <a:t>주부</a:t>
                      </a:r>
                      <a:r>
                        <a:rPr lang="en-US" altLang="ko-KR" sz="900" b="0" dirty="0">
                          <a:solidFill>
                            <a:srgbClr val="0070C0"/>
                          </a:solidFill>
                        </a:rPr>
                        <a:t>(Chubu </a:t>
                      </a:r>
                      <a:r>
                        <a:rPr lang="en-US" altLang="ko-KR" sz="900" b="0" dirty="0" err="1">
                          <a:solidFill>
                            <a:srgbClr val="0070C0"/>
                          </a:solidFill>
                        </a:rPr>
                        <a:t>Centrair</a:t>
                      </a:r>
                      <a:r>
                        <a:rPr lang="en-US" altLang="ko-KR" sz="900" b="0" dirty="0">
                          <a:solidFill>
                            <a:srgbClr val="0070C0"/>
                          </a:solidFill>
                        </a:rPr>
                        <a:t>)</a:t>
                      </a:r>
                      <a:endParaRPr sz="900" b="0" dirty="0">
                        <a:solidFill>
                          <a:srgbClr val="0070C0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2116662300"/>
                  </a:ext>
                </a:extLst>
              </a:tr>
              <a:tr h="173247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>
                          <a:solidFill>
                            <a:srgbClr val="0070C0"/>
                          </a:solidFill>
                        </a:rPr>
                        <a:t>FUK</a:t>
                      </a:r>
                      <a:endParaRPr sz="900" dirty="0"/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900" dirty="0">
                          <a:solidFill>
                            <a:srgbClr val="0070C0"/>
                          </a:solidFill>
                        </a:rPr>
                        <a:t>후쿠오카</a:t>
                      </a:r>
                      <a:endParaRPr sz="900" dirty="0"/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32924141"/>
                  </a:ext>
                </a:extLst>
              </a:tr>
              <a:tr h="173247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900" dirty="0">
                          <a:solidFill>
                            <a:srgbClr val="0070C0"/>
                          </a:solidFill>
                        </a:rPr>
                        <a:t>AOJ</a:t>
                      </a:r>
                      <a:endParaRPr sz="900" dirty="0"/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ko-KR" altLang="en-US" sz="900" dirty="0">
                          <a:solidFill>
                            <a:srgbClr val="0070C0"/>
                          </a:solidFill>
                        </a:rPr>
                        <a:t>아오모리</a:t>
                      </a:r>
                      <a:endParaRPr lang="ko-KR" altLang="en-US" sz="900" dirty="0"/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3288258191"/>
                  </a:ext>
                </a:extLst>
              </a:tr>
              <a:tr h="173247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900" dirty="0">
                          <a:solidFill>
                            <a:srgbClr val="0070C0"/>
                          </a:solidFill>
                        </a:rPr>
                        <a:t>KIJ</a:t>
                      </a:r>
                      <a:endParaRPr lang="en-US" altLang="ko-Kore-KR" sz="900" dirty="0"/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ko-KR" altLang="en-US" sz="900" dirty="0">
                          <a:solidFill>
                            <a:srgbClr val="0070C0"/>
                          </a:solidFill>
                        </a:rPr>
                        <a:t>니가타</a:t>
                      </a:r>
                      <a:endParaRPr lang="ko-KR" altLang="en-US" sz="900" dirty="0"/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3717996534"/>
                  </a:ext>
                </a:extLst>
              </a:tr>
            </a:tbl>
          </a:graphicData>
        </a:graphic>
      </p:graphicFrame>
      <p:sp>
        <p:nvSpPr>
          <p:cNvPr id="3" name="직사각형 2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F54BE12C-20D3-D21D-7388-B79C76711DD9}"/>
              </a:ext>
            </a:extLst>
          </p:cNvPr>
          <p:cNvSpPr/>
          <p:nvPr/>
        </p:nvSpPr>
        <p:spPr>
          <a:xfrm>
            <a:off x="847353" y="527797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3" action="ppaction://hlinksldjump"/>
              </a:rPr>
              <a:t>Japan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38239254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8" name="Google Shape;88;p1"/>
          <p:cNvGraphicFramePr/>
          <p:nvPr>
            <p:extLst>
              <p:ext uri="{D42A27DB-BD31-4B8C-83A1-F6EECF244321}">
                <p14:modId xmlns:p14="http://schemas.microsoft.com/office/powerpoint/2010/main" val="1843306757"/>
              </p:ext>
            </p:extLst>
          </p:nvPr>
        </p:nvGraphicFramePr>
        <p:xfrm>
          <a:off x="98101" y="37355"/>
          <a:ext cx="1874000" cy="539496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937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37000">
                  <a:extLst>
                    <a:ext uri="{9D8B030D-6E8A-4147-A177-3AD203B41FA5}">
                      <a16:colId xmlns:a16="http://schemas.microsoft.com/office/drawing/2014/main" val="2763461019"/>
                    </a:ext>
                  </a:extLst>
                </a:gridCol>
              </a:tblGrid>
              <a:tr h="249848"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b="1" u="none" strike="noStrike" cap="none" dirty="0">
                          <a:solidFill>
                            <a:schemeClr val="bg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China </a:t>
                      </a:r>
                      <a:endParaRPr sz="1800" b="1" u="none" strike="noStrike" cap="none" dirty="0">
                        <a:solidFill>
                          <a:schemeClr val="bg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73297171"/>
                  </a:ext>
                </a:extLst>
              </a:tr>
              <a:tr h="22208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00B05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3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GMP</a:t>
                      </a:r>
                      <a:endParaRPr lang="en-US" altLang="ko-Kore-KR" sz="1600" b="1" i="0" u="none" strike="noStrike" cap="none" dirty="0">
                        <a:solidFill>
                          <a:srgbClr val="00B05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00B05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4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SHA</a:t>
                      </a:r>
                      <a:endParaRPr lang="en-US" altLang="ko-Kore-KR" sz="1600" b="1" i="0" u="none" strike="noStrike" cap="none" dirty="0">
                        <a:solidFill>
                          <a:srgbClr val="00B05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208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00B05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5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GMP</a:t>
                      </a:r>
                      <a:endParaRPr lang="en-US" altLang="ko-Kore-KR" sz="1600" b="1" i="0" u="none" strike="noStrike" cap="none" dirty="0">
                        <a:solidFill>
                          <a:srgbClr val="00B05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00B05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6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PEK</a:t>
                      </a:r>
                      <a:endParaRPr lang="en-US" altLang="ko-Kore-KR" sz="1600" b="1" i="0" u="none" strike="noStrike" cap="none" dirty="0">
                        <a:solidFill>
                          <a:srgbClr val="00B05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208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FF000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7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CJU</a:t>
                      </a:r>
                      <a:endParaRPr lang="en-US" altLang="ko-Kore-KR" sz="1600" b="1" i="0" u="none" strike="noStrike" cap="none" dirty="0">
                        <a:solidFill>
                          <a:srgbClr val="FF000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00B05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8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PEK</a:t>
                      </a:r>
                      <a:endParaRPr lang="en-US" altLang="ko-Kore-KR" sz="1600" b="1" i="0" u="none" strike="noStrike" cap="none" dirty="0">
                        <a:solidFill>
                          <a:srgbClr val="00B05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2208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FF000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9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PUS</a:t>
                      </a:r>
                      <a:endParaRPr lang="en-US" altLang="ko-Kore-KR" sz="1600" b="1" i="0" u="none" strike="noStrike" cap="none" dirty="0">
                        <a:solidFill>
                          <a:srgbClr val="FF000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00B05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10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PVG</a:t>
                      </a:r>
                      <a:endParaRPr lang="en-US" altLang="ko-Kore-KR" sz="1600" b="1" i="0" u="none" strike="noStrike" cap="none" dirty="0">
                        <a:solidFill>
                          <a:srgbClr val="00B05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2251775616"/>
                  </a:ext>
                </a:extLst>
              </a:tr>
              <a:tr h="22208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00B05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11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ICN</a:t>
                      </a:r>
                      <a:endParaRPr lang="en-US" altLang="ko-Kore-KR" sz="1600" b="1" i="0" u="none" strike="noStrike" cap="none" dirty="0">
                        <a:solidFill>
                          <a:srgbClr val="00B05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00B05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12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NKG</a:t>
                      </a:r>
                      <a:endParaRPr lang="en-US" altLang="ko-Kore-KR" sz="1600" b="1" i="0" u="none" strike="noStrike" cap="none" dirty="0">
                        <a:solidFill>
                          <a:srgbClr val="00B05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2208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00B05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13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ICN</a:t>
                      </a:r>
                      <a:endParaRPr lang="en-US" altLang="ko-Kore-KR" sz="1600" b="1" i="0" u="none" strike="noStrike" cap="none" dirty="0">
                        <a:solidFill>
                          <a:srgbClr val="00B05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00B05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14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TAO</a:t>
                      </a:r>
                      <a:endParaRPr lang="en-US" altLang="ko-Kore-KR" sz="1600" b="1" i="0" u="none" strike="noStrike" cap="none" dirty="0">
                        <a:solidFill>
                          <a:srgbClr val="00B05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2208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00B05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15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ICN</a:t>
                      </a:r>
                      <a:endParaRPr lang="en-US" altLang="ko-Kore-KR" sz="1600" b="1" i="0" u="none" strike="noStrike" cap="none" dirty="0">
                        <a:solidFill>
                          <a:srgbClr val="00B05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00B05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16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PEK</a:t>
                      </a:r>
                      <a:endParaRPr lang="en-US" altLang="ko-Kore-KR" sz="1600" b="1" i="0" u="none" strike="noStrike" cap="none" dirty="0">
                        <a:solidFill>
                          <a:srgbClr val="00B05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2208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00B05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17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ICN</a:t>
                      </a:r>
                      <a:endParaRPr lang="en-US" altLang="ko-Kore-KR" sz="1600" b="1" i="0" u="none" strike="noStrike" cap="none" dirty="0">
                        <a:solidFill>
                          <a:srgbClr val="00B05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00B05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18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SHE</a:t>
                      </a:r>
                      <a:endParaRPr lang="en-US" altLang="ko-Kore-KR" sz="1600" b="1" i="0" u="none" strike="noStrike" cap="none" dirty="0">
                        <a:solidFill>
                          <a:srgbClr val="00B05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2208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00B05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19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ICN</a:t>
                      </a:r>
                      <a:endParaRPr lang="en-US" altLang="ko-Kore-KR" sz="1600" b="1" i="0" u="none" strike="noStrike" cap="none" dirty="0">
                        <a:solidFill>
                          <a:srgbClr val="00B05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00B05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20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PVG</a:t>
                      </a:r>
                      <a:endParaRPr lang="en-US" altLang="ko-Kore-KR" sz="1600" b="1" i="0" u="none" strike="noStrike" cap="none" dirty="0">
                        <a:solidFill>
                          <a:srgbClr val="00B05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2208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00B05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21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ICN</a:t>
                      </a:r>
                      <a:endParaRPr lang="en-US" altLang="ko-Kore-KR" sz="1600" b="1" i="0" u="none" strike="noStrike" cap="none" dirty="0">
                        <a:solidFill>
                          <a:srgbClr val="00B05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C0000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22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YNJ</a:t>
                      </a:r>
                      <a:endParaRPr lang="en-US" altLang="ko-Kore-KR" sz="1600" b="1" i="0" u="none" strike="noStrike" cap="none" dirty="0">
                        <a:solidFill>
                          <a:srgbClr val="C0000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2208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00B05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23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ICN</a:t>
                      </a:r>
                      <a:r>
                        <a:rPr lang="en-US" altLang="ko-Kore-KR" sz="1600" b="0" u="none" strike="noStrike" cap="none" dirty="0">
                          <a:solidFill>
                            <a:srgbClr val="00B050"/>
                          </a:solidFill>
                          <a:latin typeface="Calibri"/>
                          <a:cs typeface="Calibri"/>
                          <a:sym typeface="Calibri"/>
                          <a:hlinkClick r:id="rId23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 </a:t>
                      </a:r>
                      <a:endParaRPr lang="en-US" altLang="ko-Kore-KR" sz="1600" b="0" u="none" strike="noStrike" cap="none" dirty="0">
                        <a:solidFill>
                          <a:srgbClr val="00B050"/>
                        </a:solidFill>
                        <a:latin typeface="Calibri"/>
                        <a:cs typeface="Calibri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00B05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24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HGH</a:t>
                      </a:r>
                      <a:endParaRPr lang="en-US" altLang="ko-Kore-KR" sz="1600" b="1" i="0" u="none" strike="noStrike" cap="none" dirty="0">
                        <a:solidFill>
                          <a:srgbClr val="00B05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2208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00B05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25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ICN</a:t>
                      </a:r>
                      <a:endParaRPr lang="en-US" altLang="ko-Kore-KR" sz="1600" b="1" i="0" u="none" strike="noStrike" cap="none" dirty="0">
                        <a:solidFill>
                          <a:srgbClr val="00B05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00B05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26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WHE</a:t>
                      </a:r>
                      <a:endParaRPr lang="en-US" altLang="ko-Kore-KR" sz="1600" b="1" i="0" u="none" strike="noStrike" cap="none" dirty="0">
                        <a:solidFill>
                          <a:srgbClr val="00B05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3963828124"/>
                  </a:ext>
                </a:extLst>
              </a:tr>
              <a:tr h="22208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00B05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27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ICN</a:t>
                      </a:r>
                      <a:endParaRPr lang="en-US" altLang="ko-Kore-KR" sz="1600" b="1" i="0" u="none" strike="noStrike" cap="none" dirty="0">
                        <a:solidFill>
                          <a:srgbClr val="00B05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00B05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28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XIY</a:t>
                      </a:r>
                      <a:endParaRPr lang="en-US" altLang="ko-Kore-KR" sz="1600" b="1" i="0" u="none" strike="noStrike" cap="none" dirty="0">
                        <a:solidFill>
                          <a:srgbClr val="00B05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527194592"/>
                  </a:ext>
                </a:extLst>
              </a:tr>
              <a:tr h="22208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00B05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29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ICN</a:t>
                      </a:r>
                      <a:endParaRPr lang="en-US" altLang="ko-Kore-KR" sz="1600" b="1" i="0" u="none" strike="noStrike" cap="none" dirty="0">
                        <a:solidFill>
                          <a:srgbClr val="00B05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00B05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30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CSX</a:t>
                      </a:r>
                      <a:endParaRPr lang="en-US" altLang="ko-Kore-KR" sz="1600" b="1" i="0" u="none" strike="noStrike" cap="none" dirty="0">
                        <a:solidFill>
                          <a:srgbClr val="00B05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3333127348"/>
                  </a:ext>
                </a:extLst>
              </a:tr>
              <a:tr h="22208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00B05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31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ICN</a:t>
                      </a:r>
                      <a:endParaRPr lang="en-US" altLang="ko-Kore-KR" sz="1600" b="1" i="0" u="none" strike="noStrike" cap="none" dirty="0">
                        <a:solidFill>
                          <a:srgbClr val="00B05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C0000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32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HKG</a:t>
                      </a:r>
                      <a:endParaRPr lang="en-US" altLang="ko-Kore-KR" sz="1600" b="1" i="0" u="none" strike="noStrike" cap="none" dirty="0">
                        <a:solidFill>
                          <a:srgbClr val="C0000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9315092"/>
                  </a:ext>
                </a:extLst>
              </a:tr>
              <a:tr h="22208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00B05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33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ICN</a:t>
                      </a:r>
                      <a:endParaRPr lang="en-US" altLang="ko-Kore-KR" sz="1600" b="1" i="0" u="none" strike="noStrike" cap="none" dirty="0">
                        <a:solidFill>
                          <a:srgbClr val="00B05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00B05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34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TSN</a:t>
                      </a:r>
                      <a:endParaRPr lang="en-US" altLang="ko-Kore-KR" sz="1600" b="1" i="0" u="none" strike="noStrike" cap="none" dirty="0">
                        <a:solidFill>
                          <a:srgbClr val="00B05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86937921"/>
                  </a:ext>
                </a:extLst>
              </a:tr>
              <a:tr h="22208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00B05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35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ICN</a:t>
                      </a:r>
                      <a:endParaRPr lang="en-US" altLang="ko-Kore-KR" sz="1600" b="1" i="0" u="none" strike="noStrike" cap="none" dirty="0">
                        <a:solidFill>
                          <a:srgbClr val="00B05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00B05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36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CGO</a:t>
                      </a:r>
                      <a:endParaRPr lang="en-US" altLang="ko-Kore-KR" sz="1600" b="1" i="0" u="none" strike="noStrike" cap="none" dirty="0">
                        <a:solidFill>
                          <a:srgbClr val="00B05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46554646"/>
                  </a:ext>
                </a:extLst>
              </a:tr>
              <a:tr h="22208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00B05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37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ICN</a:t>
                      </a:r>
                      <a:endParaRPr lang="en-US" altLang="ko-Kore-KR" sz="1600" b="1" i="0" u="none" strike="noStrike" cap="none" dirty="0">
                        <a:solidFill>
                          <a:srgbClr val="00B05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C0000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38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DYG</a:t>
                      </a:r>
                      <a:endParaRPr lang="en-US" altLang="ko-Kore-KR" sz="1600" b="1" i="0" u="none" strike="noStrike" cap="none" dirty="0">
                        <a:solidFill>
                          <a:srgbClr val="C0000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2669722112"/>
                  </a:ext>
                </a:extLst>
              </a:tr>
              <a:tr h="22208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00B05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39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ICN</a:t>
                      </a:r>
                      <a:endParaRPr lang="en-US" altLang="ko-Kore-KR" sz="1600" b="1" i="0" u="none" strike="noStrike" cap="none" dirty="0">
                        <a:solidFill>
                          <a:srgbClr val="00B05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C0000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40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DLC</a:t>
                      </a:r>
                      <a:endParaRPr lang="en-US" altLang="ko-Kore-KR" sz="1600" b="1" i="0" u="none" strike="noStrike" cap="none" dirty="0">
                        <a:solidFill>
                          <a:srgbClr val="C0000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252244187"/>
                  </a:ext>
                </a:extLst>
              </a:tr>
              <a:tr h="22208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00B05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41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ICN</a:t>
                      </a:r>
                      <a:endParaRPr lang="en-US" altLang="ko-Kore-KR" sz="1600" b="1" i="0" u="none" strike="noStrike" cap="none" dirty="0">
                        <a:solidFill>
                          <a:srgbClr val="00B05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00B05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42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HFE</a:t>
                      </a:r>
                      <a:endParaRPr lang="en-US" altLang="ko-Kore-KR" sz="1600" b="1" i="0" u="none" strike="noStrike" cap="none" dirty="0">
                        <a:solidFill>
                          <a:srgbClr val="00B05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3088364482"/>
                  </a:ext>
                </a:extLst>
              </a:tr>
              <a:tr h="22208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00B05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43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ICN</a:t>
                      </a:r>
                      <a:endParaRPr lang="en-US" altLang="ko-Kore-KR" sz="1600" b="1" i="0" u="none" strike="noStrike" cap="none" dirty="0">
                        <a:solidFill>
                          <a:srgbClr val="00B05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C0000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44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KMG</a:t>
                      </a:r>
                      <a:endParaRPr lang="en-US" altLang="ko-Kore-KR" sz="1600" b="1" i="0" u="none" strike="noStrike" cap="none" dirty="0">
                        <a:solidFill>
                          <a:srgbClr val="C0000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2830567129"/>
                  </a:ext>
                </a:extLst>
              </a:tr>
            </a:tbl>
          </a:graphicData>
        </a:graphic>
      </p:graphicFrame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1A5500FA-F79C-DB43-B11F-C2A523428F55}"/>
              </a:ext>
            </a:extLst>
          </p:cNvPr>
          <p:cNvSpPr/>
          <p:nvPr/>
        </p:nvSpPr>
        <p:spPr>
          <a:xfrm>
            <a:off x="1807162" y="2015807"/>
            <a:ext cx="644531" cy="138499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" action="ppaction://hlinkshowjump?jump=firstslide"/>
              </a:rPr>
              <a:t>H</a:t>
            </a:r>
          </a:p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" action="ppaction://hlinkshowjump?jump=firstslide"/>
              </a:rPr>
              <a:t>O</a:t>
            </a:r>
          </a:p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" action="ppaction://hlinkshowjump?jump=firstslide"/>
              </a:rPr>
              <a:t>M</a:t>
            </a:r>
          </a:p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" action="ppaction://hlinkshowjump?jump=firstslide"/>
              </a:rPr>
              <a:t>E</a:t>
            </a:r>
          </a:p>
          <a:p>
            <a:pPr algn="ctr"/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39836938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70" name="Google Shape;370;p27"/>
          <p:cNvGraphicFramePr/>
          <p:nvPr>
            <p:extLst>
              <p:ext uri="{D42A27DB-BD31-4B8C-83A1-F6EECF244321}">
                <p14:modId xmlns:p14="http://schemas.microsoft.com/office/powerpoint/2010/main" val="3485572267"/>
              </p:ext>
            </p:extLst>
          </p:nvPr>
        </p:nvGraphicFramePr>
        <p:xfrm>
          <a:off x="0" y="0"/>
          <a:ext cx="2328875" cy="28498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3288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WELCOME PA </a:t>
                      </a:r>
                      <a:endParaRPr sz="1100" b="1" dirty="0">
                        <a:solidFill>
                          <a:srgbClr val="FFC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45725" marB="45725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2038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손님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여러분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, 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안녕하십니까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?</a:t>
                      </a:r>
                      <a:endParaRPr lang="ko-Kore-KR" altLang="en-US" sz="800" dirty="0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저는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여러분을 모시고 가는 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기장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___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입니다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.</a:t>
                      </a:r>
                      <a:endParaRPr lang="ko-Kore-KR" altLang="en-US" sz="800" dirty="0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저희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대한항공을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이용해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주셔서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대단히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고맙습니다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.</a:t>
                      </a:r>
                      <a:endParaRPr lang="ko-Kore-KR" altLang="en-US" sz="800" dirty="0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___ (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국제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)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공항까지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비행시간은 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___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시간 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___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분 </a:t>
                      </a:r>
                      <a:r>
                        <a:rPr lang="ko-KR" alt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으로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예상됩니다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.</a:t>
                      </a: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비행 중에는 항공기가 갑자기 흔들릴 수도 있으니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,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자리에 않아 계실 때에는 항상 좌석벨트를 매주시기 바랍니다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.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(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저희 승무원 모두는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)</a:t>
                      </a:r>
                      <a:endParaRPr sz="8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저는 여러분을 안전하게 모시기 위해 최선을 다하겠습니다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.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고맙습니다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.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endParaRPr sz="8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06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Good morning (afternoon /evening), ladies and gentlemen.</a:t>
                      </a:r>
                      <a:endParaRPr lang="ko-Kore-KR" altLang="en-US" sz="9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This is captain </a:t>
                      </a:r>
                      <a:r>
                        <a:rPr lang="en-US" sz="900" b="1" u="sng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last name</a:t>
                      </a:r>
                      <a:r>
                        <a:rPr 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speaking. </a:t>
                      </a:r>
                      <a:endParaRPr lang="ko-Kore-KR" altLang="en-US" sz="9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Welcome aboard Korean Air. 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This flight is bound for ___(international) airport</a:t>
                      </a:r>
                      <a:r>
                        <a:rPr lang="ko-KR" alt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altLang="ko-KR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and our flight time is ___ hours(s) and minutes.</a:t>
                      </a:r>
                      <a:r>
                        <a:rPr 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endParaRPr lang="ko-Kore-KR" altLang="en-US" sz="9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For your safety, keep your seatbelts fastened while you are seated. 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Thank you for choosing </a:t>
                      </a:r>
                      <a:r>
                        <a:rPr lang="en-US" sz="9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Koreanair</a:t>
                      </a:r>
                      <a:r>
                        <a:rPr 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. 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Please enjoy your flight. </a:t>
                      </a:r>
                      <a:endParaRPr sz="9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371" name="Google Shape;371;p27"/>
          <p:cNvGraphicFramePr/>
          <p:nvPr>
            <p:extLst>
              <p:ext uri="{D42A27DB-BD31-4B8C-83A1-F6EECF244321}">
                <p14:modId xmlns:p14="http://schemas.microsoft.com/office/powerpoint/2010/main" val="541866836"/>
              </p:ext>
            </p:extLst>
          </p:nvPr>
        </p:nvGraphicFramePr>
        <p:xfrm>
          <a:off x="66044" y="2884010"/>
          <a:ext cx="1878761" cy="262128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7277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0598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24961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1000" b="1" dirty="0">
                          <a:solidFill>
                            <a:schemeClr val="bg1"/>
                          </a:solidFill>
                        </a:rPr>
                        <a:t>China</a:t>
                      </a:r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900" b="0" dirty="0">
                          <a:solidFill>
                            <a:schemeClr val="bg1"/>
                          </a:solidFill>
                        </a:rPr>
                        <a:t>China</a:t>
                      </a: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2912171646"/>
                  </a:ext>
                </a:extLst>
              </a:tr>
              <a:tr h="11465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>
                          <a:solidFill>
                            <a:srgbClr val="00B050"/>
                          </a:solidFill>
                        </a:rPr>
                        <a:t>SHA</a:t>
                      </a:r>
                      <a:endParaRPr sz="900" dirty="0">
                        <a:solidFill>
                          <a:srgbClr val="00B050"/>
                        </a:solidFill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900" b="0" dirty="0">
                          <a:solidFill>
                            <a:srgbClr val="00B050"/>
                          </a:solidFill>
                        </a:rPr>
                        <a:t>상하이</a:t>
                      </a:r>
                      <a:r>
                        <a:rPr lang="en-US" altLang="ko-KR" sz="900" b="0" dirty="0">
                          <a:solidFill>
                            <a:srgbClr val="00B050"/>
                          </a:solidFill>
                        </a:rPr>
                        <a:t>/</a:t>
                      </a:r>
                      <a:r>
                        <a:rPr lang="ko-KR" altLang="en-US" sz="900" b="0" dirty="0" err="1">
                          <a:solidFill>
                            <a:srgbClr val="00B050"/>
                          </a:solidFill>
                        </a:rPr>
                        <a:t>홍차오</a:t>
                      </a:r>
                      <a:endParaRPr sz="900" b="0" dirty="0">
                        <a:solidFill>
                          <a:srgbClr val="00B050"/>
                        </a:solidFill>
                      </a:endParaRP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1465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>
                          <a:solidFill>
                            <a:srgbClr val="00B050"/>
                          </a:solidFill>
                        </a:rPr>
                        <a:t>NKG</a:t>
                      </a:r>
                      <a:endParaRPr sz="900" dirty="0">
                        <a:solidFill>
                          <a:srgbClr val="00B050"/>
                        </a:solidFill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900" b="0" dirty="0">
                          <a:solidFill>
                            <a:srgbClr val="00B050"/>
                          </a:solidFill>
                        </a:rPr>
                        <a:t>난징</a:t>
                      </a:r>
                      <a:r>
                        <a:rPr lang="en-US" altLang="ko-KR" sz="900" b="0" dirty="0">
                          <a:solidFill>
                            <a:srgbClr val="00B050"/>
                          </a:solidFill>
                        </a:rPr>
                        <a:t>/</a:t>
                      </a:r>
                      <a:r>
                        <a:rPr lang="ko-KR" altLang="en-US" sz="900" b="0" dirty="0" err="1">
                          <a:solidFill>
                            <a:srgbClr val="00B050"/>
                          </a:solidFill>
                        </a:rPr>
                        <a:t>루커우</a:t>
                      </a:r>
                      <a:endParaRPr sz="900" b="0" dirty="0">
                        <a:solidFill>
                          <a:srgbClr val="00B050"/>
                        </a:solidFill>
                      </a:endParaRP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1465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>
                          <a:solidFill>
                            <a:srgbClr val="00B050"/>
                          </a:solidFill>
                        </a:rPr>
                        <a:t>TAO</a:t>
                      </a:r>
                      <a:endParaRPr sz="900" dirty="0">
                        <a:solidFill>
                          <a:srgbClr val="00B050"/>
                        </a:solidFill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900" b="0" dirty="0">
                          <a:solidFill>
                            <a:srgbClr val="00B050"/>
                          </a:solidFill>
                        </a:rPr>
                        <a:t>칭다오</a:t>
                      </a:r>
                      <a:r>
                        <a:rPr lang="en-US" altLang="ko-KR" sz="900" b="0" dirty="0">
                          <a:solidFill>
                            <a:srgbClr val="00B050"/>
                          </a:solidFill>
                        </a:rPr>
                        <a:t>/</a:t>
                      </a:r>
                      <a:r>
                        <a:rPr lang="ko-KR" altLang="en-US" sz="900" b="0" dirty="0" err="1">
                          <a:solidFill>
                            <a:srgbClr val="00B050"/>
                          </a:solidFill>
                        </a:rPr>
                        <a:t>자오동</a:t>
                      </a:r>
                      <a:endParaRPr sz="900" b="0" dirty="0">
                        <a:solidFill>
                          <a:srgbClr val="00B050"/>
                        </a:solidFill>
                      </a:endParaRP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465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>
                          <a:solidFill>
                            <a:srgbClr val="00B050"/>
                          </a:solidFill>
                        </a:rPr>
                        <a:t>PEK</a:t>
                      </a:r>
                      <a:endParaRPr sz="900" dirty="0">
                        <a:solidFill>
                          <a:srgbClr val="00B050"/>
                        </a:solidFill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900" b="0" dirty="0">
                          <a:solidFill>
                            <a:srgbClr val="00B050"/>
                          </a:solidFill>
                        </a:rPr>
                        <a:t>베이징</a:t>
                      </a:r>
                      <a:r>
                        <a:rPr lang="en-US" altLang="ko-KR" sz="900" b="0" dirty="0">
                          <a:solidFill>
                            <a:srgbClr val="00B050"/>
                          </a:solidFill>
                        </a:rPr>
                        <a:t>/</a:t>
                      </a:r>
                      <a:r>
                        <a:rPr lang="ko-KR" altLang="en-US" sz="900" b="0" dirty="0" err="1">
                          <a:solidFill>
                            <a:srgbClr val="00B050"/>
                          </a:solidFill>
                        </a:rPr>
                        <a:t>소우뚜</a:t>
                      </a:r>
                      <a:r>
                        <a:rPr lang="en-US" altLang="ko-KR" sz="900" b="0" dirty="0">
                          <a:solidFill>
                            <a:srgbClr val="00B050"/>
                          </a:solidFill>
                        </a:rPr>
                        <a:t>(Capital)</a:t>
                      </a:r>
                      <a:endParaRPr sz="900" b="0" dirty="0">
                        <a:solidFill>
                          <a:srgbClr val="00B050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465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>
                          <a:solidFill>
                            <a:srgbClr val="00B050"/>
                          </a:solidFill>
                        </a:rPr>
                        <a:t>SHE</a:t>
                      </a:r>
                      <a:endParaRPr sz="900" dirty="0">
                        <a:solidFill>
                          <a:srgbClr val="00B050"/>
                        </a:solidFill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900" b="0" dirty="0">
                          <a:solidFill>
                            <a:srgbClr val="00B050"/>
                          </a:solidFill>
                        </a:rPr>
                        <a:t>선양</a:t>
                      </a:r>
                      <a:r>
                        <a:rPr lang="en-US" altLang="ko-KR" sz="900" b="0" dirty="0">
                          <a:solidFill>
                            <a:srgbClr val="00B050"/>
                          </a:solidFill>
                        </a:rPr>
                        <a:t>/</a:t>
                      </a:r>
                      <a:r>
                        <a:rPr lang="ko-KR" altLang="en-US" sz="900" b="0" dirty="0" err="1">
                          <a:solidFill>
                            <a:srgbClr val="00B050"/>
                          </a:solidFill>
                        </a:rPr>
                        <a:t>탸오쎈</a:t>
                      </a:r>
                      <a:endParaRPr sz="900" b="0" dirty="0">
                        <a:solidFill>
                          <a:srgbClr val="00B050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1465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>
                          <a:solidFill>
                            <a:srgbClr val="00B050"/>
                          </a:solidFill>
                        </a:rPr>
                        <a:t>PVG</a:t>
                      </a:r>
                      <a:endParaRPr sz="900" dirty="0">
                        <a:solidFill>
                          <a:srgbClr val="00B050"/>
                        </a:solidFill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900" b="0" dirty="0">
                          <a:solidFill>
                            <a:srgbClr val="00B050"/>
                          </a:solidFill>
                        </a:rPr>
                        <a:t>상하이</a:t>
                      </a:r>
                      <a:r>
                        <a:rPr lang="en-US" altLang="ko-KR" sz="900" b="0" dirty="0">
                          <a:solidFill>
                            <a:srgbClr val="00B050"/>
                          </a:solidFill>
                        </a:rPr>
                        <a:t>/</a:t>
                      </a:r>
                      <a:r>
                        <a:rPr lang="ko-KR" altLang="en-US" sz="900" b="0" dirty="0" err="1">
                          <a:solidFill>
                            <a:srgbClr val="00B050"/>
                          </a:solidFill>
                        </a:rPr>
                        <a:t>푸동</a:t>
                      </a:r>
                      <a:endParaRPr sz="900" b="0" dirty="0">
                        <a:solidFill>
                          <a:srgbClr val="00B050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465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>
                          <a:solidFill>
                            <a:srgbClr val="00B050"/>
                          </a:solidFill>
                        </a:rPr>
                        <a:t>YNJ</a:t>
                      </a:r>
                      <a:endParaRPr sz="900" dirty="0">
                        <a:solidFill>
                          <a:srgbClr val="00B050"/>
                        </a:solidFill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900" b="0" dirty="0">
                          <a:solidFill>
                            <a:srgbClr val="00B050"/>
                          </a:solidFill>
                        </a:rPr>
                        <a:t>옌지</a:t>
                      </a:r>
                      <a:endParaRPr sz="900" b="0" dirty="0">
                        <a:solidFill>
                          <a:srgbClr val="00B050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1465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>
                          <a:solidFill>
                            <a:srgbClr val="00B050"/>
                          </a:solidFill>
                        </a:rPr>
                        <a:t>HGH</a:t>
                      </a:r>
                      <a:endParaRPr sz="900" dirty="0">
                        <a:solidFill>
                          <a:srgbClr val="00B050"/>
                        </a:solidFill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900" b="0" dirty="0" err="1">
                          <a:solidFill>
                            <a:srgbClr val="00B050"/>
                          </a:solidFill>
                        </a:rPr>
                        <a:t>황저우</a:t>
                      </a:r>
                      <a:r>
                        <a:rPr lang="en-US" altLang="ko-KR" sz="900" b="0" dirty="0">
                          <a:solidFill>
                            <a:srgbClr val="00B050"/>
                          </a:solidFill>
                        </a:rPr>
                        <a:t>/</a:t>
                      </a:r>
                      <a:r>
                        <a:rPr lang="ko-KR" altLang="en-US" sz="900" b="0" dirty="0">
                          <a:solidFill>
                            <a:srgbClr val="00B050"/>
                          </a:solidFill>
                        </a:rPr>
                        <a:t>샤오산</a:t>
                      </a:r>
                      <a:endParaRPr sz="900" b="0" dirty="0">
                        <a:solidFill>
                          <a:srgbClr val="00B050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1465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>
                          <a:solidFill>
                            <a:srgbClr val="00B050"/>
                          </a:solidFill>
                        </a:rPr>
                        <a:t>WHE</a:t>
                      </a:r>
                      <a:endParaRPr sz="900" dirty="0">
                        <a:solidFill>
                          <a:srgbClr val="00B050"/>
                        </a:solidFill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900" b="0" dirty="0" err="1">
                          <a:solidFill>
                            <a:srgbClr val="00B050"/>
                          </a:solidFill>
                        </a:rPr>
                        <a:t>웨이하이</a:t>
                      </a:r>
                      <a:r>
                        <a:rPr lang="en-US" altLang="ko-KR" sz="900" b="0" dirty="0">
                          <a:solidFill>
                            <a:srgbClr val="00B050"/>
                          </a:solidFill>
                        </a:rPr>
                        <a:t>/</a:t>
                      </a:r>
                      <a:r>
                        <a:rPr lang="ko-KR" altLang="en-US" sz="900" b="0" dirty="0" err="1">
                          <a:solidFill>
                            <a:srgbClr val="00B050"/>
                          </a:solidFill>
                        </a:rPr>
                        <a:t>따쉐이푸오</a:t>
                      </a:r>
                      <a:endParaRPr sz="900" b="0" dirty="0">
                        <a:solidFill>
                          <a:srgbClr val="00B050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188143320"/>
                  </a:ext>
                </a:extLst>
              </a:tr>
              <a:tr h="11465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>
                          <a:solidFill>
                            <a:srgbClr val="00B050"/>
                          </a:solidFill>
                        </a:rPr>
                        <a:t>XIY</a:t>
                      </a:r>
                      <a:endParaRPr sz="900" dirty="0">
                        <a:solidFill>
                          <a:srgbClr val="AA47F5"/>
                        </a:solidFill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ore-KR" altLang="en-US" sz="900" dirty="0">
                          <a:solidFill>
                            <a:srgbClr val="00B050"/>
                          </a:solidFill>
                        </a:rPr>
                        <a:t>시안</a:t>
                      </a:r>
                      <a:r>
                        <a:rPr lang="en-US" altLang="ko-Kore-KR" sz="900" dirty="0">
                          <a:solidFill>
                            <a:srgbClr val="00B050"/>
                          </a:solidFill>
                        </a:rPr>
                        <a:t>/</a:t>
                      </a:r>
                      <a:r>
                        <a:rPr lang="ko-KR" altLang="en-US" sz="900" dirty="0" err="1">
                          <a:solidFill>
                            <a:srgbClr val="00B050"/>
                          </a:solidFill>
                        </a:rPr>
                        <a:t>시엔양</a:t>
                      </a:r>
                      <a:endParaRPr sz="900" b="0" dirty="0">
                        <a:solidFill>
                          <a:srgbClr val="AA47F5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3275921985"/>
                  </a:ext>
                </a:extLst>
              </a:tr>
              <a:tr h="11465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>
                          <a:solidFill>
                            <a:srgbClr val="00B050"/>
                          </a:solidFill>
                        </a:rPr>
                        <a:t>CSX</a:t>
                      </a:r>
                      <a:endParaRPr sz="900" dirty="0">
                        <a:solidFill>
                          <a:srgbClr val="AA47F5"/>
                        </a:solidFill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900" dirty="0">
                          <a:solidFill>
                            <a:srgbClr val="00B050"/>
                          </a:solidFill>
                        </a:rPr>
                        <a:t>창사</a:t>
                      </a:r>
                      <a:r>
                        <a:rPr lang="en-US" altLang="ko-Kore-KR" sz="900" dirty="0">
                          <a:solidFill>
                            <a:srgbClr val="00B050"/>
                          </a:solidFill>
                        </a:rPr>
                        <a:t>/</a:t>
                      </a:r>
                      <a:r>
                        <a:rPr lang="ko-KR" altLang="en-US" sz="900" dirty="0" err="1">
                          <a:solidFill>
                            <a:srgbClr val="00B050"/>
                          </a:solidFill>
                        </a:rPr>
                        <a:t>후앙후아</a:t>
                      </a:r>
                      <a:endParaRPr sz="900" b="0" dirty="0">
                        <a:solidFill>
                          <a:srgbClr val="AA47F5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491409112"/>
                  </a:ext>
                </a:extLst>
              </a:tr>
              <a:tr h="11465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900" dirty="0">
                          <a:solidFill>
                            <a:srgbClr val="00B050"/>
                          </a:solidFill>
                        </a:rPr>
                        <a:t>HKG</a:t>
                      </a:r>
                      <a:endParaRPr lang="en-US" altLang="ko-Kore-KR" sz="900" dirty="0">
                        <a:solidFill>
                          <a:srgbClr val="AA47F5"/>
                        </a:solidFill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ko-KR" altLang="en-US" sz="900" dirty="0">
                          <a:solidFill>
                            <a:srgbClr val="00B050"/>
                          </a:solidFill>
                        </a:rPr>
                        <a:t>홍콩</a:t>
                      </a:r>
                      <a:endParaRPr lang="en-US" altLang="ko-Kore-KR" sz="900" dirty="0">
                        <a:solidFill>
                          <a:srgbClr val="AA47F5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3246085828"/>
                  </a:ext>
                </a:extLst>
              </a:tr>
              <a:tr h="11465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900" dirty="0">
                          <a:solidFill>
                            <a:srgbClr val="00B050"/>
                          </a:solidFill>
                        </a:rPr>
                        <a:t>TSN</a:t>
                      </a:r>
                      <a:endParaRPr lang="en-US" altLang="ko-Kore-KR" sz="900" dirty="0">
                        <a:solidFill>
                          <a:srgbClr val="AA47F5"/>
                        </a:solidFill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ko-KR" altLang="en-US" sz="900" dirty="0">
                          <a:solidFill>
                            <a:srgbClr val="00B050"/>
                          </a:solidFill>
                        </a:rPr>
                        <a:t>톈진</a:t>
                      </a:r>
                      <a:r>
                        <a:rPr lang="en-US" altLang="ko-KR" sz="900" dirty="0">
                          <a:solidFill>
                            <a:srgbClr val="00B050"/>
                          </a:solidFill>
                        </a:rPr>
                        <a:t>/</a:t>
                      </a:r>
                      <a:r>
                        <a:rPr lang="ko-KR" altLang="en-US" sz="900" dirty="0" err="1">
                          <a:solidFill>
                            <a:srgbClr val="00B050"/>
                          </a:solidFill>
                        </a:rPr>
                        <a:t>빈하이</a:t>
                      </a:r>
                      <a:endParaRPr lang="en-US" altLang="ko-Kore-KR" sz="900" dirty="0">
                        <a:solidFill>
                          <a:srgbClr val="AA47F5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2322049173"/>
                  </a:ext>
                </a:extLst>
              </a:tr>
              <a:tr h="11465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900" dirty="0">
                          <a:solidFill>
                            <a:srgbClr val="00B050"/>
                          </a:solidFill>
                        </a:rPr>
                        <a:t>CGO</a:t>
                      </a:r>
                      <a:endParaRPr lang="en-US" altLang="ko-Kore-KR" sz="900" dirty="0">
                        <a:solidFill>
                          <a:srgbClr val="AA47F5"/>
                        </a:solidFill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ko-KR" altLang="en-US" sz="900" dirty="0" err="1">
                          <a:solidFill>
                            <a:srgbClr val="00B050"/>
                          </a:solidFill>
                        </a:rPr>
                        <a:t>정저우</a:t>
                      </a:r>
                      <a:endParaRPr lang="en-US" altLang="ko-Kore-KR" sz="900" dirty="0">
                        <a:solidFill>
                          <a:srgbClr val="AA47F5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2459961862"/>
                  </a:ext>
                </a:extLst>
              </a:tr>
              <a:tr h="11465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900" dirty="0">
                          <a:solidFill>
                            <a:srgbClr val="00B050"/>
                          </a:solidFill>
                        </a:rPr>
                        <a:t>DYG</a:t>
                      </a:r>
                      <a:endParaRPr lang="en-US" altLang="ko-Kore-KR" sz="900" dirty="0">
                        <a:solidFill>
                          <a:srgbClr val="AA47F5"/>
                        </a:solidFill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ko-KR" altLang="en-US" sz="900" dirty="0" err="1">
                          <a:solidFill>
                            <a:srgbClr val="00B050"/>
                          </a:solidFill>
                        </a:rPr>
                        <a:t>장자제</a:t>
                      </a:r>
                      <a:r>
                        <a:rPr lang="en-US" altLang="ko-KR" sz="900" dirty="0">
                          <a:solidFill>
                            <a:srgbClr val="00B050"/>
                          </a:solidFill>
                        </a:rPr>
                        <a:t>/</a:t>
                      </a:r>
                      <a:r>
                        <a:rPr lang="ko-KR" altLang="en-US" sz="900" dirty="0">
                          <a:solidFill>
                            <a:srgbClr val="00B050"/>
                          </a:solidFill>
                        </a:rPr>
                        <a:t>허화</a:t>
                      </a:r>
                      <a:endParaRPr lang="en-US" altLang="ko-Kore-KR" sz="900" dirty="0">
                        <a:solidFill>
                          <a:srgbClr val="AA47F5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46132794"/>
                  </a:ext>
                </a:extLst>
              </a:tr>
              <a:tr h="11465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900" dirty="0">
                          <a:solidFill>
                            <a:srgbClr val="00B050"/>
                          </a:solidFill>
                        </a:rPr>
                        <a:t>DLC</a:t>
                      </a:r>
                      <a:endParaRPr lang="en-US" altLang="ko-Kore-KR" sz="900" dirty="0">
                        <a:solidFill>
                          <a:srgbClr val="AA47F5"/>
                        </a:solidFill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ko-KR" altLang="en-US" sz="900" dirty="0">
                          <a:solidFill>
                            <a:srgbClr val="00B050"/>
                          </a:solidFill>
                        </a:rPr>
                        <a:t>다롄</a:t>
                      </a:r>
                      <a:r>
                        <a:rPr lang="en-US" altLang="ko-KR" sz="900" dirty="0">
                          <a:solidFill>
                            <a:srgbClr val="00B050"/>
                          </a:solidFill>
                        </a:rPr>
                        <a:t>/</a:t>
                      </a:r>
                      <a:r>
                        <a:rPr lang="ko-KR" altLang="en-US" sz="900" dirty="0" err="1">
                          <a:solidFill>
                            <a:srgbClr val="00B050"/>
                          </a:solidFill>
                        </a:rPr>
                        <a:t>쪼우쑤이쯔</a:t>
                      </a:r>
                      <a:endParaRPr lang="en-US" altLang="ko-Kore-KR" sz="900" dirty="0">
                        <a:solidFill>
                          <a:srgbClr val="AA47F5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944538903"/>
                  </a:ext>
                </a:extLst>
              </a:tr>
              <a:tr h="11465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900" dirty="0">
                          <a:solidFill>
                            <a:srgbClr val="00B050"/>
                          </a:solidFill>
                        </a:rPr>
                        <a:t>HFE</a:t>
                      </a:r>
                      <a:endParaRPr lang="en-US" altLang="ko-Kore-KR" sz="900" dirty="0">
                        <a:solidFill>
                          <a:srgbClr val="AA47F5"/>
                        </a:solidFill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ko-KR" altLang="en-US" sz="900" dirty="0">
                          <a:solidFill>
                            <a:srgbClr val="00B050"/>
                          </a:solidFill>
                        </a:rPr>
                        <a:t>허페이</a:t>
                      </a:r>
                      <a:r>
                        <a:rPr lang="en-US" altLang="ko-KR" sz="900" dirty="0">
                          <a:solidFill>
                            <a:srgbClr val="00B050"/>
                          </a:solidFill>
                        </a:rPr>
                        <a:t>/</a:t>
                      </a:r>
                      <a:r>
                        <a:rPr lang="ko-KR" altLang="en-US" sz="900" dirty="0" err="1">
                          <a:solidFill>
                            <a:srgbClr val="00B050"/>
                          </a:solidFill>
                        </a:rPr>
                        <a:t>신치아오</a:t>
                      </a:r>
                      <a:endParaRPr lang="en-US" altLang="ko-Kore-KR" sz="900" dirty="0">
                        <a:solidFill>
                          <a:srgbClr val="AA47F5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128517652"/>
                  </a:ext>
                </a:extLst>
              </a:tr>
              <a:tr h="11465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900" dirty="0">
                          <a:solidFill>
                            <a:srgbClr val="00B050"/>
                          </a:solidFill>
                        </a:rPr>
                        <a:t>KMG</a:t>
                      </a:r>
                      <a:endParaRPr lang="en-US" altLang="ko-Kore-KR" sz="900" dirty="0">
                        <a:solidFill>
                          <a:srgbClr val="AA47F5"/>
                        </a:solidFill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ko-KR" altLang="en-US" sz="900" dirty="0">
                          <a:solidFill>
                            <a:srgbClr val="00B050"/>
                          </a:solidFill>
                        </a:rPr>
                        <a:t>쿤밍</a:t>
                      </a:r>
                      <a:r>
                        <a:rPr lang="en-US" altLang="ko-KR" sz="900" dirty="0">
                          <a:solidFill>
                            <a:srgbClr val="00B050"/>
                          </a:solidFill>
                        </a:rPr>
                        <a:t>/</a:t>
                      </a:r>
                      <a:r>
                        <a:rPr lang="ko-KR" altLang="en-US" sz="900" dirty="0" err="1">
                          <a:solidFill>
                            <a:srgbClr val="00B050"/>
                          </a:solidFill>
                        </a:rPr>
                        <a:t>창쉐이</a:t>
                      </a:r>
                      <a:endParaRPr lang="en-US" altLang="ko-Kore-KR" sz="900" dirty="0">
                        <a:solidFill>
                          <a:srgbClr val="AA47F5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191254911"/>
                  </a:ext>
                </a:extLst>
              </a:tr>
            </a:tbl>
          </a:graphicData>
        </a:graphic>
      </p:graphicFrame>
      <p:sp>
        <p:nvSpPr>
          <p:cNvPr id="3" name="직사각형 2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F54BE12C-20D3-D21D-7388-B79C76711DD9}"/>
              </a:ext>
            </a:extLst>
          </p:cNvPr>
          <p:cNvSpPr/>
          <p:nvPr/>
        </p:nvSpPr>
        <p:spPr>
          <a:xfrm>
            <a:off x="1829993" y="3464323"/>
            <a:ext cx="644531" cy="138499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3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</a:t>
            </a:r>
          </a:p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3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</a:t>
            </a:r>
          </a:p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3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</a:t>
            </a:r>
          </a:p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3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</a:t>
            </a:r>
          </a:p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3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</a:t>
            </a:r>
          </a:p>
        </p:txBody>
      </p:sp>
    </p:spTree>
    <p:extLst>
      <p:ext uri="{BB962C8B-B14F-4D97-AF65-F5344CB8AC3E}">
        <p14:creationId xmlns:p14="http://schemas.microsoft.com/office/powerpoint/2010/main" val="264058566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8" name="Google Shape;88;p1"/>
          <p:cNvGraphicFramePr/>
          <p:nvPr>
            <p:extLst>
              <p:ext uri="{D42A27DB-BD31-4B8C-83A1-F6EECF244321}">
                <p14:modId xmlns:p14="http://schemas.microsoft.com/office/powerpoint/2010/main" val="4119683204"/>
              </p:ext>
            </p:extLst>
          </p:nvPr>
        </p:nvGraphicFramePr>
        <p:xfrm>
          <a:off x="98101" y="184953"/>
          <a:ext cx="2132650" cy="3851663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0663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66325">
                  <a:extLst>
                    <a:ext uri="{9D8B030D-6E8A-4147-A177-3AD203B41FA5}">
                      <a16:colId xmlns:a16="http://schemas.microsoft.com/office/drawing/2014/main" val="2055015791"/>
                    </a:ext>
                  </a:extLst>
                </a:gridCol>
              </a:tblGrid>
              <a:tr h="453137"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400" b="1" u="none" strike="noStrike" cap="none" dirty="0">
                          <a:solidFill>
                            <a:schemeClr val="bg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S.E Asia</a:t>
                      </a:r>
                      <a:endParaRPr sz="2400" b="1" u="none" strike="noStrike" cap="none" dirty="0">
                        <a:solidFill>
                          <a:schemeClr val="bg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73297171"/>
                  </a:ext>
                </a:extLst>
              </a:tr>
              <a:tr h="377614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7030A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3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ICN</a:t>
                      </a:r>
                      <a:endParaRPr lang="en-US" altLang="ko-Kore-KR" sz="2000" b="1" i="0" u="none" strike="noStrike" cap="none" dirty="0">
                        <a:solidFill>
                          <a:srgbClr val="7030A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7030A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4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CXR</a:t>
                      </a:r>
                      <a:endParaRPr lang="en-US" altLang="ko-Kore-KR" sz="2000" b="1" i="0" u="none" strike="noStrike" cap="none" dirty="0">
                        <a:solidFill>
                          <a:srgbClr val="7030A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377614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7030A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5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ICN</a:t>
                      </a:r>
                      <a:endParaRPr lang="en-US" altLang="ko-Kore-KR" sz="2000" b="1" i="0" u="none" strike="noStrike" cap="none" dirty="0">
                        <a:solidFill>
                          <a:srgbClr val="7030A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7030A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6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SGN</a:t>
                      </a:r>
                      <a:endParaRPr lang="en-US" altLang="ko-Kore-KR" sz="2000" b="1" i="0" u="none" strike="noStrike" cap="none" dirty="0">
                        <a:solidFill>
                          <a:srgbClr val="7030A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823778637"/>
                  </a:ext>
                </a:extLst>
              </a:tr>
              <a:tr h="377614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7030A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7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ICN</a:t>
                      </a:r>
                      <a:endParaRPr lang="en-US" altLang="ko-Kore-KR" sz="2000" b="1" i="0" u="none" strike="noStrike" cap="none" dirty="0">
                        <a:solidFill>
                          <a:srgbClr val="7030A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7030A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8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PNH</a:t>
                      </a:r>
                      <a:endParaRPr lang="en-US" altLang="ko-Kore-KR" sz="2000" b="1" i="0" u="none" strike="noStrike" cap="none" dirty="0">
                        <a:solidFill>
                          <a:srgbClr val="7030A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2064547744"/>
                  </a:ext>
                </a:extLst>
              </a:tr>
              <a:tr h="377614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7030A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9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ICN</a:t>
                      </a:r>
                      <a:endParaRPr lang="en-US" altLang="ko-Kore-KR" sz="2000" b="1" i="0" u="none" strike="noStrike" cap="none" dirty="0">
                        <a:solidFill>
                          <a:srgbClr val="7030A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7030A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10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MNL</a:t>
                      </a:r>
                      <a:endParaRPr lang="en-US" altLang="ko-Kore-KR" sz="2000" b="1" i="0" u="none" strike="noStrike" cap="none" dirty="0">
                        <a:solidFill>
                          <a:srgbClr val="7030A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931868389"/>
                  </a:ext>
                </a:extLst>
              </a:tr>
              <a:tr h="377614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7030A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11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ICN</a:t>
                      </a:r>
                      <a:r>
                        <a:rPr lang="en-US" altLang="ko-Kore-KR" sz="2000" b="0" u="none" strike="noStrike" cap="none" dirty="0">
                          <a:solidFill>
                            <a:srgbClr val="7030A0"/>
                          </a:solidFill>
                          <a:latin typeface="Calibri"/>
                          <a:cs typeface="Calibri"/>
                          <a:sym typeface="Calibri"/>
                          <a:hlinkClick r:id="rId11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 </a:t>
                      </a:r>
                      <a:endParaRPr lang="en-US" altLang="ko-Kore-KR" sz="2000" b="0" u="none" strike="noStrike" cap="none" dirty="0">
                        <a:solidFill>
                          <a:srgbClr val="7030A0"/>
                        </a:solidFill>
                        <a:latin typeface="Calibri"/>
                        <a:cs typeface="Calibri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7030A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12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RMQ</a:t>
                      </a:r>
                      <a:endParaRPr lang="en-US" altLang="ko-Kore-KR" sz="2000" b="1" i="0" u="none" strike="noStrike" cap="none" dirty="0">
                        <a:solidFill>
                          <a:srgbClr val="7030A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4209742540"/>
                  </a:ext>
                </a:extLst>
              </a:tr>
              <a:tr h="377614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7030A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13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ICN</a:t>
                      </a:r>
                      <a:r>
                        <a:rPr lang="en-US" altLang="ko-Kore-KR" sz="2000" b="0" u="none" strike="noStrike" cap="none" dirty="0">
                          <a:solidFill>
                            <a:srgbClr val="7030A0"/>
                          </a:solidFill>
                          <a:latin typeface="Calibri"/>
                          <a:cs typeface="Calibri"/>
                          <a:sym typeface="Calibri"/>
                          <a:hlinkClick r:id="rId13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 </a:t>
                      </a:r>
                      <a:endParaRPr lang="en-US" altLang="ko-Kore-KR" sz="2000" b="0" u="none" strike="noStrike" cap="none" dirty="0">
                        <a:solidFill>
                          <a:srgbClr val="7030A0"/>
                        </a:solidFill>
                        <a:latin typeface="Calibri"/>
                        <a:cs typeface="Calibri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7030A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14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TPE</a:t>
                      </a:r>
                      <a:endParaRPr lang="en-US" altLang="ko-Kore-KR" sz="2000" b="1" i="0" u="none" strike="noStrike" cap="none" dirty="0">
                        <a:solidFill>
                          <a:srgbClr val="7030A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4171315063"/>
                  </a:ext>
                </a:extLst>
              </a:tr>
              <a:tr h="377614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C0000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15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PUS</a:t>
                      </a:r>
                      <a:endParaRPr lang="en-US" altLang="ko-Kore-KR" sz="2000" b="1" i="0" u="none" strike="noStrike" cap="none" dirty="0">
                        <a:solidFill>
                          <a:srgbClr val="C0000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7030A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16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TPE</a:t>
                      </a:r>
                      <a:endParaRPr lang="en-US" altLang="ko-Kore-KR" sz="2000" b="1" i="0" u="none" strike="noStrike" cap="none" dirty="0">
                        <a:solidFill>
                          <a:srgbClr val="7030A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2115064594"/>
                  </a:ext>
                </a:extLst>
              </a:tr>
              <a:tr h="377614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FFFF0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17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ICN</a:t>
                      </a:r>
                      <a:endParaRPr lang="en-US" altLang="ko-Kore-KR" sz="2000" b="1" i="0" u="none" strike="noStrike" cap="none" dirty="0">
                        <a:solidFill>
                          <a:srgbClr val="FFFF0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FFFF0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18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GUM</a:t>
                      </a:r>
                      <a:endParaRPr lang="en-US" altLang="ko-Kore-KR" sz="2000" b="1" i="0" u="none" strike="noStrike" cap="none" dirty="0">
                        <a:solidFill>
                          <a:srgbClr val="FFFF0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3061931844"/>
                  </a:ext>
                </a:extLst>
              </a:tr>
              <a:tr h="377614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C0000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19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PUS</a:t>
                      </a:r>
                      <a:endParaRPr lang="en-US" altLang="ko-Kore-KR" sz="2000" b="1" i="0" u="none" strike="noStrike" cap="none" dirty="0">
                        <a:solidFill>
                          <a:srgbClr val="C0000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7030A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20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BKK</a:t>
                      </a:r>
                      <a:endParaRPr lang="en-US" altLang="ko-Kore-KR" sz="2000" b="1" i="0" u="none" strike="noStrike" cap="none" dirty="0">
                        <a:solidFill>
                          <a:srgbClr val="7030A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3261878942"/>
                  </a:ext>
                </a:extLst>
              </a:tr>
            </a:tbl>
          </a:graphicData>
        </a:graphic>
      </p:graphicFrame>
      <p:graphicFrame>
        <p:nvGraphicFramePr>
          <p:cNvPr id="2" name="Google Shape;90;p1">
            <a:extLst>
              <a:ext uri="{FF2B5EF4-FFF2-40B4-BE49-F238E27FC236}">
                <a16:creationId xmlns:a16="http://schemas.microsoft.com/office/drawing/2014/main" id="{420D4B99-E8E2-695D-C567-AA64CB4A507C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695471260"/>
              </p:ext>
            </p:extLst>
          </p:nvPr>
        </p:nvGraphicFramePr>
        <p:xfrm>
          <a:off x="185895" y="4446365"/>
          <a:ext cx="1969476" cy="55630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96947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781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1" u="none" strike="noStrike" cap="none" dirty="0">
                          <a:solidFill>
                            <a:schemeClr val="bg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Welcome PA</a:t>
                      </a:r>
                      <a:endParaRPr sz="1400" b="1" u="none" strike="noStrike" cap="none" dirty="0">
                        <a:solidFill>
                          <a:schemeClr val="bg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815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1400" b="0" u="none" strike="noStrike" cap="none" dirty="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Next Page</a:t>
                      </a:r>
                    </a:p>
                  </a:txBody>
                  <a:tcPr marL="91450" marR="91450" marT="0" marB="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3" name="직사각형 2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F67BBAE9-B926-F113-1CFE-703A0FA7B23A}"/>
              </a:ext>
            </a:extLst>
          </p:cNvPr>
          <p:cNvSpPr/>
          <p:nvPr/>
        </p:nvSpPr>
        <p:spPr>
          <a:xfrm>
            <a:off x="847353" y="522010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" action="ppaction://hlinkshowjump?jump=firstslide"/>
              </a:rPr>
              <a:t>Home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9116547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70" name="Google Shape;370;p27"/>
          <p:cNvGraphicFramePr/>
          <p:nvPr>
            <p:extLst>
              <p:ext uri="{D42A27DB-BD31-4B8C-83A1-F6EECF244321}">
                <p14:modId xmlns:p14="http://schemas.microsoft.com/office/powerpoint/2010/main" val="271327333"/>
              </p:ext>
            </p:extLst>
          </p:nvPr>
        </p:nvGraphicFramePr>
        <p:xfrm>
          <a:off x="0" y="0"/>
          <a:ext cx="2328875" cy="31462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3288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WELCOME PA</a:t>
                      </a:r>
                      <a:endParaRPr sz="12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45725" marB="45725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03249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손님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여러분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, 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안녕하십니까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? </a:t>
                      </a:r>
                      <a:endParaRPr lang="ko-Kore-KR" altLang="en-US" sz="800" dirty="0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저는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여러분을 모시고 가는 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기장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___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입니다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.</a:t>
                      </a:r>
                      <a:endParaRPr lang="ko-Kore-KR" altLang="en-US" sz="800" dirty="0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저희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대한항공을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이용해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주셔서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대단히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고맙습니다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.</a:t>
                      </a:r>
                      <a:endParaRPr lang="ko-Kore-KR" altLang="en-US" sz="800" dirty="0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___ (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국제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)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공항까지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비행시간은 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___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시간 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___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분 </a:t>
                      </a:r>
                      <a:r>
                        <a:rPr lang="ko-KR" alt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으로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예상됩니다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.</a:t>
                      </a: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비행 중에는 항공기가 갑자기 흔들릴 수도 있으니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,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자리에 않아 계실 때에는 항상 좌석벨트를 매주시기 바랍니다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.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altLang="ko-Kore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저희 승무원 모두는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)</a:t>
                      </a:r>
                      <a:endParaRPr sz="8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저는 여러분을 안전하게 모시기 위해 최선을 다하겠습니다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.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고맙습니다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.</a:t>
                      </a:r>
                      <a:endParaRPr sz="8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06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Good morning (afternoon /evening), ladies and gentlemen.</a:t>
                      </a:r>
                      <a:endParaRPr lang="ko-Kore-KR" altLang="en-US" sz="9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This is captain </a:t>
                      </a:r>
                      <a:r>
                        <a:rPr lang="en-US" sz="900" b="1" u="sng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last name</a:t>
                      </a:r>
                      <a:r>
                        <a:rPr 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speaking. </a:t>
                      </a:r>
                      <a:endParaRPr lang="ko-Kore-KR" altLang="en-US" sz="9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Welcome aboard Korean Air. 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This flight is bound for ___(international) airport</a:t>
                      </a:r>
                      <a:r>
                        <a:rPr lang="ko-KR" alt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altLang="ko-KR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and our flight time is ___ hours(s) and minutes.</a:t>
                      </a:r>
                      <a:r>
                        <a:rPr 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endParaRPr lang="ko-Kore-KR" altLang="en-US" sz="9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For your safety, keep your seatbelts fastened while you are seated. 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Thank you for choosing </a:t>
                      </a:r>
                      <a:r>
                        <a:rPr lang="en-US" sz="9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Koreanair</a:t>
                      </a:r>
                      <a:r>
                        <a:rPr 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. 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Please enjoy your flight. </a:t>
                      </a:r>
                      <a:endParaRPr sz="9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371" name="Google Shape;371;p27"/>
          <p:cNvGraphicFramePr/>
          <p:nvPr>
            <p:extLst>
              <p:ext uri="{D42A27DB-BD31-4B8C-83A1-F6EECF244321}">
                <p14:modId xmlns:p14="http://schemas.microsoft.com/office/powerpoint/2010/main" val="4049633542"/>
              </p:ext>
            </p:extLst>
          </p:nvPr>
        </p:nvGraphicFramePr>
        <p:xfrm>
          <a:off x="114028" y="3146290"/>
          <a:ext cx="2100805" cy="168537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52864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57215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94255"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bg1"/>
                          </a:solidFill>
                        </a:rPr>
                        <a:t>S.E Asia</a:t>
                      </a:r>
                      <a:endParaRPr sz="1100" b="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800" b="0" dirty="0">
                          <a:solidFill>
                            <a:srgbClr val="00B050"/>
                          </a:solidFill>
                        </a:rPr>
                        <a:t>상하이</a:t>
                      </a:r>
                      <a:r>
                        <a:rPr lang="en-US" altLang="ko-KR" sz="800" b="0" dirty="0">
                          <a:solidFill>
                            <a:srgbClr val="00B050"/>
                          </a:solidFill>
                        </a:rPr>
                        <a:t>/</a:t>
                      </a:r>
                      <a:r>
                        <a:rPr lang="ko-KR" altLang="en-US" sz="800" b="0" dirty="0" err="1">
                          <a:solidFill>
                            <a:srgbClr val="00B050"/>
                          </a:solidFill>
                        </a:rPr>
                        <a:t>홍차오</a:t>
                      </a:r>
                      <a:endParaRPr sz="800" b="0" dirty="0">
                        <a:solidFill>
                          <a:srgbClr val="00B050"/>
                        </a:solidFill>
                      </a:endParaRP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639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>
                          <a:solidFill>
                            <a:srgbClr val="7030A0"/>
                          </a:solidFill>
                        </a:rPr>
                        <a:t>CXR</a:t>
                      </a:r>
                      <a:endParaRPr sz="900" dirty="0">
                        <a:solidFill>
                          <a:srgbClr val="7030A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900" b="0" dirty="0">
                          <a:solidFill>
                            <a:srgbClr val="7030A0"/>
                          </a:solidFill>
                        </a:rPr>
                        <a:t>베트남 </a:t>
                      </a:r>
                      <a:r>
                        <a:rPr lang="ko-KR" altLang="en-US" sz="900" b="0" dirty="0" err="1">
                          <a:solidFill>
                            <a:srgbClr val="7030A0"/>
                          </a:solidFill>
                        </a:rPr>
                        <a:t>나짱</a:t>
                      </a:r>
                      <a:r>
                        <a:rPr lang="en-US" altLang="ko-KR" sz="900" b="0" dirty="0">
                          <a:solidFill>
                            <a:srgbClr val="7030A0"/>
                          </a:solidFill>
                        </a:rPr>
                        <a:t>(</a:t>
                      </a:r>
                      <a:r>
                        <a:rPr lang="en-US" altLang="ko-KR" sz="900" b="0" dirty="0" err="1">
                          <a:solidFill>
                            <a:srgbClr val="7030A0"/>
                          </a:solidFill>
                        </a:rPr>
                        <a:t>Nha</a:t>
                      </a:r>
                      <a:r>
                        <a:rPr lang="en-US" altLang="ko-KR" sz="900" b="0" dirty="0">
                          <a:solidFill>
                            <a:srgbClr val="7030A0"/>
                          </a:solidFill>
                        </a:rPr>
                        <a:t> Trang)/</a:t>
                      </a:r>
                      <a:r>
                        <a:rPr lang="ko-KR" altLang="en-US" sz="900" b="0" dirty="0" err="1">
                          <a:solidFill>
                            <a:srgbClr val="7030A0"/>
                          </a:solidFill>
                        </a:rPr>
                        <a:t>깜라인</a:t>
                      </a:r>
                      <a:endParaRPr sz="900" b="0" dirty="0">
                        <a:solidFill>
                          <a:srgbClr val="7030A0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2751862034"/>
                  </a:ext>
                </a:extLst>
              </a:tr>
              <a:tr h="18639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>
                          <a:solidFill>
                            <a:srgbClr val="7030A0"/>
                          </a:solidFill>
                        </a:rPr>
                        <a:t>SGN</a:t>
                      </a:r>
                      <a:endParaRPr sz="900" dirty="0">
                        <a:solidFill>
                          <a:srgbClr val="7030A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900" b="0" dirty="0">
                          <a:solidFill>
                            <a:srgbClr val="7030A0"/>
                          </a:solidFill>
                        </a:rPr>
                        <a:t>베트남 호찌민</a:t>
                      </a:r>
                      <a:r>
                        <a:rPr lang="en-US" altLang="ko-KR" sz="900" b="0" dirty="0">
                          <a:solidFill>
                            <a:srgbClr val="7030A0"/>
                          </a:solidFill>
                        </a:rPr>
                        <a:t>/</a:t>
                      </a:r>
                      <a:r>
                        <a:rPr lang="ko-KR" altLang="en-US" sz="900" b="0" dirty="0" err="1">
                          <a:solidFill>
                            <a:srgbClr val="7030A0"/>
                          </a:solidFill>
                        </a:rPr>
                        <a:t>탄소넛</a:t>
                      </a:r>
                      <a:endParaRPr sz="900" b="0" dirty="0">
                        <a:solidFill>
                          <a:srgbClr val="7030A0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2116662300"/>
                  </a:ext>
                </a:extLst>
              </a:tr>
              <a:tr h="18639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>
                          <a:solidFill>
                            <a:srgbClr val="7030A0"/>
                          </a:solidFill>
                        </a:rPr>
                        <a:t>PNH</a:t>
                      </a:r>
                      <a:endParaRPr sz="900" dirty="0">
                        <a:solidFill>
                          <a:srgbClr val="7030A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900" b="0" dirty="0">
                          <a:solidFill>
                            <a:srgbClr val="7030A0"/>
                          </a:solidFill>
                        </a:rPr>
                        <a:t>캄보디아 프놈펜</a:t>
                      </a:r>
                      <a:endParaRPr sz="900" b="0" dirty="0">
                        <a:solidFill>
                          <a:srgbClr val="7030A0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2526617030"/>
                  </a:ext>
                </a:extLst>
              </a:tr>
              <a:tr h="18639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>
                          <a:solidFill>
                            <a:srgbClr val="7030A0"/>
                          </a:solidFill>
                        </a:rPr>
                        <a:t>MNL</a:t>
                      </a:r>
                      <a:endParaRPr sz="900" dirty="0">
                        <a:solidFill>
                          <a:srgbClr val="7030A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ko-KR" altLang="en-US" sz="900" b="0" dirty="0">
                          <a:solidFill>
                            <a:srgbClr val="7030A0"/>
                          </a:solidFill>
                        </a:rPr>
                        <a:t>필리핀 마닐라</a:t>
                      </a:r>
                      <a:r>
                        <a:rPr lang="en-US" altLang="ko-KR" sz="900" b="0" dirty="0">
                          <a:solidFill>
                            <a:srgbClr val="7030A0"/>
                          </a:solidFill>
                        </a:rPr>
                        <a:t>/</a:t>
                      </a:r>
                      <a:r>
                        <a:rPr lang="ko-KR" altLang="en-US" sz="900" b="0" dirty="0" err="1">
                          <a:solidFill>
                            <a:srgbClr val="7030A0"/>
                          </a:solidFill>
                        </a:rPr>
                        <a:t>니노이</a:t>
                      </a:r>
                      <a:r>
                        <a:rPr lang="ko-KR" altLang="en-US" sz="900" b="0" dirty="0">
                          <a:solidFill>
                            <a:srgbClr val="7030A0"/>
                          </a:solidFill>
                        </a:rPr>
                        <a:t> </a:t>
                      </a:r>
                      <a:r>
                        <a:rPr lang="ko-KR" altLang="en-US" sz="900" b="0" dirty="0" err="1">
                          <a:solidFill>
                            <a:srgbClr val="7030A0"/>
                          </a:solidFill>
                        </a:rPr>
                        <a:t>아키노</a:t>
                      </a:r>
                      <a:endParaRPr lang="ko-KR" altLang="en-US" sz="900" b="0" dirty="0">
                        <a:solidFill>
                          <a:srgbClr val="7030A0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2194080171"/>
                  </a:ext>
                </a:extLst>
              </a:tr>
              <a:tr h="18639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>
                          <a:solidFill>
                            <a:srgbClr val="7030A0"/>
                          </a:solidFill>
                        </a:rPr>
                        <a:t>TPE</a:t>
                      </a:r>
                      <a:endParaRPr sz="900" dirty="0">
                        <a:solidFill>
                          <a:srgbClr val="7030A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ko-KR" altLang="en-US" sz="900" b="0" dirty="0">
                          <a:solidFill>
                            <a:srgbClr val="7030A0"/>
                          </a:solidFill>
                        </a:rPr>
                        <a:t>타이완</a:t>
                      </a:r>
                      <a:r>
                        <a:rPr lang="en-US" altLang="ko-KR" sz="900" b="0" dirty="0">
                          <a:solidFill>
                            <a:srgbClr val="7030A0"/>
                          </a:solidFill>
                        </a:rPr>
                        <a:t>/</a:t>
                      </a:r>
                      <a:r>
                        <a:rPr lang="ko-KR" altLang="en-US" sz="900" b="0" dirty="0">
                          <a:solidFill>
                            <a:srgbClr val="7030A0"/>
                          </a:solidFill>
                        </a:rPr>
                        <a:t>타이페이 </a:t>
                      </a:r>
                      <a:r>
                        <a:rPr lang="ko-KR" altLang="en-US" sz="900" b="0" dirty="0" err="1">
                          <a:solidFill>
                            <a:srgbClr val="7030A0"/>
                          </a:solidFill>
                        </a:rPr>
                        <a:t>타오유엔</a:t>
                      </a:r>
                      <a:endParaRPr lang="ko-KR" altLang="en-US" sz="900" b="0" dirty="0">
                        <a:solidFill>
                          <a:srgbClr val="7030A0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3544170142"/>
                  </a:ext>
                </a:extLst>
              </a:tr>
              <a:tr h="18639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>
                          <a:solidFill>
                            <a:srgbClr val="7030A0"/>
                          </a:solidFill>
                        </a:rPr>
                        <a:t>RMQ</a:t>
                      </a:r>
                      <a:endParaRPr sz="900" dirty="0">
                        <a:solidFill>
                          <a:srgbClr val="7030A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ko-KR" altLang="en-US" sz="900" b="0" dirty="0">
                          <a:solidFill>
                            <a:srgbClr val="7030A0"/>
                          </a:solidFill>
                        </a:rPr>
                        <a:t>타이완</a:t>
                      </a:r>
                      <a:r>
                        <a:rPr lang="en-US" altLang="ko-KR" sz="900" b="0" dirty="0">
                          <a:solidFill>
                            <a:srgbClr val="7030A0"/>
                          </a:solidFill>
                        </a:rPr>
                        <a:t>/</a:t>
                      </a:r>
                      <a:r>
                        <a:rPr lang="ko-KR" altLang="en-US" sz="900" b="0" dirty="0">
                          <a:solidFill>
                            <a:srgbClr val="7030A0"/>
                          </a:solidFill>
                        </a:rPr>
                        <a:t>타이중 </a:t>
                      </a:r>
                      <a:r>
                        <a:rPr lang="ko-KR" altLang="en-US" sz="900" b="0" dirty="0" err="1">
                          <a:solidFill>
                            <a:srgbClr val="7030A0"/>
                          </a:solidFill>
                        </a:rPr>
                        <a:t>칭찬강</a:t>
                      </a:r>
                      <a:endParaRPr lang="ko-KR" altLang="en-US" sz="900" b="0" dirty="0">
                        <a:solidFill>
                          <a:srgbClr val="7030A0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3792024321"/>
                  </a:ext>
                </a:extLst>
              </a:tr>
              <a:tr h="18639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>
                          <a:solidFill>
                            <a:srgbClr val="FFFF00"/>
                          </a:solidFill>
                        </a:rPr>
                        <a:t>PGUM</a:t>
                      </a:r>
                      <a:endParaRPr sz="900" dirty="0">
                        <a:solidFill>
                          <a:srgbClr val="FFFF0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900" b="0" dirty="0">
                          <a:solidFill>
                            <a:srgbClr val="FFFF00"/>
                          </a:solidFill>
                        </a:rPr>
                        <a:t>괌</a:t>
                      </a:r>
                      <a:endParaRPr sz="900" b="0" dirty="0">
                        <a:solidFill>
                          <a:srgbClr val="FFFF00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32924141"/>
                  </a:ext>
                </a:extLst>
              </a:tr>
              <a:tr h="18639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>
                          <a:solidFill>
                            <a:srgbClr val="7030A0"/>
                          </a:solidFill>
                        </a:rPr>
                        <a:t>BKK</a:t>
                      </a:r>
                      <a:endParaRPr sz="900" dirty="0">
                        <a:solidFill>
                          <a:srgbClr val="7030A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ko-KR" altLang="en-US" sz="900" b="0" dirty="0">
                          <a:solidFill>
                            <a:srgbClr val="7030A0"/>
                          </a:solidFill>
                        </a:rPr>
                        <a:t>방콕</a:t>
                      </a:r>
                      <a:r>
                        <a:rPr lang="en-US" altLang="ko-KR" sz="900" b="0" dirty="0">
                          <a:solidFill>
                            <a:srgbClr val="7030A0"/>
                          </a:solidFill>
                        </a:rPr>
                        <a:t>/</a:t>
                      </a:r>
                      <a:r>
                        <a:rPr lang="ko-KR" altLang="en-US" sz="900" b="0" dirty="0" err="1">
                          <a:solidFill>
                            <a:srgbClr val="7030A0"/>
                          </a:solidFill>
                        </a:rPr>
                        <a:t>수완나폼</a:t>
                      </a:r>
                      <a:endParaRPr lang="ko-KR" altLang="en-US" sz="900" b="0" dirty="0">
                        <a:solidFill>
                          <a:srgbClr val="7030A0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2783088539"/>
                  </a:ext>
                </a:extLst>
              </a:tr>
            </a:tbl>
          </a:graphicData>
        </a:graphic>
      </p:graphicFrame>
      <p:sp>
        <p:nvSpPr>
          <p:cNvPr id="3" name="직사각형 2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F54BE12C-20D3-D21D-7388-B79C76711DD9}"/>
              </a:ext>
            </a:extLst>
          </p:cNvPr>
          <p:cNvSpPr/>
          <p:nvPr/>
        </p:nvSpPr>
        <p:spPr>
          <a:xfrm>
            <a:off x="723414" y="5277971"/>
            <a:ext cx="910408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7030A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3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SE Asia</a:t>
            </a:r>
            <a:endParaRPr lang="en-US" altLang="ko-KR" sz="1800" b="1" cap="none" spc="0" dirty="0">
              <a:ln w="0"/>
              <a:solidFill>
                <a:srgbClr val="7030A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A2AD511-3D77-5056-7372-44C616778F18}"/>
              </a:ext>
            </a:extLst>
          </p:cNvPr>
          <p:cNvSpPr txBox="1"/>
          <p:nvPr/>
        </p:nvSpPr>
        <p:spPr>
          <a:xfrm>
            <a:off x="1637044" y="5229777"/>
            <a:ext cx="7228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ko-Kore-KR" altLang="en-US" sz="800" b="1" dirty="0">
                <a:solidFill>
                  <a:srgbClr val="FF0000"/>
                </a:solidFill>
              </a:rPr>
              <a:t>도착</a:t>
            </a:r>
            <a:r>
              <a:rPr kumimoji="1" lang="ko-KR" altLang="en-US" sz="800" b="1" dirty="0">
                <a:solidFill>
                  <a:srgbClr val="FF0000"/>
                </a:solidFill>
              </a:rPr>
              <a:t> 방송 </a:t>
            </a:r>
            <a:r>
              <a:rPr kumimoji="1" lang="en-US" altLang="ko-KR" sz="800" b="1" dirty="0">
                <a:solidFill>
                  <a:srgbClr val="FF0000"/>
                </a:solidFill>
              </a:rPr>
              <a:t>Next Page</a:t>
            </a:r>
            <a:endParaRPr kumimoji="1" lang="ko-Kore-KR" altLang="en-US" sz="800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8775611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70" name="Google Shape;370;p27"/>
          <p:cNvGraphicFramePr/>
          <p:nvPr>
            <p:extLst>
              <p:ext uri="{D42A27DB-BD31-4B8C-83A1-F6EECF244321}">
                <p14:modId xmlns:p14="http://schemas.microsoft.com/office/powerpoint/2010/main" val="2608306669"/>
              </p:ext>
            </p:extLst>
          </p:nvPr>
        </p:nvGraphicFramePr>
        <p:xfrm>
          <a:off x="0" y="0"/>
          <a:ext cx="2328876" cy="4921399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443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2476">
                  <a:extLst>
                    <a:ext uri="{9D8B030D-6E8A-4147-A177-3AD203B41FA5}">
                      <a16:colId xmlns:a16="http://schemas.microsoft.com/office/drawing/2014/main" val="2595559527"/>
                    </a:ext>
                  </a:extLst>
                </a:gridCol>
                <a:gridCol w="891962">
                  <a:extLst>
                    <a:ext uri="{9D8B030D-6E8A-4147-A177-3AD203B41FA5}">
                      <a16:colId xmlns:a16="http://schemas.microsoft.com/office/drawing/2014/main" val="1608007032"/>
                    </a:ext>
                  </a:extLst>
                </a:gridCol>
              </a:tblGrid>
              <a:tr h="0"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10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도착</a:t>
                      </a:r>
                      <a:r>
                        <a:rPr lang="en-US" sz="10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ko-KR" altLang="en-US" sz="10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방송 </a:t>
                      </a:r>
                      <a:r>
                        <a:rPr lang="en-US" altLang="ko-KR" sz="10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(5</a:t>
                      </a:r>
                      <a:r>
                        <a:rPr lang="ko-KR" altLang="en-US" sz="10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시간이상</a:t>
                      </a:r>
                      <a:r>
                        <a:rPr lang="en-US" altLang="ko-KR" sz="10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,</a:t>
                      </a:r>
                      <a:r>
                        <a:rPr lang="ko-KR" altLang="en-US" sz="10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altLang="ko-KR" sz="10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40</a:t>
                      </a:r>
                      <a:r>
                        <a:rPr lang="ko-KR" altLang="en-US" sz="10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분전</a:t>
                      </a:r>
                      <a:r>
                        <a:rPr lang="en-US" altLang="ko-KR" sz="10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)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ko-KR" altLang="en-US" sz="1000" b="0" dirty="0">
                          <a:solidFill>
                            <a:srgbClr val="FFC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출발지 기준 </a:t>
                      </a:r>
                      <a:r>
                        <a:rPr lang="en-US" altLang="ko-KR" sz="1000" b="0" dirty="0">
                          <a:solidFill>
                            <a:srgbClr val="FFC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2200-0800</a:t>
                      </a:r>
                      <a:r>
                        <a:rPr lang="ko-KR" altLang="en-US" sz="1000" b="0" dirty="0">
                          <a:solidFill>
                            <a:srgbClr val="FFC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altLang="ko-KR" sz="1000" b="0" dirty="0">
                          <a:solidFill>
                            <a:srgbClr val="FFC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Quiet Hour </a:t>
                      </a:r>
                      <a:endParaRPr lang="en-US" altLang="ko-Kore-KR" sz="1000" b="0" dirty="0">
                        <a:solidFill>
                          <a:srgbClr val="FFC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45725" marB="45725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74756">
                <a:tc gridSpan="3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손님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여러분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, 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저는 기장입니다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.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endParaRPr lang="ko-Kore-KR" altLang="en-US" sz="800" dirty="0"/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우리 비행기는 앞으로 약 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(40)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분 후에 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___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국제공항에 착륙 예정입니다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.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endParaRPr lang="ko-Kore-KR" altLang="en-US" sz="800" dirty="0"/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현재 공항의 날씨는 ◐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___,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기온은 섭씨 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__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도 입니다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.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endParaRPr lang="en-US" altLang="ko-KR" sz="8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3911">
                <a:tc gridSpan="2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6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◐</a:t>
                      </a:r>
                      <a:r>
                        <a:rPr lang="ko-KR" altLang="en-US" sz="6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맑으며 </a:t>
                      </a:r>
                      <a:endParaRPr lang="en-US" altLang="ko-KR" sz="6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6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◐ </a:t>
                      </a:r>
                      <a:r>
                        <a:rPr lang="en-US" altLang="ko-KR" sz="6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ko-KR" altLang="en-US" sz="6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다소</a:t>
                      </a:r>
                      <a:r>
                        <a:rPr lang="en-US" altLang="ko-KR" sz="6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)</a:t>
                      </a:r>
                      <a:r>
                        <a:rPr lang="ko-KR" altLang="en-US" sz="6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흐리며 </a:t>
                      </a:r>
                      <a:endParaRPr lang="en-US" altLang="ko-KR" sz="6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6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◐ </a:t>
                      </a:r>
                      <a:r>
                        <a:rPr lang="en-US" altLang="ko-KR" sz="6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ko-KR" altLang="en-US" sz="6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이슬</a:t>
                      </a:r>
                      <a:r>
                        <a:rPr lang="en-US" altLang="ko-KR" sz="6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)</a:t>
                      </a:r>
                      <a:r>
                        <a:rPr lang="ko-KR" altLang="en-US" sz="6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비가 내리며</a:t>
                      </a:r>
                      <a:r>
                        <a:rPr lang="en-US" altLang="ko-KR" sz="6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/</a:t>
                      </a:r>
                      <a:r>
                        <a:rPr lang="ko-KR" altLang="en-US" sz="6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소나기가 내리며 </a:t>
                      </a:r>
                      <a:endParaRPr lang="en-US" altLang="ko-KR" sz="6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6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◐ 바람이 불고 있으며</a:t>
                      </a:r>
                      <a:endParaRPr lang="en-US" altLang="ko-KR" sz="6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6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◐</a:t>
                      </a:r>
                      <a:r>
                        <a:rPr lang="ko-KR" altLang="en-US" sz="6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눈이 오고 있으며</a:t>
                      </a:r>
                      <a:endParaRPr lang="en-US" altLang="ko-KR" sz="6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6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◐</a:t>
                      </a:r>
                      <a:r>
                        <a:rPr lang="ko-KR" altLang="en-US" sz="6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안개가 끼어 있으며</a:t>
                      </a:r>
                      <a:endParaRPr lang="en-US" altLang="ko-KR" sz="6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6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◐ 황사가 있으며</a:t>
                      </a:r>
                      <a:endParaRPr lang="en-US" altLang="ko-KR" sz="6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3804322827"/>
                  </a:ext>
                </a:extLst>
              </a:tr>
              <a:tr h="356733">
                <a:tc gridSpan="3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ko-KR" altLang="en-US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지금 이곳의 시각은 </a:t>
                      </a:r>
                      <a:r>
                        <a:rPr kumimoji="0" lang="en-US" altLang="ko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__</a:t>
                      </a:r>
                      <a:r>
                        <a:rPr kumimoji="0" lang="ko-KR" altLang="en-US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월 </a:t>
                      </a:r>
                      <a:r>
                        <a:rPr kumimoji="0" lang="en-US" altLang="ko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__</a:t>
                      </a:r>
                      <a:r>
                        <a:rPr kumimoji="0" lang="ko-KR" altLang="en-US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일 </a:t>
                      </a:r>
                      <a:r>
                        <a:rPr kumimoji="0" lang="en-US" altLang="ko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__</a:t>
                      </a:r>
                      <a:r>
                        <a:rPr kumimoji="0" lang="ko-KR" altLang="en-US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요일</a:t>
                      </a:r>
                      <a:r>
                        <a:rPr kumimoji="0" lang="en-US" altLang="ko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,</a:t>
                      </a:r>
                      <a:r>
                        <a:rPr kumimoji="0" lang="ko-KR" altLang="en-US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오전</a:t>
                      </a:r>
                      <a:r>
                        <a:rPr kumimoji="0" lang="en-US" altLang="ko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kumimoji="0" lang="ko-KR" altLang="en-US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오후</a:t>
                      </a:r>
                      <a:r>
                        <a:rPr kumimoji="0" lang="en-US" altLang="ko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)</a:t>
                      </a:r>
                      <a:r>
                        <a:rPr kumimoji="0" lang="ko-KR" altLang="en-US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kumimoji="0" lang="en-US" altLang="ko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__</a:t>
                      </a:r>
                      <a:r>
                        <a:rPr kumimoji="0" lang="ko-KR" altLang="en-US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시 </a:t>
                      </a:r>
                      <a:r>
                        <a:rPr kumimoji="0" lang="en-US" altLang="ko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__</a:t>
                      </a:r>
                      <a:r>
                        <a:rPr kumimoji="0" lang="ko-KR" altLang="en-US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분 입니다</a:t>
                      </a:r>
                      <a:r>
                        <a:rPr kumimoji="0" lang="en-US" altLang="ko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.</a:t>
                      </a:r>
                      <a:r>
                        <a:rPr kumimoji="0" lang="ko-KR" altLang="en-US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endParaRPr kumimoji="0" lang="en-US" altLang="ko-KR" sz="800" b="1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ko-KR" altLang="en-US" sz="800" b="1" i="0" u="none" strike="noStrike" kern="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고맙습니다</a:t>
                      </a:r>
                      <a:r>
                        <a:rPr kumimoji="0" lang="en-US" altLang="ko-KR" sz="800" b="1" i="0" u="none" strike="noStrike" kern="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.</a:t>
                      </a:r>
                      <a:r>
                        <a:rPr kumimoji="0" lang="ko-KR" altLang="en-US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endParaRPr kumimoji="0" lang="en-US" altLang="ko-KR" sz="800" b="1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91553393"/>
                  </a:ext>
                </a:extLst>
              </a:tr>
              <a:tr h="280822">
                <a:tc gridSpan="3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L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adies and gentlemen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,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his is </a:t>
                      </a:r>
                      <a:r>
                        <a:rPr lang="en-US" altLang="ko-KR" sz="800" b="1" u="sng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the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captain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speaking. 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We expect to land at __ international airport in about (40) minutes.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The current temperature at ___ is __ degrees Celsius, or __ degrees Fahrenheit </a:t>
                      </a:r>
                      <a:r>
                        <a:rPr lang="en-US" altLang="ko-KR" sz="700" b="0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ore-KR" sz="700" b="0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OPT </a:t>
                      </a:r>
                      <a:r>
                        <a:rPr lang="ko-KR" altLang="en-US" sz="700" b="0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참고</a:t>
                      </a:r>
                      <a:r>
                        <a:rPr lang="en-US" altLang="ko-KR" sz="700" b="0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)</a:t>
                      </a:r>
                      <a:endParaRPr lang="en-US" altLang="ko-Kore-KR" sz="700" b="0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and it is 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◐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___. </a:t>
                      </a:r>
                    </a:p>
                  </a:txBody>
                  <a:tcPr marL="36000" marR="36000" marT="36000" marB="36000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3012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◐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(mostly) clear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◐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(partly) cloudy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◐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drizzling / raining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◐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windy</a:t>
                      </a:r>
                      <a:endParaRPr lang="ko-Kore-KR" altLang="en-US" sz="8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◐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snowing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◐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foggy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◐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hazy or smoggy</a:t>
                      </a:r>
                    </a:p>
                  </a:txBody>
                  <a:tcPr marL="36000" marR="36000" marT="36000" marB="36000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04669382"/>
                  </a:ext>
                </a:extLst>
              </a:tr>
              <a:tr h="500625">
                <a:tc gridSpan="3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The current time is __ : __ </a:t>
                      </a:r>
                      <a:r>
                        <a:rPr lang="en-US" altLang="ko-Kore-KR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a.m</a:t>
                      </a:r>
                      <a:r>
                        <a:rPr lang="en-US" altLang="ko-Kore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ore-KR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p.m</a:t>
                      </a:r>
                      <a:r>
                        <a:rPr lang="en-US" altLang="ko-Kore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), on (day-of-the-week), (month)(date).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Thank you for flying with us today.</a:t>
                      </a:r>
                      <a:endParaRPr lang="ko-Kore-KR" altLang="en-US" sz="8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/>
                </a:tc>
                <a:tc hMerge="1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ko-Kore-KR" altLang="en-US" sz="8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71547286"/>
                  </a:ext>
                </a:extLst>
              </a:tr>
            </a:tbl>
          </a:graphicData>
        </a:graphic>
      </p:graphicFrame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CF0EAA18-1047-FE78-D46B-153C8A14B8A3}"/>
              </a:ext>
            </a:extLst>
          </p:cNvPr>
          <p:cNvSpPr/>
          <p:nvPr/>
        </p:nvSpPr>
        <p:spPr>
          <a:xfrm>
            <a:off x="723414" y="5277971"/>
            <a:ext cx="910408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7030A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3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SE Asia</a:t>
            </a:r>
            <a:endParaRPr lang="en-US" altLang="ko-KR" sz="1800" b="1" cap="none" spc="0" dirty="0">
              <a:ln w="0"/>
              <a:solidFill>
                <a:srgbClr val="7030A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05472144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06" name="Google Shape;106;p2"/>
          <p:cNvGraphicFramePr/>
          <p:nvPr>
            <p:extLst>
              <p:ext uri="{D42A27DB-BD31-4B8C-83A1-F6EECF244321}">
                <p14:modId xmlns:p14="http://schemas.microsoft.com/office/powerpoint/2010/main" val="37922502"/>
              </p:ext>
            </p:extLst>
          </p:nvPr>
        </p:nvGraphicFramePr>
        <p:xfrm>
          <a:off x="0" y="1059290"/>
          <a:ext cx="2335800" cy="2202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62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6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849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97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082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277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75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315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37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3525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GMP : SID (NADP 1)</a:t>
                      </a:r>
                      <a:endParaRPr sz="800" u="none" strike="noStrike" cap="none" dirty="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 row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/>
                        <a:t>32L/R</a:t>
                      </a:r>
                      <a:endParaRPr sz="800" b="1" u="none" strike="noStrike" cap="none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70C0"/>
                          </a:solidFill>
                        </a:rPr>
                        <a:t>BULTI xT</a:t>
                      </a:r>
                      <a:endParaRPr sz="800" b="1" u="none" strike="noStrike" cap="none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C00000"/>
                          </a:solidFill>
                        </a:rPr>
                        <a:t>324</a:t>
                      </a:r>
                      <a:endParaRPr sz="458" b="1" u="none" strike="noStrike" cap="none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/>
                        <a:t>324</a:t>
                      </a:r>
                      <a:endParaRPr sz="800" b="1" u="none" strike="noStrike" cap="none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 u="none" strike="noStrike" cap="none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C00000"/>
                          </a:solidFill>
                        </a:rPr>
                        <a:t>324</a:t>
                      </a:r>
                      <a:endParaRPr sz="800" b="1" u="none" strike="noStrike" cap="none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/>
                        <a:t>(BULTI xQ)</a:t>
                      </a:r>
                      <a:endParaRPr sz="800" u="none" strike="noStrike" cap="none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>
                          <a:solidFill>
                            <a:srgbClr val="C00000"/>
                          </a:solidFill>
                        </a:rPr>
                        <a:t>324</a:t>
                      </a:r>
                      <a:endParaRPr sz="458" u="none" strike="noStrike" cap="none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/>
                        <a:t>324</a:t>
                      </a:r>
                      <a:endParaRPr sz="800" u="none" strike="noStrike" cap="none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u="none" strike="noStrike" cap="none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>
                          <a:solidFill>
                            <a:srgbClr val="C00000"/>
                          </a:solidFill>
                        </a:rPr>
                        <a:t>324</a:t>
                      </a:r>
                      <a:endParaRPr sz="800" u="none" strike="noStrike" cap="none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01600">
                <a:tc row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/>
                        <a:t>14L/R</a:t>
                      </a:r>
                      <a:endParaRPr sz="800" b="1" u="none" strike="noStrike" cap="none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70C0"/>
                          </a:solidFill>
                        </a:rPr>
                        <a:t>BULTI xU</a:t>
                      </a:r>
                      <a:endParaRPr sz="800" b="1" u="none" strike="noStrike" cap="none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C00000"/>
                          </a:solidFill>
                        </a:rPr>
                        <a:t>144</a:t>
                      </a:r>
                      <a:endParaRPr sz="458" b="1" u="none" strike="noStrike" cap="none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/>
                        <a:t>144</a:t>
                      </a:r>
                      <a:endParaRPr sz="800" b="1" u="none" strike="noStrike" cap="none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70C0"/>
                          </a:solidFill>
                        </a:rPr>
                        <a:t>6000</a:t>
                      </a:r>
                      <a:endParaRPr sz="800" b="1" u="none" strike="noStrike" cap="none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C00000"/>
                          </a:solidFill>
                        </a:rPr>
                        <a:t>144</a:t>
                      </a:r>
                      <a:endParaRPr sz="800" b="1" u="none" strike="noStrike" cap="none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0160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/>
                        <a:t>(BULTI xZ)</a:t>
                      </a:r>
                      <a:endParaRPr sz="800" u="none" strike="noStrike" cap="none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>
                          <a:solidFill>
                            <a:srgbClr val="C00000"/>
                          </a:solidFill>
                        </a:rPr>
                        <a:t>144</a:t>
                      </a:r>
                      <a:endParaRPr sz="458" u="none" strike="noStrike" cap="none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/>
                        <a:t>144</a:t>
                      </a:r>
                      <a:endParaRPr sz="800" u="none" strike="noStrike" cap="none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>
                          <a:solidFill>
                            <a:srgbClr val="0070C0"/>
                          </a:solidFill>
                        </a:rPr>
                        <a:t>6000</a:t>
                      </a:r>
                      <a:endParaRPr sz="800" u="none" strike="noStrike" cap="none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>
                          <a:solidFill>
                            <a:srgbClr val="C00000"/>
                          </a:solidFill>
                        </a:rPr>
                        <a:t>144</a:t>
                      </a:r>
                      <a:endParaRPr sz="800" u="none" strike="noStrike" cap="none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157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70C0"/>
                          </a:solidFill>
                        </a:rPr>
                        <a:t>KIP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70C0"/>
                          </a:solidFill>
                        </a:rPr>
                        <a:t>113.6</a:t>
                      </a:r>
                      <a:endParaRPr sz="800" b="1" u="none" strike="noStrike" cap="none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32L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108.3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32R 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110.7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14L 109.9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14R 108.7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570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/>
                        <a:t>32L/R : EO32L/R, R225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/>
                        <a:t>YJU R271</a:t>
                      </a:r>
                      <a:endParaRPr sz="800" u="none" strike="noStrike" cap="none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/>
                        <a:t>14L/R : EO14L/R, R220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/>
                        <a:t>P73 /2</a:t>
                      </a:r>
                      <a:endParaRPr sz="800" u="none" strike="noStrike" cap="none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01600">
                <a:tc rowSpan="2"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u="none" strike="noStrike" cap="none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rowSpan="2"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32L(41’)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10499’</a:t>
                      </a:r>
                      <a:endParaRPr sz="800" b="1" u="none" strike="noStrike" cap="none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14R(34’)</a:t>
                      </a:r>
                      <a:endParaRPr sz="800" b="1" u="none" strike="noStrike" cap="none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01600">
                <a:tc gridSpan="2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32R(42’)</a:t>
                      </a:r>
                      <a:endParaRPr sz="800" b="1" u="none" strike="noStrike" cap="none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11811’</a:t>
                      </a:r>
                      <a:endParaRPr sz="800" b="1" u="none" strike="noStrike" cap="none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14L(38’)</a:t>
                      </a:r>
                      <a:endParaRPr sz="800" b="1" u="none" strike="noStrike" cap="none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15700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/>
                        <a:t>APRON(130.875) -&gt; GND(121.9)  -&gt; TWR (All by ATC)  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graphicFrame>
        <p:nvGraphicFramePr>
          <p:cNvPr id="107" name="Google Shape;107;p2"/>
          <p:cNvGraphicFramePr/>
          <p:nvPr>
            <p:extLst>
              <p:ext uri="{D42A27DB-BD31-4B8C-83A1-F6EECF244321}">
                <p14:modId xmlns:p14="http://schemas.microsoft.com/office/powerpoint/2010/main" val="2316435315"/>
              </p:ext>
            </p:extLst>
          </p:nvPr>
        </p:nvGraphicFramePr>
        <p:xfrm>
          <a:off x="4472" y="3784778"/>
          <a:ext cx="2310728" cy="177288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9049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930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2713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1326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1126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559271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156000"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CJU : STAR 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u="none" strike="noStrike" cap="none" dirty="0">
                          <a:solidFill>
                            <a:srgbClr val="FFC000"/>
                          </a:solidFill>
                        </a:rPr>
                        <a:t>AFT Merge PT(220kts) DCT IAF(210kts), FAF (160kts)</a:t>
                      </a:r>
                      <a:endParaRPr sz="700" u="none" strike="noStrike" cap="none" dirty="0">
                        <a:solidFill>
                          <a:srgbClr val="FFC000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41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ILS Z 07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/>
                        <a:t>DOTOL xP</a:t>
                      </a:r>
                      <a:endParaRPr sz="800" b="1" u="none" strike="noStrike" cap="none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1" u="none" strike="noStrike" cap="none" dirty="0"/>
                        <a:t>YUMIN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DOTOL 160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 gridSpan="6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RNP Y 07 </a:t>
                      </a:r>
                      <a:r>
                        <a:rPr kumimoji="0" lang="en-US" altLang="ko-Kore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(No LPV)</a:t>
                      </a:r>
                      <a:r>
                        <a:rPr kumimoji="0" lang="en-US" altLang="ko-Kore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, RNP Z 07 AR </a:t>
                      </a:r>
                      <a:r>
                        <a:rPr kumimoji="0" lang="en-US" altLang="ko-Kore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(No B737-900, RNP 0.11)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 </a:t>
                      </a:r>
                      <a:endParaRPr sz="800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14569801"/>
                  </a:ext>
                </a:extLst>
              </a:tr>
              <a:tr h="141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/>
                        <a:t>ILS Z 25</a:t>
                      </a:r>
                      <a:endParaRPr sz="800" b="1" u="none" strike="noStrike" cap="none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DOTOL </a:t>
                      </a:r>
                      <a:r>
                        <a:rPr lang="en-US" sz="800" b="1" u="none" strike="noStrike" cap="none" dirty="0" err="1"/>
                        <a:t>xT</a:t>
                      </a:r>
                      <a:r>
                        <a:rPr lang="en-US" sz="800" b="1" u="none" strike="noStrike" cap="none" dirty="0"/>
                        <a:t>(</a:t>
                      </a:r>
                      <a:r>
                        <a:rPr lang="en-US" sz="800" b="1" u="none" strike="noStrike" cap="none" dirty="0" err="1"/>
                        <a:t>xM</a:t>
                      </a:r>
                      <a:r>
                        <a:rPr lang="en-US" sz="800" b="1" u="none" strike="noStrike" cap="none" dirty="0"/>
                        <a:t>)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1" u="none" strike="noStrike" cap="none" dirty="0"/>
                        <a:t>DUKAL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/>
                        <a:t>DOTOL/-10 160</a:t>
                      </a:r>
                      <a:endParaRPr sz="800" b="1" u="none" strike="noStrike" cap="none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0925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u="none" strike="noStrike" cap="none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</a:rPr>
                        <a:t>07(87’)</a:t>
                      </a:r>
                      <a:endParaRPr sz="800" b="1" u="none" strike="noStrike" cap="none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</a:rPr>
                        <a:t>10433’</a:t>
                      </a:r>
                      <a:endParaRPr sz="800" b="1" u="none" strike="noStrike" cap="none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</a:rPr>
                        <a:t>25(76’)</a:t>
                      </a:r>
                      <a:endParaRPr sz="800" b="1" u="none" strike="noStrike" cap="none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0075">
                <a:tc gridSpan="6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chemeClr val="dk1"/>
                          </a:solidFill>
                        </a:rPr>
                        <a:t>07 : P6(5176’), P5(5882’), </a:t>
                      </a:r>
                      <a:r>
                        <a:rPr lang="en-US" sz="800" u="none" strike="noStrike" cap="none">
                          <a:solidFill>
                            <a:srgbClr val="0070C0"/>
                          </a:solidFill>
                        </a:rPr>
                        <a:t>P4(6840’-ATC HIRO)</a:t>
                      </a:r>
                      <a:endParaRPr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chemeClr val="dk1"/>
                          </a:solidFill>
                        </a:rPr>
                        <a:t>25 : P7(5219’), P8(5882’), </a:t>
                      </a:r>
                      <a:r>
                        <a:rPr lang="en-US" sz="800" u="none" strike="noStrike" cap="none">
                          <a:solidFill>
                            <a:srgbClr val="0070C0"/>
                          </a:solidFill>
                        </a:rPr>
                        <a:t>P10(7524’-ATC HIRO) 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20075">
                <a:tc gridSpan="6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/>
                        <a:t>Entering Rapid TWY CTC GND 121.675 (STOP x)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/>
                        <a:t>HST 40KTS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108" name="Google Shape;108;p2"/>
          <p:cNvGraphicFramePr/>
          <p:nvPr>
            <p:extLst>
              <p:ext uri="{D42A27DB-BD31-4B8C-83A1-F6EECF244321}">
                <p14:modId xmlns:p14="http://schemas.microsoft.com/office/powerpoint/2010/main" val="1305194788"/>
              </p:ext>
            </p:extLst>
          </p:nvPr>
        </p:nvGraphicFramePr>
        <p:xfrm>
          <a:off x="-2501" y="16503"/>
          <a:ext cx="2328850" cy="563987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05086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u="none" strike="noStrike" cap="none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RKSS(GMP) 59ft</a:t>
                      </a:r>
                      <a:endParaRPr sz="1300" u="none" strike="noStrike" cap="none" dirty="0">
                        <a:solidFill>
                          <a:schemeClr val="bg1"/>
                        </a:solidFill>
                      </a:endParaRPr>
                    </a:p>
                  </a:txBody>
                  <a:tcPr marL="3600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u="none" strike="noStrike" cap="none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RKPC(CJU) 119ft</a:t>
                      </a:r>
                      <a:endParaRPr sz="1300" u="none" strike="noStrike" cap="none" dirty="0">
                        <a:solidFill>
                          <a:schemeClr val="bg1"/>
                        </a:solidFill>
                      </a:endParaRPr>
                    </a:p>
                  </a:txBody>
                  <a:tcPr marL="3600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58901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u="none" strike="noStrike" cap="none" dirty="0"/>
                        <a:t>KE GMP 131.15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600" u="none" strike="noStrike" cap="none" dirty="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-15분 </a:t>
                      </a:r>
                      <a:r>
                        <a:rPr lang="en-US" sz="600" u="none" strike="noStrike" cap="none" dirty="0" err="1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가능</a:t>
                      </a:r>
                      <a:r>
                        <a:rPr lang="en-US" sz="600" u="none" strike="noStrike" cap="none" dirty="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TOBT 5분 </a:t>
                      </a:r>
                      <a:r>
                        <a:rPr lang="en-US" sz="600" u="none" strike="noStrike" cap="none" dirty="0" err="1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차이시</a:t>
                      </a:r>
                      <a:r>
                        <a:rPr lang="en-US" sz="600" u="none" strike="noStrike" cap="none" dirty="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CTC Comm</a:t>
                      </a:r>
                      <a:endParaRPr sz="800" u="none" strike="noStrike" cap="none" dirty="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72000" marR="72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u="none" strike="noStrike" cap="none" dirty="0"/>
                        <a:t>KE CJU 129.4</a:t>
                      </a:r>
                      <a:endParaRPr sz="900" u="none" strike="noStrike" cap="none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109" name="Google Shape;109;p2"/>
          <p:cNvSpPr txBox="1"/>
          <p:nvPr/>
        </p:nvSpPr>
        <p:spPr>
          <a:xfrm>
            <a:off x="649003" y="585439"/>
            <a:ext cx="1666195" cy="4924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Rwy</a:t>
            </a:r>
            <a:r>
              <a:rPr lang="en-US" sz="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32R </a:t>
            </a:r>
            <a:r>
              <a:rPr lang="en-US" sz="1000" b="1" dirty="0">
                <a:solidFill>
                  <a:srgbClr val="C00000"/>
                </a:solidFill>
                <a:latin typeface="Calibri"/>
                <a:ea typeface="Calibri"/>
                <a:cs typeface="Calibri"/>
                <a:sym typeface="Calibri"/>
              </a:rPr>
              <a:t>Takeoff</a:t>
            </a:r>
            <a:r>
              <a:rPr lang="en-US" sz="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 </a:t>
            </a:r>
            <a:endParaRPr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(06:00L~0900L / 12:00L~15:00L /18:00L~21:00L)</a:t>
            </a:r>
            <a:endParaRPr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01395358-67C5-B17F-BCD1-397471B84CD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8563" y="602614"/>
            <a:ext cx="451728" cy="451728"/>
          </a:xfrm>
          <a:prstGeom prst="rect">
            <a:avLst/>
          </a:prstGeom>
        </p:spPr>
      </p:pic>
      <p:pic>
        <p:nvPicPr>
          <p:cNvPr id="3" name="그림 2" descr="텍스트, 지도, 폰트, 도표이(가) 표시된 사진&#10;&#10;자동 생성된 설명">
            <a:extLst>
              <a:ext uri="{FF2B5EF4-FFF2-40B4-BE49-F238E27FC236}">
                <a16:creationId xmlns:a16="http://schemas.microsoft.com/office/drawing/2014/main" id="{0A4BE269-C442-8267-320E-C71929B74F3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2501" y="3253278"/>
            <a:ext cx="546787" cy="54562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B883771C-A484-B3B3-0104-3947A3865324}"/>
              </a:ext>
            </a:extLst>
          </p:cNvPr>
          <p:cNvSpPr txBox="1"/>
          <p:nvPr/>
        </p:nvSpPr>
        <p:spPr>
          <a:xfrm>
            <a:off x="1268244" y="3478119"/>
            <a:ext cx="123270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Domestic</a:t>
            </a:r>
            <a:endParaRPr lang="en-US" altLang="ko-KR" sz="14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B1E1E6C3-2FAC-67D6-CA78-10767C1FFA44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8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17" name="Google Shape;117;p3"/>
          <p:cNvGraphicFramePr/>
          <p:nvPr>
            <p:extLst>
              <p:ext uri="{D42A27DB-BD31-4B8C-83A1-F6EECF244321}">
                <p14:modId xmlns:p14="http://schemas.microsoft.com/office/powerpoint/2010/main" val="3695470389"/>
              </p:ext>
            </p:extLst>
          </p:nvPr>
        </p:nvGraphicFramePr>
        <p:xfrm>
          <a:off x="0" y="1070883"/>
          <a:ext cx="2335800" cy="149881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62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6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9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53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978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082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271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81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3352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3525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/>
                        <a:t>CJU : SID (NADP 1)</a:t>
                      </a:r>
                      <a:endParaRPr sz="800" u="none" strike="noStrike" cap="none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/>
                        <a:t>07</a:t>
                      </a:r>
                      <a:endParaRPr sz="800" b="1" u="none" strike="noStrike" cap="none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70C0"/>
                          </a:solidFill>
                        </a:rPr>
                        <a:t>KAMIT xE</a:t>
                      </a:r>
                      <a:endParaRPr sz="800" b="1" u="none" strike="noStrike" cap="none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C00000"/>
                          </a:solidFill>
                        </a:rPr>
                        <a:t>066</a:t>
                      </a:r>
                      <a:endParaRPr sz="458" b="1" u="none" strike="noStrike" cap="none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/>
                        <a:t>066</a:t>
                      </a:r>
                      <a:endParaRPr sz="800" b="1" u="none" strike="noStrike" cap="none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70C0"/>
                          </a:solidFill>
                        </a:rPr>
                        <a:t>10000</a:t>
                      </a:r>
                      <a:endParaRPr sz="800" b="1" u="none" strike="noStrike" cap="none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C00000"/>
                          </a:solidFill>
                        </a:rPr>
                        <a:t>066</a:t>
                      </a:r>
                      <a:endParaRPr sz="800" b="1" u="none" strike="noStrike" cap="none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/>
                        <a:t>25</a:t>
                      </a:r>
                      <a:endParaRPr sz="800" b="1" u="none" strike="noStrike" cap="none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70C0"/>
                          </a:solidFill>
                        </a:rPr>
                        <a:t>KAMIT xW</a:t>
                      </a:r>
                      <a:endParaRPr sz="800" b="1" u="none" strike="noStrike" cap="none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C00000"/>
                          </a:solidFill>
                        </a:rPr>
                        <a:t>246</a:t>
                      </a:r>
                      <a:endParaRPr sz="458" b="1" u="none" strike="noStrike" cap="none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/>
                        <a:t>246</a:t>
                      </a:r>
                      <a:endParaRPr sz="800" b="1" u="none" strike="noStrike" cap="none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70C0"/>
                          </a:solidFill>
                        </a:rPr>
                        <a:t>10000</a:t>
                      </a:r>
                      <a:endParaRPr sz="800" b="1" u="none" strike="noStrike" cap="none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C00000"/>
                          </a:solidFill>
                        </a:rPr>
                        <a:t>246</a:t>
                      </a:r>
                      <a:endParaRPr sz="800" b="1" u="none" strike="noStrike" cap="none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5700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70C0"/>
                          </a:solidFill>
                        </a:rPr>
                        <a:t>YDM 109.0</a:t>
                      </a:r>
                      <a:endParaRPr sz="800" b="1" u="none" strike="noStrike" cap="none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07 109.9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25 111.3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5700">
                <a:tc gridSpan="5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/>
                        <a:t>07 : NONE</a:t>
                      </a:r>
                      <a:endParaRPr sz="800" u="none" strike="noStrike" cap="none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5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/>
                        <a:t>25 : YDM246/3, R290</a:t>
                      </a:r>
                      <a:endParaRPr sz="800" u="none" strike="noStrike" cap="none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016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u="none" strike="noStrike" cap="none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07(87’)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10433’</a:t>
                      </a:r>
                      <a:endParaRPr sz="800" b="1" u="none" strike="noStrike" cap="none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25(76’)</a:t>
                      </a:r>
                      <a:endParaRPr sz="800" b="1" u="none" strike="noStrike" cap="none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5700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/>
                        <a:t>07 : Passing G4 CTC TWR 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/>
                        <a:t>25 : 31 Holding PSN on P, E1,2,3 CTC TWR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118" name="Google Shape;118;p3"/>
          <p:cNvGraphicFramePr/>
          <p:nvPr>
            <p:extLst>
              <p:ext uri="{D42A27DB-BD31-4B8C-83A1-F6EECF244321}">
                <p14:modId xmlns:p14="http://schemas.microsoft.com/office/powerpoint/2010/main" val="3304168252"/>
              </p:ext>
            </p:extLst>
          </p:nvPr>
        </p:nvGraphicFramePr>
        <p:xfrm>
          <a:off x="4999" y="3494395"/>
          <a:ext cx="2330850" cy="2058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565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7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641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155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871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0">
                <a:tc gridSpan="5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/>
                        <a:t>GMP : STAR</a:t>
                      </a:r>
                      <a:endParaRPr sz="800" u="none" strike="noStrike" cap="none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ILS 32L/R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r>
                        <a:rPr lang="en-US" sz="800" b="1" u="none" strike="noStrike" cap="none"/>
                        <a:t>OLMEN xT</a:t>
                      </a:r>
                      <a:endParaRPr lang="ko-Kore-KR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1" u="none" strike="noStrike" cap="none"/>
                        <a:t>OLMEN xT</a:t>
                      </a:r>
                      <a:endParaRPr lang="ko-Kore-KR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/>
                        <a:t>BUMSI</a:t>
                      </a:r>
                      <a:endParaRPr sz="458" b="1" u="none" strike="noStrike" cap="none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/>
                        <a:t>OLMEN 160</a:t>
                      </a:r>
                      <a:endParaRPr sz="458" b="1" u="none" strike="noStrike" cap="none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ILS 14R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r>
                        <a:rPr lang="en-US" sz="800" b="1" u="none" strike="noStrike" cap="none" dirty="0"/>
                        <a:t>OLMEN </a:t>
                      </a:r>
                      <a:r>
                        <a:rPr lang="en-US" sz="800" b="1" u="none" strike="noStrike" cap="none" dirty="0" err="1"/>
                        <a:t>xU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1" u="none" strike="noStrike" cap="none" dirty="0"/>
                        <a:t>OLMEN </a:t>
                      </a:r>
                      <a:r>
                        <a:rPr lang="en-US" sz="800" b="1" u="none" strike="noStrike" cap="none" dirty="0" err="1"/>
                        <a:t>xU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/>
                        <a:t>DOKDO</a:t>
                      </a:r>
                      <a:endParaRPr sz="458" b="1" u="none" strike="noStrike" cap="none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/>
                        <a:t>OLMEN 160</a:t>
                      </a:r>
                      <a:endParaRPr sz="458" b="1" u="none" strike="noStrike" cap="none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2850">
                <a:tc rowSpan="2"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u="none" strike="noStrike" cap="none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rowSpan="2"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</a:rPr>
                        <a:t>32L(41’)</a:t>
                      </a:r>
                      <a:endParaRPr sz="800" b="1" u="none" strike="noStrike" cap="none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</a:rPr>
                        <a:t>10499’</a:t>
                      </a:r>
                      <a:endParaRPr sz="800" b="1" u="none" strike="noStrike" cap="none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</a:rPr>
                        <a:t>14R(34’)</a:t>
                      </a:r>
                      <a:endParaRPr sz="800" b="1" u="none" strike="noStrike" cap="none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12850">
                <a:tc gridSpan="2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</a:rPr>
                        <a:t>32R(42’)</a:t>
                      </a:r>
                      <a:endParaRPr sz="800" b="1" u="none" strike="noStrike" cap="none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</a:rPr>
                        <a:t>11811’</a:t>
                      </a:r>
                      <a:endParaRPr sz="800" b="1" u="none" strike="noStrike" cap="none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</a:rPr>
                        <a:t>14L(38’)</a:t>
                      </a:r>
                      <a:endParaRPr sz="800" b="1" u="none" strike="noStrike" cap="none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564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FIX</a:t>
                      </a:r>
                      <a:endParaRPr/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KIP /8(RWY 32), YJU R271, P73 /2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01600">
                <a:tc gridSpan="5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32L : D3(6532’), E2(9117’), 32R : E1(6614’)</a:t>
                      </a:r>
                      <a:endParaRPr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14R : C1(6578’)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01600">
                <a:tc gridSpan="5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32L/R : 8 KIP L/G, 14R : LOC CAPT L/G</a:t>
                      </a:r>
                      <a:endParaRPr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FAF : Final Flap</a:t>
                      </a:r>
                      <a:endParaRPr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TWR -&gt; GND -&gt; APRON (All by ATC)</a:t>
                      </a:r>
                      <a:endParaRPr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Except RWY14R Landing (Until R)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graphicFrame>
        <p:nvGraphicFramePr>
          <p:cNvPr id="119" name="Google Shape;119;p3"/>
          <p:cNvGraphicFramePr/>
          <p:nvPr>
            <p:extLst>
              <p:ext uri="{D42A27DB-BD31-4B8C-83A1-F6EECF244321}">
                <p14:modId xmlns:p14="http://schemas.microsoft.com/office/powerpoint/2010/main" val="3100584867"/>
              </p:ext>
            </p:extLst>
          </p:nvPr>
        </p:nvGraphicFramePr>
        <p:xfrm>
          <a:off x="-2501" y="16504"/>
          <a:ext cx="2328850" cy="57461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u="none" strike="noStrike" cap="none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RKPC(CJU) 119ft</a:t>
                      </a:r>
                      <a:endParaRPr lang="en-US" altLang="ko-Kore-KR" sz="1300" u="none" strike="noStrike" cap="none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u="none" strike="noStrike" cap="none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RKSS(GMP) 59ft</a:t>
                      </a:r>
                      <a:endParaRPr lang="en-US" altLang="ko-Kore-KR" sz="1300" u="none" strike="noStrike" cap="none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KE CJU 129.4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>
                          <a:solidFill>
                            <a:srgbClr val="FF0000"/>
                          </a:solidFill>
                        </a:rPr>
                        <a:t>DCL -10분</a:t>
                      </a:r>
                      <a:endParaRPr sz="700">
                        <a:solidFill>
                          <a:srgbClr val="FF0000"/>
                        </a:solidFill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GMP 131.15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120" name="Google Shape;120;p3"/>
          <p:cNvSpPr txBox="1"/>
          <p:nvPr/>
        </p:nvSpPr>
        <p:spPr>
          <a:xfrm>
            <a:off x="-35514" y="602871"/>
            <a:ext cx="1666195" cy="4924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Rwy</a:t>
            </a:r>
            <a:r>
              <a:rPr lang="en-US" sz="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32L </a:t>
            </a:r>
            <a:r>
              <a:rPr lang="en-US" sz="1000" b="1" dirty="0">
                <a:solidFill>
                  <a:srgbClr val="C00000"/>
                </a:solidFill>
                <a:latin typeface="Calibri"/>
                <a:ea typeface="Calibri"/>
                <a:cs typeface="Calibri"/>
                <a:sym typeface="Calibri"/>
              </a:rPr>
              <a:t>Landing</a:t>
            </a:r>
            <a:r>
              <a:rPr lang="en-US" sz="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 </a:t>
            </a:r>
            <a:endParaRPr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(06:00L~0900L / 12:00L~15:00L /18:00L~21:00L)</a:t>
            </a:r>
            <a:endParaRPr dirty="0"/>
          </a:p>
        </p:txBody>
      </p:sp>
      <p:pic>
        <p:nvPicPr>
          <p:cNvPr id="130" name="Google Shape;130;p3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-2501" y="2617401"/>
            <a:ext cx="1166932" cy="829288"/>
          </a:xfrm>
          <a:prstGeom prst="rect">
            <a:avLst/>
          </a:prstGeom>
          <a:noFill/>
          <a:ln>
            <a:noFill/>
          </a:ln>
        </p:spPr>
      </p:pic>
      <p:pic>
        <p:nvPicPr>
          <p:cNvPr id="4" name="그림 3" descr="텍스트, 시계이(가) 표시된 사진&#10;&#10;자동 생성된 설명">
            <a:extLst>
              <a:ext uri="{FF2B5EF4-FFF2-40B4-BE49-F238E27FC236}">
                <a16:creationId xmlns:a16="http://schemas.microsoft.com/office/drawing/2014/main" id="{2AAA03F3-9C76-BDAE-2BA4-2B888A8439F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602416" y="584746"/>
            <a:ext cx="492402" cy="492402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039C51EF-5E3E-676B-B9A0-C6A5F8FD5CEF}"/>
              </a:ext>
            </a:extLst>
          </p:cNvPr>
          <p:cNvSpPr txBox="1"/>
          <p:nvPr/>
        </p:nvSpPr>
        <p:spPr>
          <a:xfrm>
            <a:off x="1268244" y="3184785"/>
            <a:ext cx="123270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Domestic</a:t>
            </a:r>
            <a:endParaRPr lang="en-US" altLang="ko-KR" sz="14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3" name="직사각형 2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DD9173A3-1ECF-6009-194E-99FFD55E035C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8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 descr="텍스트, 지도, 폰트, 도표이(가) 표시된 사진&#10;&#10;자동 생성된 설명">
            <a:extLst>
              <a:ext uri="{FF2B5EF4-FFF2-40B4-BE49-F238E27FC236}">
                <a16:creationId xmlns:a16="http://schemas.microsoft.com/office/drawing/2014/main" id="{1D9EE3FE-3D0C-40C8-D531-747FC2E143D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2500" y="3253277"/>
            <a:ext cx="602791" cy="601513"/>
          </a:xfrm>
          <a:prstGeom prst="rect">
            <a:avLst/>
          </a:prstGeom>
        </p:spPr>
      </p:pic>
      <p:graphicFrame>
        <p:nvGraphicFramePr>
          <p:cNvPr id="136" name="Google Shape;136;p4"/>
          <p:cNvGraphicFramePr/>
          <p:nvPr>
            <p:extLst>
              <p:ext uri="{D42A27DB-BD31-4B8C-83A1-F6EECF244321}">
                <p14:modId xmlns:p14="http://schemas.microsoft.com/office/powerpoint/2010/main" val="1618809659"/>
              </p:ext>
            </p:extLst>
          </p:nvPr>
        </p:nvGraphicFramePr>
        <p:xfrm>
          <a:off x="0" y="1049052"/>
          <a:ext cx="2335800" cy="223182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62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6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849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97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082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277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75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315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37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3525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150825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GMP : SID (NADP 1)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37075">
                <a:tc row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32L/R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OSPOT xT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324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324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324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3707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(OSPOT xQ)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324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324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324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37075">
                <a:tc row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OSPOT xU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144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144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6000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144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3707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(OSPOT xZ)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144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144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6000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144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2325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KIP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113.6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32L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108.3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32R 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110.7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14L 109.9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14R 108.7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2325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32L/R : EO32L/R, R225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YJU R271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14L/R : EO14L/R, R220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P73 /2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37075">
                <a:tc rowSpan="2"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rowSpan="2"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32L(41’)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10499’</a:t>
                      </a:r>
                      <a:endParaRPr sz="800" b="1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14R(34’)</a:t>
                      </a:r>
                      <a:endParaRPr sz="800" b="1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37075">
                <a:tc gridSpan="2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32R(42’)</a:t>
                      </a:r>
                      <a:endParaRPr sz="800" b="1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11811’</a:t>
                      </a:r>
                      <a:endParaRPr sz="800" b="1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14L(38’)</a:t>
                      </a:r>
                      <a:endParaRPr sz="800" b="1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23250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i="0" u="none" strike="noStrike" cap="none" dirty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APRON(130.875) -&gt; GND(121.9) -&gt; TWR (All by ATC)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graphicFrame>
        <p:nvGraphicFramePr>
          <p:cNvPr id="137" name="Google Shape;137;p4"/>
          <p:cNvGraphicFramePr/>
          <p:nvPr>
            <p:extLst>
              <p:ext uri="{D42A27DB-BD31-4B8C-83A1-F6EECF244321}">
                <p14:modId xmlns:p14="http://schemas.microsoft.com/office/powerpoint/2010/main" val="2869455644"/>
              </p:ext>
            </p:extLst>
          </p:nvPr>
        </p:nvGraphicFramePr>
        <p:xfrm>
          <a:off x="-3340" y="3798485"/>
          <a:ext cx="2328850" cy="174265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8219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73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9685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52476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146675">
                <a:tc gridSpan="4"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PUS : STAR </a:t>
                      </a:r>
                      <a:r>
                        <a:rPr lang="en-US" sz="800" dirty="0">
                          <a:solidFill>
                            <a:srgbClr val="FFC000"/>
                          </a:solidFill>
                        </a:rPr>
                        <a:t>(Tail Wind 36R 136000lbs F40)</a:t>
                      </a:r>
                      <a:endParaRPr sz="800" dirty="0">
                        <a:solidFill>
                          <a:srgbClr val="FFC000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3332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KEVOX x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MASTA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>
                          <a:solidFill>
                            <a:schemeClr val="dk1"/>
                          </a:solidFill>
                        </a:rPr>
                        <a:t>9DME LG, 8DME FLAP</a:t>
                      </a:r>
                      <a:endParaRPr sz="800" b="0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3332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VOR 18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GAYHA x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MASTA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  <a:hlinkClick r:id="rId4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18 Circling Click!!</a:t>
                      </a:r>
                      <a:endParaRPr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712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36L(13’) 10499’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36R(8’) 8999’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18R(13’) 8530’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18L(13’) 8999’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FIX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dirty="0">
                          <a:solidFill>
                            <a:schemeClr val="dk1"/>
                          </a:solidFill>
                        </a:rPr>
                        <a:t>36 : IKMA/IKHE /9, /8</a:t>
                      </a:r>
                      <a:endParaRPr dirty="0"/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dirty="0">
                          <a:solidFill>
                            <a:schemeClr val="dk1"/>
                          </a:solidFill>
                        </a:rPr>
                        <a:t>18 : KMH R284, R280</a:t>
                      </a:r>
                      <a:endParaRPr sz="800" b="0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20050">
                <a:tc gridSpan="4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tx1"/>
                          </a:solidFill>
                        </a:rPr>
                        <a:t>36L : </a:t>
                      </a:r>
                      <a:r>
                        <a:rPr lang="en-US" sz="800" b="1" dirty="0">
                          <a:solidFill>
                            <a:srgbClr val="FF0000"/>
                          </a:solidFill>
                        </a:rPr>
                        <a:t>C4 (6299’), 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C2(7795’) / 36R : E3(5866’), E2(7339’)</a:t>
                      </a:r>
                      <a:endParaRPr dirty="0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18R : C6(5770’), C7 (6824’) / 18L : E4(5882’), E5(8792’)</a:t>
                      </a:r>
                      <a:endParaRPr sz="800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2005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Vacate </a:t>
                      </a: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C3,C4 </a:t>
                      </a:r>
                      <a:r>
                        <a:rPr lang="en-US" sz="800" dirty="0"/>
                        <a:t>by ATC only. Max Taxi SPD 20KTS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C2 HOLD SHORT </a:t>
                      </a:r>
                      <a:r>
                        <a:rPr lang="en-US" sz="800" dirty="0" err="1"/>
                        <a:t>가까움</a:t>
                      </a:r>
                      <a:r>
                        <a:rPr lang="en-US" sz="800" dirty="0"/>
                        <a:t>(Vacate </a:t>
                      </a:r>
                      <a:r>
                        <a:rPr lang="en-US" sz="800" dirty="0" err="1"/>
                        <a:t>TaxiSPD</a:t>
                      </a:r>
                      <a:r>
                        <a:rPr lang="en-US" sz="800" dirty="0"/>
                        <a:t>)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138" name="Google Shape;138;p4"/>
          <p:cNvGraphicFramePr/>
          <p:nvPr>
            <p:extLst>
              <p:ext uri="{D42A27DB-BD31-4B8C-83A1-F6EECF244321}">
                <p14:modId xmlns:p14="http://schemas.microsoft.com/office/powerpoint/2010/main" val="417267895"/>
              </p:ext>
            </p:extLst>
          </p:nvPr>
        </p:nvGraphicFramePr>
        <p:xfrm>
          <a:off x="-2501" y="16504"/>
          <a:ext cx="2328850" cy="58611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3131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u="none" strike="noStrike" cap="none" dirty="0">
                          <a:solidFill>
                            <a:schemeClr val="bg1"/>
                          </a:solidFill>
                          <a:hlinkClick r:id="rId5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RKSS(GMP) 59ft</a:t>
                      </a:r>
                      <a:endParaRPr lang="en-US" altLang="ko-Kore-KR" sz="1300" u="none" strike="noStrike" cap="none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hlinkClick r:id="rId6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RKPK(PUS) 13ft</a:t>
                      </a:r>
                      <a:endParaRPr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2979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GMP 131.15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600"/>
                        <a:buFont typeface="Calibri"/>
                        <a:buNone/>
                      </a:pPr>
                      <a:r>
                        <a:rPr lang="en-US" sz="600" dirty="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-15분 </a:t>
                      </a:r>
                      <a:r>
                        <a:rPr lang="en-US" sz="600" dirty="0" err="1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가능</a:t>
                      </a:r>
                      <a:r>
                        <a:rPr lang="en-US" sz="600" dirty="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TOBT 5분 </a:t>
                      </a:r>
                      <a:r>
                        <a:rPr lang="en-US" sz="600" dirty="0" err="1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차이시</a:t>
                      </a:r>
                      <a:r>
                        <a:rPr lang="en-US" sz="600" dirty="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CTC Comm</a:t>
                      </a:r>
                      <a:endParaRPr sz="900" dirty="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</a:t>
                      </a:r>
                      <a:r>
                        <a:rPr lang="en-US" sz="900" dirty="0" err="1"/>
                        <a:t>Gimhae</a:t>
                      </a:r>
                      <a:r>
                        <a:rPr lang="en-US" sz="900" dirty="0"/>
                        <a:t> 129.2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139" name="Google Shape;139;p4"/>
          <p:cNvSpPr txBox="1"/>
          <p:nvPr/>
        </p:nvSpPr>
        <p:spPr>
          <a:xfrm>
            <a:off x="649003" y="585439"/>
            <a:ext cx="1666195" cy="4924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Rwy</a:t>
            </a:r>
            <a:r>
              <a:rPr lang="en-US" sz="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32R </a:t>
            </a:r>
            <a:r>
              <a:rPr lang="en-US" sz="1000" b="1" dirty="0">
                <a:solidFill>
                  <a:srgbClr val="C00000"/>
                </a:solidFill>
                <a:latin typeface="Calibri"/>
                <a:ea typeface="Calibri"/>
                <a:cs typeface="Calibri"/>
                <a:sym typeface="Calibri"/>
              </a:rPr>
              <a:t>Takeoff </a:t>
            </a:r>
            <a:endParaRPr sz="1800" b="1" dirty="0">
              <a:solidFill>
                <a:srgbClr val="C00000"/>
              </a:solidFill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(06:00L~0900L / 12:00L~15:00L /18:00L~21:00L)</a:t>
            </a:r>
            <a:endParaRPr dirty="0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3DF371A0-F72D-9E9E-6B0B-BD68FCA2497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48563" y="602614"/>
            <a:ext cx="451728" cy="451728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BEE200D8-914C-01D7-557E-F73D37FB7632}"/>
              </a:ext>
            </a:extLst>
          </p:cNvPr>
          <p:cNvSpPr txBox="1"/>
          <p:nvPr/>
        </p:nvSpPr>
        <p:spPr>
          <a:xfrm>
            <a:off x="1268244" y="3491513"/>
            <a:ext cx="123270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8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Domestic</a:t>
            </a:r>
            <a:endParaRPr lang="en-US" altLang="ko-KR" sz="14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959ADE64-A15F-6E0A-A757-78B60E7B3429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9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55" name="Google Shape;155;p5"/>
          <p:cNvGraphicFramePr/>
          <p:nvPr>
            <p:extLst>
              <p:ext uri="{D42A27DB-BD31-4B8C-83A1-F6EECF244321}">
                <p14:modId xmlns:p14="http://schemas.microsoft.com/office/powerpoint/2010/main" val="124299396"/>
              </p:ext>
            </p:extLst>
          </p:nvPr>
        </p:nvGraphicFramePr>
        <p:xfrm>
          <a:off x="0" y="1063540"/>
          <a:ext cx="2330925" cy="162073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62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2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70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179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041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19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14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779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1747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21777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280325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</a:tblGrid>
              <a:tr h="0">
                <a:tc gridSpan="1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PUS : SID </a:t>
                      </a:r>
                      <a:r>
                        <a:rPr lang="en-US" sz="800" dirty="0">
                          <a:solidFill>
                            <a:srgbClr val="FFC000"/>
                          </a:solidFill>
                        </a:rPr>
                        <a:t>(Mod NADP CLB2 1000, 14000 MAX)</a:t>
                      </a:r>
                      <a:endParaRPr sz="800" dirty="0">
                        <a:solidFill>
                          <a:srgbClr val="FFC000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36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SOORO x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KALOD tx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30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</a:rPr>
                        <a:t>6</a:t>
                      </a:r>
                      <a:endParaRPr sz="458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280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342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18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GIMHAE x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182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182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182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5700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KMH 113.8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PSN 114.0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36L 108.5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36R 109.5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5700">
                <a:tc gridSpan="1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36 : KMH R091, R271, R185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016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5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36L(13’) 10499’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36R(8’) 8999’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18R(13’) 8530’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18L(13’) 8999’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5700">
                <a:tc gridSpan="1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RWY36 400ft Man L/H turn, Max Taxi SPD 20KTS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156" name="Google Shape;156;p5"/>
          <p:cNvGraphicFramePr/>
          <p:nvPr>
            <p:extLst>
              <p:ext uri="{D42A27DB-BD31-4B8C-83A1-F6EECF244321}">
                <p14:modId xmlns:p14="http://schemas.microsoft.com/office/powerpoint/2010/main" val="3948340049"/>
              </p:ext>
            </p:extLst>
          </p:nvPr>
        </p:nvGraphicFramePr>
        <p:xfrm>
          <a:off x="-2501" y="3490966"/>
          <a:ext cx="2338300" cy="2058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55512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236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366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9047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53676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0">
                <a:tc gridSpan="5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GMP : STAR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32L/R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1"/>
                        <a:t>GUKDO xT</a:t>
                      </a:r>
                      <a:endParaRPr lang="ko-Kore-KR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BUMSI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160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14R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1" dirty="0"/>
                        <a:t>GUKDO </a:t>
                      </a:r>
                      <a:r>
                        <a:rPr lang="en-US" sz="800" b="1" dirty="0" err="1"/>
                        <a:t>xU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DOKDO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160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2850">
                <a:tc rowSpan="2"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rowSpan="2"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32L(41’)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10499’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14R(34’)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12850">
                <a:tc gridSpan="2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32R(42’)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11811’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14L(38’)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564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FIX</a:t>
                      </a:r>
                      <a:endParaRPr/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KIP /8(RWY 32), YJU R271, P73 /2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01600">
                <a:tc gridSpan="5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32L : D3(6532’), E2(9117’), 32R : E1(6614’)</a:t>
                      </a:r>
                      <a:endParaRPr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14R : C1(6578’)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01600">
                <a:tc gridSpan="5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32L/R : 8 KIP L/G, 14R : LOC CAPT L/G</a:t>
                      </a:r>
                      <a:endParaRPr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FAF : Final Flap</a:t>
                      </a:r>
                      <a:endParaRPr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TWR -&gt; GND -&gt; APRON (All by ATC)</a:t>
                      </a:r>
                      <a:endParaRPr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Except RWY14R Landing (Until R)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graphicFrame>
        <p:nvGraphicFramePr>
          <p:cNvPr id="157" name="Google Shape;157;p5"/>
          <p:cNvGraphicFramePr/>
          <p:nvPr>
            <p:extLst>
              <p:ext uri="{D42A27DB-BD31-4B8C-83A1-F6EECF244321}">
                <p14:modId xmlns:p14="http://schemas.microsoft.com/office/powerpoint/2010/main" val="210810163"/>
              </p:ext>
            </p:extLst>
          </p:nvPr>
        </p:nvGraphicFramePr>
        <p:xfrm>
          <a:off x="-2501" y="16504"/>
          <a:ext cx="2328850" cy="56824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329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RKPK(PUS) 13ft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u="none" strike="noStrike" cap="none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RKSS(GMP) 59ft</a:t>
                      </a:r>
                      <a:endParaRPr lang="en-US" altLang="ko-Kore-KR" sz="1300" u="none" strike="noStrike" cap="none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14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KE Gimhae 129.2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>
                          <a:solidFill>
                            <a:srgbClr val="FF0000"/>
                          </a:solidFill>
                        </a:rPr>
                        <a:t>DCL -5분</a:t>
                      </a:r>
                      <a:endParaRPr sz="700">
                        <a:solidFill>
                          <a:srgbClr val="FF0000"/>
                        </a:solidFill>
                      </a:endParaRPr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GMP 131.15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158" name="Google Shape;158;p5"/>
          <p:cNvSpPr txBox="1"/>
          <p:nvPr/>
        </p:nvSpPr>
        <p:spPr>
          <a:xfrm>
            <a:off x="-35514" y="602871"/>
            <a:ext cx="1666195" cy="4924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Rwy</a:t>
            </a:r>
            <a:r>
              <a:rPr lang="en-US" sz="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32L </a:t>
            </a:r>
            <a:r>
              <a:rPr lang="en-US" sz="1000" b="1" dirty="0">
                <a:solidFill>
                  <a:srgbClr val="C00000"/>
                </a:solidFill>
                <a:latin typeface="Calibri"/>
                <a:ea typeface="Calibri"/>
                <a:cs typeface="Calibri"/>
                <a:sym typeface="Calibri"/>
              </a:rPr>
              <a:t>Landing</a:t>
            </a:r>
            <a:r>
              <a:rPr lang="en-US" sz="8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 </a:t>
            </a:r>
            <a:endParaRPr b="1"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(06:00L~0900L / 12:00L~15:00L /18:00L~21:00L)</a:t>
            </a:r>
            <a:endParaRPr dirty="0"/>
          </a:p>
        </p:txBody>
      </p:sp>
      <p:pic>
        <p:nvPicPr>
          <p:cNvPr id="168" name="Google Shape;168;p5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0" y="2723283"/>
            <a:ext cx="1056807" cy="719976"/>
          </a:xfrm>
          <a:prstGeom prst="rect">
            <a:avLst/>
          </a:prstGeom>
          <a:noFill/>
          <a:ln>
            <a:noFill/>
          </a:ln>
        </p:spPr>
      </p:pic>
      <p:pic>
        <p:nvPicPr>
          <p:cNvPr id="3" name="그림 2" descr="텍스트, 시계이(가) 표시된 사진&#10;&#10;자동 생성된 설명">
            <a:extLst>
              <a:ext uri="{FF2B5EF4-FFF2-40B4-BE49-F238E27FC236}">
                <a16:creationId xmlns:a16="http://schemas.microsoft.com/office/drawing/2014/main" id="{55C3732C-B99F-06C8-0284-40550C1D6F8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602416" y="584746"/>
            <a:ext cx="492402" cy="492402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102DFD9A-3DE5-9849-C4DF-4F8F47DFC0AA}"/>
              </a:ext>
            </a:extLst>
          </p:cNvPr>
          <p:cNvSpPr txBox="1"/>
          <p:nvPr/>
        </p:nvSpPr>
        <p:spPr>
          <a:xfrm>
            <a:off x="1268244" y="3167422"/>
            <a:ext cx="123270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Domestic</a:t>
            </a:r>
            <a:endParaRPr lang="en-US" altLang="ko-KR" sz="14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D08367DE-04CA-9C27-2F38-9B696219DB24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8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74" name="Google Shape;174;p6"/>
          <p:cNvGraphicFramePr/>
          <p:nvPr>
            <p:extLst>
              <p:ext uri="{D42A27DB-BD31-4B8C-83A1-F6EECF244321}">
                <p14:modId xmlns:p14="http://schemas.microsoft.com/office/powerpoint/2010/main" val="120629940"/>
              </p:ext>
            </p:extLst>
          </p:nvPr>
        </p:nvGraphicFramePr>
        <p:xfrm>
          <a:off x="0" y="631358"/>
          <a:ext cx="2335800" cy="149881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62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6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9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53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978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082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271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81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3352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3525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CJU : SID (NADP 1)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07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KAMIT xE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066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066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10000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066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25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KAMIT xW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246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246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10000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246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5700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YDM 109.0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07 109.9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25 111.3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5700">
                <a:tc gridSpan="5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07 : NONE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5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25 : YDM246/3, R290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016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07(87’)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10433’</a:t>
                      </a:r>
                      <a:endParaRPr sz="800" b="1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25(76’)</a:t>
                      </a:r>
                      <a:endParaRPr sz="800" b="1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5700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07 : Passing G4 CTC TWR 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25 : 31 Holding PSN on P, E1,2,3 CTC TWR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175" name="Google Shape;175;p6"/>
          <p:cNvGraphicFramePr/>
          <p:nvPr>
            <p:extLst>
              <p:ext uri="{D42A27DB-BD31-4B8C-83A1-F6EECF244321}">
                <p14:modId xmlns:p14="http://schemas.microsoft.com/office/powerpoint/2010/main" val="1885465656"/>
              </p:ext>
            </p:extLst>
          </p:nvPr>
        </p:nvGraphicFramePr>
        <p:xfrm>
          <a:off x="-15362" y="3048090"/>
          <a:ext cx="2363857" cy="2511508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5482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4557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11793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58243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179894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KWJ : NO STAR (TL 140확인)</a:t>
                      </a:r>
                      <a:r>
                        <a:rPr lang="ko-KR" altLang="en-US" sz="800" dirty="0"/>
                        <a:t> </a:t>
                      </a:r>
                      <a:r>
                        <a:rPr lang="en-US" altLang="ko-KR" sz="800" dirty="0"/>
                        <a:t>–</a:t>
                      </a:r>
                      <a:r>
                        <a:rPr lang="ko-KR" altLang="en-US" sz="800" dirty="0"/>
                        <a:t> </a:t>
                      </a:r>
                      <a:r>
                        <a:rPr lang="en-US" altLang="ko-KR" sz="800" b="0" dirty="0">
                          <a:solidFill>
                            <a:srgbClr val="FFC000"/>
                          </a:solidFill>
                        </a:rPr>
                        <a:t>STAR RNP app Only</a:t>
                      </a:r>
                      <a:r>
                        <a:rPr lang="en-US" altLang="ko-KR" sz="800" b="0" dirty="0"/>
                        <a:t>!!</a:t>
                      </a:r>
                      <a:endParaRPr sz="800" b="0" dirty="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349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04R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no KOTTY</a:t>
                      </a:r>
                      <a:endParaRPr sz="458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1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SAMUL/-15</a:t>
                      </a:r>
                      <a:endParaRPr lang="ko-Kore-KR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1" dirty="0"/>
                        <a:t>CI04R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2338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800" b="1" dirty="0"/>
                        <a:t>RNP 22L</a:t>
                      </a: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</a:rPr>
                        <a:t>ORUSA x</a:t>
                      </a: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ORUSA Tx</a:t>
                      </a: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3.3도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814210947"/>
                  </a:ext>
                </a:extLst>
              </a:tr>
              <a:tr h="16349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LOC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22L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SAMUL</a:t>
                      </a:r>
                      <a:endParaRPr sz="458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1"/>
                        <a:t>D058Q</a:t>
                      </a:r>
                      <a:endParaRPr lang="ko-Kore-KR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Calibri"/>
                        </a:rPr>
                        <a:t>No PAR</a:t>
                      </a:r>
                      <a:r>
                        <a:rPr kumimoji="0" lang="ko-KR" altLang="en-US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3.3도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6349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VOR 22L</a:t>
                      </a:r>
                      <a:r>
                        <a:rPr lang="en-US" altLang="ko-KR" sz="800" b="1" dirty="0"/>
                        <a:t>/</a:t>
                      </a:r>
                      <a:r>
                        <a:rPr lang="en-US" sz="800" b="1" dirty="0"/>
                        <a:t>R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SAMUL</a:t>
                      </a:r>
                      <a:endParaRPr sz="458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1" i="0" u="none" strike="noStrike" cap="none" dirty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D058Q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1" i="0" u="none" strike="noStrike" cap="none" dirty="0">
                          <a:solidFill>
                            <a:srgbClr val="000000"/>
                          </a:solidFill>
                          <a:latin typeface="Calibri"/>
                          <a:cs typeface="Calibri"/>
                          <a:sym typeface="Calibri"/>
                        </a:rPr>
                        <a:t>Offset 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3.29도 </a:t>
                      </a:r>
                      <a:r>
                        <a:rPr lang="ko-KR" altLang="en-US" sz="800" b="1" i="0" u="none" strike="noStrike" cap="none" dirty="0">
                          <a:solidFill>
                            <a:srgbClr val="000000"/>
                          </a:solidFill>
                          <a:latin typeface="Calibri"/>
                          <a:cs typeface="Calibri"/>
                          <a:sym typeface="Calibri"/>
                        </a:rPr>
                        <a:t> 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6349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PAR</a:t>
                      </a:r>
                      <a:endParaRPr kumimoji="0" lang="en-US" altLang="ko-Kore-KR" sz="458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RWxx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 EXT 8NM, 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Do not Tune ILS 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algn="ctr"/>
                      <a:endParaRPr lang="ko-Kore-KR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algn="ctr"/>
                      <a:endParaRPr lang="ko-Kore-KR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3145471554"/>
                  </a:ext>
                </a:extLst>
              </a:tr>
              <a:tr h="163495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04R(46’)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9301’</a:t>
                      </a:r>
                      <a:endParaRPr sz="458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22L(48’)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6349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04L(46’)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9301’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22R(48’)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6349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FIX</a:t>
                      </a:r>
                      <a:endParaRPr/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04R : SAMUL(For reference)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6349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End of RWY Vacating 9301’</a:t>
                      </a:r>
                      <a:endParaRPr sz="800" b="1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459021">
                <a:tc gridSpan="4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LOC 22L, VOR 22L/R </a:t>
                      </a:r>
                      <a:r>
                        <a:rPr lang="en-US" sz="800" b="1" dirty="0">
                          <a:solidFill>
                            <a:srgbClr val="00B0F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-&gt; </a:t>
                      </a:r>
                      <a:r>
                        <a:rPr lang="en-US" sz="700" b="1" dirty="0">
                          <a:solidFill>
                            <a:srgbClr val="00B0F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LOC/VOR LNAV </a:t>
                      </a:r>
                      <a:r>
                        <a:rPr lang="ko-KR" altLang="en-US" sz="700" b="1" dirty="0">
                          <a:solidFill>
                            <a:srgbClr val="00B0F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지시고도 유지후 </a:t>
                      </a:r>
                      <a:r>
                        <a:rPr lang="en-US" sz="700" b="1" dirty="0">
                          <a:solidFill>
                            <a:srgbClr val="00B0F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Final Establish </a:t>
                      </a:r>
                      <a:r>
                        <a:rPr lang="ko-KR" altLang="en-US" sz="700" b="1" dirty="0">
                          <a:solidFill>
                            <a:srgbClr val="00B0F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이후 강하</a:t>
                      </a:r>
                      <a:r>
                        <a:rPr lang="en-US" altLang="ko-KR" sz="700" b="1" dirty="0">
                          <a:solidFill>
                            <a:srgbClr val="00B0F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(TERR!!)</a:t>
                      </a: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PAR 04L/R, 22R </a:t>
                      </a:r>
                      <a:r>
                        <a:rPr lang="ko-KR" alt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가능 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:</a:t>
                      </a:r>
                      <a:r>
                        <a:rPr lang="ko-KR" alt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ko-KR" altLang="en-US" sz="800" b="1" dirty="0" err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강하각</a:t>
                      </a:r>
                      <a:r>
                        <a:rPr lang="ko-KR" alt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</a:t>
                      </a:r>
                      <a:r>
                        <a:rPr lang="ko-KR" alt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도 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(6NM, 3</a:t>
                      </a:r>
                      <a:r>
                        <a:rPr lang="ko-KR" alt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도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)</a:t>
                      </a:r>
                      <a:endParaRPr sz="800" b="1" dirty="0">
                        <a:solidFill>
                          <a:srgbClr val="0070C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TAXI MAX 15 kts (Max 30kts by ATC) 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graphicFrame>
        <p:nvGraphicFramePr>
          <p:cNvPr id="176" name="Google Shape;176;p6"/>
          <p:cNvGraphicFramePr/>
          <p:nvPr>
            <p:extLst>
              <p:ext uri="{D42A27DB-BD31-4B8C-83A1-F6EECF244321}">
                <p14:modId xmlns:p14="http://schemas.microsoft.com/office/powerpoint/2010/main" val="3573718069"/>
              </p:ext>
            </p:extLst>
          </p:nvPr>
        </p:nvGraphicFramePr>
        <p:xfrm>
          <a:off x="-2501" y="16504"/>
          <a:ext cx="2328850" cy="59406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u="none" strike="noStrike" cap="none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RKPC(CJU) 119ft</a:t>
                      </a:r>
                      <a:endParaRPr lang="en-US" altLang="ko-Kore-KR" sz="1300" u="none" strike="noStrike" cap="none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RKJJ(KWJ) 48ft</a:t>
                      </a:r>
                      <a:endParaRPr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KE CJU 129.4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700"/>
                        <a:buFont typeface="Calibri"/>
                        <a:buNone/>
                      </a:pPr>
                      <a:r>
                        <a:rPr lang="en-US" sz="700">
                          <a:solidFill>
                            <a:srgbClr val="FF0000"/>
                          </a:solidFill>
                        </a:rPr>
                        <a:t>DCL -10분</a:t>
                      </a:r>
                      <a:endParaRPr sz="700">
                        <a:solidFill>
                          <a:srgbClr val="FF0000"/>
                        </a:solidFill>
                      </a:endParaRPr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KWJ 129.4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pic>
        <p:nvPicPr>
          <p:cNvPr id="178" name="Google Shape;178;p6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-8784" y="2135843"/>
            <a:ext cx="1415542" cy="775798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5759C90C-95A8-11D3-E92B-972143670888}"/>
              </a:ext>
            </a:extLst>
          </p:cNvPr>
          <p:cNvSpPr txBox="1"/>
          <p:nvPr/>
        </p:nvSpPr>
        <p:spPr>
          <a:xfrm>
            <a:off x="1268244" y="2722258"/>
            <a:ext cx="123270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Domestic</a:t>
            </a:r>
            <a:endParaRPr lang="en-US" altLang="ko-KR" sz="14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3" name="직사각형 2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A05AB18E-6A6D-D896-C0E1-0B1F6C21F4C7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84" name="Google Shape;184;p7"/>
          <p:cNvGraphicFramePr/>
          <p:nvPr>
            <p:extLst>
              <p:ext uri="{D42A27DB-BD31-4B8C-83A1-F6EECF244321}">
                <p14:modId xmlns:p14="http://schemas.microsoft.com/office/powerpoint/2010/main" val="3104195885"/>
              </p:ext>
            </p:extLst>
          </p:nvPr>
        </p:nvGraphicFramePr>
        <p:xfrm>
          <a:off x="0" y="640885"/>
          <a:ext cx="2335825" cy="2130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744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9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055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459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442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232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67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447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43437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2379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KWJ : SID (NADP 1)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FFC000"/>
                          </a:solidFill>
                        </a:rPr>
                        <a:t>DALSU – Y711 – DOTOL Comm RTE(ATC CLR) </a:t>
                      </a:r>
                      <a:r>
                        <a:rPr lang="ko-KR" altLang="en-US" sz="800" dirty="0">
                          <a:solidFill>
                            <a:srgbClr val="FFC000"/>
                          </a:solidFill>
                        </a:rPr>
                        <a:t>확인</a:t>
                      </a:r>
                      <a:r>
                        <a:rPr lang="en-US" altLang="ko-KR" sz="800" dirty="0">
                          <a:solidFill>
                            <a:srgbClr val="FFC000"/>
                          </a:solidFill>
                        </a:rPr>
                        <a:t>!</a:t>
                      </a:r>
                      <a:r>
                        <a:rPr lang="ko-KR" altLang="en-US" sz="800" dirty="0">
                          <a:solidFill>
                            <a:srgbClr val="FFC000"/>
                          </a:solidFill>
                        </a:rPr>
                        <a:t> </a:t>
                      </a:r>
                      <a:endParaRPr lang="en-US" altLang="ko-KR" sz="800" dirty="0">
                        <a:solidFill>
                          <a:srgbClr val="FFC000"/>
                        </a:solidFill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chemeClr val="bg1"/>
                          </a:solidFill>
                        </a:rPr>
                        <a:t>(Join Air Way </a:t>
                      </a:r>
                      <a:r>
                        <a:rPr lang="en-US" altLang="ko-KR" sz="800" dirty="0">
                          <a:solidFill>
                            <a:schemeClr val="bg1"/>
                          </a:solidFill>
                        </a:rPr>
                        <a:t>-</a:t>
                      </a:r>
                      <a:r>
                        <a:rPr lang="ko-KR" altLang="en-US" sz="800" dirty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en-US" sz="800" dirty="0">
                          <a:solidFill>
                            <a:schemeClr val="bg1"/>
                          </a:solidFill>
                        </a:rPr>
                        <a:t>DCT DOTOL CRS 192</a:t>
                      </a:r>
                      <a:r>
                        <a:rPr lang="en-US" altLang="ko-KR" sz="800" dirty="0">
                          <a:solidFill>
                            <a:schemeClr val="bg1"/>
                          </a:solidFill>
                        </a:rPr>
                        <a:t>-</a:t>
                      </a:r>
                      <a:r>
                        <a:rPr lang="ko-KR" altLang="en-US" sz="800" dirty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en-US" altLang="ko-KR" sz="800" dirty="0">
                          <a:solidFill>
                            <a:schemeClr val="bg1"/>
                          </a:solidFill>
                        </a:rPr>
                        <a:t>LNAV</a:t>
                      </a:r>
                      <a:r>
                        <a:rPr lang="en-US" sz="800" dirty="0">
                          <a:solidFill>
                            <a:schemeClr val="bg1"/>
                          </a:solidFill>
                        </a:rPr>
                        <a:t>)</a:t>
                      </a:r>
                      <a:endParaRPr sz="800" dirty="0">
                        <a:solidFill>
                          <a:schemeClr val="bg1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ALL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KWA 5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8000</a:t>
                      </a:r>
                      <a:endParaRPr sz="458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04L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(GWJ 3)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038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038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ATC</a:t>
                      </a:r>
                      <a:endParaRPr sz="458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038</a:t>
                      </a:r>
                      <a:endParaRPr sz="6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22R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(GWJ 4)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218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218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ATC</a:t>
                      </a:r>
                      <a:endParaRPr sz="458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218</a:t>
                      </a:r>
                      <a:endParaRPr sz="6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5700"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KWA 114.4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 dirty="0">
                          <a:solidFill>
                            <a:srgbClr val="C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04R 111.1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22L 108.5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15700">
                <a:tc gridSpan="5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04 : KWA /4.5, R225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5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22 : None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01600">
                <a:tc rowSpan="2"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rowSpan="2"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04L(46’)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9301’</a:t>
                      </a:r>
                      <a:endParaRPr sz="800" b="1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22R(48’)</a:t>
                      </a:r>
                      <a:endParaRPr sz="800" b="1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01600">
                <a:tc gridSpan="2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04R(46’)</a:t>
                      </a:r>
                      <a:endParaRPr sz="800" b="1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9301’</a:t>
                      </a:r>
                      <a:endParaRPr sz="800" b="1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22L(48’)</a:t>
                      </a:r>
                      <a:endParaRPr sz="800" b="1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15700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Taxi SPD MAX 15kts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MAX 30kts by ATC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graphicFrame>
        <p:nvGraphicFramePr>
          <p:cNvPr id="185" name="Google Shape;185;p7"/>
          <p:cNvGraphicFramePr/>
          <p:nvPr>
            <p:extLst>
              <p:ext uri="{D42A27DB-BD31-4B8C-83A1-F6EECF244321}">
                <p14:modId xmlns:p14="http://schemas.microsoft.com/office/powerpoint/2010/main" val="2187236667"/>
              </p:ext>
            </p:extLst>
          </p:nvPr>
        </p:nvGraphicFramePr>
        <p:xfrm>
          <a:off x="4472" y="3785736"/>
          <a:ext cx="2346540" cy="177288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0178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477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2063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2629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8470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58266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493742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156000">
                <a:tc gridSpan="7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CJU : STAR 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FFC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AFT Merge PT(220kts) DCT IAF(210kts), FAF (160kts</a:t>
                      </a:r>
                      <a:r>
                        <a:rPr kumimoji="0" lang="en-US" altLang="ko-Kore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)</a:t>
                      </a:r>
                      <a:endParaRPr sz="800" dirty="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41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Z 07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DOTOL </a:t>
                      </a:r>
                      <a:r>
                        <a:rPr lang="en-US" sz="800" b="1" dirty="0" err="1"/>
                        <a:t>xP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YUMIN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DOTOL 160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1800">
                <a:tc gridSpan="7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RNP Y 07 </a:t>
                      </a:r>
                      <a:r>
                        <a:rPr kumimoji="0" lang="en-US" altLang="ko-Kore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(No LPV)</a:t>
                      </a:r>
                      <a:r>
                        <a:rPr kumimoji="0" lang="en-US" altLang="ko-Kore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, RNP Z 07 AR </a:t>
                      </a:r>
                      <a:r>
                        <a:rPr kumimoji="0" lang="en-US" altLang="ko-Kore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(No B737-900, RNP 0.11)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 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58"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92186472"/>
                  </a:ext>
                </a:extLst>
              </a:tr>
              <a:tr h="141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Z 25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DOTOL </a:t>
                      </a:r>
                      <a:r>
                        <a:rPr lang="en-US" sz="800" b="1" dirty="0" err="1"/>
                        <a:t>xT</a:t>
                      </a:r>
                      <a:r>
                        <a:rPr lang="en-US" sz="800" b="1" dirty="0"/>
                        <a:t>(</a:t>
                      </a:r>
                      <a:r>
                        <a:rPr lang="en-US" sz="800" b="1" dirty="0" err="1"/>
                        <a:t>xM</a:t>
                      </a:r>
                      <a:r>
                        <a:rPr lang="en-US" sz="800" b="1" dirty="0"/>
                        <a:t>)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DUKAL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DOTOL/-10  160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0925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07(87’)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10433’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25(76’)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0075">
                <a:tc gridSpan="7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07 : P6(5176’), P5(5882’), </a:t>
                      </a: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P4(6840’-ATC HIRO)</a:t>
                      </a:r>
                      <a:endParaRPr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25 : P7(5219’), P8(5882’), </a:t>
                      </a: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P10(7524’-ATC HIRO) 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20075">
                <a:tc gridSpan="7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Entering Rapid TWY CTC GND 121.675 (STOP x)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HST 40KTS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186" name="Google Shape;186;p7"/>
          <p:cNvGraphicFramePr/>
          <p:nvPr>
            <p:extLst>
              <p:ext uri="{D42A27DB-BD31-4B8C-83A1-F6EECF244321}">
                <p14:modId xmlns:p14="http://schemas.microsoft.com/office/powerpoint/2010/main" val="3404563994"/>
              </p:ext>
            </p:extLst>
          </p:nvPr>
        </p:nvGraphicFramePr>
        <p:xfrm>
          <a:off x="-2501" y="16504"/>
          <a:ext cx="2328850" cy="59406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RKJJ(KWJ) 48ft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u="none" strike="noStrike" cap="none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RKPC(CJU) 119ft</a:t>
                      </a:r>
                      <a:endParaRPr lang="en-US" altLang="ko-Kore-KR" sz="1300" u="none" strike="noStrike" cap="none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KE KWJ 129.4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>
                          <a:solidFill>
                            <a:srgbClr val="FF0000"/>
                          </a:solidFill>
                        </a:rPr>
                        <a:t>NO DCL</a:t>
                      </a:r>
                      <a:endParaRPr sz="700">
                        <a:solidFill>
                          <a:srgbClr val="FF0000"/>
                        </a:solidFill>
                      </a:endParaRPr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CJU 129.4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pic>
        <p:nvPicPr>
          <p:cNvPr id="188" name="Google Shape;188;p7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512" y="2774431"/>
            <a:ext cx="1054108" cy="1011305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0782A4B3-7311-E70E-8F1E-6AA2A950A9A9}"/>
              </a:ext>
            </a:extLst>
          </p:cNvPr>
          <p:cNvSpPr txBox="1"/>
          <p:nvPr/>
        </p:nvSpPr>
        <p:spPr>
          <a:xfrm>
            <a:off x="1268244" y="3482473"/>
            <a:ext cx="123270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Domestic</a:t>
            </a:r>
            <a:endParaRPr lang="en-US" altLang="ko-KR" sz="14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3" name="직사각형 2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FCF55EBE-A8D5-47A4-B1EE-6E09132604F0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4" name="Google Shape;194;p8"/>
          <p:cNvGraphicFramePr/>
          <p:nvPr>
            <p:extLst>
              <p:ext uri="{D42A27DB-BD31-4B8C-83A1-F6EECF244321}">
                <p14:modId xmlns:p14="http://schemas.microsoft.com/office/powerpoint/2010/main" val="677818939"/>
              </p:ext>
            </p:extLst>
          </p:nvPr>
        </p:nvGraphicFramePr>
        <p:xfrm>
          <a:off x="0" y="639107"/>
          <a:ext cx="2335800" cy="149881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62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6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9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53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978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082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271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81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3352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3525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CJU : SID (NADP 1)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07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KAMIT xE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066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066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10000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066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25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KAMIT xW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246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246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10000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246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5700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YDM 109.0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07 109.9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25 111.3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5700">
                <a:tc gridSpan="5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07 : NONE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5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25 : YDM246/3, R290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016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07(87’)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10433’</a:t>
                      </a:r>
                      <a:endParaRPr sz="800" b="1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25(76’)</a:t>
                      </a:r>
                      <a:endParaRPr sz="800" b="1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5700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07 : Passing G4 CTC TWR 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25 : 31 Holding PSN on P, E1,2,3 CTC TWR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195" name="Google Shape;195;p8"/>
          <p:cNvGraphicFramePr/>
          <p:nvPr>
            <p:extLst>
              <p:ext uri="{D42A27DB-BD31-4B8C-83A1-F6EECF244321}">
                <p14:modId xmlns:p14="http://schemas.microsoft.com/office/powerpoint/2010/main" val="2339552871"/>
              </p:ext>
            </p:extLst>
          </p:nvPr>
        </p:nvGraphicFramePr>
        <p:xfrm>
          <a:off x="-2501" y="3043740"/>
          <a:ext cx="2349350" cy="25156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55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7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631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146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084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 gridSpan="5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CJJ : NO STAR </a:t>
                      </a: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Caution TCAS RA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dirty="0">
                          <a:solidFill>
                            <a:srgbClr val="FFC000"/>
                          </a:solidFill>
                        </a:rPr>
                        <a:t> PEBRI FL150, After OSPOT H/D060 – RDR Vector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dirty="0">
                          <a:solidFill>
                            <a:srgbClr val="FFC000"/>
                          </a:solidFill>
                        </a:rPr>
                        <a:t>Req ILS Z 24R via HYEIN</a:t>
                      </a:r>
                      <a:endParaRPr sz="700" dirty="0">
                        <a:solidFill>
                          <a:srgbClr val="FFC000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ILS Z 06L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NO STAR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(MATIZ x)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OSPOT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(JIKJI </a:t>
                      </a:r>
                      <a:r>
                        <a:rPr lang="en-US" sz="800" b="1" dirty="0" err="1"/>
                        <a:t>tx</a:t>
                      </a:r>
                      <a:r>
                        <a:rPr lang="en-US" sz="800" b="1" dirty="0"/>
                        <a:t>)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TU761 / BAKJO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(STAR 안줌)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ILS Z 24R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NO STAR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(MATIZ x)</a:t>
                      </a:r>
                      <a:endParaRPr sz="458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OSPOT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(HYEIN </a:t>
                      </a:r>
                      <a:r>
                        <a:rPr lang="en-US" sz="800" b="1" dirty="0" err="1"/>
                        <a:t>tx</a:t>
                      </a:r>
                      <a:r>
                        <a:rPr lang="en-US" sz="800" b="1" dirty="0"/>
                        <a:t>)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HYEIN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(STAR 안줌)</a:t>
                      </a:r>
                      <a:endParaRPr sz="458" b="1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PAR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gridSpan="4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RWxx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 EXT 8NM, 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Do not Tune ILS 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58"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endParaRPr sz="458" b="1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3536119663"/>
                  </a:ext>
                </a:extLst>
              </a:tr>
              <a:tr h="112850">
                <a:tc rowSpan="2"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rowSpan="2"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06L(166’)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9003’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24R(182’)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12850">
                <a:tc gridSpan="2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06R(173’)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9003’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24L(191’)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01600">
                <a:tc gridSpan="5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06L : B3(6443’), A3(8786’), 24R : C3(6230’), D3(8825’)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01600">
                <a:tc gridSpan="5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accen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GS </a:t>
                      </a:r>
                      <a:r>
                        <a:rPr lang="en-US" sz="800" b="1" dirty="0" err="1">
                          <a:solidFill>
                            <a:schemeClr val="accen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fluc</a:t>
                      </a:r>
                      <a:r>
                        <a:rPr lang="en-US" sz="800" b="1" dirty="0">
                          <a:solidFill>
                            <a:schemeClr val="accen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 - A/P </a:t>
                      </a:r>
                      <a:r>
                        <a:rPr lang="en-US" sz="800" b="1" dirty="0" err="1">
                          <a:solidFill>
                            <a:schemeClr val="accen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Dis’</a:t>
                      </a:r>
                      <a:r>
                        <a:rPr lang="en-US" sz="800" b="1" dirty="0">
                          <a:solidFill>
                            <a:schemeClr val="accen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– Back to Normal – A/P Reengage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Req full length Landing (Vacate End of RWY) </a:t>
                      </a:r>
                      <a:endParaRPr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180 BACK LINE </a:t>
                      </a:r>
                      <a:r>
                        <a:rPr lang="ko-KR" alt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지나 </a:t>
                      </a:r>
                      <a:r>
                        <a:rPr lang="en-US" altLang="ko-KR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Taxi Line </a:t>
                      </a:r>
                      <a:r>
                        <a:rPr lang="ko-KR" alt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있음</a:t>
                      </a:r>
                      <a:endParaRPr sz="800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Entering TWY A3, B3, B4, C3, D3 change GND </a:t>
                      </a:r>
                      <a:r>
                        <a:rPr lang="en-US" sz="800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freq</a:t>
                      </a: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Unless ATC, Taxi SPD less than 20KTS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graphicFrame>
        <p:nvGraphicFramePr>
          <p:cNvPr id="196" name="Google Shape;196;p8"/>
          <p:cNvGraphicFramePr/>
          <p:nvPr>
            <p:extLst>
              <p:ext uri="{D42A27DB-BD31-4B8C-83A1-F6EECF244321}">
                <p14:modId xmlns:p14="http://schemas.microsoft.com/office/powerpoint/2010/main" val="2139163547"/>
              </p:ext>
            </p:extLst>
          </p:nvPr>
        </p:nvGraphicFramePr>
        <p:xfrm>
          <a:off x="-2501" y="16504"/>
          <a:ext cx="2328850" cy="59406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u="none" strike="noStrike" cap="none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RKPC(CJU) 119ft</a:t>
                      </a:r>
                      <a:endParaRPr lang="en-US" altLang="ko-Kore-KR" sz="1300" u="none" strike="noStrike" cap="none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RKTU(CJJ) 192ft</a:t>
                      </a:r>
                      <a:endParaRPr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KE CJU 129.4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700"/>
                        <a:buFont typeface="Calibri"/>
                        <a:buNone/>
                      </a:pPr>
                      <a:r>
                        <a:rPr lang="en-US" sz="700" b="0" i="0" u="none" strike="noStrike" cap="none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-10분</a:t>
                      </a:r>
                      <a:endParaRPr sz="700" b="0" i="0" u="none" strike="noStrike" cap="none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CJJ 129.05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dirty="0">
                          <a:solidFill>
                            <a:srgbClr val="FF0000"/>
                          </a:solidFill>
                        </a:rPr>
                        <a:t>NO DCL, ATIS</a:t>
                      </a:r>
                      <a:endParaRPr sz="700" dirty="0">
                        <a:solidFill>
                          <a:srgbClr val="FF0000"/>
                        </a:solidFill>
                      </a:endParaRPr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pic>
        <p:nvPicPr>
          <p:cNvPr id="198" name="Google Shape;198;p8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-2501" y="2150396"/>
            <a:ext cx="1415542" cy="775798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41BDCFA2-A5FB-A979-2969-6AF8C88B2C70}"/>
              </a:ext>
            </a:extLst>
          </p:cNvPr>
          <p:cNvSpPr txBox="1"/>
          <p:nvPr/>
        </p:nvSpPr>
        <p:spPr>
          <a:xfrm>
            <a:off x="1268244" y="2648456"/>
            <a:ext cx="123270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Domestic</a:t>
            </a:r>
            <a:endParaRPr lang="en-US" altLang="ko-KR" sz="14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3" name="직사각형 2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28B715E8-BB37-04EE-10D7-8B1B1AEC34AC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4" name="Google Shape;204;p9"/>
          <p:cNvGraphicFramePr/>
          <p:nvPr>
            <p:extLst>
              <p:ext uri="{D42A27DB-BD31-4B8C-83A1-F6EECF244321}">
                <p14:modId xmlns:p14="http://schemas.microsoft.com/office/powerpoint/2010/main" val="706008215"/>
              </p:ext>
            </p:extLst>
          </p:nvPr>
        </p:nvGraphicFramePr>
        <p:xfrm>
          <a:off x="0" y="640885"/>
          <a:ext cx="2330975" cy="232441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618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67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07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936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2652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99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395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41972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35227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0">
                <a:tc gridSpan="9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800" dirty="0"/>
                        <a:t>CJJ : SID (NADP 1) </a:t>
                      </a:r>
                      <a:r>
                        <a:rPr lang="en-US" altLang="ko-Kore-KR" sz="800" dirty="0">
                          <a:solidFill>
                            <a:srgbClr val="C00000"/>
                          </a:solidFill>
                        </a:rPr>
                        <a:t>Caution TCAS RA</a:t>
                      </a: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06L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CJJ xD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060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060</a:t>
                      </a:r>
                      <a:endParaRPr sz="458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6000</a:t>
                      </a:r>
                      <a:endParaRPr sz="458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060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24R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CJJ xD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dirty="0">
                          <a:solidFill>
                            <a:srgbClr val="C00000"/>
                          </a:solidFill>
                        </a:rPr>
                        <a:t>240</a:t>
                      </a:r>
                      <a:endParaRPr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dirty="0"/>
                        <a:t>240</a:t>
                      </a:r>
                      <a:endParaRPr sz="458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6000</a:t>
                      </a:r>
                      <a:endParaRPr sz="458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>
                          <a:solidFill>
                            <a:srgbClr val="C00000"/>
                          </a:solidFill>
                        </a:rPr>
                        <a:t>240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01600">
                <a:tc gridSpan="9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When ASR is out, RNAV SID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58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90891660"/>
                  </a:ext>
                </a:extLst>
              </a:tr>
              <a:tr h="101600"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(06L : BUKIL 1, 2 RNAV)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(24R : OLREG 1, UPTIL 1)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5700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CHO 109.0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 dirty="0">
                          <a:solidFill>
                            <a:srgbClr val="C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06L 110.3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24R 111.7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15700">
                <a:tc gridSpan="5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06L/R : CHO /1.7, R235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24L/R : None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01600">
                <a:tc rowSpan="2"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rowSpan="2"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06L(166’)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9003’</a:t>
                      </a:r>
                      <a:endParaRPr sz="800" b="1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24R(182’)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01600">
                <a:tc gridSpan="2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06R(173’)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9003’</a:t>
                      </a:r>
                      <a:endParaRPr sz="800" b="1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24L(191’)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15700">
                <a:tc gridSpan="9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accen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Upslope from Apron to RWY</a:t>
                      </a: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Entering TWY A3, B3, B4, C3, D3 change TWR </a:t>
                      </a:r>
                      <a:r>
                        <a:rPr lang="en-US" sz="800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freq</a:t>
                      </a: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Unless ATC, Taxi SPD less than 20KTS 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Do not Cross </a:t>
                      </a:r>
                      <a:r>
                        <a:rPr kumimoji="0" lang="en-US" altLang="ko-Kore-KR" sz="800" b="1" i="0" u="none" strike="noStrike" kern="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Holdline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without ATC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graphicFrame>
        <p:nvGraphicFramePr>
          <p:cNvPr id="206" name="Google Shape;206;p9"/>
          <p:cNvGraphicFramePr/>
          <p:nvPr>
            <p:extLst>
              <p:ext uri="{D42A27DB-BD31-4B8C-83A1-F6EECF244321}">
                <p14:modId xmlns:p14="http://schemas.microsoft.com/office/powerpoint/2010/main" val="1722761944"/>
              </p:ext>
            </p:extLst>
          </p:nvPr>
        </p:nvGraphicFramePr>
        <p:xfrm>
          <a:off x="-5475" y="16504"/>
          <a:ext cx="2331824" cy="59406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577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RKTU(CJJ) 192ft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u="none" strike="noStrike" cap="none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RKPC(CJU) 119ft</a:t>
                      </a:r>
                      <a:endParaRPr lang="en-US" altLang="ko-Kore-KR" sz="1300" u="none" strike="noStrike" cap="none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KE CJJ 129.05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>
                          <a:solidFill>
                            <a:srgbClr val="FF0000"/>
                          </a:solidFill>
                        </a:rPr>
                        <a:t>NO DCL, ATIS</a:t>
                      </a:r>
                      <a:endParaRPr sz="700">
                        <a:solidFill>
                          <a:srgbClr val="FF0000"/>
                        </a:solidFill>
                      </a:endParaRPr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CJU 129.4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pic>
        <p:nvPicPr>
          <p:cNvPr id="208" name="Google Shape;208;p9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14279" y="2968570"/>
            <a:ext cx="1357321" cy="597511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3" name="Google Shape;185;p7">
            <a:extLst>
              <a:ext uri="{FF2B5EF4-FFF2-40B4-BE49-F238E27FC236}">
                <a16:creationId xmlns:a16="http://schemas.microsoft.com/office/drawing/2014/main" id="{4AA90139-7D8C-A544-2E49-779F9C6ABFB9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739797365"/>
              </p:ext>
            </p:extLst>
          </p:nvPr>
        </p:nvGraphicFramePr>
        <p:xfrm>
          <a:off x="4472" y="3777984"/>
          <a:ext cx="2304147" cy="177288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9964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420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9120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34901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60949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15323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87913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156000">
                <a:tc gridSpan="7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CJU : STAR 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FFC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AFT Merge PT(220kts) DCT IAF(210kts), FAF (160kts)</a:t>
                      </a:r>
                      <a:endParaRPr sz="800" dirty="0">
                        <a:solidFill>
                          <a:srgbClr val="FFC000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41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Z 07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DOTOL </a:t>
                      </a:r>
                      <a:r>
                        <a:rPr lang="en-US" sz="800" b="1" dirty="0" err="1"/>
                        <a:t>xP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YUMIN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DOTOL 160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1800">
                <a:tc gridSpan="7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RNP Y 07 </a:t>
                      </a:r>
                      <a:r>
                        <a:rPr kumimoji="0" lang="en-US" altLang="ko-Kore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(No LPV)</a:t>
                      </a:r>
                      <a:r>
                        <a:rPr kumimoji="0" lang="en-US" altLang="ko-Kore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, RNP Z 07 AR </a:t>
                      </a:r>
                      <a:r>
                        <a:rPr kumimoji="0" lang="en-US" altLang="ko-Kore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(No B737-900, RNP 0.11)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 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58"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03921916"/>
                  </a:ext>
                </a:extLst>
              </a:tr>
              <a:tr h="141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Z 25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DOTOL </a:t>
                      </a:r>
                      <a:r>
                        <a:rPr lang="en-US" sz="800" b="1" dirty="0" err="1"/>
                        <a:t>xT</a:t>
                      </a:r>
                      <a:r>
                        <a:rPr lang="en-US" sz="800" b="1" dirty="0"/>
                        <a:t>(</a:t>
                      </a:r>
                      <a:r>
                        <a:rPr lang="en-US" sz="800" b="1" dirty="0" err="1"/>
                        <a:t>xM</a:t>
                      </a:r>
                      <a:r>
                        <a:rPr lang="en-US" sz="800" b="1" dirty="0"/>
                        <a:t>)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DUKAL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DOTOL/-10  160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0925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07(87’)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10433’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25(76’)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0075">
                <a:tc gridSpan="7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07 : P6(5176’), P5(5882’), </a:t>
                      </a: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P4(6840’-ATC HIRO)</a:t>
                      </a:r>
                      <a:endParaRPr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25 : P7(5219’), P8(5882’), </a:t>
                      </a: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P10(7524’-ATC HIRO) 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20075">
                <a:tc gridSpan="7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Entering Rapid TWY CTC GND 121.675 (STOP x)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HST 40KTS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2" name="TextBox 1">
            <a:extLst>
              <a:ext uri="{FF2B5EF4-FFF2-40B4-BE49-F238E27FC236}">
                <a16:creationId xmlns:a16="http://schemas.microsoft.com/office/drawing/2014/main" id="{627E7042-90F9-8233-76D0-9CC332B16296}"/>
              </a:ext>
            </a:extLst>
          </p:cNvPr>
          <p:cNvSpPr txBox="1"/>
          <p:nvPr/>
        </p:nvSpPr>
        <p:spPr>
          <a:xfrm>
            <a:off x="1268244" y="3472331"/>
            <a:ext cx="123270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Domestic</a:t>
            </a:r>
            <a:endParaRPr lang="en-US" altLang="ko-KR" sz="14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9B6FA1FD-940D-D3E2-F886-CF6AE7CF0568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10"/>
          <p:cNvGraphicFramePr/>
          <p:nvPr>
            <p:extLst>
              <p:ext uri="{D42A27DB-BD31-4B8C-83A1-F6EECF244321}">
                <p14:modId xmlns:p14="http://schemas.microsoft.com/office/powerpoint/2010/main" val="3372224988"/>
              </p:ext>
            </p:extLst>
          </p:nvPr>
        </p:nvGraphicFramePr>
        <p:xfrm>
          <a:off x="0" y="646856"/>
          <a:ext cx="2335800" cy="149881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62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6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9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53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978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082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271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81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3352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3525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CJU : SID (NADP 1)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07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AKPON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xE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066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066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9000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066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25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AKPON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xW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246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246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246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5700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YDM 109.0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07 109.9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25 111.3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5700">
                <a:tc gridSpan="5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07 : NONE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5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25 : YDM246/3, R290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016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07(87’)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10433’</a:t>
                      </a:r>
                      <a:endParaRPr sz="800" b="1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25(77’)</a:t>
                      </a:r>
                      <a:endParaRPr sz="800" b="1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5700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07 : Passing G4 CTC TWR 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25 : 31 Holding PSN on P, E1,2,3 CTC TWR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215" name="Google Shape;215;p10"/>
          <p:cNvGraphicFramePr/>
          <p:nvPr>
            <p:extLst>
              <p:ext uri="{D42A27DB-BD31-4B8C-83A1-F6EECF244321}">
                <p14:modId xmlns:p14="http://schemas.microsoft.com/office/powerpoint/2010/main" val="288910894"/>
              </p:ext>
            </p:extLst>
          </p:nvPr>
        </p:nvGraphicFramePr>
        <p:xfrm>
          <a:off x="-2501" y="3598722"/>
          <a:ext cx="2335800" cy="193657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8691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803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5583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07993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8339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5868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0"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TAE : NO STAR (TL </a:t>
                      </a:r>
                      <a:r>
                        <a:rPr lang="en-US" altLang="ko-KR" sz="800" dirty="0"/>
                        <a:t>140</a:t>
                      </a:r>
                      <a:r>
                        <a:rPr lang="ko-KR" altLang="en-US" sz="800" dirty="0"/>
                        <a:t> 확인</a:t>
                      </a:r>
                      <a:r>
                        <a:rPr lang="en-US" altLang="ko-KR" sz="800" dirty="0"/>
                        <a:t>)</a:t>
                      </a:r>
                      <a:endParaRPr sz="800" dirty="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31L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TGU/-10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CF31L222/7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CF31L</a:t>
                      </a:r>
                      <a:endParaRPr sz="458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13R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TGU/-10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YAWAN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58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PAR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gridSpan="5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RWxx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 EXT 8NM, 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Do not Tune ILS 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(13R Caution GPWS)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58"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58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549700757"/>
                  </a:ext>
                </a:extLst>
              </a:tr>
              <a:tr h="112850">
                <a:tc rowSpan="2"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rowSpan="2"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31L(118’)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9039’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13R(111’) </a:t>
                      </a:r>
                      <a:r>
                        <a:rPr lang="en-US" sz="800" b="1" dirty="0">
                          <a:solidFill>
                            <a:srgbClr val="FF0000"/>
                          </a:solidFill>
                        </a:rPr>
                        <a:t>3.3</a:t>
                      </a:r>
                      <a:endParaRPr sz="800" b="1" dirty="0">
                        <a:solidFill>
                          <a:srgbClr val="FF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12850">
                <a:tc gridSpan="2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31R(120’)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8999’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13L(112’)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01600">
                <a:tc gridSpan="6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31L : D1(8848’), 13R : A1(8772’)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01600">
                <a:tc gridSpan="6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13R ILS 3.3도 PAPI 3.3도 (</a:t>
                      </a:r>
                      <a:r>
                        <a:rPr lang="en-US" sz="800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산악지형</a:t>
                      </a: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sz="800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주의</a:t>
                      </a: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)</a:t>
                      </a:r>
                      <a:endParaRPr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TAXI MAX 20kts (do not req) </a:t>
                      </a:r>
                      <a:r>
                        <a:rPr lang="ko-KR" altLang="en-US" sz="800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전방기</a:t>
                      </a:r>
                      <a:r>
                        <a:rPr lang="ko-KR" alt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sz="800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최소</a:t>
                      </a: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2000ft </a:t>
                      </a:r>
                      <a:r>
                        <a:rPr lang="en-US" sz="800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간격</a:t>
                      </a:r>
                      <a:endParaRPr lang="en-US" sz="800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Stand 6-9 Oversteering Needed</a:t>
                      </a:r>
                      <a:endParaRPr sz="800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graphicFrame>
        <p:nvGraphicFramePr>
          <p:cNvPr id="216" name="Google Shape;216;p10"/>
          <p:cNvGraphicFramePr/>
          <p:nvPr>
            <p:extLst>
              <p:ext uri="{D42A27DB-BD31-4B8C-83A1-F6EECF244321}">
                <p14:modId xmlns:p14="http://schemas.microsoft.com/office/powerpoint/2010/main" val="3243436682"/>
              </p:ext>
            </p:extLst>
          </p:nvPr>
        </p:nvGraphicFramePr>
        <p:xfrm>
          <a:off x="-2501" y="16504"/>
          <a:ext cx="2328850" cy="59406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u="none" strike="noStrike" cap="none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RKPC(CJU) 119ft</a:t>
                      </a:r>
                      <a:endParaRPr lang="en-US" altLang="ko-Kore-KR" sz="1300" u="none" strike="noStrike" cap="none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RKTN(TAE) 120ft</a:t>
                      </a:r>
                      <a:endParaRPr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CJU 129.4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dirty="0">
                          <a:solidFill>
                            <a:srgbClr val="FF0000"/>
                          </a:solidFill>
                        </a:rPr>
                        <a:t>DCL -10분</a:t>
                      </a:r>
                      <a:endParaRPr sz="700" dirty="0">
                        <a:solidFill>
                          <a:srgbClr val="FF0000"/>
                        </a:solidFill>
                      </a:endParaRPr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TAE 129.2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pic>
        <p:nvPicPr>
          <p:cNvPr id="218" name="Google Shape;218;p10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-2501" y="2159439"/>
            <a:ext cx="1511236" cy="828244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3DE25A77-AD87-2891-BBA1-3541FE0A27F8}"/>
              </a:ext>
            </a:extLst>
          </p:cNvPr>
          <p:cNvSpPr txBox="1"/>
          <p:nvPr/>
        </p:nvSpPr>
        <p:spPr>
          <a:xfrm>
            <a:off x="1268244" y="3242110"/>
            <a:ext cx="123270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Domestic</a:t>
            </a:r>
            <a:endParaRPr lang="en-US" altLang="ko-KR" sz="14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3" name="직사각형 2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8EDA96E2-B950-6309-9DF7-4162EDFCF908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24" name="Google Shape;224;p11"/>
          <p:cNvGraphicFramePr/>
          <p:nvPr>
            <p:extLst>
              <p:ext uri="{D42A27DB-BD31-4B8C-83A1-F6EECF244321}">
                <p14:modId xmlns:p14="http://schemas.microsoft.com/office/powerpoint/2010/main" val="4090759542"/>
              </p:ext>
            </p:extLst>
          </p:nvPr>
        </p:nvGraphicFramePr>
        <p:xfrm>
          <a:off x="0" y="640885"/>
          <a:ext cx="2330975" cy="181465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618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67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07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936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2652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99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395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6112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5860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5227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TAE : SID (NADP 1)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31L/R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DAEGU xD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312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312</a:t>
                      </a:r>
                      <a:endParaRPr sz="458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8000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192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13L/R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DAEGU xD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132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132</a:t>
                      </a:r>
                      <a:endParaRPr sz="458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8000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192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5700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DOC 116.5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TGU 112.2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 dirty="0">
                          <a:solidFill>
                            <a:srgbClr val="C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31L 108.7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13R 108.7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5700">
                <a:tc gridSpan="5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31 : DOC 245/11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DOC R245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5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13 : TGU076/17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TGU R076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01600">
                <a:tc rowSpan="2"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rowSpan="2"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31L(118’)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9039’</a:t>
                      </a:r>
                      <a:endParaRPr sz="800" b="1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13R(112’) </a:t>
                      </a:r>
                      <a:r>
                        <a:rPr lang="en-US" sz="800" b="1" dirty="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3.3</a:t>
                      </a:r>
                      <a:endParaRPr sz="800" b="1" dirty="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01600">
                <a:tc gridSpan="2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31R(120’)</a:t>
                      </a:r>
                      <a:endParaRPr sz="800" b="1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8999’</a:t>
                      </a:r>
                      <a:endParaRPr sz="800" b="1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13L(112’)</a:t>
                      </a:r>
                      <a:endParaRPr sz="800" b="1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15700">
                <a:tc gridSpan="10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TAXI MAX 20kts (do not req) </a:t>
                      </a:r>
                      <a:r>
                        <a:rPr lang="ko-KR" altLang="en-US" sz="800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전방기</a:t>
                      </a:r>
                      <a:r>
                        <a:rPr lang="ko-KR" alt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sz="800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최소</a:t>
                      </a: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2000ft </a:t>
                      </a:r>
                      <a:r>
                        <a:rPr lang="en-US" sz="800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간격</a:t>
                      </a:r>
                      <a:endParaRPr sz="800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R" sz="800" dirty="0">
                          <a:solidFill>
                            <a:srgbClr val="0070C0"/>
                          </a:solidFill>
                        </a:rPr>
                        <a:t>1F, 2F New Holding Point</a:t>
                      </a:r>
                      <a:endParaRPr sz="800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225" name="Google Shape;225;p11"/>
          <p:cNvGraphicFramePr/>
          <p:nvPr>
            <p:extLst>
              <p:ext uri="{D42A27DB-BD31-4B8C-83A1-F6EECF244321}">
                <p14:modId xmlns:p14="http://schemas.microsoft.com/office/powerpoint/2010/main" val="1598843999"/>
              </p:ext>
            </p:extLst>
          </p:nvPr>
        </p:nvGraphicFramePr>
        <p:xfrm>
          <a:off x="-2501" y="16504"/>
          <a:ext cx="2328850" cy="59406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RKTN(TAE) 120ft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u="none" strike="noStrike" cap="none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RKPC(CJU) 119ft</a:t>
                      </a:r>
                      <a:endParaRPr lang="en-US" altLang="ko-Kore-KR" sz="1300" u="none" strike="noStrike" cap="none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TAE 129.2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dirty="0">
                          <a:solidFill>
                            <a:schemeClr val="accent1"/>
                          </a:solidFill>
                        </a:rPr>
                        <a:t>DCL Available</a:t>
                      </a:r>
                      <a:endParaRPr sz="700" dirty="0">
                        <a:solidFill>
                          <a:schemeClr val="accent1"/>
                        </a:solidFill>
                      </a:endParaRPr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CJU 129.4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227" name="Google Shape;227;p11"/>
          <p:cNvGraphicFramePr/>
          <p:nvPr>
            <p:extLst>
              <p:ext uri="{D42A27DB-BD31-4B8C-83A1-F6EECF244321}">
                <p14:modId xmlns:p14="http://schemas.microsoft.com/office/powerpoint/2010/main" val="3647467196"/>
              </p:ext>
            </p:extLst>
          </p:nvPr>
        </p:nvGraphicFramePr>
        <p:xfrm>
          <a:off x="4472" y="3778426"/>
          <a:ext cx="2326800" cy="177288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069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541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828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156000">
                <a:tc gridSpan="4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CJU : STAR 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FFC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AFT Merge PT(220kts) DCT IAF(210kts), FAF (160kts)</a:t>
                      </a:r>
                      <a:endParaRPr kumimoji="0" lang="en-US" altLang="ko-Kore-KR" sz="800" b="1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FFC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41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Z 07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UPGOS </a:t>
                      </a:r>
                      <a:r>
                        <a:rPr lang="en-US" sz="800" b="1" dirty="0" err="1"/>
                        <a:t>xP</a:t>
                      </a:r>
                      <a:endParaRPr sz="458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YUMIN</a:t>
                      </a:r>
                      <a:endParaRPr sz="458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58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1800">
                <a:tc gridSpan="4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RNP Y 07 </a:t>
                      </a:r>
                      <a:r>
                        <a:rPr kumimoji="0" lang="en-US" altLang="ko-Kore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(No LPV)</a:t>
                      </a:r>
                      <a:r>
                        <a:rPr kumimoji="0" lang="en-US" altLang="ko-Kore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, RNP Z 07 AR </a:t>
                      </a:r>
                      <a:r>
                        <a:rPr kumimoji="0" lang="en-US" altLang="ko-Kore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(No B737-900, RNP 0.11)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 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58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58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58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358589612"/>
                  </a:ext>
                </a:extLst>
              </a:tr>
              <a:tr h="141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ILS Z 25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UPGOS </a:t>
                      </a:r>
                      <a:r>
                        <a:rPr lang="en-US" sz="800" b="1" dirty="0" err="1"/>
                        <a:t>xT</a:t>
                      </a:r>
                      <a:r>
                        <a:rPr lang="en-US" sz="800" b="1" dirty="0"/>
                        <a:t>(</a:t>
                      </a:r>
                      <a:r>
                        <a:rPr lang="en-US" sz="800" b="1" dirty="0" err="1"/>
                        <a:t>xM</a:t>
                      </a:r>
                      <a:r>
                        <a:rPr lang="en-US" sz="800" b="1" dirty="0"/>
                        <a:t>)</a:t>
                      </a:r>
                      <a:endParaRPr sz="458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DUKAL</a:t>
                      </a:r>
                      <a:endParaRPr sz="458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58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092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07(87’)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10433’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25(76’)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0075">
                <a:tc gridSpan="4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07 : P6(5176’), P5(5882’), </a:t>
                      </a: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P4(6840’-ATC HIRO)</a:t>
                      </a:r>
                      <a:endParaRPr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25 : P7(5219’), P8(5882’), </a:t>
                      </a: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P10(7524’-ATC HIRO) 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20075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Entering Rapid TWY CTC GND 121.675, STOP X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HST 40KTS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pic>
        <p:nvPicPr>
          <p:cNvPr id="228" name="Google Shape;228;p11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0" y="2454649"/>
            <a:ext cx="1619573" cy="762866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73942074-6A94-228D-FDEE-D2295CA726A3}"/>
              </a:ext>
            </a:extLst>
          </p:cNvPr>
          <p:cNvSpPr txBox="1"/>
          <p:nvPr/>
        </p:nvSpPr>
        <p:spPr>
          <a:xfrm>
            <a:off x="1268244" y="3479721"/>
            <a:ext cx="123270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Domestic</a:t>
            </a:r>
            <a:endParaRPr lang="en-US" altLang="ko-KR" sz="14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F67C6776-0487-EB3A-5D2B-8CFF3C519A76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34" name="Google Shape;234;p12"/>
          <p:cNvGraphicFramePr/>
          <p:nvPr>
            <p:extLst>
              <p:ext uri="{D42A27DB-BD31-4B8C-83A1-F6EECF244321}">
                <p14:modId xmlns:p14="http://schemas.microsoft.com/office/powerpoint/2010/main" val="3736994476"/>
              </p:ext>
            </p:extLst>
          </p:nvPr>
        </p:nvGraphicFramePr>
        <p:xfrm>
          <a:off x="0" y="639107"/>
          <a:ext cx="2335800" cy="149881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62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6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9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53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978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082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271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81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3352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3525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CJU : SID (NADP 1)</a:t>
                      </a:r>
                      <a:endParaRPr sz="800" dirty="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07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AKPON xE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066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066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9000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066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25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AKPON xW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246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246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246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5700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YDM 109.0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07 109.9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25 111.3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5700">
                <a:tc gridSpan="5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07 : NONE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5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25 : YDM246/3, R290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016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07(87’)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10433’</a:t>
                      </a:r>
                      <a:endParaRPr sz="800" b="1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25(76’)</a:t>
                      </a:r>
                      <a:endParaRPr sz="800" b="1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5700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07 : Passing G4 CTC TWR 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25 : 31 Holding PSN on P, E1,2,3 CTC TWR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235" name="Google Shape;235;p12"/>
          <p:cNvGraphicFramePr/>
          <p:nvPr>
            <p:extLst>
              <p:ext uri="{D42A27DB-BD31-4B8C-83A1-F6EECF244321}">
                <p14:modId xmlns:p14="http://schemas.microsoft.com/office/powerpoint/2010/main" val="484028238"/>
              </p:ext>
            </p:extLst>
          </p:nvPr>
        </p:nvGraphicFramePr>
        <p:xfrm>
          <a:off x="-2501" y="16504"/>
          <a:ext cx="2328850" cy="59406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u="none" strike="noStrike" cap="none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RKPC(CJU) 119ft</a:t>
                      </a:r>
                      <a:endParaRPr lang="en-US" altLang="ko-Kore-KR" sz="1300" u="none" strike="noStrike" cap="none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RKPK(PUS) 13ft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KE CJU 129.4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>
                          <a:solidFill>
                            <a:srgbClr val="FF0000"/>
                          </a:solidFill>
                        </a:rPr>
                        <a:t>DCL -10분</a:t>
                      </a:r>
                      <a:endParaRPr sz="700">
                        <a:solidFill>
                          <a:srgbClr val="FF0000"/>
                        </a:solidFill>
                      </a:endParaRPr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</a:t>
                      </a:r>
                      <a:r>
                        <a:rPr lang="en-US" sz="900" dirty="0" err="1"/>
                        <a:t>Gimhae</a:t>
                      </a:r>
                      <a:r>
                        <a:rPr lang="en-US" sz="900" dirty="0"/>
                        <a:t> 129.2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pic>
        <p:nvPicPr>
          <p:cNvPr id="238" name="Google Shape;238;p12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-3340" y="2159090"/>
            <a:ext cx="1511235" cy="828243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3" name="Google Shape;137;p4">
            <a:extLst>
              <a:ext uri="{FF2B5EF4-FFF2-40B4-BE49-F238E27FC236}">
                <a16:creationId xmlns:a16="http://schemas.microsoft.com/office/drawing/2014/main" id="{C219BCFB-D529-B116-FE7F-CEFD0CAC2DD7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047704893"/>
              </p:ext>
            </p:extLst>
          </p:nvPr>
        </p:nvGraphicFramePr>
        <p:xfrm>
          <a:off x="-3340" y="3767489"/>
          <a:ext cx="2339140" cy="174265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9386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1251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6013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7262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146675">
                <a:tc gridSpan="4"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PUS : STAR </a:t>
                      </a:r>
                      <a:r>
                        <a:rPr lang="en-US" sz="800" dirty="0">
                          <a:solidFill>
                            <a:srgbClr val="FFC000"/>
                          </a:solidFill>
                        </a:rPr>
                        <a:t>(Tail Wind 36R 136000lbs F40)</a:t>
                      </a:r>
                      <a:endParaRPr sz="800" dirty="0">
                        <a:solidFill>
                          <a:srgbClr val="FFC000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3332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KEVOX x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dirty="0"/>
                        <a:t>ANROD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>
                          <a:solidFill>
                            <a:schemeClr val="dk1"/>
                          </a:solidFill>
                        </a:rPr>
                        <a:t>9DME LG, 8DME FLAP</a:t>
                      </a:r>
                      <a:endParaRPr sz="800" b="0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3332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VOR 18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GAYHA x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ANROD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rgbClr val="C00000"/>
                          </a:solidFill>
                          <a:hlinkClick r:id="rId6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18 Circling Click!!</a:t>
                      </a:r>
                      <a:endParaRPr lang="en-US" altLang="ko-Kore-KR"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712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36L(13’) 10499’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36R(8’) 8999’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18R(13’) 8530’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18L(13’) 8999’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FIX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dirty="0">
                          <a:solidFill>
                            <a:schemeClr val="dk1"/>
                          </a:solidFill>
                        </a:rPr>
                        <a:t>36 : IKMA/IKHE /9, /8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dirty="0">
                          <a:solidFill>
                            <a:schemeClr val="dk1"/>
                          </a:solidFill>
                        </a:rPr>
                        <a:t>18 : KMH R284, R280</a:t>
                      </a:r>
                      <a:endParaRPr sz="800" b="0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20050">
                <a:tc gridSpan="4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tx1"/>
                          </a:solidFill>
                        </a:rPr>
                        <a:t>36L : </a:t>
                      </a:r>
                      <a:r>
                        <a:rPr lang="en-US" sz="800" b="1" dirty="0">
                          <a:solidFill>
                            <a:srgbClr val="FF0000"/>
                          </a:solidFill>
                        </a:rPr>
                        <a:t>C4 (6299’), 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C2(7795’) / 36R : E3(5866’), E2(7339’)</a:t>
                      </a:r>
                      <a:endParaRPr dirty="0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18R : C6(5770’), C7 (6824’) / 18L : E4(5882’), E5(8792’)</a:t>
                      </a:r>
                      <a:endParaRPr sz="800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2005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Vacate </a:t>
                      </a: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C3,C4 </a:t>
                      </a:r>
                      <a:r>
                        <a:rPr lang="en-US" sz="800" dirty="0"/>
                        <a:t>by ATC only. Max Taxi SPD 20KTS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C2 HOLD SHORT </a:t>
                      </a:r>
                      <a:r>
                        <a:rPr lang="en-US" sz="800" dirty="0" err="1"/>
                        <a:t>가까움</a:t>
                      </a:r>
                      <a:r>
                        <a:rPr lang="en-US" sz="800" dirty="0"/>
                        <a:t>(Vacate </a:t>
                      </a:r>
                      <a:r>
                        <a:rPr lang="en-US" sz="800" dirty="0" err="1"/>
                        <a:t>TaxiSPD</a:t>
                      </a:r>
                      <a:r>
                        <a:rPr lang="en-US" sz="800" dirty="0"/>
                        <a:t>)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59282C91-A9AE-BCC9-5FEC-78765E574F0D}"/>
              </a:ext>
            </a:extLst>
          </p:cNvPr>
          <p:cNvSpPr txBox="1"/>
          <p:nvPr/>
        </p:nvSpPr>
        <p:spPr>
          <a:xfrm>
            <a:off x="1268244" y="3416278"/>
            <a:ext cx="123270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Domestic</a:t>
            </a:r>
            <a:endParaRPr lang="en-US" altLang="ko-KR" sz="14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3F183D78-F73C-097D-0450-1B0DF23C0E75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8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44" name="Google Shape;244;p13"/>
          <p:cNvGraphicFramePr/>
          <p:nvPr>
            <p:extLst>
              <p:ext uri="{D42A27DB-BD31-4B8C-83A1-F6EECF244321}">
                <p14:modId xmlns:p14="http://schemas.microsoft.com/office/powerpoint/2010/main" val="2774644071"/>
              </p:ext>
            </p:extLst>
          </p:nvPr>
        </p:nvGraphicFramePr>
        <p:xfrm>
          <a:off x="-2501" y="16504"/>
          <a:ext cx="2328850" cy="59406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RKPK(PUS) 13ft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u="none" strike="noStrike" cap="none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RKPC(CJU) 119ft</a:t>
                      </a:r>
                      <a:endParaRPr lang="en-US" altLang="ko-Kore-KR" sz="1300" u="none" strike="noStrike" cap="none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KE Gimhae 129.2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>
                          <a:solidFill>
                            <a:srgbClr val="FF0000"/>
                          </a:solidFill>
                        </a:rPr>
                        <a:t>DCL -5분</a:t>
                      </a:r>
                      <a:endParaRPr sz="700">
                        <a:solidFill>
                          <a:srgbClr val="FF0000"/>
                        </a:solidFill>
                      </a:endParaRPr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CJU 129.4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247" name="Google Shape;247;p13"/>
          <p:cNvGraphicFramePr/>
          <p:nvPr>
            <p:extLst>
              <p:ext uri="{D42A27DB-BD31-4B8C-83A1-F6EECF244321}">
                <p14:modId xmlns:p14="http://schemas.microsoft.com/office/powerpoint/2010/main" val="2129385174"/>
              </p:ext>
            </p:extLst>
          </p:nvPr>
        </p:nvGraphicFramePr>
        <p:xfrm>
          <a:off x="0" y="685853"/>
          <a:ext cx="2330925" cy="174265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62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2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70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179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041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19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14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779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1747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21777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280325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</a:tblGrid>
              <a:tr h="0">
                <a:tc gridSpan="1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PUS : SID </a:t>
                      </a:r>
                      <a:r>
                        <a:rPr lang="en-US" sz="800" dirty="0">
                          <a:solidFill>
                            <a:srgbClr val="FFC000"/>
                          </a:solidFill>
                        </a:rPr>
                        <a:t>(Mod NADP CLB2 1000, 14000 MAX)</a:t>
                      </a:r>
                      <a:endParaRPr sz="800" dirty="0">
                        <a:solidFill>
                          <a:srgbClr val="FFC000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36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SOORO x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TOPAX tx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30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</a:rPr>
                        <a:t>6</a:t>
                      </a:r>
                      <a:endParaRPr sz="458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280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27</a:t>
                      </a:r>
                      <a:r>
                        <a:rPr lang="en-US" altLang="ko-KR" sz="800" b="1" dirty="0">
                          <a:solidFill>
                            <a:srgbClr val="00B050"/>
                          </a:solidFill>
                        </a:rPr>
                        <a:t>9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18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BULIM x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ENGOT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tx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182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182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182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5700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KMH 113.8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PSN 114.0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36L 108.5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36R 109.5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5700">
                <a:tc gridSpan="1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36 : KMH R091, R271, R185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016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5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36L(13’) 10499’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36R(8’) 8999’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18R(13’) 8530’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18L(13’) 8999’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5700">
                <a:tc gridSpan="1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RWY36 400ft Man L/H turn, Max Taxi SPD 20KTS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pic>
        <p:nvPicPr>
          <p:cNvPr id="248" name="Google Shape;248;p13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4472" y="2456585"/>
            <a:ext cx="1559909" cy="651823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" name="Google Shape;227;p11">
            <a:extLst>
              <a:ext uri="{FF2B5EF4-FFF2-40B4-BE49-F238E27FC236}">
                <a16:creationId xmlns:a16="http://schemas.microsoft.com/office/drawing/2014/main" id="{04159ABD-A06E-9C8C-66B0-59FD50E49E56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412908691"/>
              </p:ext>
            </p:extLst>
          </p:nvPr>
        </p:nvGraphicFramePr>
        <p:xfrm>
          <a:off x="4472" y="3782789"/>
          <a:ext cx="2326800" cy="177288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069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541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828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156000">
                <a:tc gridSpan="4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CJU : STAR 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FFC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AFT Merge PT(220kts) DCT IAF(210kts), FAF (160kts)</a:t>
                      </a:r>
                      <a:endParaRPr kumimoji="0" lang="en-US" altLang="ko-Kore-KR" sz="800" b="1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FFC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41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ILS Z 07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UPGOS </a:t>
                      </a:r>
                      <a:r>
                        <a:rPr lang="en-US" sz="800" b="1" dirty="0" err="1"/>
                        <a:t>xP</a:t>
                      </a:r>
                      <a:endParaRPr sz="458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YUMIN</a:t>
                      </a:r>
                      <a:endParaRPr sz="458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58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1800">
                <a:tc gridSpan="4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RNP Y 07 </a:t>
                      </a:r>
                      <a:r>
                        <a:rPr kumimoji="0" lang="en-US" altLang="ko-Kore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(No LPV)</a:t>
                      </a:r>
                      <a:r>
                        <a:rPr kumimoji="0" lang="en-US" altLang="ko-Kore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, RNP Z 07 AR </a:t>
                      </a:r>
                      <a:r>
                        <a:rPr kumimoji="0" lang="en-US" altLang="ko-Kore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(No B737-900, RNP 0.11)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 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58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285528768"/>
                  </a:ext>
                </a:extLst>
              </a:tr>
              <a:tr h="141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ILS Z 25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UPGOS </a:t>
                      </a:r>
                      <a:r>
                        <a:rPr lang="en-US" sz="800" b="1" dirty="0" err="1"/>
                        <a:t>xT</a:t>
                      </a:r>
                      <a:r>
                        <a:rPr lang="en-US" sz="800" b="1" dirty="0"/>
                        <a:t>(</a:t>
                      </a:r>
                      <a:r>
                        <a:rPr lang="en-US" sz="800" b="1" dirty="0" err="1"/>
                        <a:t>xM</a:t>
                      </a:r>
                      <a:r>
                        <a:rPr lang="en-US" sz="800" b="1" dirty="0"/>
                        <a:t>)</a:t>
                      </a:r>
                      <a:endParaRPr sz="458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DUKAL</a:t>
                      </a:r>
                      <a:endParaRPr sz="458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58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092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07(87’)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10433’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25(76’)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0075">
                <a:tc gridSpan="4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07 : P6(5176’), P5(5882’), </a:t>
                      </a: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P4(6840’-ATC HIRO)</a:t>
                      </a:r>
                      <a:endParaRPr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25 : P7(5219’), P8(5882’), </a:t>
                      </a: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P10(7524’-ATC HIRO) 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20075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Entering Rapid TWY CTC GND 121.675, STOP X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HST 40KTS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0F894E67-D6BE-5F51-CDC7-89AD8D49986E}"/>
              </a:ext>
            </a:extLst>
          </p:cNvPr>
          <p:cNvSpPr txBox="1"/>
          <p:nvPr/>
        </p:nvSpPr>
        <p:spPr>
          <a:xfrm>
            <a:off x="1268244" y="3459601"/>
            <a:ext cx="123270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Domestic</a:t>
            </a:r>
            <a:endParaRPr lang="en-US" altLang="ko-KR" sz="14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3" name="직사각형 2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85E11C70-1767-EB3D-06A8-A5C6ED6404CD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73" name="Google Shape;273;p16"/>
          <p:cNvGraphicFramePr/>
          <p:nvPr>
            <p:extLst>
              <p:ext uri="{D42A27DB-BD31-4B8C-83A1-F6EECF244321}">
                <p14:modId xmlns:p14="http://schemas.microsoft.com/office/powerpoint/2010/main" val="3977029342"/>
              </p:ext>
            </p:extLst>
          </p:nvPr>
        </p:nvGraphicFramePr>
        <p:xfrm>
          <a:off x="4410" y="3733731"/>
          <a:ext cx="2328514" cy="176585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8361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6844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6494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1151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146675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PUS : STAR </a:t>
                      </a:r>
                      <a:r>
                        <a:rPr lang="en-US" sz="800" dirty="0">
                          <a:solidFill>
                            <a:srgbClr val="FFC000"/>
                          </a:solidFill>
                        </a:rPr>
                        <a:t>(Tail Wind 36R 136000lbs F40)</a:t>
                      </a:r>
                      <a:endParaRPr sz="800" dirty="0">
                        <a:solidFill>
                          <a:srgbClr val="FFC000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3332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KEVOX x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MASTA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>
                          <a:solidFill>
                            <a:schemeClr val="dk1"/>
                          </a:solidFill>
                        </a:rPr>
                        <a:t>9DME LG, 8DME FLAP</a:t>
                      </a:r>
                      <a:endParaRPr sz="800" b="0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3332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VOR 18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GAYHA x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MASTA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>
                          <a:solidFill>
                            <a:srgbClr val="C00000"/>
                          </a:solidFill>
                          <a:hlinkClick r:id="rId3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18 Circling Click!!</a:t>
                      </a:r>
                      <a:endParaRPr lang="en-US" altLang="ko-Kore-KR"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712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36L(13’) 10499’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36R(8’) 8999’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18R(13’) 8530’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18L(13’) 8999’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1712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FIX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dirty="0">
                          <a:solidFill>
                            <a:schemeClr val="dk1"/>
                          </a:solidFill>
                        </a:rPr>
                        <a:t>36 : IKMA/IKHE /9, /8</a:t>
                      </a:r>
                      <a:endParaRPr dirty="0"/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dirty="0">
                          <a:solidFill>
                            <a:schemeClr val="dk1"/>
                          </a:solidFill>
                        </a:rPr>
                        <a:t>18 : KMH R284, R280</a:t>
                      </a:r>
                      <a:endParaRPr sz="800" b="0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20050">
                <a:tc gridSpan="4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tx1"/>
                          </a:solidFill>
                        </a:rPr>
                        <a:t>36L : </a:t>
                      </a:r>
                      <a:r>
                        <a:rPr lang="en-US" sz="800" b="1" dirty="0">
                          <a:solidFill>
                            <a:srgbClr val="FF0000"/>
                          </a:solidFill>
                        </a:rPr>
                        <a:t>C4 (6299’), 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C2(7795’) / 36R : E3(5866’), E2(7339’)</a:t>
                      </a:r>
                      <a:endParaRPr dirty="0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18R : C6(5770’), C7 (6824’) / 18L : E4(5882’), E5(8792’)</a:t>
                      </a:r>
                      <a:endParaRPr sz="800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2005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Vacate </a:t>
                      </a: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C3,C4 </a:t>
                      </a:r>
                      <a:r>
                        <a:rPr lang="en-US" sz="800" dirty="0"/>
                        <a:t>by ATC only, Max Taxi SPD 20KTS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C2 HOLD SHORT </a:t>
                      </a:r>
                      <a:r>
                        <a:rPr lang="en-US" sz="800" dirty="0" err="1"/>
                        <a:t>가까움</a:t>
                      </a:r>
                      <a:r>
                        <a:rPr lang="en-US" sz="800" dirty="0"/>
                        <a:t>(Vacate </a:t>
                      </a:r>
                      <a:r>
                        <a:rPr lang="en-US" sz="800" dirty="0" err="1"/>
                        <a:t>TaxiSPD</a:t>
                      </a:r>
                      <a:r>
                        <a:rPr lang="en-US" sz="800" dirty="0"/>
                        <a:t>)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274" name="Google Shape;274;p16"/>
          <p:cNvGraphicFramePr/>
          <p:nvPr/>
        </p:nvGraphicFramePr>
        <p:xfrm>
          <a:off x="-2501" y="16504"/>
          <a:ext cx="2328850" cy="57881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5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RKPK(PUS) 13ft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KE ICN 131.5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600"/>
                        <a:buFont typeface="Calibri"/>
                        <a:buNone/>
                      </a:pPr>
                      <a:r>
                        <a:rPr lang="en-US" sz="60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-10분 TOBT 5분 차이시 CTC Comm</a:t>
                      </a:r>
                      <a:endParaRPr sz="90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</a:t>
                      </a:r>
                      <a:r>
                        <a:rPr lang="en-US" sz="900" dirty="0" err="1"/>
                        <a:t>Gimhae</a:t>
                      </a:r>
                      <a:r>
                        <a:rPr lang="en-US" sz="900" dirty="0"/>
                        <a:t> 129.2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276" name="Google Shape;276;p16"/>
          <p:cNvGraphicFramePr/>
          <p:nvPr>
            <p:extLst>
              <p:ext uri="{D42A27DB-BD31-4B8C-83A1-F6EECF244321}">
                <p14:modId xmlns:p14="http://schemas.microsoft.com/office/powerpoint/2010/main" val="414385758"/>
              </p:ext>
            </p:extLst>
          </p:nvPr>
        </p:nvGraphicFramePr>
        <p:xfrm>
          <a:off x="0" y="635155"/>
          <a:ext cx="2332925" cy="264025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91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17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69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21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254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10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15930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SID (33/34 NADP 1, 15/16 NADP 2)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5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OSPOT xE/A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5500/ATC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OSPOT xY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OSPOT xC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OSPOT xH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NCN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113.8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33L 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15L 111.9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15R 109.1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WNG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112.9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109.95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110.35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108.55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580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33L/R : NC05L/R, R242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YJU R271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34L/R : EO34L/R,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YJU R271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44775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33L/R 34L(23’)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15L/R 16R(23’)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4477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34R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44775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Parallel TWY 10KTS </a:t>
                      </a:r>
                      <a:r>
                        <a:rPr lang="en-US" sz="800" dirty="0" err="1"/>
                        <a:t>이상</a:t>
                      </a:r>
                      <a:r>
                        <a:rPr lang="en-US" sz="800" dirty="0"/>
                        <a:t>(R17 MAX 15kts)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523473D7-4ABE-6F46-8862-25F187311782}"/>
              </a:ext>
            </a:extLst>
          </p:cNvPr>
          <p:cNvSpPr txBox="1"/>
          <p:nvPr/>
        </p:nvSpPr>
        <p:spPr>
          <a:xfrm>
            <a:off x="1268244" y="3416278"/>
            <a:ext cx="123270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Domestic</a:t>
            </a:r>
            <a:endParaRPr lang="en-US" altLang="ko-KR" sz="14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F4EAB618-D8DC-48CF-B02D-8D5856DA3E57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621D14C-1E21-FD11-21C8-4C6CDD0F96B8}"/>
              </a:ext>
            </a:extLst>
          </p:cNvPr>
          <p:cNvSpPr txBox="1"/>
          <p:nvPr/>
        </p:nvSpPr>
        <p:spPr>
          <a:xfrm>
            <a:off x="-40600" y="3234813"/>
            <a:ext cx="1707519" cy="35208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600" b="1" dirty="0">
                <a:solidFill>
                  <a:srgbClr val="0070C0"/>
                </a:solidFill>
              </a:rPr>
              <a:t>ICN </a:t>
            </a:r>
            <a:r>
              <a:rPr kumimoji="1" lang="ko-KR" altLang="en-US" sz="600" b="1" dirty="0">
                <a:solidFill>
                  <a:srgbClr val="0070C0"/>
                </a:solidFill>
              </a:rPr>
              <a:t>국제선 이후 </a:t>
            </a:r>
            <a:r>
              <a:rPr kumimoji="1" lang="en-US" altLang="ko-KR" sz="600" b="1" dirty="0">
                <a:solidFill>
                  <a:srgbClr val="0070C0"/>
                </a:solidFill>
              </a:rPr>
              <a:t>TRANSIT GD </a:t>
            </a:r>
            <a:r>
              <a:rPr kumimoji="1" lang="ko-KR" altLang="en-US" sz="600" b="1" dirty="0">
                <a:solidFill>
                  <a:srgbClr val="0070C0"/>
                </a:solidFill>
              </a:rPr>
              <a:t>필요</a:t>
            </a:r>
            <a:r>
              <a:rPr kumimoji="1" lang="en-US" altLang="ko-KR" sz="600" b="1" dirty="0">
                <a:solidFill>
                  <a:srgbClr val="0070C0"/>
                </a:solidFill>
              </a:rPr>
              <a:t>(</a:t>
            </a:r>
            <a:r>
              <a:rPr kumimoji="1" lang="ko-KR" altLang="en-US" sz="600" b="1" dirty="0">
                <a:solidFill>
                  <a:srgbClr val="0070C0"/>
                </a:solidFill>
              </a:rPr>
              <a:t>팀장님</a:t>
            </a:r>
            <a:r>
              <a:rPr kumimoji="1" lang="en-US" altLang="ko-KR" sz="600" b="1" dirty="0">
                <a:solidFill>
                  <a:srgbClr val="0070C0"/>
                </a:solidFill>
              </a:rPr>
              <a:t>)</a:t>
            </a:r>
            <a:r>
              <a:rPr kumimoji="1" lang="ko-KR" altLang="en-US" sz="600" b="1" dirty="0">
                <a:solidFill>
                  <a:srgbClr val="0070C0"/>
                </a:solidFill>
              </a:rPr>
              <a:t> </a:t>
            </a:r>
            <a:endParaRPr kumimoji="1" lang="en-US" altLang="ko-KR" sz="600" b="1" dirty="0">
              <a:solidFill>
                <a:srgbClr val="0070C0"/>
              </a:solidFill>
            </a:endParaRPr>
          </a:p>
          <a:p>
            <a:pPr>
              <a:lnSpc>
                <a:spcPct val="150000"/>
              </a:lnSpc>
            </a:pPr>
            <a:r>
              <a:rPr kumimoji="1" lang="en-US" altLang="ko-KR" sz="600" b="1" dirty="0">
                <a:solidFill>
                  <a:srgbClr val="0070C0"/>
                </a:solidFill>
              </a:rPr>
              <a:t>–&gt;</a:t>
            </a:r>
            <a:r>
              <a:rPr kumimoji="1" lang="ko-KR" altLang="en-US" sz="600" b="1" dirty="0">
                <a:solidFill>
                  <a:srgbClr val="0070C0"/>
                </a:solidFill>
              </a:rPr>
              <a:t> </a:t>
            </a:r>
            <a:r>
              <a:rPr kumimoji="1" lang="en-US" altLang="ko-KR" sz="600" b="1" dirty="0">
                <a:solidFill>
                  <a:srgbClr val="0070C0"/>
                </a:solidFill>
              </a:rPr>
              <a:t>PUS PASSPORT Immigration </a:t>
            </a:r>
            <a:r>
              <a:rPr kumimoji="1" lang="ko-KR" altLang="en-US" sz="600" b="1" dirty="0">
                <a:solidFill>
                  <a:srgbClr val="0070C0"/>
                </a:solidFill>
              </a:rPr>
              <a:t>해야함</a:t>
            </a:r>
            <a:r>
              <a:rPr kumimoji="1" lang="en-US" altLang="ko-KR" sz="600" b="1" dirty="0">
                <a:solidFill>
                  <a:srgbClr val="0070C0"/>
                </a:solidFill>
              </a:rPr>
              <a:t>.</a:t>
            </a:r>
            <a:r>
              <a:rPr kumimoji="1" lang="ko-KR" altLang="en-US" sz="600" b="1" dirty="0">
                <a:solidFill>
                  <a:srgbClr val="0070C0"/>
                </a:solidFill>
              </a:rPr>
              <a:t> </a:t>
            </a:r>
            <a:endParaRPr kumimoji="1" lang="en-US" altLang="ko-KR" sz="600" b="1" dirty="0">
              <a:solidFill>
                <a:srgbClr val="0070C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030665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82" name="Google Shape;282;p17"/>
          <p:cNvGraphicFramePr/>
          <p:nvPr/>
        </p:nvGraphicFramePr>
        <p:xfrm>
          <a:off x="6595" y="623810"/>
          <a:ext cx="2330925" cy="162073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62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2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70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179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041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19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14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779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1747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21777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280325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</a:tblGrid>
              <a:tr h="0">
                <a:tc gridSpan="1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PUS : SID</a:t>
                      </a:r>
                      <a:r>
                        <a:rPr lang="en-US" sz="800" dirty="0">
                          <a:solidFill>
                            <a:srgbClr val="FFC000"/>
                          </a:solidFill>
                        </a:rPr>
                        <a:t> (Mod NADP CLB2 1000, 14000 MAX)</a:t>
                      </a:r>
                      <a:endParaRPr sz="800" dirty="0">
                        <a:solidFill>
                          <a:srgbClr val="FFC000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36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SOORO x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KALOD tx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30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</a:rPr>
                        <a:t>6</a:t>
                      </a:r>
                      <a:endParaRPr sz="458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280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342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18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GIMHAE x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182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182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182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5700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KMH 113.8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PSN 114.0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36L 108.5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36R 109.5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5700">
                <a:tc gridSpan="1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36 : KMH R091, R271, R185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016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5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36L(13’) 10499’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36R(8’) 8999’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18R(13’) 8530’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18L(13’) 8999’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5700">
                <a:tc gridSpan="1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RWY 36 400ft Man L/H turn, Max Taxi SPD 20KTS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283" name="Google Shape;283;p17"/>
          <p:cNvGraphicFramePr/>
          <p:nvPr/>
        </p:nvGraphicFramePr>
        <p:xfrm>
          <a:off x="11589" y="3405726"/>
          <a:ext cx="2325975" cy="2130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59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3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55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774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STAR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33/34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xE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ENPIL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180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15/16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xH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MUNAN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180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285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33L/R 34L(23’)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15L/R 16R(23’)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285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34R(23’)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13123’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16L(23’)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64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FIX</a:t>
                      </a:r>
                      <a:endParaRPr/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RWY /8, /5 , YJU R271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33R :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C4(7529’), 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C5(8513’), 33L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: B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7463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’), 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8513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 :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C2(7522’), 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C1(8536’), 15R :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B3(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7454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‘), 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B2(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8641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P7(5600’),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P8(6578’), 34R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N4(6876’),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N5(8507‘)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P6(5597’),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P5(6574’), 16L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N3(7043‘),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N2(8444‘)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01600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8NM 180kts, 5NM 160kts, Parr TAXI 10kts이상,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HIRO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284" name="Google Shape;284;p17"/>
          <p:cNvGraphicFramePr/>
          <p:nvPr/>
        </p:nvGraphicFramePr>
        <p:xfrm>
          <a:off x="-2501" y="16504"/>
          <a:ext cx="2328850" cy="59406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RKPK(PUS) 13ft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KE Gimhae 129.2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>
                          <a:solidFill>
                            <a:srgbClr val="FF0000"/>
                          </a:solidFill>
                        </a:rPr>
                        <a:t>DCL -5분</a:t>
                      </a:r>
                      <a:endParaRPr sz="700">
                        <a:solidFill>
                          <a:srgbClr val="FF0000"/>
                        </a:solidFill>
                      </a:endParaRPr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64D54717-0CDF-0CA7-5D03-6084160528CA}"/>
              </a:ext>
            </a:extLst>
          </p:cNvPr>
          <p:cNvSpPr txBox="1"/>
          <p:nvPr/>
        </p:nvSpPr>
        <p:spPr>
          <a:xfrm>
            <a:off x="1268244" y="3051676"/>
            <a:ext cx="123270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Domestic</a:t>
            </a:r>
            <a:endParaRPr lang="en-US" altLang="ko-KR" sz="14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F9A4E246-6724-775D-52E5-7C58BBF23B11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95019292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74" name="Google Shape;274;p16"/>
          <p:cNvGraphicFramePr/>
          <p:nvPr>
            <p:extLst>
              <p:ext uri="{D42A27DB-BD31-4B8C-83A1-F6EECF244321}">
                <p14:modId xmlns:p14="http://schemas.microsoft.com/office/powerpoint/2010/main" val="3634646167"/>
              </p:ext>
            </p:extLst>
          </p:nvPr>
        </p:nvGraphicFramePr>
        <p:xfrm>
          <a:off x="-2501" y="16504"/>
          <a:ext cx="2328850" cy="57881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RKTN(TAE)120ft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KE ICN 131.5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600"/>
                        <a:buFont typeface="Calibri"/>
                        <a:buNone/>
                      </a:pPr>
                      <a:r>
                        <a:rPr lang="en-US" sz="60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-10분 TOBT 5분 차이시 CTC Comm</a:t>
                      </a:r>
                      <a:endParaRPr sz="90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TAE 129.2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276" name="Google Shape;276;p16"/>
          <p:cNvGraphicFramePr/>
          <p:nvPr>
            <p:extLst>
              <p:ext uri="{D42A27DB-BD31-4B8C-83A1-F6EECF244321}">
                <p14:modId xmlns:p14="http://schemas.microsoft.com/office/powerpoint/2010/main" val="4115489392"/>
              </p:ext>
            </p:extLst>
          </p:nvPr>
        </p:nvGraphicFramePr>
        <p:xfrm>
          <a:off x="0" y="603259"/>
          <a:ext cx="2332925" cy="264025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91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17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69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21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254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10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15930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ICN : SID (33/34 NADP 1, 15/16 NADP 2)</a:t>
                      </a:r>
                      <a:endParaRPr sz="800" dirty="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5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OSPOT xE/A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5500/ATC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OSPOT xY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OSPOT xC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OSPOT xH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NCN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113.8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33L 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15L 111.9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15R 109.1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WNG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112.9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109.95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110.35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108.55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580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33L/R : NC05L/R, R242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YJU R271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34L/R : EO34L/R,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YJU R271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44775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33L/R 34L(23’)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15L/R 16R(23’)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4477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34R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44775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Parallel TWY 10KTS </a:t>
                      </a:r>
                      <a:r>
                        <a:rPr lang="en-US" sz="800" dirty="0" err="1"/>
                        <a:t>이상</a:t>
                      </a:r>
                      <a:r>
                        <a:rPr lang="en-US" sz="800" dirty="0"/>
                        <a:t>(R17 MAX 15kts)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523473D7-4ABE-6F46-8862-25F187311782}"/>
              </a:ext>
            </a:extLst>
          </p:cNvPr>
          <p:cNvSpPr txBox="1"/>
          <p:nvPr/>
        </p:nvSpPr>
        <p:spPr>
          <a:xfrm>
            <a:off x="1268244" y="3254550"/>
            <a:ext cx="123270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Domestic</a:t>
            </a:r>
            <a:endParaRPr lang="en-US" altLang="ko-KR" sz="14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graphicFrame>
        <p:nvGraphicFramePr>
          <p:cNvPr id="2" name="Google Shape;215;p10">
            <a:extLst>
              <a:ext uri="{FF2B5EF4-FFF2-40B4-BE49-F238E27FC236}">
                <a16:creationId xmlns:a16="http://schemas.microsoft.com/office/drawing/2014/main" id="{46F2EAE1-83BB-44D8-D0AD-C94497717E24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934425447"/>
              </p:ext>
            </p:extLst>
          </p:nvPr>
        </p:nvGraphicFramePr>
        <p:xfrm>
          <a:off x="-2501" y="3608444"/>
          <a:ext cx="2335800" cy="193657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8691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803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5583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07993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8339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5868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0"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TAE : NO STAR (TL </a:t>
                      </a:r>
                      <a:r>
                        <a:rPr lang="en-US" altLang="ko-KR" sz="800" dirty="0"/>
                        <a:t>140</a:t>
                      </a:r>
                      <a:r>
                        <a:rPr lang="ko-KR" altLang="en-US" sz="800" dirty="0"/>
                        <a:t> 확인</a:t>
                      </a:r>
                      <a:r>
                        <a:rPr lang="en-US" altLang="ko-KR" sz="800" dirty="0"/>
                        <a:t>)</a:t>
                      </a:r>
                      <a:endParaRPr sz="800" dirty="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31L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TGU/-10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CF31L222/7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CF31L</a:t>
                      </a:r>
                      <a:endParaRPr sz="458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13R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TGU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YAWAN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58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PAR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gridSpan="5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RWxx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 EXT 8NM, 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Do not Tune ILS 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(13R Caution GPWS)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58"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58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3819058390"/>
                  </a:ext>
                </a:extLst>
              </a:tr>
              <a:tr h="112850">
                <a:tc rowSpan="2"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rowSpan="2"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31L(118’)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9039’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13R(111’) </a:t>
                      </a:r>
                      <a:r>
                        <a:rPr lang="en-US" sz="800" b="1" dirty="0">
                          <a:solidFill>
                            <a:srgbClr val="FF0000"/>
                          </a:solidFill>
                        </a:rPr>
                        <a:t>3.3</a:t>
                      </a:r>
                      <a:endParaRPr sz="800" b="1" dirty="0">
                        <a:solidFill>
                          <a:srgbClr val="FF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12850">
                <a:tc gridSpan="2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31R(120’)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8999’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13L(112’)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01600">
                <a:tc gridSpan="6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31L : D1(8848’), 13R : A1(8772’)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01600">
                <a:tc gridSpan="6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13R ILS 3.3도 PAPI 3.3도 (</a:t>
                      </a:r>
                      <a:r>
                        <a:rPr lang="en-US" sz="800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산악지형</a:t>
                      </a: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sz="800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주의</a:t>
                      </a: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)</a:t>
                      </a:r>
                      <a:endParaRPr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TAXI MAX 20kts (do not req) </a:t>
                      </a:r>
                      <a:r>
                        <a:rPr lang="ko-KR" altLang="en-US" sz="800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전방기</a:t>
                      </a:r>
                      <a:r>
                        <a:rPr lang="ko-KR" alt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최소 </a:t>
                      </a:r>
                      <a:r>
                        <a:rPr lang="en-US" altLang="ko-KR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2000</a:t>
                      </a:r>
                      <a:r>
                        <a:rPr lang="en-US" altLang="ko-Kore-KR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ft </a:t>
                      </a:r>
                      <a:r>
                        <a:rPr lang="ko-KR" alt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간격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Stand 6-9 Oversteering Needed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C5B56488-523A-FABA-71D8-1FDCCDC5A78A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93138956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83" name="Google Shape;283;p17"/>
          <p:cNvGraphicFramePr/>
          <p:nvPr/>
        </p:nvGraphicFramePr>
        <p:xfrm>
          <a:off x="11589" y="3405726"/>
          <a:ext cx="2325975" cy="2130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59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3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55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774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STAR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33/34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xE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ENPIL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180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15/16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xH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MUNAN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180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285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33L/R 34L(23’)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15L/R 16R(23’)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285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34R(23’)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13123’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16L(23’)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64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FIX</a:t>
                      </a:r>
                      <a:endParaRPr/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RWY /8, /5 , YJU R271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33R :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C4(7529’), 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C5(8513’), 33L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: B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7463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’), 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8513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 :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C2(7522’), 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C1(8536’), 15R :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B3(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7454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‘), 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B2(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8641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P7(5600’),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P8(6578’), 34R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N4(6876’),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N5(8507‘)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P6(5597’),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P5(6574’), 16L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N3(7043‘),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N2(8444‘)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01600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8NM 180kts, 5NM 160kts, Parr TAXI 10kts이상,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HIRO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284" name="Google Shape;284;p17"/>
          <p:cNvGraphicFramePr/>
          <p:nvPr>
            <p:extLst>
              <p:ext uri="{D42A27DB-BD31-4B8C-83A1-F6EECF244321}">
                <p14:modId xmlns:p14="http://schemas.microsoft.com/office/powerpoint/2010/main" val="150720750"/>
              </p:ext>
            </p:extLst>
          </p:nvPr>
        </p:nvGraphicFramePr>
        <p:xfrm>
          <a:off x="-2501" y="16504"/>
          <a:ext cx="2328850" cy="59406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RKTN(TAE)120ft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TAE 129.2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dirty="0">
                          <a:solidFill>
                            <a:srgbClr val="FF0000"/>
                          </a:solidFill>
                        </a:rPr>
                        <a:t>NO DCL</a:t>
                      </a:r>
                      <a:endParaRPr sz="700" dirty="0">
                        <a:solidFill>
                          <a:srgbClr val="FF0000"/>
                        </a:solidFill>
                      </a:endParaRPr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64D54717-0CDF-0CA7-5D03-6084160528CA}"/>
              </a:ext>
            </a:extLst>
          </p:cNvPr>
          <p:cNvSpPr txBox="1"/>
          <p:nvPr/>
        </p:nvSpPr>
        <p:spPr>
          <a:xfrm>
            <a:off x="1268244" y="3051676"/>
            <a:ext cx="123270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Domestic</a:t>
            </a:r>
            <a:endParaRPr lang="en-US" altLang="ko-KR" sz="14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graphicFrame>
        <p:nvGraphicFramePr>
          <p:cNvPr id="2" name="Google Shape;224;p11">
            <a:extLst>
              <a:ext uri="{FF2B5EF4-FFF2-40B4-BE49-F238E27FC236}">
                <a16:creationId xmlns:a16="http://schemas.microsoft.com/office/drawing/2014/main" id="{C1B1F82E-30BE-00FB-5A4B-DD199393502C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156694776"/>
              </p:ext>
            </p:extLst>
          </p:nvPr>
        </p:nvGraphicFramePr>
        <p:xfrm>
          <a:off x="0" y="640885"/>
          <a:ext cx="2330975" cy="181465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618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67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07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936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2652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99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395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6112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5860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5227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TAE : SID (NADP 1)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31L/R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DAEGU xD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312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312</a:t>
                      </a:r>
                      <a:endParaRPr sz="458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8000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192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13L/R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DAEGU xD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132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132</a:t>
                      </a:r>
                      <a:endParaRPr sz="458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8000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192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5700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DOC 116.5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TGU 112.2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 dirty="0">
                          <a:solidFill>
                            <a:srgbClr val="C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31L 108.7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13R 108.7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5700">
                <a:tc gridSpan="5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31 : DOC 245/11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DOC R245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5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13 : TGU076/17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TGU R076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01600">
                <a:tc rowSpan="2"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rowSpan="2"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31L(118’)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9039’</a:t>
                      </a:r>
                      <a:endParaRPr sz="800" b="1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13R(112’) </a:t>
                      </a:r>
                      <a:r>
                        <a:rPr lang="en-US" sz="800" b="1" dirty="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3.3</a:t>
                      </a:r>
                      <a:endParaRPr sz="800" b="1" dirty="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01600">
                <a:tc gridSpan="2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31R(120’)</a:t>
                      </a:r>
                      <a:endParaRPr sz="800" b="1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8999’</a:t>
                      </a:r>
                      <a:endParaRPr sz="800" b="1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13L(112’)</a:t>
                      </a:r>
                      <a:endParaRPr sz="800" b="1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15700">
                <a:tc gridSpan="10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TAXI MAX 20kts (do not req) </a:t>
                      </a:r>
                      <a:r>
                        <a:rPr lang="ko-KR" altLang="en-US" sz="800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전방기</a:t>
                      </a:r>
                      <a:r>
                        <a:rPr lang="ko-KR" alt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sz="800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최소</a:t>
                      </a: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2000ft </a:t>
                      </a:r>
                      <a:r>
                        <a:rPr lang="en-US" sz="800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간격</a:t>
                      </a:r>
                      <a:endParaRPr sz="800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R" sz="800" dirty="0">
                          <a:solidFill>
                            <a:srgbClr val="0070C0"/>
                          </a:solidFill>
                        </a:rPr>
                        <a:t>1F, 2F New Holding Point</a:t>
                      </a:r>
                      <a:endParaRPr sz="800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pic>
        <p:nvPicPr>
          <p:cNvPr id="4" name="Google Shape;228;p11">
            <a:extLst>
              <a:ext uri="{FF2B5EF4-FFF2-40B4-BE49-F238E27FC236}">
                <a16:creationId xmlns:a16="http://schemas.microsoft.com/office/drawing/2014/main" id="{B662BD49-2593-FB88-2E41-E4E267C1E701}"/>
              </a:ext>
            </a:extLst>
          </p:cNvPr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1" y="2473309"/>
            <a:ext cx="1451344" cy="661941"/>
          </a:xfrm>
          <a:prstGeom prst="rect">
            <a:avLst/>
          </a:prstGeom>
          <a:noFill/>
          <a:ln>
            <a:noFill/>
          </a:ln>
        </p:spPr>
      </p:pic>
      <p:sp>
        <p:nvSpPr>
          <p:cNvPr id="5" name="직사각형 4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2749DF53-0E6F-B1AF-BAFC-7A192ADE9C42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24415163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54" name="Google Shape;254;p14"/>
          <p:cNvGraphicFramePr/>
          <p:nvPr>
            <p:extLst>
              <p:ext uri="{D42A27DB-BD31-4B8C-83A1-F6EECF244321}">
                <p14:modId xmlns:p14="http://schemas.microsoft.com/office/powerpoint/2010/main" val="2736202739"/>
              </p:ext>
            </p:extLst>
          </p:nvPr>
        </p:nvGraphicFramePr>
        <p:xfrm>
          <a:off x="-2501" y="16504"/>
          <a:ext cx="2328850" cy="59406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RKPK(PUS) 13ft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RJAA(NRT) 135ft</a:t>
                      </a:r>
                      <a:endParaRPr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KE Gimhae 129.2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>
                          <a:solidFill>
                            <a:srgbClr val="FF0000"/>
                          </a:solidFill>
                        </a:rPr>
                        <a:t>DCL -5분</a:t>
                      </a:r>
                      <a:endParaRPr sz="700">
                        <a:solidFill>
                          <a:srgbClr val="FF0000"/>
                        </a:solidFill>
                      </a:endParaRPr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Tokyo 131.7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256" name="Google Shape;256;p14"/>
          <p:cNvGraphicFramePr/>
          <p:nvPr>
            <p:extLst>
              <p:ext uri="{D42A27DB-BD31-4B8C-83A1-F6EECF244321}">
                <p14:modId xmlns:p14="http://schemas.microsoft.com/office/powerpoint/2010/main" val="3945761188"/>
              </p:ext>
            </p:extLst>
          </p:nvPr>
        </p:nvGraphicFramePr>
        <p:xfrm>
          <a:off x="0" y="647108"/>
          <a:ext cx="2330925" cy="174265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62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2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70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179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041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19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14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779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1747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21777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280325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</a:tblGrid>
              <a:tr h="0">
                <a:tc gridSpan="1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PUS : SID </a:t>
                      </a:r>
                      <a:r>
                        <a:rPr lang="en-US" sz="800" dirty="0">
                          <a:solidFill>
                            <a:srgbClr val="FFC000"/>
                          </a:solidFill>
                        </a:rPr>
                        <a:t>(Mod NADP CLB2 1000, 14000 MAX)</a:t>
                      </a:r>
                      <a:endParaRPr sz="800" dirty="0">
                        <a:solidFill>
                          <a:srgbClr val="FFC000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36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SOORO x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PSN tx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30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</a:rPr>
                        <a:t>6</a:t>
                      </a:r>
                      <a:endParaRPr sz="458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280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162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18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BULIM x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PSN tx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182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182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182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5700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KMH 113.8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PSN 114.0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36L 108.5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36R 109.5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5700">
                <a:tc gridSpan="1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36 : KMH R091, R271, R185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016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5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36L(13’) 10499’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36R(8’) 8999’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18R(13’) 8530’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18L(13’) 8999’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5700">
                <a:tc gridSpan="1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RWY 36 400ft Man L/H turn, Max Taxi SPD 20KTS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pic>
        <p:nvPicPr>
          <p:cNvPr id="257" name="Google Shape;257;p14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4473" y="2389151"/>
            <a:ext cx="721464" cy="375971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58" name="Google Shape;258;p14"/>
          <p:cNvGraphicFramePr/>
          <p:nvPr>
            <p:extLst>
              <p:ext uri="{D42A27DB-BD31-4B8C-83A1-F6EECF244321}">
                <p14:modId xmlns:p14="http://schemas.microsoft.com/office/powerpoint/2010/main" val="1326104498"/>
              </p:ext>
            </p:extLst>
          </p:nvPr>
        </p:nvGraphicFramePr>
        <p:xfrm>
          <a:off x="1596" y="3233287"/>
          <a:ext cx="2331400" cy="230233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5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36775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NRT HAKKA 330,YAGAN 240,LIVET 210,SWAMP 150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FFC000"/>
                          </a:solidFill>
                        </a:rPr>
                        <a:t>Prepare Holding or RWY CHG</a:t>
                      </a:r>
                      <a:endParaRPr sz="800" dirty="0">
                        <a:solidFill>
                          <a:srgbClr val="FFC000"/>
                        </a:solidFill>
                      </a:endParaRPr>
                    </a:p>
                  </a:txBody>
                  <a:tcPr marL="36000" marR="3600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24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SWAMP E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(SWAMP T)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ELGAR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(TYLER)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ILS 34L/R(Z)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24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SWAMP G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(SWAMP N)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GEMIN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(NORMA)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ILS Z 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24325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16L(135’)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8202’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34R(141’)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2432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16R(130’)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13123’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34L(139’)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2432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FIX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>
                          <a:solidFill>
                            <a:schemeClr val="accent1"/>
                          </a:solidFill>
                        </a:rPr>
                        <a:t>16L : ITM 4 / 34R : ITJ 14, 4 (DME)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>
                          <a:solidFill>
                            <a:schemeClr val="accent1"/>
                          </a:solidFill>
                        </a:rPr>
                        <a:t>16R : IKF 4 / 34L : IYQ 12, 4 (DME)</a:t>
                      </a:r>
                      <a:endParaRPr sz="800" b="0">
                        <a:solidFill>
                          <a:schemeClr val="accent1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02475">
                <a:tc gridSpan="4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16L : B6(6433’), B7(7017’), 34R : B4(5849’), B2(6778’)</a:t>
                      </a:r>
                      <a:endParaRPr sz="800" dirty="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16R : A6(6076’), A7(7624’), 34L : A5(6167’), A4(7641’)</a:t>
                      </a:r>
                      <a:r>
                        <a:rPr lang="en-US" sz="800" dirty="0">
                          <a:solidFill>
                            <a:schemeClr val="dk1"/>
                          </a:solidFill>
                        </a:rPr>
                        <a:t> 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24325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L/D DOWN before 14/12 DME, L/D FLAP 4 DME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Arrival Taxi RTE in Jeppesen (No Numbering)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905CAFDF-EB15-3BCF-2BC1-76BA885F8145}"/>
              </a:ext>
            </a:extLst>
          </p:cNvPr>
          <p:cNvSpPr txBox="1"/>
          <p:nvPr/>
        </p:nvSpPr>
        <p:spPr>
          <a:xfrm>
            <a:off x="-20938" y="2779805"/>
            <a:ext cx="2335896" cy="449729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125.5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125.37</a:t>
            </a:r>
            <a:endParaRPr kumimoji="1" lang="en-US" altLang="ko-Kore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FUK 133.15 – TKO 133.8 – 133.02 – 132.45 -124.1</a:t>
            </a:r>
          </a:p>
          <a:p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TKO 128.2 – TKO APP 124.4</a:t>
            </a:r>
            <a:endParaRPr kumimoji="1" lang="ko-Kore-KR" altLang="en-US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B8F0BE78-AC62-0208-51DB-6BBDC68084AA}"/>
              </a:ext>
            </a:extLst>
          </p:cNvPr>
          <p:cNvSpPr/>
          <p:nvPr/>
        </p:nvSpPr>
        <p:spPr>
          <a:xfrm>
            <a:off x="1622852" y="2615813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/>
              </a:rPr>
              <a:t>Japan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159D7F32-F3C9-DD20-8248-1430635CB81D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70C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0070C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64" name="Google Shape;264;p15"/>
          <p:cNvGraphicFramePr/>
          <p:nvPr>
            <p:extLst>
              <p:ext uri="{D42A27DB-BD31-4B8C-83A1-F6EECF244321}">
                <p14:modId xmlns:p14="http://schemas.microsoft.com/office/powerpoint/2010/main" val="332034159"/>
              </p:ext>
            </p:extLst>
          </p:nvPr>
        </p:nvGraphicFramePr>
        <p:xfrm>
          <a:off x="0" y="611908"/>
          <a:ext cx="2332950" cy="178453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74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04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9992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2757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105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159300">
                <a:tc gridSpan="9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NRT : SID – ENPAR </a:t>
                      </a:r>
                      <a:r>
                        <a:rPr lang="en-US" sz="800" dirty="0" err="1"/>
                        <a:t>tx</a:t>
                      </a:r>
                      <a:r>
                        <a:rPr lang="en-US" sz="800" dirty="0"/>
                        <a:t> (NADP 1)</a:t>
                      </a:r>
                      <a:endParaRPr sz="800" dirty="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5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rowSpan="2"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TETRA x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ENPAR tx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rowSpan="2"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157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157</a:t>
                      </a:r>
                      <a:endParaRPr sz="458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ATC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157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337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337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7000/ATC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337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NRE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117.9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16L 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110.7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111.5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34L 111.9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34R 110.9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4775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16L(135’)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8202’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34R(141’)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4477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16R (130’)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34L (139’)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44775">
                <a:tc gridSpan="9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accent1"/>
                          </a:solidFill>
                        </a:rPr>
                        <a:t>34R : CLB 220/10000, A4R21/22/23 220KTS </a:t>
                      </a:r>
                      <a:r>
                        <a:rPr lang="en-US" sz="800" b="1" dirty="0" err="1">
                          <a:solidFill>
                            <a:schemeClr val="accent1"/>
                          </a:solidFill>
                        </a:rPr>
                        <a:t>확인</a:t>
                      </a:r>
                      <a:endParaRPr sz="800" b="1" dirty="0">
                        <a:solidFill>
                          <a:schemeClr val="accent1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Verity ENPAR </a:t>
                      </a:r>
                      <a:r>
                        <a:rPr lang="en-US" sz="800" b="1" dirty="0" err="1">
                          <a:solidFill>
                            <a:schemeClr val="dk1"/>
                          </a:solidFill>
                        </a:rPr>
                        <a:t>tx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 TETRA 12000A </a:t>
                      </a:r>
                      <a:endParaRPr sz="800" b="1" dirty="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dk1"/>
                          </a:solidFill>
                        </a:rPr>
                        <a:t>APU Start, TAXI RTE 1, 2, 3, 4 RWY </a:t>
                      </a:r>
                      <a:r>
                        <a:rPr lang="en-US" sz="800" dirty="0" err="1">
                          <a:solidFill>
                            <a:schemeClr val="dk1"/>
                          </a:solidFill>
                        </a:rPr>
                        <a:t>별</a:t>
                      </a:r>
                      <a:r>
                        <a:rPr lang="en-US" sz="800" dirty="0">
                          <a:solidFill>
                            <a:schemeClr val="dk1"/>
                          </a:solidFill>
                        </a:rPr>
                        <a:t> DEP RTE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265" name="Google Shape;265;p15"/>
          <p:cNvGraphicFramePr/>
          <p:nvPr>
            <p:extLst>
              <p:ext uri="{D42A27DB-BD31-4B8C-83A1-F6EECF244321}">
                <p14:modId xmlns:p14="http://schemas.microsoft.com/office/powerpoint/2010/main" val="1186535340"/>
              </p:ext>
            </p:extLst>
          </p:nvPr>
        </p:nvGraphicFramePr>
        <p:xfrm>
          <a:off x="-2501" y="16504"/>
          <a:ext cx="2328850" cy="60930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RJAA(NRT) 135ft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RKPK(PUS) 13ft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Tokyo 131.70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FF0000"/>
                          </a:solidFill>
                        </a:rPr>
                        <a:t>DCL -15분</a:t>
                      </a:r>
                      <a:endParaRPr sz="800" dirty="0">
                        <a:solidFill>
                          <a:srgbClr val="FF0000"/>
                        </a:solidFill>
                      </a:endParaRPr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</a:t>
                      </a:r>
                      <a:r>
                        <a:rPr lang="en-US" sz="900" dirty="0" err="1"/>
                        <a:t>Gimhae</a:t>
                      </a:r>
                      <a:r>
                        <a:rPr lang="en-US" sz="900" dirty="0"/>
                        <a:t> 129.2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267" name="Google Shape;267;p15"/>
          <p:cNvGraphicFramePr/>
          <p:nvPr>
            <p:extLst>
              <p:ext uri="{D42A27DB-BD31-4B8C-83A1-F6EECF244321}">
                <p14:modId xmlns:p14="http://schemas.microsoft.com/office/powerpoint/2010/main" val="2168672014"/>
              </p:ext>
            </p:extLst>
          </p:nvPr>
        </p:nvGraphicFramePr>
        <p:xfrm>
          <a:off x="-3340" y="3734979"/>
          <a:ext cx="2336291" cy="176585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9338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1189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5957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71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146675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PUS : STAR </a:t>
                      </a:r>
                      <a:r>
                        <a:rPr lang="en-US" sz="800" dirty="0">
                          <a:solidFill>
                            <a:srgbClr val="FFC000"/>
                          </a:solidFill>
                        </a:rPr>
                        <a:t>(Tail Wind 36R 136000lbs F40)</a:t>
                      </a:r>
                      <a:endParaRPr sz="800" dirty="0">
                        <a:solidFill>
                          <a:srgbClr val="FFC000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3332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PEDLO x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KALEK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>
                          <a:solidFill>
                            <a:schemeClr val="dk1"/>
                          </a:solidFill>
                        </a:rPr>
                        <a:t>9DME LG, 8DME FLAP</a:t>
                      </a:r>
                      <a:endParaRPr sz="800" b="0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3332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VOR 18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GAYHA x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PSN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rgbClr val="C00000"/>
                          </a:solidFill>
                          <a:hlinkClick r:id="rId5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18 Circling Click!!</a:t>
                      </a:r>
                      <a:endParaRPr lang="en-US" altLang="ko-Kore-KR"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712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36L(13’) 10499’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36R(8’) 8999’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18R(13’) 8530’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18L(13’) 8999’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1712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FIX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dirty="0">
                          <a:solidFill>
                            <a:schemeClr val="dk1"/>
                          </a:solidFill>
                        </a:rPr>
                        <a:t>36 : IKMA/IKHE /9, /8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dirty="0">
                          <a:solidFill>
                            <a:schemeClr val="dk1"/>
                          </a:solidFill>
                        </a:rPr>
                        <a:t>18 : KMH R284, R280</a:t>
                      </a:r>
                      <a:endParaRPr sz="800" b="0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20050">
                <a:tc gridSpan="4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tx1"/>
                          </a:solidFill>
                        </a:rPr>
                        <a:t>36L : </a:t>
                      </a:r>
                      <a:r>
                        <a:rPr lang="en-US" sz="800" b="1" dirty="0">
                          <a:solidFill>
                            <a:srgbClr val="FF0000"/>
                          </a:solidFill>
                        </a:rPr>
                        <a:t>C4 (6299’), 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C2(7795’) / 36R : E3(5866’), E2(7339’)</a:t>
                      </a:r>
                      <a:endParaRPr dirty="0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18R : C6(5770’), C7 (6824’) / 18L : E4(5882’), E5(8792’)</a:t>
                      </a:r>
                      <a:endParaRPr sz="800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2005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Vacate </a:t>
                      </a: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C3,C4 </a:t>
                      </a:r>
                      <a:r>
                        <a:rPr lang="en-US" sz="800" dirty="0"/>
                        <a:t>by ATC only. Max Taxi SPD 20KTS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C2 HOLD SHORT </a:t>
                      </a:r>
                      <a:r>
                        <a:rPr lang="en-US" sz="800" dirty="0" err="1"/>
                        <a:t>가까움</a:t>
                      </a:r>
                      <a:r>
                        <a:rPr lang="en-US" sz="800" dirty="0"/>
                        <a:t>(Vacate </a:t>
                      </a:r>
                      <a:r>
                        <a:rPr lang="en-US" sz="800" dirty="0" err="1"/>
                        <a:t>TaxiSPD</a:t>
                      </a:r>
                      <a:r>
                        <a:rPr lang="en-US" sz="800" dirty="0"/>
                        <a:t>)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2A818B51-4E75-DB6C-7F4F-45C15B12E01A}"/>
              </a:ext>
            </a:extLst>
          </p:cNvPr>
          <p:cNvSpPr txBox="1"/>
          <p:nvPr/>
        </p:nvSpPr>
        <p:spPr>
          <a:xfrm>
            <a:off x="-20938" y="2576930"/>
            <a:ext cx="1787669" cy="855482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124.2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TKO 120.5 – 133.45 – 133.02 – 133.8 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FUK 133.15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 125.37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APP 125.5</a:t>
            </a:r>
            <a:endParaRPr kumimoji="1" lang="ko-Kore-KR" altLang="en-US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3C8FA516-9ABD-A7A7-C8F3-C5DE641A4AF4}"/>
              </a:ext>
            </a:extLst>
          </p:cNvPr>
          <p:cNvSpPr/>
          <p:nvPr/>
        </p:nvSpPr>
        <p:spPr>
          <a:xfrm>
            <a:off x="1622852" y="3090372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/>
              </a:rPr>
              <a:t>Japan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A9BD051B-3FA4-CFB2-69DB-B85045C4E980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54" name="Google Shape;254;p14"/>
          <p:cNvGraphicFramePr/>
          <p:nvPr>
            <p:extLst>
              <p:ext uri="{D42A27DB-BD31-4B8C-83A1-F6EECF244321}">
                <p14:modId xmlns:p14="http://schemas.microsoft.com/office/powerpoint/2010/main" val="4146721415"/>
              </p:ext>
            </p:extLst>
          </p:nvPr>
        </p:nvGraphicFramePr>
        <p:xfrm>
          <a:off x="-2501" y="16504"/>
          <a:ext cx="2328850" cy="62454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RKPK(PUS) 13ft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RJGG(NGO) 12ft</a:t>
                      </a:r>
                      <a:endParaRPr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KE Gimhae 129.2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>
                          <a:solidFill>
                            <a:srgbClr val="FF0000"/>
                          </a:solidFill>
                        </a:rPr>
                        <a:t>DCL -5분</a:t>
                      </a:r>
                      <a:endParaRPr sz="700">
                        <a:solidFill>
                          <a:srgbClr val="FF0000"/>
                        </a:solidFill>
                      </a:endParaRPr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     SWISSPORT   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  OPERATION 132.05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256" name="Google Shape;256;p14"/>
          <p:cNvGraphicFramePr/>
          <p:nvPr/>
        </p:nvGraphicFramePr>
        <p:xfrm>
          <a:off x="0" y="647108"/>
          <a:ext cx="2330925" cy="174265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62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2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70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179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041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19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14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779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1747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21777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280325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</a:tblGrid>
              <a:tr h="0">
                <a:tc gridSpan="1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PUS : SID </a:t>
                      </a:r>
                      <a:r>
                        <a:rPr lang="en-US" sz="800" dirty="0">
                          <a:solidFill>
                            <a:srgbClr val="FFC000"/>
                          </a:solidFill>
                        </a:rPr>
                        <a:t>(Mod NADP CLB2 1000, 14000 MAX)</a:t>
                      </a:r>
                      <a:endParaRPr sz="800" dirty="0">
                        <a:solidFill>
                          <a:srgbClr val="FFC000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36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SOORO x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PSN tx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30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</a:rPr>
                        <a:t>6</a:t>
                      </a:r>
                      <a:endParaRPr sz="458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280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162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18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BULIM x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PSN tx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182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182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182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5700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KMH 113.8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PSN 114.0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36L 108.5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36R 109.5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5700">
                <a:tc gridSpan="1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36 : KMH R091, R271, R185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016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5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36L(13’) 10499’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36R(8’) 8999’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18R(13’) 8530’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18L(13’) 8999’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5700">
                <a:tc gridSpan="1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RWY 36 400ft Man L/H turn, Max Taxi SPD 20KTS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pic>
        <p:nvPicPr>
          <p:cNvPr id="257" name="Google Shape;257;p14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4472" y="2389151"/>
            <a:ext cx="1017503" cy="661781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905CAFDF-EB15-3BCF-2BC1-76BA885F8145}"/>
              </a:ext>
            </a:extLst>
          </p:cNvPr>
          <p:cNvSpPr txBox="1"/>
          <p:nvPr/>
        </p:nvSpPr>
        <p:spPr>
          <a:xfrm>
            <a:off x="-20938" y="3168865"/>
            <a:ext cx="1691489" cy="478455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125.5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125.37</a:t>
            </a:r>
            <a:endParaRPr kumimoji="1" lang="en-US" altLang="ko-Kore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FUK 133.15 – TKO 133.8 – 133.02 </a:t>
            </a:r>
          </a:p>
          <a:p>
            <a:pPr>
              <a:lnSpc>
                <a:spcPct val="150000"/>
              </a:lnSpc>
            </a:pPr>
            <a:r>
              <a:rPr kumimoji="1" lang="ko-KR" altLang="en-US" sz="700" b="1" u="sng" dirty="0" err="1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센트레아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APP 121.05</a:t>
            </a:r>
            <a:endParaRPr kumimoji="1" lang="ko-Kore-KR" altLang="en-US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B8F0BE78-AC62-0208-51DB-6BBDC68084AA}"/>
              </a:ext>
            </a:extLst>
          </p:cNvPr>
          <p:cNvSpPr/>
          <p:nvPr/>
        </p:nvSpPr>
        <p:spPr>
          <a:xfrm>
            <a:off x="1622852" y="2615813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/>
              </a:rPr>
              <a:t>Japan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159D7F32-F3C9-DD20-8248-1430635CB81D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70C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0070C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graphicFrame>
        <p:nvGraphicFramePr>
          <p:cNvPr id="5" name="Google Shape;292;p18">
            <a:extLst>
              <a:ext uri="{FF2B5EF4-FFF2-40B4-BE49-F238E27FC236}">
                <a16:creationId xmlns:a16="http://schemas.microsoft.com/office/drawing/2014/main" id="{83E1A208-D550-C97A-7CA4-81BFC5838CE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089231886"/>
              </p:ext>
            </p:extLst>
          </p:nvPr>
        </p:nvGraphicFramePr>
        <p:xfrm>
          <a:off x="4472" y="3754546"/>
          <a:ext cx="2331400" cy="179257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4923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1646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2850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NGO : STAR (SAMON 290, MARIA 130)</a:t>
                      </a:r>
                      <a:endParaRPr sz="800" dirty="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52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36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CHESS(CARDS)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SOUTH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PROBE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Z 36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05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18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CHESS(CARDS)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NORTH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QUEST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ILS Z 18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680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36(15’)     11483’     18(15’)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90225">
                <a:tc gridSpan="4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36 : A6(5213’), A7(6525’), A8(7837’)</a:t>
                      </a:r>
                      <a:endParaRPr sz="800" dirty="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18 : A5(5393’), A4(6528’), A3(7841’)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90225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RWY36 : After 1500ft L/D FLAP 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RWY 18 : After 3000ft L/G DN &amp; L/D FLAP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rgbClr val="00B050"/>
                          </a:solidFill>
                        </a:rPr>
                        <a:t>Caution Stop line, Yellow Ramp line, VDGS!!!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019184092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65" name="Google Shape;265;p15"/>
          <p:cNvGraphicFramePr/>
          <p:nvPr>
            <p:extLst>
              <p:ext uri="{D42A27DB-BD31-4B8C-83A1-F6EECF244321}">
                <p14:modId xmlns:p14="http://schemas.microsoft.com/office/powerpoint/2010/main" val="314058584"/>
              </p:ext>
            </p:extLst>
          </p:nvPr>
        </p:nvGraphicFramePr>
        <p:xfrm>
          <a:off x="-2501" y="16504"/>
          <a:ext cx="2328850" cy="68281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1344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RJGG(NGO) 12ft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RKPK(PUS) 13ft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1471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dirty="0"/>
                        <a:t>SWISSPORT OPERATION</a:t>
                      </a:r>
                      <a:r>
                        <a:rPr lang="en-US" sz="900" dirty="0"/>
                        <a:t> 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132.05</a:t>
                      </a:r>
                      <a:r>
                        <a:rPr lang="en-US" sz="1400" dirty="0">
                          <a:solidFill>
                            <a:schemeClr val="dk1"/>
                          </a:solidFill>
                        </a:rPr>
                        <a:t> </a:t>
                      </a:r>
                      <a:r>
                        <a:rPr lang="en-US" sz="800" dirty="0">
                          <a:solidFill>
                            <a:srgbClr val="FF0000"/>
                          </a:solidFill>
                        </a:rPr>
                        <a:t>DCL -15분</a:t>
                      </a:r>
                      <a:endParaRPr sz="800" dirty="0">
                        <a:solidFill>
                          <a:srgbClr val="FF0000"/>
                        </a:solidFill>
                      </a:endParaRPr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</a:t>
                      </a:r>
                      <a:r>
                        <a:rPr lang="en-US" sz="900" dirty="0" err="1"/>
                        <a:t>Gimhae</a:t>
                      </a:r>
                      <a:r>
                        <a:rPr lang="en-US" sz="900" dirty="0"/>
                        <a:t> 129.2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267" name="Google Shape;267;p15"/>
          <p:cNvGraphicFramePr/>
          <p:nvPr/>
        </p:nvGraphicFramePr>
        <p:xfrm>
          <a:off x="-3340" y="3734979"/>
          <a:ext cx="2336291" cy="176585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9338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1189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5957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71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146675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PUS : STAR </a:t>
                      </a:r>
                      <a:r>
                        <a:rPr lang="en-US" sz="800" dirty="0">
                          <a:solidFill>
                            <a:srgbClr val="FFC000"/>
                          </a:solidFill>
                        </a:rPr>
                        <a:t>(Tail Wind 36R 136000lbs F40)</a:t>
                      </a:r>
                      <a:endParaRPr sz="800" dirty="0">
                        <a:solidFill>
                          <a:srgbClr val="FFC000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3332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PEDLO x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KALEK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>
                          <a:solidFill>
                            <a:schemeClr val="dk1"/>
                          </a:solidFill>
                        </a:rPr>
                        <a:t>9DME LG, 8DME FLAP</a:t>
                      </a:r>
                      <a:endParaRPr sz="800" b="0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3332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VOR 18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GAYHA x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PSN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rgbClr val="C00000"/>
                          </a:solidFill>
                          <a:hlinkClick r:id="rId5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18 Circling Click!!</a:t>
                      </a:r>
                      <a:endParaRPr lang="en-US" altLang="ko-Kore-KR"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712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36L(13’) 10499’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36R(8’) 8999’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18R(13’) 8530’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18L(13’) 8999’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1712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FIX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dirty="0">
                          <a:solidFill>
                            <a:schemeClr val="dk1"/>
                          </a:solidFill>
                        </a:rPr>
                        <a:t>36 : IKMA/IKHE /9, /8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dirty="0">
                          <a:solidFill>
                            <a:schemeClr val="dk1"/>
                          </a:solidFill>
                        </a:rPr>
                        <a:t>18 : KMH R284, R280</a:t>
                      </a:r>
                      <a:endParaRPr sz="800" b="0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20050">
                <a:tc gridSpan="4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tx1"/>
                          </a:solidFill>
                        </a:rPr>
                        <a:t>36L : </a:t>
                      </a:r>
                      <a:r>
                        <a:rPr lang="en-US" sz="800" b="1" dirty="0">
                          <a:solidFill>
                            <a:srgbClr val="FF0000"/>
                          </a:solidFill>
                        </a:rPr>
                        <a:t>C4 (6299’), 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C2(7795’) / 36R : E3(5866’), E2(7339’)</a:t>
                      </a:r>
                      <a:endParaRPr dirty="0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18R : C6(5770’), C7 (6824’) / 18L : E4(5882’), E5(8792’)</a:t>
                      </a:r>
                      <a:endParaRPr sz="800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2005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Vacate </a:t>
                      </a: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C3,C4 </a:t>
                      </a:r>
                      <a:r>
                        <a:rPr lang="en-US" sz="800" dirty="0"/>
                        <a:t>by ATC only. Max Taxi SPD 20KTS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C2 HOLD SHORT </a:t>
                      </a:r>
                      <a:r>
                        <a:rPr lang="en-US" sz="800" dirty="0" err="1"/>
                        <a:t>가까움</a:t>
                      </a:r>
                      <a:r>
                        <a:rPr lang="en-US" sz="800" dirty="0"/>
                        <a:t>(Vacate </a:t>
                      </a:r>
                      <a:r>
                        <a:rPr lang="en-US" sz="800" dirty="0" err="1"/>
                        <a:t>TaxiSPD</a:t>
                      </a:r>
                      <a:r>
                        <a:rPr lang="en-US" sz="800" dirty="0"/>
                        <a:t>)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2A818B51-4E75-DB6C-7F4F-45C15B12E01A}"/>
              </a:ext>
            </a:extLst>
          </p:cNvPr>
          <p:cNvSpPr txBox="1"/>
          <p:nvPr/>
        </p:nvSpPr>
        <p:spPr>
          <a:xfrm>
            <a:off x="-20938" y="2180233"/>
            <a:ext cx="1481496" cy="855482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120.0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TKO 133.45 – 133.02 – 133.8 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FUK 133.15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 125.37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APP 125.5</a:t>
            </a:r>
            <a:endParaRPr kumimoji="1" lang="ko-Kore-KR" altLang="en-US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3C8FA516-9ABD-A7A7-C8F3-C5DE641A4AF4}"/>
              </a:ext>
            </a:extLst>
          </p:cNvPr>
          <p:cNvSpPr/>
          <p:nvPr/>
        </p:nvSpPr>
        <p:spPr>
          <a:xfrm>
            <a:off x="1622852" y="3090372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/>
              </a:rPr>
              <a:t>Japan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A9BD051B-3FA4-CFB2-69DB-B85045C4E980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graphicFrame>
        <p:nvGraphicFramePr>
          <p:cNvPr id="5" name="Google Shape;300;p19">
            <a:extLst>
              <a:ext uri="{FF2B5EF4-FFF2-40B4-BE49-F238E27FC236}">
                <a16:creationId xmlns:a16="http://schemas.microsoft.com/office/drawing/2014/main" id="{A4C89653-4217-EFE7-7FC0-2E8C5F9AF43B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140824174"/>
              </p:ext>
            </p:extLst>
          </p:nvPr>
        </p:nvGraphicFramePr>
        <p:xfrm>
          <a:off x="0" y="699320"/>
          <a:ext cx="2332950" cy="14686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779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9992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2862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159300">
                <a:tc gridSpan="7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NGO : SID – TANGO </a:t>
                      </a:r>
                      <a:r>
                        <a:rPr lang="en-US" sz="800" dirty="0" err="1"/>
                        <a:t>tx</a:t>
                      </a:r>
                      <a:r>
                        <a:rPr lang="en-US" sz="800" dirty="0"/>
                        <a:t> (NADP 1)</a:t>
                      </a:r>
                      <a:endParaRPr sz="800" dirty="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5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36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rowSpan="2"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OUMI x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- TANGO </a:t>
                      </a:r>
                      <a:r>
                        <a:rPr lang="en-US" sz="800" dirty="0" err="1"/>
                        <a:t>tx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rowSpan="2"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356</a:t>
                      </a:r>
                      <a:endParaRPr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356</a:t>
                      </a:r>
                      <a:endParaRPr sz="458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(7000)</a:t>
                      </a:r>
                      <a:endParaRPr sz="458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356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18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gridSpan="2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176</a:t>
                      </a:r>
                      <a:endParaRPr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176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b="1"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(7000)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176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CBE</a:t>
                      </a:r>
                      <a:r>
                        <a:rPr lang="en-US" sz="800" b="0" dirty="0">
                          <a:solidFill>
                            <a:schemeClr val="dk1"/>
                          </a:solidFill>
                        </a:rPr>
                        <a:t>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117.8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18 109.7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36 111.9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36(15’)</a:t>
                      </a:r>
                      <a:endParaRPr sz="458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11483’</a:t>
                      </a:r>
                      <a:endParaRPr sz="458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18(15’)</a:t>
                      </a:r>
                      <a:endParaRPr sz="458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44775">
                <a:tc gridSpan="7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APU Start 30min, Prepare Intersection T/O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267675490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54" name="Google Shape;254;p14"/>
          <p:cNvGraphicFramePr/>
          <p:nvPr>
            <p:extLst>
              <p:ext uri="{D42A27DB-BD31-4B8C-83A1-F6EECF244321}">
                <p14:modId xmlns:p14="http://schemas.microsoft.com/office/powerpoint/2010/main" val="1046067484"/>
              </p:ext>
            </p:extLst>
          </p:nvPr>
        </p:nvGraphicFramePr>
        <p:xfrm>
          <a:off x="-2501" y="16504"/>
          <a:ext cx="2328850" cy="59406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RKPK(PUS) 13ft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RJFF(FUK) 30ft</a:t>
                      </a:r>
                      <a:endParaRPr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KE Gimhae 129.2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>
                          <a:solidFill>
                            <a:srgbClr val="FF0000"/>
                          </a:solidFill>
                        </a:rPr>
                        <a:t>DCL -5분</a:t>
                      </a:r>
                      <a:endParaRPr sz="700">
                        <a:solidFill>
                          <a:srgbClr val="FF0000"/>
                        </a:solidFill>
                      </a:endParaRPr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     KE FUK 132.05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256" name="Google Shape;256;p14"/>
          <p:cNvGraphicFramePr/>
          <p:nvPr/>
        </p:nvGraphicFramePr>
        <p:xfrm>
          <a:off x="0" y="647108"/>
          <a:ext cx="2330925" cy="174265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62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2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70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179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041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19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14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779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1747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21777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280325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</a:tblGrid>
              <a:tr h="0">
                <a:tc gridSpan="1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PUS : SID </a:t>
                      </a:r>
                      <a:r>
                        <a:rPr lang="en-US" sz="800" dirty="0">
                          <a:solidFill>
                            <a:srgbClr val="FFC000"/>
                          </a:solidFill>
                        </a:rPr>
                        <a:t>(Mod NADP CLB2 1000, 14000 MAX)</a:t>
                      </a:r>
                      <a:endParaRPr sz="800" dirty="0">
                        <a:solidFill>
                          <a:srgbClr val="FFC000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36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SOORO x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PSN tx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30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</a:rPr>
                        <a:t>6</a:t>
                      </a:r>
                      <a:endParaRPr sz="458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280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162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18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BULIM x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PSN tx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182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182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182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5700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KMH 113.8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PSN 114.0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36L 108.5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36R 109.5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5700">
                <a:tc gridSpan="1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36 : KMH R091, R271, R185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016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5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36L(13’) 10499’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36R(8’) 8999’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18R(13’) 8530’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18L(13’) 8999’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5700">
                <a:tc gridSpan="1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RWY 36 400ft Man L/H turn, Max Taxi SPD 20KTS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pic>
        <p:nvPicPr>
          <p:cNvPr id="257" name="Google Shape;257;p14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4472" y="2389151"/>
            <a:ext cx="1017503" cy="661781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905CAFDF-EB15-3BCF-2BC1-76BA885F8145}"/>
              </a:ext>
            </a:extLst>
          </p:cNvPr>
          <p:cNvSpPr txBox="1"/>
          <p:nvPr/>
        </p:nvSpPr>
        <p:spPr>
          <a:xfrm>
            <a:off x="-20938" y="3073409"/>
            <a:ext cx="1786066" cy="478455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125.5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125.37</a:t>
            </a:r>
            <a:endParaRPr kumimoji="1" lang="en-US" altLang="ko-Kore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KOB 118.9 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FUK APP 119.65 – FUK RDR 121.125</a:t>
            </a:r>
            <a:endParaRPr kumimoji="1" lang="ko-Kore-KR" altLang="en-US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B8F0BE78-AC62-0208-51DB-6BBDC68084AA}"/>
              </a:ext>
            </a:extLst>
          </p:cNvPr>
          <p:cNvSpPr/>
          <p:nvPr/>
        </p:nvSpPr>
        <p:spPr>
          <a:xfrm>
            <a:off x="1622852" y="2615813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/>
              </a:rPr>
              <a:t>Japan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159D7F32-F3C9-DD20-8248-1430635CB81D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70C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0070C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graphicFrame>
        <p:nvGraphicFramePr>
          <p:cNvPr id="6" name="Google Shape;273;p16">
            <a:extLst>
              <a:ext uri="{FF2B5EF4-FFF2-40B4-BE49-F238E27FC236}">
                <a16:creationId xmlns:a16="http://schemas.microsoft.com/office/drawing/2014/main" id="{2C7D814E-F3C6-1679-11D0-3BA5E49BE70F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453439758"/>
              </p:ext>
            </p:extLst>
          </p:nvPr>
        </p:nvGraphicFramePr>
        <p:xfrm>
          <a:off x="4410" y="3577043"/>
          <a:ext cx="2305886" cy="196382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196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1843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2226">
                  <a:extLst>
                    <a:ext uri="{9D8B030D-6E8A-4147-A177-3AD203B41FA5}">
                      <a16:colId xmlns:a16="http://schemas.microsoft.com/office/drawing/2014/main" val="1384067485"/>
                    </a:ext>
                  </a:extLst>
                </a:gridCol>
                <a:gridCol w="905566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146675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FUK : RNAV STAR, RDR Vectoring from IKE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FFC000"/>
                          </a:solidFill>
                        </a:rPr>
                        <a:t>(PAVGA 13000ft)</a:t>
                      </a:r>
                      <a:r>
                        <a:rPr lang="en-US" sz="800" dirty="0"/>
                        <a:t> 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FFC000"/>
                          </a:solidFill>
                        </a:rPr>
                        <a:t>Hold W of IKE published </a:t>
                      </a:r>
                      <a:r>
                        <a:rPr lang="en-US" sz="800" dirty="0">
                          <a:solidFill>
                            <a:srgbClr val="FF0000"/>
                          </a:solidFill>
                        </a:rPr>
                        <a:t>(Confirm FMS DATA)</a:t>
                      </a:r>
                      <a:endParaRPr sz="800" dirty="0">
                        <a:solidFill>
                          <a:srgbClr val="FF0000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3332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16</a:t>
                      </a:r>
                      <a:endParaRPr sz="800" b="1" dirty="0"/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/>
                        <a:t>SARUP</a:t>
                      </a:r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0" dirty="0"/>
                        <a:t>ENTIX </a:t>
                      </a:r>
                      <a:endParaRPr lang="en-US" sz="800" b="0" dirty="0"/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>
                          <a:solidFill>
                            <a:schemeClr val="dk1"/>
                          </a:solidFill>
                        </a:rPr>
                        <a:t>ILS,RNP, LOC 16</a:t>
                      </a:r>
                      <a:endParaRPr sz="800" b="0" dirty="0">
                        <a:solidFill>
                          <a:srgbClr val="0070C0"/>
                        </a:solidFill>
                      </a:endParaRPr>
                    </a:p>
                  </a:txBody>
                  <a:tcPr marL="0" marR="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3332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/>
                        <a:t>34</a:t>
                      </a:r>
                      <a:endParaRPr sz="800" b="0" dirty="0"/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V34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/>
                        <a:t>HAWKS WEST</a:t>
                      </a:r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/>
                        <a:t>RWY34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0" dirty="0"/>
                        <a:t>HAWKS</a:t>
                      </a:r>
                      <a:endParaRPr lang="en-US" sz="800" b="0" dirty="0"/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VIS 34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 ILS, RNP, LOC 34</a:t>
                      </a:r>
                      <a:endParaRPr kumimoji="0" lang="en-US" altLang="ko-Kore-KR" sz="8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70C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0" marR="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712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0" marR="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  16(15’)                 9186’</a:t>
                      </a:r>
                      <a:r>
                        <a:rPr lang="en-US" altLang="ko-Kore-KR" sz="800" b="1" dirty="0">
                          <a:solidFill>
                            <a:srgbClr val="00B050"/>
                          </a:solidFill>
                        </a:rPr>
                        <a:t>                34(32’)</a:t>
                      </a: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 24R(305’) 12014’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24L(293’) 8710’ </a:t>
                      </a: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DIS TH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2005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R" sz="800" b="1" dirty="0">
                          <a:solidFill>
                            <a:schemeClr val="dk1"/>
                          </a:solidFill>
                        </a:rPr>
                        <a:t>16 : C6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(5505’), C7(6407’),  34 : C4(5193’), C3(6354’)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2005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ore-KR" sz="800" b="0" dirty="0">
                          <a:solidFill>
                            <a:srgbClr val="C00000"/>
                          </a:solidFill>
                        </a:rPr>
                        <a:t>DGC VOR out of 6NM A/P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tx1"/>
                          </a:solidFill>
                        </a:rPr>
                        <a:t>VIS 34 : </a:t>
                      </a:r>
                      <a:r>
                        <a:rPr lang="en-US" sz="800" b="0" dirty="0">
                          <a:solidFill>
                            <a:srgbClr val="0070C0"/>
                          </a:solidFill>
                        </a:rPr>
                        <a:t>After IKE – RDR Vector Downwind – 1800ft – RWY Insight 1500</a:t>
                      </a:r>
                      <a:r>
                        <a:rPr lang="en-US" altLang="ko-KR" sz="800" b="0" dirty="0">
                          <a:solidFill>
                            <a:srgbClr val="0070C0"/>
                          </a:solidFill>
                        </a:rPr>
                        <a:t>ft – Before L/D CHK Complete before base (Do not Extend Downwind due Terrain)</a:t>
                      </a:r>
                      <a:endParaRPr sz="800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772829389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65" name="Google Shape;265;p15"/>
          <p:cNvGraphicFramePr/>
          <p:nvPr>
            <p:extLst>
              <p:ext uri="{D42A27DB-BD31-4B8C-83A1-F6EECF244321}">
                <p14:modId xmlns:p14="http://schemas.microsoft.com/office/powerpoint/2010/main" val="361834748"/>
              </p:ext>
            </p:extLst>
          </p:nvPr>
        </p:nvGraphicFramePr>
        <p:xfrm>
          <a:off x="-2501" y="16505"/>
          <a:ext cx="2328850" cy="60961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82143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RJFF(FUK) 30ft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RKPK(PUS) 13ft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6128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FUK 132.05</a:t>
                      </a:r>
                      <a:r>
                        <a:rPr lang="en-US" sz="1400" dirty="0">
                          <a:solidFill>
                            <a:schemeClr val="dk1"/>
                          </a:solidFill>
                        </a:rPr>
                        <a:t> 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dirty="0">
                          <a:solidFill>
                            <a:srgbClr val="FF0000"/>
                          </a:solidFill>
                        </a:rPr>
                        <a:t>DCL -15min, Voice -5min</a:t>
                      </a:r>
                      <a:endParaRPr sz="700" dirty="0">
                        <a:solidFill>
                          <a:srgbClr val="FF0000"/>
                        </a:solidFill>
                      </a:endParaRPr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</a:t>
                      </a:r>
                      <a:r>
                        <a:rPr lang="en-US" sz="900" dirty="0" err="1"/>
                        <a:t>Gimhae</a:t>
                      </a:r>
                      <a:r>
                        <a:rPr lang="en-US" sz="900" dirty="0"/>
                        <a:t> 129.2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267" name="Google Shape;267;p15"/>
          <p:cNvGraphicFramePr/>
          <p:nvPr/>
        </p:nvGraphicFramePr>
        <p:xfrm>
          <a:off x="-3340" y="3734979"/>
          <a:ext cx="2336291" cy="176585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9338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1189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5957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71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146675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PUS : STAR </a:t>
                      </a:r>
                      <a:r>
                        <a:rPr lang="en-US" sz="800" dirty="0">
                          <a:solidFill>
                            <a:srgbClr val="FFC000"/>
                          </a:solidFill>
                        </a:rPr>
                        <a:t>(Tail Wind 36R 136000lbs F40)</a:t>
                      </a:r>
                      <a:endParaRPr sz="800" dirty="0">
                        <a:solidFill>
                          <a:srgbClr val="FFC000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3332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PEDLO x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KALEK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>
                          <a:solidFill>
                            <a:schemeClr val="dk1"/>
                          </a:solidFill>
                        </a:rPr>
                        <a:t>9DME LG, 8DME FLAP</a:t>
                      </a:r>
                      <a:endParaRPr sz="800" b="0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3332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VOR 18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GAYHA x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PSN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rgbClr val="C00000"/>
                          </a:solidFill>
                          <a:hlinkClick r:id="rId5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18 Circling Click!!</a:t>
                      </a:r>
                      <a:endParaRPr lang="en-US" altLang="ko-Kore-KR"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712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36L(13’) 10499’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36R(8’) 8999’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18R(13’) 8530’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18L(13’) 8999’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1712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FIX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dirty="0">
                          <a:solidFill>
                            <a:schemeClr val="dk1"/>
                          </a:solidFill>
                        </a:rPr>
                        <a:t>36 : IKMA/IKHE /9, /8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dirty="0">
                          <a:solidFill>
                            <a:schemeClr val="dk1"/>
                          </a:solidFill>
                        </a:rPr>
                        <a:t>18 : KMH R284, R280</a:t>
                      </a:r>
                      <a:endParaRPr sz="800" b="0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20050">
                <a:tc gridSpan="4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tx1"/>
                          </a:solidFill>
                        </a:rPr>
                        <a:t>36L : </a:t>
                      </a:r>
                      <a:r>
                        <a:rPr lang="en-US" sz="800" b="1" dirty="0">
                          <a:solidFill>
                            <a:srgbClr val="FF0000"/>
                          </a:solidFill>
                        </a:rPr>
                        <a:t>C4 (6299’), 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C2(7795’) / 36R : E3(5866’), E2(7339’)</a:t>
                      </a:r>
                      <a:endParaRPr dirty="0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18R : C6(5770’), C7 (6824’) / 18L : E4(5882’), E5(8792’)</a:t>
                      </a:r>
                      <a:endParaRPr sz="800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2005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Vacate </a:t>
                      </a: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C3,C4 </a:t>
                      </a:r>
                      <a:r>
                        <a:rPr lang="en-US" sz="800" dirty="0"/>
                        <a:t>by ATC only. Max Taxi SPD 20KTS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C2 HOLD SHORT </a:t>
                      </a:r>
                      <a:r>
                        <a:rPr lang="en-US" sz="800" dirty="0" err="1"/>
                        <a:t>가까움</a:t>
                      </a:r>
                      <a:r>
                        <a:rPr lang="en-US" sz="800" dirty="0"/>
                        <a:t>(Vacate </a:t>
                      </a:r>
                      <a:r>
                        <a:rPr lang="en-US" sz="800" dirty="0" err="1"/>
                        <a:t>TaxiSPD</a:t>
                      </a:r>
                      <a:r>
                        <a:rPr lang="en-US" sz="800" dirty="0"/>
                        <a:t>)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2A818B51-4E75-DB6C-7F4F-45C15B12E01A}"/>
              </a:ext>
            </a:extLst>
          </p:cNvPr>
          <p:cNvSpPr txBox="1"/>
          <p:nvPr/>
        </p:nvSpPr>
        <p:spPr>
          <a:xfrm>
            <a:off x="1204369" y="2315681"/>
            <a:ext cx="704039" cy="693899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127.9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KOB 135.65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 125.37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APP 125.5</a:t>
            </a:r>
            <a:endParaRPr kumimoji="1" lang="ko-Kore-KR" altLang="en-US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3C8FA516-9ABD-A7A7-C8F3-C5DE641A4AF4}"/>
              </a:ext>
            </a:extLst>
          </p:cNvPr>
          <p:cNvSpPr/>
          <p:nvPr/>
        </p:nvSpPr>
        <p:spPr>
          <a:xfrm>
            <a:off x="1622852" y="3090372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/>
              </a:rPr>
              <a:t>Japan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A9BD051B-3FA4-CFB2-69DB-B85045C4E980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graphicFrame>
        <p:nvGraphicFramePr>
          <p:cNvPr id="6" name="Google Shape;282;p17">
            <a:extLst>
              <a:ext uri="{FF2B5EF4-FFF2-40B4-BE49-F238E27FC236}">
                <a16:creationId xmlns:a16="http://schemas.microsoft.com/office/drawing/2014/main" id="{C17B30FB-054D-E017-8A84-FFD35EC56595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922227561"/>
              </p:ext>
            </p:extLst>
          </p:nvPr>
        </p:nvGraphicFramePr>
        <p:xfrm>
          <a:off x="6595" y="623810"/>
          <a:ext cx="2330925" cy="162073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62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2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7863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9596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7785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953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21777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280325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</a:tblGrid>
              <a:tr h="0">
                <a:tc gridSpan="8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FUK : SID </a:t>
                      </a:r>
                      <a:r>
                        <a:rPr lang="en-US" sz="800" dirty="0">
                          <a:solidFill>
                            <a:srgbClr val="FFC000"/>
                          </a:solidFill>
                        </a:rPr>
                        <a:t>(Consider C2, C8 Intersection T/O)</a:t>
                      </a:r>
                      <a:endParaRPr sz="800" dirty="0">
                        <a:solidFill>
                          <a:srgbClr val="FFC000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16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rowSpan="2"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HAKATA xx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rowSpan="2"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158</a:t>
                      </a:r>
                      <a:endParaRPr sz="458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dirty="0"/>
                        <a:t>158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 (10000)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158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/>
                        <a:t>34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 gridSpan="2" v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338</a:t>
                      </a:r>
                      <a:endParaRPr sz="458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dirty="0"/>
                        <a:t>338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 (10000)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338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570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DGC 114.5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16 111.7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34 108.9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5700">
                <a:tc gridSpan="8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R" sz="800" dirty="0"/>
                        <a:t>16</a:t>
                      </a:r>
                      <a:r>
                        <a:rPr lang="en-US" sz="800" dirty="0"/>
                        <a:t> : DGC 156/20 R240 </a:t>
                      </a:r>
                      <a:r>
                        <a:rPr lang="en-US" altLang="ko-Kore-KR" sz="800" b="0" dirty="0">
                          <a:solidFill>
                            <a:srgbClr val="C00000"/>
                          </a:solidFill>
                        </a:rPr>
                        <a:t>(DGC VOR out of 6NM A/P)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016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800" b="1" dirty="0">
                          <a:solidFill>
                            <a:srgbClr val="00B050"/>
                          </a:solidFill>
                        </a:rPr>
                        <a:t> 16(15’)                 9186’                34(32’)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24R(305’) 8530’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24L(293’) 8999’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5700">
                <a:tc gridSpan="8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rgbClr val="0070C0"/>
                          </a:solidFill>
                        </a:rPr>
                        <a:t>Caution GP HOLD LINE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Initial CTC TWR, “Ready for departure”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RWSL(Runway Status Lights) in operation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pic>
        <p:nvPicPr>
          <p:cNvPr id="7" name="그림 6" descr="지도, 텍스트, 도표, 아틀라스이(가) 표시된 사진&#10;&#10;자동 생성된 설명">
            <a:extLst>
              <a:ext uri="{FF2B5EF4-FFF2-40B4-BE49-F238E27FC236}">
                <a16:creationId xmlns:a16="http://schemas.microsoft.com/office/drawing/2014/main" id="{F8C59922-12DD-5524-7A34-49E960AAC4DA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595" y="2239966"/>
            <a:ext cx="1102787" cy="9941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43578579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91" name="Google Shape;291;p18"/>
          <p:cNvGraphicFramePr/>
          <p:nvPr>
            <p:extLst>
              <p:ext uri="{D42A27DB-BD31-4B8C-83A1-F6EECF244321}">
                <p14:modId xmlns:p14="http://schemas.microsoft.com/office/powerpoint/2010/main" val="2429749342"/>
              </p:ext>
            </p:extLst>
          </p:nvPr>
        </p:nvGraphicFramePr>
        <p:xfrm>
          <a:off x="0" y="635155"/>
          <a:ext cx="2332925" cy="264025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91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17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69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21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254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10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15930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SID (33/34 NADP 1, 15/16 NADP 2)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5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EGOBA xE/A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5500/ATC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EGOBA xY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EGOBA xC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EGOBA xH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NCN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113.8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33L 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15L 111.9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15R 109.1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WNG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112.9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109.95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110.35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108.55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580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33L/R : NC05L/R, R242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YJU R271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34L/R : EO34/R,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YJU R271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44775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33L/R 34L(23’)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15L/R 16R(23’)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4477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34R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44775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Parallel TWY 10KTS </a:t>
                      </a:r>
                      <a:r>
                        <a:rPr lang="en-US" sz="800" dirty="0" err="1"/>
                        <a:t>이상</a:t>
                      </a:r>
                      <a:r>
                        <a:rPr lang="en-US" sz="800" dirty="0"/>
                        <a:t>(R17 MAX 15kts)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292" name="Google Shape;292;p18"/>
          <p:cNvGraphicFramePr/>
          <p:nvPr>
            <p:extLst>
              <p:ext uri="{D42A27DB-BD31-4B8C-83A1-F6EECF244321}">
                <p14:modId xmlns:p14="http://schemas.microsoft.com/office/powerpoint/2010/main" val="1040006007"/>
              </p:ext>
            </p:extLst>
          </p:nvPr>
        </p:nvGraphicFramePr>
        <p:xfrm>
          <a:off x="4472" y="3705686"/>
          <a:ext cx="2331400" cy="183128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5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2850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KIX : STAR (SAEKI 170, RANDY 150)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52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06L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ALISA B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BERRY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ILS Y 06L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05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06R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ALISA A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ALLAN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ILS Y 06R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24L/R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ALISA C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MAYAH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ILS Z 24L/R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680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06L(15’)    13123’    24R(23’)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1680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06R(5’)      11483’     24L(12’)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90225">
                <a:tc gridSpan="4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06L : B8(5160’), B6(6751’), 24R : B7(5318’), B9(6751’)</a:t>
                      </a:r>
                      <a:endParaRPr sz="80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06R : A7(5137’), A6(6938’), 24L : A8(5269’), A9(6976’)</a:t>
                      </a:r>
                      <a:r>
                        <a:rPr lang="en-US" sz="800">
                          <a:solidFill>
                            <a:schemeClr val="dk1"/>
                          </a:solidFill>
                        </a:rPr>
                        <a:t> 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90225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RWY06 : After 2500ft L/G DN, After 1500ft L/D FLAP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TAXI RTE 1(via J4), 2(via J3)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293" name="Google Shape;293;p18"/>
          <p:cNvGraphicFramePr/>
          <p:nvPr>
            <p:extLst>
              <p:ext uri="{D42A27DB-BD31-4B8C-83A1-F6EECF244321}">
                <p14:modId xmlns:p14="http://schemas.microsoft.com/office/powerpoint/2010/main" val="2001563077"/>
              </p:ext>
            </p:extLst>
          </p:nvPr>
        </p:nvGraphicFramePr>
        <p:xfrm>
          <a:off x="-2501" y="16504"/>
          <a:ext cx="2328850" cy="57881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RJBB(KIX) 17ft</a:t>
                      </a:r>
                      <a:endParaRPr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KE ICN 131.5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600"/>
                        <a:buFont typeface="Calibri"/>
                        <a:buNone/>
                      </a:pPr>
                      <a:r>
                        <a:rPr lang="en-US" sz="60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-10분 TOBT 5분 차이시 CTC Comm</a:t>
                      </a:r>
                      <a:endParaRPr sz="90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KIX 130.95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062F9807-5AEF-8D80-6311-45C5000B22FB}"/>
              </a:ext>
            </a:extLst>
          </p:cNvPr>
          <p:cNvSpPr txBox="1"/>
          <p:nvPr/>
        </p:nvSpPr>
        <p:spPr>
          <a:xfrm>
            <a:off x="-74756" y="3192214"/>
            <a:ext cx="2512226" cy="532316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125.15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134.17 – FUK 124.15 - 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TKO 133.8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KIX RDR 120.85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KIX APP 120.25 </a:t>
            </a:r>
          </a:p>
        </p:txBody>
      </p:sp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44712840-8D61-AB2A-6929-88E6EAC824AC}"/>
              </a:ext>
            </a:extLst>
          </p:cNvPr>
          <p:cNvSpPr/>
          <p:nvPr/>
        </p:nvSpPr>
        <p:spPr>
          <a:xfrm>
            <a:off x="1622852" y="3379738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/>
              </a:rPr>
              <a:t>Japan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48273FDD-E3BC-4C98-FE4C-6B5FFE0AD980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70C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0070C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00" name="Google Shape;300;p19"/>
          <p:cNvGraphicFramePr/>
          <p:nvPr>
            <p:extLst>
              <p:ext uri="{D42A27DB-BD31-4B8C-83A1-F6EECF244321}">
                <p14:modId xmlns:p14="http://schemas.microsoft.com/office/powerpoint/2010/main" val="2829744786"/>
              </p:ext>
            </p:extLst>
          </p:nvPr>
        </p:nvGraphicFramePr>
        <p:xfrm>
          <a:off x="0" y="611908"/>
          <a:ext cx="2332950" cy="174265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74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04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9992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2757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105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159300">
                <a:tc gridSpan="9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KIX : SID – SOUJA tx (NADP 1)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5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06L/R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rowSpan="2"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HELEN x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- SOUJA tx</a:t>
                      </a:r>
                      <a:endParaRPr sz="800"/>
                    </a:p>
                  </a:txBody>
                  <a:tcPr marL="36000" marR="36000" marT="36000" marB="36000" anchor="ctr"/>
                </a:tc>
                <a:tc rowSpan="2"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059</a:t>
                      </a:r>
                      <a:endParaRPr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059</a:t>
                      </a:r>
                      <a:endParaRPr sz="458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(9000)</a:t>
                      </a:r>
                      <a:endParaRPr sz="458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059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24L/R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239</a:t>
                      </a:r>
                      <a:endParaRPr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239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b="1"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(9000)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239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KIE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111.6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06L 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108.7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06R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24L 110.7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24R 108.5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4775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06L(15’)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24R(23’)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4477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06R (5’)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24L (12’)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44775">
                <a:tc gridSpan="9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APU Start, TAXI RTE 1(via J4), 2(via J3)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301" name="Google Shape;301;p19"/>
          <p:cNvGraphicFramePr/>
          <p:nvPr>
            <p:extLst>
              <p:ext uri="{D42A27DB-BD31-4B8C-83A1-F6EECF244321}">
                <p14:modId xmlns:p14="http://schemas.microsoft.com/office/powerpoint/2010/main" val="2665713310"/>
              </p:ext>
            </p:extLst>
          </p:nvPr>
        </p:nvGraphicFramePr>
        <p:xfrm>
          <a:off x="-2501" y="16504"/>
          <a:ext cx="2328850" cy="59406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RJBB(KIX) 17ft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KE KIX 130.95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>
                          <a:solidFill>
                            <a:srgbClr val="FF0000"/>
                          </a:solidFill>
                        </a:rPr>
                        <a:t>DCL -15분</a:t>
                      </a:r>
                      <a:endParaRPr sz="700">
                        <a:solidFill>
                          <a:srgbClr val="FF0000"/>
                        </a:solidFill>
                      </a:endParaRPr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303" name="Google Shape;303;p19"/>
          <p:cNvGraphicFramePr/>
          <p:nvPr>
            <p:extLst>
              <p:ext uri="{D42A27DB-BD31-4B8C-83A1-F6EECF244321}">
                <p14:modId xmlns:p14="http://schemas.microsoft.com/office/powerpoint/2010/main" val="2245363245"/>
              </p:ext>
            </p:extLst>
          </p:nvPr>
        </p:nvGraphicFramePr>
        <p:xfrm>
          <a:off x="-5861" y="3410462"/>
          <a:ext cx="2325975" cy="2130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59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3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55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774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STAR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33/34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xE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ENPIL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180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15/16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xH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MUNAN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180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285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33L/R 34L(23’)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15L/R 16R(23’)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285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34R(23’)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13123’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16L(23’)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64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FIX</a:t>
                      </a:r>
                      <a:endParaRPr/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RWY /8, /5 , YJU R271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33R :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C4(7529’), 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C5(8513’), 33L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: B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7563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’), 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8513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 :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C2(7522’), 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C1(8536’), 15R :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B3(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7454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‘), 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B2(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8641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P7(5600’),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P8(6578’), 34R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N4(6876’),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N5(8507‘)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P6(5597’),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P5(6574’), 16L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N3(7043‘),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N2(8444‘)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01600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8NM 180kts, 5NM 160kts, Parr TAXI 10kts이상,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HIRO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381FD245-E43C-5EBF-6DC5-C4C9F9774FB6}"/>
              </a:ext>
            </a:extLst>
          </p:cNvPr>
          <p:cNvSpPr txBox="1"/>
          <p:nvPr/>
        </p:nvSpPr>
        <p:spPr>
          <a:xfrm>
            <a:off x="-20938" y="2486190"/>
            <a:ext cx="994183" cy="855482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119.2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TKO 132.7 – 133.8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FUK 124.15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 120.57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APP 119.75</a:t>
            </a:r>
            <a:endParaRPr kumimoji="1" lang="ko-Kore-KR" altLang="en-US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BAE14337-B047-BE87-76E3-9B5D9B8E501D}"/>
              </a:ext>
            </a:extLst>
          </p:cNvPr>
          <p:cNvSpPr/>
          <p:nvPr/>
        </p:nvSpPr>
        <p:spPr>
          <a:xfrm>
            <a:off x="1622852" y="2951478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/>
              </a:rPr>
              <a:t>Japan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6F9DBE84-CD0F-95F2-9F79-E83F51FD81BE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09" name="Google Shape;309;p20"/>
          <p:cNvGraphicFramePr/>
          <p:nvPr>
            <p:extLst>
              <p:ext uri="{D42A27DB-BD31-4B8C-83A1-F6EECF244321}">
                <p14:modId xmlns:p14="http://schemas.microsoft.com/office/powerpoint/2010/main" val="1311934234"/>
              </p:ext>
            </p:extLst>
          </p:nvPr>
        </p:nvGraphicFramePr>
        <p:xfrm>
          <a:off x="0" y="565414"/>
          <a:ext cx="2332925" cy="249625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91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17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69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21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254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10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15930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SID (33/34 NADP 1, 15/16 NADP 2)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5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EGOBA xE/A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5500/ATC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EGOBA xY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EGOBA xC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EGOBA xH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NCN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113.8</a:t>
                      </a:r>
                      <a:endParaRPr dirty="0"/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33L 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109.3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15L 111.9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15R 109.1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WNG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112.9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34L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109.95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34R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108.1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16L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110.35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16R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108.55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580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33L/R : NC05L/R, R242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YJU R271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34L/R : EO34L/R,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YJU R271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44775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33L/R 34L(23’)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15L/R 16R(23’)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4477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34R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44775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Parallel TWY 10KTS </a:t>
                      </a:r>
                      <a:r>
                        <a:rPr lang="en-US" sz="800" dirty="0" err="1"/>
                        <a:t>이상</a:t>
                      </a:r>
                      <a:r>
                        <a:rPr lang="en-US" sz="800" dirty="0"/>
                        <a:t>(R17 MAX 15kts)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310" name="Google Shape;310;p20"/>
          <p:cNvGraphicFramePr/>
          <p:nvPr>
            <p:extLst>
              <p:ext uri="{D42A27DB-BD31-4B8C-83A1-F6EECF244321}">
                <p14:modId xmlns:p14="http://schemas.microsoft.com/office/powerpoint/2010/main" val="2069230007"/>
              </p:ext>
            </p:extLst>
          </p:nvPr>
        </p:nvGraphicFramePr>
        <p:xfrm>
          <a:off x="1596" y="3416428"/>
          <a:ext cx="2331400" cy="218041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5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36775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NRT : HAKKA 330,YAGAN 240,LIVET 210,SWAMP 150</a:t>
                      </a:r>
                      <a:endParaRPr sz="800" dirty="0"/>
                    </a:p>
                  </a:txBody>
                  <a:tcPr marL="36000" marR="3600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24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SWAMP E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(SWAMP T)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ELGAR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(TYLER)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ILS 34L/R(Z)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24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SWAMP G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(SWAMP N)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GEMIN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(NORMA)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ILS Z 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24325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16L(135’)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8202’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34R(141’)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2432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16R(130’)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13123’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34L(139’)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2432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FIX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>
                          <a:solidFill>
                            <a:schemeClr val="accent1"/>
                          </a:solidFill>
                        </a:rPr>
                        <a:t>16L : ITM 4 / 34R : ITJ 14, 4 (DME)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>
                          <a:solidFill>
                            <a:schemeClr val="accent1"/>
                          </a:solidFill>
                        </a:rPr>
                        <a:t>16R : IKF 4 / 34L : IYQ 12, 4 (DME)</a:t>
                      </a:r>
                      <a:endParaRPr sz="800" b="0">
                        <a:solidFill>
                          <a:schemeClr val="accent1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02475">
                <a:tc gridSpan="4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16L : B6(6433’), B7(7017’), 34R : B4(5849’), B2(6778’)</a:t>
                      </a:r>
                      <a:endParaRPr sz="80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16R : A6(6076’), A7(7624’), 34L : A5(6167’), A4(7641’)</a:t>
                      </a:r>
                      <a:r>
                        <a:rPr lang="en-US" sz="800">
                          <a:solidFill>
                            <a:schemeClr val="dk1"/>
                          </a:solidFill>
                        </a:rPr>
                        <a:t> 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24325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L/D DOWN before 14/12 DME, L/D FLAP 4 DME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Arrival Taxi RTE in Jeppesen (No Numbering)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311" name="Google Shape;311;p20"/>
          <p:cNvGraphicFramePr/>
          <p:nvPr>
            <p:extLst>
              <p:ext uri="{D42A27DB-BD31-4B8C-83A1-F6EECF244321}">
                <p14:modId xmlns:p14="http://schemas.microsoft.com/office/powerpoint/2010/main" val="2356614443"/>
              </p:ext>
            </p:extLst>
          </p:nvPr>
        </p:nvGraphicFramePr>
        <p:xfrm>
          <a:off x="-2501" y="16504"/>
          <a:ext cx="2328850" cy="57881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RJAA(NRT) 135ft</a:t>
                      </a:r>
                      <a:endParaRPr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KE ICN 131.5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60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-10분 TOBT 5분 차이시 CTC Comm</a:t>
                      </a:r>
                      <a:endParaRPr sz="900"/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Tokyo 131.70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4B348A56-DF69-97BA-6C0C-39EEA383FCDD}"/>
              </a:ext>
            </a:extLst>
          </p:cNvPr>
          <p:cNvSpPr txBox="1"/>
          <p:nvPr/>
        </p:nvSpPr>
        <p:spPr>
          <a:xfrm>
            <a:off x="-91698" y="3094015"/>
            <a:ext cx="2063385" cy="281991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r>
              <a:rPr kumimoji="1" lang="en-US" altLang="ko-Kore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125.15</a:t>
            </a:r>
            <a:r>
              <a:rPr kumimoji="1" lang="ko-KR" altLang="en-US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</a:t>
            </a:r>
            <a:r>
              <a:rPr kumimoji="1" lang="ko-KR" altLang="en-US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</a:t>
            </a:r>
            <a:r>
              <a:rPr kumimoji="1" lang="ko-KR" altLang="en-US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134.17 - </a:t>
            </a:r>
            <a:r>
              <a:rPr kumimoji="1" lang="en-US" altLang="ko-Kore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TKO 1</a:t>
            </a:r>
            <a:r>
              <a:rPr kumimoji="1" lang="en-US" altLang="ko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24</a:t>
            </a:r>
            <a:r>
              <a:rPr kumimoji="1" lang="en-US" altLang="ko-Kore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.</a:t>
            </a:r>
            <a:r>
              <a:rPr kumimoji="1" lang="en-US" altLang="ko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15</a:t>
            </a:r>
            <a:r>
              <a:rPr kumimoji="1" lang="en-US" altLang="ko-Kore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– 13</a:t>
            </a:r>
            <a:r>
              <a:rPr kumimoji="1" lang="en-US" altLang="ko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2</a:t>
            </a:r>
            <a:r>
              <a:rPr kumimoji="1" lang="en-US" altLang="ko-Kore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.02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TKO 124.1- </a:t>
            </a:r>
            <a:r>
              <a:rPr kumimoji="1" lang="en-US" altLang="ko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128.2 – TKO APP 124.4</a:t>
            </a:r>
            <a:r>
              <a:rPr kumimoji="1" lang="ko-KR" altLang="en-US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 </a:t>
            </a:r>
            <a:r>
              <a:rPr kumimoji="1" lang="en-US" altLang="ko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-</a:t>
            </a:r>
            <a:r>
              <a:rPr kumimoji="1" lang="ko-KR" altLang="en-US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120.2</a:t>
            </a:r>
            <a:r>
              <a:rPr kumimoji="1" lang="ko-KR" altLang="en-US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endParaRPr kumimoji="1" lang="ko-Kore-KR" altLang="en-US" sz="6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3F03909F-D98D-16B4-E03D-223D925F26E1}"/>
              </a:ext>
            </a:extLst>
          </p:cNvPr>
          <p:cNvSpPr/>
          <p:nvPr/>
        </p:nvSpPr>
        <p:spPr>
          <a:xfrm>
            <a:off x="1663362" y="3177179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/>
              </a:rPr>
              <a:t>Japan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0A0BD91C-DB99-852F-BA1E-37D83389EC4E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70C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0070C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18" name="Google Shape;318;p21"/>
          <p:cNvGraphicFramePr/>
          <p:nvPr>
            <p:extLst>
              <p:ext uri="{D42A27DB-BD31-4B8C-83A1-F6EECF244321}">
                <p14:modId xmlns:p14="http://schemas.microsoft.com/office/powerpoint/2010/main" val="3209609890"/>
              </p:ext>
            </p:extLst>
          </p:nvPr>
        </p:nvGraphicFramePr>
        <p:xfrm>
          <a:off x="0" y="611908"/>
          <a:ext cx="2332950" cy="178453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74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04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9992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2757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105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159300">
                <a:tc gridSpan="9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NRT : SID – ENPAR </a:t>
                      </a:r>
                      <a:r>
                        <a:rPr lang="en-US" sz="800" dirty="0" err="1"/>
                        <a:t>tx</a:t>
                      </a:r>
                      <a:r>
                        <a:rPr lang="en-US" sz="800" dirty="0"/>
                        <a:t> (NADP 1)</a:t>
                      </a:r>
                      <a:endParaRPr sz="800" dirty="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5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rowSpan="2"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TETRA x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ENPAR tx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rowSpan="2"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157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157</a:t>
                      </a:r>
                      <a:endParaRPr sz="458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ATC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157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337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337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7000/ATC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337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NRE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117.9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16L 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110.7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111.5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34L 111.9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34R 110.9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4775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16L(135’)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8202’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34R(141’)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4477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16R (130’)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34L (139’)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44775">
                <a:tc gridSpan="9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accent1"/>
                          </a:solidFill>
                        </a:rPr>
                        <a:t>34R : CLB 220/10000, A4R21/22/23 220KTS </a:t>
                      </a:r>
                      <a:r>
                        <a:rPr lang="en-US" sz="800" b="1" dirty="0" err="1">
                          <a:solidFill>
                            <a:schemeClr val="accent1"/>
                          </a:solidFill>
                        </a:rPr>
                        <a:t>확인</a:t>
                      </a:r>
                      <a:endParaRPr sz="800" b="1" dirty="0">
                        <a:solidFill>
                          <a:schemeClr val="accent1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Verity ENPAR </a:t>
                      </a:r>
                      <a:r>
                        <a:rPr lang="en-US" sz="800" b="1" dirty="0" err="1">
                          <a:solidFill>
                            <a:schemeClr val="dk1"/>
                          </a:solidFill>
                        </a:rPr>
                        <a:t>tx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 TETRA 12000A </a:t>
                      </a:r>
                      <a:endParaRPr sz="800" b="1" dirty="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dk1"/>
                          </a:solidFill>
                        </a:rPr>
                        <a:t>APU Start, TAXI RTE 1, 2, 3, 4 RWY </a:t>
                      </a:r>
                      <a:r>
                        <a:rPr lang="en-US" sz="800" dirty="0" err="1">
                          <a:solidFill>
                            <a:schemeClr val="dk1"/>
                          </a:solidFill>
                        </a:rPr>
                        <a:t>별</a:t>
                      </a:r>
                      <a:r>
                        <a:rPr lang="en-US" sz="800" dirty="0">
                          <a:solidFill>
                            <a:schemeClr val="dk1"/>
                          </a:solidFill>
                        </a:rPr>
                        <a:t> DEP RTE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319" name="Google Shape;319;p21"/>
          <p:cNvGraphicFramePr/>
          <p:nvPr>
            <p:extLst>
              <p:ext uri="{D42A27DB-BD31-4B8C-83A1-F6EECF244321}">
                <p14:modId xmlns:p14="http://schemas.microsoft.com/office/powerpoint/2010/main" val="4080146118"/>
              </p:ext>
            </p:extLst>
          </p:nvPr>
        </p:nvGraphicFramePr>
        <p:xfrm>
          <a:off x="-2501" y="16504"/>
          <a:ext cx="2328850" cy="60930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RJAA(NRT) 135ft</a:t>
                      </a:r>
                      <a:endParaRPr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KE Tokyo 131.70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FF0000"/>
                          </a:solidFill>
                        </a:rPr>
                        <a:t>DCL -15분</a:t>
                      </a:r>
                      <a:endParaRPr sz="800">
                        <a:solidFill>
                          <a:srgbClr val="FF0000"/>
                        </a:solidFill>
                      </a:endParaRPr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321" name="Google Shape;321;p21"/>
          <p:cNvGraphicFramePr/>
          <p:nvPr>
            <p:extLst>
              <p:ext uri="{D42A27DB-BD31-4B8C-83A1-F6EECF244321}">
                <p14:modId xmlns:p14="http://schemas.microsoft.com/office/powerpoint/2010/main" val="3534321627"/>
              </p:ext>
            </p:extLst>
          </p:nvPr>
        </p:nvGraphicFramePr>
        <p:xfrm>
          <a:off x="-5861" y="3405667"/>
          <a:ext cx="2325975" cy="2130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59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3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55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774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STAR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33/34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xE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ENPIL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180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15/16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xH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MUNAN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180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285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33L/R 34L(23’)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15L/R 16R(23’)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285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34R(23’)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13123’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16L(23’)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64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FIX</a:t>
                      </a:r>
                      <a:endParaRPr/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RWY /8, /5 , YJU R271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33R :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C4(7529’), 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C5(8513’), 33L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: B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7563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’), 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8513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 :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C2(7522’), 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C1(8536’), 15R :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B3(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7454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‘), 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B2(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8641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P7(5600’),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P8(6578’), 34R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N4(6876’),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N5(8507‘)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P6(5597’),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P5(6574’), 16L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N3(7043‘),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N2(8444‘)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01600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8NM 180kts, 5NM 160kts, Parr TAXI 10kts이상,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HIRO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8305CE87-CB2D-B9F1-7BCB-D3D6DE9B003F}"/>
              </a:ext>
            </a:extLst>
          </p:cNvPr>
          <p:cNvSpPr txBox="1"/>
          <p:nvPr/>
        </p:nvSpPr>
        <p:spPr>
          <a:xfrm>
            <a:off x="-20938" y="2566981"/>
            <a:ext cx="1787669" cy="693899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124.2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TKO 120.5 – 133.45 – 133.02 – 133.8 </a:t>
            </a:r>
            <a:endParaRPr kumimoji="1" lang="en-US" altLang="ko-Kore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 120.57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APP 119.75</a:t>
            </a:r>
            <a:endParaRPr kumimoji="1" lang="ko-Kore-KR" altLang="en-US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61F60108-1835-DB8D-420A-D0FC0E5B5987}"/>
              </a:ext>
            </a:extLst>
          </p:cNvPr>
          <p:cNvSpPr/>
          <p:nvPr/>
        </p:nvSpPr>
        <p:spPr>
          <a:xfrm>
            <a:off x="1622852" y="2991989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/>
              </a:rPr>
              <a:t>Japan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5AC28DF6-545E-A19C-0E4B-50E8331FA052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27" name="Google Shape;327;p22"/>
          <p:cNvGraphicFramePr/>
          <p:nvPr>
            <p:extLst>
              <p:ext uri="{D42A27DB-BD31-4B8C-83A1-F6EECF244321}">
                <p14:modId xmlns:p14="http://schemas.microsoft.com/office/powerpoint/2010/main" val="1123046964"/>
              </p:ext>
            </p:extLst>
          </p:nvPr>
        </p:nvGraphicFramePr>
        <p:xfrm>
          <a:off x="0" y="565414"/>
          <a:ext cx="2332925" cy="264025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91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17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69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21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254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10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15930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SID (33/34 NADP 1, 15/16 NADP 2)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5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EGOBA xE/A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5500/ATC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EGOBA xY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EGOBA xC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EGOBA xH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NCN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113.8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33L 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15L 111.9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15R 109.1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WNG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112.9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109.95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110.35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108.55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580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33L/R : NC05L/R, R242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YJU R271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34L/R : EO34L/R,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YJU R271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44775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33L/R 34L(23’)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15L/R 16R(23’)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4477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34R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44775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Parallel TWY 10KTS </a:t>
                      </a:r>
                      <a:r>
                        <a:rPr lang="en-US" sz="800" dirty="0" err="1"/>
                        <a:t>이상</a:t>
                      </a:r>
                      <a:r>
                        <a:rPr lang="en-US" sz="800" dirty="0"/>
                        <a:t>(R17 MAX 15kts)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328" name="Google Shape;328;p22"/>
          <p:cNvGraphicFramePr/>
          <p:nvPr>
            <p:extLst>
              <p:ext uri="{D42A27DB-BD31-4B8C-83A1-F6EECF244321}">
                <p14:modId xmlns:p14="http://schemas.microsoft.com/office/powerpoint/2010/main" val="349915081"/>
              </p:ext>
            </p:extLst>
          </p:nvPr>
        </p:nvGraphicFramePr>
        <p:xfrm>
          <a:off x="1596" y="3632328"/>
          <a:ext cx="2331375" cy="1914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619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037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36775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CTS : STAR </a:t>
                      </a:r>
                      <a:r>
                        <a:rPr lang="en-US" sz="800" dirty="0">
                          <a:solidFill>
                            <a:srgbClr val="FFC000"/>
                          </a:solidFill>
                        </a:rPr>
                        <a:t>(01R : IDEMI FL150, 19L : NAVER FL170)</a:t>
                      </a:r>
                      <a:endParaRPr sz="800" dirty="0">
                        <a:solidFill>
                          <a:srgbClr val="FFC000"/>
                        </a:solidFill>
                      </a:endParaRPr>
                    </a:p>
                  </a:txBody>
                  <a:tcPr marL="36000" marR="3600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24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01R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YOTEI SOUTH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(YUKII WEST)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YOTEI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not YOSEI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Y/Z 01R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3000/2000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24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19L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19R 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CAT III</a:t>
                      </a:r>
                      <a:endParaRPr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NAVER(170)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YUNEY SOUTH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(KAORY A)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KAORY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YUNEY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(KAORY)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ILS Z 19L</a:t>
                      </a:r>
                      <a:endParaRPr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2432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01R(57’)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01L(62’)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9843’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19L(77’)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19R(82’)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02475">
                <a:tc gridSpan="4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01R : B4(5278’), B3(7047’), 19L : B8(5177’), B9(7119’)</a:t>
                      </a:r>
                      <a:endParaRPr sz="80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01L : A5(5538’), A4(6961’), 19R : A7(5390’), A8(6873’)</a:t>
                      </a:r>
                      <a:r>
                        <a:rPr lang="en-US" sz="800">
                          <a:solidFill>
                            <a:schemeClr val="dk1"/>
                          </a:solidFill>
                        </a:rPr>
                        <a:t> 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24325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Do not Cross 01L/19R After L/D (No TWY)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TAXI to Gate Via D(J) or G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graphicFrame>
        <p:nvGraphicFramePr>
          <p:cNvPr id="329" name="Google Shape;329;p22"/>
          <p:cNvGraphicFramePr/>
          <p:nvPr>
            <p:extLst>
              <p:ext uri="{D42A27DB-BD31-4B8C-83A1-F6EECF244321}">
                <p14:modId xmlns:p14="http://schemas.microsoft.com/office/powerpoint/2010/main" val="3315412402"/>
              </p:ext>
            </p:extLst>
          </p:nvPr>
        </p:nvGraphicFramePr>
        <p:xfrm>
          <a:off x="-2501" y="16504"/>
          <a:ext cx="2328850" cy="57881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RJCC(CTS) 70ft</a:t>
                      </a:r>
                      <a:endParaRPr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KE ICN 131.5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60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-10분 TOBT 5분 차이시 CTC Comm</a:t>
                      </a:r>
                      <a:endParaRPr sz="900"/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Chitose </a:t>
                      </a:r>
                      <a:r>
                        <a:rPr lang="en-US" sz="900" dirty="0" err="1"/>
                        <a:t>Oper</a:t>
                      </a:r>
                      <a:r>
                        <a:rPr lang="en-US" sz="900" dirty="0"/>
                        <a:t> 132.05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B5CAF811-B5E1-B49C-3619-B63357E59B85}"/>
              </a:ext>
            </a:extLst>
          </p:cNvPr>
          <p:cNvSpPr txBox="1"/>
          <p:nvPr/>
        </p:nvSpPr>
        <p:spPr>
          <a:xfrm>
            <a:off x="-41878" y="3155242"/>
            <a:ext cx="2085827" cy="466657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125.15</a:t>
            </a:r>
            <a:r>
              <a:rPr kumimoji="1" lang="ko-KR" altLang="en-US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</a:t>
            </a:r>
            <a:r>
              <a:rPr kumimoji="1" lang="ko-KR" altLang="en-US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</a:t>
            </a:r>
            <a:r>
              <a:rPr kumimoji="1" lang="ko-KR" altLang="en-US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134.17 - FUK</a:t>
            </a:r>
            <a:r>
              <a:rPr kumimoji="1" lang="en-US" altLang="ko-Kore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1</a:t>
            </a:r>
            <a:r>
              <a:rPr kumimoji="1" lang="en-US" altLang="ko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24</a:t>
            </a:r>
            <a:r>
              <a:rPr kumimoji="1" lang="en-US" altLang="ko-Kore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.</a:t>
            </a:r>
            <a:r>
              <a:rPr kumimoji="1" lang="en-US" altLang="ko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15</a:t>
            </a:r>
            <a:r>
              <a:rPr kumimoji="1" lang="en-US" altLang="ko-Kore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– 133.</a:t>
            </a:r>
            <a:r>
              <a:rPr kumimoji="1" lang="en-US" altLang="ko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02</a:t>
            </a:r>
            <a:r>
              <a:rPr kumimoji="1" lang="en-US" altLang="ko-Kore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TKO 132.3 - SPR 133.3 -119.3</a:t>
            </a:r>
          </a:p>
          <a:p>
            <a:pPr>
              <a:lnSpc>
                <a:spcPct val="150000"/>
              </a:lnSpc>
            </a:pPr>
            <a:r>
              <a:rPr kumimoji="1" lang="en-US" altLang="ko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CTS APP 120.1</a:t>
            </a:r>
            <a:endParaRPr kumimoji="1" lang="ko-Kore-KR" altLang="en-US" sz="6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284A94EA-45D7-F3BD-DD6E-51EA2A229434}"/>
              </a:ext>
            </a:extLst>
          </p:cNvPr>
          <p:cNvSpPr/>
          <p:nvPr/>
        </p:nvSpPr>
        <p:spPr>
          <a:xfrm>
            <a:off x="1628639" y="3316082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/>
              </a:rPr>
              <a:t>Japan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FAEC4EB8-DA09-E905-09CF-DC62055CFFC1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70C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0070C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36" name="Google Shape;336;p23"/>
          <p:cNvGraphicFramePr/>
          <p:nvPr/>
        </p:nvGraphicFramePr>
        <p:xfrm>
          <a:off x="0" y="611908"/>
          <a:ext cx="2332950" cy="159865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74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04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9992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2757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105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159300">
                <a:tc gridSpan="9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CTS : SID (NADP 1)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5800">
                <a:tc row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ALL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rowSpan="2"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DALBI x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SUVIT x SOSHU x</a:t>
                      </a:r>
                      <a:endParaRPr/>
                    </a:p>
                  </a:txBody>
                  <a:tcPr marL="36000" marR="36000" marT="36000" marB="36000" anchor="ctr"/>
                </a:tc>
                <a:tc rowSpan="2"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002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002</a:t>
                      </a:r>
                      <a:endParaRPr sz="458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ATC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002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477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182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182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182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CHE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116.9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01R 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110.75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19L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109.35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01L 110.9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19R 111.5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01R(57’)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01L(62’)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9843’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19L(77’)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19R(82’)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44775">
                <a:tc gridSpan="9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chemeClr val="accent1"/>
                          </a:solidFill>
                        </a:rPr>
                        <a:t>APU, Deicing at the Gate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R/H turn DCT to HWE -&gt; Confirm R/H Turn ND</a:t>
                      </a:r>
                      <a:endParaRPr sz="80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graphicFrame>
        <p:nvGraphicFramePr>
          <p:cNvPr id="337" name="Google Shape;337;p23"/>
          <p:cNvGraphicFramePr/>
          <p:nvPr>
            <p:extLst>
              <p:ext uri="{D42A27DB-BD31-4B8C-83A1-F6EECF244321}">
                <p14:modId xmlns:p14="http://schemas.microsoft.com/office/powerpoint/2010/main" val="4238400685"/>
              </p:ext>
            </p:extLst>
          </p:nvPr>
        </p:nvGraphicFramePr>
        <p:xfrm>
          <a:off x="-2501" y="16504"/>
          <a:ext cx="2328850" cy="60930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RJCC(CTS) 70ft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Chitose Oper 132.05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FF0000"/>
                          </a:solidFill>
                        </a:rPr>
                        <a:t>NO DCL -5분</a:t>
                      </a:r>
                      <a:endParaRPr sz="800">
                        <a:solidFill>
                          <a:srgbClr val="FF0000"/>
                        </a:solidFill>
                      </a:endParaRPr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339" name="Google Shape;339;p23"/>
          <p:cNvGraphicFramePr/>
          <p:nvPr>
            <p:extLst>
              <p:ext uri="{D42A27DB-BD31-4B8C-83A1-F6EECF244321}">
                <p14:modId xmlns:p14="http://schemas.microsoft.com/office/powerpoint/2010/main" val="1453061728"/>
              </p:ext>
            </p:extLst>
          </p:nvPr>
        </p:nvGraphicFramePr>
        <p:xfrm>
          <a:off x="-5861" y="3398687"/>
          <a:ext cx="2325975" cy="2130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59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3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55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774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STAR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33/34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xE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ENPIL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180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15/16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xH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MUNAN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180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285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33L/R 34L(23’)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15L/R 16R(23’)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285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34R(23’)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13123’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16L(23’)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64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FIX</a:t>
                      </a:r>
                      <a:endParaRPr dirty="0"/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RWY /8, /5 , YJU R271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C4(7529’),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C5(8513’), 33L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: B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7563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8513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C2(7522’),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C1(8536’), 15R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B3(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7454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B2(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8641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P7(5600’),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P8(6578’), 34R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N4(6876’),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N5(8507‘)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P6(5597’),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P5(6574’), 16L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N3(7043‘),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N2(8444‘)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01600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8NM 180kts, 5NM 160kts, Parr TAXI 10kts이상,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HIRO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EF15FB2D-E42F-675C-3FFB-9ECEC0B206B8}"/>
              </a:ext>
            </a:extLst>
          </p:cNvPr>
          <p:cNvSpPr txBox="1"/>
          <p:nvPr/>
        </p:nvSpPr>
        <p:spPr>
          <a:xfrm>
            <a:off x="-20938" y="2172085"/>
            <a:ext cx="1596912" cy="855482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124.7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SPR 119.3 – TKO 124.5 - 132.3 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FUK 133.02 – 124.15 </a:t>
            </a:r>
            <a:endParaRPr kumimoji="1" lang="en-US" altLang="ko-Kore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 120.57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APP 119.75</a:t>
            </a:r>
            <a:endParaRPr kumimoji="1" lang="ko-Kore-KR" altLang="en-US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81F8CD04-2D37-9A88-545F-6BD77E8DA77E}"/>
              </a:ext>
            </a:extLst>
          </p:cNvPr>
          <p:cNvSpPr/>
          <p:nvPr/>
        </p:nvSpPr>
        <p:spPr>
          <a:xfrm>
            <a:off x="1622852" y="2968839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/>
              </a:rPr>
              <a:t>Japan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6617BE5F-5E96-D9F3-56F3-A5CEBCCEF63A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45" name="Google Shape;345;p24"/>
          <p:cNvGraphicFramePr/>
          <p:nvPr>
            <p:extLst>
              <p:ext uri="{D42A27DB-BD31-4B8C-83A1-F6EECF244321}">
                <p14:modId xmlns:p14="http://schemas.microsoft.com/office/powerpoint/2010/main" val="429565451"/>
              </p:ext>
            </p:extLst>
          </p:nvPr>
        </p:nvGraphicFramePr>
        <p:xfrm>
          <a:off x="0" y="565414"/>
          <a:ext cx="2332925" cy="2525268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91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17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69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21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254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10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192506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SID (33/34 NADP 1, 15/16 NADP 2)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4956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EGOBA xE/A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5500/ATC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74958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EGOBA xY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74958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EGOBA xC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74958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EGOBA xH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8349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NCN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113.8</a:t>
                      </a:r>
                      <a:endParaRPr dirty="0"/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33L 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109.3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33R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108.9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15L 111.9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15R 109.1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58349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WNG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112.9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109.95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16L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110.35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16R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108.55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84956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33L/R : NC05L/R, R242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YJU R271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34L/R : EO34L/R,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YJU R271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74958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33L/R 34L(23’)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15L/R 16R(23’)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74958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34R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 (23’)</a:t>
                      </a:r>
                      <a:endParaRPr sz="458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74958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Parallel TWY 10KTS </a:t>
                      </a:r>
                      <a:r>
                        <a:rPr lang="en-US" sz="800" dirty="0" err="1"/>
                        <a:t>이상</a:t>
                      </a:r>
                      <a:r>
                        <a:rPr lang="en-US" sz="800" dirty="0"/>
                        <a:t>(R17 MAX 15kts)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346" name="Google Shape;346;p24"/>
          <p:cNvGraphicFramePr/>
          <p:nvPr>
            <p:extLst>
              <p:ext uri="{D42A27DB-BD31-4B8C-83A1-F6EECF244321}">
                <p14:modId xmlns:p14="http://schemas.microsoft.com/office/powerpoint/2010/main" val="4181943612"/>
              </p:ext>
            </p:extLst>
          </p:nvPr>
        </p:nvGraphicFramePr>
        <p:xfrm>
          <a:off x="1596" y="3473578"/>
          <a:ext cx="2313550" cy="206533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603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2068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5826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742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54135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HND : </a:t>
                      </a:r>
                      <a:r>
                        <a:rPr lang="en-US" altLang="ko-Kore-KR" sz="800" dirty="0">
                          <a:solidFill>
                            <a:srgbClr val="FFC000"/>
                          </a:solidFill>
                        </a:rPr>
                        <a:t>STAR </a:t>
                      </a:r>
                      <a:r>
                        <a:rPr lang="en-US" sz="800" dirty="0">
                          <a:solidFill>
                            <a:srgbClr val="FFC000"/>
                          </a:solidFill>
                        </a:rPr>
                        <a:t>XAC Night– APP xxx Y 1400z~</a:t>
                      </a:r>
                      <a:r>
                        <a:rPr lang="en-US" sz="800" dirty="0"/>
                        <a:t> </a:t>
                      </a:r>
                      <a:r>
                        <a:rPr lang="en-US" altLang="ko-Kore-KR" sz="800" dirty="0"/>
                        <a:t>SPENS 220</a:t>
                      </a:r>
                      <a:endParaRPr sz="800" dirty="0"/>
                    </a:p>
                  </a:txBody>
                  <a:tcPr marL="36000" marR="3600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4008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34L</a:t>
                      </a:r>
                      <a:r>
                        <a:rPr lang="en-US" sz="800" b="0" dirty="0"/>
                        <a:t>/R</a:t>
                      </a:r>
                      <a:endParaRPr sz="800" b="0" dirty="0"/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XAC </a:t>
                      </a:r>
                      <a:r>
                        <a:rPr lang="en-US" sz="800" b="1" dirty="0" err="1"/>
                        <a:t>xK</a:t>
                      </a:r>
                      <a:r>
                        <a:rPr lang="en-US" sz="800" b="0" dirty="0"/>
                        <a:t>/H</a:t>
                      </a:r>
                      <a:endParaRPr sz="800" b="0" dirty="0"/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KAIHO</a:t>
                      </a:r>
                      <a:r>
                        <a:rPr lang="en-US" sz="800" b="0" dirty="0"/>
                        <a:t>/CACAO</a:t>
                      </a:r>
                      <a:endParaRPr b="0" dirty="0"/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X </a:t>
                      </a:r>
                      <a:r>
                        <a:rPr lang="en-US" sz="800" b="0" dirty="0"/>
                        <a:t>/ VIS</a:t>
                      </a:r>
                      <a:endParaRPr sz="458" b="0" dirty="0"/>
                    </a:p>
                  </a:txBody>
                  <a:tcPr marL="0" marR="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008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22</a:t>
                      </a:r>
                      <a:endParaRPr sz="800" b="1"/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XAC </a:t>
                      </a:r>
                      <a:r>
                        <a:rPr lang="en-US" sz="800" b="1" dirty="0" err="1"/>
                        <a:t>xB</a:t>
                      </a:r>
                      <a:endParaRPr sz="800" b="1" dirty="0"/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BACON</a:t>
                      </a:r>
                      <a:endParaRPr sz="800" b="1" dirty="0"/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LDA W(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RNVW 22</a:t>
                      </a:r>
                      <a:r>
                        <a:rPr lang="en-US" sz="800" b="1" dirty="0"/>
                        <a:t>)</a:t>
                      </a:r>
                      <a:endParaRPr sz="458" dirty="0"/>
                    </a:p>
                  </a:txBody>
                  <a:tcPr marL="0" marR="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008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16R</a:t>
                      </a:r>
                      <a:r>
                        <a:rPr lang="en-US" sz="800" b="0" dirty="0"/>
                        <a:t>/L</a:t>
                      </a:r>
                      <a:endParaRPr sz="800" b="0" dirty="0"/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XAC R</a:t>
                      </a:r>
                      <a:endParaRPr sz="800" b="1" dirty="0"/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NATTY</a:t>
                      </a:r>
                      <a:r>
                        <a:rPr lang="en-US" sz="800" b="0" dirty="0"/>
                        <a:t>/SANDY</a:t>
                      </a:r>
                      <a:endParaRPr sz="800" b="0" dirty="0"/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 dirty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RNP(</a:t>
                      </a:r>
                      <a:r>
                        <a:rPr lang="en-US" sz="800" b="1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R16RT</a:t>
                      </a:r>
                      <a:r>
                        <a:rPr lang="en-US" sz="800" b="0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/R16LT</a:t>
                      </a:r>
                      <a:r>
                        <a:rPr lang="en-US" sz="800" b="1" i="0" u="none" strike="noStrike" cap="none" dirty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)</a:t>
                      </a:r>
                      <a:endParaRPr sz="458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008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23</a:t>
                      </a:r>
                      <a:endParaRPr sz="800" b="1"/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-</a:t>
                      </a:r>
                      <a:endParaRPr sz="800" b="1"/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DANON</a:t>
                      </a:r>
                      <a:endParaRPr sz="800" b="1"/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LDA W(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RNVW 23</a:t>
                      </a:r>
                      <a:r>
                        <a:rPr lang="en-US" sz="800" b="1" dirty="0"/>
                        <a:t>)</a:t>
                      </a:r>
                      <a:endParaRPr sz="458" dirty="0"/>
                    </a:p>
                  </a:txBody>
                  <a:tcPr marL="0" marR="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40085">
                <a:tc row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34L(18’) 9843’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16R(77’) 8268’ </a:t>
                      </a:r>
                      <a:r>
                        <a:rPr lang="en-US" sz="800" b="1" dirty="0">
                          <a:solidFill>
                            <a:srgbClr val="FF0000"/>
                          </a:solidFill>
                        </a:rPr>
                        <a:t>DIS</a:t>
                      </a:r>
                      <a:endParaRPr sz="800" b="1" dirty="0">
                        <a:solidFill>
                          <a:srgbClr val="FF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4008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34R(21’) 9843’</a:t>
                      </a:r>
                      <a:r>
                        <a:rPr lang="ko-KR" altLang="en-US" sz="800" b="1" dirty="0">
                          <a:solidFill>
                            <a:srgbClr val="00B050"/>
                          </a:solidFill>
                        </a:rPr>
                        <a:t> </a:t>
                      </a:r>
                      <a:r>
                        <a:rPr lang="en-US" altLang="ko-KR" sz="800" b="1" dirty="0">
                          <a:solidFill>
                            <a:srgbClr val="FF0000"/>
                          </a:solidFill>
                        </a:rPr>
                        <a:t>DIS TH</a:t>
                      </a:r>
                      <a:endParaRPr sz="800" b="1" dirty="0">
                        <a:solidFill>
                          <a:srgbClr val="FF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16L(19’) 9744’ </a:t>
                      </a:r>
                      <a:r>
                        <a:rPr lang="en-US" sz="800" b="1" dirty="0">
                          <a:solidFill>
                            <a:srgbClr val="FF0000"/>
                          </a:solidFill>
                        </a:rPr>
                        <a:t>DIS</a:t>
                      </a:r>
                      <a:endParaRPr sz="800" b="1" dirty="0">
                        <a:solidFill>
                          <a:srgbClr val="FF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4008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22(35’) 8202’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23(55’) 8202’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28158">
                <a:tc gridSpan="4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34L : L12(6515’), L13(7165’), 22 : B4(6207’), B3(6830’)</a:t>
                      </a:r>
                      <a:endParaRPr sz="800" dirty="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16R : L5(5147’), L3(6361’), 23 : </a:t>
                      </a:r>
                      <a:r>
                        <a:rPr lang="en-US" sz="800" dirty="0">
                          <a:solidFill>
                            <a:schemeClr val="dk1"/>
                          </a:solidFill>
                        </a:rPr>
                        <a:t> 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D5(5072’), D3(6391’)</a:t>
                      </a:r>
                      <a:endParaRPr sz="800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29076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700"/>
                        <a:buFont typeface="Calibri"/>
                        <a:buNone/>
                      </a:pPr>
                      <a:r>
                        <a:rPr lang="en-US" sz="700" b="1" dirty="0">
                          <a:solidFill>
                            <a:srgbClr val="0070C0"/>
                          </a:solidFill>
                        </a:rPr>
                        <a:t>xxx Z : 180kts, 160kts limit APP Chart, xxx Y After 1400z</a:t>
                      </a:r>
                      <a:endParaRPr sz="7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graphicFrame>
        <p:nvGraphicFramePr>
          <p:cNvPr id="347" name="Google Shape;347;p24"/>
          <p:cNvGraphicFramePr/>
          <p:nvPr>
            <p:extLst>
              <p:ext uri="{D42A27DB-BD31-4B8C-83A1-F6EECF244321}">
                <p14:modId xmlns:p14="http://schemas.microsoft.com/office/powerpoint/2010/main" val="134299945"/>
              </p:ext>
            </p:extLst>
          </p:nvPr>
        </p:nvGraphicFramePr>
        <p:xfrm>
          <a:off x="-2501" y="16504"/>
          <a:ext cx="2328850" cy="57881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RJTT(HND) 21ft</a:t>
                      </a:r>
                      <a:endParaRPr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KE ICN 131.5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60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-10분 TOBT 5분 차이시 CTC Comm</a:t>
                      </a:r>
                      <a:endParaRPr sz="900"/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Delta </a:t>
                      </a:r>
                      <a:r>
                        <a:rPr lang="en-US" sz="900" dirty="0" err="1"/>
                        <a:t>Oper</a:t>
                      </a:r>
                      <a:r>
                        <a:rPr lang="en-US" sz="900" dirty="0"/>
                        <a:t> 132.075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3BC63946-A7CD-77E9-F5B8-CBBDBDCC5ADA}"/>
              </a:ext>
            </a:extLst>
          </p:cNvPr>
          <p:cNvSpPr txBox="1"/>
          <p:nvPr/>
        </p:nvSpPr>
        <p:spPr>
          <a:xfrm>
            <a:off x="-41878" y="3028026"/>
            <a:ext cx="2212465" cy="466657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125.15</a:t>
            </a:r>
            <a:r>
              <a:rPr kumimoji="1" lang="ko-KR" altLang="en-US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</a:t>
            </a:r>
            <a:r>
              <a:rPr kumimoji="1" lang="ko-KR" altLang="en-US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</a:t>
            </a:r>
            <a:r>
              <a:rPr kumimoji="1" lang="ko-KR" altLang="en-US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134.17 – FUK</a:t>
            </a:r>
            <a:r>
              <a:rPr kumimoji="1" lang="en-US" altLang="ko-Kore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133.02 – TKO 120.5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TKO 133.35</a:t>
            </a:r>
          </a:p>
          <a:p>
            <a:pPr>
              <a:lnSpc>
                <a:spcPct val="150000"/>
              </a:lnSpc>
            </a:pPr>
            <a:r>
              <a:rPr kumimoji="1" lang="en-US" altLang="ko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TKO APP 119.1 – 119.65</a:t>
            </a:r>
            <a:endParaRPr kumimoji="1" lang="ko-Kore-KR" altLang="en-US" sz="6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E883402A-2C06-3020-A385-CD1C99F5016F}"/>
              </a:ext>
            </a:extLst>
          </p:cNvPr>
          <p:cNvSpPr/>
          <p:nvPr/>
        </p:nvSpPr>
        <p:spPr>
          <a:xfrm>
            <a:off x="1622852" y="3159816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/>
              </a:rPr>
              <a:t>Japan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DE2E95AF-4A51-6082-8123-DE5EE03D2C21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70C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0070C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D411E119-4026-CE0D-8F48-49BFB4C46FBA}"/>
              </a:ext>
            </a:extLst>
          </p:cNvPr>
          <p:cNvSpPr txBox="1"/>
          <p:nvPr/>
        </p:nvSpPr>
        <p:spPr>
          <a:xfrm>
            <a:off x="624812" y="2553021"/>
            <a:ext cx="1287532" cy="693899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</a:t>
            </a:r>
            <a:r>
              <a:rPr kumimoji="1" lang="en-US" altLang="ko-Kore-KR" sz="700" b="1" u="sng" dirty="0">
                <a:solidFill>
                  <a:srgbClr val="FF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ATIS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TKO 120.5 – FUK 133.02 </a:t>
            </a:r>
            <a:endParaRPr kumimoji="1" lang="en-US" altLang="ko-Kore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 120.57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APP 119.75</a:t>
            </a:r>
            <a:endParaRPr kumimoji="1" lang="ko-Kore-KR" altLang="en-US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graphicFrame>
        <p:nvGraphicFramePr>
          <p:cNvPr id="354" name="Google Shape;354;p25"/>
          <p:cNvGraphicFramePr/>
          <p:nvPr>
            <p:extLst>
              <p:ext uri="{D42A27DB-BD31-4B8C-83A1-F6EECF244321}">
                <p14:modId xmlns:p14="http://schemas.microsoft.com/office/powerpoint/2010/main" val="2578373620"/>
              </p:ext>
            </p:extLst>
          </p:nvPr>
        </p:nvGraphicFramePr>
        <p:xfrm>
          <a:off x="0" y="611909"/>
          <a:ext cx="2320125" cy="200550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619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34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90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55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111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603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579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74725">
                <a:tc gridSpan="7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HND : SID </a:t>
                      </a:r>
                      <a:r>
                        <a:rPr lang="en-US" sz="800" dirty="0">
                          <a:solidFill>
                            <a:srgbClr val="FFC000"/>
                          </a:solidFill>
                        </a:rPr>
                        <a:t>(xx B/C 2200-0230z 0600-1000z)</a:t>
                      </a:r>
                      <a:r>
                        <a:rPr lang="en-US" sz="800" dirty="0"/>
                        <a:t> NADP 1</a:t>
                      </a:r>
                      <a:endParaRPr sz="800" dirty="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6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ALL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BEKLA x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OPPAR x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RWY H/D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RWY CRS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ATC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RWY H/D</a:t>
                      </a:r>
                      <a:endParaRPr sz="6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865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HME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112.2</a:t>
                      </a:r>
                      <a:endParaRPr/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34L 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111.7</a:t>
                      </a:r>
                      <a:endParaRPr sz="458"/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111.55</a:t>
                      </a:r>
                      <a:endParaRPr sz="800"/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34R 108.9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16L 111.95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22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23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110.5</a:t>
                      </a:r>
                      <a:endParaRPr sz="800"/>
                    </a:p>
                  </a:txBody>
                  <a:tcPr marL="0" marR="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58800">
                <a:tc rowSpan="3"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rowSpan="3"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5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34L(18’)        9843’       16R(77’)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58800">
                <a:tc gridSpan="2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5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34R(21’)       11024’      16L(19’)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58800">
                <a:tc gridSpan="2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5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04(19’)        8202’       05(46’)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58650">
                <a:tc gridSpan="7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dk1"/>
                          </a:solidFill>
                        </a:rPr>
                        <a:t>34L : HME 351/1.1, R095, 34R : HME R080, R095, 22 : HME /2.2 R185 </a:t>
                      </a:r>
                      <a:endParaRPr dirty="0"/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88900">
                <a:tc gridSpan="7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/>
                        </a:buClr>
                        <a:buSzPts val="700"/>
                        <a:buFont typeface="Calibri"/>
                        <a:buNone/>
                      </a:pPr>
                      <a:r>
                        <a:rPr lang="en-US" sz="700" b="0" dirty="0">
                          <a:solidFill>
                            <a:schemeClr val="accent1"/>
                          </a:solidFill>
                        </a:rPr>
                        <a:t>34R BEKLA : KAIJI 230kts, TORAM Flap5 SPD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/>
                        </a:buClr>
                        <a:buSzPts val="700"/>
                        <a:buFont typeface="Calibri"/>
                        <a:buNone/>
                      </a:pPr>
                      <a:r>
                        <a:rPr lang="en-US" sz="700" b="0" dirty="0">
                          <a:solidFill>
                            <a:schemeClr val="accent1"/>
                          </a:solidFill>
                        </a:rPr>
                        <a:t>16L : BEKLA : PLUTO 230kts 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/>
                        </a:buClr>
                        <a:buSzPts val="700"/>
                        <a:buFont typeface="Calibri"/>
                        <a:buNone/>
                      </a:pPr>
                      <a:r>
                        <a:rPr lang="en-US" sz="700" b="0" dirty="0">
                          <a:solidFill>
                            <a:schemeClr val="tx1"/>
                          </a:solidFill>
                        </a:rPr>
                        <a:t>RWY05 RTE5 TAXI Chart</a:t>
                      </a: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355" name="Google Shape;355;p25"/>
          <p:cNvGraphicFramePr/>
          <p:nvPr>
            <p:extLst>
              <p:ext uri="{D42A27DB-BD31-4B8C-83A1-F6EECF244321}">
                <p14:modId xmlns:p14="http://schemas.microsoft.com/office/powerpoint/2010/main" val="1436105594"/>
              </p:ext>
            </p:extLst>
          </p:nvPr>
        </p:nvGraphicFramePr>
        <p:xfrm>
          <a:off x="-2501" y="16504"/>
          <a:ext cx="2328850" cy="60930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RJTT(HND) 21ft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Delta Oper 132.075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FF0000"/>
                          </a:solidFill>
                        </a:rPr>
                        <a:t>DCL -15분</a:t>
                      </a:r>
                      <a:endParaRPr sz="800">
                        <a:solidFill>
                          <a:srgbClr val="FF0000"/>
                        </a:solidFill>
                      </a:endParaRPr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357" name="Google Shape;357;p25"/>
          <p:cNvGraphicFramePr/>
          <p:nvPr>
            <p:extLst>
              <p:ext uri="{D42A27DB-BD31-4B8C-83A1-F6EECF244321}">
                <p14:modId xmlns:p14="http://schemas.microsoft.com/office/powerpoint/2010/main" val="4292766258"/>
              </p:ext>
            </p:extLst>
          </p:nvPr>
        </p:nvGraphicFramePr>
        <p:xfrm>
          <a:off x="-5861" y="3405087"/>
          <a:ext cx="2325975" cy="2130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59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3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55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774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STAR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33/34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xE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ENPIL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180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15/16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xH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MUNAN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180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285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33L/R 34L(23’)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15L/R 16R(23’)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285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34R(23’)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13123’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16L(23’)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64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FIX</a:t>
                      </a:r>
                      <a:endParaRPr/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RWY /8, /5 , YJU R271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C4(7529’),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C5(8513’), 33L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: B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7563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8513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C2(7522’),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C1(8536’), 15R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B3(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7454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B2(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8641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P7(5600’),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P8(6578’), 34R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N4(6876’),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N5(8507‘)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P6(5597’),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P5(6574’), 16L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N3(7043‘),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N2(8444‘)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01600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8NM 180kts, 5NM 160kts, Parr TAXI 10kts이상,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HIRO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pic>
        <p:nvPicPr>
          <p:cNvPr id="358" name="Google Shape;358;p25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0" y="2606644"/>
            <a:ext cx="711976" cy="609620"/>
          </a:xfrm>
          <a:prstGeom prst="rect">
            <a:avLst/>
          </a:prstGeom>
          <a:noFill/>
          <a:ln>
            <a:noFill/>
          </a:ln>
        </p:spPr>
      </p:pic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8E3582B6-F7D2-6EF3-A8F0-CE2C1812FEDF}"/>
              </a:ext>
            </a:extLst>
          </p:cNvPr>
          <p:cNvSpPr/>
          <p:nvPr/>
        </p:nvSpPr>
        <p:spPr>
          <a:xfrm>
            <a:off x="1622852" y="300356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/>
              </a:rPr>
              <a:t>Japan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7594720C-B6A0-A9A8-C0C5-31BACFE322E4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91" name="Google Shape;291;p18"/>
          <p:cNvGraphicFramePr/>
          <p:nvPr>
            <p:extLst>
              <p:ext uri="{D42A27DB-BD31-4B8C-83A1-F6EECF244321}">
                <p14:modId xmlns:p14="http://schemas.microsoft.com/office/powerpoint/2010/main" val="3535207270"/>
              </p:ext>
            </p:extLst>
          </p:nvPr>
        </p:nvGraphicFramePr>
        <p:xfrm>
          <a:off x="0" y="635155"/>
          <a:ext cx="2332925" cy="264025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91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17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69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21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254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10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15930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SID (33/34 NADP 1, 15/16 NADP 2)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5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EGOBA xE/A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5500/ATC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EGOBA xY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EGOBA xC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EGOBA xH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NCN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113.8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33L 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15L 111.9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15R 109.1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WNG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112.9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109.95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110.35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108.55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580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33L/R : NC05L/R, R242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YJU R271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34L/R : EO34L/R,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YJU R271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44775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33L/R 34L(23’)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15L/R 16R(23’)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4477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34R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44775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Parallel TWY 10KTS </a:t>
                      </a:r>
                      <a:r>
                        <a:rPr lang="en-US" sz="800" dirty="0" err="1"/>
                        <a:t>이상</a:t>
                      </a:r>
                      <a:r>
                        <a:rPr lang="en-US" sz="800" dirty="0"/>
                        <a:t>(R17 MAX 15kts)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293" name="Google Shape;293;p18"/>
          <p:cNvGraphicFramePr/>
          <p:nvPr>
            <p:extLst>
              <p:ext uri="{D42A27DB-BD31-4B8C-83A1-F6EECF244321}">
                <p14:modId xmlns:p14="http://schemas.microsoft.com/office/powerpoint/2010/main" val="1641847903"/>
              </p:ext>
            </p:extLst>
          </p:nvPr>
        </p:nvGraphicFramePr>
        <p:xfrm>
          <a:off x="-2501" y="16504"/>
          <a:ext cx="2328850" cy="60509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RJGG(NGO) 12ft</a:t>
                      </a:r>
                      <a:endParaRPr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KE ICN 131.5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600"/>
                        <a:buFont typeface="Calibri"/>
                        <a:buNone/>
                      </a:pPr>
                      <a:r>
                        <a:rPr lang="en-US" sz="60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-10분 TOBT 5분 차이시 CTC Comm</a:t>
                      </a:r>
                      <a:endParaRPr sz="90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    </a:t>
                      </a:r>
                      <a:r>
                        <a:rPr lang="en-US" sz="800" dirty="0"/>
                        <a:t>SWISSPORT 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    OPERATION    </a:t>
                      </a:r>
                      <a:r>
                        <a:rPr lang="en-US" sz="900" dirty="0"/>
                        <a:t>132.05</a:t>
                      </a:r>
                      <a:endParaRPr sz="900" dirty="0"/>
                    </a:p>
                  </a:txBody>
                  <a:tcPr marL="91450" marR="9145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3" name="Google Shape;292;p18">
            <a:extLst>
              <a:ext uri="{FF2B5EF4-FFF2-40B4-BE49-F238E27FC236}">
                <a16:creationId xmlns:a16="http://schemas.microsoft.com/office/drawing/2014/main" id="{875A20F2-11E7-1F75-20D8-CFED1D1E2C0E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150715261"/>
              </p:ext>
            </p:extLst>
          </p:nvPr>
        </p:nvGraphicFramePr>
        <p:xfrm>
          <a:off x="4472" y="3754546"/>
          <a:ext cx="2331400" cy="179257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4923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1646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2850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NGO : STAR (SAMON 290, MARIA 130)</a:t>
                      </a:r>
                      <a:endParaRPr sz="800" dirty="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52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36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CHESS(CARDS)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SOUTH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PROBE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Z 36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05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18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CHESS(CARDS)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NORTH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QUEST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ILS Z 18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680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36(15’)     11483’     18(15’)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90225">
                <a:tc gridSpan="4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36 : A6(5213’), A7(6525’), A8(7837’)</a:t>
                      </a:r>
                      <a:endParaRPr sz="800" dirty="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18 : A5(5393’), A4(6528’), A3(7841’)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90225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RWY36 : After 1500ft L/D FLAP 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RWY 18 : After 3000ft L/G DN &amp; L/D FLAP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rgbClr val="00B050"/>
                          </a:solidFill>
                        </a:rPr>
                        <a:t>Caution Stop line, Yellow Ramp line, VDGS!!!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D1FC2543-C4A5-9C11-508F-89BF4833E0A4}"/>
              </a:ext>
            </a:extLst>
          </p:cNvPr>
          <p:cNvSpPr txBox="1"/>
          <p:nvPr/>
        </p:nvSpPr>
        <p:spPr>
          <a:xfrm>
            <a:off x="27922" y="3289355"/>
            <a:ext cx="1632178" cy="449729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125.15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 134.17 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 TKO 133.8 – 133.02</a:t>
            </a:r>
          </a:p>
          <a:p>
            <a:r>
              <a:rPr kumimoji="1" lang="ko-KR" altLang="en-US" sz="700" b="1" u="sng" dirty="0" err="1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센트레아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APP – 121.05</a:t>
            </a:r>
            <a:endParaRPr kumimoji="1" lang="ko-Kore-KR" altLang="en-US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sp>
        <p:nvSpPr>
          <p:cNvPr id="5" name="직사각형 4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1AF4ECAC-C9A4-C401-BEF9-9B74E7F75934}"/>
              </a:ext>
            </a:extLst>
          </p:cNvPr>
          <p:cNvSpPr/>
          <p:nvPr/>
        </p:nvSpPr>
        <p:spPr>
          <a:xfrm>
            <a:off x="1651788" y="3408673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/>
              </a:rPr>
              <a:t>Japan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A8F7711A-A078-A852-471C-DDD7F032B1EA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70C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0070C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975679635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00" name="Google Shape;300;p19"/>
          <p:cNvGraphicFramePr/>
          <p:nvPr>
            <p:extLst>
              <p:ext uri="{D42A27DB-BD31-4B8C-83A1-F6EECF244321}">
                <p14:modId xmlns:p14="http://schemas.microsoft.com/office/powerpoint/2010/main" val="943093384"/>
              </p:ext>
            </p:extLst>
          </p:nvPr>
        </p:nvGraphicFramePr>
        <p:xfrm>
          <a:off x="0" y="611908"/>
          <a:ext cx="2332950" cy="14686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779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9992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2862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159300">
                <a:tc gridSpan="7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NGO : SID – TANGO </a:t>
                      </a:r>
                      <a:r>
                        <a:rPr lang="en-US" sz="800" dirty="0" err="1"/>
                        <a:t>tx</a:t>
                      </a:r>
                      <a:r>
                        <a:rPr lang="en-US" sz="800" dirty="0"/>
                        <a:t> (NADP 1)</a:t>
                      </a:r>
                      <a:endParaRPr sz="800" dirty="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5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36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rowSpan="2"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OUMI x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- TANGO </a:t>
                      </a:r>
                      <a:r>
                        <a:rPr lang="en-US" sz="800" dirty="0" err="1"/>
                        <a:t>tx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rowSpan="2"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356</a:t>
                      </a:r>
                      <a:endParaRPr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356</a:t>
                      </a:r>
                      <a:endParaRPr sz="458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(7000)</a:t>
                      </a:r>
                      <a:endParaRPr sz="458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356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18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gridSpan="2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176</a:t>
                      </a:r>
                      <a:endParaRPr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176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b="1"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(7000)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176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CBE</a:t>
                      </a:r>
                      <a:r>
                        <a:rPr lang="en-US" sz="800" b="0" dirty="0">
                          <a:solidFill>
                            <a:schemeClr val="dk1"/>
                          </a:solidFill>
                        </a:rPr>
                        <a:t>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117.8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18 109.7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36 111.9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36(15’)</a:t>
                      </a:r>
                      <a:endParaRPr sz="458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11483’</a:t>
                      </a:r>
                      <a:endParaRPr sz="458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18(15’)</a:t>
                      </a:r>
                      <a:endParaRPr sz="458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44775">
                <a:tc gridSpan="7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APU Start 30min, Prepare Intersection T/O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301" name="Google Shape;301;p19"/>
          <p:cNvGraphicFramePr/>
          <p:nvPr>
            <p:extLst>
              <p:ext uri="{D42A27DB-BD31-4B8C-83A1-F6EECF244321}">
                <p14:modId xmlns:p14="http://schemas.microsoft.com/office/powerpoint/2010/main" val="2642066230"/>
              </p:ext>
            </p:extLst>
          </p:nvPr>
        </p:nvGraphicFramePr>
        <p:xfrm>
          <a:off x="-2501" y="16504"/>
          <a:ext cx="2328850" cy="62454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RJGG(NGO) 12ft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700" dirty="0"/>
                        <a:t>SWISSPORT OPERATION</a:t>
                      </a:r>
                      <a:r>
                        <a:rPr lang="en-US" altLang="ko-Kore-KR" sz="900" dirty="0"/>
                        <a:t>      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900" dirty="0"/>
                        <a:t>   132.05    </a:t>
                      </a:r>
                      <a:r>
                        <a:rPr lang="en-US" sz="700" dirty="0">
                          <a:solidFill>
                            <a:srgbClr val="FF0000"/>
                          </a:solidFill>
                        </a:rPr>
                        <a:t>DCL -15분</a:t>
                      </a:r>
                      <a:endParaRPr sz="700" dirty="0">
                        <a:solidFill>
                          <a:srgbClr val="FF0000"/>
                        </a:solidFill>
                      </a:endParaRPr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303" name="Google Shape;303;p19"/>
          <p:cNvGraphicFramePr/>
          <p:nvPr>
            <p:extLst>
              <p:ext uri="{D42A27DB-BD31-4B8C-83A1-F6EECF244321}">
                <p14:modId xmlns:p14="http://schemas.microsoft.com/office/powerpoint/2010/main" val="3777137728"/>
              </p:ext>
            </p:extLst>
          </p:nvPr>
        </p:nvGraphicFramePr>
        <p:xfrm>
          <a:off x="1119" y="3405664"/>
          <a:ext cx="2325975" cy="2130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59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3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55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774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STAR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33/34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xE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ENPIL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180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15/16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xH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MUNAN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180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285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33L/R 34L(23’)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15L/R 16R(23’)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285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34R(23’)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13123’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16L(23’)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64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FIX</a:t>
                      </a:r>
                      <a:endParaRPr/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RWY /8, /5 , YJU R271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C4(7529’),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C5(8513’), 33L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: B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7563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8513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C2(7522’),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C1(8536’), 15R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B3(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7454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B2(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8641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P7(5600’),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P8(6578’), 34R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N4(6876’),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N5(8507‘)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P6(5597’),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P5(6574’), 16L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N3(7043‘),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N2(8444‘)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01600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8NM 180kts, 5NM 160kts, Parr TAXI 10kts이상,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HIRO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291CF481-65C3-26D3-95AE-3671F3B5E010}"/>
              </a:ext>
            </a:extLst>
          </p:cNvPr>
          <p:cNvSpPr txBox="1"/>
          <p:nvPr/>
        </p:nvSpPr>
        <p:spPr>
          <a:xfrm>
            <a:off x="27922" y="2473269"/>
            <a:ext cx="1632178" cy="532316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120.0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TKO 1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33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.5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5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–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33.8 – TGU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20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.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52</a:t>
            </a:r>
            <a:endParaRPr kumimoji="1" lang="en-US" altLang="ko-Kore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APP – 119.75</a:t>
            </a:r>
            <a:endParaRPr kumimoji="1" lang="ko-Kore-KR" altLang="en-US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55C69C5F-473C-23C7-E8DB-164948105765}"/>
              </a:ext>
            </a:extLst>
          </p:cNvPr>
          <p:cNvSpPr/>
          <p:nvPr/>
        </p:nvSpPr>
        <p:spPr>
          <a:xfrm>
            <a:off x="1622852" y="2986202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/>
              </a:rPr>
              <a:t>Japan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33D2B1E1-5D0A-9574-5547-A89097C5B4BB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83064476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73" name="Google Shape;273;p16"/>
          <p:cNvGraphicFramePr/>
          <p:nvPr>
            <p:extLst>
              <p:ext uri="{D42A27DB-BD31-4B8C-83A1-F6EECF244321}">
                <p14:modId xmlns:p14="http://schemas.microsoft.com/office/powerpoint/2010/main" val="3153203903"/>
              </p:ext>
            </p:extLst>
          </p:nvPr>
        </p:nvGraphicFramePr>
        <p:xfrm>
          <a:off x="4410" y="3597139"/>
          <a:ext cx="2305886" cy="1924857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196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1843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2226">
                  <a:extLst>
                    <a:ext uri="{9D8B030D-6E8A-4147-A177-3AD203B41FA5}">
                      <a16:colId xmlns:a16="http://schemas.microsoft.com/office/drawing/2014/main" val="1384067485"/>
                    </a:ext>
                  </a:extLst>
                </a:gridCol>
                <a:gridCol w="905566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416456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FUK : RNAV STAR, RDR Vectoring from IKE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FFC000"/>
                          </a:solidFill>
                        </a:rPr>
                        <a:t>(PAVGA 13000ft) 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FFC000"/>
                          </a:solidFill>
                        </a:rPr>
                        <a:t>Hold W of IKE published </a:t>
                      </a:r>
                      <a:r>
                        <a:rPr lang="en-US" sz="800" dirty="0">
                          <a:solidFill>
                            <a:srgbClr val="FF0000"/>
                          </a:solidFill>
                        </a:rPr>
                        <a:t>(Confirm FMS DATA)</a:t>
                      </a:r>
                      <a:endParaRPr sz="800" dirty="0">
                        <a:solidFill>
                          <a:srgbClr val="FF0000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7663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16</a:t>
                      </a:r>
                      <a:endParaRPr sz="800" b="1" dirty="0"/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/>
                        <a:t>SARUP</a:t>
                      </a:r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0" dirty="0"/>
                        <a:t>ENTIX </a:t>
                      </a:r>
                      <a:endParaRPr lang="en-US" sz="800" b="0" dirty="0"/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>
                          <a:solidFill>
                            <a:schemeClr val="dk1"/>
                          </a:solidFill>
                        </a:rPr>
                        <a:t>ILS, RNP, LOC 16</a:t>
                      </a:r>
                      <a:endParaRPr sz="800" b="0" dirty="0">
                        <a:solidFill>
                          <a:srgbClr val="0070C0"/>
                        </a:solidFill>
                      </a:endParaRPr>
                    </a:p>
                  </a:txBody>
                  <a:tcPr marL="0" marR="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7687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/>
                        <a:t>34</a:t>
                      </a:r>
                      <a:endParaRPr sz="800" b="0" dirty="0"/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V34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/>
                        <a:t>HAWKS WEST</a:t>
                      </a:r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/>
                        <a:t>RWY34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0" dirty="0"/>
                        <a:t>HAWKS</a:t>
                      </a:r>
                      <a:endParaRPr lang="en-US" sz="800" b="0" dirty="0"/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VIS 34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 ILS, RNP, LOC 34</a:t>
                      </a:r>
                      <a:endParaRPr kumimoji="0" lang="en-US" altLang="ko-Kore-KR" sz="8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70C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0" marR="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97771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0" marR="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  16(15’)                 9186’</a:t>
                      </a:r>
                      <a:r>
                        <a:rPr lang="en-US" altLang="ko-Kore-KR" sz="800" b="1" dirty="0">
                          <a:solidFill>
                            <a:srgbClr val="00B050"/>
                          </a:solidFill>
                        </a:rPr>
                        <a:t>                34(32’)</a:t>
                      </a: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 24R(305’) 12014’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24L(293’) 8710’ </a:t>
                      </a: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DIS TH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00436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R" sz="800" b="1" dirty="0">
                          <a:solidFill>
                            <a:schemeClr val="dk1"/>
                          </a:solidFill>
                        </a:rPr>
                        <a:t>16 : C6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(5505’), C7(6407’),  34 : C4(5193’), C3(6354’)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09792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ore-KR" sz="800" b="0" dirty="0">
                          <a:solidFill>
                            <a:srgbClr val="C00000"/>
                          </a:solidFill>
                        </a:rPr>
                        <a:t>DGC VOR out of 6NM A/P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tx1"/>
                          </a:solidFill>
                        </a:rPr>
                        <a:t>VIS 34 : </a:t>
                      </a:r>
                      <a:r>
                        <a:rPr lang="en-US" sz="800" b="0" dirty="0">
                          <a:solidFill>
                            <a:srgbClr val="0070C0"/>
                          </a:solidFill>
                        </a:rPr>
                        <a:t>After IKE – RDR Vector Downwind – 1800ft – RWY Insight 1500</a:t>
                      </a:r>
                      <a:r>
                        <a:rPr lang="en-US" altLang="ko-KR" sz="800" b="0" dirty="0">
                          <a:solidFill>
                            <a:srgbClr val="0070C0"/>
                          </a:solidFill>
                        </a:rPr>
                        <a:t>ft – Before L/D CHK Complete before base (Do not Extend Downwind due Terrain)</a:t>
                      </a:r>
                      <a:endParaRPr sz="800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274" name="Google Shape;274;p16"/>
          <p:cNvGraphicFramePr/>
          <p:nvPr>
            <p:extLst>
              <p:ext uri="{D42A27DB-BD31-4B8C-83A1-F6EECF244321}">
                <p14:modId xmlns:p14="http://schemas.microsoft.com/office/powerpoint/2010/main" val="3161901041"/>
              </p:ext>
            </p:extLst>
          </p:nvPr>
        </p:nvGraphicFramePr>
        <p:xfrm>
          <a:off x="-2501" y="16504"/>
          <a:ext cx="2328850" cy="57881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4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RJFF(FUK) 30ft</a:t>
                      </a:r>
                      <a:endParaRPr lang="en-US" altLang="ko-Kore-KR" sz="1400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KE ICN 131.5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600"/>
                        <a:buFont typeface="Calibri"/>
                        <a:buNone/>
                      </a:pPr>
                      <a:r>
                        <a:rPr lang="en-US" sz="60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-10분 TOBT 5분 차이시 CTC Comm</a:t>
                      </a:r>
                      <a:endParaRPr sz="90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FUK 132.05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276" name="Google Shape;276;p16"/>
          <p:cNvGraphicFramePr/>
          <p:nvPr>
            <p:extLst>
              <p:ext uri="{D42A27DB-BD31-4B8C-83A1-F6EECF244321}">
                <p14:modId xmlns:p14="http://schemas.microsoft.com/office/powerpoint/2010/main" val="3586232075"/>
              </p:ext>
            </p:extLst>
          </p:nvPr>
        </p:nvGraphicFramePr>
        <p:xfrm>
          <a:off x="0" y="635155"/>
          <a:ext cx="2332925" cy="244710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91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17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69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21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254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10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15930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ICN : SID (33/34 NADP 1, 15/16 NADP 2)</a:t>
                      </a:r>
                      <a:endParaRPr sz="800" dirty="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5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OSPOT xE/A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5500/ATC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OSPOT xY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OSPOT xC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OSPOT xH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NCN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113.8</a:t>
                      </a:r>
                      <a:endParaRPr dirty="0"/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33L 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109.3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33R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108.9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15L 111.9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15R 109.1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WNG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112.9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109.95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110.35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16R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108.55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580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33L/R : NC05L/R,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YJU R271</a:t>
                      </a:r>
                      <a:endParaRPr sz="800" dirty="0"/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34L/R : EO34L/R,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YJU R271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44775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33L/R 34L(23’)</a:t>
                      </a:r>
                      <a:endParaRPr sz="458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458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15L/R 16R(23’)</a:t>
                      </a:r>
                      <a:endParaRPr sz="458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4477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34R (23’)</a:t>
                      </a:r>
                      <a:endParaRPr sz="458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 (23’)</a:t>
                      </a:r>
                      <a:endParaRPr sz="458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44775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Parallel TWY 10KTS </a:t>
                      </a:r>
                      <a:r>
                        <a:rPr lang="en-US" sz="800" dirty="0" err="1"/>
                        <a:t>이상</a:t>
                      </a:r>
                      <a:r>
                        <a:rPr lang="en-US" sz="800" dirty="0"/>
                        <a:t>(R17 MAX 15kts)</a:t>
                      </a:r>
                      <a:endParaRPr dirty="0"/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97737AA9-1E71-11AA-29CE-CB99BAAC9983}"/>
              </a:ext>
            </a:extLst>
          </p:cNvPr>
          <p:cNvSpPr txBox="1"/>
          <p:nvPr/>
        </p:nvSpPr>
        <p:spPr>
          <a:xfrm>
            <a:off x="-69798" y="3044765"/>
            <a:ext cx="1516762" cy="532316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 125.37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Kobe 118.9 - FUK APP 119.65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FUK RDR – 121.125</a:t>
            </a:r>
          </a:p>
        </p:txBody>
      </p:sp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4DBB501F-12C7-34CA-C78C-1FF1B317E880}"/>
              </a:ext>
            </a:extLst>
          </p:cNvPr>
          <p:cNvSpPr/>
          <p:nvPr/>
        </p:nvSpPr>
        <p:spPr>
          <a:xfrm>
            <a:off x="1622852" y="3229268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/>
              </a:rPr>
              <a:t>Japan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AC10F70C-499F-1525-282C-0C96F903AE74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70C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0070C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977262428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82" name="Google Shape;282;p17"/>
          <p:cNvGraphicFramePr/>
          <p:nvPr>
            <p:extLst>
              <p:ext uri="{D42A27DB-BD31-4B8C-83A1-F6EECF244321}">
                <p14:modId xmlns:p14="http://schemas.microsoft.com/office/powerpoint/2010/main" val="1763319469"/>
              </p:ext>
            </p:extLst>
          </p:nvPr>
        </p:nvGraphicFramePr>
        <p:xfrm>
          <a:off x="6595" y="623810"/>
          <a:ext cx="2330925" cy="162073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62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2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7863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9596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7785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953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21777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280325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</a:tblGrid>
              <a:tr h="0">
                <a:tc gridSpan="8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FUK : SID </a:t>
                      </a:r>
                      <a:r>
                        <a:rPr lang="en-US" sz="800" dirty="0">
                          <a:solidFill>
                            <a:srgbClr val="FFC000"/>
                          </a:solidFill>
                        </a:rPr>
                        <a:t>(Consider C2, C8 Intersection T/O)</a:t>
                      </a:r>
                      <a:endParaRPr sz="800" dirty="0">
                        <a:solidFill>
                          <a:srgbClr val="FFC000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16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rowSpan="2"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HAKATA xx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rowSpan="2"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158</a:t>
                      </a:r>
                      <a:endParaRPr sz="458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dirty="0"/>
                        <a:t>158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 (10000)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158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/>
                        <a:t>34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 gridSpan="2" v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338</a:t>
                      </a:r>
                      <a:endParaRPr sz="458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dirty="0"/>
                        <a:t>338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 (10000)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338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570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DGC 114.5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16 111.7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34 108.9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5700">
                <a:tc gridSpan="8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R" sz="800" dirty="0"/>
                        <a:t>16</a:t>
                      </a:r>
                      <a:r>
                        <a:rPr lang="en-US" sz="800" dirty="0"/>
                        <a:t> : DGC 156/20 R240 </a:t>
                      </a:r>
                      <a:r>
                        <a:rPr lang="en-US" altLang="ko-Kore-KR" sz="800" b="0" dirty="0">
                          <a:solidFill>
                            <a:srgbClr val="C00000"/>
                          </a:solidFill>
                        </a:rPr>
                        <a:t>(DGC VOR out of 6NM A/P)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016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800" b="1" dirty="0">
                          <a:solidFill>
                            <a:srgbClr val="00B050"/>
                          </a:solidFill>
                        </a:rPr>
                        <a:t> 16(15’)                 9186’                34(32’)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24R(305’) 8530’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24L(293’) 8999’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5700">
                <a:tc gridSpan="8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rgbClr val="0070C0"/>
                          </a:solidFill>
                        </a:rPr>
                        <a:t>Caution GP HOLD LINE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Initial CTC TWR, “Ready for departure”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RWSL(Runway Status Lights) in operation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283" name="Google Shape;283;p17"/>
          <p:cNvGraphicFramePr/>
          <p:nvPr/>
        </p:nvGraphicFramePr>
        <p:xfrm>
          <a:off x="11589" y="3423394"/>
          <a:ext cx="2325975" cy="2130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59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3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55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774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STAR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33/34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xE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ENPIL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180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15/16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xH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MUNAN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180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285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33L/R 34L(23’)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15L/R 16R(23’)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285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34R(23’)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13123’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16L(23’)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64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FIX</a:t>
                      </a:r>
                      <a:endParaRPr/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RWY /8, /5 , YJU R271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33R :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C4(7529’), 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C5(8513’), 33L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: B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7463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’), 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8513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 :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C2(7522’), 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C1(8536’), 15R :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B3(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7454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‘), 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B2(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8641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P7(5600’),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P8(6578’), 34R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N4(6876’),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N5(8507‘)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P6(5597’),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P5(6574’), 16L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N3(7043‘),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N2(8444‘)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01600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8NM 180kts, 5NM 160kts, Parr TAXI 10kts이상,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HIRO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284" name="Google Shape;284;p17"/>
          <p:cNvGraphicFramePr/>
          <p:nvPr>
            <p:extLst>
              <p:ext uri="{D42A27DB-BD31-4B8C-83A1-F6EECF244321}">
                <p14:modId xmlns:p14="http://schemas.microsoft.com/office/powerpoint/2010/main" val="2648965937"/>
              </p:ext>
            </p:extLst>
          </p:nvPr>
        </p:nvGraphicFramePr>
        <p:xfrm>
          <a:off x="-2501" y="16504"/>
          <a:ext cx="2328850" cy="59406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4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RJFF(FUK) 30ft</a:t>
                      </a:r>
                      <a:endParaRPr lang="en-US" altLang="ko-Kore-KR" sz="1400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900" dirty="0"/>
                        <a:t>KE FUK 132.05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dirty="0">
                          <a:solidFill>
                            <a:srgbClr val="FF0000"/>
                          </a:solidFill>
                        </a:rPr>
                        <a:t>DCL -15min, Voice -5min</a:t>
                      </a:r>
                      <a:endParaRPr sz="700" dirty="0">
                        <a:solidFill>
                          <a:srgbClr val="FF0000"/>
                        </a:solidFill>
                      </a:endParaRPr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2C10DF35-4C8C-4BCD-35BF-D473906D8D90}"/>
              </a:ext>
            </a:extLst>
          </p:cNvPr>
          <p:cNvSpPr txBox="1"/>
          <p:nvPr/>
        </p:nvSpPr>
        <p:spPr>
          <a:xfrm>
            <a:off x="1313820" y="2239966"/>
            <a:ext cx="1764127" cy="532316"/>
          </a:xfrm>
          <a:prstGeom prst="rect">
            <a:avLst/>
          </a:prstGeom>
          <a:noFill/>
        </p:spPr>
        <p:txBody>
          <a:bodyPr wrap="squar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127.9</a:t>
            </a:r>
            <a:endParaRPr kumimoji="1" lang="en-US" altLang="ko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Kobe 1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35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.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65</a:t>
            </a:r>
            <a:endParaRPr kumimoji="1" lang="en-US" altLang="ko-Kore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 125.37</a:t>
            </a:r>
          </a:p>
        </p:txBody>
      </p:sp>
      <p:sp>
        <p:nvSpPr>
          <p:cNvPr id="3" name="직사각형 2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D71BB25A-EB2C-6C8E-4320-E80D2FF5995A}"/>
              </a:ext>
            </a:extLst>
          </p:cNvPr>
          <p:cNvSpPr/>
          <p:nvPr/>
        </p:nvSpPr>
        <p:spPr>
          <a:xfrm>
            <a:off x="1622852" y="2986202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/>
              </a:rPr>
              <a:t>Japan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7EADFD83-B1ED-4336-4BA9-069594F75EC9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pic>
        <p:nvPicPr>
          <p:cNvPr id="7" name="그림 6" descr="지도, 텍스트, 도표, 아틀라스이(가) 표시된 사진&#10;&#10;자동 생성된 설명">
            <a:extLst>
              <a:ext uri="{FF2B5EF4-FFF2-40B4-BE49-F238E27FC236}">
                <a16:creationId xmlns:a16="http://schemas.microsoft.com/office/drawing/2014/main" id="{F2EF0B45-A026-4882-552D-AE9B1DD5ADF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95" y="2239966"/>
            <a:ext cx="1232042" cy="11106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28270390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27" name="Google Shape;327;p22"/>
          <p:cNvGraphicFramePr/>
          <p:nvPr>
            <p:extLst>
              <p:ext uri="{D42A27DB-BD31-4B8C-83A1-F6EECF244321}">
                <p14:modId xmlns:p14="http://schemas.microsoft.com/office/powerpoint/2010/main" val="1308219643"/>
              </p:ext>
            </p:extLst>
          </p:nvPr>
        </p:nvGraphicFramePr>
        <p:xfrm>
          <a:off x="0" y="622240"/>
          <a:ext cx="2332925" cy="264025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91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17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69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21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254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10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15930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ICN : SID (33/34 NADP 1, 15/16 NADP 2)</a:t>
                      </a:r>
                      <a:endParaRPr sz="800" dirty="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5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EGOBA xE/A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5500/ATC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EGOBA xY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EGOBA xC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EGOBA xH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NCN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113.8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33L 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15L 111.9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15R 109.1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WNG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112.9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109.95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110.35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108.55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580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33L/R : NC05L/R, R242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YJU R271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34L/R : EO34L/R,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YJU R271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44775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33L/R 34L(23’)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15L/R 16R(23’)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4477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34R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44775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Parallel TWY 10KTS </a:t>
                      </a:r>
                      <a:r>
                        <a:rPr lang="en-US" sz="800" dirty="0" err="1"/>
                        <a:t>이상</a:t>
                      </a:r>
                      <a:r>
                        <a:rPr lang="en-US" sz="800" dirty="0"/>
                        <a:t>(R17 MAX 15kts)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328" name="Google Shape;328;p22"/>
          <p:cNvGraphicFramePr/>
          <p:nvPr>
            <p:extLst>
              <p:ext uri="{D42A27DB-BD31-4B8C-83A1-F6EECF244321}">
                <p14:modId xmlns:p14="http://schemas.microsoft.com/office/powerpoint/2010/main" val="3173449557"/>
              </p:ext>
            </p:extLst>
          </p:nvPr>
        </p:nvGraphicFramePr>
        <p:xfrm>
          <a:off x="1596" y="3665660"/>
          <a:ext cx="2331375" cy="1914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619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037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7038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9531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23574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AOJ : </a:t>
                      </a:r>
                      <a:r>
                        <a:rPr lang="en-US" sz="800" dirty="0">
                          <a:solidFill>
                            <a:srgbClr val="FFC000"/>
                          </a:solidFill>
                        </a:rPr>
                        <a:t>Obstacle Around Airport </a:t>
                      </a: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(High FE, Cold Temp)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FFC000"/>
                          </a:solidFill>
                        </a:rPr>
                        <a:t>Hold over MRE, MELOS, YACHI </a:t>
                      </a:r>
                      <a:r>
                        <a:rPr lang="en-US" altLang="ko-KR" sz="800" dirty="0">
                          <a:solidFill>
                            <a:srgbClr val="FFC000"/>
                          </a:solidFill>
                        </a:rPr>
                        <a:t>Confirm CRS, EFC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chemeClr val="bg1"/>
                          </a:solidFill>
                        </a:rPr>
                        <a:t>CAT II,III Request Before 15min By Com</a:t>
                      </a:r>
                      <a:endParaRPr sz="800" dirty="0">
                        <a:solidFill>
                          <a:schemeClr val="bg1"/>
                        </a:solidFill>
                      </a:endParaRPr>
                    </a:p>
                  </a:txBody>
                  <a:tcPr marL="36000" marR="3600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2604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24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NONE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MRE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YACHI</a:t>
                      </a: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Y/Z 24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RNP Z 24 (AR)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2604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06</a:t>
                      </a:r>
                      <a:endParaRPr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MELOS SOUTH</a:t>
                      </a:r>
                      <a:endParaRPr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YACHI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/>
                        <a:t>MELOS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RNP Z 06 (AR)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/>
                        <a:t>VOR Z 06</a:t>
                      </a: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(5</a:t>
                      </a:r>
                      <a:r>
                        <a:rPr lang="ko-KR" altLang="en-US" sz="800" b="1" dirty="0">
                          <a:solidFill>
                            <a:srgbClr val="C00000"/>
                          </a:solidFill>
                        </a:rPr>
                        <a:t>도</a:t>
                      </a:r>
                      <a:r>
                        <a:rPr lang="en-US" altLang="ko-KR" sz="800" b="1" dirty="0">
                          <a:solidFill>
                            <a:srgbClr val="C00000"/>
                          </a:solidFill>
                        </a:rPr>
                        <a:t>)</a:t>
                      </a:r>
                      <a:endParaRPr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79654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24(664’)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9843’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06(647’)</a:t>
                      </a:r>
                      <a:endParaRPr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79654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24 : T2(5043’),T1(7043’),     06 : T3(5043’), T4(7043’)</a:t>
                      </a:r>
                      <a:r>
                        <a:rPr lang="en-US" sz="800" dirty="0">
                          <a:solidFill>
                            <a:schemeClr val="dk1"/>
                          </a:solidFill>
                        </a:rPr>
                        <a:t> 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05555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ILS Y 24 Turn SPD : Max 200kts,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CHK MRE D12 Turn </a:t>
                      </a:r>
                      <a:r>
                        <a:rPr lang="ko-KR" altLang="en-US" sz="800" b="1" dirty="0">
                          <a:solidFill>
                            <a:srgbClr val="0070C0"/>
                          </a:solidFill>
                        </a:rPr>
                        <a:t>시작</a:t>
                      </a:r>
                      <a:endParaRPr lang="en-US" sz="800" b="1" dirty="0">
                        <a:solidFill>
                          <a:srgbClr val="0070C0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R" sz="800" b="1" dirty="0">
                          <a:solidFill>
                            <a:srgbClr val="C00000"/>
                          </a:solidFill>
                        </a:rPr>
                        <a:t>(</a:t>
                      </a:r>
                      <a:r>
                        <a:rPr lang="ko-KR" altLang="en-US" sz="800" b="1" dirty="0">
                          <a:solidFill>
                            <a:srgbClr val="C00000"/>
                          </a:solidFill>
                        </a:rPr>
                        <a:t>선회 반경으로 선회 </a:t>
                      </a:r>
                      <a:r>
                        <a:rPr lang="ko-KR" altLang="en-US" sz="800" b="1" dirty="0" err="1">
                          <a:solidFill>
                            <a:srgbClr val="C00000"/>
                          </a:solidFill>
                        </a:rPr>
                        <a:t>늦어짐</a:t>
                      </a:r>
                      <a:r>
                        <a:rPr lang="ko-KR" altLang="en-US" sz="800" b="1" dirty="0">
                          <a:solidFill>
                            <a:srgbClr val="C00000"/>
                          </a:solidFill>
                        </a:rPr>
                        <a:t> 주의</a:t>
                      </a:r>
                      <a:r>
                        <a:rPr lang="en-US" altLang="ko-KR" sz="800" b="1" dirty="0">
                          <a:solidFill>
                            <a:srgbClr val="C00000"/>
                          </a:solidFill>
                        </a:rPr>
                        <a:t>!,</a:t>
                      </a:r>
                      <a:r>
                        <a:rPr lang="ko-KR" altLang="en-US" sz="800" b="1" dirty="0">
                          <a:solidFill>
                            <a:srgbClr val="C00000"/>
                          </a:solidFill>
                        </a:rPr>
                        <a:t> </a:t>
                      </a:r>
                      <a:r>
                        <a:rPr lang="en-US" altLang="ko-KR" sz="800" b="1" dirty="0">
                          <a:solidFill>
                            <a:srgbClr val="C00000"/>
                          </a:solidFill>
                        </a:rPr>
                        <a:t>SPD Modify)</a:t>
                      </a:r>
                      <a:endParaRPr lang="en-US" sz="800" b="1" dirty="0">
                        <a:solidFill>
                          <a:srgbClr val="C00000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RWY, TWY color Yellow, GND by TWR</a:t>
                      </a: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graphicFrame>
        <p:nvGraphicFramePr>
          <p:cNvPr id="329" name="Google Shape;329;p22"/>
          <p:cNvGraphicFramePr/>
          <p:nvPr>
            <p:extLst>
              <p:ext uri="{D42A27DB-BD31-4B8C-83A1-F6EECF244321}">
                <p14:modId xmlns:p14="http://schemas.microsoft.com/office/powerpoint/2010/main" val="53460487"/>
              </p:ext>
            </p:extLst>
          </p:nvPr>
        </p:nvGraphicFramePr>
        <p:xfrm>
          <a:off x="-2501" y="16504"/>
          <a:ext cx="2328850" cy="60930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RJSA(AOJ) </a:t>
                      </a:r>
                      <a:r>
                        <a:rPr lang="en-US" sz="1300" dirty="0">
                          <a:solidFill>
                            <a:srgbClr val="C00000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650ft</a:t>
                      </a:r>
                      <a:endParaRPr sz="1300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KE ICN 131.5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60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-10분 TOBT 5분 차이시 CTC Comm</a:t>
                      </a:r>
                      <a:endParaRPr sz="900"/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JPN AIR AOJ 130.17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NO ATIS</a:t>
                      </a:r>
                      <a:endParaRPr sz="800" dirty="0">
                        <a:solidFill>
                          <a:srgbClr val="C00000"/>
                        </a:solidFill>
                      </a:endParaRPr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B5CAF811-B5E1-B49C-3619-B63357E59B85}"/>
              </a:ext>
            </a:extLst>
          </p:cNvPr>
          <p:cNvSpPr txBox="1"/>
          <p:nvPr/>
        </p:nvSpPr>
        <p:spPr>
          <a:xfrm>
            <a:off x="-49726" y="3213958"/>
            <a:ext cx="1709122" cy="466657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125.15</a:t>
            </a:r>
            <a:r>
              <a:rPr kumimoji="1" lang="ko-KR" altLang="en-US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</a:t>
            </a:r>
            <a:r>
              <a:rPr kumimoji="1" lang="ko-KR" altLang="en-US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</a:t>
            </a:r>
            <a:r>
              <a:rPr kumimoji="1" lang="ko-KR" altLang="en-US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134.17 - FUK</a:t>
            </a:r>
            <a:r>
              <a:rPr kumimoji="1" lang="en-US" altLang="ko-Kore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124.15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FUK 125.15 - 133.</a:t>
            </a:r>
            <a:r>
              <a:rPr kumimoji="1" lang="en-US" altLang="ko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02</a:t>
            </a:r>
            <a:r>
              <a:rPr kumimoji="1" lang="en-US" altLang="ko-Kore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– 132.3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SPR 133.3 -127.57 - </a:t>
            </a:r>
            <a:r>
              <a:rPr kumimoji="1" lang="en-US" altLang="ko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AOJ TWR 118.3</a:t>
            </a:r>
            <a:endParaRPr kumimoji="1" lang="ko-Kore-KR" altLang="en-US" sz="6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284A94EA-45D7-F3BD-DD6E-51EA2A229434}"/>
              </a:ext>
            </a:extLst>
          </p:cNvPr>
          <p:cNvSpPr/>
          <p:nvPr/>
        </p:nvSpPr>
        <p:spPr>
          <a:xfrm>
            <a:off x="1628639" y="3392377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/>
              </a:rPr>
              <a:t>Japan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FAEC4EB8-DA09-E905-09CF-DC62055CFFC1}"/>
              </a:ext>
            </a:extLst>
          </p:cNvPr>
          <p:cNvSpPr/>
          <p:nvPr/>
        </p:nvSpPr>
        <p:spPr>
          <a:xfrm>
            <a:off x="836756" y="278248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70C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0070C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070444114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36" name="Google Shape;336;p23"/>
          <p:cNvGraphicFramePr/>
          <p:nvPr>
            <p:extLst>
              <p:ext uri="{D42A27DB-BD31-4B8C-83A1-F6EECF244321}">
                <p14:modId xmlns:p14="http://schemas.microsoft.com/office/powerpoint/2010/main" val="4011996195"/>
              </p:ext>
            </p:extLst>
          </p:nvPr>
        </p:nvGraphicFramePr>
        <p:xfrm>
          <a:off x="0" y="611908"/>
          <a:ext cx="2332950" cy="1547978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471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79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9992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2862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169201"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AOJ : SID (NADP 1)</a:t>
                      </a:r>
                      <a:endParaRPr sz="800" dirty="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4541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24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row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IWAKI xx</a:t>
                      </a:r>
                      <a:endParaRPr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241</a:t>
                      </a:r>
                      <a:endParaRPr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241</a:t>
                      </a:r>
                      <a:endParaRPr sz="458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241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2467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/>
                        <a:t>06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v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dirty="0">
                          <a:solidFill>
                            <a:srgbClr val="C00000"/>
                          </a:solidFill>
                        </a:rPr>
                        <a:t>061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dirty="0"/>
                        <a:t>061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dirty="0">
                          <a:solidFill>
                            <a:srgbClr val="C00000"/>
                          </a:solidFill>
                        </a:rPr>
                        <a:t>061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2297352997"/>
                  </a:ext>
                </a:extLst>
              </a:tr>
              <a:tr h="186988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MRE 114.1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algn="ctr"/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24 111.9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53777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24(664’)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9843’</a:t>
                      </a:r>
                      <a:endParaRPr sz="458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06(647’)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0459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EO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5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24 : MRE 241/2, </a:t>
                      </a:r>
                      <a:r>
                        <a:rPr lang="en-US" altLang="ko-Kore-KR" sz="800" dirty="0"/>
                        <a:t>MRE R008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06 : MRE 061/1, R350, </a:t>
                      </a:r>
                      <a:r>
                        <a:rPr lang="en-US" altLang="ko-Kore-KR" sz="800" dirty="0"/>
                        <a:t>MRE R008</a:t>
                      </a:r>
                      <a:r>
                        <a:rPr lang="en-US" sz="800" dirty="0"/>
                        <a:t> 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58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21699774"/>
                  </a:ext>
                </a:extLst>
              </a:tr>
              <a:tr h="153777">
                <a:tc gridSpan="6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accent1"/>
                          </a:solidFill>
                        </a:rPr>
                        <a:t>ATC </a:t>
                      </a:r>
                      <a:r>
                        <a:rPr lang="ko-KR" altLang="en-US" sz="800" b="1">
                          <a:solidFill>
                            <a:schemeClr val="accent1"/>
                          </a:solidFill>
                        </a:rPr>
                        <a:t>순서 </a:t>
                      </a:r>
                      <a:r>
                        <a:rPr lang="ko-KR" altLang="en-US" sz="800" b="1" dirty="0">
                          <a:solidFill>
                            <a:schemeClr val="accent1"/>
                          </a:solidFill>
                        </a:rPr>
                        <a:t>특이함</a:t>
                      </a:r>
                      <a:r>
                        <a:rPr lang="en-US" altLang="ko-KR" sz="800" b="1" dirty="0">
                          <a:solidFill>
                            <a:schemeClr val="accent1"/>
                          </a:solidFill>
                        </a:rPr>
                        <a:t>.</a:t>
                      </a:r>
                      <a:r>
                        <a:rPr lang="ko-KR" altLang="en-US" sz="800" b="1" dirty="0">
                          <a:solidFill>
                            <a:schemeClr val="accent1"/>
                          </a:solidFill>
                        </a:rPr>
                        <a:t> </a:t>
                      </a:r>
                      <a:r>
                        <a:rPr lang="en-US" sz="800" b="1" dirty="0">
                          <a:solidFill>
                            <a:schemeClr val="accent1"/>
                          </a:solidFill>
                        </a:rPr>
                        <a:t>Deicing at the Gate</a:t>
                      </a:r>
                      <a:endParaRPr sz="800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graphicFrame>
        <p:nvGraphicFramePr>
          <p:cNvPr id="337" name="Google Shape;337;p23"/>
          <p:cNvGraphicFramePr/>
          <p:nvPr>
            <p:extLst>
              <p:ext uri="{D42A27DB-BD31-4B8C-83A1-F6EECF244321}">
                <p14:modId xmlns:p14="http://schemas.microsoft.com/office/powerpoint/2010/main" val="2876772314"/>
              </p:ext>
            </p:extLst>
          </p:nvPr>
        </p:nvGraphicFramePr>
        <p:xfrm>
          <a:off x="2665" y="16504"/>
          <a:ext cx="2328850" cy="59406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RJSA(AOJ) </a:t>
                      </a:r>
                      <a:r>
                        <a:rPr lang="en-US" altLang="ko-Kore-KR" sz="1300" dirty="0">
                          <a:solidFill>
                            <a:srgbClr val="C00000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650ft</a:t>
                      </a:r>
                      <a:endParaRPr lang="en-US" altLang="ko-Kore-KR" sz="1300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900" dirty="0"/>
                        <a:t>JPN AIR AOJ 130.17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dirty="0">
                          <a:solidFill>
                            <a:srgbClr val="FF0000"/>
                          </a:solidFill>
                        </a:rPr>
                        <a:t>NO ATIS, TWR 118.3 Voice</a:t>
                      </a:r>
                      <a:endParaRPr sz="700" dirty="0">
                        <a:solidFill>
                          <a:srgbClr val="FF0000"/>
                        </a:solidFill>
                      </a:endParaRPr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339" name="Google Shape;339;p23"/>
          <p:cNvGraphicFramePr/>
          <p:nvPr/>
        </p:nvGraphicFramePr>
        <p:xfrm>
          <a:off x="-5861" y="3398687"/>
          <a:ext cx="2325975" cy="2130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59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3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55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774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STAR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33/34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xE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ENPIL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180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15/16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xH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MUNAN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180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285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33L/R 34L(23’)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15L/R 16R(23’)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285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34R(23’)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13123’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16L(23’)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64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FIX</a:t>
                      </a:r>
                      <a:endParaRPr dirty="0"/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RWY /8, /5 , YJU R271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C4(7529’),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C5(8513’), 33L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: B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7563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8513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C2(7522’),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C1(8536’), 15R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B3(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7454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B2(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8641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P7(5600’),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P8(6578’), 34R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N4(6876’),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N5(8507‘)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P6(5597’),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P5(6574’), 16L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N3(7043‘),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N2(8444‘)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01600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8NM 180kts, 5NM 160kts, Parr TAXI 10kts이상,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HIRO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EF15FB2D-E42F-675C-3FFB-9ECEC0B206B8}"/>
              </a:ext>
            </a:extLst>
          </p:cNvPr>
          <p:cNvSpPr txBox="1"/>
          <p:nvPr/>
        </p:nvSpPr>
        <p:spPr>
          <a:xfrm>
            <a:off x="908959" y="2137789"/>
            <a:ext cx="1451038" cy="1017064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TWR 118.3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SPR 127.57 – 133.3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TKO 132.3 – 132.45 – 133.02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TKO 133.8 </a:t>
            </a:r>
            <a:endParaRPr kumimoji="1" lang="en-US" altLang="ko-Kore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 120.57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APP 119.75</a:t>
            </a:r>
            <a:endParaRPr kumimoji="1" lang="ko-Kore-KR" altLang="en-US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81F8CD04-2D37-9A88-545F-6BD77E8DA77E}"/>
              </a:ext>
            </a:extLst>
          </p:cNvPr>
          <p:cNvSpPr/>
          <p:nvPr/>
        </p:nvSpPr>
        <p:spPr>
          <a:xfrm>
            <a:off x="1622852" y="2968839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/>
              </a:rPr>
              <a:t>Japan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6617BE5F-5E96-D9F3-56F3-A5CEBCCEF63A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pic>
        <p:nvPicPr>
          <p:cNvPr id="6" name="그림 5" descr="텍스트, 지도, 도표, 폰트이(가) 표시된 사진&#10;&#10;자동 생성된 설명">
            <a:extLst>
              <a:ext uri="{FF2B5EF4-FFF2-40B4-BE49-F238E27FC236}">
                <a16:creationId xmlns:a16="http://schemas.microsoft.com/office/drawing/2014/main" id="{C8115353-69BE-87FD-05F8-01C1A3AB70A7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-1383" y="2157696"/>
            <a:ext cx="966479" cy="8903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13059826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27" name="Google Shape;327;p22"/>
          <p:cNvGraphicFramePr/>
          <p:nvPr/>
        </p:nvGraphicFramePr>
        <p:xfrm>
          <a:off x="0" y="622240"/>
          <a:ext cx="2332925" cy="264025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91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17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69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21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254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10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15930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ICN : SID (33/34 NADP 1, 15/16 NADP 2)</a:t>
                      </a:r>
                      <a:endParaRPr sz="800" dirty="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5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EGOBA xE/A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5500/ATC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EGOBA xY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EGOBA xC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EGOBA xH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NCN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113.8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33L 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15L 111.9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15R 109.1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WNG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112.9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109.95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110.35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108.55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580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33L/R : NC05L/R, R242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YJU R271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34L/R : EO34L/R,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YJU R271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44775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33L/R 34L(23’)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15L/R 16R(23’)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4477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34R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44775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Parallel TWY 10KTS </a:t>
                      </a:r>
                      <a:r>
                        <a:rPr lang="en-US" sz="800" dirty="0" err="1"/>
                        <a:t>이상</a:t>
                      </a:r>
                      <a:r>
                        <a:rPr lang="en-US" sz="800" dirty="0"/>
                        <a:t>(R17 MAX 15kts)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328" name="Google Shape;328;p22"/>
          <p:cNvGraphicFramePr/>
          <p:nvPr>
            <p:extLst>
              <p:ext uri="{D42A27DB-BD31-4B8C-83A1-F6EECF244321}">
                <p14:modId xmlns:p14="http://schemas.microsoft.com/office/powerpoint/2010/main" val="620593510"/>
              </p:ext>
            </p:extLst>
          </p:nvPr>
        </p:nvGraphicFramePr>
        <p:xfrm>
          <a:off x="1596" y="3738754"/>
          <a:ext cx="2331375" cy="1806109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619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037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7038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9531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9311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KIJ : </a:t>
                      </a:r>
                      <a:r>
                        <a:rPr lang="en-US" sz="800" dirty="0">
                          <a:solidFill>
                            <a:srgbClr val="FFC000"/>
                          </a:solidFill>
                        </a:rPr>
                        <a:t>GTC-50NM – TERAD (Modify!!)</a:t>
                      </a:r>
                      <a:endParaRPr lang="en-US" altLang="ko-KR" sz="800" dirty="0">
                        <a:solidFill>
                          <a:srgbClr val="FFC000"/>
                        </a:solidFill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chemeClr val="bg1"/>
                          </a:solidFill>
                        </a:rPr>
                        <a:t>At/Below 3000MSL : 200kts, Above 3000MSL : 250kts</a:t>
                      </a:r>
                      <a:endParaRPr sz="800" dirty="0">
                        <a:solidFill>
                          <a:schemeClr val="bg1"/>
                        </a:solidFill>
                      </a:endParaRPr>
                    </a:p>
                  </a:txBody>
                  <a:tcPr marL="36000" marR="3600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1559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28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TERAD EAST 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KYOGA</a:t>
                      </a: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Z 28</a:t>
                      </a: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3124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/>
                        <a:t>10</a:t>
                      </a:r>
                      <a:endParaRPr b="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TERAD WEST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(KAETSU)</a:t>
                      </a: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RYUTO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/>
                        <a:t>INAHO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RNP Z 10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/>
                        <a:t>RNP Y 10 (AR)</a:t>
                      </a:r>
                      <a:endParaRPr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79973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28(10’)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8202’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10(27’)</a:t>
                      </a:r>
                      <a:endParaRPr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79973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28 : B4(6167’),B5(7906’),     10 : P3(6292’), B1(8100’)</a:t>
                      </a:r>
                      <a:r>
                        <a:rPr lang="en-US" sz="800" dirty="0">
                          <a:solidFill>
                            <a:schemeClr val="dk1"/>
                          </a:solidFill>
                        </a:rPr>
                        <a:t> 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06276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LDC Data :  RWY28+81ft, RWY10+274ft (Due PAPI PSN)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800" b="1" dirty="0">
                          <a:solidFill>
                            <a:schemeClr val="tx1"/>
                          </a:solidFill>
                        </a:rPr>
                        <a:t>RWY 10 Downslope, Vacate RWY04/22 by ATC Only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lang="en-US" sz="800" b="1" dirty="0">
                          <a:solidFill>
                            <a:schemeClr val="tx1"/>
                          </a:solidFill>
                        </a:rPr>
                        <a:t>GND by TWR</a:t>
                      </a: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graphicFrame>
        <p:nvGraphicFramePr>
          <p:cNvPr id="329" name="Google Shape;329;p22"/>
          <p:cNvGraphicFramePr/>
          <p:nvPr>
            <p:extLst>
              <p:ext uri="{D42A27DB-BD31-4B8C-83A1-F6EECF244321}">
                <p14:modId xmlns:p14="http://schemas.microsoft.com/office/powerpoint/2010/main" val="3502802556"/>
              </p:ext>
            </p:extLst>
          </p:nvPr>
        </p:nvGraphicFramePr>
        <p:xfrm>
          <a:off x="-2501" y="16504"/>
          <a:ext cx="2328850" cy="588994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23224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RJSN(KIJ) 5ft</a:t>
                      </a:r>
                      <a:endParaRPr sz="1300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5519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KE ICN 131.5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60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-10분 TOBT 5분 차이시 CTC Comm</a:t>
                      </a:r>
                      <a:endParaRPr sz="900"/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JPN AIR Niigata 131.85</a:t>
                      </a:r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B5CAF811-B5E1-B49C-3619-B63357E59B85}"/>
              </a:ext>
            </a:extLst>
          </p:cNvPr>
          <p:cNvSpPr txBox="1"/>
          <p:nvPr/>
        </p:nvSpPr>
        <p:spPr>
          <a:xfrm>
            <a:off x="-49726" y="3213958"/>
            <a:ext cx="1709122" cy="466657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125.15</a:t>
            </a:r>
            <a:r>
              <a:rPr kumimoji="1" lang="ko-KR" altLang="en-US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</a:t>
            </a:r>
            <a:r>
              <a:rPr kumimoji="1" lang="ko-KR" altLang="en-US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</a:t>
            </a:r>
            <a:r>
              <a:rPr kumimoji="1" lang="ko-KR" altLang="en-US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134.17 - FUK</a:t>
            </a:r>
            <a:r>
              <a:rPr kumimoji="1" lang="en-US" altLang="ko-Kore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124.15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TKO 133.8 - 132.45 – 132.3</a:t>
            </a:r>
          </a:p>
          <a:p>
            <a:pPr>
              <a:lnSpc>
                <a:spcPct val="150000"/>
              </a:lnSpc>
            </a:pPr>
            <a:r>
              <a:rPr kumimoji="1" lang="en-US" altLang="ko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KIJ RDR 121.4</a:t>
            </a:r>
            <a:endParaRPr kumimoji="1" lang="ko-Kore-KR" altLang="en-US" sz="6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284A94EA-45D7-F3BD-DD6E-51EA2A229434}"/>
              </a:ext>
            </a:extLst>
          </p:cNvPr>
          <p:cNvSpPr/>
          <p:nvPr/>
        </p:nvSpPr>
        <p:spPr>
          <a:xfrm>
            <a:off x="1628639" y="3392377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/>
              </a:rPr>
              <a:t>Japan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FAEC4EB8-DA09-E905-09CF-DC62055CFFC1}"/>
              </a:ext>
            </a:extLst>
          </p:cNvPr>
          <p:cNvSpPr/>
          <p:nvPr/>
        </p:nvSpPr>
        <p:spPr>
          <a:xfrm>
            <a:off x="836756" y="278248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70C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0070C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62013223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36" name="Google Shape;336;p23"/>
          <p:cNvGraphicFramePr/>
          <p:nvPr>
            <p:extLst>
              <p:ext uri="{D42A27DB-BD31-4B8C-83A1-F6EECF244321}">
                <p14:modId xmlns:p14="http://schemas.microsoft.com/office/powerpoint/2010/main" val="3416679218"/>
              </p:ext>
            </p:extLst>
          </p:nvPr>
        </p:nvGraphicFramePr>
        <p:xfrm>
          <a:off x="0" y="611908"/>
          <a:ext cx="2332950" cy="1482597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471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79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9992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2862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169201"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KIJ : SID (NADP 1)</a:t>
                      </a:r>
                      <a:endParaRPr sz="800" dirty="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4541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28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row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MOKBA xx</a:t>
                      </a:r>
                      <a:endParaRPr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281</a:t>
                      </a:r>
                      <a:endParaRPr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281</a:t>
                      </a:r>
                      <a:endParaRPr sz="458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281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2467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10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v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dirty="0">
                          <a:solidFill>
                            <a:srgbClr val="C00000"/>
                          </a:solidFill>
                        </a:rPr>
                        <a:t>101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dirty="0"/>
                        <a:t>101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dirty="0">
                          <a:solidFill>
                            <a:srgbClr val="C00000"/>
                          </a:solidFill>
                        </a:rPr>
                        <a:t>101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2297352997"/>
                  </a:ext>
                </a:extLst>
              </a:tr>
              <a:tr h="186988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GTC 115.5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algn="ctr"/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28 109.3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53777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28(10’)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8202’</a:t>
                      </a:r>
                      <a:endParaRPr sz="458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10(27’)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0459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EO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5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10 : GTC 101/2, R360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58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21699774"/>
                  </a:ext>
                </a:extLst>
              </a:tr>
              <a:tr h="153777">
                <a:tc gridSpan="6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accent1"/>
                          </a:solidFill>
                        </a:rPr>
                        <a:t>Sometimes Cross 50NM SW GTC FL200</a:t>
                      </a:r>
                      <a:endParaRPr sz="800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graphicFrame>
        <p:nvGraphicFramePr>
          <p:cNvPr id="337" name="Google Shape;337;p23"/>
          <p:cNvGraphicFramePr/>
          <p:nvPr>
            <p:extLst>
              <p:ext uri="{D42A27DB-BD31-4B8C-83A1-F6EECF244321}">
                <p14:modId xmlns:p14="http://schemas.microsoft.com/office/powerpoint/2010/main" val="564158445"/>
              </p:ext>
            </p:extLst>
          </p:nvPr>
        </p:nvGraphicFramePr>
        <p:xfrm>
          <a:off x="2665" y="16504"/>
          <a:ext cx="2328850" cy="59406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RJSN(KIJ) 5ft</a:t>
                      </a:r>
                      <a:endParaRPr lang="en-US" altLang="ko-Kore-KR" sz="1300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900" dirty="0"/>
                        <a:t>JPN AIR KIJ 131.85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dirty="0">
                          <a:solidFill>
                            <a:srgbClr val="FF0000"/>
                          </a:solidFill>
                        </a:rPr>
                        <a:t>TWR Voice -5min</a:t>
                      </a:r>
                      <a:endParaRPr sz="700" dirty="0">
                        <a:solidFill>
                          <a:srgbClr val="FF0000"/>
                        </a:solidFill>
                      </a:endParaRPr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339" name="Google Shape;339;p23"/>
          <p:cNvGraphicFramePr/>
          <p:nvPr/>
        </p:nvGraphicFramePr>
        <p:xfrm>
          <a:off x="-5861" y="3398687"/>
          <a:ext cx="2325975" cy="2130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59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3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55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774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STAR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33/34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xE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ENPIL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180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15/16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xH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MUNAN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180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285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33L/R 34L(23’)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15L/R 16R(23’)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285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34R(23’)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13123’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16L(23’)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64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FIX</a:t>
                      </a:r>
                      <a:endParaRPr dirty="0"/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RWY /8, /5 , YJU R271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C4(7529’),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C5(8513’), 33L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: B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7563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8513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C2(7522’),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C1(8536’), 15R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B3(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7454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B2(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8641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P7(5600’),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P8(6578’), 34R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N4(6876’),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N5(8507‘)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P6(5597’),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P5(6574’), 16L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N3(7043‘),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N2(8444‘)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01600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8NM 180kts, 5NM 160kts, Parr TAXI 10kts이상,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HIRO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EF15FB2D-E42F-675C-3FFB-9ECEC0B206B8}"/>
              </a:ext>
            </a:extLst>
          </p:cNvPr>
          <p:cNvSpPr txBox="1"/>
          <p:nvPr/>
        </p:nvSpPr>
        <p:spPr>
          <a:xfrm>
            <a:off x="908959" y="2164788"/>
            <a:ext cx="1095172" cy="855482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TWR 118.0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TKO 132.3 – 132.45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FUK 133.02 – 124.15</a:t>
            </a:r>
            <a:endParaRPr kumimoji="1" lang="en-US" altLang="ko-Kore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 120.57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APP 119.75</a:t>
            </a:r>
            <a:endParaRPr kumimoji="1" lang="ko-Kore-KR" altLang="en-US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81F8CD04-2D37-9A88-545F-6BD77E8DA77E}"/>
              </a:ext>
            </a:extLst>
          </p:cNvPr>
          <p:cNvSpPr/>
          <p:nvPr/>
        </p:nvSpPr>
        <p:spPr>
          <a:xfrm>
            <a:off x="1622852" y="2968839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/>
              </a:rPr>
              <a:t>Japan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6617BE5F-5E96-D9F3-56F3-A5CEBCCEF63A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pic>
        <p:nvPicPr>
          <p:cNvPr id="7" name="그림 6" descr="텍스트, 폰트, 도표, 스크린샷이(가) 표시된 사진&#10;&#10;자동 생성된 설명">
            <a:extLst>
              <a:ext uri="{FF2B5EF4-FFF2-40B4-BE49-F238E27FC236}">
                <a16:creationId xmlns:a16="http://schemas.microsoft.com/office/drawing/2014/main" id="{DA774A71-0429-BF8E-9C9A-B87EB38399C5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0" y="2106094"/>
            <a:ext cx="908959" cy="9027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93909187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10" name="Google Shape;310;p20"/>
          <p:cNvGraphicFramePr/>
          <p:nvPr>
            <p:extLst>
              <p:ext uri="{D42A27DB-BD31-4B8C-83A1-F6EECF244321}">
                <p14:modId xmlns:p14="http://schemas.microsoft.com/office/powerpoint/2010/main" val="3820343038"/>
              </p:ext>
            </p:extLst>
          </p:nvPr>
        </p:nvGraphicFramePr>
        <p:xfrm>
          <a:off x="1596" y="3416428"/>
          <a:ext cx="2331400" cy="218041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5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36775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NRT : MAMAS 240</a:t>
                      </a:r>
                      <a:endParaRPr sz="800" dirty="0"/>
                    </a:p>
                  </a:txBody>
                  <a:tcPr marL="36000" marR="3600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24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RUTAS E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(RUTAS T)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ELGAR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(TYLER)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ILS 34L/R(Z)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24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16L/R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RUTAS G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(RUTAS N)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GEMIN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(NORMA)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ILS Z 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24325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16L(135’)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8202’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34R(141’)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2432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16R(130’)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13123’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34L(139’)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2432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FIX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>
                          <a:solidFill>
                            <a:schemeClr val="accent1"/>
                          </a:solidFill>
                        </a:rPr>
                        <a:t>16L : ITM 4 / 34R : ITJ 14, 4 (DME)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>
                          <a:solidFill>
                            <a:schemeClr val="accent1"/>
                          </a:solidFill>
                        </a:rPr>
                        <a:t>16R : IKF 4 / 34L : IYQ 12, 4 (DME)</a:t>
                      </a:r>
                      <a:endParaRPr sz="800" b="0">
                        <a:solidFill>
                          <a:schemeClr val="accent1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02475">
                <a:tc gridSpan="4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16L : B6(6433’), B7(7017’), 34R : B4(5849’), B2(6778’)</a:t>
                      </a:r>
                      <a:endParaRPr sz="80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16R : A6(6076’), A7(7624’), 34L : A5(6167’), A4(7641’)</a:t>
                      </a:r>
                      <a:r>
                        <a:rPr lang="en-US" sz="800">
                          <a:solidFill>
                            <a:schemeClr val="dk1"/>
                          </a:solidFill>
                        </a:rPr>
                        <a:t> 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24325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L/D DOWN before 14/12 DME, L/D FLAP 4 DME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Arrival Taxi RTE in Jeppesen (No Numbering)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311" name="Google Shape;311;p20"/>
          <p:cNvGraphicFramePr/>
          <p:nvPr>
            <p:extLst>
              <p:ext uri="{D42A27DB-BD31-4B8C-83A1-F6EECF244321}">
                <p14:modId xmlns:p14="http://schemas.microsoft.com/office/powerpoint/2010/main" val="450456469"/>
              </p:ext>
            </p:extLst>
          </p:nvPr>
        </p:nvGraphicFramePr>
        <p:xfrm>
          <a:off x="-2501" y="16504"/>
          <a:ext cx="2328850" cy="58993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94791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RKPC(CJU) 119ft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RJAA(NRT) 135ft</a:t>
                      </a:r>
                      <a:endParaRPr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5139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CJU 129.4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-10분</a:t>
                      </a:r>
                      <a:endParaRPr sz="1050" dirty="0"/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Tokyo 131.70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4B348A56-DF69-97BA-6C0C-39EEA383FCDD}"/>
              </a:ext>
            </a:extLst>
          </p:cNvPr>
          <p:cNvSpPr txBox="1"/>
          <p:nvPr/>
        </p:nvSpPr>
        <p:spPr>
          <a:xfrm>
            <a:off x="-63376" y="2956451"/>
            <a:ext cx="2517036" cy="281991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r>
              <a:rPr kumimoji="1" lang="en-US" altLang="ko-Kore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121.2</a:t>
            </a:r>
            <a:r>
              <a:rPr kumimoji="1" lang="ko-KR" altLang="en-US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</a:t>
            </a:r>
            <a:r>
              <a:rPr kumimoji="1" lang="ko-KR" altLang="en-US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ICN</a:t>
            </a:r>
            <a:r>
              <a:rPr kumimoji="1" lang="ko-KR" altLang="en-US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124.52 </a:t>
            </a:r>
            <a:r>
              <a:rPr kumimoji="1" lang="en-US" altLang="ko-KR" sz="600" b="1" u="sng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- KOB</a:t>
            </a:r>
            <a:r>
              <a:rPr kumimoji="1" lang="en-US" altLang="ko-Kore-KR" sz="600" b="1" u="sng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ore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118.9 – FUK 133.15 – 119.35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134.35 - TKO 125.9 -</a:t>
            </a:r>
            <a:r>
              <a:rPr kumimoji="1" lang="en-US" altLang="ko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TKO APP 124.4</a:t>
            </a:r>
            <a:r>
              <a:rPr kumimoji="1" lang="ko-KR" altLang="en-US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 </a:t>
            </a:r>
            <a:r>
              <a:rPr kumimoji="1" lang="en-US" altLang="ko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-</a:t>
            </a:r>
            <a:r>
              <a:rPr kumimoji="1" lang="ko-KR" altLang="en-US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120.2 – ARR 121.27</a:t>
            </a:r>
            <a:r>
              <a:rPr kumimoji="1" lang="ko-KR" altLang="en-US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endParaRPr kumimoji="1" lang="ko-Kore-KR" altLang="en-US" sz="6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3F03909F-D98D-16B4-E03D-223D925F26E1}"/>
              </a:ext>
            </a:extLst>
          </p:cNvPr>
          <p:cNvSpPr/>
          <p:nvPr/>
        </p:nvSpPr>
        <p:spPr>
          <a:xfrm>
            <a:off x="1663362" y="3177179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/>
              </a:rPr>
              <a:t>Japan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0A0BD91C-DB99-852F-BA1E-37D83389EC4E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70C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0070C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graphicFrame>
        <p:nvGraphicFramePr>
          <p:cNvPr id="5" name="Google Shape;214;p10">
            <a:extLst>
              <a:ext uri="{FF2B5EF4-FFF2-40B4-BE49-F238E27FC236}">
                <a16:creationId xmlns:a16="http://schemas.microsoft.com/office/drawing/2014/main" id="{C861A1D2-8B8B-326B-9B77-97488D08966C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889122821"/>
              </p:ext>
            </p:extLst>
          </p:nvPr>
        </p:nvGraphicFramePr>
        <p:xfrm>
          <a:off x="0" y="614488"/>
          <a:ext cx="2326349" cy="149881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1941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104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5836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7766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0873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19786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39704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4074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353778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53778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CJU : SID (NADP 1)</a:t>
                      </a:r>
                      <a:endParaRPr sz="800" dirty="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07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TAMNA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xE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066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066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9000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066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25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TAMNA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xW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246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246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246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5700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YDM 109.0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07 109.9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25 111.3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5700">
                <a:tc gridSpan="5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07 : NONE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5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25 : YDM246/3, R290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016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07(87’)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10433’</a:t>
                      </a:r>
                      <a:endParaRPr sz="800" b="1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25(77’)</a:t>
                      </a:r>
                      <a:endParaRPr sz="800" b="1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5700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07 : Passing G4 CTC TWR 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25 : 31 Holding PSN on P, E1,2,3 CTC TWR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pic>
        <p:nvPicPr>
          <p:cNvPr id="6" name="Google Shape;218;p10">
            <a:extLst>
              <a:ext uri="{FF2B5EF4-FFF2-40B4-BE49-F238E27FC236}">
                <a16:creationId xmlns:a16="http://schemas.microsoft.com/office/drawing/2014/main" id="{0D8669F7-0055-7495-FBE1-C5C99B795B7B}"/>
              </a:ext>
            </a:extLst>
          </p:cNvPr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-2501" y="2118979"/>
            <a:ext cx="1511236" cy="828244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412810844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18" name="Google Shape;318;p21"/>
          <p:cNvGraphicFramePr/>
          <p:nvPr/>
        </p:nvGraphicFramePr>
        <p:xfrm>
          <a:off x="0" y="611908"/>
          <a:ext cx="2332950" cy="178453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74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04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9992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2757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105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159300">
                <a:tc gridSpan="9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NRT : SID – ENPAR </a:t>
                      </a:r>
                      <a:r>
                        <a:rPr lang="en-US" sz="800" dirty="0" err="1"/>
                        <a:t>tx</a:t>
                      </a:r>
                      <a:r>
                        <a:rPr lang="en-US" sz="800" dirty="0"/>
                        <a:t> (NADP 1)</a:t>
                      </a:r>
                      <a:endParaRPr sz="800" dirty="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5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rowSpan="2"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TETRA x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ENPAR tx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rowSpan="2"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157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157</a:t>
                      </a:r>
                      <a:endParaRPr sz="458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ATC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157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337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337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7000/ATC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337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NRE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117.9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16L 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110.7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111.5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34L 111.9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34R 110.9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4775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16L(135’)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8202’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34R(141’)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4477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16R (130’)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34L (139’)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44775">
                <a:tc gridSpan="9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accent1"/>
                          </a:solidFill>
                        </a:rPr>
                        <a:t>34R : CLB 220/10000, A4R21/22/23 220KTS </a:t>
                      </a:r>
                      <a:r>
                        <a:rPr lang="en-US" sz="800" b="1" dirty="0" err="1">
                          <a:solidFill>
                            <a:schemeClr val="accent1"/>
                          </a:solidFill>
                        </a:rPr>
                        <a:t>확인</a:t>
                      </a:r>
                      <a:endParaRPr sz="800" b="1" dirty="0">
                        <a:solidFill>
                          <a:schemeClr val="accent1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Verity ENPAR </a:t>
                      </a:r>
                      <a:r>
                        <a:rPr lang="en-US" sz="800" b="1" dirty="0" err="1">
                          <a:solidFill>
                            <a:schemeClr val="dk1"/>
                          </a:solidFill>
                        </a:rPr>
                        <a:t>tx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 TETRA 12000A </a:t>
                      </a:r>
                      <a:endParaRPr sz="800" b="1" dirty="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dk1"/>
                          </a:solidFill>
                        </a:rPr>
                        <a:t>APU Start, TAXI RTE 1, 2, 3, 4 RWY </a:t>
                      </a:r>
                      <a:r>
                        <a:rPr lang="en-US" sz="800" dirty="0" err="1">
                          <a:solidFill>
                            <a:schemeClr val="dk1"/>
                          </a:solidFill>
                        </a:rPr>
                        <a:t>별</a:t>
                      </a:r>
                      <a:r>
                        <a:rPr lang="en-US" sz="800" dirty="0">
                          <a:solidFill>
                            <a:schemeClr val="dk1"/>
                          </a:solidFill>
                        </a:rPr>
                        <a:t> DEP RTE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319" name="Google Shape;319;p21"/>
          <p:cNvGraphicFramePr/>
          <p:nvPr>
            <p:extLst>
              <p:ext uri="{D42A27DB-BD31-4B8C-83A1-F6EECF244321}">
                <p14:modId xmlns:p14="http://schemas.microsoft.com/office/powerpoint/2010/main" val="1699432018"/>
              </p:ext>
            </p:extLst>
          </p:nvPr>
        </p:nvGraphicFramePr>
        <p:xfrm>
          <a:off x="-2501" y="16504"/>
          <a:ext cx="2328850" cy="60930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RJAA(NRT) 135ft</a:t>
                      </a:r>
                      <a:endParaRPr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RKPC(CJU) 119ft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Tokyo 131.70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FF0000"/>
                          </a:solidFill>
                        </a:rPr>
                        <a:t>DCL -15분</a:t>
                      </a:r>
                      <a:endParaRPr sz="800" dirty="0">
                        <a:solidFill>
                          <a:srgbClr val="FF0000"/>
                        </a:solidFill>
                      </a:endParaRPr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CJU 129.4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8305CE87-CB2D-B9F1-7BCB-D3D6DE9B003F}"/>
              </a:ext>
            </a:extLst>
          </p:cNvPr>
          <p:cNvSpPr txBox="1"/>
          <p:nvPr/>
        </p:nvSpPr>
        <p:spPr>
          <a:xfrm>
            <a:off x="-20938" y="2486190"/>
            <a:ext cx="2318263" cy="855482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124.2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TKO 120.5 – 128.12 – FUK 133.02 – KOB 133.55 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132.7 – FUK 133.15 – KOB 118.9 </a:t>
            </a:r>
            <a:endParaRPr kumimoji="1" lang="en-US" altLang="ko-Kore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ICN 124.52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APP 121.2</a:t>
            </a:r>
            <a:endParaRPr kumimoji="1" lang="ko-Kore-KR" altLang="en-US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61F60108-1835-DB8D-420A-D0FC0E5B5987}"/>
              </a:ext>
            </a:extLst>
          </p:cNvPr>
          <p:cNvSpPr/>
          <p:nvPr/>
        </p:nvSpPr>
        <p:spPr>
          <a:xfrm>
            <a:off x="1622852" y="2991989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/>
              </a:rPr>
              <a:t>Japan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5AC28DF6-545E-A19C-0E4B-50E8331FA052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graphicFrame>
        <p:nvGraphicFramePr>
          <p:cNvPr id="5" name="Google Shape;227;p11">
            <a:extLst>
              <a:ext uri="{FF2B5EF4-FFF2-40B4-BE49-F238E27FC236}">
                <a16:creationId xmlns:a16="http://schemas.microsoft.com/office/drawing/2014/main" id="{7A61CDFA-D55D-A334-BEF7-D36F17824D3B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352437702"/>
              </p:ext>
            </p:extLst>
          </p:nvPr>
        </p:nvGraphicFramePr>
        <p:xfrm>
          <a:off x="4472" y="3770996"/>
          <a:ext cx="2326800" cy="177288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069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541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828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156000">
                <a:tc gridSpan="4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CJU : STAR 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FFC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AFT Merge PT(220kts) DCT IAF(210kts), FAF (160kts)</a:t>
                      </a:r>
                      <a:endParaRPr kumimoji="0" lang="en-US" altLang="ko-Kore-KR" sz="800" b="1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FFC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41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ILS Z 07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TAMNA </a:t>
                      </a:r>
                      <a:r>
                        <a:rPr lang="en-US" sz="800" b="1" dirty="0" err="1"/>
                        <a:t>xP</a:t>
                      </a:r>
                      <a:endParaRPr sz="458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YUMIN</a:t>
                      </a:r>
                      <a:endParaRPr sz="458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58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1800">
                <a:tc gridSpan="4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RNP Y 07 </a:t>
                      </a:r>
                      <a:r>
                        <a:rPr kumimoji="0" lang="en-US" altLang="ko-Kore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(No LPV)</a:t>
                      </a:r>
                      <a:r>
                        <a:rPr kumimoji="0" lang="en-US" altLang="ko-Kore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, RNP Z 07 AR </a:t>
                      </a:r>
                      <a:r>
                        <a:rPr kumimoji="0" lang="en-US" altLang="ko-Kore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(No B737-900, RNP 0.11)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 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58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58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58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915447704"/>
                  </a:ext>
                </a:extLst>
              </a:tr>
              <a:tr h="141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ILS Z 25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TAMNA </a:t>
                      </a:r>
                      <a:r>
                        <a:rPr lang="en-US" sz="800" b="1" dirty="0" err="1"/>
                        <a:t>xT</a:t>
                      </a:r>
                      <a:r>
                        <a:rPr lang="en-US" sz="800" b="1" dirty="0"/>
                        <a:t>(</a:t>
                      </a:r>
                      <a:r>
                        <a:rPr lang="en-US" sz="800" b="1" dirty="0" err="1"/>
                        <a:t>xM</a:t>
                      </a:r>
                      <a:r>
                        <a:rPr lang="en-US" sz="800" b="1" dirty="0"/>
                        <a:t>)</a:t>
                      </a:r>
                      <a:endParaRPr sz="458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DUKAL</a:t>
                      </a:r>
                      <a:endParaRPr sz="458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58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092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07(87’)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10433’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25(76’)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0075">
                <a:tc gridSpan="4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07 : P6(5176’), P5(5882’), </a:t>
                      </a: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P4(6840’-ATC HIRO)</a:t>
                      </a:r>
                      <a:endParaRPr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25 : P7(5219’), P8(5882’), </a:t>
                      </a: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P10(7524’-ATC HIRO) 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20075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Entering Rapid TWY CTC GND 121.675, STOP X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HST 40KTS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75027055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 descr="텍스트, 지도, 폰트, 도표이(가) 표시된 사진&#10;&#10;자동 생성된 설명">
            <a:extLst>
              <a:ext uri="{FF2B5EF4-FFF2-40B4-BE49-F238E27FC236}">
                <a16:creationId xmlns:a16="http://schemas.microsoft.com/office/drawing/2014/main" id="{EFBAAA5A-4D19-0577-BE44-3A3B7733148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2500" y="3235347"/>
            <a:ext cx="526844" cy="525727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E2566E64-8738-9A9D-AA0F-1948B59B16C4}"/>
              </a:ext>
            </a:extLst>
          </p:cNvPr>
          <p:cNvSpPr txBox="1"/>
          <p:nvPr/>
        </p:nvSpPr>
        <p:spPr>
          <a:xfrm>
            <a:off x="579347" y="3254455"/>
            <a:ext cx="1757212" cy="449729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CJU 124.52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SHA 120.95</a:t>
            </a:r>
          </a:p>
          <a:p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SHA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APP – 125.625 - 125.4 – 126.65</a:t>
            </a:r>
            <a:endParaRPr kumimoji="1" lang="ko-Kore-KR" altLang="en-US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graphicFrame>
        <p:nvGraphicFramePr>
          <p:cNvPr id="106" name="Google Shape;106;p2"/>
          <p:cNvGraphicFramePr/>
          <p:nvPr>
            <p:extLst>
              <p:ext uri="{D42A27DB-BD31-4B8C-83A1-F6EECF244321}">
                <p14:modId xmlns:p14="http://schemas.microsoft.com/office/powerpoint/2010/main" val="3411126693"/>
              </p:ext>
            </p:extLst>
          </p:nvPr>
        </p:nvGraphicFramePr>
        <p:xfrm>
          <a:off x="0" y="1055589"/>
          <a:ext cx="2335800" cy="2202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62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6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849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97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082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277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75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315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37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3525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GMP : SID (NADP 1)</a:t>
                      </a:r>
                      <a:endParaRPr sz="800" u="none" strike="noStrike" cap="none" dirty="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 row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/>
                        <a:t>32L/R</a:t>
                      </a:r>
                      <a:endParaRPr sz="800" b="1" u="none" strike="noStrike" cap="none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70C0"/>
                          </a:solidFill>
                        </a:rPr>
                        <a:t>BULTI xT</a:t>
                      </a:r>
                      <a:endParaRPr sz="800" b="1" u="none" strike="noStrike" cap="none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C00000"/>
                          </a:solidFill>
                        </a:rPr>
                        <a:t>324</a:t>
                      </a:r>
                      <a:endParaRPr sz="458" b="1" u="none" strike="noStrike" cap="none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/>
                        <a:t>324</a:t>
                      </a:r>
                      <a:endParaRPr sz="800" b="1" u="none" strike="noStrike" cap="none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 u="none" strike="noStrike" cap="none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C00000"/>
                          </a:solidFill>
                        </a:rPr>
                        <a:t>324</a:t>
                      </a:r>
                      <a:endParaRPr sz="800" b="1" u="none" strike="noStrike" cap="none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/>
                        <a:t>(BULTI xQ)</a:t>
                      </a:r>
                      <a:endParaRPr sz="800" u="none" strike="noStrike" cap="none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>
                          <a:solidFill>
                            <a:srgbClr val="C00000"/>
                          </a:solidFill>
                        </a:rPr>
                        <a:t>324</a:t>
                      </a:r>
                      <a:endParaRPr sz="458" u="none" strike="noStrike" cap="none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/>
                        <a:t>324</a:t>
                      </a:r>
                      <a:endParaRPr sz="800" u="none" strike="noStrike" cap="none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u="none" strike="noStrike" cap="none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>
                          <a:solidFill>
                            <a:srgbClr val="C00000"/>
                          </a:solidFill>
                        </a:rPr>
                        <a:t>324</a:t>
                      </a:r>
                      <a:endParaRPr sz="800" u="none" strike="noStrike" cap="none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01600">
                <a:tc row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/>
                        <a:t>14L/R</a:t>
                      </a:r>
                      <a:endParaRPr sz="800" b="1" u="none" strike="noStrike" cap="none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70C0"/>
                          </a:solidFill>
                        </a:rPr>
                        <a:t>BULTI xU</a:t>
                      </a:r>
                      <a:endParaRPr sz="800" b="1" u="none" strike="noStrike" cap="none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C00000"/>
                          </a:solidFill>
                        </a:rPr>
                        <a:t>144</a:t>
                      </a:r>
                      <a:endParaRPr sz="458" b="1" u="none" strike="noStrike" cap="none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/>
                        <a:t>144</a:t>
                      </a:r>
                      <a:endParaRPr sz="800" b="1" u="none" strike="noStrike" cap="none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70C0"/>
                          </a:solidFill>
                        </a:rPr>
                        <a:t>6000</a:t>
                      </a:r>
                      <a:endParaRPr sz="800" b="1" u="none" strike="noStrike" cap="none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C00000"/>
                          </a:solidFill>
                        </a:rPr>
                        <a:t>144</a:t>
                      </a:r>
                      <a:endParaRPr sz="800" b="1" u="none" strike="noStrike" cap="none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0160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/>
                        <a:t>(BULTI xZ)</a:t>
                      </a:r>
                      <a:endParaRPr sz="800" u="none" strike="noStrike" cap="none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>
                          <a:solidFill>
                            <a:srgbClr val="C00000"/>
                          </a:solidFill>
                        </a:rPr>
                        <a:t>144</a:t>
                      </a:r>
                      <a:endParaRPr sz="458" u="none" strike="noStrike" cap="none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/>
                        <a:t>144</a:t>
                      </a:r>
                      <a:endParaRPr sz="800" u="none" strike="noStrike" cap="none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>
                          <a:solidFill>
                            <a:srgbClr val="0070C0"/>
                          </a:solidFill>
                        </a:rPr>
                        <a:t>6000</a:t>
                      </a:r>
                      <a:endParaRPr sz="800" u="none" strike="noStrike" cap="none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>
                          <a:solidFill>
                            <a:srgbClr val="C00000"/>
                          </a:solidFill>
                        </a:rPr>
                        <a:t>144</a:t>
                      </a:r>
                      <a:endParaRPr sz="800" u="none" strike="noStrike" cap="none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157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70C0"/>
                          </a:solidFill>
                        </a:rPr>
                        <a:t>KIP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70C0"/>
                          </a:solidFill>
                        </a:rPr>
                        <a:t>113.6</a:t>
                      </a:r>
                      <a:endParaRPr sz="800" b="1" u="none" strike="noStrike" cap="none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32L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108.3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32R 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110.7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14L 109.9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14R 108.7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570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/>
                        <a:t>32L/R : EO32L/R, R225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/>
                        <a:t>YJU R271</a:t>
                      </a:r>
                      <a:endParaRPr sz="800" u="none" strike="noStrike" cap="none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/>
                        <a:t>14L/R : EO14L/R, R220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/>
                        <a:t>P73 /2</a:t>
                      </a:r>
                      <a:endParaRPr sz="800" u="none" strike="noStrike" cap="none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01600">
                <a:tc rowSpan="2"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u="none" strike="noStrike" cap="none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rowSpan="2"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32L(41’)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10499’</a:t>
                      </a:r>
                      <a:endParaRPr sz="800" b="1" u="none" strike="noStrike" cap="none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14R(34’)</a:t>
                      </a:r>
                      <a:endParaRPr sz="800" b="1" u="none" strike="noStrike" cap="none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01600">
                <a:tc gridSpan="2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32R(42’)</a:t>
                      </a:r>
                      <a:endParaRPr sz="800" b="1" u="none" strike="noStrike" cap="none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11811’</a:t>
                      </a:r>
                      <a:endParaRPr sz="800" b="1" u="none" strike="noStrike" cap="none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14L(38’)</a:t>
                      </a:r>
                      <a:endParaRPr sz="800" b="1" u="none" strike="noStrike" cap="none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15700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/>
                        <a:t>APRON(130.875) -&gt; GND(121.9)  -&gt; TWR (All by ATC)  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graphicFrame>
        <p:nvGraphicFramePr>
          <p:cNvPr id="107" name="Google Shape;107;p2"/>
          <p:cNvGraphicFramePr/>
          <p:nvPr>
            <p:extLst>
              <p:ext uri="{D42A27DB-BD31-4B8C-83A1-F6EECF244321}">
                <p14:modId xmlns:p14="http://schemas.microsoft.com/office/powerpoint/2010/main" val="2739915381"/>
              </p:ext>
            </p:extLst>
          </p:nvPr>
        </p:nvGraphicFramePr>
        <p:xfrm>
          <a:off x="4472" y="3732015"/>
          <a:ext cx="2331327" cy="1786309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692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150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6262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42893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372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2948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591871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347220">
                <a:tc gridSpan="7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SHA : STAR 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>
                          <a:solidFill>
                            <a:srgbClr val="FFC000"/>
                          </a:solidFill>
                        </a:rPr>
                        <a:t>SPD Rest From IAF(210kts), 180kts, 160kts</a:t>
                      </a: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082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ILS Z 18L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PUD 61A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SS204</a:t>
                      </a:r>
                      <a:endParaRPr sz="458" b="1" u="none" strike="noStrike" cap="none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rowSpan="2"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b="1" u="none" strike="noStrike" cap="none" dirty="0"/>
                        <a:t>above 2960ft  </a:t>
                      </a:r>
                      <a:r>
                        <a:rPr lang="en-US" altLang="ko-KR" sz="700" b="1" u="none" strike="noStrike" cap="none" dirty="0"/>
                        <a:t>PUD QRH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b="1" u="none" strike="noStrike" cap="none" dirty="0"/>
                        <a:t>Below 2960ft</a:t>
                      </a:r>
                      <a:r>
                        <a:rPr lang="ko-KR" altLang="en-US" sz="700" b="1" u="none" strike="noStrike" cap="none" dirty="0"/>
                        <a:t> </a:t>
                      </a:r>
                      <a:r>
                        <a:rPr lang="en-US" altLang="ko-KR" sz="700" b="1" u="none" strike="noStrike" cap="none" dirty="0"/>
                        <a:t>SHA QRH</a:t>
                      </a:r>
                      <a:endParaRPr sz="700" b="1" u="none" strike="noStrike" cap="none" dirty="0"/>
                    </a:p>
                  </a:txBody>
                  <a:tcPr marL="36000" marR="36000" marT="36000" marB="36000" anchor="ctr"/>
                </a:tc>
                <a:tc rowSpan="2"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082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ILS Z 36R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PUD 71A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SS405</a:t>
                      </a:r>
                      <a:endParaRPr sz="458" b="1" u="none" strike="noStrike" cap="none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 v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b="1" u="none" strike="noStrike" cap="none" dirty="0"/>
                        <a:t>Below 2960ft</a:t>
                      </a:r>
                      <a:r>
                        <a:rPr lang="ko-KR" altLang="en-US" sz="700" b="1" u="none" strike="noStrike" cap="none" dirty="0"/>
                        <a:t> </a:t>
                      </a:r>
                      <a:r>
                        <a:rPr lang="en-US" altLang="ko-KR" sz="700" b="1" u="none" strike="noStrike" cap="none" dirty="0"/>
                        <a:t>SHA QRH</a:t>
                      </a:r>
                      <a:endParaRPr sz="700" b="1" u="none" strike="noStrike" cap="none" dirty="0"/>
                    </a:p>
                  </a:txBody>
                  <a:tcPr marL="36000" marR="36000" marT="36000" marB="36000" anchor="ctr"/>
                </a:tc>
                <a:tc hMerge="1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9142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u="none" strike="noStrike" cap="none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</a:rPr>
                        <a:t>18L(6’)</a:t>
                      </a:r>
                      <a:endParaRPr sz="800" b="1" u="none" strike="noStrike" cap="none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</a:rPr>
                        <a:t>10499’</a:t>
                      </a:r>
                      <a:endParaRPr sz="800" b="1" u="none" strike="noStrike" cap="none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</a:rPr>
                        <a:t>36R(9’)</a:t>
                      </a:r>
                      <a:endParaRPr sz="800" b="1" u="none" strike="noStrike" cap="none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8627">
                <a:tc gridSpan="7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chemeClr val="dk1"/>
                          </a:solidFill>
                        </a:rPr>
                        <a:t>18L: A3(6555’), A4(7578’) 36R: A2(5738’), A1(7089’)</a:t>
                      </a:r>
                      <a:r>
                        <a:rPr lang="en-US" sz="800" u="none" strike="noStrike" cap="none" dirty="0">
                          <a:solidFill>
                            <a:srgbClr val="0070C0"/>
                          </a:solidFill>
                        </a:rPr>
                        <a:t> 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31464">
                <a:tc gridSpan="7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/>
                        <a:t>Traffic PTN West of RWY, Landing East RWY Normally 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>
                          <a:solidFill>
                            <a:srgbClr val="FF0000"/>
                          </a:solidFill>
                        </a:rPr>
                        <a:t>Des 550m (1800ft)</a:t>
                      </a:r>
                      <a:r>
                        <a:rPr lang="ko-KR" altLang="en-US" sz="800" u="none" strike="noStrike" cap="none" dirty="0">
                          <a:solidFill>
                            <a:srgbClr val="FF0000"/>
                          </a:solidFill>
                        </a:rPr>
                        <a:t> </a:t>
                      </a:r>
                      <a:r>
                        <a:rPr lang="en-US" altLang="ko-KR" sz="800" u="none" strike="noStrike" cap="none" dirty="0">
                          <a:solidFill>
                            <a:srgbClr val="FF0000"/>
                          </a:solidFill>
                        </a:rPr>
                        <a:t>”five five zero meters”</a:t>
                      </a:r>
                      <a:endParaRPr lang="en-US" sz="800" u="none" strike="noStrike" cap="none" dirty="0">
                        <a:solidFill>
                          <a:srgbClr val="FF0000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/>
                        <a:t>L08, L09 not available B737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/>
                        <a:t>Shall CTC Apron Before Entering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108" name="Google Shape;108;p2"/>
          <p:cNvGraphicFramePr/>
          <p:nvPr>
            <p:extLst>
              <p:ext uri="{D42A27DB-BD31-4B8C-83A1-F6EECF244321}">
                <p14:modId xmlns:p14="http://schemas.microsoft.com/office/powerpoint/2010/main" val="2350246762"/>
              </p:ext>
            </p:extLst>
          </p:nvPr>
        </p:nvGraphicFramePr>
        <p:xfrm>
          <a:off x="-2501" y="16504"/>
          <a:ext cx="2328850" cy="51816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602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u="none" strike="noStrike" cap="none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RKSS(GMP) 59ft</a:t>
                      </a:r>
                      <a:endParaRPr lang="en-US" altLang="ko-Kore-KR" sz="1300" u="none" strike="noStrike" cap="none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u="none" strike="noStrike" cap="none" dirty="0">
                          <a:solidFill>
                            <a:schemeClr val="bg1"/>
                          </a:solidFill>
                          <a:hlinkClick r:id="rId5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ZSSS(SHA) 10ft</a:t>
                      </a:r>
                      <a:endParaRPr sz="1300" u="none" strike="noStrike" cap="none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45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u="none" strike="noStrike" cap="none"/>
                        <a:t>KE GMP 131.15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600" u="none" strike="noStrike" cap="none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-15분 가능 TOBT 5분 차이시 CTC Comm</a:t>
                      </a:r>
                      <a:endParaRPr sz="800" u="none" strike="noStrike" cap="none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72000" marR="72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u="none" strike="noStrike" cap="none" dirty="0"/>
                        <a:t>China Eastern 131.5</a:t>
                      </a:r>
                      <a:endParaRPr sz="900" u="none" strike="noStrike" cap="none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109" name="Google Shape;109;p2"/>
          <p:cNvSpPr txBox="1"/>
          <p:nvPr/>
        </p:nvSpPr>
        <p:spPr>
          <a:xfrm>
            <a:off x="649003" y="585439"/>
            <a:ext cx="1666195" cy="4924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Rwy</a:t>
            </a:r>
            <a:r>
              <a:rPr lang="en-US" sz="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32R </a:t>
            </a:r>
            <a:r>
              <a:rPr lang="en-US" sz="1000" b="1" dirty="0">
                <a:solidFill>
                  <a:srgbClr val="C00000"/>
                </a:solidFill>
                <a:latin typeface="Calibri"/>
                <a:ea typeface="Calibri"/>
                <a:cs typeface="Calibri"/>
                <a:sym typeface="Calibri"/>
              </a:rPr>
              <a:t>Takeoff</a:t>
            </a:r>
            <a:r>
              <a:rPr lang="en-US" sz="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 </a:t>
            </a:r>
            <a:endParaRPr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(06:00L~0900L / 12:00L~15:00L /18:00L~21:00L)</a:t>
            </a:r>
            <a:endParaRPr dirty="0"/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98DBB2BF-F0A6-705A-4F11-C79FF42F15A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48563" y="602614"/>
            <a:ext cx="451728" cy="451728"/>
          </a:xfrm>
          <a:prstGeom prst="rect">
            <a:avLst/>
          </a:prstGeom>
        </p:spPr>
      </p:pic>
      <p:sp>
        <p:nvSpPr>
          <p:cNvPr id="6" name="직사각형 5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C86B7CDB-B447-2DE4-526B-0C8FBADA1700}"/>
              </a:ext>
            </a:extLst>
          </p:cNvPr>
          <p:cNvSpPr/>
          <p:nvPr/>
        </p:nvSpPr>
        <p:spPr>
          <a:xfrm>
            <a:off x="1651787" y="3258202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E6EAE01E-69D0-D8DB-FED0-BC0AA46D14DA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8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853132494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7" name="Google Shape;397;p3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1" y="-9795"/>
            <a:ext cx="2328863" cy="5064777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66ABCDBC-383F-5581-5E39-83905EACA8B3}"/>
              </a:ext>
            </a:extLst>
          </p:cNvPr>
          <p:cNvSpPr txBox="1"/>
          <p:nvPr/>
        </p:nvSpPr>
        <p:spPr>
          <a:xfrm>
            <a:off x="1278611" y="4006314"/>
            <a:ext cx="1031051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900" b="1" dirty="0">
                <a:solidFill>
                  <a:srgbClr val="0070C0"/>
                </a:solidFill>
              </a:rPr>
              <a:t>550M       1800ft</a:t>
            </a:r>
            <a:endParaRPr kumimoji="1" lang="ko-Kore-KR" altLang="en-US" sz="900" b="1" dirty="0">
              <a:solidFill>
                <a:srgbClr val="0070C0"/>
              </a:solidFill>
            </a:endParaRP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A9EEFEB8-F9E4-386F-27B1-F3014416BF74}"/>
              </a:ext>
            </a:extLst>
          </p:cNvPr>
          <p:cNvSpPr/>
          <p:nvPr/>
        </p:nvSpPr>
        <p:spPr>
          <a:xfrm>
            <a:off x="55571" y="3177666"/>
            <a:ext cx="1000283" cy="333428"/>
          </a:xfrm>
          <a:prstGeom prst="rect">
            <a:avLst/>
          </a:prstGeom>
          <a:noFill/>
          <a:ln w="3492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FC66845-A7AA-98C4-534C-70B808775E8B}"/>
              </a:ext>
            </a:extLst>
          </p:cNvPr>
          <p:cNvSpPr txBox="1"/>
          <p:nvPr/>
        </p:nvSpPr>
        <p:spPr>
          <a:xfrm>
            <a:off x="997707" y="3142302"/>
            <a:ext cx="330540" cy="41287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900" b="1" dirty="0">
                <a:solidFill>
                  <a:srgbClr val="0070C0"/>
                </a:solidFill>
              </a:rPr>
              <a:t>TL</a:t>
            </a:r>
          </a:p>
          <a:p>
            <a:pPr algn="dist">
              <a:lnSpc>
                <a:spcPct val="150000"/>
              </a:lnSpc>
            </a:pPr>
            <a:r>
              <a:rPr kumimoji="1" lang="en-US" altLang="ko-Kore-KR" sz="900" b="1" dirty="0">
                <a:solidFill>
                  <a:srgbClr val="0070C0"/>
                </a:solidFill>
              </a:rPr>
              <a:t>TA</a:t>
            </a:r>
            <a:endParaRPr kumimoji="1" lang="ko-Kore-KR" altLang="en-US" sz="900" b="1" dirty="0">
              <a:solidFill>
                <a:srgbClr val="0070C0"/>
              </a:solidFill>
            </a:endParaRPr>
          </a:p>
        </p:txBody>
      </p:sp>
      <p:sp>
        <p:nvSpPr>
          <p:cNvPr id="6" name="직사각형 5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D4F0C59D-6ED8-A7D5-E872-D3DA53B8EB0E}"/>
              </a:ext>
            </a:extLst>
          </p:cNvPr>
          <p:cNvSpPr/>
          <p:nvPr/>
        </p:nvSpPr>
        <p:spPr>
          <a:xfrm>
            <a:off x="847353" y="527797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55980604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17" name="Google Shape;117;p3"/>
          <p:cNvGraphicFramePr/>
          <p:nvPr>
            <p:extLst>
              <p:ext uri="{D42A27DB-BD31-4B8C-83A1-F6EECF244321}">
                <p14:modId xmlns:p14="http://schemas.microsoft.com/office/powerpoint/2010/main" val="1742688119"/>
              </p:ext>
            </p:extLst>
          </p:nvPr>
        </p:nvGraphicFramePr>
        <p:xfrm>
          <a:off x="-4045" y="1054227"/>
          <a:ext cx="2328848" cy="186457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7376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925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5043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028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04113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672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4259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155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3459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234172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299558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SHA : SID (NADP 1) 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>
                          <a:solidFill>
                            <a:srgbClr val="FFC000"/>
                          </a:solidFill>
                        </a:rPr>
                        <a:t>N DEP Freq : 126.65 South DEP : 121.10</a:t>
                      </a:r>
                      <a:r>
                        <a:rPr lang="ko-KR" altLang="en-US" sz="800" b="0" u="none" strike="noStrike" cap="none" dirty="0">
                          <a:solidFill>
                            <a:srgbClr val="FFC000"/>
                          </a:solidFill>
                        </a:rPr>
                        <a:t> </a:t>
                      </a:r>
                      <a:r>
                        <a:rPr lang="en-US" altLang="ko-KR" sz="800" b="0" u="none" strike="noStrike" cap="none" dirty="0">
                          <a:solidFill>
                            <a:srgbClr val="FFC000"/>
                          </a:solidFill>
                        </a:rPr>
                        <a:t>(</a:t>
                      </a:r>
                      <a:r>
                        <a:rPr lang="ko-KR" altLang="en-US" sz="800" b="0" u="none" strike="noStrike" cap="none" dirty="0">
                          <a:solidFill>
                            <a:srgbClr val="FFC000"/>
                          </a:solidFill>
                        </a:rPr>
                        <a:t>넘겨줌</a:t>
                      </a:r>
                      <a:r>
                        <a:rPr lang="en-US" altLang="ko-KR" sz="800" b="0" u="none" strike="noStrike" cap="none" dirty="0">
                          <a:solidFill>
                            <a:srgbClr val="FFC000"/>
                          </a:solidFill>
                        </a:rPr>
                        <a:t>)</a:t>
                      </a:r>
                      <a:endParaRPr sz="800" b="0" u="none" strike="noStrike" cap="none" dirty="0">
                        <a:solidFill>
                          <a:srgbClr val="FFC000"/>
                        </a:solidFill>
                      </a:endParaRPr>
                    </a:p>
                  </a:txBody>
                  <a:tcPr marL="36000" marR="7200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2181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18R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LAMEN 61D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183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183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(900m)</a:t>
                      </a:r>
                      <a:endParaRPr lang="ko-Kore-KR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900m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183</a:t>
                      </a:r>
                      <a:endParaRPr sz="800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2181">
                <a:tc row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36L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LAMEN 73D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003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003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(900m)</a:t>
                      </a:r>
                      <a:endParaRPr lang="ko-Kore-KR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900m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003</a:t>
                      </a:r>
                      <a:endParaRPr sz="800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82181">
                <a:tc v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LAMEN 71D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003</a:t>
                      </a:r>
                      <a:endParaRPr sz="800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003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or 4900</a:t>
                      </a:r>
                      <a:endParaRPr lang="ko-KR" altLang="en-US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4900</a:t>
                      </a: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003</a:t>
                      </a:r>
                      <a:endParaRPr sz="800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2109490131"/>
                  </a:ext>
                </a:extLst>
              </a:tr>
              <a:tr h="173254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SHA 117.2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18L 111.3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36R 110.3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73254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u="none" strike="noStrike" cap="none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18R (9’)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10827’</a:t>
                      </a:r>
                      <a:endParaRPr sz="800" b="1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36L (76’)</a:t>
                      </a:r>
                      <a:endParaRPr sz="800" b="1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73254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/>
                        <a:t>RWY 36L LAMEN 71D : </a:t>
                      </a:r>
                      <a:r>
                        <a:rPr lang="en-US" sz="700" u="none" strike="noStrike" cap="none" dirty="0">
                          <a:solidFill>
                            <a:srgbClr val="FF0000"/>
                          </a:solidFill>
                        </a:rPr>
                        <a:t>L/H Turn Below 200m(660ft) in DCL</a:t>
                      </a:r>
                      <a:endParaRPr dirty="0">
                        <a:solidFill>
                          <a:srgbClr val="FF0000"/>
                        </a:solidFill>
                      </a:endParaRP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118" name="Google Shape;118;p3"/>
          <p:cNvGraphicFramePr/>
          <p:nvPr>
            <p:extLst>
              <p:ext uri="{D42A27DB-BD31-4B8C-83A1-F6EECF244321}">
                <p14:modId xmlns:p14="http://schemas.microsoft.com/office/powerpoint/2010/main" val="1499141600"/>
              </p:ext>
            </p:extLst>
          </p:nvPr>
        </p:nvGraphicFramePr>
        <p:xfrm>
          <a:off x="4999" y="3494395"/>
          <a:ext cx="2328849" cy="2058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74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704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086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877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8326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44066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0"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/>
                        <a:t>GMP : STAR</a:t>
                      </a:r>
                      <a:endParaRPr sz="800" u="none" strike="noStrike" cap="none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ILS 32L/R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/>
                        <a:t>OLMEN xT</a:t>
                      </a:r>
                      <a:endParaRPr sz="800" b="1" u="none" strike="noStrike" cap="none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/>
                        <a:t>BUMSI</a:t>
                      </a:r>
                      <a:endParaRPr sz="458" b="1" u="none" strike="noStrike" cap="none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/>
                        <a:t>OLMEN 160</a:t>
                      </a:r>
                      <a:endParaRPr sz="458" b="1" u="none" strike="noStrike" cap="none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ILS 14R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/>
                        <a:t>OLMEN xU</a:t>
                      </a:r>
                      <a:endParaRPr sz="800" b="1" u="none" strike="noStrike" cap="none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/>
                        <a:t>DOKDO</a:t>
                      </a:r>
                      <a:endParaRPr sz="458" b="1" u="none" strike="noStrike" cap="none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/>
                        <a:t>OLMEN 160</a:t>
                      </a:r>
                      <a:endParaRPr sz="458" b="1" u="none" strike="noStrike" cap="none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2850">
                <a:tc rowSpan="2"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u="none" strike="noStrike" cap="none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rowSpan="2"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rowSpan="2"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</a:rPr>
                        <a:t>32L(41’)</a:t>
                      </a:r>
                      <a:endParaRPr sz="800" b="1" u="none" strike="noStrike" cap="none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</a:rPr>
                        <a:t>10499’</a:t>
                      </a:r>
                      <a:endParaRPr sz="800" b="1" u="none" strike="noStrike" cap="none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</a:rPr>
                        <a:t>14R(34’)</a:t>
                      </a:r>
                      <a:endParaRPr sz="800" b="1" u="none" strike="noStrike" cap="none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12850">
                <a:tc gridSpan="3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</a:rPr>
                        <a:t>32R(42’)</a:t>
                      </a:r>
                      <a:endParaRPr sz="800" b="1" u="none" strike="noStrike" cap="none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</a:rPr>
                        <a:t>11811’</a:t>
                      </a:r>
                      <a:endParaRPr sz="800" b="1" u="none" strike="noStrike" cap="none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</a:rPr>
                        <a:t>14L(38’)</a:t>
                      </a:r>
                      <a:endParaRPr sz="800" b="1" u="none" strike="noStrike" cap="none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56400"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FIX</a:t>
                      </a:r>
                      <a:endParaRPr/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KIP /8(RWY 32), YJU R271, P73 /2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01600">
                <a:tc gridSpan="6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32L : D3(6532’), E2(9117’), 32R : E1(6614’)</a:t>
                      </a:r>
                      <a:endParaRPr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14R : C1(6578’)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01600">
                <a:tc gridSpan="6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32L/R : 8 KIP L/G, 14R : LOC CAPT L/G</a:t>
                      </a:r>
                      <a:endParaRPr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FAF : Final Flap</a:t>
                      </a:r>
                      <a:endParaRPr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TWR -&gt; GND -&gt; APRON (All by ATC)</a:t>
                      </a:r>
                      <a:endParaRPr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Except RWY14R Landing (Until R)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graphicFrame>
        <p:nvGraphicFramePr>
          <p:cNvPr id="119" name="Google Shape;119;p3"/>
          <p:cNvGraphicFramePr/>
          <p:nvPr>
            <p:extLst>
              <p:ext uri="{D42A27DB-BD31-4B8C-83A1-F6EECF244321}">
                <p14:modId xmlns:p14="http://schemas.microsoft.com/office/powerpoint/2010/main" val="1925420226"/>
              </p:ext>
            </p:extLst>
          </p:nvPr>
        </p:nvGraphicFramePr>
        <p:xfrm>
          <a:off x="-2501" y="16504"/>
          <a:ext cx="2328850" cy="57461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u="none" strike="noStrike" cap="none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ZSSS(SHA) 10ft</a:t>
                      </a:r>
                      <a:endParaRPr lang="en-US" altLang="ko-Kore-KR" sz="1300" u="none" strike="noStrike" cap="none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u="none" strike="noStrike" cap="none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RKSS(GMP) 59ft</a:t>
                      </a:r>
                      <a:endParaRPr lang="en-US" altLang="ko-Kore-KR" sz="1300" u="none" strike="noStrike" cap="none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China Eastern 131.5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dirty="0">
                          <a:solidFill>
                            <a:srgbClr val="FF0000"/>
                          </a:solidFill>
                        </a:rPr>
                        <a:t>DCL -20분, No READBACK</a:t>
                      </a:r>
                      <a:endParaRPr sz="700" dirty="0">
                        <a:solidFill>
                          <a:srgbClr val="FF0000"/>
                        </a:solidFill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GMP 131.15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120" name="Google Shape;120;p3"/>
          <p:cNvSpPr txBox="1"/>
          <p:nvPr/>
        </p:nvSpPr>
        <p:spPr>
          <a:xfrm>
            <a:off x="-35514" y="602871"/>
            <a:ext cx="1666195" cy="4924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Rwy</a:t>
            </a:r>
            <a:r>
              <a:rPr lang="en-US" sz="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32L </a:t>
            </a:r>
            <a:r>
              <a:rPr lang="en-US" sz="1000" b="1" dirty="0">
                <a:solidFill>
                  <a:srgbClr val="C00000"/>
                </a:solidFill>
                <a:latin typeface="Calibri"/>
                <a:ea typeface="Calibri"/>
                <a:cs typeface="Calibri"/>
                <a:sym typeface="Calibri"/>
              </a:rPr>
              <a:t>Landing</a:t>
            </a:r>
            <a:r>
              <a:rPr lang="en-US" sz="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 </a:t>
            </a:r>
            <a:endParaRPr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(06:00L~0900L / 12:00L~15:00L /18:00L~21:00L)</a:t>
            </a:r>
            <a:endParaRPr dirty="0"/>
          </a:p>
        </p:txBody>
      </p:sp>
      <p:pic>
        <p:nvPicPr>
          <p:cNvPr id="3" name="그림 2" descr="텍스트, 시계이(가) 표시된 사진&#10;&#10;자동 생성된 설명">
            <a:extLst>
              <a:ext uri="{FF2B5EF4-FFF2-40B4-BE49-F238E27FC236}">
                <a16:creationId xmlns:a16="http://schemas.microsoft.com/office/drawing/2014/main" id="{3EEA343B-3551-68D7-E68E-46FF869A3DE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02416" y="584746"/>
            <a:ext cx="492402" cy="492402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7BA009CD-0CE1-2081-CE8C-F9EB8DF1D6DE}"/>
              </a:ext>
            </a:extLst>
          </p:cNvPr>
          <p:cNvSpPr txBox="1"/>
          <p:nvPr/>
        </p:nvSpPr>
        <p:spPr>
          <a:xfrm>
            <a:off x="-27918" y="2832225"/>
            <a:ext cx="1930337" cy="693899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126.65(121.1)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SHA APP 125.4 –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125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.625 – SHA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20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.95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ICN 125.725 – 124.52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APP – 119.75</a:t>
            </a:r>
            <a:endParaRPr kumimoji="1" lang="ko-Kore-KR" altLang="en-US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sp>
        <p:nvSpPr>
          <p:cNvPr id="5" name="직사각형 4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9524A9E4-C510-C0BA-5B92-621F24258317}"/>
              </a:ext>
            </a:extLst>
          </p:cNvPr>
          <p:cNvSpPr/>
          <p:nvPr/>
        </p:nvSpPr>
        <p:spPr>
          <a:xfrm>
            <a:off x="1651787" y="3206118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51856BBB-56E6-4488-8A2D-04F7685B1F50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237335501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 descr="텍스트, 지도, 폰트, 도표이(가) 표시된 사진&#10;&#10;자동 생성된 설명">
            <a:extLst>
              <a:ext uri="{FF2B5EF4-FFF2-40B4-BE49-F238E27FC236}">
                <a16:creationId xmlns:a16="http://schemas.microsoft.com/office/drawing/2014/main" id="{EFBAAA5A-4D19-0577-BE44-3A3B7733148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2659" y="3044798"/>
            <a:ext cx="612949" cy="611649"/>
          </a:xfrm>
          <a:prstGeom prst="rect">
            <a:avLst/>
          </a:prstGeom>
        </p:spPr>
      </p:pic>
      <p:graphicFrame>
        <p:nvGraphicFramePr>
          <p:cNvPr id="106" name="Google Shape;106;p2"/>
          <p:cNvGraphicFramePr/>
          <p:nvPr>
            <p:extLst>
              <p:ext uri="{D42A27DB-BD31-4B8C-83A1-F6EECF244321}">
                <p14:modId xmlns:p14="http://schemas.microsoft.com/office/powerpoint/2010/main" val="2470370123"/>
              </p:ext>
            </p:extLst>
          </p:nvPr>
        </p:nvGraphicFramePr>
        <p:xfrm>
          <a:off x="0" y="1055589"/>
          <a:ext cx="2335800" cy="200857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62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6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849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97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082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277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75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315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37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3525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GMP : SID (NADP 1)</a:t>
                      </a:r>
                      <a:endParaRPr sz="800" u="none" strike="noStrike" cap="none" dirty="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 row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/>
                        <a:t>32L/R</a:t>
                      </a:r>
                      <a:endParaRPr sz="800" b="1" u="none" strike="noStrike" cap="none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NOPIK </a:t>
                      </a:r>
                      <a:r>
                        <a:rPr lang="en-US" sz="800" b="1" u="none" strike="noStrike" cap="none" dirty="0" err="1">
                          <a:solidFill>
                            <a:srgbClr val="0070C0"/>
                          </a:solidFill>
                        </a:rPr>
                        <a:t>xT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C00000"/>
                          </a:solidFill>
                        </a:rPr>
                        <a:t>324</a:t>
                      </a:r>
                      <a:endParaRPr sz="458" b="1" u="none" strike="noStrike" cap="none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/>
                        <a:t>324</a:t>
                      </a:r>
                      <a:endParaRPr sz="800" b="1" u="none" strike="noStrike" cap="none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 u="none" strike="noStrike" cap="none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C00000"/>
                          </a:solidFill>
                        </a:rPr>
                        <a:t>324</a:t>
                      </a:r>
                      <a:endParaRPr sz="800" b="1" u="none" strike="noStrike" cap="none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(NOPIK </a:t>
                      </a:r>
                      <a:r>
                        <a:rPr lang="en-US" sz="800" u="none" strike="noStrike" cap="none" dirty="0" err="1"/>
                        <a:t>xQ</a:t>
                      </a:r>
                      <a:r>
                        <a:rPr lang="en-US" sz="800" u="none" strike="noStrike" cap="none" dirty="0"/>
                        <a:t>)</a:t>
                      </a:r>
                      <a:endParaRPr sz="800" u="none" strike="noStrike" cap="none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>
                          <a:solidFill>
                            <a:srgbClr val="C00000"/>
                          </a:solidFill>
                        </a:rPr>
                        <a:t>324</a:t>
                      </a:r>
                      <a:endParaRPr sz="458" u="none" strike="noStrike" cap="none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/>
                        <a:t>324</a:t>
                      </a:r>
                      <a:endParaRPr sz="800" u="none" strike="noStrike" cap="none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u="none" strike="noStrike" cap="none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>
                          <a:solidFill>
                            <a:srgbClr val="C00000"/>
                          </a:solidFill>
                        </a:rPr>
                        <a:t>324</a:t>
                      </a:r>
                      <a:endParaRPr sz="800" u="none" strike="noStrike" cap="none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14L/R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NOPIK </a:t>
                      </a:r>
                      <a:r>
                        <a:rPr lang="en-US" sz="800" b="1" u="none" strike="noStrike" cap="none" dirty="0" err="1">
                          <a:solidFill>
                            <a:srgbClr val="0070C0"/>
                          </a:solidFill>
                        </a:rPr>
                        <a:t>xU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C00000"/>
                          </a:solidFill>
                        </a:rPr>
                        <a:t>144</a:t>
                      </a:r>
                      <a:endParaRPr sz="458" b="1" u="none" strike="noStrike" cap="none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/>
                        <a:t>144</a:t>
                      </a:r>
                      <a:endParaRPr sz="800" b="1" u="none" strike="noStrike" cap="none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70C0"/>
                          </a:solidFill>
                        </a:rPr>
                        <a:t>6000</a:t>
                      </a:r>
                      <a:endParaRPr sz="800" b="1" u="none" strike="noStrike" cap="none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C00000"/>
                          </a:solidFill>
                        </a:rPr>
                        <a:t>144</a:t>
                      </a:r>
                      <a:endParaRPr sz="800" b="1" u="none" strike="noStrike" cap="none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57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70C0"/>
                          </a:solidFill>
                        </a:rPr>
                        <a:t>KIP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70C0"/>
                          </a:solidFill>
                        </a:rPr>
                        <a:t>113.6</a:t>
                      </a:r>
                      <a:endParaRPr sz="800" b="1" u="none" strike="noStrike" cap="none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32L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108.3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32R 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110.7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14L 109.9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14R 108.7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570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/>
                        <a:t>32L/R : EO32L/R, R225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/>
                        <a:t>YJU R271</a:t>
                      </a:r>
                      <a:endParaRPr sz="800" u="none" strike="noStrike" cap="none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/>
                        <a:t>14L/R : EO14L/R, R220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/>
                        <a:t>P73 /2</a:t>
                      </a:r>
                      <a:endParaRPr sz="800" u="none" strike="noStrike" cap="none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01600">
                <a:tc rowSpan="2"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u="none" strike="noStrike" cap="none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rowSpan="2"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32L(41’)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10499’</a:t>
                      </a:r>
                      <a:endParaRPr sz="800" b="1" u="none" strike="noStrike" cap="none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14R(34’)</a:t>
                      </a:r>
                      <a:endParaRPr sz="800" b="1" u="none" strike="noStrike" cap="none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01600">
                <a:tc gridSpan="2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32R(42’)</a:t>
                      </a:r>
                      <a:endParaRPr sz="800" b="1" u="none" strike="noStrike" cap="none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11811’</a:t>
                      </a:r>
                      <a:endParaRPr sz="800" b="1" u="none" strike="noStrike" cap="none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14L(38’)</a:t>
                      </a:r>
                      <a:endParaRPr sz="800" b="1" u="none" strike="noStrike" cap="none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15700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/>
                        <a:t>APRON(130.875) -&gt; GND(121.9)  -&gt; TWR (All by ATC)  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graphicFrame>
        <p:nvGraphicFramePr>
          <p:cNvPr id="108" name="Google Shape;108;p2"/>
          <p:cNvGraphicFramePr/>
          <p:nvPr>
            <p:extLst>
              <p:ext uri="{D42A27DB-BD31-4B8C-83A1-F6EECF244321}">
                <p14:modId xmlns:p14="http://schemas.microsoft.com/office/powerpoint/2010/main" val="3630342212"/>
              </p:ext>
            </p:extLst>
          </p:nvPr>
        </p:nvGraphicFramePr>
        <p:xfrm>
          <a:off x="-2501" y="16504"/>
          <a:ext cx="2328850" cy="5638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602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u="none" strike="noStrike" cap="none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RKSS(GMP) 59ft</a:t>
                      </a:r>
                      <a:endParaRPr lang="en-US" altLang="ko-Kore-KR" sz="1300" u="none" strike="noStrike" cap="none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u="none" strike="noStrike" cap="none" dirty="0">
                          <a:solidFill>
                            <a:schemeClr val="bg1"/>
                          </a:solidFill>
                          <a:hlinkClick r:id="rId5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ZBAA(PEK) 116ft</a:t>
                      </a:r>
                      <a:endParaRPr sz="1300" u="none" strike="noStrike" cap="none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45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u="none" strike="noStrike" cap="none"/>
                        <a:t>KE GMP 131.15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600" u="none" strike="noStrike" cap="none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-15분 가능 TOBT 5분 차이시 CTC Comm</a:t>
                      </a:r>
                      <a:endParaRPr sz="800" u="none" strike="noStrike" cap="none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72000" marR="72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u="none" strike="noStrike" cap="none" dirty="0"/>
                        <a:t>Air China Beijing 131.5</a:t>
                      </a:r>
                      <a:endParaRPr sz="900" u="none" strike="noStrike" cap="none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109" name="Google Shape;109;p2"/>
          <p:cNvSpPr txBox="1"/>
          <p:nvPr/>
        </p:nvSpPr>
        <p:spPr>
          <a:xfrm>
            <a:off x="649003" y="585439"/>
            <a:ext cx="1666195" cy="4924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Rwy</a:t>
            </a:r>
            <a:r>
              <a:rPr lang="en-US" sz="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32R </a:t>
            </a:r>
            <a:r>
              <a:rPr lang="en-US" sz="1000" b="1" dirty="0">
                <a:solidFill>
                  <a:srgbClr val="C00000"/>
                </a:solidFill>
                <a:latin typeface="Calibri"/>
                <a:ea typeface="Calibri"/>
                <a:cs typeface="Calibri"/>
                <a:sym typeface="Calibri"/>
              </a:rPr>
              <a:t>Takeoff</a:t>
            </a:r>
            <a:r>
              <a:rPr lang="en-US" sz="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 </a:t>
            </a:r>
            <a:endParaRPr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(06:00L~0900L / 12:00L~15:00L /18:00L~21:00L)</a:t>
            </a:r>
            <a:endParaRPr dirty="0"/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98DBB2BF-F0A6-705A-4F11-C79FF42F15A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48563" y="602614"/>
            <a:ext cx="451728" cy="451728"/>
          </a:xfrm>
          <a:prstGeom prst="rect">
            <a:avLst/>
          </a:prstGeom>
        </p:spPr>
      </p:pic>
      <p:sp>
        <p:nvSpPr>
          <p:cNvPr id="6" name="직사각형 5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C86B7CDB-B447-2DE4-526B-0C8FBADA1700}"/>
              </a:ext>
            </a:extLst>
          </p:cNvPr>
          <p:cNvSpPr/>
          <p:nvPr/>
        </p:nvSpPr>
        <p:spPr>
          <a:xfrm>
            <a:off x="1677187" y="3474102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F8890A9-B69E-05D9-E60A-AD033088563C}"/>
              </a:ext>
            </a:extLst>
          </p:cNvPr>
          <p:cNvSpPr txBox="1"/>
          <p:nvPr/>
        </p:nvSpPr>
        <p:spPr>
          <a:xfrm>
            <a:off x="514186" y="3018847"/>
            <a:ext cx="1837362" cy="532316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125.15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132.8 – DLC 132.95</a:t>
            </a:r>
            <a:endParaRPr kumimoji="1" lang="en-US" altLang="ko-Kore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TAO 133.72 – 128.15 – PEK 125.6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PEK APP 120.6 – Final 119.0</a:t>
            </a:r>
          </a:p>
        </p:txBody>
      </p:sp>
      <p:graphicFrame>
        <p:nvGraphicFramePr>
          <p:cNvPr id="7" name="Google Shape;292;p18">
            <a:extLst>
              <a:ext uri="{FF2B5EF4-FFF2-40B4-BE49-F238E27FC236}">
                <a16:creationId xmlns:a16="http://schemas.microsoft.com/office/drawing/2014/main" id="{E94EF807-A170-3ABE-7636-38E13F4116F7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648067178"/>
              </p:ext>
            </p:extLst>
          </p:nvPr>
        </p:nvGraphicFramePr>
        <p:xfrm>
          <a:off x="4472" y="3750136"/>
          <a:ext cx="2333879" cy="181900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5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8373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704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9684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03508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PEK : STAR </a:t>
                      </a:r>
                      <a:r>
                        <a:rPr lang="en-US" sz="800" dirty="0">
                          <a:solidFill>
                            <a:schemeClr val="accent4"/>
                          </a:solidFill>
                        </a:rPr>
                        <a:t>(RW01/19 main (RW36L/18R))</a:t>
                      </a:r>
                      <a:endParaRPr sz="800" b="0" dirty="0">
                        <a:solidFill>
                          <a:schemeClr val="accent4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9827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01</a:t>
                      </a:r>
                      <a:r>
                        <a:rPr lang="en-US" sz="800" b="0" dirty="0"/>
                        <a:t>(36L)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DUMAP </a:t>
                      </a:r>
                      <a:r>
                        <a:rPr lang="en-US" sz="800" b="1" dirty="0" err="1"/>
                        <a:t>xZA</a:t>
                      </a:r>
                      <a:endParaRPr lang="en-US"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AA421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Z 01</a:t>
                      </a:r>
                      <a:r>
                        <a:rPr lang="en-US" sz="800" b="0" dirty="0"/>
                        <a:t>(Y 36L)</a:t>
                      </a: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187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dirty="0"/>
                        <a:t>19</a:t>
                      </a:r>
                      <a:r>
                        <a:rPr lang="en-US" sz="800" b="0" dirty="0"/>
                        <a:t>(</a:t>
                      </a:r>
                      <a:r>
                        <a:rPr lang="en-US" altLang="ko-KR" sz="800" b="0" dirty="0"/>
                        <a:t>18R)</a:t>
                      </a:r>
                      <a:r>
                        <a:rPr lang="en-US" sz="800" b="0" dirty="0"/>
                        <a:t>)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/>
                        <a:t>DUMAP </a:t>
                      </a:r>
                      <a:r>
                        <a:rPr lang="en-US" altLang="ko-Kore-KR" sz="800" b="1" dirty="0" err="1"/>
                        <a:t>xZA</a:t>
                      </a:r>
                      <a:endParaRPr lang="en-US" altLang="ko-Kore-KR"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AA521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Z 19</a:t>
                      </a:r>
                      <a:r>
                        <a:rPr lang="en-US" altLang="ko-Kore-KR" sz="800" b="0" dirty="0"/>
                        <a:t>(Y 18R)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84957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01(84’)      12467’      19(94’)</a:t>
                      </a:r>
                      <a:r>
                        <a:rPr lang="ko-KR" altLang="en-US" sz="800" b="1" dirty="0">
                          <a:solidFill>
                            <a:srgbClr val="00B050"/>
                          </a:solidFill>
                        </a:rPr>
                        <a:t> </a:t>
                      </a:r>
                      <a:r>
                        <a:rPr lang="en-US" altLang="ko-KR" sz="800" b="1" dirty="0">
                          <a:solidFill>
                            <a:srgbClr val="C00000"/>
                          </a:solidFill>
                        </a:rPr>
                        <a:t>3.2</a:t>
                      </a:r>
                      <a:r>
                        <a:rPr lang="ko-KR" altLang="en-US" sz="800" b="1" dirty="0">
                          <a:solidFill>
                            <a:srgbClr val="C00000"/>
                          </a:solidFill>
                        </a:rPr>
                        <a:t>도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84957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dirty="0">
                          <a:solidFill>
                            <a:srgbClr val="00B050"/>
                          </a:solidFill>
                        </a:rPr>
                        <a:t>36L(107’)      10499’      18R(115’)     </a:t>
                      </a:r>
                      <a:endParaRPr sz="800" b="0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86134">
                <a:tc gridSpan="4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FIX : </a:t>
                      </a:r>
                      <a:r>
                        <a:rPr kumimoji="0" lang="en-US" altLang="ko-Kore-KR" sz="800" b="0" i="0" u="none" strike="noStrike" kern="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RWxx</a:t>
                      </a: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 /8(180kts), /6(160kts) </a:t>
                      </a: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TMA Max 280kts</a:t>
                      </a:r>
                      <a:endParaRPr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01193734"/>
                  </a:ext>
                </a:extLst>
              </a:tr>
              <a:tr h="301242">
                <a:tc gridSpan="4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R" sz="800" b="1" dirty="0">
                          <a:solidFill>
                            <a:schemeClr val="dk1"/>
                          </a:solidFill>
                        </a:rPr>
                        <a:t>01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 : Q5(5223’), Q6(7024’), 19 :Q4(5298’), Q3(7103’)</a:t>
                      </a:r>
                      <a:endParaRPr sz="800" dirty="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36L : P6(6276’), P7(7719’), 18R : P3(6223’), P2(7552’)</a:t>
                      </a:r>
                      <a:r>
                        <a:rPr lang="en-US" sz="800" dirty="0">
                          <a:solidFill>
                            <a:schemeClr val="dk1"/>
                          </a:solidFill>
                        </a:rPr>
                        <a:t> 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01242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APU off Procedure</a:t>
                      </a:r>
                      <a:r>
                        <a:rPr lang="ko-KR" altLang="en-US" sz="800" dirty="0"/>
                        <a:t> </a:t>
                      </a:r>
                      <a:r>
                        <a:rPr lang="en-US" altLang="ko-KR" sz="800" dirty="0"/>
                        <a:t>(GND Air Cond’ &amp; GPU)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R" sz="800" dirty="0"/>
                        <a:t>Standard TAXI RTE in Jeppesen Chart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3" name="직사각형 2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799F49BE-0B71-5C35-0AFE-AD9A502DB629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8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968932314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7" name="Google Shape;397;p3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1" y="-9795"/>
            <a:ext cx="2328863" cy="5064777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66ABCDBC-383F-5581-5E39-83905EACA8B3}"/>
              </a:ext>
            </a:extLst>
          </p:cNvPr>
          <p:cNvSpPr txBox="1"/>
          <p:nvPr/>
        </p:nvSpPr>
        <p:spPr>
          <a:xfrm>
            <a:off x="1278611" y="4006314"/>
            <a:ext cx="1031051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900" b="1" dirty="0">
                <a:solidFill>
                  <a:srgbClr val="0070C0"/>
                </a:solidFill>
              </a:rPr>
              <a:t>550M       1800ft</a:t>
            </a:r>
            <a:endParaRPr kumimoji="1" lang="ko-Kore-KR" altLang="en-US" sz="900" b="1" dirty="0">
              <a:solidFill>
                <a:srgbClr val="0070C0"/>
              </a:solidFill>
            </a:endParaRP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A9EEFEB8-F9E4-386F-27B1-F3014416BF74}"/>
              </a:ext>
            </a:extLst>
          </p:cNvPr>
          <p:cNvSpPr/>
          <p:nvPr/>
        </p:nvSpPr>
        <p:spPr>
          <a:xfrm>
            <a:off x="55571" y="3177666"/>
            <a:ext cx="1000283" cy="333428"/>
          </a:xfrm>
          <a:prstGeom prst="rect">
            <a:avLst/>
          </a:prstGeom>
          <a:noFill/>
          <a:ln w="3492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FC66845-A7AA-98C4-534C-70B808775E8B}"/>
              </a:ext>
            </a:extLst>
          </p:cNvPr>
          <p:cNvSpPr txBox="1"/>
          <p:nvPr/>
        </p:nvSpPr>
        <p:spPr>
          <a:xfrm>
            <a:off x="997707" y="3142302"/>
            <a:ext cx="330540" cy="41287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900" b="1" dirty="0">
                <a:solidFill>
                  <a:srgbClr val="0070C0"/>
                </a:solidFill>
              </a:rPr>
              <a:t>TL</a:t>
            </a:r>
          </a:p>
          <a:p>
            <a:pPr algn="dist">
              <a:lnSpc>
                <a:spcPct val="150000"/>
              </a:lnSpc>
            </a:pPr>
            <a:r>
              <a:rPr kumimoji="1" lang="en-US" altLang="ko-Kore-KR" sz="900" b="1" dirty="0">
                <a:solidFill>
                  <a:srgbClr val="0070C0"/>
                </a:solidFill>
              </a:rPr>
              <a:t>TA</a:t>
            </a:r>
            <a:endParaRPr kumimoji="1" lang="ko-Kore-KR" altLang="en-US" sz="900" b="1" dirty="0">
              <a:solidFill>
                <a:srgbClr val="0070C0"/>
              </a:solidFill>
            </a:endParaRPr>
          </a:p>
        </p:txBody>
      </p:sp>
      <p:sp>
        <p:nvSpPr>
          <p:cNvPr id="6" name="직사각형 5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D4F0C59D-6ED8-A7D5-E872-D3DA53B8EB0E}"/>
              </a:ext>
            </a:extLst>
          </p:cNvPr>
          <p:cNvSpPr/>
          <p:nvPr/>
        </p:nvSpPr>
        <p:spPr>
          <a:xfrm>
            <a:off x="847353" y="527797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756514936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18" name="Google Shape;118;p3"/>
          <p:cNvGraphicFramePr/>
          <p:nvPr>
            <p:extLst>
              <p:ext uri="{D42A27DB-BD31-4B8C-83A1-F6EECF244321}">
                <p14:modId xmlns:p14="http://schemas.microsoft.com/office/powerpoint/2010/main" val="3457008859"/>
              </p:ext>
            </p:extLst>
          </p:nvPr>
        </p:nvGraphicFramePr>
        <p:xfrm>
          <a:off x="4999" y="3494395"/>
          <a:ext cx="2328849" cy="2058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74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704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086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877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8326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44066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0"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/>
                        <a:t>GMP : STAR</a:t>
                      </a:r>
                      <a:endParaRPr sz="800" u="none" strike="noStrike" cap="none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ILS 32L/R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REBIT </a:t>
                      </a:r>
                      <a:r>
                        <a:rPr lang="en-US" sz="800" b="1" u="none" strike="noStrike" cap="none" dirty="0" err="1"/>
                        <a:t>xT</a:t>
                      </a:r>
                      <a:r>
                        <a:rPr lang="en-US" sz="800" b="1" u="none" strike="noStrike" cap="none" dirty="0"/>
                        <a:t>(</a:t>
                      </a:r>
                      <a:r>
                        <a:rPr lang="en-US" sz="800" b="1" u="none" strike="noStrike" cap="none" dirty="0" err="1"/>
                        <a:t>xQ</a:t>
                      </a:r>
                      <a:r>
                        <a:rPr lang="en-US" sz="800" b="1" u="none" strike="noStrike" cap="none" dirty="0"/>
                        <a:t>)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/>
                        <a:t>BUMSI</a:t>
                      </a:r>
                      <a:endParaRPr sz="458" b="1" u="none" strike="noStrike" cap="none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REBIT 170</a:t>
                      </a:r>
                      <a:endParaRPr sz="458" b="1" u="none" strike="noStrike" cap="none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ILS 14R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REBIT </a:t>
                      </a:r>
                      <a:r>
                        <a:rPr lang="en-US" sz="800" b="1" u="none" strike="noStrike" cap="none" dirty="0" err="1"/>
                        <a:t>xU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DOKDO</a:t>
                      </a:r>
                      <a:endParaRPr sz="458" b="1" u="none" strike="noStrike" cap="none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58" b="1" u="none" strike="noStrike" cap="none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2850">
                <a:tc rowSpan="2"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u="none" strike="noStrike" cap="none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rowSpan="2"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rowSpan="2"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</a:rPr>
                        <a:t>32L(41’)</a:t>
                      </a:r>
                      <a:endParaRPr sz="800" b="1" u="none" strike="noStrike" cap="none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</a:rPr>
                        <a:t>10499’</a:t>
                      </a:r>
                      <a:endParaRPr sz="800" b="1" u="none" strike="noStrike" cap="none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</a:rPr>
                        <a:t>14R(34’)</a:t>
                      </a:r>
                      <a:endParaRPr sz="800" b="1" u="none" strike="noStrike" cap="none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12850">
                <a:tc gridSpan="3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</a:rPr>
                        <a:t>32R(42’)</a:t>
                      </a:r>
                      <a:endParaRPr sz="800" b="1" u="none" strike="noStrike" cap="none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</a:rPr>
                        <a:t>11811’</a:t>
                      </a:r>
                      <a:endParaRPr sz="800" b="1" u="none" strike="noStrike" cap="none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</a:rPr>
                        <a:t>14L(38’)</a:t>
                      </a:r>
                      <a:endParaRPr sz="800" b="1" u="none" strike="noStrike" cap="none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56400"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FIX</a:t>
                      </a:r>
                      <a:endParaRPr/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KIP /8(RWY 32), YJU R271, P73 /2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01600">
                <a:tc gridSpan="6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32L : D3(6532’), E2(9117’), 32R : E1(6614’)</a:t>
                      </a:r>
                      <a:endParaRPr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14R : C1(6578’)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01600">
                <a:tc gridSpan="6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32L/R : 8 KIP L/G, 14R : LOC CAPT L/G</a:t>
                      </a:r>
                      <a:endParaRPr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FAF : Final Flap</a:t>
                      </a:r>
                      <a:endParaRPr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TWR -&gt; GND -&gt; APRON (All by ATC)</a:t>
                      </a:r>
                      <a:endParaRPr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Except RWY14R Landing (Until R)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graphicFrame>
        <p:nvGraphicFramePr>
          <p:cNvPr id="119" name="Google Shape;119;p3"/>
          <p:cNvGraphicFramePr/>
          <p:nvPr>
            <p:extLst>
              <p:ext uri="{D42A27DB-BD31-4B8C-83A1-F6EECF244321}">
                <p14:modId xmlns:p14="http://schemas.microsoft.com/office/powerpoint/2010/main" val="3610925021"/>
              </p:ext>
            </p:extLst>
          </p:nvPr>
        </p:nvGraphicFramePr>
        <p:xfrm>
          <a:off x="-2501" y="16505"/>
          <a:ext cx="2328850" cy="735969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22009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u="none" strike="noStrike" cap="none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ZBAA(PEK) 116ft</a:t>
                      </a:r>
                      <a:endParaRPr lang="en-US" altLang="ko-Kore-KR" sz="1300" u="none" strike="noStrike" cap="none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u="none" strike="noStrike" cap="none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RKSS(GMP) 59ft</a:t>
                      </a:r>
                      <a:endParaRPr lang="en-US" altLang="ko-Kore-KR" sz="1300" u="none" strike="noStrike" cap="none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40937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Air China Beijing 131.5</a:t>
                      </a:r>
                      <a:endParaRPr sz="1200"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dirty="0">
                          <a:solidFill>
                            <a:srgbClr val="FF0000"/>
                          </a:solidFill>
                        </a:rPr>
                        <a:t>DCL -30분, Voice -10</a:t>
                      </a:r>
                      <a:r>
                        <a:rPr lang="ko-KR" altLang="en-US" sz="700" dirty="0">
                          <a:solidFill>
                            <a:srgbClr val="FF0000"/>
                          </a:solidFill>
                        </a:rPr>
                        <a:t>분</a:t>
                      </a:r>
                      <a:endParaRPr lang="en-US" altLang="ko-KR" sz="700" dirty="0">
                        <a:solidFill>
                          <a:srgbClr val="FF0000"/>
                        </a:solidFill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700" dirty="0">
                          <a:solidFill>
                            <a:srgbClr val="FF0000"/>
                          </a:solidFill>
                        </a:rPr>
                        <a:t>(COBT/STD 15</a:t>
                      </a:r>
                      <a:r>
                        <a:rPr lang="ko-KR" altLang="en-US" sz="700" dirty="0">
                          <a:solidFill>
                            <a:srgbClr val="FF0000"/>
                          </a:solidFill>
                        </a:rPr>
                        <a:t>분 차이 </a:t>
                      </a:r>
                      <a:r>
                        <a:rPr lang="en-US" altLang="ko-KR" sz="700" dirty="0">
                          <a:solidFill>
                            <a:srgbClr val="FF0000"/>
                          </a:solidFill>
                        </a:rPr>
                        <a:t>CTC Comm)</a:t>
                      </a:r>
                      <a:endParaRPr sz="700" dirty="0">
                        <a:solidFill>
                          <a:srgbClr val="FF0000"/>
                        </a:solidFill>
                      </a:endParaRPr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GMP 131.15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120" name="Google Shape;120;p3"/>
          <p:cNvSpPr txBox="1"/>
          <p:nvPr/>
        </p:nvSpPr>
        <p:spPr>
          <a:xfrm>
            <a:off x="-35514" y="691771"/>
            <a:ext cx="1666195" cy="4924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Rwy</a:t>
            </a:r>
            <a:r>
              <a:rPr lang="en-US" sz="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32L </a:t>
            </a:r>
            <a:r>
              <a:rPr lang="en-US" sz="1000" b="1" dirty="0">
                <a:solidFill>
                  <a:srgbClr val="C00000"/>
                </a:solidFill>
                <a:latin typeface="Calibri"/>
                <a:ea typeface="Calibri"/>
                <a:cs typeface="Calibri"/>
                <a:sym typeface="Calibri"/>
              </a:rPr>
              <a:t>Landing</a:t>
            </a:r>
            <a:r>
              <a:rPr lang="en-US" sz="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 </a:t>
            </a:r>
            <a:endParaRPr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(06:00L~0900L / 12:00L~15:00L /18:00L~21:00L)</a:t>
            </a:r>
            <a:endParaRPr dirty="0"/>
          </a:p>
        </p:txBody>
      </p:sp>
      <p:sp>
        <p:nvSpPr>
          <p:cNvPr id="5" name="직사각형 4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9524A9E4-C510-C0BA-5B92-621F24258317}"/>
              </a:ext>
            </a:extLst>
          </p:cNvPr>
          <p:cNvSpPr/>
          <p:nvPr/>
        </p:nvSpPr>
        <p:spPr>
          <a:xfrm>
            <a:off x="1651787" y="3110868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graphicFrame>
        <p:nvGraphicFramePr>
          <p:cNvPr id="2" name="Google Shape;117;p3">
            <a:extLst>
              <a:ext uri="{FF2B5EF4-FFF2-40B4-BE49-F238E27FC236}">
                <a16:creationId xmlns:a16="http://schemas.microsoft.com/office/drawing/2014/main" id="{75E8D5F0-0A96-9573-9A14-052BC186AC3C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364734910"/>
              </p:ext>
            </p:extLst>
          </p:nvPr>
        </p:nvGraphicFramePr>
        <p:xfrm>
          <a:off x="-4046" y="1139860"/>
          <a:ext cx="2335723" cy="179257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4246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670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129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3107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5603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1400">
                  <a:extLst>
                    <a:ext uri="{9D8B030D-6E8A-4147-A177-3AD203B41FA5}">
                      <a16:colId xmlns:a16="http://schemas.microsoft.com/office/drawing/2014/main" val="2940550374"/>
                    </a:ext>
                  </a:extLst>
                </a:gridCol>
                <a:gridCol w="614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99169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73273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211274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412058">
                  <a:extLst>
                    <a:ext uri="{9D8B030D-6E8A-4147-A177-3AD203B41FA5}">
                      <a16:colId xmlns:a16="http://schemas.microsoft.com/office/drawing/2014/main" val="448940902"/>
                    </a:ext>
                  </a:extLst>
                </a:gridCol>
              </a:tblGrid>
              <a:tr h="0">
                <a:tc gridSpan="1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PEK : SID (NADP 1)  </a:t>
                      </a:r>
                      <a:r>
                        <a:rPr lang="en-US" sz="800" u="none" strike="noStrike" cap="none" dirty="0">
                          <a:solidFill>
                            <a:schemeClr val="accent4"/>
                          </a:solidFill>
                        </a:rPr>
                        <a:t>RW36R/18L </a:t>
                      </a:r>
                      <a:r>
                        <a:rPr lang="en-US" sz="800" u="none" strike="noStrike" cap="none" dirty="0" err="1">
                          <a:solidFill>
                            <a:schemeClr val="accent4"/>
                          </a:solidFill>
                        </a:rPr>
                        <a:t>Intersec</a:t>
                      </a:r>
                      <a:r>
                        <a:rPr lang="en-US" sz="800" u="none" strike="noStrike" cap="none" dirty="0">
                          <a:solidFill>
                            <a:schemeClr val="accent4"/>
                          </a:solidFill>
                        </a:rPr>
                        <a:t> T/O W2, W7</a:t>
                      </a:r>
                    </a:p>
                  </a:txBody>
                  <a:tcPr marL="36000" marR="7200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u="none" strike="noStrike" cap="none" dirty="0"/>
                        <a:t>36R</a:t>
                      </a:r>
                      <a:endParaRPr lang="en-US" sz="800" b="1" u="none" strike="noStrike" cap="none"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/>
                        <a:t>(01)</a:t>
                      </a:r>
                      <a:endParaRPr sz="800" b="0" u="none" strike="noStrike" cap="none" dirty="0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MUGLO </a:t>
                      </a:r>
                      <a:r>
                        <a:rPr lang="en-US" sz="800" b="1" u="none" strike="noStrike" cap="none" dirty="0" err="1">
                          <a:solidFill>
                            <a:srgbClr val="0070C0"/>
                          </a:solidFill>
                        </a:rPr>
                        <a:t>xWD</a:t>
                      </a: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(</a:t>
                      </a:r>
                      <a:r>
                        <a:rPr lang="en-US" sz="800" b="1" u="none" strike="noStrike" cap="none" dirty="0" err="1">
                          <a:solidFill>
                            <a:srgbClr val="0070C0"/>
                          </a:solidFill>
                        </a:rPr>
                        <a:t>xYD</a:t>
                      </a: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359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359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ATIS/DCL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900m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359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18L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/>
                        <a:t>(19)</a:t>
                      </a:r>
                      <a:endParaRPr sz="800" b="0" u="none" strike="noStrike" cap="none" dirty="0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MUGLO </a:t>
                      </a:r>
                      <a:r>
                        <a:rPr lang="en-US" altLang="ko-Kore-KR" sz="800" b="1" u="none" strike="noStrike" cap="none" dirty="0" err="1">
                          <a:solidFill>
                            <a:srgbClr val="0070C0"/>
                          </a:solidFill>
                        </a:rPr>
                        <a:t>xZD</a:t>
                      </a:r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(</a:t>
                      </a:r>
                      <a:r>
                        <a:rPr lang="en-US" altLang="ko-Kore-KR" sz="800" b="1" u="none" strike="noStrike" cap="none" dirty="0" err="1">
                          <a:solidFill>
                            <a:srgbClr val="0070C0"/>
                          </a:solidFill>
                        </a:rPr>
                        <a:t>xYD</a:t>
                      </a:r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179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179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ATIS/DCL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900m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179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5700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PEK 114.7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36R 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111.55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18L 109.3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01 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108.5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19 108.9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5700">
                <a:tc gridSpan="1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u="none" strike="noStrike" cap="none" dirty="0">
                          <a:solidFill>
                            <a:schemeClr val="tx1"/>
                          </a:solidFill>
                        </a:rPr>
                        <a:t>36R : PEK 325/11, 36L : PEK 326/13, 01 : PEK 323/9 R124</a:t>
                      </a:r>
                      <a:endParaRPr sz="800" b="0" u="none" strike="noStrike" cap="none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186816789"/>
                  </a:ext>
                </a:extLst>
              </a:tr>
              <a:tr h="1016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36R(98’) 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01(84’)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12467’</a:t>
                      </a:r>
                      <a:endParaRPr sz="800" b="1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18L(110’)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19(94’)</a:t>
                      </a:r>
                      <a:endParaRPr sz="800" b="0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5700">
                <a:tc gridSpan="1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COBT from ATIS “Enroute”, Bad </a:t>
                      </a:r>
                      <a:r>
                        <a:rPr lang="en-US" sz="800" b="1" u="none" strike="noStrike" cap="none" dirty="0" err="1">
                          <a:solidFill>
                            <a:srgbClr val="0070C0"/>
                          </a:solidFill>
                        </a:rPr>
                        <a:t>Wx</a:t>
                      </a: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 DOTRA SID</a:t>
                      </a:r>
                      <a:endParaRPr b="1" dirty="0">
                        <a:solidFill>
                          <a:srgbClr val="0070C0"/>
                        </a:solidFill>
                      </a:endParaRP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8236DCDA-A924-2E89-F3AC-73E7B1A264ED}"/>
              </a:ext>
            </a:extLst>
          </p:cNvPr>
          <p:cNvSpPr txBox="1"/>
          <p:nvPr/>
        </p:nvSpPr>
        <p:spPr>
          <a:xfrm>
            <a:off x="617160" y="2835053"/>
            <a:ext cx="1412566" cy="855482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124.4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PEK APP 120.6 – PEK 125.6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DLC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123.2 – 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132.95</a:t>
            </a:r>
            <a:endParaRPr kumimoji="1" lang="en-US" altLang="ko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ICN 132.8 – APP 119.75</a:t>
            </a:r>
          </a:p>
          <a:p>
            <a:pPr>
              <a:lnSpc>
                <a:spcPct val="150000"/>
              </a:lnSpc>
            </a:pPr>
            <a:endParaRPr kumimoji="1" lang="en-US" altLang="ko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pic>
        <p:nvPicPr>
          <p:cNvPr id="7" name="그림 6" descr="텍스트, 지도, 도표, 라인이(가) 표시된 사진&#10;&#10;자동 생성된 설명">
            <a:extLst>
              <a:ext uri="{FF2B5EF4-FFF2-40B4-BE49-F238E27FC236}">
                <a16:creationId xmlns:a16="http://schemas.microsoft.com/office/drawing/2014/main" id="{BFC308FA-B01C-9CC6-AA03-F79FBDF3286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2919900"/>
            <a:ext cx="700981" cy="582267"/>
          </a:xfrm>
          <a:prstGeom prst="rect">
            <a:avLst/>
          </a:prstGeom>
        </p:spPr>
      </p:pic>
      <p:pic>
        <p:nvPicPr>
          <p:cNvPr id="3" name="그림 2" descr="텍스트, 시계이(가) 표시된 사진&#10;&#10;자동 생성된 설명">
            <a:extLst>
              <a:ext uri="{FF2B5EF4-FFF2-40B4-BE49-F238E27FC236}">
                <a16:creationId xmlns:a16="http://schemas.microsoft.com/office/drawing/2014/main" id="{3EEA343B-3551-68D7-E68E-46FF869A3DE5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602416" y="660946"/>
            <a:ext cx="492402" cy="492402"/>
          </a:xfrm>
          <a:prstGeom prst="rect">
            <a:avLst/>
          </a:prstGeom>
        </p:spPr>
      </p:pic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6D93B519-A7D3-A1D5-6DBB-ACF26C94319C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8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983451991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6EDA6E30-D248-DE64-F79D-540912ED830D}"/>
              </a:ext>
            </a:extLst>
          </p:cNvPr>
          <p:cNvSpPr txBox="1"/>
          <p:nvPr/>
        </p:nvSpPr>
        <p:spPr>
          <a:xfrm>
            <a:off x="551431" y="3091174"/>
            <a:ext cx="1851789" cy="532316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125.15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134.17 - 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TKO 133.8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KIX RDR 120.85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KIX APP 120.25 </a:t>
            </a:r>
          </a:p>
        </p:txBody>
      </p:sp>
      <p:graphicFrame>
        <p:nvGraphicFramePr>
          <p:cNvPr id="106" name="Google Shape;106;p2"/>
          <p:cNvGraphicFramePr/>
          <p:nvPr>
            <p:extLst>
              <p:ext uri="{D42A27DB-BD31-4B8C-83A1-F6EECF244321}">
                <p14:modId xmlns:p14="http://schemas.microsoft.com/office/powerpoint/2010/main" val="3467645227"/>
              </p:ext>
            </p:extLst>
          </p:nvPr>
        </p:nvGraphicFramePr>
        <p:xfrm>
          <a:off x="0" y="1047637"/>
          <a:ext cx="2335800" cy="200857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62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6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849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97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082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277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75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315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37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3525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GMP : SID (NADP 1)</a:t>
                      </a:r>
                      <a:endParaRPr sz="800" u="none" strike="noStrike" cap="none" dirty="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 row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/>
                        <a:t>32L/R</a:t>
                      </a:r>
                      <a:endParaRPr sz="800" b="1" u="none" strike="noStrike" cap="none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EGOBA </a:t>
                      </a:r>
                      <a:r>
                        <a:rPr lang="en-US" sz="800" b="1" u="none" strike="noStrike" cap="none" dirty="0" err="1">
                          <a:solidFill>
                            <a:srgbClr val="0070C0"/>
                          </a:solidFill>
                        </a:rPr>
                        <a:t>xT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C00000"/>
                          </a:solidFill>
                        </a:rPr>
                        <a:t>324</a:t>
                      </a:r>
                      <a:endParaRPr sz="458" b="1" u="none" strike="noStrike" cap="none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/>
                        <a:t>324</a:t>
                      </a:r>
                      <a:endParaRPr sz="800" b="1" u="none" strike="noStrike" cap="none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 u="none" strike="noStrike" cap="none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C00000"/>
                          </a:solidFill>
                        </a:rPr>
                        <a:t>324</a:t>
                      </a:r>
                      <a:endParaRPr sz="800" b="1" u="none" strike="noStrike" cap="none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(EGOBA </a:t>
                      </a:r>
                      <a:r>
                        <a:rPr lang="en-US" sz="800" u="none" strike="noStrike" cap="none" dirty="0" err="1"/>
                        <a:t>xQ</a:t>
                      </a:r>
                      <a:r>
                        <a:rPr lang="en-US" sz="800" u="none" strike="noStrike" cap="none" dirty="0"/>
                        <a:t>)</a:t>
                      </a:r>
                      <a:endParaRPr sz="800" u="none" strike="noStrike" cap="none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>
                          <a:solidFill>
                            <a:srgbClr val="C00000"/>
                          </a:solidFill>
                        </a:rPr>
                        <a:t>324</a:t>
                      </a:r>
                      <a:endParaRPr sz="458" u="none" strike="noStrike" cap="none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/>
                        <a:t>324</a:t>
                      </a:r>
                      <a:endParaRPr sz="800" u="none" strike="noStrike" cap="none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u="none" strike="noStrike" cap="none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>
                          <a:solidFill>
                            <a:srgbClr val="C00000"/>
                          </a:solidFill>
                        </a:rPr>
                        <a:t>324</a:t>
                      </a:r>
                      <a:endParaRPr sz="800" u="none" strike="noStrike" cap="none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/>
                        <a:t>14L/R</a:t>
                      </a:r>
                      <a:endParaRPr sz="800" b="1" u="none" strike="noStrike" cap="none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EGOBA </a:t>
                      </a:r>
                      <a:r>
                        <a:rPr lang="en-US" sz="800" b="1" u="none" strike="noStrike" cap="none" dirty="0" err="1">
                          <a:solidFill>
                            <a:srgbClr val="0070C0"/>
                          </a:solidFill>
                        </a:rPr>
                        <a:t>xU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C00000"/>
                          </a:solidFill>
                        </a:rPr>
                        <a:t>144</a:t>
                      </a:r>
                      <a:endParaRPr sz="458" b="1" u="none" strike="noStrike" cap="none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/>
                        <a:t>144</a:t>
                      </a:r>
                      <a:endParaRPr sz="800" b="1" u="none" strike="noStrike" cap="none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70C0"/>
                          </a:solidFill>
                        </a:rPr>
                        <a:t>6000</a:t>
                      </a:r>
                      <a:endParaRPr sz="800" b="1" u="none" strike="noStrike" cap="none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C00000"/>
                          </a:solidFill>
                        </a:rPr>
                        <a:t>144</a:t>
                      </a:r>
                      <a:endParaRPr sz="800" b="1" u="none" strike="noStrike" cap="none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57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70C0"/>
                          </a:solidFill>
                        </a:rPr>
                        <a:t>KIP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70C0"/>
                          </a:solidFill>
                        </a:rPr>
                        <a:t>113.6</a:t>
                      </a:r>
                      <a:endParaRPr sz="800" b="1" u="none" strike="noStrike" cap="none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32L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108.3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32R 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110.7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14L 109.9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14R 108.7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570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/>
                        <a:t>32L/R : EO32L/R, R225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/>
                        <a:t>YJU R271</a:t>
                      </a:r>
                      <a:endParaRPr sz="800" u="none" strike="noStrike" cap="none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/>
                        <a:t>14L/R : EO14L/R, R220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/>
                        <a:t>P73 /2</a:t>
                      </a:r>
                      <a:endParaRPr sz="800" u="none" strike="noStrike" cap="none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01600">
                <a:tc rowSpan="2"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u="none" strike="noStrike" cap="none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rowSpan="2"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32L(41’)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10499’</a:t>
                      </a:r>
                      <a:endParaRPr sz="800" b="1" u="none" strike="noStrike" cap="none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14R(34’)</a:t>
                      </a:r>
                      <a:endParaRPr sz="800" b="1" u="none" strike="noStrike" cap="none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01600">
                <a:tc gridSpan="2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32R(42’)</a:t>
                      </a:r>
                      <a:endParaRPr sz="800" b="1" u="none" strike="noStrike" cap="none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11811’</a:t>
                      </a:r>
                      <a:endParaRPr sz="800" b="1" u="none" strike="noStrike" cap="none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14L(38’)</a:t>
                      </a:r>
                      <a:endParaRPr sz="800" b="1" u="none" strike="noStrike" cap="none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15700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/>
                        <a:t>APRON(130.875) -&gt; GND(121.9)  -&gt; TWR (All by ATC)  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graphicFrame>
        <p:nvGraphicFramePr>
          <p:cNvPr id="108" name="Google Shape;108;p2"/>
          <p:cNvGraphicFramePr/>
          <p:nvPr>
            <p:extLst>
              <p:ext uri="{D42A27DB-BD31-4B8C-83A1-F6EECF244321}">
                <p14:modId xmlns:p14="http://schemas.microsoft.com/office/powerpoint/2010/main" val="2981840730"/>
              </p:ext>
            </p:extLst>
          </p:nvPr>
        </p:nvGraphicFramePr>
        <p:xfrm>
          <a:off x="-2501" y="16503"/>
          <a:ext cx="2328850" cy="55903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3749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u="none" strike="noStrike" cap="none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RKSS(GMP) 59ft</a:t>
                      </a:r>
                      <a:endParaRPr lang="en-US" altLang="ko-Kore-KR" sz="1300" u="none" strike="noStrike" cap="none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u="none" strike="noStrike" cap="none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RJBB(KIX) 17ft</a:t>
                      </a:r>
                      <a:endParaRPr sz="1300" u="none" strike="noStrike" cap="none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5286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u="none" strike="noStrike" cap="none"/>
                        <a:t>KE GMP 131.15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600" u="none" strike="noStrike" cap="none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-15분 가능 TOBT 5분 차이시 CTC Comm</a:t>
                      </a:r>
                      <a:endParaRPr sz="800" u="none" strike="noStrike" cap="none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72000" marR="72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u="none" strike="noStrike" cap="none" dirty="0"/>
                        <a:t>KE KIX 130.95</a:t>
                      </a:r>
                      <a:endParaRPr sz="900" u="none" strike="noStrike" cap="none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109" name="Google Shape;109;p2"/>
          <p:cNvSpPr txBox="1"/>
          <p:nvPr/>
        </p:nvSpPr>
        <p:spPr>
          <a:xfrm>
            <a:off x="649003" y="585439"/>
            <a:ext cx="1666195" cy="4924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Rwy</a:t>
            </a:r>
            <a:r>
              <a:rPr lang="en-US" sz="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32R </a:t>
            </a:r>
            <a:r>
              <a:rPr lang="en-US" sz="1000" b="1" dirty="0">
                <a:solidFill>
                  <a:srgbClr val="C00000"/>
                </a:solidFill>
                <a:latin typeface="Calibri"/>
                <a:ea typeface="Calibri"/>
                <a:cs typeface="Calibri"/>
                <a:sym typeface="Calibri"/>
              </a:rPr>
              <a:t>Takeoff</a:t>
            </a:r>
            <a:r>
              <a:rPr lang="en-US" sz="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 </a:t>
            </a:r>
            <a:endParaRPr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(06:00L~0900L / 12:00L~15:00L /18:00L~21:00L)</a:t>
            </a:r>
            <a:endParaRPr dirty="0"/>
          </a:p>
        </p:txBody>
      </p:sp>
      <p:graphicFrame>
        <p:nvGraphicFramePr>
          <p:cNvPr id="2" name="Google Shape;292;p18">
            <a:extLst>
              <a:ext uri="{FF2B5EF4-FFF2-40B4-BE49-F238E27FC236}">
                <a16:creationId xmlns:a16="http://schemas.microsoft.com/office/drawing/2014/main" id="{53B7324E-CA86-C6F7-B540-2D52A34E95EA}"/>
              </a:ext>
            </a:extLst>
          </p:cNvPr>
          <p:cNvGraphicFramePr/>
          <p:nvPr/>
        </p:nvGraphicFramePr>
        <p:xfrm>
          <a:off x="4472" y="3705686"/>
          <a:ext cx="2331400" cy="183128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5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2850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KIX : STAR (SAEKI 170, RANDY 150)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52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06L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ALISA B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BERRY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ILS Y 06L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05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06R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ALISA A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ALLAN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ILS Y 06R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24L/R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ALISA C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MAYAH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ILS Z 24L/R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680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06L(15’)    13123’    24R(23’)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1680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06R(5’)      11483’     24L(12’)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90225">
                <a:tc gridSpan="4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06L : B8(5160’), B6(6751’), 24R : B7(5318’), B9(6751’)</a:t>
                      </a:r>
                      <a:endParaRPr sz="80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06R : A7(5137’), A6(6938’), 24L : A8(5269’), A9(6976’)</a:t>
                      </a:r>
                      <a:r>
                        <a:rPr lang="en-US" sz="800">
                          <a:solidFill>
                            <a:schemeClr val="dk1"/>
                          </a:solidFill>
                        </a:rPr>
                        <a:t> 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90225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RWY06 : After 2500ft L/G DN, After 1500ft L/D FLAP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TAXI RTE 1, 2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pic>
        <p:nvPicPr>
          <p:cNvPr id="3" name="그림 2">
            <a:extLst>
              <a:ext uri="{FF2B5EF4-FFF2-40B4-BE49-F238E27FC236}">
                <a16:creationId xmlns:a16="http://schemas.microsoft.com/office/drawing/2014/main" id="{746A920D-DCD8-D4F8-94B9-AFF91EB1C56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8563" y="602614"/>
            <a:ext cx="451728" cy="451728"/>
          </a:xfrm>
          <a:prstGeom prst="rect">
            <a:avLst/>
          </a:prstGeom>
        </p:spPr>
      </p:pic>
      <p:pic>
        <p:nvPicPr>
          <p:cNvPr id="6" name="그림 5" descr="텍스트, 지도, 폰트, 도표이(가) 표시된 사진&#10;&#10;자동 생성된 설명">
            <a:extLst>
              <a:ext uri="{FF2B5EF4-FFF2-40B4-BE49-F238E27FC236}">
                <a16:creationId xmlns:a16="http://schemas.microsoft.com/office/drawing/2014/main" id="{33C8D53E-31DA-A0DB-5A3F-9E3DE67C2E8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2501" y="3091174"/>
            <a:ext cx="605879" cy="604595"/>
          </a:xfrm>
          <a:prstGeom prst="rect">
            <a:avLst/>
          </a:prstGeom>
        </p:spPr>
      </p:pic>
      <p:sp>
        <p:nvSpPr>
          <p:cNvPr id="7" name="직사각형 6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1EBCE2EA-A0C1-6663-F76F-73FFEFF99A68}"/>
              </a:ext>
            </a:extLst>
          </p:cNvPr>
          <p:cNvSpPr/>
          <p:nvPr/>
        </p:nvSpPr>
        <p:spPr>
          <a:xfrm>
            <a:off x="1622852" y="333344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7" action="ppaction://hlinksldjump"/>
              </a:rPr>
              <a:t>Japan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1034726D-96DF-678B-60CF-56E0F8552844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70C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8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0070C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357115709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18" name="Google Shape;118;p3"/>
          <p:cNvGraphicFramePr/>
          <p:nvPr>
            <p:extLst>
              <p:ext uri="{D42A27DB-BD31-4B8C-83A1-F6EECF244321}">
                <p14:modId xmlns:p14="http://schemas.microsoft.com/office/powerpoint/2010/main" val="1879088562"/>
              </p:ext>
            </p:extLst>
          </p:nvPr>
        </p:nvGraphicFramePr>
        <p:xfrm>
          <a:off x="4999" y="3494395"/>
          <a:ext cx="2321350" cy="2058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7346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672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052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702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81666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4194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0"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/>
                        <a:t>GMP : STAR</a:t>
                      </a:r>
                      <a:endParaRPr sz="800" u="none" strike="noStrike" cap="none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ILS 32L/R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GUKDO </a:t>
                      </a:r>
                      <a:r>
                        <a:rPr lang="en-US" sz="800" b="1" u="none" strike="noStrike" cap="none" dirty="0" err="1"/>
                        <a:t>xT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/>
                        <a:t>BUMSI</a:t>
                      </a:r>
                      <a:endParaRPr sz="458" b="1" u="none" strike="noStrike" cap="none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/>
                        <a:t>OLMEN 160</a:t>
                      </a:r>
                      <a:endParaRPr sz="458" b="1" u="none" strike="noStrike" cap="none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ILS 14R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GUKDO </a:t>
                      </a:r>
                      <a:r>
                        <a:rPr lang="en-US" sz="800" b="1" u="none" strike="noStrike" cap="none" dirty="0" err="1"/>
                        <a:t>xU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/>
                        <a:t>DOKDO</a:t>
                      </a:r>
                      <a:endParaRPr sz="458" b="1" u="none" strike="noStrike" cap="none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/>
                        <a:t>OLMEN 160</a:t>
                      </a:r>
                      <a:endParaRPr sz="458" b="1" u="none" strike="noStrike" cap="none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2850">
                <a:tc rowSpan="2"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u="none" strike="noStrike" cap="none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rowSpan="2"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rowSpan="2"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</a:rPr>
                        <a:t>32L(41’)</a:t>
                      </a:r>
                      <a:endParaRPr sz="800" b="1" u="none" strike="noStrike" cap="none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</a:rPr>
                        <a:t>10499’</a:t>
                      </a:r>
                      <a:endParaRPr sz="800" b="1" u="none" strike="noStrike" cap="none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</a:rPr>
                        <a:t>14R(34’)</a:t>
                      </a:r>
                      <a:endParaRPr sz="800" b="1" u="none" strike="noStrike" cap="none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12850">
                <a:tc gridSpan="3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</a:rPr>
                        <a:t>32R(42’)</a:t>
                      </a:r>
                      <a:endParaRPr sz="800" b="1" u="none" strike="noStrike" cap="none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</a:rPr>
                        <a:t>11811’</a:t>
                      </a:r>
                      <a:endParaRPr sz="800" b="1" u="none" strike="noStrike" cap="none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</a:rPr>
                        <a:t>14L(38’)</a:t>
                      </a:r>
                      <a:endParaRPr sz="800" b="1" u="none" strike="noStrike" cap="none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56400"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FIX</a:t>
                      </a:r>
                      <a:endParaRPr/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KIP /8(RWY 32), YJU R271, P73 /2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01600">
                <a:tc gridSpan="6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32L : D3(6532’), E2(9117’), 32R : E1(6614’)</a:t>
                      </a:r>
                      <a:endParaRPr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14R : C1(6578’)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01600">
                <a:tc gridSpan="6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32L/R : 8 KIP L/G, 14R : LOC CAPT L/G</a:t>
                      </a:r>
                      <a:endParaRPr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FAF : Final Flap</a:t>
                      </a:r>
                      <a:endParaRPr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TWR -&gt; GND -&gt; APRON (All by ATC)</a:t>
                      </a:r>
                      <a:endParaRPr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Except RWY14R Landing (Until R)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graphicFrame>
        <p:nvGraphicFramePr>
          <p:cNvPr id="119" name="Google Shape;119;p3"/>
          <p:cNvGraphicFramePr/>
          <p:nvPr>
            <p:extLst>
              <p:ext uri="{D42A27DB-BD31-4B8C-83A1-F6EECF244321}">
                <p14:modId xmlns:p14="http://schemas.microsoft.com/office/powerpoint/2010/main" val="1029270949"/>
              </p:ext>
            </p:extLst>
          </p:nvPr>
        </p:nvGraphicFramePr>
        <p:xfrm>
          <a:off x="-2501" y="16504"/>
          <a:ext cx="2328850" cy="57461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u="none" strike="noStrike" cap="none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RJBB(KIX) 17ft</a:t>
                      </a:r>
                      <a:endParaRPr lang="en-US" altLang="ko-Kore-KR" sz="1300" u="none" strike="noStrike" cap="none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u="none" strike="noStrike" cap="none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RKSS(GMP) 59ft</a:t>
                      </a:r>
                      <a:endParaRPr lang="en-US" altLang="ko-Kore-KR" sz="1300" u="none" strike="noStrike" cap="none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KIX 130.95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dirty="0">
                          <a:solidFill>
                            <a:srgbClr val="FF0000"/>
                          </a:solidFill>
                        </a:rPr>
                        <a:t>DCL -15분</a:t>
                      </a:r>
                      <a:endParaRPr sz="700" dirty="0">
                        <a:solidFill>
                          <a:srgbClr val="FF0000"/>
                        </a:solidFill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GMP 131.15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120" name="Google Shape;120;p3"/>
          <p:cNvSpPr txBox="1"/>
          <p:nvPr/>
        </p:nvSpPr>
        <p:spPr>
          <a:xfrm>
            <a:off x="-35514" y="602871"/>
            <a:ext cx="1666195" cy="4924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Rwy</a:t>
            </a:r>
            <a:r>
              <a:rPr lang="en-US" sz="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32L </a:t>
            </a:r>
            <a:r>
              <a:rPr lang="en-US" sz="1000" b="1" dirty="0">
                <a:solidFill>
                  <a:srgbClr val="C00000"/>
                </a:solidFill>
                <a:latin typeface="Calibri"/>
                <a:ea typeface="Calibri"/>
                <a:cs typeface="Calibri"/>
                <a:sym typeface="Calibri"/>
              </a:rPr>
              <a:t>Landing</a:t>
            </a:r>
            <a:r>
              <a:rPr lang="en-US" sz="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 </a:t>
            </a:r>
            <a:endParaRPr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(06:00L~0900L / 12:00L~15:00L /18:00L~21:00L)</a:t>
            </a:r>
            <a:endParaRPr dirty="0"/>
          </a:p>
        </p:txBody>
      </p:sp>
      <p:graphicFrame>
        <p:nvGraphicFramePr>
          <p:cNvPr id="3" name="Google Shape;300;p19">
            <a:extLst>
              <a:ext uri="{FF2B5EF4-FFF2-40B4-BE49-F238E27FC236}">
                <a16:creationId xmlns:a16="http://schemas.microsoft.com/office/drawing/2014/main" id="{322683CB-72F3-2968-45AE-8ECEC61EFA8C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632279940"/>
              </p:ext>
            </p:extLst>
          </p:nvPr>
        </p:nvGraphicFramePr>
        <p:xfrm>
          <a:off x="0" y="1065982"/>
          <a:ext cx="2332950" cy="174265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74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04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9992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2757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105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159300">
                <a:tc gridSpan="9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KIX : SID – SOUJA tx (NADP 1)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5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06L/R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rowSpan="2"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HELEN x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- SOUJA tx</a:t>
                      </a:r>
                      <a:endParaRPr sz="800"/>
                    </a:p>
                  </a:txBody>
                  <a:tcPr marL="36000" marR="36000" marT="36000" marB="36000" anchor="ctr"/>
                </a:tc>
                <a:tc rowSpan="2"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059</a:t>
                      </a:r>
                      <a:endParaRPr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059</a:t>
                      </a:r>
                      <a:endParaRPr sz="458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(9000)</a:t>
                      </a:r>
                      <a:endParaRPr sz="458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059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24L/R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239</a:t>
                      </a:r>
                      <a:endParaRPr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239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b="1"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(9000)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239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KIE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111.6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06L 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108.7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06R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24L 110.7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24R 108.5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4775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06L(15’)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24R(23’)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4477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06R (5’)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24L (12’)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44775">
                <a:tc gridSpan="9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APU Start, TAXI RTE 1, 2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pic>
        <p:nvPicPr>
          <p:cNvPr id="4" name="그림 3" descr="텍스트, 시계이(가) 표시된 사진&#10;&#10;자동 생성된 설명">
            <a:extLst>
              <a:ext uri="{FF2B5EF4-FFF2-40B4-BE49-F238E27FC236}">
                <a16:creationId xmlns:a16="http://schemas.microsoft.com/office/drawing/2014/main" id="{A2514967-B32E-DB96-72C0-5C07E4BA68F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02416" y="584746"/>
            <a:ext cx="492402" cy="492402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5D76042E-1391-3EFF-D963-B4B8BE948E4D}"/>
              </a:ext>
            </a:extLst>
          </p:cNvPr>
          <p:cNvSpPr txBox="1"/>
          <p:nvPr/>
        </p:nvSpPr>
        <p:spPr>
          <a:xfrm>
            <a:off x="-20938" y="2762423"/>
            <a:ext cx="1002197" cy="693899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119.2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TKO 132.7 – 133.8 </a:t>
            </a:r>
            <a:endParaRPr kumimoji="1" lang="en-US" altLang="ko-Kore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 120.57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APP 119.75</a:t>
            </a:r>
            <a:endParaRPr kumimoji="1" lang="ko-Kore-KR" altLang="en-US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sp>
        <p:nvSpPr>
          <p:cNvPr id="5" name="직사각형 4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8A5F609F-4F3D-A2FD-A1FC-659A46590E91}"/>
              </a:ext>
            </a:extLst>
          </p:cNvPr>
          <p:cNvSpPr/>
          <p:nvPr/>
        </p:nvSpPr>
        <p:spPr>
          <a:xfrm>
            <a:off x="1622852" y="3067222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/>
              </a:rPr>
              <a:t>Japan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952E158E-CC1B-0371-EDB5-08EB94C0DA87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825334663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4" name="Google Shape;194;p8"/>
          <p:cNvGraphicFramePr/>
          <p:nvPr>
            <p:extLst>
              <p:ext uri="{D42A27DB-BD31-4B8C-83A1-F6EECF244321}">
                <p14:modId xmlns:p14="http://schemas.microsoft.com/office/powerpoint/2010/main" val="2947711465"/>
              </p:ext>
            </p:extLst>
          </p:nvPr>
        </p:nvGraphicFramePr>
        <p:xfrm>
          <a:off x="0" y="639107"/>
          <a:ext cx="2335800" cy="149881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62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6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9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53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978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082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271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81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3352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3525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CJU : SID (NADP 1)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07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LIMDI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xE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066</a:t>
                      </a:r>
                      <a:endParaRPr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066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9000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066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25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KAMIT xW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246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246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246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5700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YDM 109.0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07 109.9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25 111.3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5700">
                <a:tc gridSpan="5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07 : NONE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5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25 : YDM246/3, R290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016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07(87’)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10433’</a:t>
                      </a:r>
                      <a:endParaRPr sz="800" b="1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25(76’)</a:t>
                      </a:r>
                      <a:endParaRPr sz="800" b="1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5700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07 : Passing G4 CTC TWR 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25 : 31 Holding PSN on P, E1,2,3 CTC TWR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196" name="Google Shape;196;p8"/>
          <p:cNvGraphicFramePr/>
          <p:nvPr>
            <p:extLst>
              <p:ext uri="{D42A27DB-BD31-4B8C-83A1-F6EECF244321}">
                <p14:modId xmlns:p14="http://schemas.microsoft.com/office/powerpoint/2010/main" val="2467035066"/>
              </p:ext>
            </p:extLst>
          </p:nvPr>
        </p:nvGraphicFramePr>
        <p:xfrm>
          <a:off x="-2501" y="16504"/>
          <a:ext cx="2328850" cy="62454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u="none" strike="noStrike" cap="none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RKPC(CJU) 119ft</a:t>
                      </a:r>
                      <a:endParaRPr lang="en-US" altLang="ko-Kore-KR" sz="1300" u="none" strike="noStrike" cap="none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ZBAA(PEK) 116ft</a:t>
                      </a:r>
                      <a:endParaRPr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KE CJU 129.4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700"/>
                        <a:buFont typeface="Calibri"/>
                        <a:buNone/>
                      </a:pPr>
                      <a:r>
                        <a:rPr lang="en-US" sz="700" b="0" i="0" u="none" strike="noStrike" cap="none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-10분</a:t>
                      </a:r>
                      <a:endParaRPr sz="700" b="0" i="0" u="none" strike="noStrike" cap="none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Air China Beijing 132.0</a:t>
                      </a:r>
                      <a:endParaRPr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pic>
        <p:nvPicPr>
          <p:cNvPr id="198" name="Google Shape;198;p8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-2501" y="2150396"/>
            <a:ext cx="1415542" cy="775798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EDAB7941-7C38-1F6C-82DC-A7D9C3DC35E7}"/>
              </a:ext>
            </a:extLst>
          </p:cNvPr>
          <p:cNvSpPr txBox="1"/>
          <p:nvPr/>
        </p:nvSpPr>
        <p:spPr>
          <a:xfrm>
            <a:off x="-55838" y="3017712"/>
            <a:ext cx="2364750" cy="532316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121.2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124.52 – 120.72 – 126.17 – 132.8</a:t>
            </a:r>
            <a:endParaRPr kumimoji="1" lang="en-US" altLang="ko-Kore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DLC 132.95  - TAO 133.72 – 128.15 – PEK 125.6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PEK APP 120.6 – Final 119.0</a:t>
            </a:r>
          </a:p>
        </p:txBody>
      </p:sp>
      <p:graphicFrame>
        <p:nvGraphicFramePr>
          <p:cNvPr id="4" name="Google Shape;292;p18">
            <a:extLst>
              <a:ext uri="{FF2B5EF4-FFF2-40B4-BE49-F238E27FC236}">
                <a16:creationId xmlns:a16="http://schemas.microsoft.com/office/drawing/2014/main" id="{C27BC79A-3C53-AD4E-94CE-36669FDCFF82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073432346"/>
              </p:ext>
            </p:extLst>
          </p:nvPr>
        </p:nvGraphicFramePr>
        <p:xfrm>
          <a:off x="4472" y="3740586"/>
          <a:ext cx="2333879" cy="181900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5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8373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704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9684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03508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PEK : STAR </a:t>
                      </a:r>
                      <a:r>
                        <a:rPr lang="en-US" sz="800" dirty="0">
                          <a:solidFill>
                            <a:schemeClr val="accent4"/>
                          </a:solidFill>
                        </a:rPr>
                        <a:t>(RW01/19 main (RW36L/18R))</a:t>
                      </a:r>
                      <a:endParaRPr sz="800" b="0" dirty="0">
                        <a:solidFill>
                          <a:schemeClr val="accent4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9827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01</a:t>
                      </a:r>
                      <a:r>
                        <a:rPr lang="en-US" sz="800" b="0" dirty="0"/>
                        <a:t>(36L)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DUMAP </a:t>
                      </a:r>
                      <a:r>
                        <a:rPr lang="en-US" sz="800" b="1" dirty="0" err="1"/>
                        <a:t>xZA</a:t>
                      </a:r>
                      <a:endParaRPr lang="en-US"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AA421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Z 01</a:t>
                      </a:r>
                      <a:r>
                        <a:rPr lang="en-US" sz="800" b="0" dirty="0"/>
                        <a:t>(Y 36L)</a:t>
                      </a: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187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dirty="0"/>
                        <a:t>19</a:t>
                      </a:r>
                      <a:r>
                        <a:rPr lang="en-US" sz="800" b="0" dirty="0"/>
                        <a:t>(</a:t>
                      </a:r>
                      <a:r>
                        <a:rPr lang="en-US" altLang="ko-KR" sz="800" b="0" dirty="0"/>
                        <a:t>18R)</a:t>
                      </a:r>
                      <a:r>
                        <a:rPr lang="en-US" sz="800" b="0" dirty="0"/>
                        <a:t>)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/>
                        <a:t>DUMAP </a:t>
                      </a:r>
                      <a:r>
                        <a:rPr lang="en-US" altLang="ko-Kore-KR" sz="800" b="1" dirty="0" err="1"/>
                        <a:t>xZA</a:t>
                      </a:r>
                      <a:endParaRPr lang="en-US" altLang="ko-Kore-KR"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AA521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Z 19</a:t>
                      </a:r>
                      <a:r>
                        <a:rPr lang="en-US" altLang="ko-Kore-KR" sz="800" b="0" dirty="0"/>
                        <a:t>(Y 18R)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84957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01(84’)      12467’      19(94’)</a:t>
                      </a:r>
                      <a:r>
                        <a:rPr lang="ko-KR" altLang="en-US" sz="800" b="1" dirty="0">
                          <a:solidFill>
                            <a:srgbClr val="00B050"/>
                          </a:solidFill>
                        </a:rPr>
                        <a:t> </a:t>
                      </a:r>
                      <a:r>
                        <a:rPr lang="en-US" altLang="ko-KR" sz="800" b="1" dirty="0">
                          <a:solidFill>
                            <a:srgbClr val="C00000"/>
                          </a:solidFill>
                        </a:rPr>
                        <a:t>3.2</a:t>
                      </a:r>
                      <a:r>
                        <a:rPr lang="ko-KR" altLang="en-US" sz="800" b="1" dirty="0">
                          <a:solidFill>
                            <a:srgbClr val="C00000"/>
                          </a:solidFill>
                        </a:rPr>
                        <a:t>도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84957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dirty="0">
                          <a:solidFill>
                            <a:srgbClr val="00B050"/>
                          </a:solidFill>
                        </a:rPr>
                        <a:t>36L(107’)      10499’      18R(115’)        </a:t>
                      </a:r>
                      <a:endParaRPr sz="800" b="0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86134">
                <a:tc gridSpan="4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FIX : </a:t>
                      </a:r>
                      <a:r>
                        <a:rPr kumimoji="0" lang="en-US" altLang="ko-Kore-KR" sz="800" b="0" i="0" u="none" strike="noStrike" kern="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RWxx</a:t>
                      </a: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 /8(180kts), /6(160kts) </a:t>
                      </a: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TMA Max 280kts</a:t>
                      </a:r>
                      <a:endParaRPr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01193734"/>
                  </a:ext>
                </a:extLst>
              </a:tr>
              <a:tr h="301242">
                <a:tc gridSpan="4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R" sz="800" b="1" dirty="0">
                          <a:solidFill>
                            <a:schemeClr val="dk1"/>
                          </a:solidFill>
                        </a:rPr>
                        <a:t>01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 : Q5(5223’), Q6(7024’), 19 :Q4(5298’), Q3(7103’)</a:t>
                      </a:r>
                      <a:endParaRPr sz="800" dirty="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36L : P6(6276’), P7(7719’), 18R : P3(6223’), P2(7552’)</a:t>
                      </a:r>
                      <a:r>
                        <a:rPr lang="en-US" sz="800" dirty="0">
                          <a:solidFill>
                            <a:schemeClr val="dk1"/>
                          </a:solidFill>
                        </a:rPr>
                        <a:t> 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01242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APU off Procedure</a:t>
                      </a:r>
                      <a:r>
                        <a:rPr lang="ko-KR" altLang="en-US" sz="800" dirty="0"/>
                        <a:t> </a:t>
                      </a:r>
                      <a:r>
                        <a:rPr lang="en-US" altLang="ko-KR" sz="800" dirty="0"/>
                        <a:t>(GND Air Cond’ &amp; GPU)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R" sz="800" dirty="0"/>
                        <a:t>Standard TAXI RTE in Jeppesen Chart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3" name="직사각형 2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782A2293-EC9A-B7D8-ACF6-EF97B81D97FB}"/>
              </a:ext>
            </a:extLst>
          </p:cNvPr>
          <p:cNvSpPr/>
          <p:nvPr/>
        </p:nvSpPr>
        <p:spPr>
          <a:xfrm>
            <a:off x="1651787" y="271998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5" name="직사각형 4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349E9C38-1725-0B94-34E5-C8413D9A7DF0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063524975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7" name="Google Shape;397;p3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1" y="-9795"/>
            <a:ext cx="2328863" cy="5064777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66ABCDBC-383F-5581-5E39-83905EACA8B3}"/>
              </a:ext>
            </a:extLst>
          </p:cNvPr>
          <p:cNvSpPr txBox="1"/>
          <p:nvPr/>
        </p:nvSpPr>
        <p:spPr>
          <a:xfrm>
            <a:off x="1278611" y="4006314"/>
            <a:ext cx="1031051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900" b="1" dirty="0">
                <a:solidFill>
                  <a:srgbClr val="0070C0"/>
                </a:solidFill>
              </a:rPr>
              <a:t>550M       1800ft</a:t>
            </a:r>
            <a:endParaRPr kumimoji="1" lang="ko-Kore-KR" altLang="en-US" sz="900" b="1" dirty="0">
              <a:solidFill>
                <a:srgbClr val="0070C0"/>
              </a:solidFill>
            </a:endParaRP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A9EEFEB8-F9E4-386F-27B1-F3014416BF74}"/>
              </a:ext>
            </a:extLst>
          </p:cNvPr>
          <p:cNvSpPr/>
          <p:nvPr/>
        </p:nvSpPr>
        <p:spPr>
          <a:xfrm>
            <a:off x="55571" y="3177666"/>
            <a:ext cx="1000283" cy="333428"/>
          </a:xfrm>
          <a:prstGeom prst="rect">
            <a:avLst/>
          </a:prstGeom>
          <a:noFill/>
          <a:ln w="3492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FC66845-A7AA-98C4-534C-70B808775E8B}"/>
              </a:ext>
            </a:extLst>
          </p:cNvPr>
          <p:cNvSpPr txBox="1"/>
          <p:nvPr/>
        </p:nvSpPr>
        <p:spPr>
          <a:xfrm>
            <a:off x="997707" y="3142302"/>
            <a:ext cx="330540" cy="41287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900" b="1" dirty="0">
                <a:solidFill>
                  <a:srgbClr val="0070C0"/>
                </a:solidFill>
              </a:rPr>
              <a:t>TL</a:t>
            </a:r>
          </a:p>
          <a:p>
            <a:pPr algn="dist">
              <a:lnSpc>
                <a:spcPct val="150000"/>
              </a:lnSpc>
            </a:pPr>
            <a:r>
              <a:rPr kumimoji="1" lang="en-US" altLang="ko-Kore-KR" sz="900" b="1" dirty="0">
                <a:solidFill>
                  <a:srgbClr val="0070C0"/>
                </a:solidFill>
              </a:rPr>
              <a:t>TA</a:t>
            </a:r>
            <a:endParaRPr kumimoji="1" lang="ko-Kore-KR" altLang="en-US" sz="900" b="1" dirty="0">
              <a:solidFill>
                <a:srgbClr val="0070C0"/>
              </a:solidFill>
            </a:endParaRPr>
          </a:p>
        </p:txBody>
      </p:sp>
      <p:sp>
        <p:nvSpPr>
          <p:cNvPr id="6" name="직사각형 5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30472A8B-F324-573B-F17A-C6C16EB27F96}"/>
              </a:ext>
            </a:extLst>
          </p:cNvPr>
          <p:cNvSpPr/>
          <p:nvPr/>
        </p:nvSpPr>
        <p:spPr>
          <a:xfrm>
            <a:off x="847353" y="527797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086683672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Google Shape;207;p9"/>
          <p:cNvSpPr/>
          <p:nvPr/>
        </p:nvSpPr>
        <p:spPr>
          <a:xfrm>
            <a:off x="1056807" y="167132"/>
            <a:ext cx="230546" cy="415039"/>
          </a:xfrm>
          <a:prstGeom prst="rightArrow">
            <a:avLst>
              <a:gd name="adj1" fmla="val 47084"/>
              <a:gd name="adj2" fmla="val 50000"/>
            </a:avLst>
          </a:prstGeom>
          <a:solidFill>
            <a:schemeClr val="accent6"/>
          </a:solidFill>
          <a:ln w="12700" cap="flat" cmpd="sng">
            <a:solidFill>
              <a:srgbClr val="517E3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3" name="Google Shape;185;p7">
            <a:extLst>
              <a:ext uri="{FF2B5EF4-FFF2-40B4-BE49-F238E27FC236}">
                <a16:creationId xmlns:a16="http://schemas.microsoft.com/office/drawing/2014/main" id="{4AA90139-7D8C-A544-2E49-779F9C6ABFB9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275792101"/>
              </p:ext>
            </p:extLst>
          </p:nvPr>
        </p:nvGraphicFramePr>
        <p:xfrm>
          <a:off x="4472" y="3782340"/>
          <a:ext cx="2346889" cy="177288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0083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61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6486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1504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6582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80221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523999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156000">
                <a:tc gridSpan="7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CJU : STAR 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FFC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AFT Merge PT(220kts) DCT IAF(210kts), FAF (160kts)</a:t>
                      </a:r>
                      <a:endParaRPr sz="800" dirty="0">
                        <a:solidFill>
                          <a:srgbClr val="FFC000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41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Z 07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LIMDI </a:t>
                      </a:r>
                      <a:r>
                        <a:rPr lang="en-US" sz="800" b="1" dirty="0" err="1"/>
                        <a:t>xP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YUMIN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1800">
                <a:tc gridSpan="7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RNP Y 07 </a:t>
                      </a:r>
                      <a:r>
                        <a:rPr kumimoji="0" lang="en-US" altLang="ko-Kore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(No LPV)</a:t>
                      </a:r>
                      <a:r>
                        <a:rPr kumimoji="0" lang="en-US" altLang="ko-Kore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, RNP Z 07 AR </a:t>
                      </a:r>
                      <a:r>
                        <a:rPr kumimoji="0" lang="en-US" altLang="ko-Kore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(No B737-900, RNP 0.11)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 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58"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43252207"/>
                  </a:ext>
                </a:extLst>
              </a:tr>
              <a:tr h="141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Z 25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LIMDI </a:t>
                      </a:r>
                      <a:r>
                        <a:rPr lang="en-US" sz="800" b="1" dirty="0" err="1"/>
                        <a:t>xT</a:t>
                      </a:r>
                      <a:r>
                        <a:rPr lang="en-US" sz="800" b="1" dirty="0"/>
                        <a:t>(</a:t>
                      </a:r>
                      <a:r>
                        <a:rPr lang="en-US" sz="800" b="1" dirty="0" err="1"/>
                        <a:t>xM</a:t>
                      </a:r>
                      <a:r>
                        <a:rPr lang="en-US" sz="800" b="1" dirty="0"/>
                        <a:t>)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DUKAL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0925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07(87’)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10433’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25(76’)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0075">
                <a:tc gridSpan="7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07 : P6(5176’), P5(5882’), </a:t>
                      </a: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P4(6840’-ATC HIRO)</a:t>
                      </a:r>
                      <a:endParaRPr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25 : P7(5219’), P8(5882’), </a:t>
                      </a: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P10(7524’-ATC HIRO) 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20075">
                <a:tc gridSpan="7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Entering Rapid TWY CTC GND 121.675 (STOP x)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HST 40KTS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2" name="Google Shape;117;p3">
            <a:extLst>
              <a:ext uri="{FF2B5EF4-FFF2-40B4-BE49-F238E27FC236}">
                <a16:creationId xmlns:a16="http://schemas.microsoft.com/office/drawing/2014/main" id="{9918FCD0-48F9-3742-0CD5-9F665B43161C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294651057"/>
              </p:ext>
            </p:extLst>
          </p:nvPr>
        </p:nvGraphicFramePr>
        <p:xfrm>
          <a:off x="-4046" y="783000"/>
          <a:ext cx="2335723" cy="179257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4246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670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129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3107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5603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1400">
                  <a:extLst>
                    <a:ext uri="{9D8B030D-6E8A-4147-A177-3AD203B41FA5}">
                      <a16:colId xmlns:a16="http://schemas.microsoft.com/office/drawing/2014/main" val="2940550374"/>
                    </a:ext>
                  </a:extLst>
                </a:gridCol>
                <a:gridCol w="614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99169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73273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211274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412058">
                  <a:extLst>
                    <a:ext uri="{9D8B030D-6E8A-4147-A177-3AD203B41FA5}">
                      <a16:colId xmlns:a16="http://schemas.microsoft.com/office/drawing/2014/main" val="448940902"/>
                    </a:ext>
                  </a:extLst>
                </a:gridCol>
              </a:tblGrid>
              <a:tr h="0">
                <a:tc gridSpan="1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PEK : SID (NADP 1)  </a:t>
                      </a:r>
                      <a:r>
                        <a:rPr lang="en-US" sz="800" u="none" strike="noStrike" cap="none" dirty="0">
                          <a:solidFill>
                            <a:schemeClr val="accent4"/>
                          </a:solidFill>
                        </a:rPr>
                        <a:t>RW36R/18L </a:t>
                      </a:r>
                      <a:r>
                        <a:rPr lang="en-US" sz="800" u="none" strike="noStrike" cap="none" dirty="0" err="1">
                          <a:solidFill>
                            <a:schemeClr val="accent4"/>
                          </a:solidFill>
                        </a:rPr>
                        <a:t>Intersec</a:t>
                      </a:r>
                      <a:r>
                        <a:rPr lang="en-US" sz="800" u="none" strike="noStrike" cap="none" dirty="0">
                          <a:solidFill>
                            <a:schemeClr val="accent4"/>
                          </a:solidFill>
                        </a:rPr>
                        <a:t> T/O W2, W7</a:t>
                      </a:r>
                    </a:p>
                  </a:txBody>
                  <a:tcPr marL="36000" marR="7200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u="none" strike="noStrike" cap="none" dirty="0"/>
                        <a:t>36R</a:t>
                      </a:r>
                      <a:endParaRPr lang="en-US" sz="800" b="1" u="none" strike="noStrike" cap="none"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/>
                        <a:t>(01)</a:t>
                      </a:r>
                      <a:endParaRPr sz="800" b="0" u="none" strike="noStrike" cap="none" dirty="0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MUGLO </a:t>
                      </a:r>
                      <a:r>
                        <a:rPr lang="en-US" sz="800" b="1" u="none" strike="noStrike" cap="none" dirty="0" err="1">
                          <a:solidFill>
                            <a:srgbClr val="0070C0"/>
                          </a:solidFill>
                        </a:rPr>
                        <a:t>xWD</a:t>
                      </a: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(</a:t>
                      </a:r>
                      <a:r>
                        <a:rPr lang="en-US" sz="800" b="1" u="none" strike="noStrike" cap="none" dirty="0" err="1">
                          <a:solidFill>
                            <a:srgbClr val="0070C0"/>
                          </a:solidFill>
                        </a:rPr>
                        <a:t>xYD</a:t>
                      </a: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359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359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ATIS/DCL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900m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359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18L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/>
                        <a:t>(19)</a:t>
                      </a:r>
                      <a:endParaRPr sz="800" b="0" u="none" strike="noStrike" cap="none" dirty="0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MUGLO </a:t>
                      </a:r>
                      <a:r>
                        <a:rPr lang="en-US" altLang="ko-Kore-KR" sz="800" b="1" u="none" strike="noStrike" cap="none" dirty="0" err="1">
                          <a:solidFill>
                            <a:srgbClr val="0070C0"/>
                          </a:solidFill>
                        </a:rPr>
                        <a:t>xZD</a:t>
                      </a:r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(</a:t>
                      </a:r>
                      <a:r>
                        <a:rPr lang="en-US" altLang="ko-Kore-KR" sz="800" b="1" u="none" strike="noStrike" cap="none" dirty="0" err="1">
                          <a:solidFill>
                            <a:srgbClr val="0070C0"/>
                          </a:solidFill>
                        </a:rPr>
                        <a:t>xYD</a:t>
                      </a:r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179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179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ATIS/DCL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900m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179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5700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PEK 114.7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36R 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111.55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18L 109.3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01 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108.5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19 108.9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5700">
                <a:tc gridSpan="1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u="none" strike="noStrike" cap="none" dirty="0">
                          <a:solidFill>
                            <a:schemeClr val="tx1"/>
                          </a:solidFill>
                        </a:rPr>
                        <a:t>36R : PEK 325/11, 36L : PEK 326/13, 01 : PEK 323/9 R124</a:t>
                      </a:r>
                      <a:endParaRPr sz="800" b="0" u="none" strike="noStrike" cap="none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3287633155"/>
                  </a:ext>
                </a:extLst>
              </a:tr>
              <a:tr h="1016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36R(98’) 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01(84’)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12467’</a:t>
                      </a:r>
                      <a:endParaRPr sz="800" b="1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18L(110’)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19(94’)</a:t>
                      </a:r>
                      <a:endParaRPr sz="800" b="0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5700">
                <a:tc gridSpan="1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COBT from ATIS “Enroute”, </a:t>
                      </a: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Bad </a:t>
                      </a:r>
                      <a:r>
                        <a:rPr lang="en-US" sz="800" b="1" u="none" strike="noStrike" cap="none" dirty="0" err="1">
                          <a:solidFill>
                            <a:srgbClr val="0070C0"/>
                          </a:solidFill>
                        </a:rPr>
                        <a:t>Wx</a:t>
                      </a: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 DOTRA SID</a:t>
                      </a:r>
                      <a:r>
                        <a:rPr lang="en-US" sz="800" b="0" u="none" strike="noStrike" cap="none" dirty="0">
                          <a:solidFill>
                            <a:srgbClr val="0070C0"/>
                          </a:solidFill>
                        </a:rPr>
                        <a:t> </a:t>
                      </a: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5" name="Google Shape;119;p3">
            <a:extLst>
              <a:ext uri="{FF2B5EF4-FFF2-40B4-BE49-F238E27FC236}">
                <a16:creationId xmlns:a16="http://schemas.microsoft.com/office/drawing/2014/main" id="{5B07C474-3B6B-EDED-1E83-D395F2D0A051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033888925"/>
              </p:ext>
            </p:extLst>
          </p:nvPr>
        </p:nvGraphicFramePr>
        <p:xfrm>
          <a:off x="-2501" y="2544"/>
          <a:ext cx="2328850" cy="77273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ZBAA(PEK) 116ft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RKPC(CJU) 119ft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Air China Beijing 132.0</a:t>
                      </a:r>
                      <a:endParaRPr sz="1200"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dirty="0">
                          <a:solidFill>
                            <a:srgbClr val="FF0000"/>
                          </a:solidFill>
                        </a:rPr>
                        <a:t>DCL 30</a:t>
                      </a:r>
                      <a:r>
                        <a:rPr lang="ko-KR" altLang="en-US" sz="700" dirty="0">
                          <a:solidFill>
                            <a:srgbClr val="FF0000"/>
                          </a:solidFill>
                        </a:rPr>
                        <a:t>분전</a:t>
                      </a:r>
                      <a:r>
                        <a:rPr lang="en-US" altLang="ko-KR" sz="700" dirty="0">
                          <a:solidFill>
                            <a:srgbClr val="FF0000"/>
                          </a:solidFill>
                        </a:rPr>
                        <a:t>,</a:t>
                      </a:r>
                      <a:r>
                        <a:rPr lang="ko-KR" altLang="en-US" sz="700" dirty="0">
                          <a:solidFill>
                            <a:srgbClr val="FF0000"/>
                          </a:solidFill>
                        </a:rPr>
                        <a:t> </a:t>
                      </a:r>
                      <a:r>
                        <a:rPr lang="en-US" altLang="ko-KR" sz="700" dirty="0">
                          <a:solidFill>
                            <a:srgbClr val="FF0000"/>
                          </a:solidFill>
                        </a:rPr>
                        <a:t>Voice 10</a:t>
                      </a:r>
                      <a:r>
                        <a:rPr lang="ko-KR" altLang="en-US" sz="700" dirty="0">
                          <a:solidFill>
                            <a:srgbClr val="FF0000"/>
                          </a:solidFill>
                        </a:rPr>
                        <a:t>분전</a:t>
                      </a:r>
                      <a:endParaRPr lang="en-US" altLang="ko-KR" sz="700" dirty="0">
                        <a:solidFill>
                          <a:srgbClr val="FF0000"/>
                        </a:solidFill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700" dirty="0">
                          <a:solidFill>
                            <a:srgbClr val="FF0000"/>
                          </a:solidFill>
                        </a:rPr>
                        <a:t>(COBT/STD 15</a:t>
                      </a:r>
                      <a:r>
                        <a:rPr lang="ko-KR" altLang="en-US" sz="700" dirty="0">
                          <a:solidFill>
                            <a:srgbClr val="FF0000"/>
                          </a:solidFill>
                        </a:rPr>
                        <a:t>분 차이  </a:t>
                      </a:r>
                      <a:r>
                        <a:rPr lang="en-US" altLang="ko-KR" sz="700" dirty="0">
                          <a:solidFill>
                            <a:srgbClr val="FF0000"/>
                          </a:solidFill>
                        </a:rPr>
                        <a:t>CTC Comm)</a:t>
                      </a:r>
                      <a:endParaRPr sz="700" dirty="0">
                        <a:solidFill>
                          <a:srgbClr val="FF0000"/>
                        </a:solidFill>
                      </a:endParaRPr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CJU 129.4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0288BEDC-7E6A-3E6E-FBE9-B8FA96093469}"/>
              </a:ext>
            </a:extLst>
          </p:cNvPr>
          <p:cNvSpPr txBox="1"/>
          <p:nvPr/>
        </p:nvSpPr>
        <p:spPr>
          <a:xfrm>
            <a:off x="998160" y="2545455"/>
            <a:ext cx="1386918" cy="1017064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124.4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PEK APP 120.6 – PEK 125.6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DLC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123.2 – 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132.95</a:t>
            </a:r>
            <a:endParaRPr kumimoji="1" lang="en-US" altLang="ko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ICN 132.8 – 126.17 – 120.72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124.52 - APP 119.75</a:t>
            </a:r>
          </a:p>
          <a:p>
            <a:pPr>
              <a:lnSpc>
                <a:spcPct val="150000"/>
              </a:lnSpc>
            </a:pPr>
            <a:endParaRPr kumimoji="1" lang="en-US" altLang="ko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pic>
        <p:nvPicPr>
          <p:cNvPr id="7" name="그림 6" descr="텍스트, 지도, 도표, 라인이(가) 표시된 사진&#10;&#10;자동 생성된 설명">
            <a:extLst>
              <a:ext uri="{FF2B5EF4-FFF2-40B4-BE49-F238E27FC236}">
                <a16:creationId xmlns:a16="http://schemas.microsoft.com/office/drawing/2014/main" id="{009DE233-E4A5-B767-C030-140E38D64DE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2566027"/>
            <a:ext cx="1029898" cy="855481"/>
          </a:xfrm>
          <a:prstGeom prst="rect">
            <a:avLst/>
          </a:prstGeom>
        </p:spPr>
      </p:pic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6AA58C2A-AEE6-6B3E-1D32-AC3698AA1CB4}"/>
              </a:ext>
            </a:extLst>
          </p:cNvPr>
          <p:cNvSpPr/>
          <p:nvPr/>
        </p:nvSpPr>
        <p:spPr>
          <a:xfrm>
            <a:off x="1651787" y="3460480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8" name="직사각형 7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0C8CB044-4ABC-7385-D403-AC2C81F17F7E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743825581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62F9807-5AEF-8D80-6311-45C5000B22FB}"/>
              </a:ext>
            </a:extLst>
          </p:cNvPr>
          <p:cNvSpPr txBox="1"/>
          <p:nvPr/>
        </p:nvSpPr>
        <p:spPr>
          <a:xfrm>
            <a:off x="-69798" y="3146480"/>
            <a:ext cx="2085827" cy="532316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125.5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128.17 – 124.52(125.72)</a:t>
            </a:r>
            <a:endParaRPr kumimoji="1" lang="en-US" altLang="ko-Kore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SHA 120.95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SHA APP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125.62(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119.975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)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– 125.4 </a:t>
            </a:r>
          </a:p>
        </p:txBody>
      </p:sp>
      <p:graphicFrame>
        <p:nvGraphicFramePr>
          <p:cNvPr id="292" name="Google Shape;292;p18"/>
          <p:cNvGraphicFramePr/>
          <p:nvPr>
            <p:extLst>
              <p:ext uri="{D42A27DB-BD31-4B8C-83A1-F6EECF244321}">
                <p14:modId xmlns:p14="http://schemas.microsoft.com/office/powerpoint/2010/main" val="3015713983"/>
              </p:ext>
            </p:extLst>
          </p:nvPr>
        </p:nvGraphicFramePr>
        <p:xfrm>
          <a:off x="4472" y="3705686"/>
          <a:ext cx="2351640" cy="1832803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66413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9440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3059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6250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03508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PVG : STAR </a:t>
                      </a:r>
                      <a:r>
                        <a:rPr lang="en-US" sz="800" b="0" dirty="0">
                          <a:solidFill>
                            <a:srgbClr val="FFC000"/>
                          </a:solidFill>
                        </a:rPr>
                        <a:t>(North of ‘PVGNB’, R-276 Prohibited)</a:t>
                      </a:r>
                      <a:endParaRPr sz="800" b="0" dirty="0">
                        <a:solidFill>
                          <a:srgbClr val="FFC000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2073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34R</a:t>
                      </a:r>
                      <a:r>
                        <a:rPr lang="en-US" sz="800" b="0" dirty="0"/>
                        <a:t>(L)/35L(R)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DUM 91A/92A</a:t>
                      </a: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MP2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Z xx</a:t>
                      </a: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55759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16L(R)/</a:t>
                      </a:r>
                      <a:r>
                        <a:rPr lang="en-US" sz="800" b="0" dirty="0"/>
                        <a:t>17R(L)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/>
                        <a:t>DUM 81A/82A</a:t>
                      </a: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MP1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Z xx</a:t>
                      </a: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84957">
                <a:tc row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34R/L(11’/12’)   12467’  16L/R(12’/11’)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84957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35R(10’)      13123’     17L10’)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84957">
                <a:tc v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35L(12’)      11155’     17R(12’)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35666460"/>
                  </a:ext>
                </a:extLst>
              </a:tr>
              <a:tr h="301242">
                <a:tc gridSpan="4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34R : G4(5603’), G5(6896’), 16L : G3(5577’), G2(6909’)</a:t>
                      </a:r>
                      <a:endParaRPr sz="800" dirty="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35L : D4(5636’), D5(6932’), 17R : D3(5626’), D2(6942’)</a:t>
                      </a:r>
                      <a:r>
                        <a:rPr lang="en-US" sz="800" dirty="0">
                          <a:solidFill>
                            <a:schemeClr val="dk1"/>
                          </a:solidFill>
                        </a:rPr>
                        <a:t> 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01242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Normally DUMET 6000m</a:t>
                      </a:r>
                      <a:r>
                        <a:rPr lang="en-US" altLang="ko-KR" sz="800" dirty="0"/>
                        <a:t>,</a:t>
                      </a:r>
                      <a:r>
                        <a:rPr lang="ko-KR" altLang="en-US" sz="800" dirty="0"/>
                        <a:t> </a:t>
                      </a:r>
                      <a:r>
                        <a:rPr lang="en-US" altLang="ko-KR" sz="800" dirty="0">
                          <a:solidFill>
                            <a:srgbClr val="0070C0"/>
                          </a:solidFill>
                        </a:rPr>
                        <a:t>ILS Ident /6 160kts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Follow Me Car Insight – TAXI L/T </a:t>
                      </a:r>
                      <a:r>
                        <a:rPr lang="en-US" sz="800" dirty="0" err="1"/>
                        <a:t>off,APU</a:t>
                      </a:r>
                      <a:r>
                        <a:rPr lang="en-US" sz="800" dirty="0"/>
                        <a:t> off Procedure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293" name="Google Shape;293;p18"/>
          <p:cNvGraphicFramePr/>
          <p:nvPr>
            <p:extLst>
              <p:ext uri="{D42A27DB-BD31-4B8C-83A1-F6EECF244321}">
                <p14:modId xmlns:p14="http://schemas.microsoft.com/office/powerpoint/2010/main" val="3008630463"/>
              </p:ext>
            </p:extLst>
          </p:nvPr>
        </p:nvGraphicFramePr>
        <p:xfrm>
          <a:off x="-2501" y="16504"/>
          <a:ext cx="2328850" cy="62454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RKPK(PUS) 13ft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ZSPD(PVG) 13ft</a:t>
                      </a:r>
                      <a:endParaRPr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</a:t>
                      </a:r>
                      <a:r>
                        <a:rPr lang="en-US" sz="900" dirty="0" err="1"/>
                        <a:t>Gimhae</a:t>
                      </a:r>
                      <a:r>
                        <a:rPr lang="en-US" sz="900" dirty="0"/>
                        <a:t> 129.2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600"/>
                        <a:buFont typeface="Calibri"/>
                        <a:buNone/>
                      </a:pPr>
                      <a:r>
                        <a:rPr lang="en-US" sz="700" dirty="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-5분</a:t>
                      </a:r>
                      <a:endParaRPr sz="1000" dirty="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China Eastern 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130.5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2F249E7A-A45C-54A1-0C09-872C49733B6D}"/>
              </a:ext>
            </a:extLst>
          </p:cNvPr>
          <p:cNvSpPr/>
          <p:nvPr/>
        </p:nvSpPr>
        <p:spPr>
          <a:xfrm>
            <a:off x="1651787" y="3373948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8E0FC5CB-5405-69E2-6AEE-ED1D46C77F25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graphicFrame>
        <p:nvGraphicFramePr>
          <p:cNvPr id="5" name="Google Shape;247;p13">
            <a:extLst>
              <a:ext uri="{FF2B5EF4-FFF2-40B4-BE49-F238E27FC236}">
                <a16:creationId xmlns:a16="http://schemas.microsoft.com/office/drawing/2014/main" id="{7B47DFB1-8D07-2EB7-86D8-21FEA1EC9410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060412915"/>
              </p:ext>
            </p:extLst>
          </p:nvPr>
        </p:nvGraphicFramePr>
        <p:xfrm>
          <a:off x="0" y="685853"/>
          <a:ext cx="2330925" cy="174265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62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2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70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179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041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19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14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779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1747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21777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280325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</a:tblGrid>
              <a:tr h="0">
                <a:tc gridSpan="1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PUS : SID </a:t>
                      </a:r>
                      <a:r>
                        <a:rPr lang="en-US" sz="800" dirty="0">
                          <a:solidFill>
                            <a:srgbClr val="FFC000"/>
                          </a:solidFill>
                        </a:rPr>
                        <a:t>(Mod NADP CLB2 1000, 14000 MAX)</a:t>
                      </a:r>
                      <a:endParaRPr sz="800" dirty="0">
                        <a:solidFill>
                          <a:srgbClr val="FFC000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36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SOORO x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TOPAX tx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30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</a:rPr>
                        <a:t>6</a:t>
                      </a:r>
                      <a:endParaRPr sz="458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280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27</a:t>
                      </a:r>
                      <a:r>
                        <a:rPr lang="en-US" altLang="ko-KR" sz="800" b="1" dirty="0">
                          <a:solidFill>
                            <a:srgbClr val="00B050"/>
                          </a:solidFill>
                        </a:rPr>
                        <a:t>9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18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BULIM x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ENGOT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tx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182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182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182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5700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KMH 113.8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PSN 114.0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36L 108.5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36R 109.5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5700">
                <a:tc gridSpan="1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36 : KMH R091, R271, R185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016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5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36L(13’) 10499’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36R(8’) 8999’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18R(13’) 8530’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18L(13’) 8999’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5700">
                <a:tc gridSpan="1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RWY36 400ft Man L/H turn, Max Taxi SPD 20KTS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pic>
        <p:nvPicPr>
          <p:cNvPr id="6" name="Google Shape;248;p13">
            <a:extLst>
              <a:ext uri="{FF2B5EF4-FFF2-40B4-BE49-F238E27FC236}">
                <a16:creationId xmlns:a16="http://schemas.microsoft.com/office/drawing/2014/main" id="{186D5FF2-55A4-B3AE-F6AA-857B1EA00A73}"/>
              </a:ext>
            </a:extLst>
          </p:cNvPr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4472" y="2456585"/>
            <a:ext cx="1559909" cy="651823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345885167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7" name="Google Shape;397;p3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1" y="-9795"/>
            <a:ext cx="2328863" cy="5064777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66ABCDBC-383F-5581-5E39-83905EACA8B3}"/>
              </a:ext>
            </a:extLst>
          </p:cNvPr>
          <p:cNvSpPr txBox="1"/>
          <p:nvPr/>
        </p:nvSpPr>
        <p:spPr>
          <a:xfrm>
            <a:off x="1278611" y="4006314"/>
            <a:ext cx="1031051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900" b="1" dirty="0">
                <a:solidFill>
                  <a:srgbClr val="0070C0"/>
                </a:solidFill>
              </a:rPr>
              <a:t>550M       1800ft</a:t>
            </a:r>
            <a:endParaRPr kumimoji="1" lang="ko-Kore-KR" altLang="en-US" sz="900" b="1" dirty="0">
              <a:solidFill>
                <a:srgbClr val="0070C0"/>
              </a:solidFill>
            </a:endParaRP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A9EEFEB8-F9E4-386F-27B1-F3014416BF74}"/>
              </a:ext>
            </a:extLst>
          </p:cNvPr>
          <p:cNvSpPr/>
          <p:nvPr/>
        </p:nvSpPr>
        <p:spPr>
          <a:xfrm>
            <a:off x="55571" y="3177666"/>
            <a:ext cx="1000283" cy="333428"/>
          </a:xfrm>
          <a:prstGeom prst="rect">
            <a:avLst/>
          </a:prstGeom>
          <a:noFill/>
          <a:ln w="3492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FC66845-A7AA-98C4-534C-70B808775E8B}"/>
              </a:ext>
            </a:extLst>
          </p:cNvPr>
          <p:cNvSpPr txBox="1"/>
          <p:nvPr/>
        </p:nvSpPr>
        <p:spPr>
          <a:xfrm>
            <a:off x="997707" y="3142302"/>
            <a:ext cx="330540" cy="41287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900" b="1" dirty="0">
                <a:solidFill>
                  <a:srgbClr val="0070C0"/>
                </a:solidFill>
              </a:rPr>
              <a:t>TL</a:t>
            </a:r>
          </a:p>
          <a:p>
            <a:pPr algn="dist">
              <a:lnSpc>
                <a:spcPct val="150000"/>
              </a:lnSpc>
            </a:pPr>
            <a:r>
              <a:rPr kumimoji="1" lang="en-US" altLang="ko-Kore-KR" sz="900" b="1" dirty="0">
                <a:solidFill>
                  <a:srgbClr val="0070C0"/>
                </a:solidFill>
              </a:rPr>
              <a:t>TA</a:t>
            </a:r>
            <a:endParaRPr kumimoji="1" lang="ko-Kore-KR" altLang="en-US" sz="900" b="1" dirty="0">
              <a:solidFill>
                <a:srgbClr val="0070C0"/>
              </a:solidFill>
            </a:endParaRPr>
          </a:p>
        </p:txBody>
      </p:sp>
      <p:sp>
        <p:nvSpPr>
          <p:cNvPr id="6" name="직사각형 5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4BFE20D2-9E22-107A-6D34-D5883DF23365}"/>
              </a:ext>
            </a:extLst>
          </p:cNvPr>
          <p:cNvSpPr/>
          <p:nvPr/>
        </p:nvSpPr>
        <p:spPr>
          <a:xfrm>
            <a:off x="847353" y="527797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441983736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17" name="Google Shape;117;p3"/>
          <p:cNvGraphicFramePr/>
          <p:nvPr/>
        </p:nvGraphicFramePr>
        <p:xfrm>
          <a:off x="-4045" y="595076"/>
          <a:ext cx="2300931" cy="220825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2718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41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470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1447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153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1400">
                  <a:extLst>
                    <a:ext uri="{9D8B030D-6E8A-4147-A177-3AD203B41FA5}">
                      <a16:colId xmlns:a16="http://schemas.microsoft.com/office/drawing/2014/main" val="2940550374"/>
                    </a:ext>
                  </a:extLst>
                </a:gridCol>
                <a:gridCol w="9918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876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46589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314761">
                  <a:extLst>
                    <a:ext uri="{9D8B030D-6E8A-4147-A177-3AD203B41FA5}">
                      <a16:colId xmlns:a16="http://schemas.microsoft.com/office/drawing/2014/main" val="448940902"/>
                    </a:ext>
                  </a:extLst>
                </a:gridCol>
              </a:tblGrid>
              <a:tr h="230296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PVG : SID (NADP 1) 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>
                          <a:solidFill>
                            <a:srgbClr val="FFC000"/>
                          </a:solidFill>
                        </a:rPr>
                        <a:t>(ATC Hold Expected Fuel Add!!)</a:t>
                      </a:r>
                      <a:endParaRPr sz="800" b="0" u="none" strike="noStrike" cap="none" dirty="0">
                        <a:solidFill>
                          <a:srgbClr val="FFC000"/>
                        </a:solidFill>
                      </a:endParaRPr>
                    </a:p>
                  </a:txBody>
                  <a:tcPr marL="36000" marR="7200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6937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34L/R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/>
                        <a:t>35R/L</a:t>
                      </a:r>
                      <a:endParaRPr sz="800" b="0" u="none" strike="noStrike" cap="none" dirty="0"/>
                    </a:p>
                  </a:txBody>
                  <a:tcPr marL="0" marR="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LAM 92D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>
                          <a:solidFill>
                            <a:srgbClr val="0070C0"/>
                          </a:solidFill>
                        </a:rPr>
                        <a:t>(LAM 91D)</a:t>
                      </a:r>
                      <a:endParaRPr sz="800" b="0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348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348</a:t>
                      </a:r>
                      <a:endParaRPr sz="800" b="1" u="none" strike="noStrike" cap="none" dirty="0"/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ATC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(900m)</a:t>
                      </a:r>
                      <a:endParaRPr lang="ko-Kore-KR" dirty="0"/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348</a:t>
                      </a:r>
                      <a:endParaRPr lang="ko-Kore-KR" altLang="en-US" dirty="0"/>
                    </a:p>
                  </a:txBody>
                  <a:tcPr marL="0" marR="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6937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16R/L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/>
                        <a:t>17L/R</a:t>
                      </a:r>
                      <a:endParaRPr sz="800" b="0" u="none" strike="noStrike" cap="none" dirty="0"/>
                    </a:p>
                  </a:txBody>
                  <a:tcPr marL="0" marR="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LAM 82D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0" u="none" strike="noStrike" cap="none" dirty="0">
                          <a:solidFill>
                            <a:srgbClr val="0070C0"/>
                          </a:solidFill>
                        </a:rPr>
                        <a:t>(LAM 81D)</a:t>
                      </a: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168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168</a:t>
                      </a:r>
                      <a:endParaRPr sz="800" b="1" u="none" strike="noStrike" cap="none" dirty="0"/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ATC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(900m)</a:t>
                      </a:r>
                      <a:endParaRPr lang="ko-Kore-KR" dirty="0"/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168</a:t>
                      </a:r>
                      <a:endParaRPr lang="ko-Kore-KR" altLang="en-US" dirty="0"/>
                    </a:p>
                  </a:txBody>
                  <a:tcPr marL="0" marR="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67483">
                <a:tc rowSpan="2"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PUD 116.9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0" marR="0" marT="0" marB="0" anchor="ctr"/>
                </a:tc>
                <a:tc rowSpan="2"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rowSpan="2"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34R 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108.9</a:t>
                      </a:r>
                      <a:endParaRPr dirty="0"/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35L 108.1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34L 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108.3</a:t>
                      </a:r>
                      <a:endParaRPr dirty="0"/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35R 111.9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67483">
                <a:tc gridSpan="3" v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 v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16L 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111.5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17R 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111.1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16R 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108.7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17L 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110.7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724225180"/>
                  </a:ext>
                </a:extLst>
              </a:tr>
              <a:tr h="300679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0" marR="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34R/L(11’/12’) 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35R(10’)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35L(12’)</a:t>
                      </a: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12467’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11155’</a:t>
                      </a:r>
                      <a:endParaRPr sz="800" b="1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16L/R(12’/11’)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17L(10’)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17R(12’)</a:t>
                      </a: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16937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/>
                        <a:t>APU Start, TUG Connect After Beacon L/T ON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/>
                        <a:t>Ready for Intersection T/O</a:t>
                      </a: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119" name="Google Shape;119;p3"/>
          <p:cNvGraphicFramePr/>
          <p:nvPr>
            <p:extLst>
              <p:ext uri="{D42A27DB-BD31-4B8C-83A1-F6EECF244321}">
                <p14:modId xmlns:p14="http://schemas.microsoft.com/office/powerpoint/2010/main" val="2192046320"/>
              </p:ext>
            </p:extLst>
          </p:nvPr>
        </p:nvGraphicFramePr>
        <p:xfrm>
          <a:off x="-2501" y="16504"/>
          <a:ext cx="2328850" cy="57461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ZSPD(PVG) 13ft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RKPK(PUS) 13ft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China Eastern 130.5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dirty="0">
                          <a:solidFill>
                            <a:srgbClr val="FF0000"/>
                          </a:solidFill>
                        </a:rPr>
                        <a:t>DCL </a:t>
                      </a:r>
                      <a:r>
                        <a:rPr lang="en-US" altLang="ko-KR" sz="700" dirty="0">
                          <a:solidFill>
                            <a:srgbClr val="FF0000"/>
                          </a:solidFill>
                        </a:rPr>
                        <a:t>1</a:t>
                      </a:r>
                      <a:r>
                        <a:rPr lang="en-US" sz="700" dirty="0">
                          <a:solidFill>
                            <a:srgbClr val="FF0000"/>
                          </a:solidFill>
                        </a:rPr>
                        <a:t>0</a:t>
                      </a:r>
                      <a:r>
                        <a:rPr lang="ko-KR" altLang="en-US" sz="700" dirty="0">
                          <a:solidFill>
                            <a:srgbClr val="FF0000"/>
                          </a:solidFill>
                        </a:rPr>
                        <a:t>분전</a:t>
                      </a:r>
                      <a:r>
                        <a:rPr lang="en-US" sz="700" dirty="0">
                          <a:solidFill>
                            <a:srgbClr val="FF0000"/>
                          </a:solidFill>
                        </a:rPr>
                        <a:t>, No READ BACK!</a:t>
                      </a:r>
                      <a:endParaRPr sz="700" dirty="0">
                        <a:solidFill>
                          <a:srgbClr val="FF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</a:t>
                      </a:r>
                      <a:r>
                        <a:rPr lang="en-US" sz="900" dirty="0" err="1"/>
                        <a:t>Gimhae</a:t>
                      </a:r>
                      <a:r>
                        <a:rPr lang="en-US" sz="900" dirty="0"/>
                        <a:t> 129.2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7BA009CD-0CE1-2081-CE8C-F9EB8DF1D6DE}"/>
              </a:ext>
            </a:extLst>
          </p:cNvPr>
          <p:cNvSpPr txBox="1"/>
          <p:nvPr/>
        </p:nvSpPr>
        <p:spPr>
          <a:xfrm>
            <a:off x="20837" y="2825736"/>
            <a:ext cx="1591782" cy="782778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SHA APP 125.4 </a:t>
            </a:r>
            <a:r>
              <a:rPr kumimoji="1" lang="en-US" altLang="ko-Kore-KR" sz="700" b="1" u="sng" dirty="0">
                <a:solidFill>
                  <a:srgbClr val="C0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(Without Instruction)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SHA APP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125.62(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119.975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)</a:t>
            </a:r>
            <a:endParaRPr kumimoji="1" lang="en-US" altLang="ko-Kore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SHA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120.95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ICN 125.725(124.52) – 128.17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APP – 125.5</a:t>
            </a:r>
            <a:endParaRPr kumimoji="1" lang="ko-Kore-KR" altLang="en-US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sp>
        <p:nvSpPr>
          <p:cNvPr id="3" name="직사각형 2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857B720D-0D1B-9121-09AB-6FDEA1F31352}"/>
              </a:ext>
            </a:extLst>
          </p:cNvPr>
          <p:cNvSpPr/>
          <p:nvPr/>
        </p:nvSpPr>
        <p:spPr>
          <a:xfrm>
            <a:off x="1657574" y="2847302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E5BD0A1F-222D-F256-6A70-D874149F410B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graphicFrame>
        <p:nvGraphicFramePr>
          <p:cNvPr id="6" name="Google Shape;137;p4">
            <a:extLst>
              <a:ext uri="{FF2B5EF4-FFF2-40B4-BE49-F238E27FC236}">
                <a16:creationId xmlns:a16="http://schemas.microsoft.com/office/drawing/2014/main" id="{DFD006B3-CF59-4097-9785-492612F469A6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968053431"/>
              </p:ext>
            </p:extLst>
          </p:nvPr>
        </p:nvGraphicFramePr>
        <p:xfrm>
          <a:off x="-3340" y="3767489"/>
          <a:ext cx="2339140" cy="174265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9386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1251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6013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7262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146675">
                <a:tc gridSpan="4"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PUS : STAR </a:t>
                      </a:r>
                      <a:r>
                        <a:rPr lang="en-US" sz="800" dirty="0">
                          <a:solidFill>
                            <a:srgbClr val="FFC000"/>
                          </a:solidFill>
                        </a:rPr>
                        <a:t>(Tail Wind 36R 136000lbs F40)</a:t>
                      </a:r>
                      <a:endParaRPr sz="800" dirty="0">
                        <a:solidFill>
                          <a:srgbClr val="FFC000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3332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KEVOX x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dirty="0"/>
                        <a:t>ANROD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>
                          <a:solidFill>
                            <a:schemeClr val="dk1"/>
                          </a:solidFill>
                        </a:rPr>
                        <a:t>9DME LG, 8DME FLAP</a:t>
                      </a:r>
                      <a:endParaRPr sz="800" b="0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3332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VOR 18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GAYHA x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ANROD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rgbClr val="C00000"/>
                          </a:solidFill>
                          <a:hlinkClick r:id="rId7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18 Circling Click!!</a:t>
                      </a:r>
                      <a:endParaRPr lang="en-US" altLang="ko-Kore-KR"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712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36L(13’) 10499’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36R(8’) 8999’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18R(13’) 8530’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18L(13’) 8999’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FIX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dirty="0">
                          <a:solidFill>
                            <a:schemeClr val="dk1"/>
                          </a:solidFill>
                        </a:rPr>
                        <a:t>36 : IKMA/IKHE /9, /8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dirty="0">
                          <a:solidFill>
                            <a:schemeClr val="dk1"/>
                          </a:solidFill>
                        </a:rPr>
                        <a:t>18 : KMH R284, R280</a:t>
                      </a:r>
                      <a:endParaRPr sz="800" b="0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20050">
                <a:tc gridSpan="4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tx1"/>
                          </a:solidFill>
                        </a:rPr>
                        <a:t>36L : </a:t>
                      </a:r>
                      <a:r>
                        <a:rPr lang="en-US" sz="800" b="1" dirty="0">
                          <a:solidFill>
                            <a:srgbClr val="FF0000"/>
                          </a:solidFill>
                        </a:rPr>
                        <a:t>C4 (6299’), 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C2(7795’) / 36R : E3(5866’), E2(7339’)</a:t>
                      </a:r>
                      <a:endParaRPr dirty="0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18R : C6(5770’), C7 (6824’) / 18L : E4(5882’), E5(8792’)</a:t>
                      </a:r>
                      <a:endParaRPr sz="800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2005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Vacate </a:t>
                      </a: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C3,C4 </a:t>
                      </a:r>
                      <a:r>
                        <a:rPr lang="en-US" sz="800" dirty="0"/>
                        <a:t>by ATC only. Max Taxi SPD 20KTS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C2 HOLD SHORT </a:t>
                      </a:r>
                      <a:r>
                        <a:rPr lang="en-US" sz="800" dirty="0" err="1"/>
                        <a:t>가까움</a:t>
                      </a:r>
                      <a:r>
                        <a:rPr lang="en-US" sz="800" dirty="0"/>
                        <a:t>(Vacate </a:t>
                      </a:r>
                      <a:r>
                        <a:rPr lang="en-US" sz="800" dirty="0" err="1"/>
                        <a:t>TaxiSPD</a:t>
                      </a:r>
                      <a:r>
                        <a:rPr lang="en-US" sz="800" dirty="0"/>
                        <a:t>)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81864786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62F9807-5AEF-8D80-6311-45C5000B22FB}"/>
              </a:ext>
            </a:extLst>
          </p:cNvPr>
          <p:cNvSpPr txBox="1"/>
          <p:nvPr/>
        </p:nvSpPr>
        <p:spPr>
          <a:xfrm>
            <a:off x="-69798" y="3164294"/>
            <a:ext cx="2428870" cy="532316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125.15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126.17 – 120.72 – 124.52(125.72)</a:t>
            </a:r>
            <a:endParaRPr kumimoji="1" lang="en-US" altLang="ko-Kore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SHA 120.95 – 120.55 – 125.95 – 119.075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NKG APP 126.55 – 119.25 </a:t>
            </a:r>
          </a:p>
        </p:txBody>
      </p:sp>
      <p:graphicFrame>
        <p:nvGraphicFramePr>
          <p:cNvPr id="291" name="Google Shape;291;p18"/>
          <p:cNvGraphicFramePr/>
          <p:nvPr>
            <p:extLst>
              <p:ext uri="{D42A27DB-BD31-4B8C-83A1-F6EECF244321}">
                <p14:modId xmlns:p14="http://schemas.microsoft.com/office/powerpoint/2010/main" val="619649902"/>
              </p:ext>
            </p:extLst>
          </p:nvPr>
        </p:nvGraphicFramePr>
        <p:xfrm>
          <a:off x="0" y="635155"/>
          <a:ext cx="2332925" cy="256021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91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17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69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21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254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10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15930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SID (33/34 NADP 1, 15/16 NADP 2)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5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BOPTA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xA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BOPTA </a:t>
                      </a:r>
                      <a:r>
                        <a:rPr lang="en-US" sz="800" dirty="0" err="1"/>
                        <a:t>xY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BOPTA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xC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BOPTA </a:t>
                      </a:r>
                      <a:r>
                        <a:rPr lang="en-US" sz="800" dirty="0" err="1"/>
                        <a:t>xH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NCN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113.8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33L 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15L 111.9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15R 109.1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WNG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112.9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109.95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110.35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108.55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580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33L/R : NC05L/R, R242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YJU R271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34L/R : EO34L/R,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YJU R271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44775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33L/R 34L(23’)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15L/R 16R(23’)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4477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34R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44775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Parallel TWY 10KTS </a:t>
                      </a:r>
                      <a:r>
                        <a:rPr lang="en-US" sz="800" dirty="0" err="1"/>
                        <a:t>이상</a:t>
                      </a:r>
                      <a:r>
                        <a:rPr lang="en-US" sz="800" dirty="0"/>
                        <a:t>(R17 MAX 15kts)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292" name="Google Shape;292;p18"/>
          <p:cNvGraphicFramePr/>
          <p:nvPr>
            <p:extLst>
              <p:ext uri="{D42A27DB-BD31-4B8C-83A1-F6EECF244321}">
                <p14:modId xmlns:p14="http://schemas.microsoft.com/office/powerpoint/2010/main" val="3304439633"/>
              </p:ext>
            </p:extLst>
          </p:nvPr>
        </p:nvGraphicFramePr>
        <p:xfrm>
          <a:off x="4472" y="3705686"/>
          <a:ext cx="2331400" cy="186457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5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1952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617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03508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NKG : STAR </a:t>
                      </a:r>
                      <a:r>
                        <a:rPr lang="en-US" sz="800" b="0" dirty="0">
                          <a:solidFill>
                            <a:srgbClr val="FFC000"/>
                          </a:solidFill>
                        </a:rPr>
                        <a:t>(‘D’ N31 34.0 E118 42.1 – R101, R289)</a:t>
                      </a:r>
                      <a:endParaRPr sz="800" b="0" dirty="0">
                        <a:solidFill>
                          <a:srgbClr val="FFC000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1242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07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/>
                        <a:t>(06)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ESB 71F/21A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/>
                        <a:t>(ESB 61F/11A)</a:t>
                      </a: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SNQ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Z 07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/>
                        <a:t>(ILS Z 06)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1242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25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/>
                        <a:t>(24)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/>
                        <a:t>ESB 52F/22A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0" dirty="0"/>
                        <a:t>(ESB 42F/12A)</a:t>
                      </a: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NJ210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Z 25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0" dirty="0"/>
                        <a:t>(ILS Z 24)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84957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07(41’)      11811’      25(39’)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84957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06(43’)      11811’      24(38’)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01242">
                <a:tc gridSpan="4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07 : D5(6499’), D6(7582’), 25 : D2(6505’), D1(7582’)</a:t>
                      </a:r>
                      <a:endParaRPr sz="800" dirty="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06 : A5(6614’), A6(7860’), 24 : A3(6637’), A9(7864’)</a:t>
                      </a:r>
                      <a:r>
                        <a:rPr lang="en-US" sz="800" dirty="0">
                          <a:solidFill>
                            <a:schemeClr val="dk1"/>
                          </a:solidFill>
                        </a:rPr>
                        <a:t> 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01242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IAF, Missed App SPD APP</a:t>
                      </a:r>
                      <a:r>
                        <a:rPr lang="ko-KR" altLang="en-US" sz="800" dirty="0"/>
                        <a:t> </a:t>
                      </a:r>
                      <a:r>
                        <a:rPr lang="en-US" altLang="ko-KR" sz="800" dirty="0"/>
                        <a:t>:</a:t>
                      </a:r>
                      <a:r>
                        <a:rPr lang="ko-KR" altLang="en-US" sz="800" dirty="0"/>
                        <a:t> </a:t>
                      </a:r>
                      <a:r>
                        <a:rPr lang="en-US" altLang="ko-KR" sz="800" dirty="0"/>
                        <a:t>210kts or 205kts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Follow Me Car on C 13, APU off Procedure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293" name="Google Shape;293;p18"/>
          <p:cNvGraphicFramePr/>
          <p:nvPr>
            <p:extLst>
              <p:ext uri="{D42A27DB-BD31-4B8C-83A1-F6EECF244321}">
                <p14:modId xmlns:p14="http://schemas.microsoft.com/office/powerpoint/2010/main" val="4121388174"/>
              </p:ext>
            </p:extLst>
          </p:nvPr>
        </p:nvGraphicFramePr>
        <p:xfrm>
          <a:off x="-2501" y="16504"/>
          <a:ext cx="2328850" cy="57881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ZSNJ(NKG) 49ft</a:t>
                      </a:r>
                      <a:endParaRPr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KE ICN 131.5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600"/>
                        <a:buFont typeface="Calibri"/>
                        <a:buNone/>
                      </a:pPr>
                      <a:r>
                        <a:rPr lang="en-US" sz="60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-10분 TOBT 5분 차이시 CTC Comm</a:t>
                      </a:r>
                      <a:endParaRPr sz="90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None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3DCAAF97-49DD-AE80-34AF-512BE900E983}"/>
              </a:ext>
            </a:extLst>
          </p:cNvPr>
          <p:cNvSpPr/>
          <p:nvPr/>
        </p:nvSpPr>
        <p:spPr>
          <a:xfrm>
            <a:off x="1669148" y="3437607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7BC0B007-1D05-0F91-185F-EF18A8FB3CE3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710793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7" name="Google Shape;397;p3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1" y="-9795"/>
            <a:ext cx="2328863" cy="5064777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66ABCDBC-383F-5581-5E39-83905EACA8B3}"/>
              </a:ext>
            </a:extLst>
          </p:cNvPr>
          <p:cNvSpPr txBox="1"/>
          <p:nvPr/>
        </p:nvSpPr>
        <p:spPr>
          <a:xfrm>
            <a:off x="1278611" y="4006314"/>
            <a:ext cx="1031051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900" b="1" dirty="0">
                <a:solidFill>
                  <a:srgbClr val="0070C0"/>
                </a:solidFill>
              </a:rPr>
              <a:t>550M       1800ft</a:t>
            </a:r>
            <a:endParaRPr kumimoji="1" lang="ko-Kore-KR" altLang="en-US" sz="900" b="1" dirty="0">
              <a:solidFill>
                <a:srgbClr val="0070C0"/>
              </a:solidFill>
            </a:endParaRP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A9EEFEB8-F9E4-386F-27B1-F3014416BF74}"/>
              </a:ext>
            </a:extLst>
          </p:cNvPr>
          <p:cNvSpPr/>
          <p:nvPr/>
        </p:nvSpPr>
        <p:spPr>
          <a:xfrm>
            <a:off x="55571" y="3177666"/>
            <a:ext cx="1000283" cy="333428"/>
          </a:xfrm>
          <a:prstGeom prst="rect">
            <a:avLst/>
          </a:prstGeom>
          <a:noFill/>
          <a:ln w="3492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FC66845-A7AA-98C4-534C-70B808775E8B}"/>
              </a:ext>
            </a:extLst>
          </p:cNvPr>
          <p:cNvSpPr txBox="1"/>
          <p:nvPr/>
        </p:nvSpPr>
        <p:spPr>
          <a:xfrm>
            <a:off x="997707" y="3142302"/>
            <a:ext cx="330540" cy="41287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900" b="1" dirty="0">
                <a:solidFill>
                  <a:srgbClr val="0070C0"/>
                </a:solidFill>
              </a:rPr>
              <a:t>TL</a:t>
            </a:r>
          </a:p>
          <a:p>
            <a:pPr algn="dist">
              <a:lnSpc>
                <a:spcPct val="150000"/>
              </a:lnSpc>
            </a:pPr>
            <a:r>
              <a:rPr kumimoji="1" lang="en-US" altLang="ko-Kore-KR" sz="900" b="1" dirty="0">
                <a:solidFill>
                  <a:srgbClr val="0070C0"/>
                </a:solidFill>
              </a:rPr>
              <a:t>TA</a:t>
            </a:r>
            <a:endParaRPr kumimoji="1" lang="ko-Kore-KR" altLang="en-US" sz="900" b="1" dirty="0">
              <a:solidFill>
                <a:srgbClr val="0070C0"/>
              </a:solidFill>
            </a:endParaRPr>
          </a:p>
        </p:txBody>
      </p:sp>
      <p:sp>
        <p:nvSpPr>
          <p:cNvPr id="6" name="직사각형 5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B8B7E4DE-4422-34F1-D7EA-F356A7B42392}"/>
              </a:ext>
            </a:extLst>
          </p:cNvPr>
          <p:cNvSpPr/>
          <p:nvPr/>
        </p:nvSpPr>
        <p:spPr>
          <a:xfrm>
            <a:off x="847353" y="527797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164454607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17" name="Google Shape;117;p3"/>
          <p:cNvGraphicFramePr/>
          <p:nvPr>
            <p:extLst>
              <p:ext uri="{D42A27DB-BD31-4B8C-83A1-F6EECF244321}">
                <p14:modId xmlns:p14="http://schemas.microsoft.com/office/powerpoint/2010/main" val="3729305340"/>
              </p:ext>
            </p:extLst>
          </p:nvPr>
        </p:nvGraphicFramePr>
        <p:xfrm>
          <a:off x="-4046" y="595076"/>
          <a:ext cx="2335723" cy="179257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4246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670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129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3107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5603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1400">
                  <a:extLst>
                    <a:ext uri="{9D8B030D-6E8A-4147-A177-3AD203B41FA5}">
                      <a16:colId xmlns:a16="http://schemas.microsoft.com/office/drawing/2014/main" val="2940550374"/>
                    </a:ext>
                  </a:extLst>
                </a:gridCol>
                <a:gridCol w="614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99169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73273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211274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412058">
                  <a:extLst>
                    <a:ext uri="{9D8B030D-6E8A-4147-A177-3AD203B41FA5}">
                      <a16:colId xmlns:a16="http://schemas.microsoft.com/office/drawing/2014/main" val="448940902"/>
                    </a:ext>
                  </a:extLst>
                </a:gridCol>
              </a:tblGrid>
              <a:tr h="0">
                <a:tc gridSpan="1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NKG : SID (NADP 1) 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>
                          <a:solidFill>
                            <a:srgbClr val="FFC000"/>
                          </a:solidFill>
                        </a:rPr>
                        <a:t>(ATC Hold Expected Fuel Add!!)</a:t>
                      </a:r>
                      <a:endParaRPr sz="800" b="0" u="none" strike="noStrike" cap="none" dirty="0">
                        <a:solidFill>
                          <a:srgbClr val="FFC000"/>
                        </a:solidFill>
                      </a:endParaRPr>
                    </a:p>
                  </a:txBody>
                  <a:tcPr marL="36000" marR="7200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06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/>
                        <a:t>(07)</a:t>
                      </a:r>
                      <a:endParaRPr sz="800" b="0" u="none" strike="noStrike" cap="none" dirty="0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ESB 61X/11D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>
                          <a:solidFill>
                            <a:srgbClr val="0070C0"/>
                          </a:solidFill>
                        </a:rPr>
                        <a:t>(ESB 71X/21D)</a:t>
                      </a:r>
                      <a:endParaRPr sz="800" b="0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064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064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(900m)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900m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1" u="none" strike="noStrike" cap="none">
                          <a:solidFill>
                            <a:srgbClr val="C00000"/>
                          </a:solidFill>
                        </a:rPr>
                        <a:t>064</a:t>
                      </a:r>
                      <a:endParaRPr lang="ko-Kore-KR" altLang="en-US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24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(25)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ESB 42X/12D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0" u="none" strike="noStrike" cap="none" dirty="0">
                          <a:solidFill>
                            <a:srgbClr val="0070C0"/>
                          </a:solidFill>
                        </a:rPr>
                        <a:t>(ESB 52X/22D)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244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244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(900m)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900m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244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5700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NJL 113.6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07 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108.7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25 111.3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06 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110.3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24 110.9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016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u="none" strike="noStrike" cap="none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06(43’) 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07(41’)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11811’</a:t>
                      </a:r>
                      <a:endParaRPr sz="800" b="1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24(38’)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25(39’)</a:t>
                      </a:r>
                      <a:endParaRPr sz="800" b="1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5700">
                <a:tc gridSpan="1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/>
                        <a:t>APU Start, TUG Connect After Beacon L/T ON</a:t>
                      </a:r>
                      <a:endParaRPr dirty="0">
                        <a:solidFill>
                          <a:srgbClr val="FF0000"/>
                        </a:solidFill>
                      </a:endParaRP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119" name="Google Shape;119;p3"/>
          <p:cNvGraphicFramePr/>
          <p:nvPr>
            <p:extLst>
              <p:ext uri="{D42A27DB-BD31-4B8C-83A1-F6EECF244321}">
                <p14:modId xmlns:p14="http://schemas.microsoft.com/office/powerpoint/2010/main" val="3206454804"/>
              </p:ext>
            </p:extLst>
          </p:nvPr>
        </p:nvGraphicFramePr>
        <p:xfrm>
          <a:off x="-2501" y="16504"/>
          <a:ext cx="2328850" cy="57461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ZSNJ(NKG) 49ft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None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dirty="0">
                          <a:solidFill>
                            <a:srgbClr val="FF0000"/>
                          </a:solidFill>
                        </a:rPr>
                        <a:t>DCL </a:t>
                      </a:r>
                      <a:r>
                        <a:rPr lang="ko-KR" altLang="en-US" sz="700" dirty="0">
                          <a:solidFill>
                            <a:srgbClr val="FF0000"/>
                          </a:solidFill>
                        </a:rPr>
                        <a:t>가능</a:t>
                      </a:r>
                      <a:r>
                        <a:rPr lang="en-US" sz="700" dirty="0">
                          <a:solidFill>
                            <a:srgbClr val="FF0000"/>
                          </a:solidFill>
                        </a:rPr>
                        <a:t>, READ BACK!</a:t>
                      </a:r>
                      <a:endParaRPr sz="700" dirty="0">
                        <a:solidFill>
                          <a:srgbClr val="FF0000"/>
                        </a:solidFill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7BA009CD-0CE1-2081-CE8C-F9EB8DF1D6DE}"/>
              </a:ext>
            </a:extLst>
          </p:cNvPr>
          <p:cNvSpPr txBox="1"/>
          <p:nvPr/>
        </p:nvSpPr>
        <p:spPr>
          <a:xfrm>
            <a:off x="-27918" y="2370769"/>
            <a:ext cx="1933543" cy="855482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119.25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NKG APP 126.55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SHA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119.075 – 125.95 - 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20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.55 -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120.95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ICN 125.725(124.52) – 120.72 – 126.17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APP – 119.75</a:t>
            </a:r>
            <a:endParaRPr kumimoji="1" lang="ko-Kore-KR" altLang="en-US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graphicFrame>
        <p:nvGraphicFramePr>
          <p:cNvPr id="5" name="Google Shape;303;p19">
            <a:extLst>
              <a:ext uri="{FF2B5EF4-FFF2-40B4-BE49-F238E27FC236}">
                <a16:creationId xmlns:a16="http://schemas.microsoft.com/office/drawing/2014/main" id="{9A6F36E3-64E2-A97B-D85E-56AC20DB660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639451313"/>
              </p:ext>
            </p:extLst>
          </p:nvPr>
        </p:nvGraphicFramePr>
        <p:xfrm>
          <a:off x="1119" y="3405664"/>
          <a:ext cx="2325975" cy="2130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59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3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55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774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STAR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33/34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</a:t>
                      </a:r>
                      <a:r>
                        <a:rPr lang="en-US" sz="800" b="1" dirty="0" err="1"/>
                        <a:t>xE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ENPIL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180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15/16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</a:t>
                      </a:r>
                      <a:r>
                        <a:rPr lang="en-US" sz="800" b="1" dirty="0" err="1"/>
                        <a:t>xH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MUNAN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180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285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33L/R 34L(23’)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15L/R 16R(23’)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285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34R(23’)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13123’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16L(23’)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64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FIX</a:t>
                      </a:r>
                      <a:endParaRPr/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RWY /8, /5 , YJU R271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C4(7529’),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C5(8513’), 33L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: B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7563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8513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C2(7522’),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C1(8536’), 15R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B3(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7454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B2(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8641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P7(5600’),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P8(6578’), 34R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N4(6876’),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N5(8507‘)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P6(5597’),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P5(6574’), 16L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N3(7043‘),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N2(8444‘)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01600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8NM 180kts, 5NM 160kts, Parr TAXI 10kts이상,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HIRO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3" name="직사각형 2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B72E208F-F9E3-4DBD-EA14-654CF7F7CDE4}"/>
              </a:ext>
            </a:extLst>
          </p:cNvPr>
          <p:cNvSpPr/>
          <p:nvPr/>
        </p:nvSpPr>
        <p:spPr>
          <a:xfrm>
            <a:off x="1651787" y="3078797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FECA2F9E-B6DB-CD38-1DE9-D46BCCC5931C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642095078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62F9807-5AEF-8D80-6311-45C5000B22FB}"/>
              </a:ext>
            </a:extLst>
          </p:cNvPr>
          <p:cNvSpPr txBox="1"/>
          <p:nvPr/>
        </p:nvSpPr>
        <p:spPr>
          <a:xfrm>
            <a:off x="-55838" y="3121870"/>
            <a:ext cx="1887055" cy="532316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125.15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128.7 – DLC 132.95</a:t>
            </a:r>
            <a:endParaRPr kumimoji="1" lang="en-US" altLang="ko-Kore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TAO 1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28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.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5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5 – 134.85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TAO APP 1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19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.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77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– 119.4 </a:t>
            </a:r>
          </a:p>
        </p:txBody>
      </p:sp>
      <p:graphicFrame>
        <p:nvGraphicFramePr>
          <p:cNvPr id="291" name="Google Shape;291;p18"/>
          <p:cNvGraphicFramePr/>
          <p:nvPr>
            <p:extLst>
              <p:ext uri="{D42A27DB-BD31-4B8C-83A1-F6EECF244321}">
                <p14:modId xmlns:p14="http://schemas.microsoft.com/office/powerpoint/2010/main" val="1746373860"/>
              </p:ext>
            </p:extLst>
          </p:nvPr>
        </p:nvGraphicFramePr>
        <p:xfrm>
          <a:off x="0" y="614947"/>
          <a:ext cx="2332925" cy="256021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91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17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69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21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254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10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15930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SID (33/34 NADP 1, 15/16 NADP 2)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5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NOPIK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xA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NOPIK </a:t>
                      </a:r>
                      <a:r>
                        <a:rPr lang="en-US" sz="800" dirty="0" err="1"/>
                        <a:t>xY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BINIL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xC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BINIL </a:t>
                      </a:r>
                      <a:r>
                        <a:rPr lang="en-US" sz="800" dirty="0" err="1"/>
                        <a:t>xH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NCN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113.8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33L 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15L 111.9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15R 109.1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WNG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112.9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109.95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110.35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108.55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580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33L/R : NC05L/R,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P518 R068, R278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34L/R : EO34L/R,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ore-KR" sz="800" dirty="0"/>
                        <a:t>P518 R068, R278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44775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33L/R 34L(23’)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15L/R 16R(23’)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4477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34R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44775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Parallel TWY 10KTS </a:t>
                      </a:r>
                      <a:r>
                        <a:rPr lang="en-US" sz="800" dirty="0" err="1"/>
                        <a:t>이상</a:t>
                      </a:r>
                      <a:r>
                        <a:rPr lang="en-US" sz="800" dirty="0"/>
                        <a:t>(R17 MAX 15kts)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292" name="Google Shape;292;p18"/>
          <p:cNvGraphicFramePr/>
          <p:nvPr>
            <p:extLst>
              <p:ext uri="{D42A27DB-BD31-4B8C-83A1-F6EECF244321}">
                <p14:modId xmlns:p14="http://schemas.microsoft.com/office/powerpoint/2010/main" val="1004166409"/>
              </p:ext>
            </p:extLst>
          </p:nvPr>
        </p:nvGraphicFramePr>
        <p:xfrm>
          <a:off x="4472" y="3705686"/>
          <a:ext cx="2331400" cy="181465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5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1952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617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73813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TAO : STAR  </a:t>
                      </a:r>
                      <a:r>
                        <a:rPr lang="en-US" sz="800" b="0" dirty="0">
                          <a:solidFill>
                            <a:srgbClr val="FFC000"/>
                          </a:solidFill>
                        </a:rPr>
                        <a:t>(After AGAVO Direct IKEKA then LATUX)</a:t>
                      </a:r>
                      <a:endParaRPr sz="800" b="0" dirty="0">
                        <a:solidFill>
                          <a:srgbClr val="FFC000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1513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dirty="0"/>
                        <a:t>35</a:t>
                      </a:r>
                      <a:r>
                        <a:rPr lang="en-US" sz="800" b="0" dirty="0"/>
                        <a:t>(</a:t>
                      </a:r>
                      <a:r>
                        <a:rPr lang="en-US" altLang="ko-KR" sz="800" b="0" dirty="0"/>
                        <a:t>34</a:t>
                      </a:r>
                      <a:r>
                        <a:rPr lang="en-US" sz="800" b="0" dirty="0"/>
                        <a:t>)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LAT 91A/01A</a:t>
                      </a: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JD405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Z 35</a:t>
                      </a:r>
                      <a:r>
                        <a:rPr lang="en-US" sz="800" b="0" dirty="0"/>
                        <a:t>(34)</a:t>
                      </a: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57969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dirty="0"/>
                        <a:t>17</a:t>
                      </a:r>
                      <a:r>
                        <a:rPr lang="en-US" sz="800" b="0" dirty="0"/>
                        <a:t>(</a:t>
                      </a:r>
                      <a:r>
                        <a:rPr lang="en-US" altLang="ko-KR" sz="800" b="0" dirty="0"/>
                        <a:t>16</a:t>
                      </a:r>
                      <a:r>
                        <a:rPr lang="en-US" sz="800" b="0" dirty="0"/>
                        <a:t>)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/>
                        <a:t>LAT 81A/11A</a:t>
                      </a: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JD305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Z 17</a:t>
                      </a:r>
                      <a:r>
                        <a:rPr lang="en-US" altLang="ko-Kore-KR" sz="800" b="0" dirty="0"/>
                        <a:t>(16)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57969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35(27’)      11811’      17(29’)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57969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dirty="0">
                          <a:solidFill>
                            <a:srgbClr val="00B050"/>
                          </a:solidFill>
                        </a:rPr>
                        <a:t>34(27’)      11811’      16(27’)</a:t>
                      </a:r>
                      <a:endParaRPr sz="800" b="0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57969">
                <a:tc gridSpan="4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FIX : 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AVBIK R014, LAROP R159, R183 (</a:t>
                      </a:r>
                      <a:r>
                        <a:rPr kumimoji="0" lang="ko-Kore-KR" altLang="en-US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두점</a:t>
                      </a:r>
                      <a:r>
                        <a:rPr kumimoji="0" lang="ko-KR" altLang="en-US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 연결</a:t>
                      </a:r>
                      <a:r>
                        <a:rPr kumimoji="0" lang="en-US" altLang="ko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 )</a:t>
                      </a:r>
                      <a:endParaRPr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01193734"/>
                  </a:ext>
                </a:extLst>
              </a:tr>
              <a:tr h="257286">
                <a:tc gridSpan="4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35 : S2(5255’), S4(6624’), 17 : S1(5282’), S3(6604’)</a:t>
                      </a:r>
                      <a:endParaRPr sz="800" dirty="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34 : R2(5278’), R4(6650’), 16 : R1(5318’), R3(6706’)</a:t>
                      </a:r>
                      <a:r>
                        <a:rPr lang="en-US" sz="800" dirty="0">
                          <a:solidFill>
                            <a:schemeClr val="dk1"/>
                          </a:solidFill>
                        </a:rPr>
                        <a:t> 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57286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ko-KR" altLang="en-US" sz="800" dirty="0">
                          <a:solidFill>
                            <a:srgbClr val="0070C0"/>
                          </a:solidFill>
                        </a:rPr>
                        <a:t>위의 </a:t>
                      </a:r>
                      <a:r>
                        <a:rPr lang="en-US" altLang="ko-KR" sz="800" dirty="0">
                          <a:solidFill>
                            <a:srgbClr val="0070C0"/>
                          </a:solidFill>
                        </a:rPr>
                        <a:t>Point </a:t>
                      </a:r>
                      <a:r>
                        <a:rPr lang="ko-KR" altLang="en-US" sz="800" dirty="0">
                          <a:solidFill>
                            <a:srgbClr val="0070C0"/>
                          </a:solidFill>
                        </a:rPr>
                        <a:t>불가시 </a:t>
                      </a:r>
                      <a:r>
                        <a:rPr lang="en-US" altLang="ko-KR" sz="800" dirty="0">
                          <a:solidFill>
                            <a:srgbClr val="0070C0"/>
                          </a:solidFill>
                        </a:rPr>
                        <a:t>TWR</a:t>
                      </a:r>
                      <a:r>
                        <a:rPr lang="ko-KR" altLang="en-US" sz="800" dirty="0">
                          <a:solidFill>
                            <a:srgbClr val="0070C0"/>
                          </a:solidFill>
                        </a:rPr>
                        <a:t> 보고</a:t>
                      </a:r>
                      <a:r>
                        <a:rPr lang="en-US" altLang="ko-KR" sz="800" dirty="0"/>
                        <a:t>,  </a:t>
                      </a:r>
                      <a:r>
                        <a:rPr lang="en-US" altLang="ko-KR" sz="800" dirty="0">
                          <a:solidFill>
                            <a:srgbClr val="FF0000"/>
                          </a:solidFill>
                        </a:rPr>
                        <a:t>Apron CTC </a:t>
                      </a:r>
                      <a:r>
                        <a:rPr lang="ko-KR" altLang="en-US" sz="800" dirty="0">
                          <a:solidFill>
                            <a:srgbClr val="FF0000"/>
                          </a:solidFill>
                        </a:rPr>
                        <a:t>주의</a:t>
                      </a:r>
                      <a:endParaRPr lang="en-US" altLang="ko-KR" sz="800" dirty="0">
                        <a:solidFill>
                          <a:srgbClr val="FF0000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R" sz="800" dirty="0"/>
                        <a:t> </a:t>
                      </a:r>
                      <a:r>
                        <a:rPr lang="en-US" sz="800" dirty="0"/>
                        <a:t>Follow Me Car on </a:t>
                      </a:r>
                      <a:r>
                        <a:rPr lang="en-US" sz="800" dirty="0" err="1"/>
                        <a:t>Lxx</a:t>
                      </a:r>
                      <a:r>
                        <a:rPr lang="en-US" sz="800" dirty="0"/>
                        <a:t> APU off Procedure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293" name="Google Shape;293;p18"/>
          <p:cNvGraphicFramePr/>
          <p:nvPr>
            <p:extLst>
              <p:ext uri="{D42A27DB-BD31-4B8C-83A1-F6EECF244321}">
                <p14:modId xmlns:p14="http://schemas.microsoft.com/office/powerpoint/2010/main" val="897201385"/>
              </p:ext>
            </p:extLst>
          </p:nvPr>
        </p:nvGraphicFramePr>
        <p:xfrm>
          <a:off x="-2501" y="16504"/>
          <a:ext cx="2328850" cy="57881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ZSQD(TAO) 30ft</a:t>
                      </a:r>
                      <a:endParaRPr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KE ICN 131.5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600"/>
                        <a:buFont typeface="Calibri"/>
                        <a:buNone/>
                      </a:pPr>
                      <a:r>
                        <a:rPr lang="en-US" sz="60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-10분 TOBT 5분 차이시 CTC Comm</a:t>
                      </a:r>
                      <a:endParaRPr sz="90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None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22354A7B-36AB-097D-3F10-173DF5226C8D}"/>
              </a:ext>
            </a:extLst>
          </p:cNvPr>
          <p:cNvSpPr/>
          <p:nvPr/>
        </p:nvSpPr>
        <p:spPr>
          <a:xfrm>
            <a:off x="1651787" y="3373948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BC6CC48E-992D-2E1B-2E89-6F444175F83D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815432870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7" name="Google Shape;397;p3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1" y="-9795"/>
            <a:ext cx="2328863" cy="5064777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66ABCDBC-383F-5581-5E39-83905EACA8B3}"/>
              </a:ext>
            </a:extLst>
          </p:cNvPr>
          <p:cNvSpPr txBox="1"/>
          <p:nvPr/>
        </p:nvSpPr>
        <p:spPr>
          <a:xfrm>
            <a:off x="1278611" y="4006314"/>
            <a:ext cx="1031051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900" b="1" dirty="0">
                <a:solidFill>
                  <a:srgbClr val="0070C0"/>
                </a:solidFill>
              </a:rPr>
              <a:t>550M       1800ft</a:t>
            </a:r>
            <a:endParaRPr kumimoji="1" lang="ko-Kore-KR" altLang="en-US" sz="900" b="1" dirty="0">
              <a:solidFill>
                <a:srgbClr val="0070C0"/>
              </a:solidFill>
            </a:endParaRP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A9EEFEB8-F9E4-386F-27B1-F3014416BF74}"/>
              </a:ext>
            </a:extLst>
          </p:cNvPr>
          <p:cNvSpPr/>
          <p:nvPr/>
        </p:nvSpPr>
        <p:spPr>
          <a:xfrm>
            <a:off x="55571" y="3177666"/>
            <a:ext cx="1000283" cy="333428"/>
          </a:xfrm>
          <a:prstGeom prst="rect">
            <a:avLst/>
          </a:prstGeom>
          <a:noFill/>
          <a:ln w="3492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FC66845-A7AA-98C4-534C-70B808775E8B}"/>
              </a:ext>
            </a:extLst>
          </p:cNvPr>
          <p:cNvSpPr txBox="1"/>
          <p:nvPr/>
        </p:nvSpPr>
        <p:spPr>
          <a:xfrm>
            <a:off x="997707" y="3142302"/>
            <a:ext cx="330540" cy="41287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900" b="1" dirty="0">
                <a:solidFill>
                  <a:srgbClr val="0070C0"/>
                </a:solidFill>
              </a:rPr>
              <a:t>TL</a:t>
            </a:r>
          </a:p>
          <a:p>
            <a:pPr algn="dist">
              <a:lnSpc>
                <a:spcPct val="150000"/>
              </a:lnSpc>
            </a:pPr>
            <a:r>
              <a:rPr kumimoji="1" lang="en-US" altLang="ko-Kore-KR" sz="900" b="1" dirty="0">
                <a:solidFill>
                  <a:srgbClr val="0070C0"/>
                </a:solidFill>
              </a:rPr>
              <a:t>TA</a:t>
            </a:r>
            <a:endParaRPr kumimoji="1" lang="ko-Kore-KR" altLang="en-US" sz="900" b="1" dirty="0">
              <a:solidFill>
                <a:srgbClr val="0070C0"/>
              </a:solidFill>
            </a:endParaRPr>
          </a:p>
        </p:txBody>
      </p:sp>
      <p:sp>
        <p:nvSpPr>
          <p:cNvPr id="6" name="직사각형 5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9190E0B1-16E2-F3B3-F774-AFEF578BCE99}"/>
              </a:ext>
            </a:extLst>
          </p:cNvPr>
          <p:cNvSpPr/>
          <p:nvPr/>
        </p:nvSpPr>
        <p:spPr>
          <a:xfrm>
            <a:off x="847353" y="527797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014104371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17" name="Google Shape;117;p3"/>
          <p:cNvGraphicFramePr/>
          <p:nvPr>
            <p:extLst>
              <p:ext uri="{D42A27DB-BD31-4B8C-83A1-F6EECF244321}">
                <p14:modId xmlns:p14="http://schemas.microsoft.com/office/powerpoint/2010/main" val="925535433"/>
              </p:ext>
            </p:extLst>
          </p:nvPr>
        </p:nvGraphicFramePr>
        <p:xfrm>
          <a:off x="-4046" y="706220"/>
          <a:ext cx="2335723" cy="186457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4246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670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129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3107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5603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1400">
                  <a:extLst>
                    <a:ext uri="{9D8B030D-6E8A-4147-A177-3AD203B41FA5}">
                      <a16:colId xmlns:a16="http://schemas.microsoft.com/office/drawing/2014/main" val="2940550374"/>
                    </a:ext>
                  </a:extLst>
                </a:gridCol>
                <a:gridCol w="614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99169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73273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211274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412058">
                  <a:extLst>
                    <a:ext uri="{9D8B030D-6E8A-4147-A177-3AD203B41FA5}">
                      <a16:colId xmlns:a16="http://schemas.microsoft.com/office/drawing/2014/main" val="448940902"/>
                    </a:ext>
                  </a:extLst>
                </a:gridCol>
              </a:tblGrid>
              <a:tr h="0">
                <a:tc gridSpan="1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TAO : SID (NADP 1) </a:t>
                      </a:r>
                      <a:r>
                        <a:rPr lang="en-US" sz="800" u="none" strike="noStrike" cap="none" dirty="0">
                          <a:solidFill>
                            <a:srgbClr val="FFC000"/>
                          </a:solidFill>
                        </a:rPr>
                        <a:t>Walk Around Ramp Pass &amp; PW</a:t>
                      </a:r>
                    </a:p>
                  </a:txBody>
                  <a:tcPr marL="36000" marR="7200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u="none" strike="noStrike" cap="none" dirty="0"/>
                        <a:t>34</a:t>
                      </a:r>
                      <a:endParaRPr lang="en-US" sz="800" b="1" u="none" strike="noStrike" cap="none"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/>
                        <a:t>(</a:t>
                      </a:r>
                      <a:r>
                        <a:rPr lang="en-US" altLang="ko-KR" sz="800" b="0" u="none" strike="noStrike" cap="none" dirty="0"/>
                        <a:t>35</a:t>
                      </a:r>
                      <a:r>
                        <a:rPr lang="en-US" sz="800" b="0" u="none" strike="noStrike" cap="none" dirty="0"/>
                        <a:t>)</a:t>
                      </a:r>
                      <a:endParaRPr sz="800" b="0" u="none" strike="noStrike" cap="none" dirty="0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LAT 91D/01D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350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350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ATC 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(900m)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900m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350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16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/>
                        <a:t>(17)</a:t>
                      </a:r>
                      <a:endParaRPr sz="800" b="0" u="none" strike="noStrike" cap="none" dirty="0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LAT 81D/11D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170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170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ATC 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(900m)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900m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170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5700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JDG 114.45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17 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110.15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35 109.75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16 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111.9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34 108.55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016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u="none" strike="noStrike" cap="none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34(27’) 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35(27’)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11811’</a:t>
                      </a:r>
                      <a:endParaRPr sz="800" b="1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16(27’)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17(29’)</a:t>
                      </a:r>
                      <a:endParaRPr sz="800" b="0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5700">
                <a:tc gridSpan="11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  FIX : AVBIK R014, LAROP R159, R183 (</a:t>
                      </a:r>
                      <a:r>
                        <a:rPr kumimoji="0" lang="ko-KR" altLang="en-US" sz="800" b="0" i="0" u="none" strike="noStrike" kern="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두점</a:t>
                      </a:r>
                      <a:r>
                        <a:rPr kumimoji="0" lang="ko-KR" altLang="en-US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 연결</a:t>
                      </a:r>
                      <a:r>
                        <a:rPr kumimoji="0" lang="en-US" altLang="ko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)</a:t>
                      </a:r>
                      <a:endParaRPr kumimoji="0" lang="ko-KR" altLang="en-US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36188796"/>
                  </a:ext>
                </a:extLst>
              </a:tr>
              <a:tr h="115700">
                <a:tc gridSpan="1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Heading 190, Join W209 -&gt;  DCT LATUX CRS 148</a:t>
                      </a:r>
                      <a:endParaRPr b="1" dirty="0">
                        <a:solidFill>
                          <a:srgbClr val="0070C0"/>
                        </a:solidFill>
                      </a:endParaRP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119" name="Google Shape;119;p3"/>
          <p:cNvGraphicFramePr/>
          <p:nvPr>
            <p:extLst>
              <p:ext uri="{D42A27DB-BD31-4B8C-83A1-F6EECF244321}">
                <p14:modId xmlns:p14="http://schemas.microsoft.com/office/powerpoint/2010/main" val="622359418"/>
              </p:ext>
            </p:extLst>
          </p:nvPr>
        </p:nvGraphicFramePr>
        <p:xfrm>
          <a:off x="-2501" y="16504"/>
          <a:ext cx="2328850" cy="68129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ZSQD(TAO) 30ft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None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dirty="0">
                          <a:solidFill>
                            <a:srgbClr val="FF0000"/>
                          </a:solidFill>
                        </a:rPr>
                        <a:t>DCL </a:t>
                      </a:r>
                      <a:r>
                        <a:rPr lang="ko-KR" altLang="en-US" sz="700" dirty="0">
                          <a:solidFill>
                            <a:srgbClr val="FF0000"/>
                          </a:solidFill>
                        </a:rPr>
                        <a:t>가능</a:t>
                      </a:r>
                      <a:r>
                        <a:rPr lang="en-US" sz="700" dirty="0">
                          <a:solidFill>
                            <a:srgbClr val="FF0000"/>
                          </a:solidFill>
                        </a:rPr>
                        <a:t>, No READ BACK!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dirty="0">
                          <a:solidFill>
                            <a:srgbClr val="FF0000"/>
                          </a:solidFill>
                        </a:rPr>
                        <a:t>(Voice 10</a:t>
                      </a:r>
                      <a:r>
                        <a:rPr lang="ko-KR" altLang="en-US" sz="700" dirty="0">
                          <a:solidFill>
                            <a:srgbClr val="FF0000"/>
                          </a:solidFill>
                        </a:rPr>
                        <a:t>분전</a:t>
                      </a:r>
                      <a:r>
                        <a:rPr lang="en-US" altLang="ko-KR" sz="700" dirty="0">
                          <a:solidFill>
                            <a:srgbClr val="FF0000"/>
                          </a:solidFill>
                        </a:rPr>
                        <a:t> </a:t>
                      </a:r>
                      <a:r>
                        <a:rPr lang="ko-KR" altLang="en-US" sz="700" dirty="0" err="1">
                          <a:solidFill>
                            <a:srgbClr val="FF0000"/>
                          </a:solidFill>
                        </a:rPr>
                        <a:t>부터</a:t>
                      </a:r>
                      <a:r>
                        <a:rPr lang="en-US" altLang="ko-KR" sz="700" dirty="0">
                          <a:solidFill>
                            <a:srgbClr val="FF0000"/>
                          </a:solidFill>
                        </a:rPr>
                        <a:t>)</a:t>
                      </a:r>
                      <a:endParaRPr sz="700" dirty="0">
                        <a:solidFill>
                          <a:srgbClr val="FF0000"/>
                        </a:solidFill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7BA009CD-0CE1-2081-CE8C-F9EB8DF1D6DE}"/>
              </a:ext>
            </a:extLst>
          </p:cNvPr>
          <p:cNvSpPr txBox="1"/>
          <p:nvPr/>
        </p:nvSpPr>
        <p:spPr>
          <a:xfrm>
            <a:off x="-22069" y="2620659"/>
            <a:ext cx="1345240" cy="693899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TAO APP 119.4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TAO 119.73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TAO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134.85 – DLC 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132.95</a:t>
            </a:r>
            <a:endParaRPr kumimoji="1" lang="en-US" altLang="ko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ICN 128.7 – APP 119.75</a:t>
            </a:r>
          </a:p>
        </p:txBody>
      </p:sp>
      <p:graphicFrame>
        <p:nvGraphicFramePr>
          <p:cNvPr id="5" name="Google Shape;303;p19">
            <a:extLst>
              <a:ext uri="{FF2B5EF4-FFF2-40B4-BE49-F238E27FC236}">
                <a16:creationId xmlns:a16="http://schemas.microsoft.com/office/drawing/2014/main" id="{9A6F36E3-64E2-A97B-D85E-56AC20DB660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422518493"/>
              </p:ext>
            </p:extLst>
          </p:nvPr>
        </p:nvGraphicFramePr>
        <p:xfrm>
          <a:off x="1119" y="3405664"/>
          <a:ext cx="2325975" cy="2130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59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3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55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774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STAR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33/34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</a:t>
                      </a:r>
                      <a:r>
                        <a:rPr lang="en-US" sz="800" b="1" dirty="0" err="1"/>
                        <a:t>xA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PAMBI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170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15/16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</a:t>
                      </a:r>
                      <a:r>
                        <a:rPr lang="en-US" sz="800" b="1" dirty="0" err="1"/>
                        <a:t>xH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MUNAN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170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285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33L/R 34L(23’)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15L/R 16R(23’)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285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34R(23’)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13123’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16L(23’)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64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FIX</a:t>
                      </a:r>
                      <a:endParaRPr/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RWY /8, /5 , P518 R068, R278</a:t>
                      </a:r>
                      <a:endParaRPr sz="458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C4(7529’),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C5(8513’), 33L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: B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7563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8513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C2(7522’),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C1(8536’), 15R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B3(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7454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B2(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8641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P7(5600’),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P8(6578’), 34R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N4(6876’),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N5(8507‘)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P6(5597’),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P5(6574’), 16L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N3(7043‘),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N2(8444‘)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01600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8NM 180kts, 5NM 160kts, Parr TAXI 10kts이상,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HIRO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3" name="직사각형 2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8EAD61ED-F06C-861F-DFAF-3517618C08E7}"/>
              </a:ext>
            </a:extLst>
          </p:cNvPr>
          <p:cNvSpPr/>
          <p:nvPr/>
        </p:nvSpPr>
        <p:spPr>
          <a:xfrm>
            <a:off x="1651787" y="3078796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7C40C808-0869-8A3B-733B-1D7E7F429E8B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86147029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62F9807-5AEF-8D80-6311-45C5000B22FB}"/>
              </a:ext>
            </a:extLst>
          </p:cNvPr>
          <p:cNvSpPr txBox="1"/>
          <p:nvPr/>
        </p:nvSpPr>
        <p:spPr>
          <a:xfrm>
            <a:off x="-55838" y="3192214"/>
            <a:ext cx="1837362" cy="532316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125.15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132.8 – DLC 132.95</a:t>
            </a:r>
            <a:endParaRPr kumimoji="1" lang="en-US" altLang="ko-Kore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TAO 133.72 – 128.15 – PEK 125.6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PEK APP 120.6 – Final 119.0</a:t>
            </a:r>
          </a:p>
        </p:txBody>
      </p:sp>
      <p:graphicFrame>
        <p:nvGraphicFramePr>
          <p:cNvPr id="291" name="Google Shape;291;p18"/>
          <p:cNvGraphicFramePr/>
          <p:nvPr>
            <p:extLst>
              <p:ext uri="{D42A27DB-BD31-4B8C-83A1-F6EECF244321}">
                <p14:modId xmlns:p14="http://schemas.microsoft.com/office/powerpoint/2010/main" val="3311536212"/>
              </p:ext>
            </p:extLst>
          </p:nvPr>
        </p:nvGraphicFramePr>
        <p:xfrm>
          <a:off x="0" y="628907"/>
          <a:ext cx="2332925" cy="256021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91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17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69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21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254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10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15930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SID (33/34 NADP 1, 15/16 NADP 2)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5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NOPIK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xA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NOPIK </a:t>
                      </a:r>
                      <a:r>
                        <a:rPr lang="en-US" sz="800" dirty="0" err="1"/>
                        <a:t>xY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BINIL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xC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BINIL </a:t>
                      </a:r>
                      <a:r>
                        <a:rPr lang="en-US" sz="800" dirty="0" err="1"/>
                        <a:t>xH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NCN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113.8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33L 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33R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108.9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15L 111.9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15R 109.1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WNG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112.9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109.95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110.35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108.55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580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33L/R : NC05L/R,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P518 R068, R278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34L/R : EO34L/R,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ore-KR" sz="800" dirty="0"/>
                        <a:t>P518 R068, R278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44775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33L/R 34L(23’)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15L/R 16R(23’)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4477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34R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44775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Parallel TWY 10KTS </a:t>
                      </a:r>
                      <a:r>
                        <a:rPr lang="en-US" sz="800" dirty="0" err="1"/>
                        <a:t>이상</a:t>
                      </a:r>
                      <a:r>
                        <a:rPr lang="en-US" sz="800" dirty="0"/>
                        <a:t>(R17 MAX 15kts)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292" name="Google Shape;292;p18"/>
          <p:cNvGraphicFramePr/>
          <p:nvPr>
            <p:extLst>
              <p:ext uri="{D42A27DB-BD31-4B8C-83A1-F6EECF244321}">
                <p14:modId xmlns:p14="http://schemas.microsoft.com/office/powerpoint/2010/main" val="3494330361"/>
              </p:ext>
            </p:extLst>
          </p:nvPr>
        </p:nvGraphicFramePr>
        <p:xfrm>
          <a:off x="4472" y="3705686"/>
          <a:ext cx="2333879" cy="181900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5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8373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704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9684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03508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PEK : STAR </a:t>
                      </a:r>
                      <a:r>
                        <a:rPr lang="en-US" sz="800" dirty="0">
                          <a:solidFill>
                            <a:schemeClr val="accent4"/>
                          </a:solidFill>
                        </a:rPr>
                        <a:t>(RW01/19 main (RW36L/18R))</a:t>
                      </a:r>
                      <a:endParaRPr sz="800" b="0" dirty="0">
                        <a:solidFill>
                          <a:schemeClr val="accent4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9827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01</a:t>
                      </a:r>
                      <a:r>
                        <a:rPr lang="en-US" sz="800" b="0" dirty="0"/>
                        <a:t>(36L)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DUMAP </a:t>
                      </a:r>
                      <a:r>
                        <a:rPr lang="en-US" sz="800" b="1" dirty="0" err="1"/>
                        <a:t>xZA</a:t>
                      </a:r>
                      <a:endParaRPr lang="en-US"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AA421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Z 01</a:t>
                      </a:r>
                      <a:r>
                        <a:rPr lang="en-US" sz="800" b="0" dirty="0"/>
                        <a:t>(Y 36L)</a:t>
                      </a: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187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dirty="0"/>
                        <a:t>19</a:t>
                      </a:r>
                      <a:r>
                        <a:rPr lang="en-US" sz="800" b="0" dirty="0"/>
                        <a:t>(</a:t>
                      </a:r>
                      <a:r>
                        <a:rPr lang="en-US" altLang="ko-KR" sz="800" b="0" dirty="0"/>
                        <a:t>18R)</a:t>
                      </a:r>
                      <a:r>
                        <a:rPr lang="en-US" sz="800" b="0" dirty="0"/>
                        <a:t>)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/>
                        <a:t>DUMAP </a:t>
                      </a:r>
                      <a:r>
                        <a:rPr lang="en-US" altLang="ko-Kore-KR" sz="800" b="1" dirty="0" err="1"/>
                        <a:t>xZA</a:t>
                      </a:r>
                      <a:endParaRPr lang="en-US" altLang="ko-Kore-KR"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AA521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Z 19</a:t>
                      </a:r>
                      <a:r>
                        <a:rPr lang="en-US" altLang="ko-Kore-KR" sz="800" b="0" dirty="0"/>
                        <a:t>(Y 18R)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84957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01(84’)      12467’      19(94’)</a:t>
                      </a:r>
                      <a:r>
                        <a:rPr lang="ko-KR" altLang="en-US" sz="800" b="1" dirty="0">
                          <a:solidFill>
                            <a:srgbClr val="00B050"/>
                          </a:solidFill>
                        </a:rPr>
                        <a:t> </a:t>
                      </a:r>
                      <a:r>
                        <a:rPr lang="en-US" altLang="ko-KR" sz="800" b="1" dirty="0">
                          <a:solidFill>
                            <a:srgbClr val="C00000"/>
                          </a:solidFill>
                        </a:rPr>
                        <a:t>3.2</a:t>
                      </a:r>
                      <a:r>
                        <a:rPr lang="ko-KR" altLang="en-US" sz="800" b="1" dirty="0">
                          <a:solidFill>
                            <a:srgbClr val="C00000"/>
                          </a:solidFill>
                        </a:rPr>
                        <a:t>도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84957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dirty="0">
                          <a:solidFill>
                            <a:srgbClr val="00B050"/>
                          </a:solidFill>
                        </a:rPr>
                        <a:t>36L(107’)      10499’      18R(115’)     </a:t>
                      </a:r>
                      <a:endParaRPr sz="800" b="0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86134">
                <a:tc gridSpan="4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FIX : </a:t>
                      </a:r>
                      <a:r>
                        <a:rPr kumimoji="0" lang="en-US" altLang="ko-Kore-KR" sz="800" b="0" i="0" u="none" strike="noStrike" kern="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RWxx</a:t>
                      </a: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 /8(180kts), /6(160kts) </a:t>
                      </a: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TMA Max 280kts</a:t>
                      </a:r>
                      <a:endParaRPr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01193734"/>
                  </a:ext>
                </a:extLst>
              </a:tr>
              <a:tr h="301242">
                <a:tc gridSpan="4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R" sz="800" b="1" dirty="0">
                          <a:solidFill>
                            <a:schemeClr val="dk1"/>
                          </a:solidFill>
                        </a:rPr>
                        <a:t>01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 : Q5(5223’), Q6(7024’), 19 :Q4(5298’), Q3(7103’)</a:t>
                      </a:r>
                      <a:endParaRPr sz="800" dirty="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36L : P6(6276’), P7(7719’), 18R : P3(6223’), P2(7552’)</a:t>
                      </a:r>
                      <a:r>
                        <a:rPr lang="en-US" sz="800" dirty="0">
                          <a:solidFill>
                            <a:schemeClr val="dk1"/>
                          </a:solidFill>
                        </a:rPr>
                        <a:t> 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01242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APU off Procedure</a:t>
                      </a:r>
                      <a:r>
                        <a:rPr lang="ko-KR" altLang="en-US" sz="800" dirty="0"/>
                        <a:t> </a:t>
                      </a:r>
                      <a:r>
                        <a:rPr lang="en-US" altLang="ko-KR" sz="800" dirty="0"/>
                        <a:t>(GND Air Cond’ &amp; GPU)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R" sz="800" dirty="0"/>
                        <a:t>Standard TAXI RTE in Jeppesen Chart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293" name="Google Shape;293;p18"/>
          <p:cNvGraphicFramePr/>
          <p:nvPr>
            <p:extLst>
              <p:ext uri="{D42A27DB-BD31-4B8C-83A1-F6EECF244321}">
                <p14:modId xmlns:p14="http://schemas.microsoft.com/office/powerpoint/2010/main" val="361046548"/>
              </p:ext>
            </p:extLst>
          </p:nvPr>
        </p:nvGraphicFramePr>
        <p:xfrm>
          <a:off x="-2501" y="16504"/>
          <a:ext cx="2328850" cy="62454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ZBAA(PEK) 116ft</a:t>
                      </a:r>
                      <a:endParaRPr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600"/>
                        <a:buFont typeface="Calibri"/>
                        <a:buNone/>
                      </a:pPr>
                      <a:r>
                        <a:rPr lang="en-US" sz="600" dirty="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-10분 TOBT 5분 </a:t>
                      </a:r>
                      <a:r>
                        <a:rPr lang="en-US" sz="600" dirty="0" err="1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차이시</a:t>
                      </a:r>
                      <a:r>
                        <a:rPr lang="en-US" sz="600" dirty="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CTC Comm</a:t>
                      </a:r>
                      <a:endParaRPr sz="900" dirty="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Air China Beijing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132.0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3A2CF453-B95D-2D55-3B07-D90D56DCEB3B}"/>
              </a:ext>
            </a:extLst>
          </p:cNvPr>
          <p:cNvSpPr/>
          <p:nvPr/>
        </p:nvSpPr>
        <p:spPr>
          <a:xfrm>
            <a:off x="1651787" y="3373948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CC8AB46B-539E-FFA8-5737-4E90D549BD61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439658327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7" name="Google Shape;397;p3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1" y="-9795"/>
            <a:ext cx="2328863" cy="5064777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66ABCDBC-383F-5581-5E39-83905EACA8B3}"/>
              </a:ext>
            </a:extLst>
          </p:cNvPr>
          <p:cNvSpPr txBox="1"/>
          <p:nvPr/>
        </p:nvSpPr>
        <p:spPr>
          <a:xfrm>
            <a:off x="1278611" y="4006314"/>
            <a:ext cx="1031051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900" b="1" dirty="0">
                <a:solidFill>
                  <a:srgbClr val="0070C0"/>
                </a:solidFill>
              </a:rPr>
              <a:t>550M       1800ft</a:t>
            </a:r>
            <a:endParaRPr kumimoji="1" lang="ko-Kore-KR" altLang="en-US" sz="900" b="1" dirty="0">
              <a:solidFill>
                <a:srgbClr val="0070C0"/>
              </a:solidFill>
            </a:endParaRP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A9EEFEB8-F9E4-386F-27B1-F3014416BF74}"/>
              </a:ext>
            </a:extLst>
          </p:cNvPr>
          <p:cNvSpPr/>
          <p:nvPr/>
        </p:nvSpPr>
        <p:spPr>
          <a:xfrm>
            <a:off x="55571" y="3177666"/>
            <a:ext cx="1000283" cy="333428"/>
          </a:xfrm>
          <a:prstGeom prst="rect">
            <a:avLst/>
          </a:prstGeom>
          <a:noFill/>
          <a:ln w="3492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FC66845-A7AA-98C4-534C-70B808775E8B}"/>
              </a:ext>
            </a:extLst>
          </p:cNvPr>
          <p:cNvSpPr txBox="1"/>
          <p:nvPr/>
        </p:nvSpPr>
        <p:spPr>
          <a:xfrm>
            <a:off x="997707" y="3142302"/>
            <a:ext cx="330540" cy="41287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900" b="1" dirty="0">
                <a:solidFill>
                  <a:srgbClr val="0070C0"/>
                </a:solidFill>
              </a:rPr>
              <a:t>TL</a:t>
            </a:r>
          </a:p>
          <a:p>
            <a:pPr algn="dist">
              <a:lnSpc>
                <a:spcPct val="150000"/>
              </a:lnSpc>
            </a:pPr>
            <a:r>
              <a:rPr kumimoji="1" lang="en-US" altLang="ko-Kore-KR" sz="900" b="1" dirty="0">
                <a:solidFill>
                  <a:srgbClr val="0070C0"/>
                </a:solidFill>
              </a:rPr>
              <a:t>TA</a:t>
            </a:r>
            <a:endParaRPr kumimoji="1" lang="ko-Kore-KR" altLang="en-US" sz="900" b="1" dirty="0">
              <a:solidFill>
                <a:srgbClr val="0070C0"/>
              </a:solidFill>
            </a:endParaRPr>
          </a:p>
        </p:txBody>
      </p:sp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1FA0CAED-C5B8-22A0-6822-26CDA4767514}"/>
              </a:ext>
            </a:extLst>
          </p:cNvPr>
          <p:cNvSpPr/>
          <p:nvPr/>
        </p:nvSpPr>
        <p:spPr>
          <a:xfrm>
            <a:off x="847353" y="527797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347995949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17" name="Google Shape;117;p3"/>
          <p:cNvGraphicFramePr/>
          <p:nvPr>
            <p:extLst>
              <p:ext uri="{D42A27DB-BD31-4B8C-83A1-F6EECF244321}">
                <p14:modId xmlns:p14="http://schemas.microsoft.com/office/powerpoint/2010/main" val="1985096044"/>
              </p:ext>
            </p:extLst>
          </p:nvPr>
        </p:nvGraphicFramePr>
        <p:xfrm>
          <a:off x="-4046" y="796960"/>
          <a:ext cx="2335723" cy="179257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4246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670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129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3107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5603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1400">
                  <a:extLst>
                    <a:ext uri="{9D8B030D-6E8A-4147-A177-3AD203B41FA5}">
                      <a16:colId xmlns:a16="http://schemas.microsoft.com/office/drawing/2014/main" val="2940550374"/>
                    </a:ext>
                  </a:extLst>
                </a:gridCol>
                <a:gridCol w="614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99169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73273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211274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412058">
                  <a:extLst>
                    <a:ext uri="{9D8B030D-6E8A-4147-A177-3AD203B41FA5}">
                      <a16:colId xmlns:a16="http://schemas.microsoft.com/office/drawing/2014/main" val="448940902"/>
                    </a:ext>
                  </a:extLst>
                </a:gridCol>
              </a:tblGrid>
              <a:tr h="0">
                <a:tc gridSpan="1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PEK : SID (NADP 1)  </a:t>
                      </a:r>
                      <a:r>
                        <a:rPr lang="en-US" sz="800" u="none" strike="noStrike" cap="none" dirty="0">
                          <a:solidFill>
                            <a:schemeClr val="accent4"/>
                          </a:solidFill>
                        </a:rPr>
                        <a:t>RW36R/18L </a:t>
                      </a:r>
                      <a:r>
                        <a:rPr lang="en-US" sz="800" u="none" strike="noStrike" cap="none" dirty="0" err="1">
                          <a:solidFill>
                            <a:schemeClr val="accent4"/>
                          </a:solidFill>
                        </a:rPr>
                        <a:t>Intersec</a:t>
                      </a:r>
                      <a:r>
                        <a:rPr lang="en-US" sz="800" u="none" strike="noStrike" cap="none" dirty="0">
                          <a:solidFill>
                            <a:schemeClr val="accent4"/>
                          </a:solidFill>
                        </a:rPr>
                        <a:t> T/O W2, W7</a:t>
                      </a:r>
                    </a:p>
                  </a:txBody>
                  <a:tcPr marL="36000" marR="7200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u="none" strike="noStrike" cap="none" dirty="0"/>
                        <a:t>36R</a:t>
                      </a:r>
                      <a:endParaRPr lang="en-US" sz="800" b="1" u="none" strike="noStrike" cap="none"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/>
                        <a:t>(01)</a:t>
                      </a:r>
                      <a:endParaRPr sz="800" b="0" u="none" strike="noStrike" cap="none" dirty="0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MUGLO </a:t>
                      </a:r>
                      <a:r>
                        <a:rPr lang="en-US" sz="800" b="1" u="none" strike="noStrike" cap="none" dirty="0" err="1">
                          <a:solidFill>
                            <a:srgbClr val="0070C0"/>
                          </a:solidFill>
                        </a:rPr>
                        <a:t>xWD</a:t>
                      </a: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(</a:t>
                      </a:r>
                      <a:r>
                        <a:rPr lang="en-US" sz="800" b="1" u="none" strike="noStrike" cap="none" dirty="0" err="1">
                          <a:solidFill>
                            <a:srgbClr val="0070C0"/>
                          </a:solidFill>
                        </a:rPr>
                        <a:t>xYD</a:t>
                      </a: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359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359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ATIS/DCL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900m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359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18L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/>
                        <a:t>(19)</a:t>
                      </a:r>
                      <a:endParaRPr sz="800" b="0" u="none" strike="noStrike" cap="none" dirty="0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MUGLO </a:t>
                      </a:r>
                      <a:r>
                        <a:rPr lang="en-US" altLang="ko-Kore-KR" sz="800" b="1" u="none" strike="noStrike" cap="none" dirty="0" err="1">
                          <a:solidFill>
                            <a:srgbClr val="0070C0"/>
                          </a:solidFill>
                        </a:rPr>
                        <a:t>xZD</a:t>
                      </a:r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(</a:t>
                      </a:r>
                      <a:r>
                        <a:rPr lang="en-US" altLang="ko-Kore-KR" sz="800" b="1" u="none" strike="noStrike" cap="none" dirty="0" err="1">
                          <a:solidFill>
                            <a:srgbClr val="0070C0"/>
                          </a:solidFill>
                        </a:rPr>
                        <a:t>xYD</a:t>
                      </a:r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179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179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ATIS/DCL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900m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179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5700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PEK 114.7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36R 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111.55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18L 109.3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01 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108.5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19 108.9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5700">
                <a:tc gridSpan="1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u="none" strike="noStrike" cap="none" dirty="0">
                          <a:solidFill>
                            <a:schemeClr val="tx1"/>
                          </a:solidFill>
                        </a:rPr>
                        <a:t>36R : PEK 325/11, 36L : PEK 326/13, 01 : PEK 323/9 R124</a:t>
                      </a:r>
                      <a:endParaRPr sz="800" b="0" u="none" strike="noStrike" cap="none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186816789"/>
                  </a:ext>
                </a:extLst>
              </a:tr>
              <a:tr h="1016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36R(98’) 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01(84’)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12467’</a:t>
                      </a:r>
                      <a:endParaRPr sz="800" b="1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18L(110’)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19(94’)</a:t>
                      </a:r>
                      <a:endParaRPr sz="800" b="0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5700">
                <a:tc gridSpan="1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COBT from ATIS “Enroute”, Bad </a:t>
                      </a:r>
                      <a:r>
                        <a:rPr lang="en-US" sz="800" b="1" u="none" strike="noStrike" cap="none" dirty="0" err="1">
                          <a:solidFill>
                            <a:srgbClr val="0070C0"/>
                          </a:solidFill>
                        </a:rPr>
                        <a:t>Wx</a:t>
                      </a: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 DOTRA SID</a:t>
                      </a:r>
                      <a:endParaRPr b="1" dirty="0">
                        <a:solidFill>
                          <a:srgbClr val="0070C0"/>
                        </a:solidFill>
                      </a:endParaRP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119" name="Google Shape;119;p3"/>
          <p:cNvGraphicFramePr/>
          <p:nvPr>
            <p:extLst>
              <p:ext uri="{D42A27DB-BD31-4B8C-83A1-F6EECF244321}">
                <p14:modId xmlns:p14="http://schemas.microsoft.com/office/powerpoint/2010/main" val="190694353"/>
              </p:ext>
            </p:extLst>
          </p:nvPr>
        </p:nvGraphicFramePr>
        <p:xfrm>
          <a:off x="-2501" y="16504"/>
          <a:ext cx="2328850" cy="77273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ZBAA(PEK) 116ft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Air China Beijing 132.0</a:t>
                      </a:r>
                      <a:endParaRPr sz="1200"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dirty="0">
                          <a:solidFill>
                            <a:srgbClr val="FF0000"/>
                          </a:solidFill>
                        </a:rPr>
                        <a:t>DCL 30</a:t>
                      </a:r>
                      <a:r>
                        <a:rPr lang="ko-KR" altLang="en-US" sz="700" dirty="0">
                          <a:solidFill>
                            <a:srgbClr val="FF0000"/>
                          </a:solidFill>
                        </a:rPr>
                        <a:t>분전</a:t>
                      </a:r>
                      <a:r>
                        <a:rPr lang="en-US" altLang="ko-KR" sz="700" dirty="0">
                          <a:solidFill>
                            <a:srgbClr val="FF0000"/>
                          </a:solidFill>
                        </a:rPr>
                        <a:t>,</a:t>
                      </a:r>
                      <a:r>
                        <a:rPr lang="ko-KR" altLang="en-US" sz="700" dirty="0">
                          <a:solidFill>
                            <a:srgbClr val="FF0000"/>
                          </a:solidFill>
                        </a:rPr>
                        <a:t> </a:t>
                      </a:r>
                      <a:r>
                        <a:rPr lang="en-US" altLang="ko-KR" sz="700" dirty="0">
                          <a:solidFill>
                            <a:srgbClr val="FF0000"/>
                          </a:solidFill>
                        </a:rPr>
                        <a:t>Voice 10</a:t>
                      </a:r>
                      <a:r>
                        <a:rPr lang="ko-KR" altLang="en-US" sz="700" dirty="0">
                          <a:solidFill>
                            <a:srgbClr val="FF0000"/>
                          </a:solidFill>
                        </a:rPr>
                        <a:t>분전</a:t>
                      </a:r>
                      <a:endParaRPr lang="en-US" altLang="ko-KR" sz="700" dirty="0">
                        <a:solidFill>
                          <a:srgbClr val="FF0000"/>
                        </a:solidFill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700" dirty="0">
                          <a:solidFill>
                            <a:srgbClr val="FF0000"/>
                          </a:solidFill>
                        </a:rPr>
                        <a:t>(COBT/STD 15</a:t>
                      </a:r>
                      <a:r>
                        <a:rPr lang="ko-KR" altLang="en-US" sz="700" dirty="0">
                          <a:solidFill>
                            <a:srgbClr val="FF0000"/>
                          </a:solidFill>
                        </a:rPr>
                        <a:t>분 차이  </a:t>
                      </a:r>
                      <a:r>
                        <a:rPr lang="en-US" altLang="ko-KR" sz="700" dirty="0">
                          <a:solidFill>
                            <a:srgbClr val="FF0000"/>
                          </a:solidFill>
                        </a:rPr>
                        <a:t>CTC Comm)</a:t>
                      </a:r>
                      <a:endParaRPr sz="700" dirty="0">
                        <a:solidFill>
                          <a:srgbClr val="FF0000"/>
                        </a:solidFill>
                      </a:endParaRPr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7BA009CD-0CE1-2081-CE8C-F9EB8DF1D6DE}"/>
              </a:ext>
            </a:extLst>
          </p:cNvPr>
          <p:cNvSpPr txBox="1"/>
          <p:nvPr/>
        </p:nvSpPr>
        <p:spPr>
          <a:xfrm>
            <a:off x="998160" y="2492153"/>
            <a:ext cx="1412566" cy="855482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124.4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PEK APP 120.6 – PEK 125.6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DLC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123.2 – 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132.95</a:t>
            </a:r>
            <a:endParaRPr kumimoji="1" lang="en-US" altLang="ko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ICN 132.8 – APP 119.75</a:t>
            </a:r>
          </a:p>
          <a:p>
            <a:pPr>
              <a:lnSpc>
                <a:spcPct val="150000"/>
              </a:lnSpc>
            </a:pPr>
            <a:endParaRPr kumimoji="1" lang="en-US" altLang="ko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graphicFrame>
        <p:nvGraphicFramePr>
          <p:cNvPr id="5" name="Google Shape;303;p19">
            <a:extLst>
              <a:ext uri="{FF2B5EF4-FFF2-40B4-BE49-F238E27FC236}">
                <a16:creationId xmlns:a16="http://schemas.microsoft.com/office/drawing/2014/main" id="{9A6F36E3-64E2-A97B-D85E-56AC20DB660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41255686"/>
              </p:ext>
            </p:extLst>
          </p:nvPr>
        </p:nvGraphicFramePr>
        <p:xfrm>
          <a:off x="1119" y="3405664"/>
          <a:ext cx="2325975" cy="2130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59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3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55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774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STAR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33/34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</a:t>
                      </a:r>
                      <a:r>
                        <a:rPr lang="en-US" sz="800" b="1" dirty="0" err="1"/>
                        <a:t>xA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PAMBI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170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15/16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</a:t>
                      </a:r>
                      <a:r>
                        <a:rPr lang="en-US" sz="800" b="1" dirty="0" err="1"/>
                        <a:t>xH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MUNAN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170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285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33L/R 34L(23’)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15L/R 16R(23’)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285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34R(23’)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13123’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16L(23’)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64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FIX</a:t>
                      </a:r>
                      <a:endParaRPr/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RWY /8, /5 , P518 R068, R278</a:t>
                      </a:r>
                      <a:endParaRPr sz="458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C4(7529’),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C5(8513’), 33L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: B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7563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8513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C2(7522’),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C1(8536’), 15R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B3(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7454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B2(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8641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P7(5600’),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P8(6578’), 34R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N4(6876’),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N5(8507‘)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P6(5597’),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P5(6574’), 16L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N3(7043‘),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N2(8444‘)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01600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8NM 180kts, 5NM 160kts, Parr TAXI 10kts이상,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HIRO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pic>
        <p:nvPicPr>
          <p:cNvPr id="3" name="그림 2" descr="텍스트, 지도, 도표, 라인이(가) 표시된 사진&#10;&#10;자동 생성된 설명">
            <a:extLst>
              <a:ext uri="{FF2B5EF4-FFF2-40B4-BE49-F238E27FC236}">
                <a16:creationId xmlns:a16="http://schemas.microsoft.com/office/drawing/2014/main" id="{9995A052-72E8-21E5-F8B4-8A7F91B0B57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2557950"/>
            <a:ext cx="1029898" cy="855481"/>
          </a:xfrm>
          <a:prstGeom prst="rect">
            <a:avLst/>
          </a:prstGeom>
        </p:spPr>
      </p:pic>
      <p:sp>
        <p:nvSpPr>
          <p:cNvPr id="6" name="직사각형 5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1C874613-6EE6-9A80-422F-0BB8DBCAA89B}"/>
              </a:ext>
            </a:extLst>
          </p:cNvPr>
          <p:cNvSpPr/>
          <p:nvPr/>
        </p:nvSpPr>
        <p:spPr>
          <a:xfrm>
            <a:off x="1663361" y="314824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20F145D3-6C4D-B2CD-0787-EABF57347616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601062688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62F9807-5AEF-8D80-6311-45C5000B22FB}"/>
              </a:ext>
            </a:extLst>
          </p:cNvPr>
          <p:cNvSpPr txBox="1"/>
          <p:nvPr/>
        </p:nvSpPr>
        <p:spPr>
          <a:xfrm>
            <a:off x="-55838" y="3156248"/>
            <a:ext cx="2291012" cy="693899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125.15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132.8 – DLC 132.95 – 135.65</a:t>
            </a:r>
            <a:endParaRPr kumimoji="1" lang="en-US" altLang="ko-Kore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DLC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134.325(128.775)</a:t>
            </a:r>
            <a:endParaRPr kumimoji="1" lang="en-US" altLang="ko-Kore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SHE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APP 12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5.55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–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119.825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TWR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118.1</a:t>
            </a:r>
            <a:endParaRPr kumimoji="1" lang="en-US" altLang="ko-Kore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graphicFrame>
        <p:nvGraphicFramePr>
          <p:cNvPr id="291" name="Google Shape;291;p18"/>
          <p:cNvGraphicFramePr/>
          <p:nvPr>
            <p:extLst>
              <p:ext uri="{D42A27DB-BD31-4B8C-83A1-F6EECF244321}">
                <p14:modId xmlns:p14="http://schemas.microsoft.com/office/powerpoint/2010/main" val="3971744343"/>
              </p:ext>
            </p:extLst>
          </p:nvPr>
        </p:nvGraphicFramePr>
        <p:xfrm>
          <a:off x="0" y="628907"/>
          <a:ext cx="2332925" cy="256021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91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17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69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21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254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10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15930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SID (33/34 NADP 1, 15/16 NADP 2)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5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NOPIK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xA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NOPIK </a:t>
                      </a:r>
                      <a:r>
                        <a:rPr lang="en-US" sz="800" dirty="0" err="1"/>
                        <a:t>xY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333</a:t>
                      </a:r>
                      <a:endParaRPr sz="458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BINIL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xC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BINIL </a:t>
                      </a:r>
                      <a:r>
                        <a:rPr lang="en-US" sz="800" dirty="0" err="1"/>
                        <a:t>xH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NCN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113.8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33L 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33R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108.9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15L 111.9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15R 109.1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WNG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112.9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109.95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110.35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108.55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580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33L/R : NC05L/R,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P518 R068, R278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34L/R : EO34L/R,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ore-KR" sz="800" dirty="0"/>
                        <a:t>P518 R068, R278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44775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33L/R 34L(23’)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15L/R 16R(23’)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4477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34R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44775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Parallel TWY 10KTS </a:t>
                      </a:r>
                      <a:r>
                        <a:rPr lang="en-US" sz="800" dirty="0" err="1"/>
                        <a:t>이상</a:t>
                      </a:r>
                      <a:r>
                        <a:rPr lang="en-US" sz="800" dirty="0"/>
                        <a:t>(R17 MAX 15kts)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292" name="Google Shape;292;p18"/>
          <p:cNvGraphicFramePr/>
          <p:nvPr>
            <p:extLst>
              <p:ext uri="{D42A27DB-BD31-4B8C-83A1-F6EECF244321}">
                <p14:modId xmlns:p14="http://schemas.microsoft.com/office/powerpoint/2010/main" val="1587443432"/>
              </p:ext>
            </p:extLst>
          </p:nvPr>
        </p:nvGraphicFramePr>
        <p:xfrm>
          <a:off x="4472" y="3916715"/>
          <a:ext cx="2307200" cy="162508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2296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169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704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9684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03508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SHE : STAR </a:t>
                      </a:r>
                      <a:r>
                        <a:rPr lang="en-US" sz="800" dirty="0">
                          <a:solidFill>
                            <a:schemeClr val="accent4"/>
                          </a:solidFill>
                        </a:rPr>
                        <a:t>(CLR Limit TOSID Late Handoff to SHE)</a:t>
                      </a:r>
                      <a:endParaRPr sz="800" b="0" dirty="0">
                        <a:solidFill>
                          <a:schemeClr val="accent4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9827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0</a:t>
                      </a:r>
                      <a:r>
                        <a:rPr lang="en-US" altLang="ko-KR" sz="800" b="1" dirty="0"/>
                        <a:t>6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TOSID 62A, 61A </a:t>
                      </a:r>
                      <a:endParaRPr lang="en-US" sz="800" b="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TX504</a:t>
                      </a: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Z 06</a:t>
                      </a: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187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dirty="0"/>
                        <a:t>24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/>
                        <a:t>TOSID 72A, 11A </a:t>
                      </a: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TX662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Z 24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84957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06(170’)          10499’         24(198’)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86134">
                <a:tc gridSpan="4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Around TOSID – Present TRK or HDG – CTC SHE CTL </a:t>
                      </a:r>
                      <a:endParaRPr b="1" dirty="0">
                        <a:solidFill>
                          <a:srgbClr val="FF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01193734"/>
                  </a:ext>
                </a:extLst>
              </a:tr>
              <a:tr h="175910">
                <a:tc gridSpan="4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R" sz="800" b="1" dirty="0">
                          <a:solidFill>
                            <a:schemeClr val="dk1"/>
                          </a:solidFill>
                        </a:rPr>
                        <a:t>06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 : D(6210’),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C(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7854’),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24 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: J(6227’),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K(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7864’) - ATC</a:t>
                      </a: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 </a:t>
                      </a:r>
                      <a:endParaRPr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01242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06 : HP06(03), 24 : HP06(03) Follow Me Car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Normally Remain Parking Brake SET!! 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APU off Procedure</a:t>
                      </a:r>
                      <a:r>
                        <a:rPr lang="ko-KR" altLang="en-US" sz="800" dirty="0"/>
                        <a:t> </a:t>
                      </a:r>
                      <a:r>
                        <a:rPr lang="en-US" altLang="ko-KR" sz="800" dirty="0"/>
                        <a:t>(GND Air Cond’ &amp; GPU)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293" name="Google Shape;293;p18"/>
          <p:cNvGraphicFramePr/>
          <p:nvPr>
            <p:extLst>
              <p:ext uri="{D42A27DB-BD31-4B8C-83A1-F6EECF244321}">
                <p14:modId xmlns:p14="http://schemas.microsoft.com/office/powerpoint/2010/main" val="168702482"/>
              </p:ext>
            </p:extLst>
          </p:nvPr>
        </p:nvGraphicFramePr>
        <p:xfrm>
          <a:off x="-2501" y="16504"/>
          <a:ext cx="2328850" cy="58985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ZYTX(SHE) 198ft</a:t>
                      </a:r>
                      <a:endParaRPr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600"/>
                        <a:buFont typeface="Calibri"/>
                        <a:buNone/>
                      </a:pPr>
                      <a:r>
                        <a:rPr lang="en-US" sz="600" dirty="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-10분 TOBT 5분 </a:t>
                      </a:r>
                      <a:r>
                        <a:rPr lang="en-US" sz="600" dirty="0" err="1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차이시</a:t>
                      </a:r>
                      <a:r>
                        <a:rPr lang="en-US" sz="600" dirty="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CTC Comm</a:t>
                      </a:r>
                      <a:endParaRPr sz="900" dirty="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dirty="0"/>
                        <a:t>China Southern Dispatch </a:t>
                      </a:r>
                      <a:r>
                        <a:rPr lang="en-US" altLang="ko-Kore-KR" sz="900" dirty="0"/>
                        <a:t>131.5</a:t>
                      </a:r>
                      <a:endParaRPr lang="en-US" altLang="ko-Kore-KR" sz="1400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A8A73C37-CF59-7012-0D50-0A8C12736755}"/>
              </a:ext>
            </a:extLst>
          </p:cNvPr>
          <p:cNvSpPr/>
          <p:nvPr/>
        </p:nvSpPr>
        <p:spPr>
          <a:xfrm>
            <a:off x="1651787" y="3530206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14567F3E-FC40-CA1E-0895-08D2D9D7CB93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950290694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7" name="Google Shape;397;p3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1" y="-9795"/>
            <a:ext cx="2328863" cy="5064777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66ABCDBC-383F-5581-5E39-83905EACA8B3}"/>
              </a:ext>
            </a:extLst>
          </p:cNvPr>
          <p:cNvSpPr txBox="1"/>
          <p:nvPr/>
        </p:nvSpPr>
        <p:spPr>
          <a:xfrm>
            <a:off x="1278611" y="4006314"/>
            <a:ext cx="1031051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900" b="1" dirty="0">
                <a:solidFill>
                  <a:srgbClr val="0070C0"/>
                </a:solidFill>
              </a:rPr>
              <a:t>550M       1800ft</a:t>
            </a:r>
            <a:endParaRPr kumimoji="1" lang="ko-Kore-KR" altLang="en-US" sz="900" b="1" dirty="0">
              <a:solidFill>
                <a:srgbClr val="0070C0"/>
              </a:solidFill>
            </a:endParaRP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A9EEFEB8-F9E4-386F-27B1-F3014416BF74}"/>
              </a:ext>
            </a:extLst>
          </p:cNvPr>
          <p:cNvSpPr/>
          <p:nvPr/>
        </p:nvSpPr>
        <p:spPr>
          <a:xfrm>
            <a:off x="55571" y="3177666"/>
            <a:ext cx="1000283" cy="333428"/>
          </a:xfrm>
          <a:prstGeom prst="rect">
            <a:avLst/>
          </a:prstGeom>
          <a:noFill/>
          <a:ln w="3492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FC66845-A7AA-98C4-534C-70B808775E8B}"/>
              </a:ext>
            </a:extLst>
          </p:cNvPr>
          <p:cNvSpPr txBox="1"/>
          <p:nvPr/>
        </p:nvSpPr>
        <p:spPr>
          <a:xfrm>
            <a:off x="997707" y="3142302"/>
            <a:ext cx="330540" cy="41287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900" b="1" dirty="0">
                <a:solidFill>
                  <a:srgbClr val="0070C0"/>
                </a:solidFill>
              </a:rPr>
              <a:t>TL</a:t>
            </a:r>
          </a:p>
          <a:p>
            <a:pPr algn="dist">
              <a:lnSpc>
                <a:spcPct val="150000"/>
              </a:lnSpc>
            </a:pPr>
            <a:r>
              <a:rPr kumimoji="1" lang="en-US" altLang="ko-Kore-KR" sz="900" b="1" dirty="0">
                <a:solidFill>
                  <a:srgbClr val="0070C0"/>
                </a:solidFill>
              </a:rPr>
              <a:t>TA</a:t>
            </a:r>
            <a:endParaRPr kumimoji="1" lang="ko-Kore-KR" altLang="en-US" sz="900" b="1" dirty="0">
              <a:solidFill>
                <a:srgbClr val="0070C0"/>
              </a:solidFill>
            </a:endParaRPr>
          </a:p>
        </p:txBody>
      </p:sp>
      <p:sp>
        <p:nvSpPr>
          <p:cNvPr id="6" name="직사각형 5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18907048-779E-BBF8-5B86-73A6715D9097}"/>
              </a:ext>
            </a:extLst>
          </p:cNvPr>
          <p:cNvSpPr/>
          <p:nvPr/>
        </p:nvSpPr>
        <p:spPr>
          <a:xfrm>
            <a:off x="847353" y="527797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712975864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17" name="Google Shape;117;p3"/>
          <p:cNvGraphicFramePr/>
          <p:nvPr>
            <p:extLst>
              <p:ext uri="{D42A27DB-BD31-4B8C-83A1-F6EECF244321}">
                <p14:modId xmlns:p14="http://schemas.microsoft.com/office/powerpoint/2010/main" val="2632982756"/>
              </p:ext>
            </p:extLst>
          </p:nvPr>
        </p:nvGraphicFramePr>
        <p:xfrm>
          <a:off x="-4046" y="796960"/>
          <a:ext cx="2335723" cy="167065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4246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670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129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3107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67003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14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99169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73273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211274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412058">
                  <a:extLst>
                    <a:ext uri="{9D8B030D-6E8A-4147-A177-3AD203B41FA5}">
                      <a16:colId xmlns:a16="http://schemas.microsoft.com/office/drawing/2014/main" val="448940902"/>
                    </a:ext>
                  </a:extLst>
                </a:gridCol>
              </a:tblGrid>
              <a:tr h="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SHE : SID (NADP 1)  </a:t>
                      </a:r>
                      <a:r>
                        <a:rPr lang="en-US" sz="800" u="none" strike="noStrike" cap="none" dirty="0">
                          <a:solidFill>
                            <a:schemeClr val="accent4"/>
                          </a:solidFill>
                        </a:rPr>
                        <a:t>A2, A8 </a:t>
                      </a:r>
                      <a:r>
                        <a:rPr lang="en-US" sz="800" u="none" strike="noStrike" cap="none" dirty="0" err="1">
                          <a:solidFill>
                            <a:schemeClr val="accent4"/>
                          </a:solidFill>
                        </a:rPr>
                        <a:t>Intersec</a:t>
                      </a:r>
                      <a:r>
                        <a:rPr lang="en-US" sz="800" u="none" strike="noStrike" cap="none" dirty="0">
                          <a:solidFill>
                            <a:schemeClr val="accent4"/>
                          </a:solidFill>
                        </a:rPr>
                        <a:t> T/O by ATC</a:t>
                      </a:r>
                    </a:p>
                  </a:txBody>
                  <a:tcPr marL="36000" marR="7200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06</a:t>
                      </a:r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TOSID 61,62D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056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056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ATIS/DCL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900m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056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24</a:t>
                      </a:r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TOSID 71,72D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236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236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ATIS/DCL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900m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236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5700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SEY 114.1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06 110.5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24 110.3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19 108.9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016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06(170’) 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10499’</a:t>
                      </a:r>
                      <a:endParaRPr sz="800" b="1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24(198’)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5700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chemeClr val="tx1"/>
                          </a:solidFill>
                        </a:rPr>
                        <a:t>ADT = CTOT See </a:t>
                      </a:r>
                      <a:r>
                        <a:rPr lang="en-US" sz="800" b="1" u="none" strike="noStrike" cap="none" dirty="0" err="1">
                          <a:solidFill>
                            <a:schemeClr val="tx1"/>
                          </a:solidFill>
                        </a:rPr>
                        <a:t>Eroute</a:t>
                      </a:r>
                      <a:r>
                        <a:rPr lang="en-US" sz="800" b="1" u="none" strike="noStrike" cap="none" dirty="0">
                          <a:solidFill>
                            <a:schemeClr val="tx1"/>
                          </a:solidFill>
                        </a:rPr>
                        <a:t> ATIS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Follow </a:t>
                      </a:r>
                      <a:r>
                        <a:rPr lang="en-US" sz="800" b="1" u="none" strike="noStrike" cap="none" dirty="0" err="1">
                          <a:solidFill>
                            <a:srgbClr val="0070C0"/>
                          </a:solidFill>
                        </a:rPr>
                        <a:t>FollowMe</a:t>
                      </a: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 Car Until </a:t>
                      </a:r>
                      <a:r>
                        <a:rPr lang="en-US" sz="800" b="1" u="none" strike="noStrike" cap="none" dirty="0" err="1">
                          <a:solidFill>
                            <a:srgbClr val="0070C0"/>
                          </a:solidFill>
                        </a:rPr>
                        <a:t>HPxx</a:t>
                      </a:r>
                      <a:endParaRPr lang="en-US" sz="800" b="1" u="none" strike="noStrike" cap="none" dirty="0">
                        <a:solidFill>
                          <a:srgbClr val="0070C0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Be Careful “Hold short CAT I Hold line”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Maintain Present TRK/HDG Join A588(CRS 217)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Offset R3 </a:t>
                      </a:r>
                      <a:r>
                        <a:rPr lang="en-US" sz="800" b="0" u="none" strike="noStrike" cap="none" dirty="0">
                          <a:solidFill>
                            <a:schemeClr val="tx1"/>
                          </a:solidFill>
                          <a:sym typeface="Wingdings" pitchFamily="2" charset="2"/>
                        </a:rPr>
                        <a:t> </a:t>
                      </a:r>
                      <a:r>
                        <a:rPr lang="en-US" sz="800" b="0" u="none" strike="noStrike" cap="none" dirty="0">
                          <a:solidFill>
                            <a:schemeClr val="tx1"/>
                          </a:solidFill>
                        </a:rPr>
                        <a:t>Active Fix DCT and EXE again!! </a:t>
                      </a:r>
                      <a:endParaRPr b="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119" name="Google Shape;119;p3"/>
          <p:cNvGraphicFramePr/>
          <p:nvPr>
            <p:extLst>
              <p:ext uri="{D42A27DB-BD31-4B8C-83A1-F6EECF244321}">
                <p14:modId xmlns:p14="http://schemas.microsoft.com/office/powerpoint/2010/main" val="2058332410"/>
              </p:ext>
            </p:extLst>
          </p:nvPr>
        </p:nvGraphicFramePr>
        <p:xfrm>
          <a:off x="-2501" y="16504"/>
          <a:ext cx="2328850" cy="78797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ZYTX(SHE) 198ft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China Southern Dispatch 131.5</a:t>
                      </a:r>
                      <a:endParaRPr sz="1200"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700" dirty="0">
                          <a:solidFill>
                            <a:srgbClr val="FF0000"/>
                          </a:solidFill>
                        </a:rPr>
                        <a:t>DCL </a:t>
                      </a:r>
                      <a:r>
                        <a:rPr lang="ko-KR" altLang="en-US" sz="700" dirty="0">
                          <a:solidFill>
                            <a:srgbClr val="FF0000"/>
                          </a:solidFill>
                        </a:rPr>
                        <a:t>가능</a:t>
                      </a:r>
                      <a:r>
                        <a:rPr lang="en-US" altLang="ko-KR" sz="700" dirty="0">
                          <a:solidFill>
                            <a:srgbClr val="FF0000"/>
                          </a:solidFill>
                        </a:rPr>
                        <a:t>, 5</a:t>
                      </a:r>
                      <a:r>
                        <a:rPr lang="ko-KR" altLang="en-US" sz="700" dirty="0">
                          <a:solidFill>
                            <a:srgbClr val="FF0000"/>
                          </a:solidFill>
                        </a:rPr>
                        <a:t>분전 </a:t>
                      </a:r>
                      <a:r>
                        <a:rPr lang="en-US" altLang="ko-Kore-KR" sz="700" dirty="0">
                          <a:solidFill>
                            <a:srgbClr val="FF0000"/>
                          </a:solidFill>
                        </a:rPr>
                        <a:t>READ BACK!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700" dirty="0">
                          <a:solidFill>
                            <a:srgbClr val="FF0000"/>
                          </a:solidFill>
                        </a:rPr>
                        <a:t>(Voice 10</a:t>
                      </a:r>
                      <a:r>
                        <a:rPr lang="ko-KR" altLang="en-US" sz="700" dirty="0">
                          <a:solidFill>
                            <a:srgbClr val="FF0000"/>
                          </a:solidFill>
                        </a:rPr>
                        <a:t>분전</a:t>
                      </a:r>
                      <a:r>
                        <a:rPr lang="en-US" altLang="ko-KR" sz="700">
                          <a:solidFill>
                            <a:srgbClr val="FF0000"/>
                          </a:solidFill>
                        </a:rPr>
                        <a:t>)</a:t>
                      </a:r>
                      <a:endParaRPr lang="ko-KR" altLang="en-US" sz="700" dirty="0">
                        <a:solidFill>
                          <a:srgbClr val="FF0000"/>
                        </a:solidFill>
                      </a:endParaRPr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7BA009CD-0CE1-2081-CE8C-F9EB8DF1D6DE}"/>
              </a:ext>
            </a:extLst>
          </p:cNvPr>
          <p:cNvSpPr txBox="1"/>
          <p:nvPr/>
        </p:nvSpPr>
        <p:spPr>
          <a:xfrm>
            <a:off x="29087" y="2406392"/>
            <a:ext cx="1601721" cy="1017064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dirty="0">
                <a:solidFill>
                  <a:srgbClr val="FF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CTC APP without TWR Instruction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APP 119.825 – 125.55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DLC 134.325 – 135.65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DLC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132.95</a:t>
            </a:r>
            <a:endParaRPr kumimoji="1" lang="en-US" altLang="ko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ICN 132.8 – APP 119.75</a:t>
            </a:r>
          </a:p>
          <a:p>
            <a:pPr>
              <a:lnSpc>
                <a:spcPct val="150000"/>
              </a:lnSpc>
            </a:pPr>
            <a:endParaRPr kumimoji="1" lang="en-US" altLang="ko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graphicFrame>
        <p:nvGraphicFramePr>
          <p:cNvPr id="5" name="Google Shape;303;p19">
            <a:extLst>
              <a:ext uri="{FF2B5EF4-FFF2-40B4-BE49-F238E27FC236}">
                <a16:creationId xmlns:a16="http://schemas.microsoft.com/office/drawing/2014/main" id="{9A6F36E3-64E2-A97B-D85E-56AC20DB660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75403935"/>
              </p:ext>
            </p:extLst>
          </p:nvPr>
        </p:nvGraphicFramePr>
        <p:xfrm>
          <a:off x="1119" y="3405664"/>
          <a:ext cx="2325975" cy="2130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59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3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55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774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STAR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33/34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</a:t>
                      </a:r>
                      <a:r>
                        <a:rPr lang="en-US" sz="800" b="1" dirty="0" err="1"/>
                        <a:t>xA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PAMBI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170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15/16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</a:t>
                      </a:r>
                      <a:r>
                        <a:rPr lang="en-US" sz="800" b="1" dirty="0" err="1"/>
                        <a:t>xH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MUNAN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170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285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33L/R 34L(23’)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15L/R 16R(23’)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285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34R(23’)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13123’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16L(23’)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64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FIX</a:t>
                      </a:r>
                      <a:endParaRPr/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RWY /8, /5 , P518 R068, R278</a:t>
                      </a:r>
                      <a:endParaRPr sz="458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C4(7529’),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C5(8513’), 33L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: B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7563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8513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C2(7522’),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C1(8536’), 15R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B3(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7454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B2(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8641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P7(5600’),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P8(6578’), 34R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N4(6876’),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N5(8507‘)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P6(5597’),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P5(6574’), 16L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N3(7043‘),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N2(8444‘)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01600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8NM 180kts, 5NM 160kts, Parr TAXI 10kts이상,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HIRO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3" name="직사각형 2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1CE2EF10-FF6E-C94B-2725-B3EBD91DA06B}"/>
              </a:ext>
            </a:extLst>
          </p:cNvPr>
          <p:cNvSpPr/>
          <p:nvPr/>
        </p:nvSpPr>
        <p:spPr>
          <a:xfrm>
            <a:off x="1651787" y="3055647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23EAA5DA-A424-1E7F-0ED4-BD3DFCBFA1E2}"/>
              </a:ext>
            </a:extLst>
          </p:cNvPr>
          <p:cNvSpPr/>
          <p:nvPr/>
        </p:nvSpPr>
        <p:spPr>
          <a:xfrm>
            <a:off x="897266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014163343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62F9807-5AEF-8D80-6311-45C5000B22FB}"/>
              </a:ext>
            </a:extLst>
          </p:cNvPr>
          <p:cNvSpPr txBox="1"/>
          <p:nvPr/>
        </p:nvSpPr>
        <p:spPr>
          <a:xfrm>
            <a:off x="-69798" y="3164294"/>
            <a:ext cx="2496196" cy="532316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125.15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126.17 – 120.72 – 124.52(125.72)</a:t>
            </a:r>
            <a:endParaRPr kumimoji="1" lang="en-US" altLang="ko-Kore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SHA 120.95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SHA APP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125.62(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119.975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)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– 125.4 </a:t>
            </a:r>
          </a:p>
        </p:txBody>
      </p:sp>
      <p:graphicFrame>
        <p:nvGraphicFramePr>
          <p:cNvPr id="291" name="Google Shape;291;p18"/>
          <p:cNvGraphicFramePr/>
          <p:nvPr>
            <p:extLst>
              <p:ext uri="{D42A27DB-BD31-4B8C-83A1-F6EECF244321}">
                <p14:modId xmlns:p14="http://schemas.microsoft.com/office/powerpoint/2010/main" val="2439771858"/>
              </p:ext>
            </p:extLst>
          </p:nvPr>
        </p:nvGraphicFramePr>
        <p:xfrm>
          <a:off x="0" y="635155"/>
          <a:ext cx="2332925" cy="256021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91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17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69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21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254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10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15930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SID (33/34 NADP 1, 15/16 NADP 2)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5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BOPTA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xA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BOPTA </a:t>
                      </a:r>
                      <a:r>
                        <a:rPr lang="en-US" sz="800" dirty="0" err="1"/>
                        <a:t>xY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BOPTA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xC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BOPTA </a:t>
                      </a:r>
                      <a:r>
                        <a:rPr lang="en-US" sz="800" dirty="0" err="1"/>
                        <a:t>xH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NCN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113.8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33L 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15L 111.9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15R 109.1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WNG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112.9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109.95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110.35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108.55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580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33L/R : NC05L/R, R242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YJU R271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34L/R : EO34L/R,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YJU R271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44775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33L/R 34L(23’)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15L/R 16R(23’)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4477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34R (23’)</a:t>
                      </a:r>
                      <a:endParaRPr sz="458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44775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Parallel TWY 10KTS </a:t>
                      </a:r>
                      <a:r>
                        <a:rPr lang="en-US" sz="800" dirty="0" err="1"/>
                        <a:t>이상</a:t>
                      </a:r>
                      <a:r>
                        <a:rPr lang="en-US" sz="800" dirty="0"/>
                        <a:t>(R17 MAX 15kts)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292" name="Google Shape;292;p18"/>
          <p:cNvGraphicFramePr/>
          <p:nvPr>
            <p:extLst>
              <p:ext uri="{D42A27DB-BD31-4B8C-83A1-F6EECF244321}">
                <p14:modId xmlns:p14="http://schemas.microsoft.com/office/powerpoint/2010/main" val="3682451258"/>
              </p:ext>
            </p:extLst>
          </p:nvPr>
        </p:nvGraphicFramePr>
        <p:xfrm>
          <a:off x="4472" y="3705686"/>
          <a:ext cx="2351640" cy="1832803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66413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9440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3059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6250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03508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PVG : STAR </a:t>
                      </a:r>
                      <a:r>
                        <a:rPr lang="en-US" sz="800" b="0" dirty="0">
                          <a:solidFill>
                            <a:srgbClr val="FFC000"/>
                          </a:solidFill>
                        </a:rPr>
                        <a:t>(North of ‘PVGNB’, R-276 Prohibited)</a:t>
                      </a:r>
                      <a:endParaRPr sz="800" b="0" dirty="0">
                        <a:solidFill>
                          <a:srgbClr val="FFC000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2073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34R</a:t>
                      </a:r>
                      <a:r>
                        <a:rPr lang="en-US" sz="800" b="0" dirty="0"/>
                        <a:t>(L)/35L(R)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DUM 91A/92A</a:t>
                      </a: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MP2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Z xx</a:t>
                      </a: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55759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16L(R)/</a:t>
                      </a:r>
                      <a:r>
                        <a:rPr lang="en-US" sz="800" b="0" dirty="0"/>
                        <a:t>17R(L)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/>
                        <a:t>DUM 81A/82A</a:t>
                      </a: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MP1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Z xx</a:t>
                      </a: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84957">
                <a:tc row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34R/L(11’/12’)   12467’  16L/R(12’/11’)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84957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35R(10’)      13123’     17L(10’)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84957">
                <a:tc v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35L(12’)      11155’     17R(12’)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35666460"/>
                  </a:ext>
                </a:extLst>
              </a:tr>
              <a:tr h="301242">
                <a:tc gridSpan="4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34R : G4(5603’), G5(6896’), 16L : G3(5577’), G2(6909’)</a:t>
                      </a:r>
                      <a:endParaRPr sz="800" dirty="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35L : D4(5636’), D5(6932’), 17R : D3(5626’), D2(6942’)</a:t>
                      </a:r>
                      <a:r>
                        <a:rPr lang="en-US" sz="800" dirty="0">
                          <a:solidFill>
                            <a:schemeClr val="dk1"/>
                          </a:solidFill>
                        </a:rPr>
                        <a:t> 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01242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Normally DUMET 6000m, </a:t>
                      </a:r>
                      <a:r>
                        <a:rPr lang="en-US" sz="800" dirty="0">
                          <a:solidFill>
                            <a:srgbClr val="0070C0"/>
                          </a:solidFill>
                        </a:rPr>
                        <a:t>ILS Ident /6 160kts</a:t>
                      </a:r>
                      <a:endParaRPr lang="en-US" altLang="ko-KR" sz="800" dirty="0">
                        <a:solidFill>
                          <a:srgbClr val="0070C0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Follow Me Car Insight – TAXI L/T </a:t>
                      </a:r>
                      <a:r>
                        <a:rPr lang="en-US" sz="800" dirty="0" err="1"/>
                        <a:t>off,APU</a:t>
                      </a:r>
                      <a:r>
                        <a:rPr lang="en-US" sz="800" dirty="0"/>
                        <a:t> off Procedure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293" name="Google Shape;293;p18"/>
          <p:cNvGraphicFramePr/>
          <p:nvPr>
            <p:extLst>
              <p:ext uri="{D42A27DB-BD31-4B8C-83A1-F6EECF244321}">
                <p14:modId xmlns:p14="http://schemas.microsoft.com/office/powerpoint/2010/main" val="948310"/>
              </p:ext>
            </p:extLst>
          </p:nvPr>
        </p:nvGraphicFramePr>
        <p:xfrm>
          <a:off x="-2501" y="16504"/>
          <a:ext cx="2328850" cy="62454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ZSPD(PVG) 13ft</a:t>
                      </a:r>
                      <a:endParaRPr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KE ICN 131.5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600"/>
                        <a:buFont typeface="Calibri"/>
                        <a:buNone/>
                      </a:pPr>
                      <a:r>
                        <a:rPr lang="en-US" sz="60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-10분 TOBT 5분 차이시 CTC Comm</a:t>
                      </a:r>
                      <a:endParaRPr sz="90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China Eastern 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130.5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2F249E7A-A45C-54A1-0C09-872C49733B6D}"/>
              </a:ext>
            </a:extLst>
          </p:cNvPr>
          <p:cNvSpPr/>
          <p:nvPr/>
        </p:nvSpPr>
        <p:spPr>
          <a:xfrm>
            <a:off x="1651787" y="3373948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8E0FC5CB-5405-69E2-6AEE-ED1D46C77F25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785555554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7" name="Google Shape;397;p3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1" y="-9795"/>
            <a:ext cx="2328863" cy="5064777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66ABCDBC-383F-5581-5E39-83905EACA8B3}"/>
              </a:ext>
            </a:extLst>
          </p:cNvPr>
          <p:cNvSpPr txBox="1"/>
          <p:nvPr/>
        </p:nvSpPr>
        <p:spPr>
          <a:xfrm>
            <a:off x="1278611" y="4006314"/>
            <a:ext cx="1031051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900" b="1" dirty="0">
                <a:solidFill>
                  <a:srgbClr val="0070C0"/>
                </a:solidFill>
              </a:rPr>
              <a:t>550M       1800ft</a:t>
            </a:r>
            <a:endParaRPr kumimoji="1" lang="ko-Kore-KR" altLang="en-US" sz="900" b="1" dirty="0">
              <a:solidFill>
                <a:srgbClr val="0070C0"/>
              </a:solidFill>
            </a:endParaRP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A9EEFEB8-F9E4-386F-27B1-F3014416BF74}"/>
              </a:ext>
            </a:extLst>
          </p:cNvPr>
          <p:cNvSpPr/>
          <p:nvPr/>
        </p:nvSpPr>
        <p:spPr>
          <a:xfrm>
            <a:off x="55571" y="3177666"/>
            <a:ext cx="1000283" cy="333428"/>
          </a:xfrm>
          <a:prstGeom prst="rect">
            <a:avLst/>
          </a:prstGeom>
          <a:noFill/>
          <a:ln w="3492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FC66845-A7AA-98C4-534C-70B808775E8B}"/>
              </a:ext>
            </a:extLst>
          </p:cNvPr>
          <p:cNvSpPr txBox="1"/>
          <p:nvPr/>
        </p:nvSpPr>
        <p:spPr>
          <a:xfrm>
            <a:off x="997707" y="3142302"/>
            <a:ext cx="330540" cy="41287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900" b="1" dirty="0">
                <a:solidFill>
                  <a:srgbClr val="0070C0"/>
                </a:solidFill>
              </a:rPr>
              <a:t>TL</a:t>
            </a:r>
          </a:p>
          <a:p>
            <a:pPr algn="dist">
              <a:lnSpc>
                <a:spcPct val="150000"/>
              </a:lnSpc>
            </a:pPr>
            <a:r>
              <a:rPr kumimoji="1" lang="en-US" altLang="ko-Kore-KR" sz="900" b="1" dirty="0">
                <a:solidFill>
                  <a:srgbClr val="0070C0"/>
                </a:solidFill>
              </a:rPr>
              <a:t>TA</a:t>
            </a:r>
            <a:endParaRPr kumimoji="1" lang="ko-Kore-KR" altLang="en-US" sz="900" b="1" dirty="0">
              <a:solidFill>
                <a:srgbClr val="0070C0"/>
              </a:solidFill>
            </a:endParaRPr>
          </a:p>
        </p:txBody>
      </p:sp>
      <p:sp>
        <p:nvSpPr>
          <p:cNvPr id="6" name="직사각형 5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4BFE20D2-9E22-107A-6D34-D5883DF23365}"/>
              </a:ext>
            </a:extLst>
          </p:cNvPr>
          <p:cNvSpPr/>
          <p:nvPr/>
        </p:nvSpPr>
        <p:spPr>
          <a:xfrm>
            <a:off x="847353" y="527797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243935020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17" name="Google Shape;117;p3"/>
          <p:cNvGraphicFramePr/>
          <p:nvPr>
            <p:extLst>
              <p:ext uri="{D42A27DB-BD31-4B8C-83A1-F6EECF244321}">
                <p14:modId xmlns:p14="http://schemas.microsoft.com/office/powerpoint/2010/main" val="2497413401"/>
              </p:ext>
            </p:extLst>
          </p:nvPr>
        </p:nvGraphicFramePr>
        <p:xfrm>
          <a:off x="-4045" y="595076"/>
          <a:ext cx="2300931" cy="220825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2718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41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470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1447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153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1400">
                  <a:extLst>
                    <a:ext uri="{9D8B030D-6E8A-4147-A177-3AD203B41FA5}">
                      <a16:colId xmlns:a16="http://schemas.microsoft.com/office/drawing/2014/main" val="2940550374"/>
                    </a:ext>
                  </a:extLst>
                </a:gridCol>
                <a:gridCol w="9918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876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46589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314761">
                  <a:extLst>
                    <a:ext uri="{9D8B030D-6E8A-4147-A177-3AD203B41FA5}">
                      <a16:colId xmlns:a16="http://schemas.microsoft.com/office/drawing/2014/main" val="448940902"/>
                    </a:ext>
                  </a:extLst>
                </a:gridCol>
              </a:tblGrid>
              <a:tr h="230296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PVG : SID (NADP 1) 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>
                          <a:solidFill>
                            <a:srgbClr val="FFC000"/>
                          </a:solidFill>
                        </a:rPr>
                        <a:t>(ATC Hold Expected Fuel Add!!)</a:t>
                      </a:r>
                      <a:endParaRPr sz="800" b="0" u="none" strike="noStrike" cap="none" dirty="0">
                        <a:solidFill>
                          <a:srgbClr val="FFC000"/>
                        </a:solidFill>
                      </a:endParaRPr>
                    </a:p>
                  </a:txBody>
                  <a:tcPr marL="36000" marR="7200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6937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34L/R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/>
                        <a:t>35R/L</a:t>
                      </a:r>
                      <a:endParaRPr sz="800" b="0" u="none" strike="noStrike" cap="none" dirty="0"/>
                    </a:p>
                  </a:txBody>
                  <a:tcPr marL="0" marR="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LAM 92D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>
                          <a:solidFill>
                            <a:srgbClr val="0070C0"/>
                          </a:solidFill>
                        </a:rPr>
                        <a:t>(LAM 91D)</a:t>
                      </a:r>
                      <a:endParaRPr sz="800" b="0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348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348</a:t>
                      </a:r>
                      <a:endParaRPr sz="800" b="1" u="none" strike="noStrike" cap="none" dirty="0"/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ATC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(900m)</a:t>
                      </a:r>
                      <a:endParaRPr lang="ko-Kore-KR" dirty="0"/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348</a:t>
                      </a:r>
                      <a:endParaRPr lang="ko-Kore-KR" altLang="en-US" dirty="0"/>
                    </a:p>
                  </a:txBody>
                  <a:tcPr marL="0" marR="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6937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16R/L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/>
                        <a:t>17L/R</a:t>
                      </a:r>
                      <a:endParaRPr sz="800" b="0" u="none" strike="noStrike" cap="none" dirty="0"/>
                    </a:p>
                  </a:txBody>
                  <a:tcPr marL="0" marR="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LAM 82D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0" u="none" strike="noStrike" cap="none" dirty="0">
                          <a:solidFill>
                            <a:srgbClr val="0070C0"/>
                          </a:solidFill>
                        </a:rPr>
                        <a:t>(LAM 81D)</a:t>
                      </a: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168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168</a:t>
                      </a:r>
                      <a:endParaRPr sz="800" b="1" u="none" strike="noStrike" cap="none" dirty="0"/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ATC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(900m)</a:t>
                      </a:r>
                      <a:endParaRPr lang="ko-Kore-KR" dirty="0"/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168</a:t>
                      </a:r>
                      <a:endParaRPr lang="ko-Kore-KR" altLang="en-US" dirty="0"/>
                    </a:p>
                  </a:txBody>
                  <a:tcPr marL="0" marR="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67483">
                <a:tc rowSpan="2"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PUD 116.9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0" marR="0" marT="0" marB="0" anchor="ctr"/>
                </a:tc>
                <a:tc rowSpan="2"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rowSpan="2"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34R 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108.9</a:t>
                      </a:r>
                      <a:endParaRPr dirty="0"/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35L 108.1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34L 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108.3</a:t>
                      </a:r>
                      <a:endParaRPr dirty="0"/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35R 111.9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67483">
                <a:tc gridSpan="3" v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 v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16L 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111.5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17R 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111.1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16R 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108.7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17L 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110.7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724225180"/>
                  </a:ext>
                </a:extLst>
              </a:tr>
              <a:tr h="300679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0" marR="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34R/L(11’/12’) 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35R(10’)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35L(12’)</a:t>
                      </a: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12467’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11155’</a:t>
                      </a:r>
                      <a:endParaRPr sz="800" b="1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16L/R(12’/11’)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17L(10’)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17R(12’)</a:t>
                      </a: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16937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/>
                        <a:t>APU Start, TUG Connect After Beacon L/T ON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/>
                        <a:t>Ready for Intersection T/O</a:t>
                      </a: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119" name="Google Shape;119;p3"/>
          <p:cNvGraphicFramePr/>
          <p:nvPr>
            <p:extLst>
              <p:ext uri="{D42A27DB-BD31-4B8C-83A1-F6EECF244321}">
                <p14:modId xmlns:p14="http://schemas.microsoft.com/office/powerpoint/2010/main" val="4277932761"/>
              </p:ext>
            </p:extLst>
          </p:nvPr>
        </p:nvGraphicFramePr>
        <p:xfrm>
          <a:off x="-2501" y="16504"/>
          <a:ext cx="2328850" cy="57461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ZSPD(PVG) 13ft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China Eastern 130.5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dirty="0">
                          <a:solidFill>
                            <a:srgbClr val="FF0000"/>
                          </a:solidFill>
                        </a:rPr>
                        <a:t>DCL 10</a:t>
                      </a:r>
                      <a:r>
                        <a:rPr lang="ko-KR" altLang="en-US" sz="700" dirty="0">
                          <a:solidFill>
                            <a:srgbClr val="FF0000"/>
                          </a:solidFill>
                        </a:rPr>
                        <a:t>분전</a:t>
                      </a:r>
                      <a:r>
                        <a:rPr lang="en-US" sz="700" dirty="0">
                          <a:solidFill>
                            <a:srgbClr val="FF0000"/>
                          </a:solidFill>
                        </a:rPr>
                        <a:t>, No READ BACK!</a:t>
                      </a:r>
                      <a:endParaRPr sz="700" dirty="0">
                        <a:solidFill>
                          <a:srgbClr val="FF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7BA009CD-0CE1-2081-CE8C-F9EB8DF1D6DE}"/>
              </a:ext>
            </a:extLst>
          </p:cNvPr>
          <p:cNvSpPr txBox="1"/>
          <p:nvPr/>
        </p:nvSpPr>
        <p:spPr>
          <a:xfrm>
            <a:off x="20837" y="2823127"/>
            <a:ext cx="1710405" cy="538609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SHA APP 125.4 </a:t>
            </a:r>
            <a:r>
              <a:rPr kumimoji="1" lang="en-US" altLang="ko-Kore-KR" sz="700" b="1" u="sng" dirty="0">
                <a:solidFill>
                  <a:srgbClr val="C0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(Without Instruction)</a:t>
            </a:r>
          </a:p>
          <a:p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SHA </a:t>
            </a:r>
            <a:r>
              <a:rPr kumimoji="1" lang="en-US" altLang="ko-Kore-KR" sz="700" b="1" u="sng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APP </a:t>
            </a:r>
            <a:r>
              <a:rPr kumimoji="1" lang="en-US" altLang="ko-KR" sz="700" b="1" u="sng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125.62(</a:t>
            </a:r>
            <a:r>
              <a:rPr kumimoji="1" lang="en-US" altLang="ko-Kore-KR" sz="700" b="1" u="sng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119.975</a:t>
            </a:r>
            <a:r>
              <a:rPr kumimoji="1" lang="en-US" altLang="ko-KR" sz="700" b="1" u="sng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)</a:t>
            </a:r>
            <a:endParaRPr kumimoji="1" lang="en-US" altLang="ko-Kore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SHA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120.95</a:t>
            </a:r>
          </a:p>
          <a:p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ICN 125.725(124.52) – 120.72 – 126.17</a:t>
            </a:r>
          </a:p>
          <a:p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APP – 119.75</a:t>
            </a:r>
            <a:endParaRPr kumimoji="1" lang="ko-Kore-KR" altLang="en-US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graphicFrame>
        <p:nvGraphicFramePr>
          <p:cNvPr id="5" name="Google Shape;303;p19">
            <a:extLst>
              <a:ext uri="{FF2B5EF4-FFF2-40B4-BE49-F238E27FC236}">
                <a16:creationId xmlns:a16="http://schemas.microsoft.com/office/drawing/2014/main" id="{9A6F36E3-64E2-A97B-D85E-56AC20DB660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048583957"/>
              </p:ext>
            </p:extLst>
          </p:nvPr>
        </p:nvGraphicFramePr>
        <p:xfrm>
          <a:off x="1119" y="3405664"/>
          <a:ext cx="2325975" cy="2130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59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3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55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774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STAR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33/34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</a:t>
                      </a:r>
                      <a:r>
                        <a:rPr lang="en-US" sz="800" b="1" dirty="0" err="1"/>
                        <a:t>xE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ENPIL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180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15/16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</a:t>
                      </a:r>
                      <a:r>
                        <a:rPr lang="en-US" sz="800" b="1" dirty="0" err="1"/>
                        <a:t>xH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MUNAN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180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285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33L/R 34L(23’)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15L/R 16R(23’)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285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34R(23’)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13123’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16L(23’)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64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FIX</a:t>
                      </a:r>
                      <a:endParaRPr/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RWY /8, /5 , YJU R271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C4(7529’),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C5(8513’), 33L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: B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7563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8513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C2(7522’),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C1(8536’), 15R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B3(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7454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B2(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8641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P7(5600’),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P8(6578’), 34R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N4(6876’),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N5(8507‘)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P6(5597’),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P5(6574’), 16L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N3(7043‘),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N2(8444‘)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01600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8NM 180kts, 5NM 160kts, Parr TAXI 10kts이상,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HIRO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3" name="직사각형 2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857B720D-0D1B-9121-09AB-6FDEA1F31352}"/>
              </a:ext>
            </a:extLst>
          </p:cNvPr>
          <p:cNvSpPr/>
          <p:nvPr/>
        </p:nvSpPr>
        <p:spPr>
          <a:xfrm>
            <a:off x="1657574" y="2847302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E5BD0A1F-222D-F256-6A70-D874149F410B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998045520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62F9807-5AEF-8D80-6311-45C5000B22FB}"/>
              </a:ext>
            </a:extLst>
          </p:cNvPr>
          <p:cNvSpPr txBox="1"/>
          <p:nvPr/>
        </p:nvSpPr>
        <p:spPr>
          <a:xfrm>
            <a:off x="-55838" y="3145720"/>
            <a:ext cx="2291012" cy="532316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125.15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132.8 – DLC 132.95 – 135.65</a:t>
            </a:r>
            <a:endParaRPr kumimoji="1" lang="en-US" altLang="ko-Kore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128.77 – SHE 119.3 – 118.9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YNJ TWR 118.75</a:t>
            </a:r>
          </a:p>
        </p:txBody>
      </p:sp>
      <p:graphicFrame>
        <p:nvGraphicFramePr>
          <p:cNvPr id="291" name="Google Shape;291;p18"/>
          <p:cNvGraphicFramePr/>
          <p:nvPr>
            <p:extLst>
              <p:ext uri="{D42A27DB-BD31-4B8C-83A1-F6EECF244321}">
                <p14:modId xmlns:p14="http://schemas.microsoft.com/office/powerpoint/2010/main" val="1475866777"/>
              </p:ext>
            </p:extLst>
          </p:nvPr>
        </p:nvGraphicFramePr>
        <p:xfrm>
          <a:off x="0" y="628907"/>
          <a:ext cx="2332925" cy="256021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91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17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69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21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254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10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15930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SID (33/34 NADP 1, 15/16 NADP 2)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5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NOPIK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xA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NOPIK </a:t>
                      </a:r>
                      <a:r>
                        <a:rPr lang="en-US" sz="800" dirty="0" err="1"/>
                        <a:t>xY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BINIL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xC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BINIL </a:t>
                      </a:r>
                      <a:r>
                        <a:rPr lang="en-US" sz="800" dirty="0" err="1"/>
                        <a:t>xH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NCN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113.8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33L 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33R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108.9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15L 111.9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15R 109.1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WNG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112.9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109.95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110.35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108.55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580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33L/R : NC05L/R,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P518 R068, R278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34L/R : EO34L/R,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ore-KR" sz="800" dirty="0"/>
                        <a:t>P518 R068, R278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44775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33L/R 34L(23’)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15L/R 16R(23’)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4477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34R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44775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Parallel TWY 10KTS </a:t>
                      </a:r>
                      <a:r>
                        <a:rPr lang="en-US" sz="800" dirty="0" err="1"/>
                        <a:t>이상</a:t>
                      </a:r>
                      <a:r>
                        <a:rPr lang="en-US" sz="800" dirty="0"/>
                        <a:t>(R17 MAX 15kts)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292" name="Google Shape;292;p18"/>
          <p:cNvGraphicFramePr/>
          <p:nvPr>
            <p:extLst>
              <p:ext uri="{D42A27DB-BD31-4B8C-83A1-F6EECF244321}">
                <p14:modId xmlns:p14="http://schemas.microsoft.com/office/powerpoint/2010/main" val="1503814499"/>
              </p:ext>
            </p:extLst>
          </p:nvPr>
        </p:nvGraphicFramePr>
        <p:xfrm>
          <a:off x="-1706" y="3694129"/>
          <a:ext cx="2341562" cy="1869978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2448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4978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704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9684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980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YNJ : RNP STAR </a:t>
                      </a:r>
                      <a:r>
                        <a:rPr lang="en-US" sz="800" dirty="0">
                          <a:solidFill>
                            <a:schemeClr val="accent4"/>
                          </a:solidFill>
                        </a:rPr>
                        <a:t>(RW09 main for L/D)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CHK NAV DATA </a:t>
                      </a:r>
                      <a:r>
                        <a:rPr lang="en-US" sz="800" dirty="0">
                          <a:solidFill>
                            <a:schemeClr val="accent4"/>
                          </a:solidFill>
                        </a:rPr>
                        <a:t>for Holding Area(Expect Hold Mil Train)</a:t>
                      </a:r>
                      <a:endParaRPr sz="800" b="0" dirty="0">
                        <a:solidFill>
                          <a:schemeClr val="accent4"/>
                        </a:solidFill>
                      </a:endParaRP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9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09</a:t>
                      </a:r>
                      <a:endParaRPr sz="800" b="1" dirty="0"/>
                    </a:p>
                  </a:txBody>
                  <a:tcPr marL="36000" marR="36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KAN/OMB 09A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>
                          <a:solidFill>
                            <a:srgbClr val="0070C0"/>
                          </a:solidFill>
                        </a:rPr>
                        <a:t>(KAN/OMB 04(02)A)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YJ504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>
                          <a:solidFill>
                            <a:srgbClr val="0070C0"/>
                          </a:solidFill>
                        </a:rPr>
                        <a:t>(D267T)</a:t>
                      </a:r>
                      <a:endParaRPr sz="800" b="0" dirty="0">
                        <a:solidFill>
                          <a:srgbClr val="0070C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Z 09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>
                          <a:solidFill>
                            <a:srgbClr val="0070C0"/>
                          </a:solidFill>
                        </a:rPr>
                        <a:t>(VOR </a:t>
                      </a:r>
                      <a:r>
                        <a:rPr lang="en-US" altLang="ko-KR" sz="800" b="0" dirty="0">
                          <a:solidFill>
                            <a:srgbClr val="0070C0"/>
                          </a:solidFill>
                        </a:rPr>
                        <a:t>4</a:t>
                      </a:r>
                      <a:r>
                        <a:rPr lang="ko-KR" altLang="en-US" sz="800" b="0" dirty="0">
                          <a:solidFill>
                            <a:srgbClr val="0070C0"/>
                          </a:solidFill>
                        </a:rPr>
                        <a:t>도 </a:t>
                      </a:r>
                      <a:r>
                        <a:rPr lang="en-US" altLang="ko-KR" sz="800" b="0" dirty="0">
                          <a:solidFill>
                            <a:srgbClr val="0070C0"/>
                          </a:solidFill>
                        </a:rPr>
                        <a:t>off)</a:t>
                      </a:r>
                      <a:endParaRPr lang="en-US" sz="800" b="0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0" marB="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9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/>
                        <a:t>27</a:t>
                      </a:r>
                      <a:endParaRPr sz="800" b="0" dirty="0"/>
                    </a:p>
                  </a:txBody>
                  <a:tcPr marL="36000" marR="36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/>
                        <a:t>KAN/OMB 19</a:t>
                      </a:r>
                      <a:r>
                        <a:rPr lang="en-US" altLang="ko-Kore-KR" sz="800" b="0" dirty="0"/>
                        <a:t>(18</a:t>
                      </a:r>
                      <a:r>
                        <a:rPr lang="en-US" altLang="ko-Kore-KR" sz="800" b="1" dirty="0"/>
                        <a:t>)A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800" b="0" dirty="0">
                          <a:solidFill>
                            <a:srgbClr val="0070C0"/>
                          </a:solidFill>
                        </a:rPr>
                        <a:t>(KAN/OMB 11(12)A)</a:t>
                      </a:r>
                    </a:p>
                  </a:txBody>
                  <a:tcPr marL="36000" marR="36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YJ604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>
                          <a:solidFill>
                            <a:srgbClr val="0070C0"/>
                          </a:solidFill>
                        </a:rPr>
                        <a:t>(D341N)</a:t>
                      </a:r>
                      <a:endParaRPr sz="800" b="0" dirty="0">
                        <a:solidFill>
                          <a:srgbClr val="0070C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Z 27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>
                          <a:solidFill>
                            <a:srgbClr val="0070C0"/>
                          </a:solidFill>
                        </a:rPr>
                        <a:t>(VOR 4</a:t>
                      </a:r>
                      <a:r>
                        <a:rPr lang="ko-KR" altLang="en-US" sz="800" b="0" dirty="0">
                          <a:solidFill>
                            <a:srgbClr val="0070C0"/>
                          </a:solidFill>
                        </a:rPr>
                        <a:t>도 </a:t>
                      </a:r>
                      <a:r>
                        <a:rPr lang="en-US" altLang="ko-KR" sz="800" b="0" dirty="0">
                          <a:solidFill>
                            <a:srgbClr val="0070C0"/>
                          </a:solidFill>
                        </a:rPr>
                        <a:t>off)</a:t>
                      </a:r>
                      <a:endParaRPr sz="800" b="0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0" marB="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84071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0" marB="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09(621’)      8530’      27(597’)</a:t>
                      </a:r>
                      <a:r>
                        <a:rPr lang="ko-KR" altLang="en-US" sz="800" b="1" dirty="0">
                          <a:solidFill>
                            <a:srgbClr val="00B050"/>
                          </a:solidFill>
                        </a:rPr>
                        <a:t> </a:t>
                      </a:r>
                      <a:r>
                        <a:rPr lang="en-US" altLang="ko-KR" sz="800" b="1" dirty="0">
                          <a:solidFill>
                            <a:srgbClr val="C00000"/>
                          </a:solidFill>
                        </a:rPr>
                        <a:t>3.3</a:t>
                      </a:r>
                      <a:r>
                        <a:rPr lang="ko-KR" altLang="en-US" sz="800" b="1" dirty="0">
                          <a:solidFill>
                            <a:srgbClr val="C00000"/>
                          </a:solidFill>
                        </a:rPr>
                        <a:t>도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84071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FIX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0" marB="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DPRKK(N43 01.6/E129 52.0) R100, R200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RWY27  /12 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(Do not overshoot 12DME ARC)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62406190"/>
                  </a:ext>
                </a:extLst>
              </a:tr>
              <a:tr h="160867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R" sz="800" b="1" dirty="0">
                          <a:solidFill>
                            <a:schemeClr val="dk1"/>
                          </a:solidFill>
                        </a:rPr>
                        <a:t>  09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 : </a:t>
                      </a: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C(5330’),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180 BACK(8530’),  27 : B(7400’),A (8350’)</a:t>
                      </a:r>
                      <a:r>
                        <a:rPr lang="en-US" sz="800" dirty="0">
                          <a:solidFill>
                            <a:schemeClr val="dk1"/>
                          </a:solidFill>
                        </a:rPr>
                        <a:t> </a:t>
                      </a:r>
                      <a:endParaRPr dirty="0"/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62007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rgbClr val="0070C0"/>
                          </a:solidFill>
                        </a:rPr>
                        <a:t>Expect Hold Due to MIL Train</a:t>
                      </a: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(ADD FUEL 30min)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rgbClr val="0070C0"/>
                          </a:solidFill>
                        </a:rPr>
                        <a:t>PAX Window must closed Between APP and DEP.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tx1"/>
                          </a:solidFill>
                        </a:rPr>
                        <a:t>Parking Brake Remain SET (Winter)</a:t>
                      </a: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293" name="Google Shape;293;p18"/>
          <p:cNvGraphicFramePr/>
          <p:nvPr>
            <p:extLst>
              <p:ext uri="{D42A27DB-BD31-4B8C-83A1-F6EECF244321}">
                <p14:modId xmlns:p14="http://schemas.microsoft.com/office/powerpoint/2010/main" val="665345525"/>
              </p:ext>
            </p:extLst>
          </p:nvPr>
        </p:nvGraphicFramePr>
        <p:xfrm>
          <a:off x="-2501" y="16504"/>
          <a:ext cx="2328850" cy="60930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ZYYJ(YNJ) </a:t>
                      </a:r>
                      <a:r>
                        <a:rPr lang="en-US" sz="1300" dirty="0">
                          <a:solidFill>
                            <a:srgbClr val="FF0000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624ft</a:t>
                      </a:r>
                      <a:endParaRPr sz="1300" dirty="0">
                        <a:solidFill>
                          <a:srgbClr val="FF0000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600"/>
                        <a:buFont typeface="Calibri"/>
                        <a:buNone/>
                      </a:pPr>
                      <a:r>
                        <a:rPr lang="en-US" sz="600" dirty="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-10분 TOBT 5분 </a:t>
                      </a:r>
                      <a:r>
                        <a:rPr lang="en-US" sz="600" dirty="0" err="1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차이시</a:t>
                      </a:r>
                      <a:r>
                        <a:rPr lang="en-US" sz="600" dirty="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CTC Comm</a:t>
                      </a:r>
                      <a:endParaRPr sz="900" dirty="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None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FF0000"/>
                          </a:solidFill>
                        </a:rPr>
                        <a:t>No D-ATIS</a:t>
                      </a:r>
                      <a:endParaRPr sz="800" dirty="0">
                        <a:solidFill>
                          <a:srgbClr val="FF0000"/>
                        </a:solidFill>
                      </a:endParaRPr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7F8FC769-31D3-C65B-0A4D-8512B1FC1D77}"/>
              </a:ext>
            </a:extLst>
          </p:cNvPr>
          <p:cNvSpPr/>
          <p:nvPr/>
        </p:nvSpPr>
        <p:spPr>
          <a:xfrm>
            <a:off x="1651787" y="339958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2F4EF24A-3648-E4B6-92DD-3A591532AC2B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602068595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7" name="Google Shape;397;p3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1" y="-9795"/>
            <a:ext cx="2328863" cy="5064777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66ABCDBC-383F-5581-5E39-83905EACA8B3}"/>
              </a:ext>
            </a:extLst>
          </p:cNvPr>
          <p:cNvSpPr txBox="1"/>
          <p:nvPr/>
        </p:nvSpPr>
        <p:spPr>
          <a:xfrm>
            <a:off x="1278611" y="4006314"/>
            <a:ext cx="1031051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900" b="1" dirty="0">
                <a:solidFill>
                  <a:srgbClr val="0070C0"/>
                </a:solidFill>
              </a:rPr>
              <a:t>550M       1800ft</a:t>
            </a:r>
            <a:endParaRPr kumimoji="1" lang="ko-Kore-KR" altLang="en-US" sz="900" b="1" dirty="0">
              <a:solidFill>
                <a:srgbClr val="0070C0"/>
              </a:solidFill>
            </a:endParaRP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A9EEFEB8-F9E4-386F-27B1-F3014416BF74}"/>
              </a:ext>
            </a:extLst>
          </p:cNvPr>
          <p:cNvSpPr/>
          <p:nvPr/>
        </p:nvSpPr>
        <p:spPr>
          <a:xfrm>
            <a:off x="55571" y="3177666"/>
            <a:ext cx="1000283" cy="333428"/>
          </a:xfrm>
          <a:prstGeom prst="rect">
            <a:avLst/>
          </a:prstGeom>
          <a:noFill/>
          <a:ln w="3492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FC66845-A7AA-98C4-534C-70B808775E8B}"/>
              </a:ext>
            </a:extLst>
          </p:cNvPr>
          <p:cNvSpPr txBox="1"/>
          <p:nvPr/>
        </p:nvSpPr>
        <p:spPr>
          <a:xfrm>
            <a:off x="997707" y="3142302"/>
            <a:ext cx="330540" cy="41287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900" b="1" dirty="0">
                <a:solidFill>
                  <a:srgbClr val="0070C0"/>
                </a:solidFill>
              </a:rPr>
              <a:t>TL</a:t>
            </a:r>
          </a:p>
          <a:p>
            <a:pPr algn="dist">
              <a:lnSpc>
                <a:spcPct val="150000"/>
              </a:lnSpc>
            </a:pPr>
            <a:r>
              <a:rPr kumimoji="1" lang="en-US" altLang="ko-Kore-KR" sz="900" b="1" dirty="0">
                <a:solidFill>
                  <a:srgbClr val="0070C0"/>
                </a:solidFill>
              </a:rPr>
              <a:t>TA</a:t>
            </a:r>
            <a:endParaRPr kumimoji="1" lang="ko-Kore-KR" altLang="en-US" sz="900" b="1" dirty="0">
              <a:solidFill>
                <a:srgbClr val="0070C0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83B9E08-9399-887D-087F-8AD383B55718}"/>
              </a:ext>
            </a:extLst>
          </p:cNvPr>
          <p:cNvSpPr txBox="1"/>
          <p:nvPr/>
        </p:nvSpPr>
        <p:spPr>
          <a:xfrm>
            <a:off x="24681" y="5030270"/>
            <a:ext cx="162494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ore-KR" sz="1050" dirty="0">
                <a:solidFill>
                  <a:srgbClr val="C00000"/>
                </a:solidFill>
              </a:rPr>
              <a:t>QFE Next Page</a:t>
            </a:r>
            <a:endParaRPr kumimoji="1" lang="ko-Kore-KR" altLang="en-US" sz="1050" dirty="0">
              <a:solidFill>
                <a:srgbClr val="C00000"/>
              </a:solidFill>
            </a:endParaRPr>
          </a:p>
        </p:txBody>
      </p:sp>
      <p:sp>
        <p:nvSpPr>
          <p:cNvPr id="6" name="직사각형 5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27EB1F91-A32C-4EF8-0E55-67221839AEA3}"/>
              </a:ext>
            </a:extLst>
          </p:cNvPr>
          <p:cNvSpPr/>
          <p:nvPr/>
        </p:nvSpPr>
        <p:spPr>
          <a:xfrm>
            <a:off x="847353" y="527797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73713652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Google Shape;377;p28">
            <a:extLst>
              <a:ext uri="{FF2B5EF4-FFF2-40B4-BE49-F238E27FC236}">
                <a16:creationId xmlns:a16="http://schemas.microsoft.com/office/drawing/2014/main" id="{3BC43B3A-BAD2-E13A-4922-2BB962CCA02E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144243983"/>
              </p:ext>
            </p:extLst>
          </p:nvPr>
        </p:nvGraphicFramePr>
        <p:xfrm>
          <a:off x="7" y="822012"/>
          <a:ext cx="2328850" cy="469296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01321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15634">
                  <a:extLst>
                    <a:ext uri="{9D8B030D-6E8A-4147-A177-3AD203B41FA5}">
                      <a16:colId xmlns:a16="http://schemas.microsoft.com/office/drawing/2014/main" val="2543703711"/>
                    </a:ext>
                  </a:extLst>
                </a:gridCol>
              </a:tblGrid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Height based on QFE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(instructed by ATC)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Altitude base on QNH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(Set Altitude : QFE + </a:t>
                      </a:r>
                      <a:r>
                        <a:rPr lang="en-US" sz="800" dirty="0" err="1"/>
                        <a:t>Elev</a:t>
                      </a:r>
                      <a:r>
                        <a:rPr lang="en-US" sz="800" dirty="0"/>
                        <a:t> SET)</a:t>
                      </a:r>
                      <a:endParaRPr sz="800" dirty="0"/>
                    </a:p>
                  </a:txBody>
                  <a:tcPr marL="36000" marR="0" marT="36000" marB="3600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xxx m on QFE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xxx m plus Elevation Set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0" marT="36000" marB="36000" anchor="ctr"/>
                </a:tc>
                <a:extLst>
                  <a:ext uri="{0D108BD9-81ED-4DB2-BD59-A6C34878D82A}">
                    <a16:rowId xmlns:a16="http://schemas.microsoft.com/office/drawing/2014/main" val="1359757106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3000 m</a:t>
                      </a:r>
                      <a:endParaRPr sz="9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</a:rPr>
                        <a:t>10500 ft</a:t>
                      </a:r>
                      <a:endParaRPr lang="ko-Kore-KR" altLang="en-US"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2700 m </a:t>
                      </a:r>
                      <a:endParaRPr sz="9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</a:rPr>
                        <a:t>9500 ft</a:t>
                      </a:r>
                      <a:endParaRPr lang="ko-Kore-KR" altLang="en-US"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37287468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2400 m</a:t>
                      </a:r>
                      <a:endParaRPr sz="9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</a:rPr>
                        <a:t>8500 ft</a:t>
                      </a:r>
                      <a:endParaRPr lang="ko-Kore-KR" altLang="en-US"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946654343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2100 m</a:t>
                      </a:r>
                      <a:endParaRPr sz="9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</a:rPr>
                        <a:t>7500 ft</a:t>
                      </a:r>
                      <a:endParaRPr lang="ko-Kore-KR" altLang="en-US"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3387768838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1800 m</a:t>
                      </a:r>
                      <a:endParaRPr sz="9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</a:rPr>
                        <a:t>6500 ft</a:t>
                      </a:r>
                      <a:endParaRPr lang="ko-Kore-KR" altLang="en-US"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82290507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1500 m</a:t>
                      </a:r>
                      <a:endParaRPr sz="9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</a:rPr>
                        <a:t>5600 ft</a:t>
                      </a:r>
                      <a:endParaRPr lang="ko-Kore-KR" altLang="en-US"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2475050887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1200 m </a:t>
                      </a:r>
                      <a:endParaRPr sz="9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</a:rPr>
                        <a:t>4600 ft</a:t>
                      </a:r>
                      <a:endParaRPr lang="ko-Kore-KR" altLang="en-US"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2820777377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1100 m</a:t>
                      </a:r>
                      <a:endParaRPr sz="9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</a:rPr>
                        <a:t>4200 ft</a:t>
                      </a:r>
                      <a:endParaRPr lang="ko-Kore-KR" altLang="en-US"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638046599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1000 m</a:t>
                      </a:r>
                      <a:endParaRPr sz="9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</a:rPr>
                        <a:t>3900 ft</a:t>
                      </a:r>
                      <a:endParaRPr lang="ko-Kore-KR" altLang="en-US"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251020131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850 m</a:t>
                      </a:r>
                      <a:endParaRPr sz="9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</a:rPr>
                        <a:t>3400 ft</a:t>
                      </a:r>
                      <a:endParaRPr lang="ko-Kore-KR" altLang="en-US"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203320928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800 m</a:t>
                      </a:r>
                      <a:endParaRPr sz="9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</a:rPr>
                        <a:t>3200 ft</a:t>
                      </a:r>
                      <a:endParaRPr lang="ko-Kore-KR" altLang="en-US"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2574889312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750 m </a:t>
                      </a:r>
                      <a:endParaRPr sz="9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</a:rPr>
                        <a:t>3100 ft</a:t>
                      </a:r>
                      <a:endParaRPr lang="ko-Kore-KR" altLang="en-US"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570264682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550 m</a:t>
                      </a:r>
                      <a:endParaRPr sz="9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</a:rPr>
                        <a:t>2400 ft</a:t>
                      </a:r>
                      <a:endParaRPr lang="ko-Kore-KR" altLang="en-US"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849956985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515 m </a:t>
                      </a:r>
                      <a:endParaRPr sz="9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</a:rPr>
                        <a:t>2300 ft</a:t>
                      </a:r>
                      <a:endParaRPr lang="ko-Kore-KR" altLang="en-US"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707927096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500 m</a:t>
                      </a:r>
                      <a:endParaRPr sz="9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</a:rPr>
                        <a:t>2300 ft</a:t>
                      </a:r>
                      <a:endParaRPr lang="ko-Kore-KR" altLang="en-US"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2285190659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425 m</a:t>
                      </a:r>
                      <a:endParaRPr sz="9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</a:rPr>
                        <a:t>2000 ft</a:t>
                      </a:r>
                      <a:endParaRPr lang="ko-Kore-KR" altLang="en-US"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959726209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355 m</a:t>
                      </a:r>
                      <a:endParaRPr sz="9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</a:rPr>
                        <a:t>1800 ft</a:t>
                      </a:r>
                      <a:endParaRPr lang="ko-Kore-KR" altLang="en-US"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3066265468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200 m</a:t>
                      </a:r>
                      <a:endParaRPr sz="9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</a:rPr>
                        <a:t>1300 ft</a:t>
                      </a:r>
                      <a:endParaRPr lang="ko-Kore-KR" altLang="en-US"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57348927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100 m</a:t>
                      </a:r>
                      <a:endParaRPr sz="9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</a:rPr>
                        <a:t>1000 ft</a:t>
                      </a:r>
                      <a:endParaRPr lang="ko-Kore-KR" altLang="en-US"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928050573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0 m</a:t>
                      </a:r>
                      <a:endParaRPr sz="9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</a:rPr>
                        <a:t>623 ft</a:t>
                      </a:r>
                      <a:endParaRPr lang="ko-Kore-KR" altLang="en-US"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4087151422"/>
                  </a:ext>
                </a:extLst>
              </a:tr>
            </a:tbl>
          </a:graphicData>
        </a:graphic>
      </p:graphicFrame>
      <p:graphicFrame>
        <p:nvGraphicFramePr>
          <p:cNvPr id="5" name="Google Shape;381;p28">
            <a:extLst>
              <a:ext uri="{FF2B5EF4-FFF2-40B4-BE49-F238E27FC236}">
                <a16:creationId xmlns:a16="http://schemas.microsoft.com/office/drawing/2014/main" id="{574A80DF-A9B9-C95F-1A2C-D48963F2FF8A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490243799"/>
              </p:ext>
            </p:extLst>
          </p:nvPr>
        </p:nvGraphicFramePr>
        <p:xfrm>
          <a:off x="7" y="0"/>
          <a:ext cx="2328850" cy="82298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328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637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dirty="0">
                          <a:solidFill>
                            <a:srgbClr val="C00000"/>
                          </a:solidFill>
                        </a:rPr>
                        <a:t>YNJ</a:t>
                      </a:r>
                      <a:r>
                        <a:rPr lang="en-US" sz="1000" dirty="0"/>
                        <a:t>  Altitude / Height Conversion Table</a:t>
                      </a:r>
                      <a:endParaRPr sz="1000" dirty="0"/>
                    </a:p>
                  </a:txBody>
                  <a:tcPr marL="91450" marR="91450" marT="45725" marB="45725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4897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800" b="1" dirty="0" err="1">
                          <a:solidFill>
                            <a:srgbClr val="C00000"/>
                          </a:solidFill>
                        </a:rPr>
                        <a:t>xxxx</a:t>
                      </a:r>
                      <a:r>
                        <a:rPr lang="en-US" altLang="ko-Kore-KR" sz="800" b="1" dirty="0">
                          <a:solidFill>
                            <a:srgbClr val="C00000"/>
                          </a:solidFill>
                        </a:rPr>
                        <a:t> meters on STD </a:t>
                      </a:r>
                      <a:r>
                        <a:rPr lang="ko-KR" altLang="en-US" sz="800" b="1" dirty="0">
                          <a:solidFill>
                            <a:srgbClr val="C00000"/>
                          </a:solidFill>
                        </a:rPr>
                        <a:t>이후 적용</a:t>
                      </a:r>
                      <a:endParaRPr lang="en-US" sz="800" b="1" dirty="0">
                        <a:solidFill>
                          <a:srgbClr val="0070C0"/>
                        </a:solidFill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xxxx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 meters on QFE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xxxx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 -&gt; REQ QNH 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-&gt; QNH xxx SET</a:t>
                      </a:r>
                      <a:r>
                        <a:rPr lang="ko-KR" altLang="en-US" sz="800" b="1" dirty="0">
                          <a:solidFill>
                            <a:srgbClr val="0070C0"/>
                          </a:solidFill>
                        </a:rPr>
                        <a:t>후 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</a:rPr>
                        <a:t>Conversion Table </a:t>
                      </a:r>
                      <a:r>
                        <a:rPr lang="ko-KR" altLang="en-US" sz="800" b="1" dirty="0">
                          <a:solidFill>
                            <a:srgbClr val="0070C0"/>
                          </a:solidFill>
                        </a:rPr>
                        <a:t>사용</a:t>
                      </a:r>
                      <a:endParaRPr lang="en-US" altLang="ko-KR" sz="800" b="1" dirty="0">
                        <a:solidFill>
                          <a:srgbClr val="0070C0"/>
                        </a:solidFill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dirty="0">
                          <a:solidFill>
                            <a:srgbClr val="00B050"/>
                          </a:solidFill>
                        </a:rPr>
                        <a:t>YNJ A/P Elevation : 623ft = 22.5hPa</a:t>
                      </a:r>
                    </a:p>
                  </a:txBody>
                  <a:tcPr marL="91450" marR="91450" marT="45725" marB="45725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15477327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17" name="Google Shape;117;p3"/>
          <p:cNvGraphicFramePr/>
          <p:nvPr>
            <p:extLst>
              <p:ext uri="{D42A27DB-BD31-4B8C-83A1-F6EECF244321}">
                <p14:modId xmlns:p14="http://schemas.microsoft.com/office/powerpoint/2010/main" val="1962440562"/>
              </p:ext>
            </p:extLst>
          </p:nvPr>
        </p:nvGraphicFramePr>
        <p:xfrm>
          <a:off x="-4046" y="586900"/>
          <a:ext cx="2324402" cy="203641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4246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670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129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3107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67003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14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32657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73273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33052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248003">
                  <a:extLst>
                    <a:ext uri="{9D8B030D-6E8A-4147-A177-3AD203B41FA5}">
                      <a16:colId xmlns:a16="http://schemas.microsoft.com/office/drawing/2014/main" val="448940902"/>
                    </a:ext>
                  </a:extLst>
                </a:gridCol>
              </a:tblGrid>
              <a:tr h="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YNJ : RNP SID (NADP 1) </a:t>
                      </a:r>
                      <a:r>
                        <a:rPr lang="en-US" sz="800" u="none" strike="noStrike" cap="none" dirty="0">
                          <a:solidFill>
                            <a:schemeClr val="accent4"/>
                          </a:solidFill>
                        </a:rPr>
                        <a:t>RW27 Main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accent4"/>
                          </a:solidFill>
                        </a:rPr>
                        <a:t>CTOT from GND Staff due to Mil Train </a:t>
                      </a:r>
                      <a:r>
                        <a:rPr lang="en-US" sz="800" u="none" strike="noStrike" cap="none" dirty="0">
                          <a:solidFill>
                            <a:srgbClr val="C00000"/>
                          </a:solidFill>
                        </a:rPr>
                        <a:t>(ADD Fuel)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accent4"/>
                          </a:solidFill>
                        </a:rPr>
                        <a:t>Consider Improve C/B &amp; NO Bleed T/O (in Summer)</a:t>
                      </a:r>
                    </a:p>
                  </a:txBody>
                  <a:tcPr marL="36000" marR="7200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27</a:t>
                      </a:r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KANVU 19D (11D)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271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271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ATC/6500ft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(1800mQFE)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900m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271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/>
                        <a:t>09</a:t>
                      </a:r>
                      <a:endParaRPr sz="800" b="0" u="none" strike="noStrike" cap="none" dirty="0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KANVU 09D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(01D)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091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091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ATC/6500ft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>
                          <a:solidFill>
                            <a:srgbClr val="C00000"/>
                          </a:solidFill>
                        </a:rPr>
                        <a:t>SPD 200kts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900m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091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5700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YNJ 113.1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09 108.7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27 109.3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19 108.9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57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ore-KR" sz="800" u="none" strike="noStrike" cap="none" dirty="0">
                          <a:solidFill>
                            <a:schemeClr val="lt1"/>
                          </a:solidFill>
                        </a:rPr>
                        <a:t>FIX</a:t>
                      </a:r>
                      <a:endParaRPr sz="800" b="0" u="none" strike="noStrike" cap="none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8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27 : YNJ 271/3.6, YNJ 073/10</a:t>
                      </a:r>
                      <a:r>
                        <a:rPr kumimoji="0" lang="en-US" altLang="ko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 (MAX 162kts)</a:t>
                      </a:r>
                      <a:endParaRPr kumimoji="0" lang="en-US" altLang="ko-Kore-KR" sz="8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 09 : YNJ 091/4.5, YNJ 287/11 (MAX 162kts)</a:t>
                      </a: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186816789"/>
                  </a:ext>
                </a:extLst>
              </a:tr>
              <a:tr h="1016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27(597’) </a:t>
                      </a: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3.3</a:t>
                      </a:r>
                      <a:r>
                        <a:rPr lang="ko-KR" altLang="en-US" sz="800" b="1" u="none" strike="noStrike" cap="none" dirty="0">
                          <a:solidFill>
                            <a:srgbClr val="C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도</a:t>
                      </a:r>
                      <a:endParaRPr lang="en-US" sz="800" b="1" u="none" strike="noStrike" cap="none" dirty="0">
                        <a:solidFill>
                          <a:srgbClr val="C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8530</a:t>
                      </a: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</a:t>
                      </a:r>
                      <a:endParaRPr sz="800" b="1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09</a:t>
                      </a: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621</a:t>
                      </a: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5700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Must Check MTOW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RWY 27 180 Back(Clockwise)</a:t>
                      </a: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119" name="Google Shape;119;p3"/>
          <p:cNvGraphicFramePr/>
          <p:nvPr/>
        </p:nvGraphicFramePr>
        <p:xfrm>
          <a:off x="-2501" y="16504"/>
          <a:ext cx="2328850" cy="55937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ZYYJ(YNJ) </a:t>
                      </a:r>
                      <a:r>
                        <a:rPr lang="en-US" altLang="ko-Kore-KR" sz="1300" dirty="0">
                          <a:solidFill>
                            <a:srgbClr val="C00000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624ft</a:t>
                      </a:r>
                      <a:endParaRPr lang="en-US" altLang="ko-Kore-KR" sz="1300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None</a:t>
                      </a:r>
                      <a:endParaRPr sz="1200"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700" dirty="0">
                          <a:solidFill>
                            <a:srgbClr val="FF0000"/>
                          </a:solidFill>
                        </a:rPr>
                        <a:t>TWR 118.75 By Voice</a:t>
                      </a:r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7BA009CD-0CE1-2081-CE8C-F9EB8DF1D6DE}"/>
              </a:ext>
            </a:extLst>
          </p:cNvPr>
          <p:cNvSpPr txBox="1"/>
          <p:nvPr/>
        </p:nvSpPr>
        <p:spPr>
          <a:xfrm>
            <a:off x="1250078" y="2537716"/>
            <a:ext cx="1136850" cy="855482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YNJ 118.75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SHE 132.35 – 119.3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DLC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128.77 – 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135.65</a:t>
            </a:r>
            <a:endParaRPr kumimoji="1" lang="en-US" altLang="ko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132.95 - ICN 132.8 </a:t>
            </a:r>
          </a:p>
          <a:p>
            <a:pPr>
              <a:lnSpc>
                <a:spcPct val="150000"/>
              </a:lnSpc>
            </a:pPr>
            <a:endParaRPr kumimoji="1" lang="en-US" altLang="ko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graphicFrame>
        <p:nvGraphicFramePr>
          <p:cNvPr id="5" name="Google Shape;303;p19">
            <a:extLst>
              <a:ext uri="{FF2B5EF4-FFF2-40B4-BE49-F238E27FC236}">
                <a16:creationId xmlns:a16="http://schemas.microsoft.com/office/drawing/2014/main" id="{9A6F36E3-64E2-A97B-D85E-56AC20DB6603}"/>
              </a:ext>
            </a:extLst>
          </p:cNvPr>
          <p:cNvGraphicFramePr/>
          <p:nvPr/>
        </p:nvGraphicFramePr>
        <p:xfrm>
          <a:off x="1119" y="3405664"/>
          <a:ext cx="2325975" cy="2130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59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3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55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774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STAR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33/34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</a:t>
                      </a:r>
                      <a:r>
                        <a:rPr lang="en-US" sz="800" b="1" dirty="0" err="1"/>
                        <a:t>xA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PAMBI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170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15/16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</a:t>
                      </a:r>
                      <a:r>
                        <a:rPr lang="en-US" sz="800" b="1" dirty="0" err="1"/>
                        <a:t>xH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MUNAN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170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285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33L/R 34L(23’)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15L/R 16R(23’)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285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34R(23’)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13123’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16L(23’)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64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FIX</a:t>
                      </a:r>
                      <a:endParaRPr/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RWY /8, /5 , P518 R068, R278</a:t>
                      </a:r>
                      <a:endParaRPr sz="458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C4(7529’),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C5(8513’), 33L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: B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7563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8513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 : </a:t>
                      </a:r>
                      <a:r>
                        <a:rPr lang="en-US" altLang="ko-Kore-KR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C2(7522’), </a:t>
                      </a:r>
                      <a:r>
                        <a:rPr lang="en-US" altLang="ko-Kore-KR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C1(8536’), 15R : </a:t>
                      </a:r>
                      <a:r>
                        <a:rPr lang="en-US" altLang="ko-Kore-KR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B3(</a:t>
                      </a:r>
                      <a:r>
                        <a:rPr lang="en-US" altLang="ko-KR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7454</a:t>
                      </a:r>
                      <a:r>
                        <a:rPr lang="en-US" altLang="ko-Kore-KR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‘), </a:t>
                      </a:r>
                      <a:r>
                        <a:rPr lang="en-US" altLang="ko-Kore-KR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B2(</a:t>
                      </a:r>
                      <a:r>
                        <a:rPr lang="en-US" altLang="ko-KR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8641</a:t>
                      </a:r>
                      <a:r>
                        <a:rPr lang="en-US" altLang="ko-Kore-KR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P7(5600’),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P8(6578’), 34R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N4(6876’),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N5(8507‘)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P6(5597’),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P5(6574’), 16L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N3(7043‘),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N2(8444‘)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01600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8NM 180kts, 5NM 160kts, Parr TAXI 10kts이상,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HIRO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pic>
        <p:nvPicPr>
          <p:cNvPr id="7" name="그림 6" descr="지도, 텍스트, 아틀라스이(가) 표시된 사진&#10;&#10;자동 생성된 설명">
            <a:extLst>
              <a:ext uri="{FF2B5EF4-FFF2-40B4-BE49-F238E27FC236}">
                <a16:creationId xmlns:a16="http://schemas.microsoft.com/office/drawing/2014/main" id="{F19609A6-7271-6D23-5630-D75089A2600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2617765"/>
            <a:ext cx="1311394" cy="602996"/>
          </a:xfrm>
          <a:prstGeom prst="rect">
            <a:avLst/>
          </a:prstGeom>
        </p:spPr>
      </p:pic>
      <p:sp>
        <p:nvSpPr>
          <p:cNvPr id="3" name="직사각형 2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15D96964-DA7D-DB70-8854-38CF355C9A8D}"/>
              </a:ext>
            </a:extLst>
          </p:cNvPr>
          <p:cNvSpPr/>
          <p:nvPr/>
        </p:nvSpPr>
        <p:spPr>
          <a:xfrm>
            <a:off x="1651787" y="3148245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14700386-C099-B304-A62F-487E189607C6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525792689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62F9807-5AEF-8D80-6311-45C5000B22FB}"/>
              </a:ext>
            </a:extLst>
          </p:cNvPr>
          <p:cNvSpPr txBox="1"/>
          <p:nvPr/>
        </p:nvSpPr>
        <p:spPr>
          <a:xfrm>
            <a:off x="-69798" y="3134798"/>
            <a:ext cx="2496196" cy="532316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125.15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126.17 – 120.72 – 124.52(125.72)</a:t>
            </a:r>
            <a:endParaRPr kumimoji="1" lang="en-US" altLang="ko-Kore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SHA 120.95 – 120.55 - SHA APP 125.62 – 119.7 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HGH APP 119.82 – 120.4 – 125.55</a:t>
            </a:r>
          </a:p>
        </p:txBody>
      </p:sp>
      <p:graphicFrame>
        <p:nvGraphicFramePr>
          <p:cNvPr id="291" name="Google Shape;291;p18"/>
          <p:cNvGraphicFramePr/>
          <p:nvPr>
            <p:extLst>
              <p:ext uri="{D42A27DB-BD31-4B8C-83A1-F6EECF244321}">
                <p14:modId xmlns:p14="http://schemas.microsoft.com/office/powerpoint/2010/main" val="1040567968"/>
              </p:ext>
            </p:extLst>
          </p:nvPr>
        </p:nvGraphicFramePr>
        <p:xfrm>
          <a:off x="0" y="635155"/>
          <a:ext cx="2332925" cy="256021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91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17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69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21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254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10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15930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SID (33/34 NADP 1, 15/16 NADP 2)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5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BOPTA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xA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BOPTA </a:t>
                      </a:r>
                      <a:r>
                        <a:rPr lang="en-US" sz="800" dirty="0" err="1"/>
                        <a:t>xY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BOPTA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xC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BOPTA </a:t>
                      </a:r>
                      <a:r>
                        <a:rPr lang="en-US" sz="800" dirty="0" err="1"/>
                        <a:t>xH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NCN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113.8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33L 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15L 111.9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15R 109.1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WNG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112.9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109.95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110.35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108.55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580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33L/R : NC05L/R, R242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YJU R271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34L/R : EO34L/R,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YJU R271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44775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33L/R 34L(23’)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15L/R 16R(23’)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4477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34R (23’)</a:t>
                      </a:r>
                      <a:endParaRPr sz="458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 (23’)</a:t>
                      </a:r>
                      <a:endParaRPr sz="458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44775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Parallel TWY 10KTS </a:t>
                      </a:r>
                      <a:r>
                        <a:rPr lang="en-US" sz="800" dirty="0" err="1"/>
                        <a:t>이상</a:t>
                      </a:r>
                      <a:r>
                        <a:rPr lang="en-US" sz="800" dirty="0"/>
                        <a:t>(R17 MAX 15kts)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292" name="Google Shape;292;p18"/>
          <p:cNvGraphicFramePr/>
          <p:nvPr>
            <p:extLst>
              <p:ext uri="{D42A27DB-BD31-4B8C-83A1-F6EECF244321}">
                <p14:modId xmlns:p14="http://schemas.microsoft.com/office/powerpoint/2010/main" val="641533169"/>
              </p:ext>
            </p:extLst>
          </p:nvPr>
        </p:nvGraphicFramePr>
        <p:xfrm>
          <a:off x="4472" y="3681982"/>
          <a:ext cx="2311025" cy="192133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822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7631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3059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188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61302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HGH : STAR </a:t>
                      </a:r>
                      <a:r>
                        <a:rPr lang="en-US" sz="800" b="0" dirty="0">
                          <a:solidFill>
                            <a:srgbClr val="FFC000"/>
                          </a:solidFill>
                        </a:rPr>
                        <a:t>- STAR, APP, Missed APP Keep Track </a:t>
                      </a:r>
                      <a:r>
                        <a:rPr lang="en-US" sz="800" b="0" dirty="0" err="1">
                          <a:solidFill>
                            <a:srgbClr val="FFC000"/>
                          </a:solidFill>
                        </a:rPr>
                        <a:t>Cauton</a:t>
                      </a:r>
                      <a:r>
                        <a:rPr lang="en-US" sz="800" b="0" dirty="0">
                          <a:solidFill>
                            <a:srgbClr val="FFC000"/>
                          </a:solidFill>
                        </a:rPr>
                        <a:t> Military Traffic </a:t>
                      </a:r>
                      <a:r>
                        <a:rPr lang="en-US" sz="800" b="0" dirty="0">
                          <a:solidFill>
                            <a:srgbClr val="FF0000"/>
                          </a:solidFill>
                        </a:rPr>
                        <a:t>(Missed APP ALT In ATIS)</a:t>
                      </a:r>
                      <a:endParaRPr sz="800" b="0" dirty="0">
                        <a:solidFill>
                          <a:srgbClr val="FF0000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51128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07/06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OKT, SUP 91A</a:t>
                      </a: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HC410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Z xx</a:t>
                      </a: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51128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25/24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/>
                        <a:t>OKT, SUP 81A</a:t>
                      </a: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HC305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Z xx</a:t>
                      </a: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51128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06(22’)          11155’          24(22’)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51128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07(22’)           11811’         25(22’)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51128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FIX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APP SPD REST in APP Chart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11095565"/>
                  </a:ext>
                </a:extLst>
              </a:tr>
              <a:tr h="34116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06 : C5(5613’), C6(6899’), 24 : C4(5613’), C3(6981’)</a:t>
                      </a:r>
                      <a:endParaRPr sz="800" dirty="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07 : A5(6266’), </a:t>
                      </a:r>
                      <a:r>
                        <a:rPr lang="en-US" sz="800" b="1" dirty="0">
                          <a:solidFill>
                            <a:srgbClr val="FF0000"/>
                          </a:solidFill>
                        </a:rPr>
                        <a:t>A6(7565’)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, 25 : A4(6250’), </a:t>
                      </a:r>
                      <a:r>
                        <a:rPr lang="en-US" sz="800" b="1" dirty="0">
                          <a:solidFill>
                            <a:srgbClr val="FF0000"/>
                          </a:solidFill>
                        </a:rPr>
                        <a:t>A3(7555’) TWR </a:t>
                      </a:r>
                      <a:r>
                        <a:rPr lang="en-US" sz="800" b="1" dirty="0" err="1">
                          <a:solidFill>
                            <a:srgbClr val="FF0000"/>
                          </a:solidFill>
                        </a:rPr>
                        <a:t>Permisson</a:t>
                      </a:r>
                      <a:r>
                        <a:rPr lang="en-US" sz="800" b="1" dirty="0">
                          <a:solidFill>
                            <a:srgbClr val="FF0000"/>
                          </a:solidFill>
                        </a:rPr>
                        <a:t>   </a:t>
                      </a:r>
                      <a:r>
                        <a:rPr lang="ko-KR" altLang="en-US" sz="800" b="1" dirty="0">
                          <a:solidFill>
                            <a:srgbClr val="FF0000"/>
                          </a:solidFill>
                        </a:rPr>
                        <a:t> </a:t>
                      </a:r>
                      <a:r>
                        <a:rPr lang="en-US" altLang="ko-KR" sz="800" b="0" dirty="0">
                          <a:solidFill>
                            <a:schemeClr val="accent1"/>
                          </a:solidFill>
                        </a:rPr>
                        <a:t>Report RWY Vacated</a:t>
                      </a:r>
                      <a:endParaRPr lang="en-US" sz="800" b="0" dirty="0">
                        <a:solidFill>
                          <a:schemeClr val="accent1"/>
                        </a:solidFill>
                      </a:endParaRP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9445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R" sz="700" dirty="0"/>
                        <a:t>TAXI RTE In Jeppesen Chart, </a:t>
                      </a:r>
                      <a:r>
                        <a:rPr lang="en-US" sz="700" dirty="0"/>
                        <a:t>Follow Me Car, APU off</a:t>
                      </a:r>
                      <a:endParaRPr dirty="0"/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293" name="Google Shape;293;p18"/>
          <p:cNvGraphicFramePr/>
          <p:nvPr>
            <p:extLst>
              <p:ext uri="{D42A27DB-BD31-4B8C-83A1-F6EECF244321}">
                <p14:modId xmlns:p14="http://schemas.microsoft.com/office/powerpoint/2010/main" val="1847130966"/>
              </p:ext>
            </p:extLst>
          </p:nvPr>
        </p:nvGraphicFramePr>
        <p:xfrm>
          <a:off x="-2501" y="16504"/>
          <a:ext cx="2328850" cy="59406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ZSHC(HGH) 22ft</a:t>
                      </a:r>
                      <a:endParaRPr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KE ICN 131.5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600"/>
                        <a:buFont typeface="Calibri"/>
                        <a:buNone/>
                      </a:pPr>
                      <a:r>
                        <a:rPr lang="en-US" sz="60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-10분 TOBT 5분 차이시 CTC Comm</a:t>
                      </a:r>
                      <a:endParaRPr sz="90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dirty="0"/>
                        <a:t>Hangzhou Reporting Office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130.65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5D544921-59D8-2C59-3286-145F4315D9D9}"/>
              </a:ext>
            </a:extLst>
          </p:cNvPr>
          <p:cNvSpPr/>
          <p:nvPr/>
        </p:nvSpPr>
        <p:spPr>
          <a:xfrm>
            <a:off x="1651787" y="3420245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0A987965-3A09-D2F6-CA7C-EAA8074C7BDE}"/>
              </a:ext>
            </a:extLst>
          </p:cNvPr>
          <p:cNvSpPr/>
          <p:nvPr/>
        </p:nvSpPr>
        <p:spPr>
          <a:xfrm>
            <a:off x="820538" y="26372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685897419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7" name="Google Shape;397;p3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1" y="-9795"/>
            <a:ext cx="2328863" cy="5064777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66ABCDBC-383F-5581-5E39-83905EACA8B3}"/>
              </a:ext>
            </a:extLst>
          </p:cNvPr>
          <p:cNvSpPr txBox="1"/>
          <p:nvPr/>
        </p:nvSpPr>
        <p:spPr>
          <a:xfrm>
            <a:off x="1278611" y="4006314"/>
            <a:ext cx="1031051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900" b="1" dirty="0">
                <a:solidFill>
                  <a:srgbClr val="0070C0"/>
                </a:solidFill>
              </a:rPr>
              <a:t>550M       1800ft</a:t>
            </a:r>
            <a:endParaRPr kumimoji="1" lang="ko-Kore-KR" altLang="en-US" sz="900" b="1" dirty="0">
              <a:solidFill>
                <a:srgbClr val="0070C0"/>
              </a:solidFill>
            </a:endParaRP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A9EEFEB8-F9E4-386F-27B1-F3014416BF74}"/>
              </a:ext>
            </a:extLst>
          </p:cNvPr>
          <p:cNvSpPr/>
          <p:nvPr/>
        </p:nvSpPr>
        <p:spPr>
          <a:xfrm>
            <a:off x="55571" y="3177666"/>
            <a:ext cx="1000283" cy="333428"/>
          </a:xfrm>
          <a:prstGeom prst="rect">
            <a:avLst/>
          </a:prstGeom>
          <a:noFill/>
          <a:ln w="3492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FC66845-A7AA-98C4-534C-70B808775E8B}"/>
              </a:ext>
            </a:extLst>
          </p:cNvPr>
          <p:cNvSpPr txBox="1"/>
          <p:nvPr/>
        </p:nvSpPr>
        <p:spPr>
          <a:xfrm>
            <a:off x="997707" y="3142302"/>
            <a:ext cx="330540" cy="41287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900" b="1" dirty="0">
                <a:solidFill>
                  <a:srgbClr val="0070C0"/>
                </a:solidFill>
              </a:rPr>
              <a:t>TL</a:t>
            </a:r>
          </a:p>
          <a:p>
            <a:pPr algn="dist">
              <a:lnSpc>
                <a:spcPct val="150000"/>
              </a:lnSpc>
            </a:pPr>
            <a:r>
              <a:rPr kumimoji="1" lang="en-US" altLang="ko-Kore-KR" sz="900" b="1" dirty="0">
                <a:solidFill>
                  <a:srgbClr val="0070C0"/>
                </a:solidFill>
              </a:rPr>
              <a:t>TA</a:t>
            </a:r>
            <a:endParaRPr kumimoji="1" lang="ko-Kore-KR" altLang="en-US" sz="900" b="1" dirty="0">
              <a:solidFill>
                <a:srgbClr val="0070C0"/>
              </a:solidFill>
            </a:endParaRPr>
          </a:p>
        </p:txBody>
      </p:sp>
      <p:sp>
        <p:nvSpPr>
          <p:cNvPr id="6" name="직사각형 5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049B192A-52FC-825F-D237-334CAD1FDCC8}"/>
              </a:ext>
            </a:extLst>
          </p:cNvPr>
          <p:cNvSpPr/>
          <p:nvPr/>
        </p:nvSpPr>
        <p:spPr>
          <a:xfrm>
            <a:off x="847353" y="527797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027406867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F3B6882F-FDE6-F4CD-5407-162E3DE90BE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6" y="2535825"/>
            <a:ext cx="832968" cy="631595"/>
          </a:xfrm>
          <a:prstGeom prst="rect">
            <a:avLst/>
          </a:prstGeom>
        </p:spPr>
      </p:pic>
      <p:graphicFrame>
        <p:nvGraphicFramePr>
          <p:cNvPr id="117" name="Google Shape;117;p3"/>
          <p:cNvGraphicFramePr/>
          <p:nvPr>
            <p:extLst>
              <p:ext uri="{D42A27DB-BD31-4B8C-83A1-F6EECF244321}">
                <p14:modId xmlns:p14="http://schemas.microsoft.com/office/powerpoint/2010/main" val="1548670728"/>
              </p:ext>
            </p:extLst>
          </p:nvPr>
        </p:nvGraphicFramePr>
        <p:xfrm>
          <a:off x="-4045" y="860542"/>
          <a:ext cx="2339846" cy="1693166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3271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5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748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2148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325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63304">
                  <a:extLst>
                    <a:ext uri="{9D8B030D-6E8A-4147-A177-3AD203B41FA5}">
                      <a16:colId xmlns:a16="http://schemas.microsoft.com/office/drawing/2014/main" val="2940550374"/>
                    </a:ext>
                  </a:extLst>
                </a:gridCol>
                <a:gridCol w="29251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473769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320084">
                  <a:extLst>
                    <a:ext uri="{9D8B030D-6E8A-4147-A177-3AD203B41FA5}">
                      <a16:colId xmlns:a16="http://schemas.microsoft.com/office/drawing/2014/main" val="448940902"/>
                    </a:ext>
                  </a:extLst>
                </a:gridCol>
              </a:tblGrid>
              <a:tr h="156088">
                <a:tc gridSpan="9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HGH: SID (NADP 1) </a:t>
                      </a:r>
                    </a:p>
                  </a:txBody>
                  <a:tcPr marL="36000" marR="72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1048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07/06</a:t>
                      </a:r>
                      <a:endParaRPr sz="800" b="0" u="none" strike="noStrike" cap="none" dirty="0"/>
                    </a:p>
                  </a:txBody>
                  <a:tcPr marL="0" marR="0" marT="36000" marB="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OKT, SUP 91D</a:t>
                      </a: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069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069</a:t>
                      </a:r>
                      <a:endParaRPr sz="800" b="1" u="none" strike="noStrike" cap="none" dirty="0"/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(900m)</a:t>
                      </a:r>
                      <a:endParaRPr lang="ko-Kore-KR" dirty="0"/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069</a:t>
                      </a:r>
                      <a:endParaRPr lang="ko-Kore-KR" altLang="en-US" dirty="0"/>
                    </a:p>
                  </a:txBody>
                  <a:tcPr marL="0" marR="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1048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25/24</a:t>
                      </a:r>
                    </a:p>
                  </a:txBody>
                  <a:tcPr marL="0" marR="0" marT="36000" marB="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SUP 81D</a:t>
                      </a: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249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249</a:t>
                      </a:r>
                      <a:endParaRPr sz="800" b="1" u="none" strike="noStrike" cap="none" dirty="0"/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(900m)</a:t>
                      </a:r>
                      <a:endParaRPr lang="ko-Kore-KR" dirty="0"/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249</a:t>
                      </a:r>
                      <a:endParaRPr lang="ko-Kore-KR" altLang="en-US" dirty="0"/>
                    </a:p>
                  </a:txBody>
                  <a:tcPr marL="0" marR="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78378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HGH 113.0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06 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110.5</a:t>
                      </a:r>
                      <a:endParaRPr dirty="0"/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07 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110.35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24 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111.5</a:t>
                      </a:r>
                      <a:endParaRPr dirty="0"/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25 108.5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5608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ore-KR" sz="800" u="none" strike="noStrike" cap="none" dirty="0">
                          <a:solidFill>
                            <a:schemeClr val="lt1"/>
                          </a:solidFill>
                        </a:rPr>
                        <a:t>FIX</a:t>
                      </a:r>
                    </a:p>
                  </a:txBody>
                  <a:tcPr marL="0" marR="0" marT="0" marB="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7">
                  <a:txBody>
                    <a:bodyPr/>
                    <a:lstStyle/>
                    <a:p>
                      <a:pPr algn="ctr"/>
                      <a:r>
                        <a:rPr lang="en-US" altLang="ko-Kore-KR" sz="800" b="0" u="none" strike="noStrike" cap="none" dirty="0">
                          <a:solidFill>
                            <a:schemeClr val="tx1"/>
                          </a:solidFill>
                        </a:rPr>
                        <a:t>24/25 : HGH 249/5.5, R020</a:t>
                      </a:r>
                      <a:endParaRPr lang="ko-Kore-KR" altLang="en-US" dirty="0"/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endParaRPr dirty="0"/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endParaRPr dirty="0"/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3372556726"/>
                  </a:ext>
                </a:extLst>
              </a:tr>
              <a:tr h="141859">
                <a:tc rowSpan="2"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0" marR="0" marT="36000" marB="0" anchor="ctr">
                    <a:solidFill>
                      <a:schemeClr val="accent1"/>
                    </a:solidFill>
                  </a:tcPr>
                </a:tc>
                <a:tc rowSpan="2"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7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ore-KR" sz="800" b="1" dirty="0">
                          <a:solidFill>
                            <a:srgbClr val="00B050"/>
                          </a:solidFill>
                        </a:rPr>
                        <a:t>06(22’)          11155’          24(22’)</a:t>
                      </a: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16L/R(12’/11’)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17L(10’)</a:t>
                      </a: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41859">
                <a:tc gridSpan="2" v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0" marR="0" marT="36000" marB="36000" anchor="ctr">
                    <a:solidFill>
                      <a:schemeClr val="accent1"/>
                    </a:solidFill>
                  </a:tcPr>
                </a:tc>
                <a:tc hMerge="1" v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7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800" b="1" dirty="0">
                          <a:solidFill>
                            <a:srgbClr val="00B050"/>
                          </a:solidFill>
                        </a:rPr>
                        <a:t>07(22’)           11811’         25(22’)</a:t>
                      </a: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800" b="1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71217085"/>
                  </a:ext>
                </a:extLst>
              </a:tr>
              <a:tr h="267567">
                <a:tc gridSpan="9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/>
                        <a:t>APU Start, TUG Connect After Beacon L/T ON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/>
                        <a:t>Red/Blue </a:t>
                      </a:r>
                      <a:r>
                        <a:rPr lang="en-US" sz="800" u="none" strike="noStrike" cap="none" dirty="0" err="1"/>
                        <a:t>PushBack</a:t>
                      </a:r>
                      <a:r>
                        <a:rPr lang="en-US" sz="800" u="none" strike="noStrike" cap="none" dirty="0"/>
                        <a:t>, Verify RWY </a:t>
                      </a:r>
                      <a:r>
                        <a:rPr lang="en-US" altLang="ko-KR" sz="800" u="none" strike="noStrike" cap="none" dirty="0"/>
                        <a:t>&amp;</a:t>
                      </a:r>
                      <a:r>
                        <a:rPr lang="ko-KR" altLang="en-US" sz="800" u="none" strike="noStrike" cap="none" dirty="0"/>
                        <a:t> </a:t>
                      </a:r>
                      <a:r>
                        <a:rPr lang="en-US" sz="800" u="none" strike="noStrike" cap="none" dirty="0"/>
                        <a:t>Direction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ore-KR" sz="800" b="0" u="none" strike="noStrike" cap="none" dirty="0">
                          <a:solidFill>
                            <a:srgbClr val="00B050"/>
                          </a:solidFill>
                        </a:rPr>
                        <a:t>After T/O, Report T/O RWY</a:t>
                      </a:r>
                      <a:endParaRPr lang="en-US" sz="800" u="none" strike="noStrike" cap="none" dirty="0">
                        <a:solidFill>
                          <a:srgbClr val="00B050"/>
                        </a:solidFill>
                      </a:endParaRP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119" name="Google Shape;119;p3"/>
          <p:cNvGraphicFramePr/>
          <p:nvPr>
            <p:extLst>
              <p:ext uri="{D42A27DB-BD31-4B8C-83A1-F6EECF244321}">
                <p14:modId xmlns:p14="http://schemas.microsoft.com/office/powerpoint/2010/main" val="3155905173"/>
              </p:ext>
            </p:extLst>
          </p:nvPr>
        </p:nvGraphicFramePr>
        <p:xfrm>
          <a:off x="-2501" y="16504"/>
          <a:ext cx="2328850" cy="83790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ZSHC(HGH) 22ft</a:t>
                      </a:r>
                      <a:endParaRPr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5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dirty="0"/>
                        <a:t>Hangzhou Reporting Office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130.65 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FF0000"/>
                          </a:solidFill>
                        </a:rPr>
                        <a:t>DCL(NO Readback)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FF0000"/>
                          </a:solidFill>
                        </a:rPr>
                        <a:t>Voice 10min</a:t>
                      </a:r>
                      <a:r>
                        <a:rPr lang="ko-KR" altLang="en-US" sz="800" dirty="0">
                          <a:solidFill>
                            <a:srgbClr val="FF0000"/>
                          </a:solidFill>
                        </a:rPr>
                        <a:t>전</a:t>
                      </a:r>
                      <a:endParaRPr sz="800" dirty="0">
                        <a:solidFill>
                          <a:srgbClr val="FF0000"/>
                        </a:solidFill>
                      </a:endParaRPr>
                    </a:p>
                  </a:txBody>
                  <a:tcPr marL="36000" marR="3600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7BA009CD-0CE1-2081-CE8C-F9EB8DF1D6DE}"/>
              </a:ext>
            </a:extLst>
          </p:cNvPr>
          <p:cNvSpPr txBox="1"/>
          <p:nvPr/>
        </p:nvSpPr>
        <p:spPr>
          <a:xfrm>
            <a:off x="625517" y="2723165"/>
            <a:ext cx="1710405" cy="782778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HGH APP 120.4 – 119.82</a:t>
            </a:r>
            <a:endParaRPr kumimoji="1" lang="en-US" altLang="ko-Kore-KR" sz="700" b="1" u="sng" dirty="0">
              <a:solidFill>
                <a:srgbClr val="C0000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SHA APP 119.975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SHA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120.55 - 120.95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ICN 125.725(124.52) – 120.72 – 126.17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APP – 119.75</a:t>
            </a:r>
            <a:endParaRPr kumimoji="1" lang="ko-Kore-KR" altLang="en-US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graphicFrame>
        <p:nvGraphicFramePr>
          <p:cNvPr id="5" name="Google Shape;303;p19">
            <a:extLst>
              <a:ext uri="{FF2B5EF4-FFF2-40B4-BE49-F238E27FC236}">
                <a16:creationId xmlns:a16="http://schemas.microsoft.com/office/drawing/2014/main" id="{9A6F36E3-64E2-A97B-D85E-56AC20DB6603}"/>
              </a:ext>
            </a:extLst>
          </p:cNvPr>
          <p:cNvGraphicFramePr/>
          <p:nvPr/>
        </p:nvGraphicFramePr>
        <p:xfrm>
          <a:off x="1119" y="3405664"/>
          <a:ext cx="2325975" cy="2130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59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3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55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774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STAR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33/34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</a:t>
                      </a:r>
                      <a:r>
                        <a:rPr lang="en-US" sz="800" b="1" dirty="0" err="1"/>
                        <a:t>xE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ENPIL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180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15/16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</a:t>
                      </a:r>
                      <a:r>
                        <a:rPr lang="en-US" sz="800" b="1" dirty="0" err="1"/>
                        <a:t>xH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MUNAN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180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285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33L/R 34L(23’)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15L/R 16R(23’)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285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34R(23’)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13123’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16L(23’)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64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FIX</a:t>
                      </a:r>
                      <a:endParaRPr/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RWY /8, /5 , YJU R271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C4(7529’),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C5(8513’), 33L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: B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7563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8513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C2(7522’),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C1(8536’), 15R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B3(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7454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B2(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8641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P7(5600’),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P8(6578’), 34R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N4(6876’),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N5(8507‘)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P6(5597’),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P5(6574’), 16L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N3(7043‘),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N2(8444‘)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01600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8NM 180kts, 5NM 160kts, Parr TAXI 10kts이상,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HIRO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6" name="직사각형 5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DEA72C02-893D-80AB-C1B5-D0AD7E61DEE9}"/>
              </a:ext>
            </a:extLst>
          </p:cNvPr>
          <p:cNvSpPr/>
          <p:nvPr/>
        </p:nvSpPr>
        <p:spPr>
          <a:xfrm>
            <a:off x="1651787" y="2899389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04A13C61-F219-F854-BFC9-F82AA1917851}"/>
              </a:ext>
            </a:extLst>
          </p:cNvPr>
          <p:cNvSpPr/>
          <p:nvPr/>
        </p:nvSpPr>
        <p:spPr>
          <a:xfrm>
            <a:off x="865296" y="378826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206748148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62F9807-5AEF-8D80-6311-45C5000B22FB}"/>
              </a:ext>
            </a:extLst>
          </p:cNvPr>
          <p:cNvSpPr txBox="1"/>
          <p:nvPr/>
        </p:nvSpPr>
        <p:spPr>
          <a:xfrm>
            <a:off x="-55838" y="3293811"/>
            <a:ext cx="1917513" cy="532316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125.15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132.8 – DLC 132.95</a:t>
            </a:r>
            <a:endParaRPr kumimoji="1" lang="en-US" altLang="ko-Kore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TAO 133.725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C0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WHE TWR 118.65 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(130.0)</a:t>
            </a:r>
          </a:p>
        </p:txBody>
      </p:sp>
      <p:graphicFrame>
        <p:nvGraphicFramePr>
          <p:cNvPr id="291" name="Google Shape;291;p18"/>
          <p:cNvGraphicFramePr/>
          <p:nvPr>
            <p:extLst>
              <p:ext uri="{D42A27DB-BD31-4B8C-83A1-F6EECF244321}">
                <p14:modId xmlns:p14="http://schemas.microsoft.com/office/powerpoint/2010/main" val="3362332743"/>
              </p:ext>
            </p:extLst>
          </p:nvPr>
        </p:nvGraphicFramePr>
        <p:xfrm>
          <a:off x="0" y="628907"/>
          <a:ext cx="2332925" cy="256021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91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17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69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21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254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10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15930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SID (33/34 NADP 1, 15/16 NADP 2)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5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NOPIK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xA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NOPIK </a:t>
                      </a:r>
                      <a:r>
                        <a:rPr lang="en-US" sz="800" dirty="0" err="1"/>
                        <a:t>xY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BINIL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xC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BINIL </a:t>
                      </a:r>
                      <a:r>
                        <a:rPr lang="en-US" sz="800" dirty="0" err="1"/>
                        <a:t>xH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NCN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113.8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33L 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33R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108.9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15L 111.9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15R 109.1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WNG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112.9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109.95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110.35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108.55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580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33L/R : NC05L/R,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P518 R068, R278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34L/R : EO34L/R,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ore-KR" sz="800" dirty="0"/>
                        <a:t>P518 R068, R278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44775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33L/R 34L(23’)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15L/R 16R(23’)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4477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34R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44775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Parallel TWY 10KTS </a:t>
                      </a:r>
                      <a:r>
                        <a:rPr lang="en-US" sz="800" dirty="0" err="1"/>
                        <a:t>이상</a:t>
                      </a:r>
                      <a:r>
                        <a:rPr lang="en-US" sz="800" dirty="0"/>
                        <a:t>(R17 MAX 15kts)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292" name="Google Shape;292;p18"/>
          <p:cNvGraphicFramePr/>
          <p:nvPr>
            <p:extLst>
              <p:ext uri="{D42A27DB-BD31-4B8C-83A1-F6EECF244321}">
                <p14:modId xmlns:p14="http://schemas.microsoft.com/office/powerpoint/2010/main" val="107163590"/>
              </p:ext>
            </p:extLst>
          </p:nvPr>
        </p:nvGraphicFramePr>
        <p:xfrm>
          <a:off x="-1706" y="3951218"/>
          <a:ext cx="2333879" cy="1599967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1680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4667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7355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9684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980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WEH </a:t>
                      </a: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(TL 69) </a:t>
                      </a:r>
                      <a:r>
                        <a:rPr lang="en-US" sz="800" dirty="0"/>
                        <a:t>: RNAV STAR </a:t>
                      </a:r>
                      <a:r>
                        <a:rPr lang="en-US" sz="800" dirty="0">
                          <a:solidFill>
                            <a:srgbClr val="00B050"/>
                          </a:solidFill>
                        </a:rPr>
                        <a:t>(QFE but QNH Operation</a:t>
                      </a:r>
                      <a:r>
                        <a:rPr lang="en-US" altLang="ko-KR" sz="800" dirty="0">
                          <a:solidFill>
                            <a:srgbClr val="00B050"/>
                          </a:solidFill>
                        </a:rPr>
                        <a:t>)</a:t>
                      </a:r>
                      <a:endParaRPr lang="en-US" sz="800" dirty="0">
                        <a:solidFill>
                          <a:srgbClr val="00B050"/>
                        </a:solidFill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chemeClr val="accent4"/>
                          </a:solidFill>
                        </a:rPr>
                        <a:t>Around AGAVO ATIS 126.25 get RWY, APP info</a:t>
                      </a: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5092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03</a:t>
                      </a:r>
                      <a:endParaRPr sz="800" b="1" dirty="0"/>
                    </a:p>
                  </a:txBody>
                  <a:tcPr marL="36000" marR="36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IKE xx F</a:t>
                      </a:r>
                    </a:p>
                  </a:txBody>
                  <a:tcPr marL="36000" marR="36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WH106</a:t>
                      </a:r>
                    </a:p>
                  </a:txBody>
                  <a:tcPr marL="36000" marR="36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RNP ILS Z 03</a:t>
                      </a:r>
                      <a:endParaRPr lang="en-US" sz="800" b="0" dirty="0"/>
                    </a:p>
                  </a:txBody>
                  <a:tcPr marL="36000" marR="36000" marT="0" marB="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3444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21</a:t>
                      </a:r>
                      <a:endParaRPr sz="800" b="1" dirty="0"/>
                    </a:p>
                  </a:txBody>
                  <a:tcPr marL="36000" marR="36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800" b="1" dirty="0"/>
                        <a:t>IKE xx F</a:t>
                      </a:r>
                    </a:p>
                  </a:txBody>
                  <a:tcPr marL="36000" marR="36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/>
                        <a:t>WH206</a:t>
                      </a:r>
                    </a:p>
                  </a:txBody>
                  <a:tcPr marL="36000" marR="36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RNP ILS Z 21</a:t>
                      </a:r>
                      <a:endParaRPr sz="800" b="1" dirty="0"/>
                    </a:p>
                  </a:txBody>
                  <a:tcPr marL="36000" marR="36000" marT="0" marB="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84071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0" marB="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03(113’)          8530’          21(146’)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60867">
                <a:tc gridSpan="4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R" sz="800" b="1" dirty="0">
                          <a:solidFill>
                            <a:schemeClr val="dk1"/>
                          </a:solidFill>
                        </a:rPr>
                        <a:t>  03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 : B(6500’), C(5300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</a:rPr>
                        <a:t>’), 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21 : D(7300’)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90 Turn Vacate</a:t>
                      </a:r>
                      <a:r>
                        <a:rPr lang="en-US" sz="800" dirty="0">
                          <a:solidFill>
                            <a:schemeClr val="dk1"/>
                          </a:solidFill>
                        </a:rPr>
                        <a:t> 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180 Back No Terminal Side Turn</a:t>
                      </a: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62007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rgbClr val="0070C0"/>
                          </a:solidFill>
                        </a:rPr>
                        <a:t>RWY 21 Short Track Miles -&gt; Req one Orbit WH113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800" b="0" dirty="0">
                          <a:solidFill>
                            <a:srgbClr val="C00000"/>
                          </a:solidFill>
                        </a:rPr>
                        <a:t>Watch MLDW Due to RWY 21 </a:t>
                      </a:r>
                      <a:r>
                        <a:rPr lang="en-US" altLang="ko-Kore-KR" sz="800" b="0" dirty="0" err="1">
                          <a:solidFill>
                            <a:srgbClr val="C00000"/>
                          </a:solidFill>
                        </a:rPr>
                        <a:t>ShortCut</a:t>
                      </a:r>
                      <a:endParaRPr lang="en-US" altLang="ko-Kore-KR" sz="800" b="0" dirty="0">
                        <a:solidFill>
                          <a:srgbClr val="C00000"/>
                        </a:solidFill>
                      </a:endParaRP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Descend Published Report Published = CLR APP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rgbClr val="0070C0"/>
                          </a:solidFill>
                        </a:rPr>
                        <a:t>PAX Window must closed Between APP and DEP </a:t>
                      </a: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293" name="Google Shape;293;p18"/>
          <p:cNvGraphicFramePr/>
          <p:nvPr>
            <p:extLst>
              <p:ext uri="{D42A27DB-BD31-4B8C-83A1-F6EECF244321}">
                <p14:modId xmlns:p14="http://schemas.microsoft.com/office/powerpoint/2010/main" val="3967153133"/>
              </p:ext>
            </p:extLst>
          </p:nvPr>
        </p:nvGraphicFramePr>
        <p:xfrm>
          <a:off x="-2501" y="12087"/>
          <a:ext cx="2328850" cy="60930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ZSWH(WEH)146ft</a:t>
                      </a:r>
                      <a:endParaRPr sz="1200" dirty="0">
                        <a:solidFill>
                          <a:srgbClr val="FF0000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600"/>
                        <a:buFont typeface="Calibri"/>
                        <a:buNone/>
                      </a:pPr>
                      <a:r>
                        <a:rPr lang="en-US" sz="600" dirty="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-10분 TOBT 5분 </a:t>
                      </a:r>
                      <a:r>
                        <a:rPr lang="en-US" sz="600" dirty="0" err="1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차이시</a:t>
                      </a:r>
                      <a:r>
                        <a:rPr lang="en-US" sz="600" dirty="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CTC Comm</a:t>
                      </a:r>
                      <a:endParaRPr sz="900" dirty="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None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FF0000"/>
                          </a:solidFill>
                        </a:rPr>
                        <a:t>No D-ATIS</a:t>
                      </a:r>
                      <a:endParaRPr sz="800" dirty="0">
                        <a:solidFill>
                          <a:srgbClr val="FF0000"/>
                        </a:solidFill>
                      </a:endParaRPr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3E23E752-ACE1-7421-5106-79D1E7E0EF39}"/>
              </a:ext>
            </a:extLst>
          </p:cNvPr>
          <p:cNvSpPr/>
          <p:nvPr/>
        </p:nvSpPr>
        <p:spPr>
          <a:xfrm>
            <a:off x="1651787" y="3588077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7476D46B-565B-EB4B-5B7D-1257109BE448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856294314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7" name="Google Shape;397;p3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1" y="-9795"/>
            <a:ext cx="2328863" cy="5064777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66ABCDBC-383F-5581-5E39-83905EACA8B3}"/>
              </a:ext>
            </a:extLst>
          </p:cNvPr>
          <p:cNvSpPr txBox="1"/>
          <p:nvPr/>
        </p:nvSpPr>
        <p:spPr>
          <a:xfrm>
            <a:off x="1278611" y="4006314"/>
            <a:ext cx="1031051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900" b="1" dirty="0">
                <a:solidFill>
                  <a:srgbClr val="0070C0"/>
                </a:solidFill>
              </a:rPr>
              <a:t>550M       1800ft</a:t>
            </a:r>
            <a:endParaRPr kumimoji="1" lang="ko-Kore-KR" altLang="en-US" sz="900" b="1" dirty="0">
              <a:solidFill>
                <a:srgbClr val="0070C0"/>
              </a:solidFill>
            </a:endParaRP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A9EEFEB8-F9E4-386F-27B1-F3014416BF74}"/>
              </a:ext>
            </a:extLst>
          </p:cNvPr>
          <p:cNvSpPr/>
          <p:nvPr/>
        </p:nvSpPr>
        <p:spPr>
          <a:xfrm>
            <a:off x="1261518" y="3548722"/>
            <a:ext cx="1000283" cy="333428"/>
          </a:xfrm>
          <a:prstGeom prst="rect">
            <a:avLst/>
          </a:prstGeom>
          <a:noFill/>
          <a:ln w="3492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>
              <a:solidFill>
                <a:srgbClr val="C00000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FC66845-A7AA-98C4-534C-70B808775E8B}"/>
              </a:ext>
            </a:extLst>
          </p:cNvPr>
          <p:cNvSpPr txBox="1"/>
          <p:nvPr/>
        </p:nvSpPr>
        <p:spPr>
          <a:xfrm>
            <a:off x="984456" y="3513354"/>
            <a:ext cx="338554" cy="41287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900" b="1" dirty="0">
                <a:solidFill>
                  <a:srgbClr val="C00000"/>
                </a:solidFill>
              </a:rPr>
              <a:t>TL</a:t>
            </a:r>
          </a:p>
          <a:p>
            <a:pPr algn="dist">
              <a:lnSpc>
                <a:spcPct val="150000"/>
              </a:lnSpc>
            </a:pPr>
            <a:r>
              <a:rPr kumimoji="1" lang="en-US" altLang="ko-Kore-KR" sz="900" b="1" dirty="0">
                <a:solidFill>
                  <a:srgbClr val="C00000"/>
                </a:solidFill>
              </a:rPr>
              <a:t>TA</a:t>
            </a:r>
            <a:endParaRPr kumimoji="1" lang="ko-Kore-KR" altLang="en-US" sz="900" b="1" dirty="0">
              <a:solidFill>
                <a:srgbClr val="C00000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83B9E08-9399-887D-087F-8AD383B55718}"/>
              </a:ext>
            </a:extLst>
          </p:cNvPr>
          <p:cNvSpPr txBox="1"/>
          <p:nvPr/>
        </p:nvSpPr>
        <p:spPr>
          <a:xfrm>
            <a:off x="24681" y="5030270"/>
            <a:ext cx="162494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ore-KR" sz="1050" dirty="0">
                <a:solidFill>
                  <a:srgbClr val="C00000"/>
                </a:solidFill>
              </a:rPr>
              <a:t>QFE Next Page</a:t>
            </a:r>
            <a:endParaRPr kumimoji="1" lang="ko-Kore-KR" altLang="en-US" sz="1050" dirty="0">
              <a:solidFill>
                <a:srgbClr val="C00000"/>
              </a:solidFill>
            </a:endParaRPr>
          </a:p>
        </p:txBody>
      </p:sp>
      <p:sp>
        <p:nvSpPr>
          <p:cNvPr id="6" name="직사각형 5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EAF21F4E-8C9C-427D-21CD-DFB14BD167E9}"/>
              </a:ext>
            </a:extLst>
          </p:cNvPr>
          <p:cNvSpPr/>
          <p:nvPr/>
        </p:nvSpPr>
        <p:spPr>
          <a:xfrm>
            <a:off x="847353" y="527797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1710612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Google Shape;377;p28">
            <a:extLst>
              <a:ext uri="{FF2B5EF4-FFF2-40B4-BE49-F238E27FC236}">
                <a16:creationId xmlns:a16="http://schemas.microsoft.com/office/drawing/2014/main" id="{3BC43B3A-BAD2-E13A-4922-2BB962CCA02E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118335596"/>
              </p:ext>
            </p:extLst>
          </p:nvPr>
        </p:nvGraphicFramePr>
        <p:xfrm>
          <a:off x="7" y="822012"/>
          <a:ext cx="2328850" cy="469296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01321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57817">
                  <a:extLst>
                    <a:ext uri="{9D8B030D-6E8A-4147-A177-3AD203B41FA5}">
                      <a16:colId xmlns:a16="http://schemas.microsoft.com/office/drawing/2014/main" val="2543703711"/>
                    </a:ext>
                  </a:extLst>
                </a:gridCol>
                <a:gridCol w="657817">
                  <a:extLst>
                    <a:ext uri="{9D8B030D-6E8A-4147-A177-3AD203B41FA5}">
                      <a16:colId xmlns:a16="http://schemas.microsoft.com/office/drawing/2014/main" val="2409258293"/>
                    </a:ext>
                  </a:extLst>
                </a:gridCol>
              </a:tblGrid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Height based on QFE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(instructed by ATC)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Altitude base on QNH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(Set Altitude : QFE + </a:t>
                      </a:r>
                      <a:r>
                        <a:rPr lang="en-US" sz="800" dirty="0" err="1"/>
                        <a:t>Elev</a:t>
                      </a:r>
                      <a:r>
                        <a:rPr lang="en-US" sz="800" dirty="0"/>
                        <a:t> SET)</a:t>
                      </a:r>
                      <a:endParaRPr sz="800" dirty="0"/>
                    </a:p>
                  </a:txBody>
                  <a:tcPr marL="3600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xxx m on QFE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xxx m plus Elevation Set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59757106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2400 m</a:t>
                      </a:r>
                      <a:endParaRPr sz="9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</a:rPr>
                        <a:t>8000 ft</a:t>
                      </a:r>
                      <a:endParaRPr lang="ko-Kore-KR" altLang="en-US"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46654343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2100 m</a:t>
                      </a:r>
                      <a:endParaRPr sz="9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</a:rPr>
                        <a:t>7000 ft</a:t>
                      </a:r>
                      <a:endParaRPr lang="ko-Kore-KR" altLang="en-US"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87768838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1800 m</a:t>
                      </a:r>
                      <a:endParaRPr sz="9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</a:rPr>
                        <a:t>6000 ft</a:t>
                      </a:r>
                      <a:endParaRPr lang="ko-Kore-KR" altLang="en-US"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2290507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1500 m</a:t>
                      </a:r>
                      <a:endParaRPr sz="9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</a:rPr>
                        <a:t>5100 ft</a:t>
                      </a:r>
                      <a:endParaRPr lang="ko-Kore-KR" altLang="en-US"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75050887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1200 m </a:t>
                      </a:r>
                      <a:endParaRPr sz="9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</a:rPr>
                        <a:t>4100 ft</a:t>
                      </a:r>
                      <a:endParaRPr lang="ko-Kore-KR" altLang="en-US"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20777377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1100 m</a:t>
                      </a:r>
                      <a:endParaRPr sz="9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</a:rPr>
                        <a:t>3700 ft</a:t>
                      </a:r>
                      <a:endParaRPr lang="ko-Kore-KR" altLang="en-US"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38046599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1000 m</a:t>
                      </a:r>
                      <a:endParaRPr sz="9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</a:rPr>
                        <a:t>3400 ft</a:t>
                      </a:r>
                      <a:endParaRPr lang="ko-Kore-KR" altLang="en-US"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1020131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900 m</a:t>
                      </a:r>
                      <a:endParaRPr sz="9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</a:rPr>
                        <a:t>3100 ft</a:t>
                      </a:r>
                      <a:endParaRPr lang="ko-Kore-KR" altLang="en-US"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2080042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800 m</a:t>
                      </a:r>
                      <a:endParaRPr sz="9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</a:rPr>
                        <a:t>2700 ft</a:t>
                      </a:r>
                      <a:endParaRPr lang="ko-Kore-KR" altLang="en-US"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74889312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700 m </a:t>
                      </a:r>
                      <a:endParaRPr sz="9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</a:rPr>
                        <a:t>2400 ft</a:t>
                      </a:r>
                      <a:endParaRPr lang="ko-Kore-KR" altLang="en-US"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70264682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600 m</a:t>
                      </a:r>
                      <a:endParaRPr sz="9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</a:rPr>
                        <a:t>2100 ft</a:t>
                      </a:r>
                      <a:endParaRPr lang="ko-Kore-KR" altLang="en-US"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9956985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550 m </a:t>
                      </a:r>
                      <a:endParaRPr sz="9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</a:rPr>
                        <a:t>1900 ft</a:t>
                      </a:r>
                      <a:endParaRPr lang="ko-Kore-KR" altLang="en-US"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07927096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500 m</a:t>
                      </a:r>
                      <a:endParaRPr sz="9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</a:rPr>
                        <a:t>1800 ft</a:t>
                      </a:r>
                      <a:endParaRPr lang="ko-Kore-KR" altLang="en-US"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5190659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400 m</a:t>
                      </a:r>
                      <a:endParaRPr sz="9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</a:rPr>
                        <a:t>1400 ft</a:t>
                      </a:r>
                      <a:endParaRPr lang="ko-Kore-KR" altLang="en-US"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59726209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350 m</a:t>
                      </a:r>
                      <a:endParaRPr sz="9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</a:rPr>
                        <a:t>1300 ft</a:t>
                      </a:r>
                      <a:endParaRPr lang="ko-Kore-KR" altLang="en-US"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66265468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300 m</a:t>
                      </a:r>
                      <a:endParaRPr sz="9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</a:rPr>
                        <a:t>1100 ft</a:t>
                      </a:r>
                      <a:endParaRPr lang="ko-Kore-KR" altLang="en-US"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37676885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280 m</a:t>
                      </a:r>
                      <a:endParaRPr sz="9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</a:rPr>
                        <a:t>1000 ft</a:t>
                      </a:r>
                      <a:endParaRPr lang="ko-Kore-KR" altLang="en-US"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38402347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200 m</a:t>
                      </a:r>
                      <a:endParaRPr sz="9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</a:rPr>
                        <a:t>800 ft</a:t>
                      </a:r>
                      <a:endParaRPr lang="ko-Kore-KR" altLang="en-US"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7348927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100 m</a:t>
                      </a:r>
                      <a:endParaRPr sz="9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</a:rPr>
                        <a:t>400 ft</a:t>
                      </a:r>
                      <a:endParaRPr lang="ko-Kore-KR" altLang="en-US"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28050573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0 m</a:t>
                      </a:r>
                      <a:endParaRPr sz="9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</a:rPr>
                        <a:t>03 : 113 ft</a:t>
                      </a:r>
                      <a:endParaRPr lang="ko-Kore-KR" altLang="en-US"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</a:rPr>
                        <a:t>21 : 146 ft</a:t>
                      </a:r>
                      <a:endParaRPr lang="ko-Kore-KR" altLang="en-US"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4087151422"/>
                  </a:ext>
                </a:extLst>
              </a:tr>
            </a:tbl>
          </a:graphicData>
        </a:graphic>
      </p:graphicFrame>
      <p:graphicFrame>
        <p:nvGraphicFramePr>
          <p:cNvPr id="5" name="Google Shape;381;p28">
            <a:extLst>
              <a:ext uri="{FF2B5EF4-FFF2-40B4-BE49-F238E27FC236}">
                <a16:creationId xmlns:a16="http://schemas.microsoft.com/office/drawing/2014/main" id="{574A80DF-A9B9-C95F-1A2C-D48963F2FF8A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404247137"/>
              </p:ext>
            </p:extLst>
          </p:nvPr>
        </p:nvGraphicFramePr>
        <p:xfrm>
          <a:off x="7" y="0"/>
          <a:ext cx="2328850" cy="82298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328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637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dirty="0">
                          <a:solidFill>
                            <a:srgbClr val="C00000"/>
                          </a:solidFill>
                        </a:rPr>
                        <a:t>WEH</a:t>
                      </a:r>
                      <a:r>
                        <a:rPr lang="en-US" sz="1000" dirty="0"/>
                        <a:t>  Altitude / Height Conversion Table</a:t>
                      </a:r>
                      <a:endParaRPr sz="1000" dirty="0"/>
                    </a:p>
                  </a:txBody>
                  <a:tcPr marL="91450" marR="91450" marT="45725" marB="45725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4897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800" b="1" dirty="0" err="1">
                          <a:solidFill>
                            <a:srgbClr val="C00000"/>
                          </a:solidFill>
                        </a:rPr>
                        <a:t>xxxx</a:t>
                      </a:r>
                      <a:r>
                        <a:rPr lang="en-US" altLang="ko-Kore-KR" sz="800" b="1" dirty="0">
                          <a:solidFill>
                            <a:srgbClr val="C00000"/>
                          </a:solidFill>
                        </a:rPr>
                        <a:t> meters on STD </a:t>
                      </a:r>
                      <a:r>
                        <a:rPr lang="ko-KR" altLang="en-US" sz="800" b="1" dirty="0">
                          <a:solidFill>
                            <a:srgbClr val="C00000"/>
                          </a:solidFill>
                        </a:rPr>
                        <a:t>이후 적용</a:t>
                      </a:r>
                      <a:endParaRPr lang="en-US" sz="800" b="1" dirty="0">
                        <a:solidFill>
                          <a:srgbClr val="0070C0"/>
                        </a:solidFill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xxxx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 meters on QFE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xxxx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 -&gt; REQ QNH 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-&gt; QNH xxx SET</a:t>
                      </a:r>
                      <a:r>
                        <a:rPr lang="ko-KR" altLang="en-US" sz="800" b="1" dirty="0">
                          <a:solidFill>
                            <a:srgbClr val="0070C0"/>
                          </a:solidFill>
                        </a:rPr>
                        <a:t>후 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</a:rPr>
                        <a:t>Conversion Table </a:t>
                      </a:r>
                      <a:r>
                        <a:rPr lang="ko-KR" altLang="en-US" sz="800" b="1" dirty="0">
                          <a:solidFill>
                            <a:srgbClr val="0070C0"/>
                          </a:solidFill>
                        </a:rPr>
                        <a:t>사용</a:t>
                      </a:r>
                      <a:endParaRPr lang="en-US" altLang="ko-KR" sz="800" b="1" dirty="0">
                        <a:solidFill>
                          <a:srgbClr val="0070C0"/>
                        </a:solidFill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dirty="0">
                          <a:solidFill>
                            <a:srgbClr val="00B050"/>
                          </a:solidFill>
                        </a:rPr>
                        <a:t>03 </a:t>
                      </a:r>
                      <a:r>
                        <a:rPr lang="en-US" altLang="ko-KR" sz="800" b="1" dirty="0" err="1">
                          <a:solidFill>
                            <a:srgbClr val="00B050"/>
                          </a:solidFill>
                        </a:rPr>
                        <a:t>Elev</a:t>
                      </a:r>
                      <a:r>
                        <a:rPr lang="en-US" altLang="ko-KR" sz="800" b="1" dirty="0">
                          <a:solidFill>
                            <a:srgbClr val="00B050"/>
                          </a:solidFill>
                        </a:rPr>
                        <a:t> : 113ft = 4.0hPa, 21 </a:t>
                      </a:r>
                      <a:r>
                        <a:rPr lang="en-US" altLang="ko-KR" sz="800" b="1" dirty="0" err="1">
                          <a:solidFill>
                            <a:srgbClr val="00B050"/>
                          </a:solidFill>
                        </a:rPr>
                        <a:t>Elev</a:t>
                      </a:r>
                      <a:r>
                        <a:rPr lang="en-US" altLang="ko-KR" sz="800" b="1" dirty="0">
                          <a:solidFill>
                            <a:srgbClr val="00B050"/>
                          </a:solidFill>
                        </a:rPr>
                        <a:t> : 146ft = 5.2hPa</a:t>
                      </a:r>
                    </a:p>
                  </a:txBody>
                  <a:tcPr marL="91450" marR="91450" marT="45725" marB="45725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23579498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17" name="Google Shape;117;p3"/>
          <p:cNvGraphicFramePr/>
          <p:nvPr>
            <p:extLst>
              <p:ext uri="{D42A27DB-BD31-4B8C-83A1-F6EECF244321}">
                <p14:modId xmlns:p14="http://schemas.microsoft.com/office/powerpoint/2010/main" val="2309956683"/>
              </p:ext>
            </p:extLst>
          </p:nvPr>
        </p:nvGraphicFramePr>
        <p:xfrm>
          <a:off x="4919" y="568970"/>
          <a:ext cx="2300363" cy="1914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2806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274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3099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3187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5708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4893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31979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66946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340361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275424">
                  <a:extLst>
                    <a:ext uri="{9D8B030D-6E8A-4147-A177-3AD203B41FA5}">
                      <a16:colId xmlns:a16="http://schemas.microsoft.com/office/drawing/2014/main" val="448940902"/>
                    </a:ext>
                  </a:extLst>
                </a:gridCol>
              </a:tblGrid>
              <a:tr h="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WEH </a:t>
                      </a:r>
                      <a:r>
                        <a:rPr lang="en-US" sz="800" u="none" strike="noStrike" cap="none" dirty="0">
                          <a:solidFill>
                            <a:srgbClr val="C00000"/>
                          </a:solidFill>
                        </a:rPr>
                        <a:t>(TA 4930’) </a:t>
                      </a:r>
                      <a:r>
                        <a:rPr lang="en-US" sz="800" u="none" strike="noStrike" cap="none" dirty="0"/>
                        <a:t>: RNP SID (NADP 1)</a:t>
                      </a:r>
                      <a:endParaRPr lang="en-US" sz="800" u="none" strike="noStrike" cap="none" dirty="0">
                        <a:solidFill>
                          <a:schemeClr val="accent4"/>
                        </a:solidFill>
                      </a:endParaRPr>
                    </a:p>
                  </a:txBody>
                  <a:tcPr marL="36000" marR="7200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03</a:t>
                      </a:r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IKE xx X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026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026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ATC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4500m(14800’)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900m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026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21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IKE xx X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206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206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ATC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4500m(14800’)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900m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206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5700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WHE 115.8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03 110.1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21 110.7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19 108.9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016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03(113’)</a:t>
                      </a:r>
                      <a:endParaRPr lang="en-US" sz="800" b="1" u="none" strike="noStrike" cap="none" dirty="0">
                        <a:solidFill>
                          <a:srgbClr val="C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8530</a:t>
                      </a: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</a:t>
                      </a:r>
                      <a:endParaRPr sz="800" b="1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21(146’)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5700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</a:rPr>
                        <a:t>RWY03/21 Expect C – Taxi down on RWY – 180 Back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ore-KR" sz="800" b="0" dirty="0">
                          <a:solidFill>
                            <a:schemeClr val="tx1"/>
                          </a:solidFill>
                        </a:rPr>
                        <a:t>Taxi to RWY21 via B -&gt; Confirm 180 Back!!!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ore-KR" sz="800" dirty="0">
                          <a:solidFill>
                            <a:srgbClr val="C00000"/>
                          </a:solidFill>
                        </a:rPr>
                        <a:t>180 Back No Terminal Side Turn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800" dirty="0">
                          <a:solidFill>
                            <a:srgbClr val="0070C0"/>
                          </a:solidFill>
                        </a:rPr>
                        <a:t>PAX Window must closed Between APP and DEP </a:t>
                      </a: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119" name="Google Shape;119;p3"/>
          <p:cNvGraphicFramePr/>
          <p:nvPr>
            <p:extLst>
              <p:ext uri="{D42A27DB-BD31-4B8C-83A1-F6EECF244321}">
                <p14:modId xmlns:p14="http://schemas.microsoft.com/office/powerpoint/2010/main" val="4287823038"/>
              </p:ext>
            </p:extLst>
          </p:nvPr>
        </p:nvGraphicFramePr>
        <p:xfrm>
          <a:off x="-2501" y="16504"/>
          <a:ext cx="2328850" cy="55937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2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ZSWH(WEH)146ft</a:t>
                      </a:r>
                      <a:endParaRPr lang="en-US" altLang="ko-Kore-KR" sz="1200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None</a:t>
                      </a:r>
                      <a:endParaRPr sz="1200"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700" dirty="0">
                          <a:solidFill>
                            <a:srgbClr val="FF0000"/>
                          </a:solidFill>
                        </a:rPr>
                        <a:t>-5 Min, TWR 118.65 By Voice</a:t>
                      </a:r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7BA009CD-0CE1-2081-CE8C-F9EB8DF1D6DE}"/>
              </a:ext>
            </a:extLst>
          </p:cNvPr>
          <p:cNvSpPr txBox="1"/>
          <p:nvPr/>
        </p:nvSpPr>
        <p:spPr>
          <a:xfrm>
            <a:off x="50119" y="2509276"/>
            <a:ext cx="748923" cy="855482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C0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TWR 118.65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TAO 133.725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DLC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132.95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 132.8 </a:t>
            </a:r>
          </a:p>
          <a:p>
            <a:pPr>
              <a:lnSpc>
                <a:spcPct val="150000"/>
              </a:lnSpc>
            </a:pPr>
            <a:endParaRPr kumimoji="1" lang="en-US" altLang="ko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graphicFrame>
        <p:nvGraphicFramePr>
          <p:cNvPr id="5" name="Google Shape;303;p19">
            <a:extLst>
              <a:ext uri="{FF2B5EF4-FFF2-40B4-BE49-F238E27FC236}">
                <a16:creationId xmlns:a16="http://schemas.microsoft.com/office/drawing/2014/main" id="{9A6F36E3-64E2-A97B-D85E-56AC20DB6603}"/>
              </a:ext>
            </a:extLst>
          </p:cNvPr>
          <p:cNvGraphicFramePr/>
          <p:nvPr/>
        </p:nvGraphicFramePr>
        <p:xfrm>
          <a:off x="1119" y="3405664"/>
          <a:ext cx="2325975" cy="2130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59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3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55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774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STAR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33/34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</a:t>
                      </a:r>
                      <a:r>
                        <a:rPr lang="en-US" sz="800" b="1" dirty="0" err="1"/>
                        <a:t>xA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PAMBI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170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15/16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</a:t>
                      </a:r>
                      <a:r>
                        <a:rPr lang="en-US" sz="800" b="1" dirty="0" err="1"/>
                        <a:t>xH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MUNAN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170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285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33L/R 34L(23’)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15L/R 16R(23’)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285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34R(23’)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13123’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16L(23’)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64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FIX</a:t>
                      </a:r>
                      <a:endParaRPr/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RWY /8, /5 , P518 R068, R278</a:t>
                      </a:r>
                      <a:endParaRPr sz="458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C4(7529’),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C5(8513’), 33L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: B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7563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8513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 : </a:t>
                      </a:r>
                      <a:r>
                        <a:rPr lang="en-US" altLang="ko-Kore-KR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C2(7522’), </a:t>
                      </a:r>
                      <a:r>
                        <a:rPr lang="en-US" altLang="ko-Kore-KR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C1(8536’), 15R : </a:t>
                      </a:r>
                      <a:r>
                        <a:rPr lang="en-US" altLang="ko-Kore-KR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B3(</a:t>
                      </a:r>
                      <a:r>
                        <a:rPr lang="en-US" altLang="ko-KR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7454</a:t>
                      </a:r>
                      <a:r>
                        <a:rPr lang="en-US" altLang="ko-Kore-KR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‘), </a:t>
                      </a:r>
                      <a:r>
                        <a:rPr lang="en-US" altLang="ko-Kore-KR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B2(</a:t>
                      </a:r>
                      <a:r>
                        <a:rPr lang="en-US" altLang="ko-KR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8641</a:t>
                      </a:r>
                      <a:r>
                        <a:rPr lang="en-US" altLang="ko-Kore-KR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P7(5600’),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P8(6578’), 34R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N4(6876’),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N5(8507‘)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P6(5597’),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P5(6574’), 16L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N3(7043‘),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N2(8444‘)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01600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8NM 180kts, 5NM 160kts, Parr TAXI 10kts이상,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HIRO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3" name="직사각형 2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FCAC7CD4-98E6-8004-ECC6-D82BC228CB84}"/>
              </a:ext>
            </a:extLst>
          </p:cNvPr>
          <p:cNvSpPr/>
          <p:nvPr/>
        </p:nvSpPr>
        <p:spPr>
          <a:xfrm>
            <a:off x="1651787" y="3049859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68726A69-B260-0DB1-8F3C-79808AA2BAA6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745566074"/>
      </p:ext>
    </p:extLst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62F9807-5AEF-8D80-6311-45C5000B22FB}"/>
              </a:ext>
            </a:extLst>
          </p:cNvPr>
          <p:cNvSpPr txBox="1"/>
          <p:nvPr/>
        </p:nvSpPr>
        <p:spPr>
          <a:xfrm>
            <a:off x="-16083" y="3136641"/>
            <a:ext cx="2239716" cy="855482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125.15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132.8 – DLC 132.95</a:t>
            </a:r>
            <a:endParaRPr kumimoji="1" lang="en-US" altLang="ko-Kore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TAO 133.725 – 128.15 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PEK 125.6 – 120.35 – 133.65 – 134.15 - 126.7 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XIY 125.3 – 120.95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XIY APP 119.05 – 120.2 – 125.1</a:t>
            </a:r>
          </a:p>
        </p:txBody>
      </p:sp>
      <p:graphicFrame>
        <p:nvGraphicFramePr>
          <p:cNvPr id="291" name="Google Shape;291;p18"/>
          <p:cNvGraphicFramePr/>
          <p:nvPr>
            <p:extLst>
              <p:ext uri="{D42A27DB-BD31-4B8C-83A1-F6EECF244321}">
                <p14:modId xmlns:p14="http://schemas.microsoft.com/office/powerpoint/2010/main" val="1338440718"/>
              </p:ext>
            </p:extLst>
          </p:nvPr>
        </p:nvGraphicFramePr>
        <p:xfrm>
          <a:off x="0" y="628907"/>
          <a:ext cx="2332925" cy="256021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91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17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69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21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254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10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15930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SID (33/34 NADP 1, 15/16 NADP 2)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5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NOPIK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xA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NOPIK </a:t>
                      </a:r>
                      <a:r>
                        <a:rPr lang="en-US" sz="800" dirty="0" err="1"/>
                        <a:t>xY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BINIL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xC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BINIL </a:t>
                      </a:r>
                      <a:r>
                        <a:rPr lang="en-US" sz="800" dirty="0" err="1"/>
                        <a:t>xH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NCN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113.8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33L 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33R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108.9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15L 111.9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15R 109.1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WNG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112.9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109.95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110.35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108.55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580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33L/R : NC05L/R,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P518 R068, R278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34L/R : EO34L/R,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ore-KR" sz="800" dirty="0"/>
                        <a:t>P518 R068, R278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44775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33L/R 34L(23’)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15L/R 16R(23’)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4477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34R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44775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Parallel TWY 10KTS </a:t>
                      </a:r>
                      <a:r>
                        <a:rPr lang="en-US" sz="800" dirty="0" err="1"/>
                        <a:t>이상</a:t>
                      </a:r>
                      <a:r>
                        <a:rPr lang="en-US" sz="800" dirty="0"/>
                        <a:t>(R17 MAX 15kts)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292" name="Google Shape;292;p18"/>
          <p:cNvGraphicFramePr/>
          <p:nvPr>
            <p:extLst>
              <p:ext uri="{D42A27DB-BD31-4B8C-83A1-F6EECF244321}">
                <p14:modId xmlns:p14="http://schemas.microsoft.com/office/powerpoint/2010/main" val="2015755674"/>
              </p:ext>
            </p:extLst>
          </p:nvPr>
        </p:nvGraphicFramePr>
        <p:xfrm>
          <a:off x="-1706" y="4004222"/>
          <a:ext cx="2333879" cy="1537816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3019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3328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4897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2142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980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XIY </a:t>
                      </a:r>
                      <a:r>
                        <a:rPr lang="en-US" sz="800" dirty="0">
                          <a:solidFill>
                            <a:schemeClr val="bg1"/>
                          </a:solidFill>
                        </a:rPr>
                        <a:t>(TL 118) </a:t>
                      </a:r>
                      <a:r>
                        <a:rPr lang="en-US" sz="800" dirty="0"/>
                        <a:t>: RNAV STAR </a:t>
                      </a:r>
                      <a:r>
                        <a:rPr lang="en-US" sz="800" dirty="0">
                          <a:solidFill>
                            <a:srgbClr val="FF0000"/>
                          </a:solidFill>
                        </a:rPr>
                        <a:t>(</a:t>
                      </a:r>
                      <a:r>
                        <a:rPr lang="en-US" sz="800" dirty="0" err="1">
                          <a:solidFill>
                            <a:srgbClr val="FF0000"/>
                          </a:solidFill>
                        </a:rPr>
                        <a:t>Spd</a:t>
                      </a:r>
                      <a:r>
                        <a:rPr lang="en-US" sz="800" dirty="0">
                          <a:solidFill>
                            <a:srgbClr val="FF0000"/>
                          </a:solidFill>
                        </a:rPr>
                        <a:t> Restriction at REF Page)</a:t>
                      </a:r>
                      <a:r>
                        <a:rPr lang="en-US" sz="800" dirty="0"/>
                        <a:t> 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chemeClr val="accent4"/>
                          </a:solidFill>
                        </a:rPr>
                        <a:t>Req ILS APP instead of Visual APP</a:t>
                      </a: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5092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05L</a:t>
                      </a:r>
                      <a:r>
                        <a:rPr lang="en-US" sz="800" b="0" dirty="0"/>
                        <a:t>/R</a:t>
                      </a:r>
                      <a:endParaRPr sz="800" b="0" dirty="0"/>
                    </a:p>
                  </a:txBody>
                  <a:tcPr marL="36000" marR="36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LOVRA xx W</a:t>
                      </a:r>
                    </a:p>
                  </a:txBody>
                  <a:tcPr marL="36000" marR="36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XY906</a:t>
                      </a:r>
                    </a:p>
                  </a:txBody>
                  <a:tcPr marL="36000" marR="36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RNAV ILS Z 05L/R</a:t>
                      </a:r>
                      <a:endParaRPr lang="en-US" sz="800" b="0" dirty="0"/>
                    </a:p>
                  </a:txBody>
                  <a:tcPr marL="36000" marR="36000" marT="0" marB="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3444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23R</a:t>
                      </a:r>
                      <a:r>
                        <a:rPr lang="en-US" sz="800" b="0" dirty="0"/>
                        <a:t>/L</a:t>
                      </a:r>
                      <a:endParaRPr sz="800" b="0" dirty="0"/>
                    </a:p>
                  </a:txBody>
                  <a:tcPr marL="36000" marR="36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800" b="1" dirty="0"/>
                        <a:t>LOVRA xx Y</a:t>
                      </a:r>
                    </a:p>
                  </a:txBody>
                  <a:tcPr marL="36000" marR="36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/>
                        <a:t>XY801</a:t>
                      </a:r>
                    </a:p>
                  </a:txBody>
                  <a:tcPr marL="36000" marR="36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RNAV ILS Z 23R/L</a:t>
                      </a:r>
                      <a:endParaRPr sz="800" b="1" dirty="0"/>
                    </a:p>
                  </a:txBody>
                  <a:tcPr marL="36000" marR="36000" marT="0" marB="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92036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0" marB="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05L(1562’)          9843’          23R(1569’)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800" b="1" dirty="0">
                          <a:solidFill>
                            <a:srgbClr val="00B050"/>
                          </a:solidFill>
                        </a:rPr>
                        <a:t>05R(1556’)          12467’          23L(1538’)</a:t>
                      </a:r>
                      <a:endParaRPr lang="en-US" altLang="ko-Kore-KR"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84078636"/>
                  </a:ext>
                </a:extLst>
              </a:tr>
              <a:tr h="160867">
                <a:tc gridSpan="4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R" sz="800" b="1" dirty="0">
                          <a:solidFill>
                            <a:schemeClr val="dk1"/>
                          </a:solidFill>
                        </a:rPr>
                        <a:t> 05L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 : A3(6778’), A2(9032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</a:rPr>
                        <a:t>’), 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23R : A6(5544’), A7(6512’)</a:t>
                      </a: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 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</a:rPr>
                        <a:t>05R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</a:rPr>
                        <a:t> : D4(5613’), D3(7322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</a:rPr>
                        <a:t>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</a:rPr>
                        <a:t>23L : D5(5646’), D6(7408’)</a:t>
                      </a: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62007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rgbClr val="0070C0"/>
                          </a:solidFill>
                        </a:rPr>
                        <a:t>Follow Me Car, CTC Apron before Gate in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rgbClr val="0070C0"/>
                          </a:solidFill>
                        </a:rPr>
                        <a:t>“Closing to xx TWY, apply to change to xx Freq”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rgbClr val="0070C0"/>
                          </a:solidFill>
                        </a:rPr>
                        <a:t>Taxi RTE in Jeppesen Chart. </a:t>
                      </a: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293" name="Google Shape;293;p18"/>
          <p:cNvGraphicFramePr/>
          <p:nvPr>
            <p:extLst>
              <p:ext uri="{D42A27DB-BD31-4B8C-83A1-F6EECF244321}">
                <p14:modId xmlns:p14="http://schemas.microsoft.com/office/powerpoint/2010/main" val="234980095"/>
              </p:ext>
            </p:extLst>
          </p:nvPr>
        </p:nvGraphicFramePr>
        <p:xfrm>
          <a:off x="-2501" y="12087"/>
          <a:ext cx="2328850" cy="62454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ZLXY(XIY)</a:t>
                      </a:r>
                      <a:r>
                        <a:rPr lang="en-US" sz="1200" dirty="0">
                          <a:solidFill>
                            <a:srgbClr val="C00000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1572ft</a:t>
                      </a:r>
                      <a:endParaRPr sz="1200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600"/>
                        <a:buFont typeface="Calibri"/>
                        <a:buNone/>
                      </a:pPr>
                      <a:r>
                        <a:rPr lang="en-US" sz="600" dirty="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-10분 TOBT 5분 </a:t>
                      </a:r>
                      <a:r>
                        <a:rPr lang="en-US" sz="600" dirty="0" err="1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차이시</a:t>
                      </a:r>
                      <a:r>
                        <a:rPr lang="en-US" sz="600" dirty="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CTC Comm</a:t>
                      </a:r>
                      <a:endParaRPr sz="900" dirty="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Airport Operation Center 132.0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3A856CD2-FE31-6284-01C8-D7D16E5D0A5D}"/>
              </a:ext>
            </a:extLst>
          </p:cNvPr>
          <p:cNvSpPr/>
          <p:nvPr/>
        </p:nvSpPr>
        <p:spPr>
          <a:xfrm>
            <a:off x="1651787" y="3698037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6009EB74-6D91-1AA6-A9DA-65019232BABA}"/>
              </a:ext>
            </a:extLst>
          </p:cNvPr>
          <p:cNvSpPr/>
          <p:nvPr/>
        </p:nvSpPr>
        <p:spPr>
          <a:xfrm>
            <a:off x="852508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297883471"/>
      </p:ext>
    </p:extLst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7" name="Google Shape;397;p3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1" y="-9795"/>
            <a:ext cx="2328863" cy="5064777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66ABCDBC-383F-5581-5E39-83905EACA8B3}"/>
              </a:ext>
            </a:extLst>
          </p:cNvPr>
          <p:cNvSpPr txBox="1"/>
          <p:nvPr/>
        </p:nvSpPr>
        <p:spPr>
          <a:xfrm>
            <a:off x="1278611" y="4006314"/>
            <a:ext cx="1031051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900" b="1" dirty="0">
                <a:solidFill>
                  <a:srgbClr val="0070C0"/>
                </a:solidFill>
              </a:rPr>
              <a:t>550M       1800ft</a:t>
            </a:r>
            <a:endParaRPr kumimoji="1" lang="ko-Kore-KR" altLang="en-US" sz="900" b="1" dirty="0">
              <a:solidFill>
                <a:srgbClr val="0070C0"/>
              </a:solidFill>
            </a:endParaRP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A9EEFEB8-F9E4-386F-27B1-F3014416BF74}"/>
              </a:ext>
            </a:extLst>
          </p:cNvPr>
          <p:cNvSpPr/>
          <p:nvPr/>
        </p:nvSpPr>
        <p:spPr>
          <a:xfrm>
            <a:off x="68822" y="3180964"/>
            <a:ext cx="1000283" cy="333428"/>
          </a:xfrm>
          <a:prstGeom prst="rect">
            <a:avLst/>
          </a:prstGeom>
          <a:noFill/>
          <a:ln w="3492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>
              <a:solidFill>
                <a:srgbClr val="C00000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FC66845-A7AA-98C4-534C-70B808775E8B}"/>
              </a:ext>
            </a:extLst>
          </p:cNvPr>
          <p:cNvSpPr txBox="1"/>
          <p:nvPr/>
        </p:nvSpPr>
        <p:spPr>
          <a:xfrm>
            <a:off x="1015375" y="3142296"/>
            <a:ext cx="338554" cy="41287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900" b="1" dirty="0">
                <a:solidFill>
                  <a:srgbClr val="C00000"/>
                </a:solidFill>
              </a:rPr>
              <a:t>TL</a:t>
            </a:r>
          </a:p>
          <a:p>
            <a:pPr algn="dist">
              <a:lnSpc>
                <a:spcPct val="150000"/>
              </a:lnSpc>
            </a:pPr>
            <a:r>
              <a:rPr kumimoji="1" lang="en-US" altLang="ko-Kore-KR" sz="900" b="1" dirty="0">
                <a:solidFill>
                  <a:srgbClr val="C00000"/>
                </a:solidFill>
              </a:rPr>
              <a:t>TA</a:t>
            </a:r>
            <a:endParaRPr kumimoji="1" lang="ko-Kore-KR" altLang="en-US" sz="900" b="1" dirty="0">
              <a:solidFill>
                <a:srgbClr val="C00000"/>
              </a:solidFill>
            </a:endParaRPr>
          </a:p>
        </p:txBody>
      </p:sp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AB986224-3CA1-75D5-0CA8-58CC5B2A8016}"/>
              </a:ext>
            </a:extLst>
          </p:cNvPr>
          <p:cNvSpPr/>
          <p:nvPr/>
        </p:nvSpPr>
        <p:spPr>
          <a:xfrm>
            <a:off x="847353" y="527797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997427923"/>
      </p:ext>
    </p:extLst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도표, 라인, 원, 폰트이(가) 표시된 사진&#10;&#10;자동 생성된 설명">
            <a:extLst>
              <a:ext uri="{FF2B5EF4-FFF2-40B4-BE49-F238E27FC236}">
                <a16:creationId xmlns:a16="http://schemas.microsoft.com/office/drawing/2014/main" id="{79E91389-E6D4-6BB5-D030-8522DB1AF16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4046" y="2634634"/>
            <a:ext cx="818867" cy="487272"/>
          </a:xfrm>
          <a:prstGeom prst="rect">
            <a:avLst/>
          </a:prstGeom>
        </p:spPr>
      </p:pic>
      <p:graphicFrame>
        <p:nvGraphicFramePr>
          <p:cNvPr id="117" name="Google Shape;117;p3"/>
          <p:cNvGraphicFramePr/>
          <p:nvPr>
            <p:extLst>
              <p:ext uri="{D42A27DB-BD31-4B8C-83A1-F6EECF244321}">
                <p14:modId xmlns:p14="http://schemas.microsoft.com/office/powerpoint/2010/main" val="812185731"/>
              </p:ext>
            </p:extLst>
          </p:nvPr>
        </p:nvGraphicFramePr>
        <p:xfrm>
          <a:off x="-4046" y="692910"/>
          <a:ext cx="2334438" cy="193657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3359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426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3659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399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7959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38110">
                  <a:extLst>
                    <a:ext uri="{9D8B030D-6E8A-4147-A177-3AD203B41FA5}">
                      <a16:colId xmlns:a16="http://schemas.microsoft.com/office/drawing/2014/main" val="456969378"/>
                    </a:ext>
                  </a:extLst>
                </a:gridCol>
                <a:gridCol w="237606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062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447879">
                  <a:extLst>
                    <a:ext uri="{9D8B030D-6E8A-4147-A177-3AD203B41FA5}">
                      <a16:colId xmlns:a16="http://schemas.microsoft.com/office/drawing/2014/main" val="585746357"/>
                    </a:ext>
                  </a:extLst>
                </a:gridCol>
                <a:gridCol w="165775">
                  <a:extLst>
                    <a:ext uri="{9D8B030D-6E8A-4147-A177-3AD203B41FA5}">
                      <a16:colId xmlns:a16="http://schemas.microsoft.com/office/drawing/2014/main" val="2630083129"/>
                    </a:ext>
                  </a:extLst>
                </a:gridCol>
                <a:gridCol w="282104">
                  <a:extLst>
                    <a:ext uri="{9D8B030D-6E8A-4147-A177-3AD203B41FA5}">
                      <a16:colId xmlns:a16="http://schemas.microsoft.com/office/drawing/2014/main" val="448940902"/>
                    </a:ext>
                  </a:extLst>
                </a:gridCol>
              </a:tblGrid>
              <a:tr h="147257">
                <a:tc gridSpan="1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XIY (TA 9850’)</a:t>
                      </a:r>
                      <a:r>
                        <a:rPr lang="en-US" sz="800" u="none" strike="noStrike" cap="none" dirty="0">
                          <a:solidFill>
                            <a:srgbClr val="C00000"/>
                          </a:solidFill>
                        </a:rPr>
                        <a:t> </a:t>
                      </a:r>
                      <a:r>
                        <a:rPr lang="en-US" sz="800" u="none" strike="noStrike" cap="none" dirty="0"/>
                        <a:t>: RNAV SID (NADP 1)</a:t>
                      </a:r>
                      <a:endParaRPr lang="en-US" sz="800" u="none" strike="noStrike" cap="none" dirty="0">
                        <a:solidFill>
                          <a:schemeClr val="accent4"/>
                        </a:solidFill>
                      </a:endParaRPr>
                    </a:p>
                  </a:txBody>
                  <a:tcPr marL="36000" marR="7200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7976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05L</a:t>
                      </a:r>
                      <a:r>
                        <a:rPr lang="en-US" sz="800" b="0" u="none" strike="noStrike" cap="none" dirty="0"/>
                        <a:t>/R</a:t>
                      </a:r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WJC xx W</a:t>
                      </a:r>
                      <a:r>
                        <a:rPr lang="en-US" sz="800" b="0" u="none" strike="noStrike" cap="none" dirty="0">
                          <a:solidFill>
                            <a:srgbClr val="0070C0"/>
                          </a:solidFill>
                        </a:rPr>
                        <a:t>/Z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052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052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ATC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1500m(4900’)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052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7976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23R</a:t>
                      </a:r>
                      <a:r>
                        <a:rPr lang="en-US" sz="800" b="0" u="none" strike="noStrike" cap="none" dirty="0"/>
                        <a:t>/L</a:t>
                      </a:r>
                      <a:endParaRPr sz="800" b="0" u="none" strike="noStrike" cap="none" dirty="0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WJC xx X</a:t>
                      </a:r>
                      <a:r>
                        <a:rPr lang="en-US" altLang="ko-Kore-KR" sz="800" b="0" u="none" strike="noStrike" cap="none" dirty="0">
                          <a:solidFill>
                            <a:srgbClr val="0070C0"/>
                          </a:solidFill>
                        </a:rPr>
                        <a:t>/Y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232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232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ATC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1500m(4900’)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232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7976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LCZ 109.0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05L 109.9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23R 110.3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21 110.7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05R 109.3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23L 111.1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19 108.9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33833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lt1"/>
                          </a:solidFill>
                        </a:rPr>
                        <a:t>FIX</a:t>
                      </a: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9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u="none" strike="noStrike" cap="none" dirty="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23R/L : LCZ /18 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23647479"/>
                  </a:ext>
                </a:extLst>
              </a:tr>
              <a:tr h="133833">
                <a:tc rowSpan="2"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rowSpan="2"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9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800" b="1" dirty="0">
                          <a:solidFill>
                            <a:srgbClr val="00B050"/>
                          </a:solidFill>
                        </a:rPr>
                        <a:t>05L(1562’)          9843’          23R(1569’)</a:t>
                      </a:r>
                      <a:endParaRPr lang="en-US" altLang="ko-Kore-KR"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33833">
                <a:tc gridSpan="2" v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 v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9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800" b="1" dirty="0">
                          <a:solidFill>
                            <a:srgbClr val="00B050"/>
                          </a:solidFill>
                        </a:rPr>
                        <a:t>05R(1556’)          12467’          23L(1538’)</a:t>
                      </a:r>
                      <a:endParaRPr lang="en-US" altLang="ko-Kore-KR"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18466261"/>
                  </a:ext>
                </a:extLst>
              </a:tr>
              <a:tr h="136405">
                <a:tc gridSpan="1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ore-KR" sz="800" b="1" dirty="0">
                          <a:solidFill>
                            <a:srgbClr val="FF0000"/>
                          </a:solidFill>
                        </a:rPr>
                        <a:t>NOTAM TO Perf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</a:rPr>
                        <a:t>, ADT = CTOT</a:t>
                      </a:r>
                      <a:endParaRPr lang="en-US" altLang="ko-Kore-KR" sz="800" dirty="0">
                        <a:solidFill>
                          <a:srgbClr val="0070C0"/>
                        </a:solidFill>
                      </a:endParaRP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119" name="Google Shape;119;p3"/>
          <p:cNvGraphicFramePr/>
          <p:nvPr>
            <p:extLst>
              <p:ext uri="{D42A27DB-BD31-4B8C-83A1-F6EECF244321}">
                <p14:modId xmlns:p14="http://schemas.microsoft.com/office/powerpoint/2010/main" val="2845494477"/>
              </p:ext>
            </p:extLst>
          </p:nvPr>
        </p:nvGraphicFramePr>
        <p:xfrm>
          <a:off x="-2501" y="16504"/>
          <a:ext cx="2328850" cy="68129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2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ZLXY(XIY)</a:t>
                      </a:r>
                      <a:r>
                        <a:rPr lang="en-US" altLang="ko-Kore-KR" sz="1200" dirty="0">
                          <a:solidFill>
                            <a:srgbClr val="C00000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1572ft</a:t>
                      </a:r>
                      <a:endParaRPr lang="en-US" altLang="ko-Kore-KR" sz="1200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5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dirty="0"/>
                        <a:t>Airport Operation Center 132.0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700" dirty="0">
                          <a:solidFill>
                            <a:srgbClr val="FF0000"/>
                          </a:solidFill>
                        </a:rPr>
                        <a:t>DCL -30~10 Min, Read Back</a:t>
                      </a:r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7BA009CD-0CE1-2081-CE8C-F9EB8DF1D6DE}"/>
              </a:ext>
            </a:extLst>
          </p:cNvPr>
          <p:cNvSpPr txBox="1"/>
          <p:nvPr/>
        </p:nvSpPr>
        <p:spPr>
          <a:xfrm>
            <a:off x="620492" y="2737843"/>
            <a:ext cx="1794081" cy="855482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119.9- XIY 120.95 – 124.1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PEK 126.7 – 134.15 – 128.3 – 120.35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DLC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123.2 - 132.95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TAE 132.8 </a:t>
            </a:r>
          </a:p>
          <a:p>
            <a:pPr>
              <a:lnSpc>
                <a:spcPct val="150000"/>
              </a:lnSpc>
            </a:pPr>
            <a:endParaRPr kumimoji="1" lang="en-US" altLang="ko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graphicFrame>
        <p:nvGraphicFramePr>
          <p:cNvPr id="5" name="Google Shape;303;p19">
            <a:extLst>
              <a:ext uri="{FF2B5EF4-FFF2-40B4-BE49-F238E27FC236}">
                <a16:creationId xmlns:a16="http://schemas.microsoft.com/office/drawing/2014/main" id="{9A6F36E3-64E2-A97B-D85E-56AC20DB6603}"/>
              </a:ext>
            </a:extLst>
          </p:cNvPr>
          <p:cNvGraphicFramePr/>
          <p:nvPr/>
        </p:nvGraphicFramePr>
        <p:xfrm>
          <a:off x="1119" y="3405664"/>
          <a:ext cx="2325975" cy="2130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59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3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55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774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STAR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33/34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</a:t>
                      </a:r>
                      <a:r>
                        <a:rPr lang="en-US" sz="800" b="1" dirty="0" err="1"/>
                        <a:t>xA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PAMBI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170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15/16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</a:t>
                      </a:r>
                      <a:r>
                        <a:rPr lang="en-US" sz="800" b="1" dirty="0" err="1"/>
                        <a:t>xH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MUNAN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170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285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33L/R 34L(23’)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15L/R 16R(23’)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285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34R(23’)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13123’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16L(23’)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64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FIX</a:t>
                      </a:r>
                      <a:endParaRPr/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RWY /8, /5 , P518 R068, R278</a:t>
                      </a:r>
                      <a:endParaRPr sz="458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C4(7529’),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C5(8513’), 33L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: B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7563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8513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 : </a:t>
                      </a:r>
                      <a:r>
                        <a:rPr lang="en-US" altLang="ko-Kore-KR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C2(7522’), </a:t>
                      </a:r>
                      <a:r>
                        <a:rPr lang="en-US" altLang="ko-Kore-KR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C1(8536’), 15R : </a:t>
                      </a:r>
                      <a:r>
                        <a:rPr lang="en-US" altLang="ko-Kore-KR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B3(</a:t>
                      </a:r>
                      <a:r>
                        <a:rPr lang="en-US" altLang="ko-KR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7454</a:t>
                      </a:r>
                      <a:r>
                        <a:rPr lang="en-US" altLang="ko-Kore-KR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‘), </a:t>
                      </a:r>
                      <a:r>
                        <a:rPr lang="en-US" altLang="ko-Kore-KR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B2(</a:t>
                      </a:r>
                      <a:r>
                        <a:rPr lang="en-US" altLang="ko-KR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8641</a:t>
                      </a:r>
                      <a:r>
                        <a:rPr lang="en-US" altLang="ko-Kore-KR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P7(5600’),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P8(6578’), 34R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N4(6876’),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N5(8507‘)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P6(5597’),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P5(6574’), 16L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N3(7043‘),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N2(8444‘)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01600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8NM 180kts, 5NM 160kts, Parr TAXI 10kts이상,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HIRO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3" name="직사각형 2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4AB538F5-03F3-C5A0-114C-C38C1B3D58AD}"/>
              </a:ext>
            </a:extLst>
          </p:cNvPr>
          <p:cNvSpPr/>
          <p:nvPr/>
        </p:nvSpPr>
        <p:spPr>
          <a:xfrm>
            <a:off x="1651787" y="312509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53AC9E1A-44C6-BA36-C536-ED6640435CB5}"/>
              </a:ext>
            </a:extLst>
          </p:cNvPr>
          <p:cNvSpPr/>
          <p:nvPr/>
        </p:nvSpPr>
        <p:spPr>
          <a:xfrm>
            <a:off x="890872" y="327667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488634453"/>
      </p:ext>
    </p:extLst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62F9807-5AEF-8D80-6311-45C5000B22FB}"/>
              </a:ext>
            </a:extLst>
          </p:cNvPr>
          <p:cNvSpPr txBox="1"/>
          <p:nvPr/>
        </p:nvSpPr>
        <p:spPr>
          <a:xfrm>
            <a:off x="-16083" y="3136641"/>
            <a:ext cx="2268570" cy="855482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125.15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132.8 – DLC 132.95</a:t>
            </a:r>
            <a:endParaRPr kumimoji="1" lang="en-US" altLang="ko-Kore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TAO 133.725 – 128.15 – PEK 127.35 – 127.5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PEK 132.2 – SHA 118.9 – WUH 119.7 - 134.35 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CSX 132.55 – 125.6 – 119.65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FF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HUH TWR 118.55(118.175)</a:t>
            </a:r>
          </a:p>
        </p:txBody>
      </p:sp>
      <p:graphicFrame>
        <p:nvGraphicFramePr>
          <p:cNvPr id="291" name="Google Shape;291;p18"/>
          <p:cNvGraphicFramePr/>
          <p:nvPr>
            <p:extLst>
              <p:ext uri="{D42A27DB-BD31-4B8C-83A1-F6EECF244321}">
                <p14:modId xmlns:p14="http://schemas.microsoft.com/office/powerpoint/2010/main" val="1818370097"/>
              </p:ext>
            </p:extLst>
          </p:nvPr>
        </p:nvGraphicFramePr>
        <p:xfrm>
          <a:off x="0" y="628907"/>
          <a:ext cx="2332925" cy="256021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91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17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69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21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254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10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15930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ICN : SID (33/34 NADP 1, 15/16 NADP 2)</a:t>
                      </a:r>
                      <a:endParaRPr sz="800" dirty="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5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NOPIK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xA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NOPIK </a:t>
                      </a:r>
                      <a:r>
                        <a:rPr lang="en-US" sz="800" dirty="0" err="1"/>
                        <a:t>xY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BINIL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xC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BINIL </a:t>
                      </a:r>
                      <a:r>
                        <a:rPr lang="en-US" sz="800" dirty="0" err="1"/>
                        <a:t>xH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NCN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113.8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33L 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33R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108.9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15L 111.9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15R 109.1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WNG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112.9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109.95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110.35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108.55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580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33L/R : NC05L/R,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P518 R068, R278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34L/R : EO34L/R,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ore-KR" sz="800" dirty="0"/>
                        <a:t>P518 R068, R278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44775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33L/R 34L(23’)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15L/R 16R(23’)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4477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34R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44775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Parallel TWY 10KTS </a:t>
                      </a:r>
                      <a:r>
                        <a:rPr lang="en-US" sz="800" dirty="0" err="1"/>
                        <a:t>이상</a:t>
                      </a:r>
                      <a:r>
                        <a:rPr lang="en-US" sz="800" dirty="0"/>
                        <a:t>(R17 MAX 15kts)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292" name="Google Shape;292;p18"/>
          <p:cNvGraphicFramePr/>
          <p:nvPr>
            <p:extLst>
              <p:ext uri="{D42A27DB-BD31-4B8C-83A1-F6EECF244321}">
                <p14:modId xmlns:p14="http://schemas.microsoft.com/office/powerpoint/2010/main" val="3689268254"/>
              </p:ext>
            </p:extLst>
          </p:nvPr>
        </p:nvGraphicFramePr>
        <p:xfrm>
          <a:off x="-1706" y="4004222"/>
          <a:ext cx="2333879" cy="1537816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3019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2393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583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2142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980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CSX </a:t>
                      </a:r>
                      <a:r>
                        <a:rPr lang="en-US" sz="800" dirty="0">
                          <a:solidFill>
                            <a:schemeClr val="bg1"/>
                          </a:solidFill>
                        </a:rPr>
                        <a:t>(TL 118) </a:t>
                      </a:r>
                      <a:r>
                        <a:rPr lang="en-US" sz="800" dirty="0"/>
                        <a:t>: RNAV STAR 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chemeClr val="accent4"/>
                          </a:solidFill>
                        </a:rPr>
                        <a:t>After OLMIB 6600M, STAR or RDR </a:t>
                      </a:r>
                      <a:r>
                        <a:rPr lang="en-US" sz="800" dirty="0" err="1">
                          <a:solidFill>
                            <a:schemeClr val="accent4"/>
                          </a:solidFill>
                        </a:rPr>
                        <a:t>Vec</a:t>
                      </a:r>
                      <a:r>
                        <a:rPr lang="en-US" sz="800" dirty="0">
                          <a:solidFill>
                            <a:schemeClr val="accent4"/>
                          </a:solidFill>
                        </a:rPr>
                        <a:t> before GUSIV</a:t>
                      </a: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5092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18L</a:t>
                      </a:r>
                      <a:r>
                        <a:rPr lang="en-US" sz="800" b="0" dirty="0"/>
                        <a:t>/R</a:t>
                      </a:r>
                      <a:endParaRPr sz="800" b="0" dirty="0"/>
                    </a:p>
                  </a:txBody>
                  <a:tcPr marL="36000" marR="36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PEX xx W</a:t>
                      </a:r>
                    </a:p>
                  </a:txBody>
                  <a:tcPr marL="36000" marR="36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HA366</a:t>
                      </a:r>
                    </a:p>
                  </a:txBody>
                  <a:tcPr marL="36000" marR="36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RNAV ILS Z 18L/R</a:t>
                      </a:r>
                      <a:endParaRPr lang="en-US" sz="800" b="0" dirty="0"/>
                    </a:p>
                  </a:txBody>
                  <a:tcPr marL="36000" marR="36000" marT="0" marB="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3444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36R</a:t>
                      </a:r>
                      <a:r>
                        <a:rPr lang="en-US" sz="800" b="0" dirty="0"/>
                        <a:t>/L</a:t>
                      </a:r>
                      <a:endParaRPr sz="800" b="0" dirty="0"/>
                    </a:p>
                  </a:txBody>
                  <a:tcPr marL="36000" marR="36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800" b="1" dirty="0"/>
                        <a:t>PEX xx X</a:t>
                      </a:r>
                    </a:p>
                  </a:txBody>
                  <a:tcPr marL="36000" marR="36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/>
                        <a:t>HA383</a:t>
                      </a:r>
                    </a:p>
                  </a:txBody>
                  <a:tcPr marL="36000" marR="36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RNAV ILS Z 36R/L</a:t>
                      </a:r>
                      <a:endParaRPr sz="800" b="1" dirty="0"/>
                    </a:p>
                  </a:txBody>
                  <a:tcPr marL="36000" marR="36000" marT="0" marB="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92036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0" marB="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18L(212’)          12467’          36R(188’)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800" b="1" dirty="0">
                          <a:solidFill>
                            <a:srgbClr val="00B050"/>
                          </a:solidFill>
                        </a:rPr>
                        <a:t>18R(219’)          10499’          36L(198’)</a:t>
                      </a:r>
                      <a:endParaRPr lang="en-US" altLang="ko-Kore-KR"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84078636"/>
                  </a:ext>
                </a:extLst>
              </a:tr>
              <a:tr h="160867">
                <a:tc gridSpan="4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R" sz="800" b="1" dirty="0">
                          <a:solidFill>
                            <a:schemeClr val="dk1"/>
                          </a:solidFill>
                        </a:rPr>
                        <a:t> 18L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 : C9(5629’),C7(6948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</a:rPr>
                        <a:t>’),36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R : C11(5675’),C13(6961’)</a:t>
                      </a: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 18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</a:rPr>
                        <a:t>R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</a:rPr>
                        <a:t> : B4(5167’), B3(6427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</a:rPr>
                        <a:t>’), 36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</a:rPr>
                        <a:t>L : B5(5206’), B6(6443’)</a:t>
                      </a: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62007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rgbClr val="0070C0"/>
                          </a:solidFill>
                        </a:rPr>
                        <a:t>Position Report to GND first CTC 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rgbClr val="0070C0"/>
                          </a:solidFill>
                        </a:rPr>
                        <a:t>TWY T9 less 29.2m , Follow Me Car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rgbClr val="0070C0"/>
                          </a:solidFill>
                        </a:rPr>
                        <a:t>APU Procedure but APU available cabin 26</a:t>
                      </a:r>
                      <a:r>
                        <a:rPr lang="ko-KR" altLang="en-US" sz="800" dirty="0">
                          <a:solidFill>
                            <a:srgbClr val="0070C0"/>
                          </a:solidFill>
                        </a:rPr>
                        <a:t>도 </a:t>
                      </a:r>
                      <a:r>
                        <a:rPr lang="ko-KR" altLang="en-US" sz="800" dirty="0" err="1">
                          <a:solidFill>
                            <a:srgbClr val="0070C0"/>
                          </a:solidFill>
                        </a:rPr>
                        <a:t>이하시</a:t>
                      </a:r>
                      <a:endParaRPr lang="en-US" sz="800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293" name="Google Shape;293;p18"/>
          <p:cNvGraphicFramePr/>
          <p:nvPr>
            <p:extLst>
              <p:ext uri="{D42A27DB-BD31-4B8C-83A1-F6EECF244321}">
                <p14:modId xmlns:p14="http://schemas.microsoft.com/office/powerpoint/2010/main" val="764217243"/>
              </p:ext>
            </p:extLst>
          </p:nvPr>
        </p:nvGraphicFramePr>
        <p:xfrm>
          <a:off x="-2501" y="12087"/>
          <a:ext cx="2328850" cy="62454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ZGHA(CSX)220ft</a:t>
                      </a:r>
                      <a:endParaRPr sz="1300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600"/>
                        <a:buFont typeface="Calibri"/>
                        <a:buNone/>
                      </a:pPr>
                      <a:r>
                        <a:rPr lang="en-US" sz="600" dirty="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-10분 TOBT 5분 </a:t>
                      </a:r>
                      <a:r>
                        <a:rPr lang="en-US" sz="600" dirty="0" err="1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차이시</a:t>
                      </a:r>
                      <a:r>
                        <a:rPr lang="en-US" sz="600" dirty="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CTC Comm</a:t>
                      </a:r>
                      <a:endParaRPr sz="900" dirty="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Changsha Reporting Office 131.15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3A856CD2-FE31-6284-01C8-D7D16E5D0A5D}"/>
              </a:ext>
            </a:extLst>
          </p:cNvPr>
          <p:cNvSpPr/>
          <p:nvPr/>
        </p:nvSpPr>
        <p:spPr>
          <a:xfrm>
            <a:off x="1651787" y="3698037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6009EB74-6D91-1AA6-A9DA-65019232BABA}"/>
              </a:ext>
            </a:extLst>
          </p:cNvPr>
          <p:cNvSpPr/>
          <p:nvPr/>
        </p:nvSpPr>
        <p:spPr>
          <a:xfrm>
            <a:off x="82950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302401105"/>
      </p:ext>
    </p:extLst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7" name="Google Shape;397;p3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1" y="-9795"/>
            <a:ext cx="2328863" cy="5064777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66ABCDBC-383F-5581-5E39-83905EACA8B3}"/>
              </a:ext>
            </a:extLst>
          </p:cNvPr>
          <p:cNvSpPr txBox="1"/>
          <p:nvPr/>
        </p:nvSpPr>
        <p:spPr>
          <a:xfrm>
            <a:off x="1278611" y="4006314"/>
            <a:ext cx="1031051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900" b="1" dirty="0">
                <a:solidFill>
                  <a:srgbClr val="0070C0"/>
                </a:solidFill>
              </a:rPr>
              <a:t>550M       1800ft</a:t>
            </a:r>
            <a:endParaRPr kumimoji="1" lang="ko-Kore-KR" altLang="en-US" sz="900" b="1" dirty="0">
              <a:solidFill>
                <a:srgbClr val="0070C0"/>
              </a:solidFill>
            </a:endParaRP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A9EEFEB8-F9E4-386F-27B1-F3014416BF74}"/>
              </a:ext>
            </a:extLst>
          </p:cNvPr>
          <p:cNvSpPr/>
          <p:nvPr/>
        </p:nvSpPr>
        <p:spPr>
          <a:xfrm>
            <a:off x="68822" y="3180964"/>
            <a:ext cx="1000283" cy="333428"/>
          </a:xfrm>
          <a:prstGeom prst="rect">
            <a:avLst/>
          </a:prstGeom>
          <a:noFill/>
          <a:ln w="3492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>
              <a:solidFill>
                <a:srgbClr val="C00000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FC66845-A7AA-98C4-534C-70B808775E8B}"/>
              </a:ext>
            </a:extLst>
          </p:cNvPr>
          <p:cNvSpPr txBox="1"/>
          <p:nvPr/>
        </p:nvSpPr>
        <p:spPr>
          <a:xfrm>
            <a:off x="1015375" y="3142296"/>
            <a:ext cx="338554" cy="41287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900" b="1" dirty="0">
                <a:solidFill>
                  <a:srgbClr val="C00000"/>
                </a:solidFill>
              </a:rPr>
              <a:t>TL</a:t>
            </a:r>
          </a:p>
          <a:p>
            <a:pPr algn="dist">
              <a:lnSpc>
                <a:spcPct val="150000"/>
              </a:lnSpc>
            </a:pPr>
            <a:r>
              <a:rPr kumimoji="1" lang="en-US" altLang="ko-Kore-KR" sz="900" b="1" dirty="0">
                <a:solidFill>
                  <a:srgbClr val="C00000"/>
                </a:solidFill>
              </a:rPr>
              <a:t>TA</a:t>
            </a:r>
            <a:endParaRPr kumimoji="1" lang="ko-Kore-KR" altLang="en-US" sz="900" b="1" dirty="0">
              <a:solidFill>
                <a:srgbClr val="C00000"/>
              </a:solidFill>
            </a:endParaRPr>
          </a:p>
        </p:txBody>
      </p:sp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AB986224-3CA1-75D5-0CA8-58CC5B2A8016}"/>
              </a:ext>
            </a:extLst>
          </p:cNvPr>
          <p:cNvSpPr/>
          <p:nvPr/>
        </p:nvSpPr>
        <p:spPr>
          <a:xfrm>
            <a:off x="847353" y="527797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356075854"/>
      </p:ext>
    </p:extLst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17" name="Google Shape;117;p3"/>
          <p:cNvGraphicFramePr/>
          <p:nvPr>
            <p:extLst>
              <p:ext uri="{D42A27DB-BD31-4B8C-83A1-F6EECF244321}">
                <p14:modId xmlns:p14="http://schemas.microsoft.com/office/powerpoint/2010/main" val="2204834433"/>
              </p:ext>
            </p:extLst>
          </p:nvPr>
        </p:nvGraphicFramePr>
        <p:xfrm>
          <a:off x="-4047" y="692910"/>
          <a:ext cx="2342652" cy="1618922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7960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407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9721">
                  <a:extLst>
                    <a:ext uri="{9D8B030D-6E8A-4147-A177-3AD203B41FA5}">
                      <a16:colId xmlns:a16="http://schemas.microsoft.com/office/drawing/2014/main" val="1994765097"/>
                    </a:ext>
                  </a:extLst>
                </a:gridCol>
                <a:gridCol w="372124">
                  <a:extLst>
                    <a:ext uri="{9D8B030D-6E8A-4147-A177-3AD203B41FA5}">
                      <a16:colId xmlns:a16="http://schemas.microsoft.com/office/drawing/2014/main" val="3574586511"/>
                    </a:ext>
                  </a:extLst>
                </a:gridCol>
                <a:gridCol w="200613">
                  <a:extLst>
                    <a:ext uri="{9D8B030D-6E8A-4147-A177-3AD203B41FA5}">
                      <a16:colId xmlns:a16="http://schemas.microsoft.com/office/drawing/2014/main" val="456969378"/>
                    </a:ext>
                  </a:extLst>
                </a:gridCol>
                <a:gridCol w="71153">
                  <a:extLst>
                    <a:ext uri="{9D8B030D-6E8A-4147-A177-3AD203B41FA5}">
                      <a16:colId xmlns:a16="http://schemas.microsoft.com/office/drawing/2014/main" val="3691084646"/>
                    </a:ext>
                  </a:extLst>
                </a:gridCol>
                <a:gridCol w="290946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31683">
                  <a:extLst>
                    <a:ext uri="{9D8B030D-6E8A-4147-A177-3AD203B41FA5}">
                      <a16:colId xmlns:a16="http://schemas.microsoft.com/office/drawing/2014/main" val="585746357"/>
                    </a:ext>
                  </a:extLst>
                </a:gridCol>
                <a:gridCol w="336965">
                  <a:extLst>
                    <a:ext uri="{9D8B030D-6E8A-4147-A177-3AD203B41FA5}">
                      <a16:colId xmlns:a16="http://schemas.microsoft.com/office/drawing/2014/main" val="3290678495"/>
                    </a:ext>
                  </a:extLst>
                </a:gridCol>
                <a:gridCol w="235771">
                  <a:extLst>
                    <a:ext uri="{9D8B030D-6E8A-4147-A177-3AD203B41FA5}">
                      <a16:colId xmlns:a16="http://schemas.microsoft.com/office/drawing/2014/main" val="448940902"/>
                    </a:ext>
                  </a:extLst>
                </a:gridCol>
              </a:tblGrid>
              <a:tr h="147257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XIY (TA 9850’)</a:t>
                      </a:r>
                      <a:r>
                        <a:rPr lang="en-US" sz="800" u="none" strike="noStrike" cap="none" dirty="0">
                          <a:solidFill>
                            <a:srgbClr val="C00000"/>
                          </a:solidFill>
                        </a:rPr>
                        <a:t> </a:t>
                      </a:r>
                      <a:r>
                        <a:rPr lang="en-US" sz="800" u="none" strike="noStrike" cap="none" dirty="0"/>
                        <a:t>: RNAV SID (NADP 1)</a:t>
                      </a:r>
                      <a:endParaRPr lang="en-US" sz="800" u="none" strike="noStrike" cap="none" dirty="0">
                        <a:solidFill>
                          <a:schemeClr val="accent4"/>
                        </a:solidFill>
                      </a:endParaRPr>
                    </a:p>
                  </a:txBody>
                  <a:tcPr marL="36000" marR="7200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7976"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18R</a:t>
                      </a:r>
                      <a:r>
                        <a:rPr lang="en-US" sz="800" b="0" u="none" strike="noStrike" cap="none" dirty="0"/>
                        <a:t>/L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OPO xx W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r>
                        <a:rPr lang="en-US" sz="800" b="1" u="none" strike="noStrike" cap="none">
                          <a:solidFill>
                            <a:srgbClr val="0070C0"/>
                          </a:solidFill>
                        </a:rPr>
                        <a:t>OPO xx W</a:t>
                      </a:r>
                      <a:endParaRPr lang="ko-Kore-KR" altLang="en-US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r>
                        <a:rPr lang="en-US" sz="800" b="1" u="none" strike="noStrike" cap="none">
                          <a:solidFill>
                            <a:srgbClr val="C00000"/>
                          </a:solidFill>
                        </a:rPr>
                        <a:t>181</a:t>
                      </a:r>
                      <a:endParaRPr lang="ko-Kore-KR" altLang="en-US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181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r>
                        <a:rPr lang="en-US" sz="800" b="1" u="none" strike="noStrike" cap="none">
                          <a:solidFill>
                            <a:srgbClr val="0070C0"/>
                          </a:solidFill>
                        </a:rPr>
                        <a:t>ATC(900m)</a:t>
                      </a:r>
                      <a:endParaRPr lang="ko-Kore-KR" altLang="en-US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181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36L</a:t>
                      </a:r>
                      <a:r>
                        <a:rPr lang="en-US" sz="800" b="0" u="none" strike="noStrike" cap="none" dirty="0"/>
                        <a:t>/R</a:t>
                      </a:r>
                      <a:endParaRPr sz="800" b="0" u="none" strike="noStrike" cap="none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OPO xx X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OPO xx X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001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001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ATC(900m)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001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7976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18R 110.3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36L 109.9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18R 110.3</a:t>
                      </a:r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18L 109.3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36L 109.9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18L 109.3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36R 111.1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19 108.9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33833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lt1"/>
                          </a:solidFill>
                        </a:rPr>
                        <a:t>FIX</a:t>
                      </a: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9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u="none" strike="noStrike" cap="none" dirty="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36L/R : LYH217/8.5, R190 </a:t>
                      </a: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(LYH 113.55 for EO)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23647479"/>
                  </a:ext>
                </a:extLst>
              </a:tr>
              <a:tr h="133833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9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800" b="1" dirty="0">
                          <a:solidFill>
                            <a:srgbClr val="00B050"/>
                          </a:solidFill>
                        </a:rPr>
                        <a:t>18R(219’)          10499’          36L(198’)</a:t>
                      </a:r>
                      <a:endParaRPr lang="en-US" altLang="ko-Kore-KR"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33833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9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800" b="1" dirty="0">
                          <a:solidFill>
                            <a:srgbClr val="00B050"/>
                          </a:solidFill>
                        </a:rPr>
                        <a:t>18L(212’)          12467’          36R(188’)</a:t>
                      </a:r>
                      <a:endParaRPr lang="en-US" altLang="ko-Kore-KR"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18466261"/>
                  </a:ext>
                </a:extLst>
              </a:tr>
              <a:tr h="136405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</a:rPr>
                        <a:t>CTC DEP 119.65 without TWR Instruction</a:t>
                      </a:r>
                      <a:endParaRPr lang="en-US" altLang="ko-Kore-KR" sz="800" dirty="0">
                        <a:solidFill>
                          <a:srgbClr val="0070C0"/>
                        </a:solidFill>
                      </a:endParaRP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119" name="Google Shape;119;p3"/>
          <p:cNvGraphicFramePr/>
          <p:nvPr>
            <p:extLst>
              <p:ext uri="{D42A27DB-BD31-4B8C-83A1-F6EECF244321}">
                <p14:modId xmlns:p14="http://schemas.microsoft.com/office/powerpoint/2010/main" val="2084727226"/>
              </p:ext>
            </p:extLst>
          </p:nvPr>
        </p:nvGraphicFramePr>
        <p:xfrm>
          <a:off x="-2501" y="16504"/>
          <a:ext cx="2328850" cy="68129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ZGHA(CSX)220ft</a:t>
                      </a:r>
                      <a:endParaRPr lang="en-US" altLang="ko-Kore-KR" sz="1300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dirty="0"/>
                        <a:t>Changsha Reporting Office 132.0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700" dirty="0">
                          <a:solidFill>
                            <a:srgbClr val="FF0000"/>
                          </a:solidFill>
                        </a:rPr>
                        <a:t>DCL -20m, Read Back</a:t>
                      </a:r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131.15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7BA009CD-0CE1-2081-CE8C-F9EB8DF1D6DE}"/>
              </a:ext>
            </a:extLst>
          </p:cNvPr>
          <p:cNvSpPr txBox="1"/>
          <p:nvPr/>
        </p:nvSpPr>
        <p:spPr>
          <a:xfrm>
            <a:off x="666500" y="2271735"/>
            <a:ext cx="1587294" cy="1017064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119.65- CSX 132.55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WUH 134.35 – 120.975 – 135.65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125.775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SHA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132.4 - 125.325 - 120.55 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120.95 </a:t>
            </a:r>
          </a:p>
          <a:p>
            <a:pPr>
              <a:lnSpc>
                <a:spcPct val="150000"/>
              </a:lnSpc>
            </a:pPr>
            <a:endParaRPr kumimoji="1" lang="en-US" altLang="ko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graphicFrame>
        <p:nvGraphicFramePr>
          <p:cNvPr id="5" name="Google Shape;303;p19">
            <a:extLst>
              <a:ext uri="{FF2B5EF4-FFF2-40B4-BE49-F238E27FC236}">
                <a16:creationId xmlns:a16="http://schemas.microsoft.com/office/drawing/2014/main" id="{9A6F36E3-64E2-A97B-D85E-56AC20DB6603}"/>
              </a:ext>
            </a:extLst>
          </p:cNvPr>
          <p:cNvGraphicFramePr/>
          <p:nvPr/>
        </p:nvGraphicFramePr>
        <p:xfrm>
          <a:off x="1119" y="3405664"/>
          <a:ext cx="2325975" cy="2130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59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3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55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774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STAR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33/34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</a:t>
                      </a:r>
                      <a:r>
                        <a:rPr lang="en-US" sz="800" b="1" dirty="0" err="1"/>
                        <a:t>xA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PAMBI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170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15/16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</a:t>
                      </a:r>
                      <a:r>
                        <a:rPr lang="en-US" sz="800" b="1" dirty="0" err="1"/>
                        <a:t>xH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MUNAN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170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285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33L/R 34L(23’)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15L/R 16R(23’)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285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34R(23’)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13123’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16L(23’)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64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FIX</a:t>
                      </a:r>
                      <a:endParaRPr/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RWY /8, /5 , P518 R068, R278</a:t>
                      </a:r>
                      <a:endParaRPr sz="458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C4(7529’),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C5(8513’), 33L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: B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7563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8513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 : </a:t>
                      </a:r>
                      <a:r>
                        <a:rPr lang="en-US" altLang="ko-Kore-KR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C2(7522’), </a:t>
                      </a:r>
                      <a:r>
                        <a:rPr lang="en-US" altLang="ko-Kore-KR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C1(8536’), 15R : </a:t>
                      </a:r>
                      <a:r>
                        <a:rPr lang="en-US" altLang="ko-Kore-KR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B3(</a:t>
                      </a:r>
                      <a:r>
                        <a:rPr lang="en-US" altLang="ko-KR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7454</a:t>
                      </a:r>
                      <a:r>
                        <a:rPr lang="en-US" altLang="ko-Kore-KR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‘), </a:t>
                      </a:r>
                      <a:r>
                        <a:rPr lang="en-US" altLang="ko-Kore-KR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B2(</a:t>
                      </a:r>
                      <a:r>
                        <a:rPr lang="en-US" altLang="ko-KR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8641</a:t>
                      </a:r>
                      <a:r>
                        <a:rPr lang="en-US" altLang="ko-Kore-KR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P7(5600’),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P8(6578’), 34R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N4(6876’),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N5(8507‘)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P6(5597’),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P5(6574’), 16L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N3(7043‘),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N2(8444‘)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01600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8NM 180kts, 5NM 160kts, Parr TAXI 10kts이상,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HIRO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3" name="직사각형 2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4AB538F5-03F3-C5A0-114C-C38C1B3D58AD}"/>
              </a:ext>
            </a:extLst>
          </p:cNvPr>
          <p:cNvSpPr/>
          <p:nvPr/>
        </p:nvSpPr>
        <p:spPr>
          <a:xfrm>
            <a:off x="1651787" y="312509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53AC9E1A-44C6-BA36-C536-ED6640435CB5}"/>
              </a:ext>
            </a:extLst>
          </p:cNvPr>
          <p:cNvSpPr/>
          <p:nvPr/>
        </p:nvSpPr>
        <p:spPr>
          <a:xfrm>
            <a:off x="890872" y="344920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05BE487A-EE0C-7027-8052-DEFA65E0A97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145" y="2313175"/>
            <a:ext cx="699076" cy="6901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826475"/>
      </p:ext>
    </p:extLst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62F9807-5AEF-8D80-6311-45C5000B22FB}"/>
              </a:ext>
            </a:extLst>
          </p:cNvPr>
          <p:cNvSpPr txBox="1"/>
          <p:nvPr/>
        </p:nvSpPr>
        <p:spPr>
          <a:xfrm>
            <a:off x="-69798" y="3164294"/>
            <a:ext cx="2521844" cy="532316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ICN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124.52(125.72) - 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FUK 127.5 - TPE 125.5 – 126.7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129.1 - HKG RDR 121.3 – 126.5 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122.0 – Final 119.1 – 119.35</a:t>
            </a:r>
          </a:p>
        </p:txBody>
      </p:sp>
      <p:graphicFrame>
        <p:nvGraphicFramePr>
          <p:cNvPr id="291" name="Google Shape;291;p18"/>
          <p:cNvGraphicFramePr/>
          <p:nvPr>
            <p:extLst>
              <p:ext uri="{D42A27DB-BD31-4B8C-83A1-F6EECF244321}">
                <p14:modId xmlns:p14="http://schemas.microsoft.com/office/powerpoint/2010/main" val="4157552187"/>
              </p:ext>
            </p:extLst>
          </p:nvPr>
        </p:nvGraphicFramePr>
        <p:xfrm>
          <a:off x="0" y="635155"/>
          <a:ext cx="2332925" cy="251833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91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17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69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21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254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10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176621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SID (33/34 NADP 1, 15/16 NADP 2)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0521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BOPTA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xA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0521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BOPTA </a:t>
                      </a:r>
                      <a:r>
                        <a:rPr lang="en-US" sz="800" dirty="0" err="1"/>
                        <a:t>xY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60521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BOPTA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xC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60521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BOPTA </a:t>
                      </a:r>
                      <a:r>
                        <a:rPr lang="en-US" sz="800" dirty="0" err="1"/>
                        <a:t>xH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61443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NCN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113.8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33L 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15L 111.9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15R 109.1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61443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WNG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112.9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109.95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110.35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108.55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61443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33L/R : NC05L/R,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YJU R271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34L/R : EO34L/R,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YJU R271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60521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33L/R 34L(23’)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458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15L/R 16R(23’)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60521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34R (23’)</a:t>
                      </a:r>
                      <a:endParaRPr sz="458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60521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Parallel TWY 10KTS </a:t>
                      </a:r>
                      <a:r>
                        <a:rPr lang="en-US" sz="800" dirty="0" err="1"/>
                        <a:t>이상</a:t>
                      </a:r>
                      <a:r>
                        <a:rPr lang="en-US" sz="800" dirty="0"/>
                        <a:t>(R17 MAX 15kts)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292" name="Google Shape;292;p18"/>
          <p:cNvGraphicFramePr/>
          <p:nvPr>
            <p:extLst>
              <p:ext uri="{D42A27DB-BD31-4B8C-83A1-F6EECF244321}">
                <p14:modId xmlns:p14="http://schemas.microsoft.com/office/powerpoint/2010/main" val="4201029949"/>
              </p:ext>
            </p:extLst>
          </p:nvPr>
        </p:nvGraphicFramePr>
        <p:xfrm>
          <a:off x="4472" y="3700084"/>
          <a:ext cx="2351640" cy="1842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1065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965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9171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6586">
                  <a:extLst>
                    <a:ext uri="{9D8B030D-6E8A-4147-A177-3AD203B41FA5}">
                      <a16:colId xmlns:a16="http://schemas.microsoft.com/office/drawing/2014/main" val="2302053776"/>
                    </a:ext>
                  </a:extLst>
                </a:gridCol>
                <a:gridCol w="74609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57788">
                <a:tc gridSpan="5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HKG : </a:t>
                      </a:r>
                      <a:r>
                        <a:rPr lang="en-US" sz="800" dirty="0">
                          <a:solidFill>
                            <a:srgbClr val="FFC000"/>
                          </a:solidFill>
                        </a:rPr>
                        <a:t>Terminal Tx RTE + STAR Chart </a:t>
                      </a:r>
                      <a:r>
                        <a:rPr lang="en-US" sz="800" dirty="0">
                          <a:solidFill>
                            <a:schemeClr val="bg1"/>
                          </a:solidFill>
                        </a:rPr>
                        <a:t>(TL110)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0" dirty="0">
                          <a:solidFill>
                            <a:srgbClr val="C00000"/>
                          </a:solidFill>
                        </a:rPr>
                        <a:t>ENPET FL260, </a:t>
                      </a:r>
                      <a:r>
                        <a:rPr lang="en-US" sz="800" b="0" dirty="0">
                          <a:solidFill>
                            <a:srgbClr val="FFC000"/>
                          </a:solidFill>
                        </a:rPr>
                        <a:t>RWY25R After TOPUN - </a:t>
                      </a:r>
                      <a:r>
                        <a:rPr lang="en-US" sz="800" b="1" dirty="0">
                          <a:solidFill>
                            <a:srgbClr val="FFC000"/>
                          </a:solidFill>
                        </a:rPr>
                        <a:t>APP Mode</a:t>
                      </a:r>
                      <a:endParaRPr sz="800" b="0" dirty="0">
                        <a:solidFill>
                          <a:srgbClr val="C00000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7476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07L</a:t>
                      </a:r>
                      <a:r>
                        <a:rPr lang="en-US" sz="800" b="0" dirty="0"/>
                        <a:t>(R)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ABBEY </a:t>
                      </a:r>
                      <a:r>
                        <a:rPr lang="en-US" sz="800" b="1" dirty="0" err="1"/>
                        <a:t>xxA</a:t>
                      </a:r>
                      <a:endParaRPr lang="en-US" sz="800" b="1"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SIERA </a:t>
                      </a:r>
                      <a:r>
                        <a:rPr lang="en-US" sz="800" b="1" dirty="0" err="1"/>
                        <a:t>xxA</a:t>
                      </a:r>
                      <a:r>
                        <a:rPr lang="en-US" sz="800" b="1" dirty="0"/>
                        <a:t>/C</a:t>
                      </a:r>
                    </a:p>
                  </a:txBody>
                  <a:tcPr marL="36000" marR="36000" marT="0" marB="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LIMES</a:t>
                      </a:r>
                      <a:endParaRPr sz="800" b="1" dirty="0"/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07L</a:t>
                      </a:r>
                      <a:r>
                        <a:rPr lang="en-US" sz="800" b="0" dirty="0"/>
                        <a:t>(R)</a:t>
                      </a: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42833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25R</a:t>
                      </a:r>
                      <a:r>
                        <a:rPr lang="en-US" sz="800" b="0" dirty="0"/>
                        <a:t>(L)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/>
                        <a:t>ABBEY </a:t>
                      </a:r>
                      <a:r>
                        <a:rPr lang="en-US" altLang="ko-Kore-KR" sz="800" b="1" dirty="0" err="1"/>
                        <a:t>xxB</a:t>
                      </a:r>
                      <a:endParaRPr lang="en-US" altLang="ko-Kore-KR" sz="800" b="1"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/>
                        <a:t>SIERA </a:t>
                      </a:r>
                      <a:r>
                        <a:rPr lang="en-US" altLang="ko-Kore-KR" sz="800" b="1" dirty="0" err="1"/>
                        <a:t>xxB</a:t>
                      </a:r>
                      <a:r>
                        <a:rPr lang="en-US" altLang="ko-Kore-KR" sz="800" b="1" dirty="0"/>
                        <a:t>/D</a:t>
                      </a:r>
                    </a:p>
                  </a:txBody>
                  <a:tcPr marL="36000" marR="36000" marT="0" marB="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TD</a:t>
                      </a:r>
                      <a:endParaRPr sz="800" b="1" dirty="0"/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RNAV </a:t>
                      </a:r>
                      <a:r>
                        <a:rPr lang="en-US" sz="800" b="1" dirty="0" err="1">
                          <a:solidFill>
                            <a:srgbClr val="C00000"/>
                          </a:solidFill>
                        </a:rPr>
                        <a:t>tx</a:t>
                      </a:r>
                      <a:r>
                        <a:rPr lang="en-US" sz="800" b="1" dirty="0"/>
                        <a:t> ILS 25R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25L</a:t>
                      </a: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9095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07L(23’)         11896’ </a:t>
                      </a: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DIS TH</a:t>
                      </a: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        25R (23’)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49095">
                <a:tc v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07R(27’) 11942’ </a:t>
                      </a: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DIS TH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ore-KR" sz="800" b="1" dirty="0">
                          <a:solidFill>
                            <a:srgbClr val="00B050"/>
                          </a:solidFill>
                        </a:rPr>
                        <a:t>12467’     25L(27’)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42833">
                <a:tc gridSpan="5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07L : C7(5882’), C8(7194’),   25R : C6(5882’), C5(7211’)</a:t>
                      </a:r>
                      <a:endParaRPr sz="800" dirty="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07R : J7(6916’), J8(7998’),     25L : J5(6916’), J4(8192’)</a:t>
                      </a:r>
                      <a:r>
                        <a:rPr lang="en-US" sz="800" dirty="0">
                          <a:solidFill>
                            <a:schemeClr val="dk1"/>
                          </a:solidFill>
                        </a:rPr>
                        <a:t> 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4811">
                <a:tc gridSpan="5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Confirm Chart SPD vs ATC SPD (ATC First)</a:t>
                      </a:r>
                      <a:endParaRPr lang="en-US" altLang="ko-KR" sz="800" b="1" dirty="0">
                        <a:solidFill>
                          <a:srgbClr val="C00000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 err="1">
                          <a:solidFill>
                            <a:srgbClr val="0070C0"/>
                          </a:solidFill>
                        </a:rPr>
                        <a:t>xxR</a:t>
                      </a:r>
                      <a:r>
                        <a:rPr lang="en-US" sz="800" dirty="0">
                          <a:solidFill>
                            <a:srgbClr val="0070C0"/>
                          </a:solidFill>
                        </a:rPr>
                        <a:t> Dash Line for B737, APU BAN off Procedure</a:t>
                      </a:r>
                      <a:endParaRPr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293" name="Google Shape;293;p18"/>
          <p:cNvGraphicFramePr/>
          <p:nvPr>
            <p:extLst>
              <p:ext uri="{D42A27DB-BD31-4B8C-83A1-F6EECF244321}">
                <p14:modId xmlns:p14="http://schemas.microsoft.com/office/powerpoint/2010/main" val="69290036"/>
              </p:ext>
            </p:extLst>
          </p:nvPr>
        </p:nvGraphicFramePr>
        <p:xfrm>
          <a:off x="-2501" y="16504"/>
          <a:ext cx="2328850" cy="62454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VHHH(HKG) 28ft</a:t>
                      </a:r>
                      <a:endParaRPr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KE ICN 131.5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600"/>
                        <a:buFont typeface="Calibri"/>
                        <a:buNone/>
                      </a:pPr>
                      <a:r>
                        <a:rPr lang="en-US" sz="60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-10분 TOBT 5분 차이시 CTC Comm</a:t>
                      </a:r>
                      <a:endParaRPr sz="90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HAS FLT Dispatch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131.6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2F249E7A-A45C-54A1-0C09-872C49733B6D}"/>
              </a:ext>
            </a:extLst>
          </p:cNvPr>
          <p:cNvSpPr/>
          <p:nvPr/>
        </p:nvSpPr>
        <p:spPr>
          <a:xfrm>
            <a:off x="1674227" y="3413218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8E0FC5CB-5405-69E2-6AEE-ED1D46C77F25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823279018"/>
      </p:ext>
    </p:extLst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>
            <a:extLst>
              <a:ext uri="{FF2B5EF4-FFF2-40B4-BE49-F238E27FC236}">
                <a16:creationId xmlns:a16="http://schemas.microsoft.com/office/drawing/2014/main" id="{ACE50AE8-CC83-E9FB-37A0-3FD0CCE99F9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8111" y="2490164"/>
            <a:ext cx="756864" cy="628119"/>
          </a:xfrm>
          <a:prstGeom prst="rect">
            <a:avLst/>
          </a:prstGeom>
        </p:spPr>
      </p:pic>
      <p:graphicFrame>
        <p:nvGraphicFramePr>
          <p:cNvPr id="117" name="Google Shape;117;p3"/>
          <p:cNvGraphicFramePr/>
          <p:nvPr>
            <p:extLst>
              <p:ext uri="{D42A27DB-BD31-4B8C-83A1-F6EECF244321}">
                <p14:modId xmlns:p14="http://schemas.microsoft.com/office/powerpoint/2010/main" val="2380361153"/>
              </p:ext>
            </p:extLst>
          </p:nvPr>
        </p:nvGraphicFramePr>
        <p:xfrm>
          <a:off x="7175" y="707276"/>
          <a:ext cx="2300931" cy="1798702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2718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41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470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1447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153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1400">
                  <a:extLst>
                    <a:ext uri="{9D8B030D-6E8A-4147-A177-3AD203B41FA5}">
                      <a16:colId xmlns:a16="http://schemas.microsoft.com/office/drawing/2014/main" val="2940550374"/>
                    </a:ext>
                  </a:extLst>
                </a:gridCol>
                <a:gridCol w="9918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876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46589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314761">
                  <a:extLst>
                    <a:ext uri="{9D8B030D-6E8A-4147-A177-3AD203B41FA5}">
                      <a16:colId xmlns:a16="http://schemas.microsoft.com/office/drawing/2014/main" val="448940902"/>
                    </a:ext>
                  </a:extLst>
                </a:gridCol>
              </a:tblGrid>
              <a:tr h="398225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HKG : SID + </a:t>
                      </a:r>
                      <a:r>
                        <a:rPr lang="en-US" sz="800" u="none" strike="noStrike" cap="none" dirty="0">
                          <a:solidFill>
                            <a:srgbClr val="FFC000"/>
                          </a:solidFill>
                        </a:rPr>
                        <a:t>Terminal Tx RTE Chart</a:t>
                      </a:r>
                      <a:r>
                        <a:rPr lang="en-US" sz="800" u="none" strike="noStrike" cap="none" dirty="0"/>
                        <a:t> TA 9000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>
                          <a:solidFill>
                            <a:srgbClr val="FFC000"/>
                          </a:solidFill>
                        </a:rPr>
                        <a:t>NADP2 : 1000 SPD INTV (Vzf+10~20kts), 1500 CLB TH 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b="0" u="none" strike="noStrike" cap="none" dirty="0">
                          <a:solidFill>
                            <a:schemeClr val="bg1"/>
                          </a:solidFill>
                        </a:rPr>
                        <a:t>(NADP 1/2 for 07L/R)</a:t>
                      </a:r>
                      <a:endParaRPr sz="700" b="0" u="none" strike="noStrike" cap="none" dirty="0">
                        <a:solidFill>
                          <a:schemeClr val="bg1"/>
                        </a:solidFill>
                      </a:endParaRPr>
                    </a:p>
                  </a:txBody>
                  <a:tcPr marL="36000" marR="7200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4579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07L</a:t>
                      </a:r>
                      <a:r>
                        <a:rPr lang="en-US" sz="800" b="0" u="none" strike="noStrike" cap="none" dirty="0"/>
                        <a:t>(R)</a:t>
                      </a:r>
                      <a:endParaRPr sz="800" b="0" u="none" strike="noStrike" cap="none" dirty="0"/>
                    </a:p>
                  </a:txBody>
                  <a:tcPr marL="0" marR="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OCEAN </a:t>
                      </a:r>
                      <a:r>
                        <a:rPr lang="en-US" sz="800" b="1" u="none" strike="noStrike" cap="none" dirty="0" err="1">
                          <a:solidFill>
                            <a:srgbClr val="0070C0"/>
                          </a:solidFill>
                        </a:rPr>
                        <a:t>xxE</a:t>
                      </a:r>
                      <a:r>
                        <a:rPr lang="en-US" sz="800" b="0" u="none" strike="noStrike" cap="none" dirty="0">
                          <a:solidFill>
                            <a:srgbClr val="0070C0"/>
                          </a:solidFill>
                        </a:rPr>
                        <a:t>(A)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>
                          <a:solidFill>
                            <a:srgbClr val="0070C0"/>
                          </a:solidFill>
                        </a:rPr>
                        <a:t>(RASSE </a:t>
                      </a:r>
                      <a:r>
                        <a:rPr lang="en-US" sz="800" b="0" u="none" strike="noStrike" cap="none" dirty="0" err="1">
                          <a:solidFill>
                            <a:srgbClr val="0070C0"/>
                          </a:solidFill>
                        </a:rPr>
                        <a:t>xxZ</a:t>
                      </a:r>
                      <a:r>
                        <a:rPr lang="en-US" sz="800" b="0" u="none" strike="noStrike" cap="none" dirty="0">
                          <a:solidFill>
                            <a:srgbClr val="0070C0"/>
                          </a:solidFill>
                        </a:rPr>
                        <a:t>/X)</a:t>
                      </a:r>
                      <a:endParaRPr sz="800" b="0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074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074</a:t>
                      </a:r>
                      <a:endParaRPr sz="800" b="1" u="none" strike="noStrike" cap="none" dirty="0"/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5000</a:t>
                      </a:r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074</a:t>
                      </a:r>
                      <a:endParaRPr lang="ko-Kore-KR" altLang="en-US" dirty="0"/>
                    </a:p>
                  </a:txBody>
                  <a:tcPr marL="0" marR="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74727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25R</a:t>
                      </a:r>
                      <a:r>
                        <a:rPr lang="en-US" sz="800" b="0" u="none" strike="noStrike" cap="none" dirty="0"/>
                        <a:t>(L)</a:t>
                      </a:r>
                      <a:endParaRPr sz="800" b="0" u="none" strike="noStrike" cap="none" dirty="0"/>
                    </a:p>
                  </a:txBody>
                  <a:tcPr marL="0" marR="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OCEAN </a:t>
                      </a:r>
                      <a:r>
                        <a:rPr lang="en-US" altLang="ko-Kore-KR" sz="800" b="1" u="none" strike="noStrike" cap="none" dirty="0" err="1">
                          <a:solidFill>
                            <a:srgbClr val="0070C0"/>
                          </a:solidFill>
                        </a:rPr>
                        <a:t>xxB</a:t>
                      </a:r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/F</a:t>
                      </a: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254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254</a:t>
                      </a:r>
                      <a:endParaRPr sz="800" b="1" u="none" strike="noStrike" cap="none" dirty="0"/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5000</a:t>
                      </a:r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254</a:t>
                      </a:r>
                      <a:endParaRPr lang="ko-Kore-KR" altLang="en-US" dirty="0"/>
                    </a:p>
                  </a:txBody>
                  <a:tcPr marL="0" marR="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9706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SMT 114.8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07L 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111.5</a:t>
                      </a:r>
                      <a:endParaRPr dirty="0"/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25R 108.75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07R 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110.9</a:t>
                      </a:r>
                      <a:endParaRPr dirty="0"/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25L 110.9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74727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0" marR="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07R/L(27’/23’) </a:t>
                      </a: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12467’</a:t>
                      </a: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25L/R(27’/23’)</a:t>
                      </a: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92242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lt1"/>
                          </a:solidFill>
                        </a:rPr>
                        <a:t>E. O</a:t>
                      </a: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0" marR="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8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u="none" strike="noStrike" cap="none" dirty="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07L(R) : LKC R105(SMT /3), LKC105/9.5 R185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u="none" strike="noStrike" cap="none" dirty="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25R(L) : ITFR(ITFL)254/10, R156</a:t>
                      </a: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800" b="1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800" b="1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54822849"/>
                  </a:ext>
                </a:extLst>
              </a:tr>
              <a:tr h="165372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SID – Tx RTE Chart Many SPD Restriction</a:t>
                      </a: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119" name="Google Shape;119;p3"/>
          <p:cNvGraphicFramePr/>
          <p:nvPr>
            <p:extLst>
              <p:ext uri="{D42A27DB-BD31-4B8C-83A1-F6EECF244321}">
                <p14:modId xmlns:p14="http://schemas.microsoft.com/office/powerpoint/2010/main" val="836173499"/>
              </p:ext>
            </p:extLst>
          </p:nvPr>
        </p:nvGraphicFramePr>
        <p:xfrm>
          <a:off x="-2501" y="16504"/>
          <a:ext cx="2328850" cy="68129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VHHH(HKG) 28ft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5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HAS FLT </a:t>
                      </a:r>
                      <a:r>
                        <a:rPr lang="en-US" sz="900" dirty="0" err="1"/>
                        <a:t>Disp</a:t>
                      </a:r>
                      <a:r>
                        <a:rPr lang="en-US" sz="900" dirty="0"/>
                        <a:t> 131.6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dirty="0">
                          <a:solidFill>
                            <a:srgbClr val="FF0000"/>
                          </a:solidFill>
                        </a:rPr>
                        <a:t>DCL 20</a:t>
                      </a:r>
                      <a:r>
                        <a:rPr lang="ko-KR" altLang="en-US" sz="700" dirty="0">
                          <a:solidFill>
                            <a:srgbClr val="FF0000"/>
                          </a:solidFill>
                        </a:rPr>
                        <a:t>분전</a:t>
                      </a:r>
                      <a:endParaRPr lang="en-US" altLang="ko-KR" sz="700" dirty="0">
                        <a:solidFill>
                          <a:srgbClr val="FF0000"/>
                        </a:solidFill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dirty="0">
                          <a:solidFill>
                            <a:srgbClr val="FF0000"/>
                          </a:solidFill>
                        </a:rPr>
                        <a:t>5</a:t>
                      </a:r>
                      <a:r>
                        <a:rPr lang="ko-KR" altLang="en-US" sz="700" dirty="0">
                          <a:solidFill>
                            <a:srgbClr val="FF0000"/>
                          </a:solidFill>
                        </a:rPr>
                        <a:t>분 차이시 </a:t>
                      </a:r>
                      <a:r>
                        <a:rPr lang="en-US" altLang="ko-KR" sz="700" dirty="0">
                          <a:solidFill>
                            <a:srgbClr val="FF0000"/>
                          </a:solidFill>
                        </a:rPr>
                        <a:t>CTC Comm</a:t>
                      </a:r>
                      <a:endParaRPr sz="700" dirty="0">
                        <a:solidFill>
                          <a:srgbClr val="FF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7BA009CD-0CE1-2081-CE8C-F9EB8DF1D6DE}"/>
              </a:ext>
            </a:extLst>
          </p:cNvPr>
          <p:cNvSpPr txBox="1"/>
          <p:nvPr/>
        </p:nvSpPr>
        <p:spPr>
          <a:xfrm>
            <a:off x="794992" y="2499092"/>
            <a:ext cx="1498808" cy="782778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HKG DEP 123.8 – RDR 118.925 </a:t>
            </a:r>
            <a:endParaRPr kumimoji="1" lang="en-US" altLang="ko-Kore-KR" sz="700" b="1" u="sng" dirty="0">
              <a:solidFill>
                <a:srgbClr val="C0000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TPE 129.1 – 126.7 – 123.6 – 125.5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FUK 127.5 -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ICN 125.725(124.52)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ICN - 120.72 – 126.17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APP – 119.75</a:t>
            </a:r>
            <a:endParaRPr kumimoji="1" lang="ko-Kore-KR" altLang="en-US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graphicFrame>
        <p:nvGraphicFramePr>
          <p:cNvPr id="5" name="Google Shape;303;p19">
            <a:extLst>
              <a:ext uri="{FF2B5EF4-FFF2-40B4-BE49-F238E27FC236}">
                <a16:creationId xmlns:a16="http://schemas.microsoft.com/office/drawing/2014/main" id="{9A6F36E3-64E2-A97B-D85E-56AC20DB6603}"/>
              </a:ext>
            </a:extLst>
          </p:cNvPr>
          <p:cNvGraphicFramePr/>
          <p:nvPr/>
        </p:nvGraphicFramePr>
        <p:xfrm>
          <a:off x="1119" y="3405664"/>
          <a:ext cx="2325975" cy="2130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59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3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55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774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STAR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33/34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</a:t>
                      </a:r>
                      <a:r>
                        <a:rPr lang="en-US" sz="800" b="1" dirty="0" err="1"/>
                        <a:t>xE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ENPIL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180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15/16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</a:t>
                      </a:r>
                      <a:r>
                        <a:rPr lang="en-US" sz="800" b="1" dirty="0" err="1"/>
                        <a:t>xH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MUNAN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180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285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33L/R 34L(23’)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15L/R 16R(23’)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285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34R(23’)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13123’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16L(23’)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64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FIX</a:t>
                      </a:r>
                      <a:endParaRPr/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RWY /8, /5 , YJU R271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C4(7529’),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C5(8513’), 33L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: B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7563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8513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C2(7522’),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C1(8536’), 15R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B3(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7454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B2(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8641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P7(5600’),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P8(6578’), 34R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N4(6876’),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N5(8507‘)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P6(5597’),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P5(6574’), 16L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N3(7043‘),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N2(8444‘)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01600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8NM 180kts, 5NM 160kts, Parr TAXI 10kts이상,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HIRO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3" name="직사각형 2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857B720D-0D1B-9121-09AB-6FDEA1F31352}"/>
              </a:ext>
            </a:extLst>
          </p:cNvPr>
          <p:cNvSpPr/>
          <p:nvPr/>
        </p:nvSpPr>
        <p:spPr>
          <a:xfrm>
            <a:off x="1657574" y="3099745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E5BD0A1F-222D-F256-6A70-D874149F410B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851151187"/>
      </p:ext>
    </p:extLst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62F9807-5AEF-8D80-6311-45C5000B22FB}"/>
              </a:ext>
            </a:extLst>
          </p:cNvPr>
          <p:cNvSpPr txBox="1"/>
          <p:nvPr/>
        </p:nvSpPr>
        <p:spPr>
          <a:xfrm>
            <a:off x="-55838" y="3192214"/>
            <a:ext cx="1887055" cy="532316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125.15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132.8 – DLC 132.95</a:t>
            </a:r>
            <a:endParaRPr kumimoji="1" lang="en-US" altLang="ko-Kore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TAO 133.72 – 128.15 – PEK 125.6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TSN APP 119.27 – </a:t>
            </a:r>
            <a:r>
              <a:rPr kumimoji="1" lang="en-US" altLang="ko-Kore-KR" sz="700" b="1" u="sng" dirty="0">
                <a:solidFill>
                  <a:srgbClr val="FF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TWR 118.425(130.0)</a:t>
            </a:r>
          </a:p>
        </p:txBody>
      </p:sp>
      <p:graphicFrame>
        <p:nvGraphicFramePr>
          <p:cNvPr id="291" name="Google Shape;291;p18"/>
          <p:cNvGraphicFramePr/>
          <p:nvPr>
            <p:extLst>
              <p:ext uri="{D42A27DB-BD31-4B8C-83A1-F6EECF244321}">
                <p14:modId xmlns:p14="http://schemas.microsoft.com/office/powerpoint/2010/main" val="1065032155"/>
              </p:ext>
            </p:extLst>
          </p:nvPr>
        </p:nvGraphicFramePr>
        <p:xfrm>
          <a:off x="0" y="628907"/>
          <a:ext cx="2332925" cy="256021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91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17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69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21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254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10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15930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SID (33/34 NADP 1, 15/16 NADP 2)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5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NOPIK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xA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NOPIK </a:t>
                      </a:r>
                      <a:r>
                        <a:rPr lang="en-US" sz="800" dirty="0" err="1"/>
                        <a:t>xY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BINIL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xC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BINIL </a:t>
                      </a:r>
                      <a:r>
                        <a:rPr lang="en-US" sz="800" dirty="0" err="1"/>
                        <a:t>xH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NCN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113.8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33L 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33R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108.9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15L 111.9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15R 109.1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WNG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112.9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109.95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110.35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108.55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580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33L/R : NC05L/R,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P518 R068, R278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34L/R : EO34L/R,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ore-KR" sz="800" dirty="0"/>
                        <a:t>P518 R068, R278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44775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33L/R 34L(23’)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15L/R 16R(23’)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4477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34R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44775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Parallel TWY 10KTS </a:t>
                      </a:r>
                      <a:r>
                        <a:rPr lang="en-US" sz="800" dirty="0" err="1"/>
                        <a:t>이상</a:t>
                      </a:r>
                      <a:r>
                        <a:rPr lang="en-US" sz="800" dirty="0"/>
                        <a:t>(R17 MAX 15kts)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292" name="Google Shape;292;p18"/>
          <p:cNvGraphicFramePr/>
          <p:nvPr>
            <p:extLst>
              <p:ext uri="{D42A27DB-BD31-4B8C-83A1-F6EECF244321}">
                <p14:modId xmlns:p14="http://schemas.microsoft.com/office/powerpoint/2010/main" val="2374449695"/>
              </p:ext>
            </p:extLst>
          </p:nvPr>
        </p:nvGraphicFramePr>
        <p:xfrm>
          <a:off x="4472" y="3705689"/>
          <a:ext cx="2333879" cy="1897901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7617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9041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704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9684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86821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TSN : STAR </a:t>
                      </a:r>
                      <a:r>
                        <a:rPr lang="en-US" sz="800" dirty="0">
                          <a:solidFill>
                            <a:schemeClr val="accent4"/>
                          </a:solidFill>
                        </a:rPr>
                        <a:t>(Missed App 1970’ Initially)</a:t>
                      </a:r>
                      <a:endParaRPr sz="800" b="0" dirty="0">
                        <a:solidFill>
                          <a:schemeClr val="accent4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654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16L</a:t>
                      </a:r>
                      <a:r>
                        <a:rPr lang="en-US" sz="800" b="0" dirty="0"/>
                        <a:t>/16R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DUMAP </a:t>
                      </a:r>
                      <a:r>
                        <a:rPr lang="en-US" sz="800" b="1" dirty="0" err="1"/>
                        <a:t>xYA</a:t>
                      </a:r>
                      <a:r>
                        <a:rPr lang="en-US" sz="800" b="1" dirty="0"/>
                        <a:t>/ZA</a:t>
                      </a: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TJ960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TJ919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16L</a:t>
                      </a:r>
                      <a:r>
                        <a:rPr lang="en-US" sz="800" b="0" dirty="0"/>
                        <a:t>/16R</a:t>
                      </a: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654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34R</a:t>
                      </a:r>
                      <a:r>
                        <a:rPr lang="en-US" sz="800" b="0" dirty="0"/>
                        <a:t>/34L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/>
                        <a:t>DUMAP </a:t>
                      </a:r>
                      <a:r>
                        <a:rPr lang="en-US" altLang="ko-Kore-KR" sz="800" b="1" dirty="0" err="1"/>
                        <a:t>xZA</a:t>
                      </a:r>
                      <a:endParaRPr lang="en-US" altLang="ko-Kore-KR"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TJ840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TJ820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34R</a:t>
                      </a:r>
                      <a:r>
                        <a:rPr lang="en-US" altLang="ko-Kore-KR" sz="800" b="0" dirty="0"/>
                        <a:t>/34L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69791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16L(4’)          10499’         34R(5’)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69791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FF0000"/>
                          </a:solidFill>
                        </a:rPr>
                        <a:t>DIS TH</a:t>
                      </a:r>
                      <a:r>
                        <a:rPr lang="en-US" sz="800" b="0" dirty="0">
                          <a:solidFill>
                            <a:srgbClr val="00B050"/>
                          </a:solidFill>
                        </a:rPr>
                        <a:t> 16R(5’)    10499’/11811’    34L(6’)     </a:t>
                      </a:r>
                      <a:endParaRPr sz="800" b="0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69791">
                <a:tc gridSpan="4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FIX : </a:t>
                      </a:r>
                      <a:r>
                        <a:rPr kumimoji="0" lang="en-US" altLang="ko-Kore-KR" sz="800" b="0" i="0" u="none" strike="noStrike" kern="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RWxx</a:t>
                      </a: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 /8</a:t>
                      </a:r>
                      <a:endParaRPr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01193734"/>
                  </a:ext>
                </a:extLst>
              </a:tr>
              <a:tr h="276540">
                <a:tc gridSpan="4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16L :W3(6269’),W2(9809’), 34R :W7(6443’),W8(7591’)</a:t>
                      </a:r>
                      <a:endParaRPr sz="800" b="1" dirty="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dirty="0">
                          <a:solidFill>
                            <a:schemeClr val="dk1"/>
                          </a:solidFill>
                        </a:rPr>
                        <a:t>16R :B4(5177’),B3(7191’), 34L :B5(5183’),B6(7201’)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 </a:t>
                      </a:r>
                      <a:endParaRPr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5251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Follow me car on D, TAXI SPD Max 27kts</a:t>
                      </a:r>
                      <a:endParaRPr lang="en-US" altLang="ko-KR" sz="800" dirty="0"/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293" name="Google Shape;293;p18"/>
          <p:cNvGraphicFramePr/>
          <p:nvPr>
            <p:extLst>
              <p:ext uri="{D42A27DB-BD31-4B8C-83A1-F6EECF244321}">
                <p14:modId xmlns:p14="http://schemas.microsoft.com/office/powerpoint/2010/main" val="2840082249"/>
              </p:ext>
            </p:extLst>
          </p:nvPr>
        </p:nvGraphicFramePr>
        <p:xfrm>
          <a:off x="-2501" y="16504"/>
          <a:ext cx="2328850" cy="62454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ZBTJ(TSN) 6ft</a:t>
                      </a:r>
                      <a:endParaRPr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600"/>
                        <a:buFont typeface="Calibri"/>
                        <a:buNone/>
                      </a:pPr>
                      <a:r>
                        <a:rPr lang="en-US" sz="600" dirty="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-10분 TOBT 5분 </a:t>
                      </a:r>
                      <a:r>
                        <a:rPr lang="en-US" sz="600" dirty="0" err="1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차이시</a:t>
                      </a:r>
                      <a:r>
                        <a:rPr lang="en-US" sz="600" dirty="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CTC Comm</a:t>
                      </a:r>
                      <a:endParaRPr sz="900" dirty="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Air China Tianjin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132.0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3A2CF453-B95D-2D55-3B07-D90D56DCEB3B}"/>
              </a:ext>
            </a:extLst>
          </p:cNvPr>
          <p:cNvSpPr/>
          <p:nvPr/>
        </p:nvSpPr>
        <p:spPr>
          <a:xfrm>
            <a:off x="1651787" y="3309466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CC8AB46B-539E-FFA8-5737-4E90D549BD61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325561079"/>
      </p:ext>
    </p:extLst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7" name="Google Shape;397;p3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1" y="-9795"/>
            <a:ext cx="2328863" cy="5064777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66ABCDBC-383F-5581-5E39-83905EACA8B3}"/>
              </a:ext>
            </a:extLst>
          </p:cNvPr>
          <p:cNvSpPr txBox="1"/>
          <p:nvPr/>
        </p:nvSpPr>
        <p:spPr>
          <a:xfrm>
            <a:off x="1278611" y="4006314"/>
            <a:ext cx="1031051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900" b="1" dirty="0">
                <a:solidFill>
                  <a:srgbClr val="0070C0"/>
                </a:solidFill>
              </a:rPr>
              <a:t>550M       1800ft</a:t>
            </a:r>
            <a:endParaRPr kumimoji="1" lang="ko-Kore-KR" altLang="en-US" sz="900" b="1" dirty="0">
              <a:solidFill>
                <a:srgbClr val="0070C0"/>
              </a:solidFill>
            </a:endParaRP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A9EEFEB8-F9E4-386F-27B1-F3014416BF74}"/>
              </a:ext>
            </a:extLst>
          </p:cNvPr>
          <p:cNvSpPr/>
          <p:nvPr/>
        </p:nvSpPr>
        <p:spPr>
          <a:xfrm>
            <a:off x="55571" y="3177666"/>
            <a:ext cx="1000283" cy="333428"/>
          </a:xfrm>
          <a:prstGeom prst="rect">
            <a:avLst/>
          </a:prstGeom>
          <a:noFill/>
          <a:ln w="3492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FC66845-A7AA-98C4-534C-70B808775E8B}"/>
              </a:ext>
            </a:extLst>
          </p:cNvPr>
          <p:cNvSpPr txBox="1"/>
          <p:nvPr/>
        </p:nvSpPr>
        <p:spPr>
          <a:xfrm>
            <a:off x="997707" y="3142302"/>
            <a:ext cx="330540" cy="41287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900" b="1" dirty="0">
                <a:solidFill>
                  <a:srgbClr val="0070C0"/>
                </a:solidFill>
              </a:rPr>
              <a:t>TL</a:t>
            </a:r>
          </a:p>
          <a:p>
            <a:pPr algn="dist">
              <a:lnSpc>
                <a:spcPct val="150000"/>
              </a:lnSpc>
            </a:pPr>
            <a:r>
              <a:rPr kumimoji="1" lang="en-US" altLang="ko-Kore-KR" sz="900" b="1" dirty="0">
                <a:solidFill>
                  <a:srgbClr val="0070C0"/>
                </a:solidFill>
              </a:rPr>
              <a:t>TA</a:t>
            </a:r>
            <a:endParaRPr kumimoji="1" lang="ko-Kore-KR" altLang="en-US" sz="900" b="1" dirty="0">
              <a:solidFill>
                <a:srgbClr val="0070C0"/>
              </a:solidFill>
            </a:endParaRPr>
          </a:p>
        </p:txBody>
      </p:sp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1FA0CAED-C5B8-22A0-6822-26CDA4767514}"/>
              </a:ext>
            </a:extLst>
          </p:cNvPr>
          <p:cNvSpPr/>
          <p:nvPr/>
        </p:nvSpPr>
        <p:spPr>
          <a:xfrm>
            <a:off x="847353" y="527797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344258019"/>
      </p:ext>
    </p:extLst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17" name="Google Shape;117;p3"/>
          <p:cNvGraphicFramePr/>
          <p:nvPr>
            <p:extLst>
              <p:ext uri="{D42A27DB-BD31-4B8C-83A1-F6EECF244321}">
                <p14:modId xmlns:p14="http://schemas.microsoft.com/office/powerpoint/2010/main" val="3601311078"/>
              </p:ext>
            </p:extLst>
          </p:nvPr>
        </p:nvGraphicFramePr>
        <p:xfrm>
          <a:off x="-3431" y="676135"/>
          <a:ext cx="2335723" cy="179257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0917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129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9011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7964">
                  <a:extLst>
                    <a:ext uri="{9D8B030D-6E8A-4147-A177-3AD203B41FA5}">
                      <a16:colId xmlns:a16="http://schemas.microsoft.com/office/drawing/2014/main" val="488815992"/>
                    </a:ext>
                  </a:extLst>
                </a:gridCol>
                <a:gridCol w="16752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1066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5565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211274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412058">
                  <a:extLst>
                    <a:ext uri="{9D8B030D-6E8A-4147-A177-3AD203B41FA5}">
                      <a16:colId xmlns:a16="http://schemas.microsoft.com/office/drawing/2014/main" val="448940902"/>
                    </a:ext>
                  </a:extLst>
                </a:gridCol>
              </a:tblGrid>
              <a:tr h="0">
                <a:tc gridSpan="9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TSN : SID (NADP 1)  </a:t>
                      </a:r>
                      <a:r>
                        <a:rPr lang="en-US" sz="800" u="none" strike="noStrike" cap="none" dirty="0">
                          <a:solidFill>
                            <a:schemeClr val="accent4"/>
                          </a:solidFill>
                        </a:rPr>
                        <a:t>Caution 600</a:t>
                      </a:r>
                      <a:r>
                        <a:rPr lang="en-US" altLang="ko-KR" sz="800" u="none" strike="noStrike" cap="none" dirty="0">
                          <a:solidFill>
                            <a:schemeClr val="accent4"/>
                          </a:solidFill>
                        </a:rPr>
                        <a:t>m Level Off – SPD Inc</a:t>
                      </a:r>
                      <a:endParaRPr lang="en-US" sz="800" u="none" strike="noStrike" cap="none" dirty="0">
                        <a:solidFill>
                          <a:schemeClr val="accent4"/>
                        </a:solidFill>
                      </a:endParaRPr>
                    </a:p>
                  </a:txBody>
                  <a:tcPr marL="36000" marR="7200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u="none" strike="noStrike" cap="none" dirty="0"/>
                        <a:t>16R</a:t>
                      </a:r>
                      <a:endParaRPr lang="en-US" sz="800" b="1" u="none" strike="noStrike" cap="none"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/>
                        <a:t>/16L</a:t>
                      </a:r>
                      <a:endParaRPr sz="800" b="0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MUGLO </a:t>
                      </a:r>
                      <a:r>
                        <a:rPr lang="en-US" sz="800" b="1" u="none" strike="noStrike" cap="none" dirty="0" err="1">
                          <a:solidFill>
                            <a:srgbClr val="0070C0"/>
                          </a:solidFill>
                        </a:rPr>
                        <a:t>xZD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>
                          <a:solidFill>
                            <a:srgbClr val="C00000"/>
                          </a:solidFill>
                        </a:rPr>
                        <a:t>161</a:t>
                      </a:r>
                      <a:endParaRPr lang="ko-Kore-KR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r>
                        <a:rPr lang="en-US" altLang="ko-Kore-KR" sz="800" b="1" u="none" strike="noStrike" cap="none">
                          <a:solidFill>
                            <a:srgbClr val="C00000"/>
                          </a:solidFill>
                        </a:rPr>
                        <a:t>161</a:t>
                      </a:r>
                      <a:endParaRPr lang="ko-Kore-KR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161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600m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ATC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900m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161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34L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/>
                        <a:t>/34R</a:t>
                      </a:r>
                      <a:endParaRPr sz="800" b="0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MUGLO </a:t>
                      </a:r>
                      <a:r>
                        <a:rPr lang="en-US" altLang="ko-Kore-KR" sz="800" b="1" u="none" strike="noStrike" cap="none" dirty="0" err="1">
                          <a:solidFill>
                            <a:srgbClr val="0070C0"/>
                          </a:solidFill>
                        </a:rPr>
                        <a:t>xZD</a:t>
                      </a:r>
                      <a:endParaRPr lang="en-US" altLang="ko-Kore-KR" sz="800" b="1" u="none" strike="noStrike" cap="none" dirty="0">
                        <a:solidFill>
                          <a:srgbClr val="0070C0"/>
                        </a:solidFill>
                      </a:endParaRPr>
                    </a:p>
                    <a:p>
                      <a:pPr algn="ctr"/>
                      <a:r>
                        <a:rPr lang="en-US" altLang="ko-Kore-KR" sz="800" b="0" u="none" strike="noStrike" cap="none" dirty="0" err="1">
                          <a:solidFill>
                            <a:srgbClr val="0070C0"/>
                          </a:solidFill>
                        </a:rPr>
                        <a:t>xYD</a:t>
                      </a:r>
                      <a:endParaRPr lang="en-US" altLang="ko-Kore-KR" sz="800" b="0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>
                          <a:solidFill>
                            <a:srgbClr val="C00000"/>
                          </a:solidFill>
                        </a:rPr>
                        <a:t>341</a:t>
                      </a:r>
                      <a:endParaRPr lang="en-US" altLang="ko-Kore-KR" sz="800" b="0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r>
                        <a:rPr lang="en-US" altLang="ko-Kore-KR" sz="800" b="1" u="none" strike="noStrike" cap="none">
                          <a:solidFill>
                            <a:srgbClr val="C00000"/>
                          </a:solidFill>
                        </a:rPr>
                        <a:t>341</a:t>
                      </a:r>
                      <a:endParaRPr lang="ko-Kore-KR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341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600m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ATC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900m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341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57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TAJ 112.1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16L 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109.7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34R 111.5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18L 109.3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16R 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110.9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34L 110.5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16R(5’) 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16L(4’)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endParaRPr lang="en-US" sz="800" b="0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11811’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10499</a:t>
                      </a:r>
                      <a:endParaRPr sz="800" b="1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34L(6’)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34R(5’)</a:t>
                      </a:r>
                      <a:endParaRPr sz="800" b="0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5700">
                <a:tc gridSpan="9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16R : Do not pass A11 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u="none" strike="noStrike" cap="none" dirty="0">
                          <a:solidFill>
                            <a:schemeClr val="tx1"/>
                          </a:solidFill>
                        </a:rPr>
                        <a:t>Confirm Parking Brake Release before Push back</a:t>
                      </a: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119" name="Google Shape;119;p3"/>
          <p:cNvGraphicFramePr/>
          <p:nvPr>
            <p:extLst>
              <p:ext uri="{D42A27DB-BD31-4B8C-83A1-F6EECF244321}">
                <p14:modId xmlns:p14="http://schemas.microsoft.com/office/powerpoint/2010/main" val="3515392825"/>
              </p:ext>
            </p:extLst>
          </p:nvPr>
        </p:nvGraphicFramePr>
        <p:xfrm>
          <a:off x="-2501" y="16504"/>
          <a:ext cx="2328850" cy="66605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ZBTJ(TSN) 6ft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Air China Tianjin 132.0</a:t>
                      </a:r>
                      <a:endParaRPr sz="1200"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dirty="0">
                          <a:solidFill>
                            <a:srgbClr val="FF0000"/>
                          </a:solidFill>
                        </a:rPr>
                        <a:t>DCL 30</a:t>
                      </a:r>
                      <a:r>
                        <a:rPr lang="ko-KR" altLang="en-US" sz="700" dirty="0">
                          <a:solidFill>
                            <a:srgbClr val="FF0000"/>
                          </a:solidFill>
                        </a:rPr>
                        <a:t>분전</a:t>
                      </a:r>
                      <a:r>
                        <a:rPr lang="en-US" altLang="ko-KR" sz="700" dirty="0">
                          <a:solidFill>
                            <a:srgbClr val="FF0000"/>
                          </a:solidFill>
                        </a:rPr>
                        <a:t>,</a:t>
                      </a:r>
                      <a:r>
                        <a:rPr lang="ko-KR" altLang="en-US" sz="700" dirty="0">
                          <a:solidFill>
                            <a:srgbClr val="FF0000"/>
                          </a:solidFill>
                        </a:rPr>
                        <a:t> </a:t>
                      </a:r>
                      <a:r>
                        <a:rPr lang="en-US" altLang="ko-KR" sz="700" dirty="0">
                          <a:solidFill>
                            <a:srgbClr val="FF0000"/>
                          </a:solidFill>
                        </a:rPr>
                        <a:t>Voice 10</a:t>
                      </a:r>
                      <a:r>
                        <a:rPr lang="ko-KR" altLang="en-US" sz="700" dirty="0">
                          <a:solidFill>
                            <a:srgbClr val="FF0000"/>
                          </a:solidFill>
                        </a:rPr>
                        <a:t>분전</a:t>
                      </a:r>
                      <a:endParaRPr lang="en-US" altLang="ko-KR" sz="700" dirty="0">
                        <a:solidFill>
                          <a:srgbClr val="FF0000"/>
                        </a:solidFill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700" dirty="0">
                          <a:solidFill>
                            <a:srgbClr val="FF0000"/>
                          </a:solidFill>
                        </a:rPr>
                        <a:t>(Read Back!)</a:t>
                      </a:r>
                      <a:endParaRPr sz="700" dirty="0">
                        <a:solidFill>
                          <a:srgbClr val="FF0000"/>
                        </a:solidFill>
                      </a:endParaRPr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7BA009CD-0CE1-2081-CE8C-F9EB8DF1D6DE}"/>
              </a:ext>
            </a:extLst>
          </p:cNvPr>
          <p:cNvSpPr txBox="1"/>
          <p:nvPr/>
        </p:nvSpPr>
        <p:spPr>
          <a:xfrm>
            <a:off x="20971" y="2439767"/>
            <a:ext cx="1226618" cy="855482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119.27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PEK 125.6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DLC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123.2 – 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132.95</a:t>
            </a:r>
            <a:endParaRPr kumimoji="1" lang="en-US" altLang="ko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ICN 132.8 – APP 119.75</a:t>
            </a:r>
          </a:p>
          <a:p>
            <a:pPr>
              <a:lnSpc>
                <a:spcPct val="150000"/>
              </a:lnSpc>
            </a:pPr>
            <a:endParaRPr kumimoji="1" lang="en-US" altLang="ko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graphicFrame>
        <p:nvGraphicFramePr>
          <p:cNvPr id="5" name="Google Shape;303;p19">
            <a:extLst>
              <a:ext uri="{FF2B5EF4-FFF2-40B4-BE49-F238E27FC236}">
                <a16:creationId xmlns:a16="http://schemas.microsoft.com/office/drawing/2014/main" id="{9A6F36E3-64E2-A97B-D85E-56AC20DB6603}"/>
              </a:ext>
            </a:extLst>
          </p:cNvPr>
          <p:cNvGraphicFramePr/>
          <p:nvPr/>
        </p:nvGraphicFramePr>
        <p:xfrm>
          <a:off x="1119" y="3405664"/>
          <a:ext cx="2325975" cy="2130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59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3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55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774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STAR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33/34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</a:t>
                      </a:r>
                      <a:r>
                        <a:rPr lang="en-US" sz="800" b="1" dirty="0" err="1"/>
                        <a:t>xA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PAMBI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170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15/16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</a:t>
                      </a:r>
                      <a:r>
                        <a:rPr lang="en-US" sz="800" b="1" dirty="0" err="1"/>
                        <a:t>xH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MUNAN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170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285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33L/R 34L(23’)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15L/R 16R(23’)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285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34R(23’)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13123’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16L(23’)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64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FIX</a:t>
                      </a:r>
                      <a:endParaRPr/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RWY /8, /5 , P518 R068, R278</a:t>
                      </a:r>
                      <a:endParaRPr sz="458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C4(7529’),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C5(8513’), 33L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: B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7563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8513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C2(7522’),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C1(8536’), 15R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B3(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7454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B2(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8641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P7(5600’),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P8(6578’), 34R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N4(6876’),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N5(8507‘)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P6(5597’),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P5(6574’), 16L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N3(7043‘),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N2(8444‘)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01600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8NM 180kts, 5NM 160kts, Parr TAXI 10kts이상,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HIRO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6" name="직사각형 5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1C874613-6EE6-9A80-422F-0BB8DBCAA89B}"/>
              </a:ext>
            </a:extLst>
          </p:cNvPr>
          <p:cNvSpPr/>
          <p:nvPr/>
        </p:nvSpPr>
        <p:spPr>
          <a:xfrm>
            <a:off x="1663361" y="3072038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20F145D3-6C4D-B2CD-0787-EABF57347616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13738822"/>
      </p:ext>
    </p:extLst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62F9807-5AEF-8D80-6311-45C5000B22FB}"/>
              </a:ext>
            </a:extLst>
          </p:cNvPr>
          <p:cNvSpPr txBox="1"/>
          <p:nvPr/>
        </p:nvSpPr>
        <p:spPr>
          <a:xfrm>
            <a:off x="-55838" y="3192214"/>
            <a:ext cx="2517036" cy="532316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125.15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128.7 – DLC 132.95- 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TAO 133.05 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128.55 - 128.15 – PEK 127.35 – TAO 128.35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CGO 119.35 – 120.72 - APP 126.35</a:t>
            </a:r>
            <a:endParaRPr kumimoji="1" lang="en-US" altLang="ko-Kore-KR" sz="700" b="1" u="sng" dirty="0">
              <a:solidFill>
                <a:srgbClr val="FF000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graphicFrame>
        <p:nvGraphicFramePr>
          <p:cNvPr id="291" name="Google Shape;291;p18"/>
          <p:cNvGraphicFramePr/>
          <p:nvPr/>
        </p:nvGraphicFramePr>
        <p:xfrm>
          <a:off x="0" y="628907"/>
          <a:ext cx="2332925" cy="256021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91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17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69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21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254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10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15930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SID (33/34 NADP 1, 15/16 NADP 2)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5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NOPIK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xA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NOPIK </a:t>
                      </a:r>
                      <a:r>
                        <a:rPr lang="en-US" sz="800" dirty="0" err="1"/>
                        <a:t>xY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BINIL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xC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BINIL </a:t>
                      </a:r>
                      <a:r>
                        <a:rPr lang="en-US" sz="800" dirty="0" err="1"/>
                        <a:t>xH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NCN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113.8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33L 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33R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108.9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15L 111.9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15R 109.1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WNG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112.9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109.95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110.35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108.55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580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33L/R : NC05L/R,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P518 R068, R278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34L/R : EO34L/R,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ore-KR" sz="800" dirty="0"/>
                        <a:t>P518 R068, R278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44775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33L/R 34L(23’)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15L/R 16R(23’)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4477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34R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44775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Parallel TWY 10KTS </a:t>
                      </a:r>
                      <a:r>
                        <a:rPr lang="en-US" sz="800" dirty="0" err="1"/>
                        <a:t>이상</a:t>
                      </a:r>
                      <a:r>
                        <a:rPr lang="en-US" sz="800" dirty="0"/>
                        <a:t>(R17 MAX 15kts)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292" name="Google Shape;292;p18"/>
          <p:cNvGraphicFramePr/>
          <p:nvPr>
            <p:extLst>
              <p:ext uri="{D42A27DB-BD31-4B8C-83A1-F6EECF244321}">
                <p14:modId xmlns:p14="http://schemas.microsoft.com/office/powerpoint/2010/main" val="488881374"/>
              </p:ext>
            </p:extLst>
          </p:nvPr>
        </p:nvGraphicFramePr>
        <p:xfrm>
          <a:off x="0" y="3759696"/>
          <a:ext cx="2333879" cy="179592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7617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195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890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9684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dirty="0"/>
                        <a:t>CGO</a:t>
                      </a:r>
                      <a:r>
                        <a:rPr lang="en-US" sz="800" dirty="0"/>
                        <a:t> : STAR   </a:t>
                      </a:r>
                      <a:r>
                        <a:rPr lang="en-US" sz="800" dirty="0" err="1">
                          <a:solidFill>
                            <a:srgbClr val="7030A0"/>
                          </a:solidFill>
                        </a:rPr>
                        <a:t>xxL</a:t>
                      </a:r>
                      <a:r>
                        <a:rPr lang="en-US" sz="800" dirty="0">
                          <a:solidFill>
                            <a:srgbClr val="7030A0"/>
                          </a:solidFill>
                        </a:rPr>
                        <a:t>/R L/D RWY Freq CHG ATIS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chemeClr val="accent4"/>
                          </a:solidFill>
                        </a:rPr>
                        <a:t>(Caution 12R/30L LOC false Capture, Fluctuation)</a:t>
                      </a:r>
                      <a:endParaRPr sz="800" b="0" dirty="0">
                        <a:solidFill>
                          <a:schemeClr val="accent4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3864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1</a:t>
                      </a:r>
                      <a:r>
                        <a:rPr lang="en-US" altLang="ko-KR" sz="800" b="1" dirty="0"/>
                        <a:t>2L</a:t>
                      </a:r>
                      <a:r>
                        <a:rPr lang="en-US" sz="800" b="0" dirty="0"/>
                        <a:t>/12R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NOP </a:t>
                      </a:r>
                      <a:r>
                        <a:rPr lang="en-US" sz="800" b="1" dirty="0" err="1"/>
                        <a:t>xxU</a:t>
                      </a:r>
                      <a:r>
                        <a:rPr lang="en-US" sz="800" b="1" dirty="0"/>
                        <a:t> RNAV</a:t>
                      </a: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DZY</a:t>
                      </a: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Z 12L</a:t>
                      </a:r>
                      <a:r>
                        <a:rPr lang="en-US" sz="800" b="0" dirty="0"/>
                        <a:t>/12R</a:t>
                      </a: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327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30L</a:t>
                      </a:r>
                      <a:r>
                        <a:rPr lang="en-US" sz="800" b="0" dirty="0"/>
                        <a:t>/30R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/>
                        <a:t>NOP </a:t>
                      </a:r>
                      <a:r>
                        <a:rPr lang="en-US" altLang="ko-Kore-KR" sz="800" b="1" dirty="0" err="1"/>
                        <a:t>xxV</a:t>
                      </a:r>
                      <a:r>
                        <a:rPr lang="en-US" altLang="ko-Kore-KR" sz="800" b="1" dirty="0"/>
                        <a:t> RNAV</a:t>
                      </a: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CC527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Z 30L</a:t>
                      </a:r>
                      <a:r>
                        <a:rPr lang="en-US" altLang="ko-Kore-KR" sz="800" b="0" dirty="0"/>
                        <a:t>/30R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69791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12L(496’)          11811’         30R(484’)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69791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12R(494’).         11155’          30L(484’)     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69791">
                <a:tc gridSpan="4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FIX : </a:t>
                      </a: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ILS Ident /8 (180kts) /6 (160kts) </a:t>
                      </a: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APP SPD in JEPP</a:t>
                      </a:r>
                      <a:endParaRPr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01193734"/>
                  </a:ext>
                </a:extLst>
              </a:tr>
              <a:tr h="276540">
                <a:tc gridSpan="4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12L : D7(5853’),D8(6955’), </a:t>
                      </a:r>
                      <a:r>
                        <a:rPr lang="en-US" sz="800" b="0" dirty="0">
                          <a:solidFill>
                            <a:schemeClr val="dk1"/>
                          </a:solidFill>
                        </a:rPr>
                        <a:t>30R :D6(5833’),D5(6935’)</a:t>
                      </a:r>
                      <a:endParaRPr sz="800" b="0" dirty="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dirty="0">
                          <a:solidFill>
                            <a:schemeClr val="dk1"/>
                          </a:solidFill>
                        </a:rPr>
                        <a:t>12R :H7(5702’),H8(6883’), 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30L :H5(5672’),H4(6932’) </a:t>
                      </a:r>
                      <a:endParaRPr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5251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Follow me car, APU Off But 26</a:t>
                      </a:r>
                      <a:r>
                        <a:rPr lang="ko-KR" altLang="en-US" sz="800" dirty="0"/>
                        <a:t>도 이하 사용가능</a:t>
                      </a:r>
                      <a:endParaRPr lang="en-US" altLang="ko-KR" sz="800" dirty="0"/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293" name="Google Shape;293;p18"/>
          <p:cNvGraphicFramePr/>
          <p:nvPr>
            <p:extLst>
              <p:ext uri="{D42A27DB-BD31-4B8C-83A1-F6EECF244321}">
                <p14:modId xmlns:p14="http://schemas.microsoft.com/office/powerpoint/2010/main" val="1846113286"/>
              </p:ext>
            </p:extLst>
          </p:nvPr>
        </p:nvGraphicFramePr>
        <p:xfrm>
          <a:off x="-2501" y="16504"/>
          <a:ext cx="2328850" cy="62454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ZHCC(CGO) </a:t>
                      </a:r>
                      <a:r>
                        <a:rPr lang="en-US" sz="1300" dirty="0">
                          <a:solidFill>
                            <a:srgbClr val="FF0000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496ft</a:t>
                      </a:r>
                      <a:endParaRPr sz="1300" dirty="0">
                        <a:solidFill>
                          <a:srgbClr val="FF0000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600"/>
                        <a:buFont typeface="Calibri"/>
                        <a:buNone/>
                      </a:pPr>
                      <a:r>
                        <a:rPr lang="en-US" sz="600" dirty="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-10분 TOBT 5분 </a:t>
                      </a:r>
                      <a:r>
                        <a:rPr lang="en-US" sz="600" dirty="0" err="1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차이시</a:t>
                      </a:r>
                      <a:r>
                        <a:rPr lang="en-US" sz="600" dirty="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CTC Comm</a:t>
                      </a:r>
                      <a:endParaRPr sz="900" dirty="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Zhengzhou AOC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132.0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3A2CF453-B95D-2D55-3B07-D90D56DCEB3B}"/>
              </a:ext>
            </a:extLst>
          </p:cNvPr>
          <p:cNvSpPr/>
          <p:nvPr/>
        </p:nvSpPr>
        <p:spPr>
          <a:xfrm>
            <a:off x="1657574" y="3494659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CC8AB46B-539E-FFA8-5737-4E90D549BD61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545993473"/>
      </p:ext>
    </p:extLst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7" name="Google Shape;397;p3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1" y="-9795"/>
            <a:ext cx="2328863" cy="5064777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66ABCDBC-383F-5581-5E39-83905EACA8B3}"/>
              </a:ext>
            </a:extLst>
          </p:cNvPr>
          <p:cNvSpPr txBox="1"/>
          <p:nvPr/>
        </p:nvSpPr>
        <p:spPr>
          <a:xfrm>
            <a:off x="1278611" y="4006314"/>
            <a:ext cx="1031051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900" b="1" dirty="0">
                <a:solidFill>
                  <a:srgbClr val="0070C0"/>
                </a:solidFill>
              </a:rPr>
              <a:t>550M       1800ft</a:t>
            </a:r>
            <a:endParaRPr kumimoji="1" lang="ko-Kore-KR" altLang="en-US" sz="900" b="1" dirty="0">
              <a:solidFill>
                <a:srgbClr val="0070C0"/>
              </a:solidFill>
            </a:endParaRP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A9EEFEB8-F9E4-386F-27B1-F3014416BF74}"/>
              </a:ext>
            </a:extLst>
          </p:cNvPr>
          <p:cNvSpPr/>
          <p:nvPr/>
        </p:nvSpPr>
        <p:spPr>
          <a:xfrm>
            <a:off x="55571" y="3177666"/>
            <a:ext cx="1000283" cy="333428"/>
          </a:xfrm>
          <a:prstGeom prst="rect">
            <a:avLst/>
          </a:prstGeom>
          <a:noFill/>
          <a:ln w="3492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FC66845-A7AA-98C4-534C-70B808775E8B}"/>
              </a:ext>
            </a:extLst>
          </p:cNvPr>
          <p:cNvSpPr txBox="1"/>
          <p:nvPr/>
        </p:nvSpPr>
        <p:spPr>
          <a:xfrm>
            <a:off x="997707" y="3142302"/>
            <a:ext cx="330540" cy="41287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900" b="1" dirty="0">
                <a:solidFill>
                  <a:srgbClr val="0070C0"/>
                </a:solidFill>
              </a:rPr>
              <a:t>TL</a:t>
            </a:r>
          </a:p>
          <a:p>
            <a:pPr algn="dist">
              <a:lnSpc>
                <a:spcPct val="150000"/>
              </a:lnSpc>
            </a:pPr>
            <a:r>
              <a:rPr kumimoji="1" lang="en-US" altLang="ko-Kore-KR" sz="900" b="1" dirty="0">
                <a:solidFill>
                  <a:srgbClr val="0070C0"/>
                </a:solidFill>
              </a:rPr>
              <a:t>TA</a:t>
            </a:r>
            <a:endParaRPr kumimoji="1" lang="ko-Kore-KR" altLang="en-US" sz="900" b="1" dirty="0">
              <a:solidFill>
                <a:srgbClr val="0070C0"/>
              </a:solidFill>
            </a:endParaRPr>
          </a:p>
        </p:txBody>
      </p:sp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1FA0CAED-C5B8-22A0-6822-26CDA4767514}"/>
              </a:ext>
            </a:extLst>
          </p:cNvPr>
          <p:cNvSpPr/>
          <p:nvPr/>
        </p:nvSpPr>
        <p:spPr>
          <a:xfrm>
            <a:off x="847353" y="527797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871910395"/>
      </p:ext>
    </p:extLst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17" name="Google Shape;117;p3"/>
          <p:cNvGraphicFramePr/>
          <p:nvPr>
            <p:extLst>
              <p:ext uri="{D42A27DB-BD31-4B8C-83A1-F6EECF244321}">
                <p14:modId xmlns:p14="http://schemas.microsoft.com/office/powerpoint/2010/main" val="1372567521"/>
              </p:ext>
            </p:extLst>
          </p:nvPr>
        </p:nvGraphicFramePr>
        <p:xfrm>
          <a:off x="-3431" y="581398"/>
          <a:ext cx="2335724" cy="186457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0917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129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9011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7964">
                  <a:extLst>
                    <a:ext uri="{9D8B030D-6E8A-4147-A177-3AD203B41FA5}">
                      <a16:colId xmlns:a16="http://schemas.microsoft.com/office/drawing/2014/main" val="488815992"/>
                    </a:ext>
                  </a:extLst>
                </a:gridCol>
                <a:gridCol w="16752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637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34293">
                  <a:extLst>
                    <a:ext uri="{9D8B030D-6E8A-4147-A177-3AD203B41FA5}">
                      <a16:colId xmlns:a16="http://schemas.microsoft.com/office/drawing/2014/main" val="1210640370"/>
                    </a:ext>
                  </a:extLst>
                </a:gridCol>
                <a:gridCol w="15565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211274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412058">
                  <a:extLst>
                    <a:ext uri="{9D8B030D-6E8A-4147-A177-3AD203B41FA5}">
                      <a16:colId xmlns:a16="http://schemas.microsoft.com/office/drawing/2014/main" val="448940902"/>
                    </a:ext>
                  </a:extLst>
                </a:gridCol>
              </a:tblGrid>
              <a:tr h="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CGO : SID (NADP 1)  </a:t>
                      </a:r>
                      <a:r>
                        <a:rPr lang="en-US" sz="800" u="none" strike="noStrike" cap="none" dirty="0">
                          <a:solidFill>
                            <a:schemeClr val="accent4"/>
                          </a:solidFill>
                        </a:rPr>
                        <a:t>Lower ALT – Consider Add Fuel</a:t>
                      </a:r>
                    </a:p>
                  </a:txBody>
                  <a:tcPr marL="36000" marR="7200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u="none" strike="noStrike" cap="none" dirty="0"/>
                        <a:t>12R</a:t>
                      </a:r>
                      <a:endParaRPr lang="en-US" sz="800" b="1" u="none" strike="noStrike" cap="none"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/>
                        <a:t>/12L</a:t>
                      </a:r>
                      <a:endParaRPr sz="800" b="0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OKT </a:t>
                      </a:r>
                      <a:r>
                        <a:rPr lang="en-US" sz="800" b="1" u="none" strike="noStrike" cap="none" dirty="0" err="1">
                          <a:solidFill>
                            <a:srgbClr val="0070C0"/>
                          </a:solidFill>
                        </a:rPr>
                        <a:t>xX</a:t>
                      </a: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 RNAV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116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r>
                        <a:rPr lang="en-US" altLang="ko-Kore-KR" sz="800" b="1" u="none" strike="noStrike" cap="none">
                          <a:solidFill>
                            <a:srgbClr val="C00000"/>
                          </a:solidFill>
                        </a:rPr>
                        <a:t>161</a:t>
                      </a:r>
                      <a:endParaRPr lang="ko-Kore-KR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116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1200m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ATC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900m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116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30R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/>
                        <a:t>/30L</a:t>
                      </a:r>
                      <a:endParaRPr sz="800" b="0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OKT </a:t>
                      </a:r>
                      <a:r>
                        <a:rPr lang="en-US" altLang="ko-Kore-KR" sz="800" b="1" u="none" strike="noStrike" cap="none" dirty="0" err="1">
                          <a:solidFill>
                            <a:srgbClr val="0070C0"/>
                          </a:solidFill>
                        </a:rPr>
                        <a:t>xY</a:t>
                      </a:r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 RNAV</a:t>
                      </a:r>
                      <a:endParaRPr lang="en-US" altLang="ko-Kore-KR" sz="800" b="0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296</a:t>
                      </a:r>
                      <a:endParaRPr lang="en-US" altLang="ko-Kore-KR" sz="800" b="0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r>
                        <a:rPr lang="en-US" altLang="ko-Kore-KR" sz="800" b="1" u="none" strike="noStrike" cap="none">
                          <a:solidFill>
                            <a:srgbClr val="C00000"/>
                          </a:solidFill>
                        </a:rPr>
                        <a:t>341</a:t>
                      </a:r>
                      <a:endParaRPr lang="ko-Kore-KR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296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1200m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ATC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900m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296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57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CGO 114.5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12L 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108.5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30R 110.7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18L 109.3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12R 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110.3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30L 109.3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12R(494’) 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12L(496’)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endParaRPr lang="en-US" sz="800" b="0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11155’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11811’</a:t>
                      </a:r>
                      <a:endParaRPr sz="800" b="1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30L(484’)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30R(484’)</a:t>
                      </a:r>
                      <a:endParaRPr sz="800" b="1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lt1"/>
                          </a:solidFill>
                        </a:rPr>
                        <a:t>EO</a:t>
                      </a: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5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u="none" strike="noStrike" cap="none" dirty="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30L : CGO 296/4, R180 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u="none" strike="noStrike" cap="none" dirty="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30R : CGO /4, CRS 070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0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25082982"/>
                  </a:ext>
                </a:extLst>
              </a:tr>
              <a:tr h="115700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u="none" strike="noStrike" cap="none" dirty="0">
                          <a:solidFill>
                            <a:schemeClr val="tx1"/>
                          </a:solidFill>
                        </a:rPr>
                        <a:t>Req Pushback to Apron 121.7</a:t>
                      </a: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119" name="Google Shape;119;p3"/>
          <p:cNvGraphicFramePr/>
          <p:nvPr>
            <p:extLst>
              <p:ext uri="{D42A27DB-BD31-4B8C-83A1-F6EECF244321}">
                <p14:modId xmlns:p14="http://schemas.microsoft.com/office/powerpoint/2010/main" val="3152076322"/>
              </p:ext>
            </p:extLst>
          </p:nvPr>
        </p:nvGraphicFramePr>
        <p:xfrm>
          <a:off x="-2501" y="16504"/>
          <a:ext cx="2328850" cy="55937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ZHCC(CGO) </a:t>
                      </a:r>
                      <a:r>
                        <a:rPr lang="en-US" altLang="ko-Kore-KR" sz="1200" dirty="0">
                          <a:solidFill>
                            <a:srgbClr val="FF0000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496ft</a:t>
                      </a:r>
                      <a:endParaRPr lang="en-US" altLang="ko-Kore-KR" sz="1300" dirty="0">
                        <a:solidFill>
                          <a:srgbClr val="FF000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Zhengzhou AOC 132.0</a:t>
                      </a:r>
                      <a:endParaRPr sz="1200"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dirty="0">
                          <a:solidFill>
                            <a:srgbClr val="FF0000"/>
                          </a:solidFill>
                        </a:rPr>
                        <a:t>DCL </a:t>
                      </a:r>
                      <a:r>
                        <a:rPr lang="en-US" altLang="ko-KR" sz="700" dirty="0">
                          <a:solidFill>
                            <a:srgbClr val="FF0000"/>
                          </a:solidFill>
                        </a:rPr>
                        <a:t>(Read Back!)</a:t>
                      </a:r>
                      <a:endParaRPr sz="700" dirty="0">
                        <a:solidFill>
                          <a:srgbClr val="FF0000"/>
                        </a:solidFill>
                      </a:endParaRPr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7BA009CD-0CE1-2081-CE8C-F9EB8DF1D6DE}"/>
              </a:ext>
            </a:extLst>
          </p:cNvPr>
          <p:cNvSpPr txBox="1"/>
          <p:nvPr/>
        </p:nvSpPr>
        <p:spPr>
          <a:xfrm>
            <a:off x="586954" y="2445968"/>
            <a:ext cx="1741909" cy="855482"/>
          </a:xfrm>
          <a:prstGeom prst="rect">
            <a:avLst/>
          </a:prstGeom>
          <a:noFill/>
        </p:spPr>
        <p:txBody>
          <a:bodyPr wrap="squar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126.35</a:t>
            </a:r>
            <a:r>
              <a:rPr kumimoji="1" lang="en-US" altLang="ko-Kore-KR" sz="700" b="1" u="sng" dirty="0">
                <a:solidFill>
                  <a:srgbClr val="C0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(AUTO or NOT)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CGO 124.2 – 119.35</a:t>
            </a:r>
            <a:endParaRPr kumimoji="1" lang="en-US" altLang="ko-Kore-KR" sz="700" b="1" u="sng" dirty="0">
              <a:solidFill>
                <a:srgbClr val="C0000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TAO 128.35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– PEK 127.35 – 128.15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DLC 132.95 - ICN 128.7</a:t>
            </a:r>
          </a:p>
          <a:p>
            <a:pPr>
              <a:lnSpc>
                <a:spcPct val="150000"/>
              </a:lnSpc>
            </a:pPr>
            <a:endParaRPr kumimoji="1" lang="en-US" altLang="ko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graphicFrame>
        <p:nvGraphicFramePr>
          <p:cNvPr id="5" name="Google Shape;303;p19">
            <a:extLst>
              <a:ext uri="{FF2B5EF4-FFF2-40B4-BE49-F238E27FC236}">
                <a16:creationId xmlns:a16="http://schemas.microsoft.com/office/drawing/2014/main" id="{9A6F36E3-64E2-A97B-D85E-56AC20DB6603}"/>
              </a:ext>
            </a:extLst>
          </p:cNvPr>
          <p:cNvGraphicFramePr/>
          <p:nvPr/>
        </p:nvGraphicFramePr>
        <p:xfrm>
          <a:off x="1119" y="3405664"/>
          <a:ext cx="2325975" cy="2130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59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3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55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774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STAR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33/34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</a:t>
                      </a:r>
                      <a:r>
                        <a:rPr lang="en-US" sz="800" b="1" dirty="0" err="1"/>
                        <a:t>xA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PAMBI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170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15/16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</a:t>
                      </a:r>
                      <a:r>
                        <a:rPr lang="en-US" sz="800" b="1" dirty="0" err="1"/>
                        <a:t>xH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MUNAN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170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285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33L/R 34L(23’)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15L/R 16R(23’)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285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34R(23’)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13123’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16L(23’)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64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FIX</a:t>
                      </a:r>
                      <a:endParaRPr/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RWY /8, /5 , P518 R068, R278</a:t>
                      </a:r>
                      <a:endParaRPr sz="458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C4(7529’),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C5(8513’), 33L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: B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7563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8513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C2(7522’),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C1(8536’), 15R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B3(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7454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B2(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8641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P7(5600’),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P8(6578’), 34R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N4(6876’),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N5(8507‘)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P6(5597’),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P5(6574’), 16L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N3(7043‘),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N2(8444‘)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01600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8NM 180kts, 5NM 160kts, Parr TAXI 10kts이상,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HIRO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6" name="직사각형 5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1C874613-6EE6-9A80-422F-0BB8DBCAA89B}"/>
              </a:ext>
            </a:extLst>
          </p:cNvPr>
          <p:cNvSpPr/>
          <p:nvPr/>
        </p:nvSpPr>
        <p:spPr>
          <a:xfrm>
            <a:off x="1663361" y="3100497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20F145D3-6C4D-B2CD-0787-EABF57347616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pic>
        <p:nvPicPr>
          <p:cNvPr id="9" name="그림 8" descr="텍스트, 스크린샷, 소프트웨어, 도표이(가) 표시된 사진&#10;&#10;자동 생성된 설명">
            <a:extLst>
              <a:ext uri="{FF2B5EF4-FFF2-40B4-BE49-F238E27FC236}">
                <a16:creationId xmlns:a16="http://schemas.microsoft.com/office/drawing/2014/main" id="{98C5E6F4-394E-6412-4449-3BC7BF7D0ACF}"/>
              </a:ext>
            </a:extLst>
          </p:cNvPr>
          <p:cNvPicPr>
            <a:picLocks noChangeAspect="1"/>
          </p:cNvPicPr>
          <p:nvPr/>
        </p:nvPicPr>
        <p:blipFill rotWithShape="1">
          <a:blip r:embed="rId7"/>
          <a:srcRect l="49649" t="31341" r="20715" b="11205"/>
          <a:stretch/>
        </p:blipFill>
        <p:spPr>
          <a:xfrm>
            <a:off x="0" y="2445969"/>
            <a:ext cx="647775" cy="9418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70706260"/>
      </p:ext>
    </p:extLst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62F9807-5AEF-8D80-6311-45C5000B22FB}"/>
              </a:ext>
            </a:extLst>
          </p:cNvPr>
          <p:cNvSpPr txBox="1"/>
          <p:nvPr/>
        </p:nvSpPr>
        <p:spPr>
          <a:xfrm>
            <a:off x="-55987" y="3151645"/>
            <a:ext cx="2496196" cy="855482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125.15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126.17 – 120.72 – 124.52(125.72)</a:t>
            </a:r>
            <a:endParaRPr kumimoji="1" lang="en-US" altLang="ko-Kore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SHA 120.95 – 120.55 – 125.32 – 132.32 - 120.1 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GZU 124.9 – 133.5 - WUH 134.35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119.3 - CHS 123.9 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DYG TWR 118.45</a:t>
            </a:r>
          </a:p>
        </p:txBody>
      </p:sp>
      <p:graphicFrame>
        <p:nvGraphicFramePr>
          <p:cNvPr id="291" name="Google Shape;291;p18"/>
          <p:cNvGraphicFramePr/>
          <p:nvPr/>
        </p:nvGraphicFramePr>
        <p:xfrm>
          <a:off x="0" y="635155"/>
          <a:ext cx="2332925" cy="256021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91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17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69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21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254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10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15930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SID (33/34 NADP 1, 15/16 NADP 2)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5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BOPTA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xA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BOPTA </a:t>
                      </a:r>
                      <a:r>
                        <a:rPr lang="en-US" sz="800" dirty="0" err="1"/>
                        <a:t>xY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BOPTA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xC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BOPTA </a:t>
                      </a:r>
                      <a:r>
                        <a:rPr lang="en-US" sz="800" dirty="0" err="1"/>
                        <a:t>xH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NCN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113.8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33L 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15L 111.9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15R 109.1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WNG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112.9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109.95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110.35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108.55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580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33L/R : NC05L/R, R242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YJU R271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34L/R : EO34L/R,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YJU R271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44775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33L/R 34L(23’)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15L/R 16R(23’)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4477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34R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44775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Parallel TWY 10KTS </a:t>
                      </a:r>
                      <a:r>
                        <a:rPr lang="en-US" sz="800" dirty="0" err="1"/>
                        <a:t>이상</a:t>
                      </a:r>
                      <a:r>
                        <a:rPr lang="en-US" sz="800" dirty="0"/>
                        <a:t>(R17 MAX 15kts)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292" name="Google Shape;292;p18"/>
          <p:cNvGraphicFramePr/>
          <p:nvPr>
            <p:extLst>
              <p:ext uri="{D42A27DB-BD31-4B8C-83A1-F6EECF244321}">
                <p14:modId xmlns:p14="http://schemas.microsoft.com/office/powerpoint/2010/main" val="1915221272"/>
              </p:ext>
            </p:extLst>
          </p:nvPr>
        </p:nvGraphicFramePr>
        <p:xfrm>
          <a:off x="1525" y="4082615"/>
          <a:ext cx="2331400" cy="1465704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5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1952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617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03508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DYG : STAR </a:t>
                      </a: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High Terr</a:t>
                      </a:r>
                      <a:r>
                        <a:rPr lang="en-US" sz="800" b="0" dirty="0">
                          <a:solidFill>
                            <a:srgbClr val="FFC000"/>
                          </a:solidFill>
                        </a:rPr>
                        <a:t>, ATIS within 100NM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>
                          <a:solidFill>
                            <a:srgbClr val="FFC000"/>
                          </a:solidFill>
                        </a:rPr>
                        <a:t>DYG TWR no RDR Service KEEP FLT PLAN RTE</a:t>
                      </a:r>
                      <a:endParaRPr sz="800" b="0" dirty="0">
                        <a:solidFill>
                          <a:srgbClr val="FFC000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2814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08</a:t>
                      </a: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LIN </a:t>
                      </a:r>
                      <a:r>
                        <a:rPr lang="en-US" sz="800" b="1" dirty="0" err="1"/>
                        <a:t>xxA</a:t>
                      </a:r>
                      <a:r>
                        <a:rPr lang="en-US" sz="800" b="1" dirty="0"/>
                        <a:t> RNP</a:t>
                      </a:r>
                      <a:endParaRPr lang="en-US" sz="800" b="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JX001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X 08</a:t>
                      </a: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1637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/>
                        <a:t>26</a:t>
                      </a: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0" dirty="0"/>
                        <a:t>LIN </a:t>
                      </a:r>
                      <a:r>
                        <a:rPr lang="en-US" altLang="ko-Kore-KR" sz="800" b="0" dirty="0" err="1"/>
                        <a:t>xxA</a:t>
                      </a:r>
                      <a:r>
                        <a:rPr lang="en-US" altLang="ko-Kore-KR" sz="800" b="0" dirty="0"/>
                        <a:t> RNP</a:t>
                      </a: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/>
                        <a:t>DG944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/>
                        <a:t>ILS X 26</a:t>
                      </a: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84957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08(713’) </a:t>
                      </a: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3.2</a:t>
                      </a:r>
                      <a:r>
                        <a:rPr lang="ko-KR" altLang="en-US" sz="800" b="1" dirty="0">
                          <a:solidFill>
                            <a:srgbClr val="C00000"/>
                          </a:solidFill>
                        </a:rPr>
                        <a:t>도</a:t>
                      </a: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      </a:t>
                      </a: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8530’     26(665’) </a:t>
                      </a: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3.2도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70055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0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</a:rPr>
                        <a:t>8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 : J(6530’), </a:t>
                      </a:r>
                      <a:r>
                        <a:rPr lang="en-US" sz="800" b="0" dirty="0" err="1">
                          <a:solidFill>
                            <a:schemeClr val="dk1"/>
                          </a:solidFill>
                        </a:rPr>
                        <a:t>DownSlope</a:t>
                      </a:r>
                      <a:r>
                        <a:rPr lang="en-US" sz="800" b="0" dirty="0">
                          <a:solidFill>
                            <a:schemeClr val="dk1"/>
                          </a:solidFill>
                        </a:rPr>
                        <a:t> 0.65%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  2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</a:rPr>
                        <a:t>6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 : B(6530’)</a:t>
                      </a:r>
                      <a:endParaRPr sz="800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01242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Do not Intercept RWY08 inside DYG 11NM(FIX)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RWY Grooved (AIP), Follow Me Car on A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293" name="Google Shape;293;p18"/>
          <p:cNvGraphicFramePr/>
          <p:nvPr>
            <p:extLst>
              <p:ext uri="{D42A27DB-BD31-4B8C-83A1-F6EECF244321}">
                <p14:modId xmlns:p14="http://schemas.microsoft.com/office/powerpoint/2010/main" val="1736091327"/>
              </p:ext>
            </p:extLst>
          </p:nvPr>
        </p:nvGraphicFramePr>
        <p:xfrm>
          <a:off x="-2501" y="16504"/>
          <a:ext cx="2328850" cy="57881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ZGDY(DYG) </a:t>
                      </a:r>
                      <a:r>
                        <a:rPr lang="en-US" sz="1200" dirty="0">
                          <a:solidFill>
                            <a:srgbClr val="FF0000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713ft</a:t>
                      </a:r>
                      <a:endParaRPr sz="1300" dirty="0">
                        <a:solidFill>
                          <a:srgbClr val="FF0000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KE ICN 131.5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600"/>
                        <a:buFont typeface="Calibri"/>
                        <a:buNone/>
                      </a:pPr>
                      <a:r>
                        <a:rPr lang="en-US" sz="60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-10분 TOBT 5분 차이시 CTC Comm</a:t>
                      </a:r>
                      <a:endParaRPr sz="90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None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3DCAAF97-49DD-AE80-34AF-512BE900E983}"/>
              </a:ext>
            </a:extLst>
          </p:cNvPr>
          <p:cNvSpPr/>
          <p:nvPr/>
        </p:nvSpPr>
        <p:spPr>
          <a:xfrm>
            <a:off x="1669148" y="3528225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7BC0B007-1D05-0F91-185F-EF18A8FB3CE3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946751915"/>
      </p:ext>
    </p:extLst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7" name="Google Shape;397;p3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1" y="-9795"/>
            <a:ext cx="2328863" cy="5064777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66ABCDBC-383F-5581-5E39-83905EACA8B3}"/>
              </a:ext>
            </a:extLst>
          </p:cNvPr>
          <p:cNvSpPr txBox="1"/>
          <p:nvPr/>
        </p:nvSpPr>
        <p:spPr>
          <a:xfrm>
            <a:off x="1278611" y="4006314"/>
            <a:ext cx="1031051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900" b="1" dirty="0">
                <a:solidFill>
                  <a:srgbClr val="0070C0"/>
                </a:solidFill>
              </a:rPr>
              <a:t>550M       1800ft</a:t>
            </a:r>
            <a:endParaRPr kumimoji="1" lang="ko-Kore-KR" altLang="en-US" sz="900" b="1" dirty="0">
              <a:solidFill>
                <a:srgbClr val="0070C0"/>
              </a:solidFill>
            </a:endParaRP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A9EEFEB8-F9E4-386F-27B1-F3014416BF74}"/>
              </a:ext>
            </a:extLst>
          </p:cNvPr>
          <p:cNvSpPr/>
          <p:nvPr/>
        </p:nvSpPr>
        <p:spPr>
          <a:xfrm>
            <a:off x="55571" y="3177666"/>
            <a:ext cx="1000283" cy="333428"/>
          </a:xfrm>
          <a:prstGeom prst="rect">
            <a:avLst/>
          </a:prstGeom>
          <a:noFill/>
          <a:ln w="3492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FC66845-A7AA-98C4-534C-70B808775E8B}"/>
              </a:ext>
            </a:extLst>
          </p:cNvPr>
          <p:cNvSpPr txBox="1"/>
          <p:nvPr/>
        </p:nvSpPr>
        <p:spPr>
          <a:xfrm>
            <a:off x="997707" y="3142302"/>
            <a:ext cx="330540" cy="41287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900" b="1" dirty="0">
                <a:solidFill>
                  <a:srgbClr val="0070C0"/>
                </a:solidFill>
              </a:rPr>
              <a:t>TL</a:t>
            </a:r>
          </a:p>
          <a:p>
            <a:pPr algn="dist">
              <a:lnSpc>
                <a:spcPct val="150000"/>
              </a:lnSpc>
            </a:pPr>
            <a:r>
              <a:rPr kumimoji="1" lang="en-US" altLang="ko-Kore-KR" sz="900" b="1" dirty="0">
                <a:solidFill>
                  <a:srgbClr val="0070C0"/>
                </a:solidFill>
              </a:rPr>
              <a:t>TA</a:t>
            </a:r>
            <a:endParaRPr kumimoji="1" lang="ko-Kore-KR" altLang="en-US" sz="900" b="1" dirty="0">
              <a:solidFill>
                <a:srgbClr val="0070C0"/>
              </a:solidFill>
            </a:endParaRPr>
          </a:p>
        </p:txBody>
      </p:sp>
      <p:sp>
        <p:nvSpPr>
          <p:cNvPr id="6" name="직사각형 5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B8B7E4DE-4422-34F1-D7EA-F356A7B42392}"/>
              </a:ext>
            </a:extLst>
          </p:cNvPr>
          <p:cNvSpPr/>
          <p:nvPr/>
        </p:nvSpPr>
        <p:spPr>
          <a:xfrm>
            <a:off x="847353" y="527797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338422379"/>
      </p:ext>
    </p:extLst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17" name="Google Shape;117;p3"/>
          <p:cNvGraphicFramePr/>
          <p:nvPr>
            <p:extLst>
              <p:ext uri="{D42A27DB-BD31-4B8C-83A1-F6EECF244321}">
                <p14:modId xmlns:p14="http://schemas.microsoft.com/office/powerpoint/2010/main" val="2283296557"/>
              </p:ext>
            </p:extLst>
          </p:nvPr>
        </p:nvGraphicFramePr>
        <p:xfrm>
          <a:off x="0" y="578251"/>
          <a:ext cx="2335724" cy="154873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4246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670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6940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2972">
                  <a:extLst>
                    <a:ext uri="{9D8B030D-6E8A-4147-A177-3AD203B41FA5}">
                      <a16:colId xmlns:a16="http://schemas.microsoft.com/office/drawing/2014/main" val="924808566"/>
                    </a:ext>
                  </a:extLst>
                </a:gridCol>
                <a:gridCol w="167003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14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8249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6672">
                  <a:extLst>
                    <a:ext uri="{9D8B030D-6E8A-4147-A177-3AD203B41FA5}">
                      <a16:colId xmlns:a16="http://schemas.microsoft.com/office/drawing/2014/main" val="484641046"/>
                    </a:ext>
                  </a:extLst>
                </a:gridCol>
                <a:gridCol w="118031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55242">
                  <a:extLst>
                    <a:ext uri="{9D8B030D-6E8A-4147-A177-3AD203B41FA5}">
                      <a16:colId xmlns:a16="http://schemas.microsoft.com/office/drawing/2014/main" val="4194299910"/>
                    </a:ext>
                  </a:extLst>
                </a:gridCol>
                <a:gridCol w="211274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412058">
                  <a:extLst>
                    <a:ext uri="{9D8B030D-6E8A-4147-A177-3AD203B41FA5}">
                      <a16:colId xmlns:a16="http://schemas.microsoft.com/office/drawing/2014/main" val="448940902"/>
                    </a:ext>
                  </a:extLst>
                </a:gridCol>
              </a:tblGrid>
              <a:tr h="0">
                <a:tc gridSpan="1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DYG : SID (NADP 1) 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>
                          <a:solidFill>
                            <a:srgbClr val="FFC000"/>
                          </a:solidFill>
                        </a:rPr>
                        <a:t>(RWY Grooved AIP)</a:t>
                      </a:r>
                      <a:endParaRPr sz="800" b="0" u="none" strike="noStrike" cap="none" dirty="0">
                        <a:solidFill>
                          <a:srgbClr val="FFC000"/>
                        </a:solidFill>
                      </a:endParaRPr>
                    </a:p>
                  </a:txBody>
                  <a:tcPr marL="36000" marR="7200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08</a:t>
                      </a:r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LIN </a:t>
                      </a:r>
                      <a:r>
                        <a:rPr lang="en-US" sz="800" b="1" u="none" strike="noStrike" cap="none" dirty="0" err="1">
                          <a:solidFill>
                            <a:srgbClr val="0070C0"/>
                          </a:solidFill>
                        </a:rPr>
                        <a:t>xxD</a:t>
                      </a:r>
                      <a:endParaRPr lang="en-US"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079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079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ATC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(2400m)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900m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079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/>
                        <a:t>26</a:t>
                      </a:r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0" u="none" strike="noStrike" cap="none" dirty="0">
                          <a:solidFill>
                            <a:srgbClr val="0070C0"/>
                          </a:solidFill>
                        </a:rPr>
                        <a:t>LIN </a:t>
                      </a:r>
                      <a:r>
                        <a:rPr lang="en-US" altLang="ko-Kore-KR" sz="800" b="0" u="none" strike="noStrike" cap="none" dirty="0" err="1">
                          <a:solidFill>
                            <a:srgbClr val="0070C0"/>
                          </a:solidFill>
                        </a:rPr>
                        <a:t>xxD</a:t>
                      </a:r>
                      <a:endParaRPr lang="en-US" altLang="ko-Kore-KR" sz="800" b="0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>
                          <a:solidFill>
                            <a:srgbClr val="C00000"/>
                          </a:solidFill>
                        </a:rPr>
                        <a:t>259</a:t>
                      </a:r>
                      <a:endParaRPr sz="458" b="0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/>
                        <a:t>259</a:t>
                      </a:r>
                      <a:endParaRPr sz="800" b="0" u="none" strike="noStrike" cap="none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>
                          <a:solidFill>
                            <a:srgbClr val="0070C0"/>
                          </a:solidFill>
                        </a:rPr>
                        <a:t>ATC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>
                          <a:solidFill>
                            <a:srgbClr val="0070C0"/>
                          </a:solidFill>
                        </a:rPr>
                        <a:t>(2400m)</a:t>
                      </a:r>
                      <a:endParaRPr lang="ko-Kore-KR" b="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900m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0" u="none" strike="noStrike" cap="none" dirty="0">
                          <a:solidFill>
                            <a:srgbClr val="C00000"/>
                          </a:solidFill>
                        </a:rPr>
                        <a:t>259</a:t>
                      </a:r>
                      <a:endParaRPr lang="ko-Kore-KR" altLang="en-US" b="0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5700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DYG 114.4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08 109.7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endParaRPr dirty="0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26 108.9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016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08(713’) 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5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8530’</a:t>
                      </a:r>
                      <a:endParaRPr sz="800" b="1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24(665’)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lt1"/>
                          </a:solidFill>
                        </a:rPr>
                        <a:t>EO</a:t>
                      </a: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5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u="none" strike="noStrike" cap="none" dirty="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08 : DYG 079/8, R055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5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u="none" strike="noStrike" cap="none" dirty="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26 : DYG, R250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800" b="1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28502685"/>
                  </a:ext>
                </a:extLst>
              </a:tr>
            </a:tbl>
          </a:graphicData>
        </a:graphic>
      </p:graphicFrame>
      <p:graphicFrame>
        <p:nvGraphicFramePr>
          <p:cNvPr id="119" name="Google Shape;119;p3"/>
          <p:cNvGraphicFramePr/>
          <p:nvPr>
            <p:extLst>
              <p:ext uri="{D42A27DB-BD31-4B8C-83A1-F6EECF244321}">
                <p14:modId xmlns:p14="http://schemas.microsoft.com/office/powerpoint/2010/main" val="1008559832"/>
              </p:ext>
            </p:extLst>
          </p:nvPr>
        </p:nvGraphicFramePr>
        <p:xfrm>
          <a:off x="-2501" y="16504"/>
          <a:ext cx="2328850" cy="57461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ZGDY(DYG) </a:t>
                      </a:r>
                      <a:r>
                        <a:rPr lang="en-US" altLang="ko-Kore-KR" sz="1200" dirty="0">
                          <a:solidFill>
                            <a:srgbClr val="FF0000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713ft</a:t>
                      </a:r>
                      <a:endParaRPr lang="en-US" altLang="ko-Kore-KR" sz="1300" dirty="0">
                        <a:solidFill>
                          <a:srgbClr val="FF000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None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dirty="0">
                          <a:solidFill>
                            <a:srgbClr val="FF0000"/>
                          </a:solidFill>
                        </a:rPr>
                        <a:t>Voice TWR</a:t>
                      </a:r>
                      <a:endParaRPr sz="700" dirty="0">
                        <a:solidFill>
                          <a:srgbClr val="FF0000"/>
                        </a:solidFill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7BA009CD-0CE1-2081-CE8C-F9EB8DF1D6DE}"/>
              </a:ext>
            </a:extLst>
          </p:cNvPr>
          <p:cNvSpPr txBox="1"/>
          <p:nvPr/>
        </p:nvSpPr>
        <p:spPr>
          <a:xfrm>
            <a:off x="-15566" y="2376477"/>
            <a:ext cx="2390398" cy="1017064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TWR 118.45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CHS 123.9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GZU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124.9 – 133.5 - 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133.25 – SHA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120.1 – 132.32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128.12 – 125.32 – 126.17 – 120.55 – 120.95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ICN 125.725(124.52) – 120.72 – 126.17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APP – 119.75</a:t>
            </a:r>
            <a:endParaRPr kumimoji="1" lang="ko-Kore-KR" altLang="en-US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graphicFrame>
        <p:nvGraphicFramePr>
          <p:cNvPr id="5" name="Google Shape;303;p19">
            <a:extLst>
              <a:ext uri="{FF2B5EF4-FFF2-40B4-BE49-F238E27FC236}">
                <a16:creationId xmlns:a16="http://schemas.microsoft.com/office/drawing/2014/main" id="{9A6F36E3-64E2-A97B-D85E-56AC20DB6603}"/>
              </a:ext>
            </a:extLst>
          </p:cNvPr>
          <p:cNvGraphicFramePr/>
          <p:nvPr/>
        </p:nvGraphicFramePr>
        <p:xfrm>
          <a:off x="1119" y="3405664"/>
          <a:ext cx="2325975" cy="2130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59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3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55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774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STAR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33/34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</a:t>
                      </a:r>
                      <a:r>
                        <a:rPr lang="en-US" sz="800" b="1" dirty="0" err="1"/>
                        <a:t>xE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ENPIL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180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15/16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</a:t>
                      </a:r>
                      <a:r>
                        <a:rPr lang="en-US" sz="800" b="1" dirty="0" err="1"/>
                        <a:t>xH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MUNAN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180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285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33L/R 34L(23’)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15L/R 16R(23’)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285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34R(23’)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13123’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16L(23’)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64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FIX</a:t>
                      </a:r>
                      <a:endParaRPr/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RWY /8, /5 , YJU R271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C4(7529’),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C5(8513’), 33L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: B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7563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8513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C2(7522’),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C1(8536’), 15R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B3(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7454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B2(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8641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P7(5600’),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P8(6578’), 34R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N4(6876’),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N5(8507‘)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P6(5597’),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P5(6574’), 16L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N3(7043‘),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N2(8444‘)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01600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8NM 180kts, 5NM 160kts, Parr TAXI 10kts이상,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HIRO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3" name="직사각형 2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B72E208F-F9E3-4DBD-EA14-654CF7F7CDE4}"/>
              </a:ext>
            </a:extLst>
          </p:cNvPr>
          <p:cNvSpPr/>
          <p:nvPr/>
        </p:nvSpPr>
        <p:spPr>
          <a:xfrm>
            <a:off x="1651787" y="3136463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FECA2F9E-B6DB-CD38-1DE9-D46BCCC5931C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pic>
        <p:nvPicPr>
          <p:cNvPr id="7" name="그림 6" descr="지도, 텍스트, 아틀라스이(가) 표시된 사진&#10;&#10;자동 생성된 설명">
            <a:extLst>
              <a:ext uri="{FF2B5EF4-FFF2-40B4-BE49-F238E27FC236}">
                <a16:creationId xmlns:a16="http://schemas.microsoft.com/office/drawing/2014/main" id="{9F632F4C-60D3-9EE8-7A8D-0CA4319CC3A5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35676" y="2123530"/>
            <a:ext cx="1090673" cy="6467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35691745"/>
      </p:ext>
    </p:extLst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9">
          <a:extLst>
            <a:ext uri="{FF2B5EF4-FFF2-40B4-BE49-F238E27FC236}">
              <a16:creationId xmlns:a16="http://schemas.microsoft.com/office/drawing/2014/main" id="{6FF77275-DC2D-7782-8A56-C3FCD4C152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EEC30C3-708C-B4A4-6427-5E6725C26554}"/>
              </a:ext>
            </a:extLst>
          </p:cNvPr>
          <p:cNvSpPr txBox="1"/>
          <p:nvPr/>
        </p:nvSpPr>
        <p:spPr>
          <a:xfrm>
            <a:off x="-55838" y="3280623"/>
            <a:ext cx="1887055" cy="532316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125.15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132.8 – DLC 132.95</a:t>
            </a:r>
            <a:endParaRPr kumimoji="1" lang="en-US" altLang="ko-Kore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APP 123.85 – 119.6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TWR 118.25</a:t>
            </a:r>
          </a:p>
        </p:txBody>
      </p:sp>
      <p:graphicFrame>
        <p:nvGraphicFramePr>
          <p:cNvPr id="291" name="Google Shape;291;p18">
            <a:extLst>
              <a:ext uri="{FF2B5EF4-FFF2-40B4-BE49-F238E27FC236}">
                <a16:creationId xmlns:a16="http://schemas.microsoft.com/office/drawing/2014/main" id="{184C1080-0236-2052-E1E9-648A12C011AE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283395981"/>
              </p:ext>
            </p:extLst>
          </p:nvPr>
        </p:nvGraphicFramePr>
        <p:xfrm>
          <a:off x="0" y="606927"/>
          <a:ext cx="2332925" cy="256021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91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17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69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21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254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10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15930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SID (33/34 NADP 1, 15/16 NADP 2)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5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NOPIK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xA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NOPIK </a:t>
                      </a:r>
                      <a:r>
                        <a:rPr lang="en-US" sz="800" dirty="0" err="1"/>
                        <a:t>xY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BINIL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xC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BINIL </a:t>
                      </a:r>
                      <a:r>
                        <a:rPr lang="en-US" sz="800" dirty="0" err="1"/>
                        <a:t>xH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NCN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113.8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33L 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33R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108.9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15L 111.9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15R 109.1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WNG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112.9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109.95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110.35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108.55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580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33L/R : NC05L/R,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P518 R068, R278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34L/R : EO34L/R,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ore-KR" sz="800" dirty="0"/>
                        <a:t>P518 R068, R278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44775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33L/R 34L(23’)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15L/R 16R(23’)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4477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34R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44775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Parallel TWY 10KTS </a:t>
                      </a:r>
                      <a:r>
                        <a:rPr lang="en-US" sz="800" dirty="0" err="1"/>
                        <a:t>이상</a:t>
                      </a:r>
                      <a:r>
                        <a:rPr lang="en-US" sz="800" dirty="0"/>
                        <a:t>(R17 MAX 15kts)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292" name="Google Shape;292;p18">
            <a:extLst>
              <a:ext uri="{FF2B5EF4-FFF2-40B4-BE49-F238E27FC236}">
                <a16:creationId xmlns:a16="http://schemas.microsoft.com/office/drawing/2014/main" id="{425BFED1-9719-706B-35CE-6D6E3D9DD94C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131657253"/>
              </p:ext>
            </p:extLst>
          </p:nvPr>
        </p:nvGraphicFramePr>
        <p:xfrm>
          <a:off x="-1706" y="3819333"/>
          <a:ext cx="2333880" cy="1742818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1680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9601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2421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9684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980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DLC</a:t>
                      </a: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 </a:t>
                      </a:r>
                      <a:r>
                        <a:rPr lang="en-US" sz="800" dirty="0"/>
                        <a:t>: RNAV(PMS) STAR </a:t>
                      </a:r>
                      <a:r>
                        <a:rPr lang="en-US" sz="700" dirty="0">
                          <a:solidFill>
                            <a:srgbClr val="C00000"/>
                          </a:solidFill>
                        </a:rPr>
                        <a:t>CHK RWY 10 TL107 CAT C/D</a:t>
                      </a:r>
                      <a:endParaRPr lang="en-US" sz="800" dirty="0">
                        <a:solidFill>
                          <a:srgbClr val="C00000"/>
                        </a:solidFill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dirty="0">
                          <a:solidFill>
                            <a:schemeClr val="accent4"/>
                          </a:solidFill>
                        </a:rPr>
                        <a:t>If Over MLDW, Report DLC -32NM for Holding or Missed APP</a:t>
                      </a:r>
                      <a:endParaRPr lang="en-US" sz="800" dirty="0">
                        <a:solidFill>
                          <a:schemeClr val="accent4"/>
                        </a:solidFill>
                      </a:endParaRP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5092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10</a:t>
                      </a:r>
                      <a:endParaRPr sz="800" b="1" dirty="0"/>
                    </a:p>
                  </a:txBody>
                  <a:tcPr marL="36000" marR="36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RUPID xx A</a:t>
                      </a:r>
                    </a:p>
                  </a:txBody>
                  <a:tcPr marL="36000" marR="36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TL107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(PMS)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CHK ALT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TL106</a:t>
                      </a:r>
                    </a:p>
                  </a:txBody>
                  <a:tcPr marL="36000" marR="36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RNAV ILS Z 10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OFF SET LOC</a:t>
                      </a:r>
                      <a:endParaRPr lang="en-US" sz="800" b="0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0" marB="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3444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28</a:t>
                      </a:r>
                      <a:endParaRPr sz="800" b="1" dirty="0"/>
                    </a:p>
                  </a:txBody>
                  <a:tcPr marL="36000" marR="36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800" b="1" dirty="0"/>
                        <a:t>RUPID xx A</a:t>
                      </a:r>
                    </a:p>
                  </a:txBody>
                  <a:tcPr marL="36000" marR="36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/>
                        <a:t>TL307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</a:rPr>
                        <a:t>(PMS)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/>
                        <a:t>TL304</a:t>
                      </a:r>
                    </a:p>
                  </a:txBody>
                  <a:tcPr marL="36000" marR="36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RNAV ILS Z 28</a:t>
                      </a:r>
                      <a:endParaRPr sz="800" b="1" dirty="0"/>
                    </a:p>
                  </a:txBody>
                  <a:tcPr marL="36000" marR="36000" marT="0" marB="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84071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0" marB="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10(106’)  10171’   </a:t>
                      </a: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DIS TH   </a:t>
                      </a:r>
                      <a:r>
                        <a:rPr lang="en-US" altLang="ko-Kore-KR" sz="800" b="1" dirty="0">
                          <a:solidFill>
                            <a:srgbClr val="00B050"/>
                          </a:solidFill>
                        </a:rPr>
                        <a:t>28(89’)  9843’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60867">
                <a:tc gridSpan="4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R" sz="800" b="1" dirty="0">
                          <a:solidFill>
                            <a:schemeClr val="dk1"/>
                          </a:solidFill>
                        </a:rPr>
                        <a:t>  10</a:t>
                      </a:r>
                      <a:r>
                        <a:rPr lang="en-US" altLang="ko-KR" sz="800" b="1" dirty="0">
                          <a:solidFill>
                            <a:srgbClr val="C00000"/>
                          </a:solidFill>
                        </a:rPr>
                        <a:t>(3.3/3.5)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 : E(5469’),D(6535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</a:rPr>
                        <a:t>’), 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28 : F(5393’),G(6555’)</a:t>
                      </a:r>
                      <a:endParaRPr lang="en-US" sz="800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62007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RWY 10 Align After DA Due Terrain </a:t>
                      </a:r>
                      <a:r>
                        <a:rPr lang="en-US" sz="800" dirty="0">
                          <a:solidFill>
                            <a:srgbClr val="0070C0"/>
                          </a:solidFill>
                        </a:rPr>
                        <a:t>(</a:t>
                      </a: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NO AUTO L/D</a:t>
                      </a:r>
                      <a:r>
                        <a:rPr lang="en-US" sz="800" dirty="0">
                          <a:solidFill>
                            <a:srgbClr val="0070C0"/>
                          </a:solidFill>
                        </a:rPr>
                        <a:t>)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AA47F5"/>
                          </a:solidFill>
                        </a:rPr>
                        <a:t>Align by Visual Follow GS 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rgbClr val="0070C0"/>
                          </a:solidFill>
                        </a:rPr>
                        <a:t> </a:t>
                      </a:r>
                      <a:r>
                        <a:rPr lang="en-US" sz="700" b="1" dirty="0">
                          <a:solidFill>
                            <a:schemeClr val="tx1"/>
                          </a:solidFill>
                        </a:rPr>
                        <a:t>Parking Brake Remain SET </a:t>
                      </a:r>
                      <a:r>
                        <a:rPr lang="en-US" sz="600" b="1" dirty="0">
                          <a:solidFill>
                            <a:srgbClr val="0070C0"/>
                          </a:solidFill>
                        </a:rPr>
                        <a:t>(After All Offload then REQ Release) </a:t>
                      </a:r>
                      <a:endParaRPr lang="en-US" sz="800" b="1" dirty="0">
                        <a:solidFill>
                          <a:srgbClr val="0070C0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dirty="0">
                          <a:solidFill>
                            <a:srgbClr val="FF0000"/>
                          </a:solidFill>
                        </a:rPr>
                        <a:t>TAXI SPD Max 16kts</a:t>
                      </a:r>
                      <a:r>
                        <a:rPr lang="en-US" sz="800" b="0" dirty="0">
                          <a:solidFill>
                            <a:schemeClr val="tx1"/>
                          </a:solidFill>
                        </a:rPr>
                        <a:t>, APU off Procedure</a:t>
                      </a: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293" name="Google Shape;293;p18">
            <a:extLst>
              <a:ext uri="{FF2B5EF4-FFF2-40B4-BE49-F238E27FC236}">
                <a16:creationId xmlns:a16="http://schemas.microsoft.com/office/drawing/2014/main" id="{2B7D9463-A88C-657E-36E3-FFACA0B4A960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790648043"/>
              </p:ext>
            </p:extLst>
          </p:nvPr>
        </p:nvGraphicFramePr>
        <p:xfrm>
          <a:off x="-2501" y="12087"/>
          <a:ext cx="2328850" cy="57881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ZYTL(DLC) 107ft</a:t>
                      </a:r>
                      <a:endParaRPr sz="1200" dirty="0">
                        <a:solidFill>
                          <a:srgbClr val="FF0000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600"/>
                        <a:buFont typeface="Calibri"/>
                        <a:buNone/>
                      </a:pPr>
                      <a:r>
                        <a:rPr lang="en-US" sz="600" dirty="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-10분 TOBT 5분 </a:t>
                      </a:r>
                      <a:r>
                        <a:rPr lang="en-US" sz="600" dirty="0" err="1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차이시</a:t>
                      </a:r>
                      <a:r>
                        <a:rPr lang="en-US" sz="600" dirty="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CTC Comm</a:t>
                      </a:r>
                      <a:endParaRPr sz="900" dirty="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None</a:t>
                      </a:r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8A4BC288-4472-D50A-E876-6EB1EB95F6A1}"/>
              </a:ext>
            </a:extLst>
          </p:cNvPr>
          <p:cNvSpPr/>
          <p:nvPr/>
        </p:nvSpPr>
        <p:spPr>
          <a:xfrm>
            <a:off x="1651787" y="3504553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F97D4F3D-FF0C-FDED-A507-17DB62A3B3BA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928857689"/>
      </p:ext>
    </p:extLst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5">
          <a:extLst>
            <a:ext uri="{FF2B5EF4-FFF2-40B4-BE49-F238E27FC236}">
              <a16:creationId xmlns:a16="http://schemas.microsoft.com/office/drawing/2014/main" id="{899C8511-836F-F239-6741-D6AC626F5A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7" name="Google Shape;397;p30">
            <a:extLst>
              <a:ext uri="{FF2B5EF4-FFF2-40B4-BE49-F238E27FC236}">
                <a16:creationId xmlns:a16="http://schemas.microsoft.com/office/drawing/2014/main" id="{FEE7959D-3C0C-154D-04C3-CBA939701D9A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1" y="-9795"/>
            <a:ext cx="2328863" cy="5064777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6664E036-24A6-4740-3AAE-4CBCE7AE3EA0}"/>
              </a:ext>
            </a:extLst>
          </p:cNvPr>
          <p:cNvSpPr txBox="1"/>
          <p:nvPr/>
        </p:nvSpPr>
        <p:spPr>
          <a:xfrm>
            <a:off x="1278611" y="4006314"/>
            <a:ext cx="1031051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900" b="1" dirty="0">
                <a:solidFill>
                  <a:srgbClr val="0070C0"/>
                </a:solidFill>
              </a:rPr>
              <a:t>550M       1800ft</a:t>
            </a:r>
            <a:endParaRPr kumimoji="1" lang="ko-Kore-KR" altLang="en-US" sz="900" b="1" dirty="0">
              <a:solidFill>
                <a:srgbClr val="0070C0"/>
              </a:solidFill>
            </a:endParaRP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74B2AF9A-775E-6F54-8C97-508EFCD60E7D}"/>
              </a:ext>
            </a:extLst>
          </p:cNvPr>
          <p:cNvSpPr/>
          <p:nvPr/>
        </p:nvSpPr>
        <p:spPr>
          <a:xfrm>
            <a:off x="55571" y="3177666"/>
            <a:ext cx="1000283" cy="333428"/>
          </a:xfrm>
          <a:prstGeom prst="rect">
            <a:avLst/>
          </a:prstGeom>
          <a:noFill/>
          <a:ln w="3492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8703358-AEE5-EB43-CBCB-FFC25292DE8A}"/>
              </a:ext>
            </a:extLst>
          </p:cNvPr>
          <p:cNvSpPr txBox="1"/>
          <p:nvPr/>
        </p:nvSpPr>
        <p:spPr>
          <a:xfrm>
            <a:off x="997707" y="3142302"/>
            <a:ext cx="330540" cy="41287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900" b="1" dirty="0">
                <a:solidFill>
                  <a:srgbClr val="0070C0"/>
                </a:solidFill>
              </a:rPr>
              <a:t>TL</a:t>
            </a:r>
          </a:p>
          <a:p>
            <a:pPr algn="dist">
              <a:lnSpc>
                <a:spcPct val="150000"/>
              </a:lnSpc>
            </a:pPr>
            <a:r>
              <a:rPr kumimoji="1" lang="en-US" altLang="ko-Kore-KR" sz="900" b="1" dirty="0">
                <a:solidFill>
                  <a:srgbClr val="0070C0"/>
                </a:solidFill>
              </a:rPr>
              <a:t>TA</a:t>
            </a:r>
            <a:endParaRPr kumimoji="1" lang="ko-Kore-KR" altLang="en-US" sz="900" b="1" dirty="0">
              <a:solidFill>
                <a:srgbClr val="0070C0"/>
              </a:solidFill>
            </a:endParaRPr>
          </a:p>
        </p:txBody>
      </p:sp>
      <p:sp>
        <p:nvSpPr>
          <p:cNvPr id="6" name="직사각형 5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029DFFA1-BE25-8CB2-ACDF-27EE6789585C}"/>
              </a:ext>
            </a:extLst>
          </p:cNvPr>
          <p:cNvSpPr/>
          <p:nvPr/>
        </p:nvSpPr>
        <p:spPr>
          <a:xfrm>
            <a:off x="847353" y="527797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090954660"/>
      </p:ext>
    </p:extLst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>
          <a:extLst>
            <a:ext uri="{FF2B5EF4-FFF2-40B4-BE49-F238E27FC236}">
              <a16:creationId xmlns:a16="http://schemas.microsoft.com/office/drawing/2014/main" id="{2AE82B88-A031-A9EF-D496-D553CF6509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17" name="Google Shape;117;p3">
            <a:extLst>
              <a:ext uri="{FF2B5EF4-FFF2-40B4-BE49-F238E27FC236}">
                <a16:creationId xmlns:a16="http://schemas.microsoft.com/office/drawing/2014/main" id="{1646C4F2-3ED5-5AF0-F68C-A238C964F7CB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886795127"/>
              </p:ext>
            </p:extLst>
          </p:nvPr>
        </p:nvGraphicFramePr>
        <p:xfrm>
          <a:off x="4919" y="705249"/>
          <a:ext cx="2300363" cy="186457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2806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274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3099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3187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5708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4893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31979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66946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340361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275424">
                  <a:extLst>
                    <a:ext uri="{9D8B030D-6E8A-4147-A177-3AD203B41FA5}">
                      <a16:colId xmlns:a16="http://schemas.microsoft.com/office/drawing/2014/main" val="448940902"/>
                    </a:ext>
                  </a:extLst>
                </a:gridCol>
              </a:tblGrid>
              <a:tr h="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DLC</a:t>
                      </a:r>
                      <a:r>
                        <a:rPr lang="en-US" sz="800" u="none" strike="noStrike" cap="none" dirty="0">
                          <a:solidFill>
                            <a:srgbClr val="C00000"/>
                          </a:solidFill>
                        </a:rPr>
                        <a:t> </a:t>
                      </a:r>
                      <a:r>
                        <a:rPr lang="en-US" sz="800" u="none" strike="noStrike" cap="none" dirty="0"/>
                        <a:t>: RNP SID (NADP 1)</a:t>
                      </a:r>
                      <a:endParaRPr lang="en-US" sz="800" u="none" strike="noStrike" cap="none" dirty="0">
                        <a:solidFill>
                          <a:schemeClr val="accent4"/>
                        </a:solidFill>
                      </a:endParaRPr>
                    </a:p>
                  </a:txBody>
                  <a:tcPr marL="36000" marR="7200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10</a:t>
                      </a:r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SANKO xx D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103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103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ATC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900m(3000’)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900m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103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28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SANKO xx D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283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283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ATC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900m(3000’)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900m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283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5700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DBL 115.4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10 109.1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28 111.1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19 108.9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016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10(106’)</a:t>
                      </a:r>
                      <a:endParaRPr lang="en-US" sz="800" b="1" u="none" strike="noStrike" cap="none" dirty="0">
                        <a:solidFill>
                          <a:srgbClr val="C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10827’</a:t>
                      </a:r>
                      <a:endParaRPr sz="800" b="1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28(89’)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016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lt1"/>
                          </a:solidFill>
                        </a:rPr>
                        <a:t>E.O</a:t>
                      </a: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8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u="none" strike="noStrike" cap="none" dirty="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28 : DBL 283/2.9, DBL 280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800" b="1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5820102"/>
                  </a:ext>
                </a:extLst>
              </a:tr>
              <a:tr h="115700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ore-KR" sz="800" b="1" dirty="0" err="1">
                          <a:solidFill>
                            <a:srgbClr val="C00000"/>
                          </a:solidFill>
                        </a:rPr>
                        <a:t>PushBack</a:t>
                      </a:r>
                      <a:r>
                        <a:rPr lang="en-US" altLang="ko-Kore-KR" sz="800" b="1" dirty="0">
                          <a:solidFill>
                            <a:srgbClr val="C00000"/>
                          </a:solidFill>
                        </a:rPr>
                        <a:t> Facing West (RWY28 180Back)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ore-KR" sz="800" b="1" dirty="0">
                          <a:solidFill>
                            <a:srgbClr val="C00000"/>
                          </a:solidFill>
                        </a:rPr>
                        <a:t>TAXI SPD 16kts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</a:rPr>
                        <a:t>RWY28 Hold Short C/B – HP3/HP3</a:t>
                      </a: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119" name="Google Shape;119;p3">
            <a:extLst>
              <a:ext uri="{FF2B5EF4-FFF2-40B4-BE49-F238E27FC236}">
                <a16:creationId xmlns:a16="http://schemas.microsoft.com/office/drawing/2014/main" id="{5CCFD6AD-7902-F336-4C89-5CED2873680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105987276"/>
              </p:ext>
            </p:extLst>
          </p:nvPr>
        </p:nvGraphicFramePr>
        <p:xfrm>
          <a:off x="-2501" y="16504"/>
          <a:ext cx="2328850" cy="66605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7187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5697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2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ZYTL(DLC)107ft</a:t>
                      </a:r>
                      <a:endParaRPr lang="en-US" altLang="ko-Kore-KR" sz="1200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None</a:t>
                      </a:r>
                      <a:endParaRPr sz="1200"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700" b="1" dirty="0">
                          <a:solidFill>
                            <a:srgbClr val="FF0000"/>
                          </a:solidFill>
                        </a:rPr>
                        <a:t>DCL 20min(</a:t>
                      </a:r>
                      <a:r>
                        <a:rPr lang="en-US" altLang="ko-KR" sz="700" b="1" dirty="0" err="1">
                          <a:solidFill>
                            <a:srgbClr val="FF0000"/>
                          </a:solidFill>
                        </a:rPr>
                        <a:t>ReadBack</a:t>
                      </a:r>
                      <a:r>
                        <a:rPr lang="en-US" altLang="ko-KR" sz="700" b="1" dirty="0">
                          <a:solidFill>
                            <a:srgbClr val="FF0000"/>
                          </a:solidFill>
                        </a:rPr>
                        <a:t> to GND)</a:t>
                      </a:r>
                      <a:r>
                        <a:rPr lang="ko-KR" altLang="en-US" sz="700" b="1" dirty="0">
                          <a:solidFill>
                            <a:srgbClr val="FF0000"/>
                          </a:solidFill>
                        </a:rPr>
                        <a:t> </a:t>
                      </a:r>
                      <a:r>
                        <a:rPr lang="en-US" altLang="ko-KR" sz="700" b="1" dirty="0">
                          <a:solidFill>
                            <a:srgbClr val="FF0000"/>
                          </a:solidFill>
                        </a:rPr>
                        <a:t>Voice 10min(GND)</a:t>
                      </a:r>
                      <a:endParaRPr lang="en-US" altLang="ko-KR" sz="600" b="1" dirty="0">
                        <a:solidFill>
                          <a:srgbClr val="FF0000"/>
                        </a:solidFill>
                      </a:endParaRPr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73070BD7-0C1A-83AC-8136-EF8CBE88DCDB}"/>
              </a:ext>
            </a:extLst>
          </p:cNvPr>
          <p:cNvSpPr txBox="1"/>
          <p:nvPr/>
        </p:nvSpPr>
        <p:spPr>
          <a:xfrm>
            <a:off x="969470" y="2622118"/>
            <a:ext cx="708848" cy="855482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TWR 118.25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APP 123.85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DLC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132.95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 132.8 </a:t>
            </a:r>
          </a:p>
          <a:p>
            <a:pPr>
              <a:lnSpc>
                <a:spcPct val="150000"/>
              </a:lnSpc>
            </a:pPr>
            <a:endParaRPr kumimoji="1" lang="en-US" altLang="ko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graphicFrame>
        <p:nvGraphicFramePr>
          <p:cNvPr id="5" name="Google Shape;303;p19">
            <a:extLst>
              <a:ext uri="{FF2B5EF4-FFF2-40B4-BE49-F238E27FC236}">
                <a16:creationId xmlns:a16="http://schemas.microsoft.com/office/drawing/2014/main" id="{5561BE8A-EE22-E068-7878-1E854D00D852}"/>
              </a:ext>
            </a:extLst>
          </p:cNvPr>
          <p:cNvGraphicFramePr/>
          <p:nvPr/>
        </p:nvGraphicFramePr>
        <p:xfrm>
          <a:off x="1119" y="3405664"/>
          <a:ext cx="2325975" cy="2130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59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3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55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774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STAR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33/34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</a:t>
                      </a:r>
                      <a:r>
                        <a:rPr lang="en-US" sz="800" b="1" dirty="0" err="1"/>
                        <a:t>xA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PAMBI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170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15/16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</a:t>
                      </a:r>
                      <a:r>
                        <a:rPr lang="en-US" sz="800" b="1" dirty="0" err="1"/>
                        <a:t>xH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MUNAN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170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285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33L/R 34L(23’)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15L/R 16R(23’)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285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34R(23’)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13123’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16L(23’)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64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FIX</a:t>
                      </a:r>
                      <a:endParaRPr/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RWY /8, /5 , P518 R068, R278</a:t>
                      </a:r>
                      <a:endParaRPr sz="458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C4(7529’),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C5(8513’), 33L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: B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7563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8513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 : </a:t>
                      </a:r>
                      <a:r>
                        <a:rPr lang="en-US" altLang="ko-Kore-KR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C2(7522’), </a:t>
                      </a:r>
                      <a:r>
                        <a:rPr lang="en-US" altLang="ko-Kore-KR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C1(8536’), 15R : </a:t>
                      </a:r>
                      <a:r>
                        <a:rPr lang="en-US" altLang="ko-Kore-KR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B3(</a:t>
                      </a:r>
                      <a:r>
                        <a:rPr lang="en-US" altLang="ko-KR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7454</a:t>
                      </a:r>
                      <a:r>
                        <a:rPr lang="en-US" altLang="ko-Kore-KR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‘), </a:t>
                      </a:r>
                      <a:r>
                        <a:rPr lang="en-US" altLang="ko-Kore-KR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B2(</a:t>
                      </a:r>
                      <a:r>
                        <a:rPr lang="en-US" altLang="ko-KR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8641</a:t>
                      </a:r>
                      <a:r>
                        <a:rPr lang="en-US" altLang="ko-Kore-KR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P7(5600’),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P8(6578’), 34R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N4(6876’),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N5(8507‘)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P6(5597’),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P5(6574’), 16L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N3(7043‘),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N2(8444‘)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01600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8NM 180kts, 5NM 160kts, Parr TAXI 10kts이상,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HIRO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3" name="직사각형 2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5D0FA613-9312-F2DD-DC23-51909AB28B98}"/>
              </a:ext>
            </a:extLst>
          </p:cNvPr>
          <p:cNvSpPr/>
          <p:nvPr/>
        </p:nvSpPr>
        <p:spPr>
          <a:xfrm>
            <a:off x="1651787" y="3049859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8534D4E9-7B50-AB61-FEC1-B03789F420CB}"/>
              </a:ext>
            </a:extLst>
          </p:cNvPr>
          <p:cNvSpPr/>
          <p:nvPr/>
        </p:nvSpPr>
        <p:spPr>
          <a:xfrm>
            <a:off x="847312" y="183398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pic>
        <p:nvPicPr>
          <p:cNvPr id="7" name="그림 6" descr="텍스트, 라인, 폰트, 도표이(가) 표시된 사진&#10;&#10;자동 생성된 설명">
            <a:extLst>
              <a:ext uri="{FF2B5EF4-FFF2-40B4-BE49-F238E27FC236}">
                <a16:creationId xmlns:a16="http://schemas.microsoft.com/office/drawing/2014/main" id="{FD37E064-C7D6-A385-2859-C7566E24ACF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919" y="2568389"/>
            <a:ext cx="964551" cy="7053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34883717"/>
      </p:ext>
    </p:extLst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9">
          <a:extLst>
            <a:ext uri="{FF2B5EF4-FFF2-40B4-BE49-F238E27FC236}">
              <a16:creationId xmlns:a16="http://schemas.microsoft.com/office/drawing/2014/main" id="{22FF73A4-94AA-8A00-AF77-9E8843AFDC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F179AF4B-23CD-124F-C0C8-9DC20C1A596A}"/>
              </a:ext>
            </a:extLst>
          </p:cNvPr>
          <p:cNvSpPr txBox="1"/>
          <p:nvPr/>
        </p:nvSpPr>
        <p:spPr>
          <a:xfrm>
            <a:off x="-77262" y="3211794"/>
            <a:ext cx="2496196" cy="693899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125.15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126.17 – 120.72 – 124.52(125.72)</a:t>
            </a:r>
            <a:endParaRPr kumimoji="1" lang="en-US" altLang="ko-Kore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SHA 120.95 – 120.55 - 125.32 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NKG 126.55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HFE APP 124.45 – 119.85</a:t>
            </a:r>
          </a:p>
        </p:txBody>
      </p:sp>
      <p:graphicFrame>
        <p:nvGraphicFramePr>
          <p:cNvPr id="291" name="Google Shape;291;p18">
            <a:extLst>
              <a:ext uri="{FF2B5EF4-FFF2-40B4-BE49-F238E27FC236}">
                <a16:creationId xmlns:a16="http://schemas.microsoft.com/office/drawing/2014/main" id="{5225E797-C66F-3829-5728-529E7A13D967}"/>
              </a:ext>
            </a:extLst>
          </p:cNvPr>
          <p:cNvGraphicFramePr/>
          <p:nvPr/>
        </p:nvGraphicFramePr>
        <p:xfrm>
          <a:off x="0" y="635155"/>
          <a:ext cx="2332925" cy="256021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91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17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69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21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254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10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15930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SID (33/34 NADP 1, 15/16 NADP 2)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5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BOPTA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xA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BOPTA </a:t>
                      </a:r>
                      <a:r>
                        <a:rPr lang="en-US" sz="800" dirty="0" err="1"/>
                        <a:t>xY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BOPTA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xC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BOPTA </a:t>
                      </a:r>
                      <a:r>
                        <a:rPr lang="en-US" sz="800" dirty="0" err="1"/>
                        <a:t>xH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NCN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113.8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33L 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15L 111.9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15R 109.1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WNG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112.9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109.95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110.35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108.55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580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33L/R : NC05L/R, R242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YJU R271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34L/R : EO34L/R,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YJU R271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44775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33L/R 34L(23’)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15L/R 16R(23’)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4477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34R (23’)</a:t>
                      </a:r>
                      <a:endParaRPr sz="458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 (23’)</a:t>
                      </a:r>
                      <a:endParaRPr sz="458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44775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Parallel TWY 10KTS </a:t>
                      </a:r>
                      <a:r>
                        <a:rPr lang="en-US" sz="800" dirty="0" err="1"/>
                        <a:t>이상</a:t>
                      </a:r>
                      <a:r>
                        <a:rPr lang="en-US" sz="800" dirty="0"/>
                        <a:t>(R17 MAX 15kts)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292" name="Google Shape;292;p18">
            <a:extLst>
              <a:ext uri="{FF2B5EF4-FFF2-40B4-BE49-F238E27FC236}">
                <a16:creationId xmlns:a16="http://schemas.microsoft.com/office/drawing/2014/main" id="{8FA9982D-D6D8-0E82-9799-7C6E20D0059A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377336891"/>
              </p:ext>
            </p:extLst>
          </p:nvPr>
        </p:nvGraphicFramePr>
        <p:xfrm>
          <a:off x="15324" y="3912947"/>
          <a:ext cx="2311025" cy="165541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822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7631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3059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188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61302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HFE : STAR   </a:t>
                      </a:r>
                      <a:r>
                        <a:rPr lang="en-US" sz="800" b="0" dirty="0">
                          <a:solidFill>
                            <a:srgbClr val="FFC000"/>
                          </a:solidFill>
                        </a:rPr>
                        <a:t>SA CAT I not Approved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>
                          <a:solidFill>
                            <a:srgbClr val="FFC000"/>
                          </a:solidFill>
                        </a:rPr>
                        <a:t>RVR 550 </a:t>
                      </a:r>
                      <a:r>
                        <a:rPr lang="en-US" sz="800" b="0" dirty="0" err="1">
                          <a:solidFill>
                            <a:srgbClr val="FFC000"/>
                          </a:solidFill>
                        </a:rPr>
                        <a:t>Wx</a:t>
                      </a:r>
                      <a:r>
                        <a:rPr lang="en-US" sz="800" b="0" dirty="0">
                          <a:solidFill>
                            <a:srgbClr val="FFC000"/>
                          </a:solidFill>
                        </a:rPr>
                        <a:t> Min (with HUD or AP or FD)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FF0000"/>
                          </a:solidFill>
                        </a:rPr>
                        <a:t>DCT “VEMEX”</a:t>
                      </a:r>
                      <a:endParaRPr sz="800" b="1" dirty="0">
                        <a:solidFill>
                          <a:srgbClr val="FF0000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51128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15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MAD 01A</a:t>
                      </a: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OF205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Z 15</a:t>
                      </a: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51128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/>
                        <a:t>33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/>
                        <a:t>MAD 02A,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</a:rPr>
                        <a:t>RDR </a:t>
                      </a:r>
                      <a:r>
                        <a:rPr lang="en-US" altLang="ko-Kore-KR" sz="800" b="1" dirty="0" err="1">
                          <a:solidFill>
                            <a:srgbClr val="0070C0"/>
                          </a:solidFill>
                        </a:rPr>
                        <a:t>Vec</a:t>
                      </a:r>
                      <a:endParaRPr lang="en-US" altLang="ko-Kore-KR"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OF108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Z 33</a:t>
                      </a: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51128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15(200’)          11155’          33(208’)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4116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15 : A5(5500’), A6(6500’), 33 : </a:t>
                      </a: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A4(5500’)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, A3(6500’)</a:t>
                      </a:r>
                      <a:endParaRPr lang="en-US" sz="800" b="0" dirty="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R" sz="800" b="1" dirty="0">
                          <a:solidFill>
                            <a:srgbClr val="C00000"/>
                          </a:solidFill>
                        </a:rPr>
                        <a:t>No AMM                  TWR CLR</a:t>
                      </a:r>
                      <a:endParaRPr lang="en-US" altLang="ko-KR" sz="800" b="0" dirty="0">
                        <a:solidFill>
                          <a:schemeClr val="accent1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R" sz="800" b="0" dirty="0">
                          <a:solidFill>
                            <a:schemeClr val="accent1"/>
                          </a:solidFill>
                        </a:rPr>
                        <a:t>Report Vacating RWY, TWY to TWR</a:t>
                      </a:r>
                      <a:endParaRPr lang="en-US" sz="800" b="0" dirty="0">
                        <a:solidFill>
                          <a:schemeClr val="accent1"/>
                        </a:solidFill>
                      </a:endParaRP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9445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700" dirty="0"/>
                        <a:t>Follow Me Car H(F/G), Report Marshaller Insight</a:t>
                      </a:r>
                      <a:endParaRPr dirty="0"/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293" name="Google Shape;293;p18">
            <a:extLst>
              <a:ext uri="{FF2B5EF4-FFF2-40B4-BE49-F238E27FC236}">
                <a16:creationId xmlns:a16="http://schemas.microsoft.com/office/drawing/2014/main" id="{F6586E72-9505-A68D-6163-26752AF9602E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391305844"/>
              </p:ext>
            </p:extLst>
          </p:nvPr>
        </p:nvGraphicFramePr>
        <p:xfrm>
          <a:off x="-2501" y="16504"/>
          <a:ext cx="2328850" cy="57881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ZSOF(HFE) 207ft</a:t>
                      </a:r>
                      <a:endParaRPr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600"/>
                        <a:buFont typeface="Calibri"/>
                        <a:buNone/>
                      </a:pPr>
                      <a:r>
                        <a:rPr lang="en-US" sz="600" dirty="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-10분 TOBT 5분 </a:t>
                      </a:r>
                      <a:r>
                        <a:rPr lang="en-US" sz="600" dirty="0" err="1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차이시</a:t>
                      </a:r>
                      <a:r>
                        <a:rPr lang="en-US" sz="600" dirty="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CTC Comm</a:t>
                      </a:r>
                      <a:endParaRPr sz="900" dirty="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None</a:t>
                      </a:r>
                      <a:endParaRPr sz="105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47442CBE-0134-C613-4BC2-54B56810AE98}"/>
              </a:ext>
            </a:extLst>
          </p:cNvPr>
          <p:cNvSpPr/>
          <p:nvPr/>
        </p:nvSpPr>
        <p:spPr>
          <a:xfrm>
            <a:off x="1651787" y="3420245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179B37DD-EE7B-8538-714F-0B0E69584813}"/>
              </a:ext>
            </a:extLst>
          </p:cNvPr>
          <p:cNvSpPr/>
          <p:nvPr/>
        </p:nvSpPr>
        <p:spPr>
          <a:xfrm>
            <a:off x="820538" y="26372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843265435"/>
      </p:ext>
    </p:extLst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5">
          <a:extLst>
            <a:ext uri="{FF2B5EF4-FFF2-40B4-BE49-F238E27FC236}">
              <a16:creationId xmlns:a16="http://schemas.microsoft.com/office/drawing/2014/main" id="{F7A00444-65D0-C212-1393-2F2732621E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7" name="Google Shape;397;p30">
            <a:extLst>
              <a:ext uri="{FF2B5EF4-FFF2-40B4-BE49-F238E27FC236}">
                <a16:creationId xmlns:a16="http://schemas.microsoft.com/office/drawing/2014/main" id="{A399D77B-6746-0424-93E8-059E004A92D3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1" y="-9795"/>
            <a:ext cx="2328863" cy="5064777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EE64775F-96C4-F314-6FEE-E605479C8C58}"/>
              </a:ext>
            </a:extLst>
          </p:cNvPr>
          <p:cNvSpPr txBox="1"/>
          <p:nvPr/>
        </p:nvSpPr>
        <p:spPr>
          <a:xfrm>
            <a:off x="1278611" y="4006314"/>
            <a:ext cx="1031051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900" b="1" dirty="0">
                <a:solidFill>
                  <a:srgbClr val="0070C0"/>
                </a:solidFill>
              </a:rPr>
              <a:t>550M       1800ft</a:t>
            </a:r>
            <a:endParaRPr kumimoji="1" lang="ko-Kore-KR" altLang="en-US" sz="900" b="1" dirty="0">
              <a:solidFill>
                <a:srgbClr val="0070C0"/>
              </a:solidFill>
            </a:endParaRP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9DD16C1B-B2BE-39D5-6D32-5D55F65E2F0F}"/>
              </a:ext>
            </a:extLst>
          </p:cNvPr>
          <p:cNvSpPr/>
          <p:nvPr/>
        </p:nvSpPr>
        <p:spPr>
          <a:xfrm>
            <a:off x="55571" y="3177666"/>
            <a:ext cx="1000283" cy="333428"/>
          </a:xfrm>
          <a:prstGeom prst="rect">
            <a:avLst/>
          </a:prstGeom>
          <a:noFill/>
          <a:ln w="3492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76B962A-9955-6973-4956-E17DED997C74}"/>
              </a:ext>
            </a:extLst>
          </p:cNvPr>
          <p:cNvSpPr txBox="1"/>
          <p:nvPr/>
        </p:nvSpPr>
        <p:spPr>
          <a:xfrm>
            <a:off x="997707" y="3142302"/>
            <a:ext cx="330540" cy="41287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900" b="1" dirty="0">
                <a:solidFill>
                  <a:srgbClr val="0070C0"/>
                </a:solidFill>
              </a:rPr>
              <a:t>TL</a:t>
            </a:r>
          </a:p>
          <a:p>
            <a:pPr algn="dist">
              <a:lnSpc>
                <a:spcPct val="150000"/>
              </a:lnSpc>
            </a:pPr>
            <a:r>
              <a:rPr kumimoji="1" lang="en-US" altLang="ko-Kore-KR" sz="900" b="1" dirty="0">
                <a:solidFill>
                  <a:srgbClr val="0070C0"/>
                </a:solidFill>
              </a:rPr>
              <a:t>TA</a:t>
            </a:r>
            <a:endParaRPr kumimoji="1" lang="ko-Kore-KR" altLang="en-US" sz="900" b="1" dirty="0">
              <a:solidFill>
                <a:srgbClr val="0070C0"/>
              </a:solidFill>
            </a:endParaRPr>
          </a:p>
        </p:txBody>
      </p:sp>
      <p:sp>
        <p:nvSpPr>
          <p:cNvPr id="6" name="직사각형 5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19C970C1-71C2-3ACD-C30C-D0B0C078B529}"/>
              </a:ext>
            </a:extLst>
          </p:cNvPr>
          <p:cNvSpPr/>
          <p:nvPr/>
        </p:nvSpPr>
        <p:spPr>
          <a:xfrm>
            <a:off x="847353" y="527797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92271073"/>
      </p:ext>
    </p:extLst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>
          <a:extLst>
            <a:ext uri="{FF2B5EF4-FFF2-40B4-BE49-F238E27FC236}">
              <a16:creationId xmlns:a16="http://schemas.microsoft.com/office/drawing/2014/main" id="{777628F0-D372-0CA9-C296-D7E3A92D9F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17" name="Google Shape;117;p3">
            <a:extLst>
              <a:ext uri="{FF2B5EF4-FFF2-40B4-BE49-F238E27FC236}">
                <a16:creationId xmlns:a16="http://schemas.microsoft.com/office/drawing/2014/main" id="{61CFE0C6-4258-86C9-1D05-8493D3F270E7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585104227"/>
              </p:ext>
            </p:extLst>
          </p:nvPr>
        </p:nvGraphicFramePr>
        <p:xfrm>
          <a:off x="-4159" y="622988"/>
          <a:ext cx="2339846" cy="1300783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3271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5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748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2148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6655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9251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473769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320084">
                  <a:extLst>
                    <a:ext uri="{9D8B030D-6E8A-4147-A177-3AD203B41FA5}">
                      <a16:colId xmlns:a16="http://schemas.microsoft.com/office/drawing/2014/main" val="448940902"/>
                    </a:ext>
                  </a:extLst>
                </a:gridCol>
              </a:tblGrid>
              <a:tr h="146740">
                <a:tc gridSpan="8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HFE: SID (NADP 1) </a:t>
                      </a:r>
                    </a:p>
                  </a:txBody>
                  <a:tcPr marL="36000" marR="72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9237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15</a:t>
                      </a:r>
                      <a:endParaRPr sz="800" b="0" u="none" strike="noStrike" cap="none" dirty="0"/>
                    </a:p>
                  </a:txBody>
                  <a:tcPr marL="0" marR="0" marT="36000" marB="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MAD 01/03D</a:t>
                      </a: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154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154</a:t>
                      </a:r>
                      <a:endParaRPr sz="800" b="1" u="none" strike="noStrike" cap="none" dirty="0"/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(900m)</a:t>
                      </a:r>
                      <a:endParaRPr lang="ko-Kore-KR" dirty="0"/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154</a:t>
                      </a:r>
                      <a:endParaRPr lang="ko-Kore-KR" altLang="en-US" dirty="0"/>
                    </a:p>
                  </a:txBody>
                  <a:tcPr marL="0" marR="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9237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/>
                        <a:t>33</a:t>
                      </a:r>
                    </a:p>
                  </a:txBody>
                  <a:tcPr marL="0" marR="0" marT="36000" marB="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MAD 02/04D</a:t>
                      </a: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334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334</a:t>
                      </a:r>
                      <a:endParaRPr sz="800" b="1" u="none" strike="noStrike" cap="none" dirty="0"/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(900m)</a:t>
                      </a:r>
                      <a:endParaRPr lang="ko-Kore-KR" dirty="0"/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334</a:t>
                      </a:r>
                      <a:endParaRPr lang="ko-Kore-KR" altLang="en-US" dirty="0"/>
                    </a:p>
                  </a:txBody>
                  <a:tcPr marL="0" marR="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64587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XQH 109.8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15    109.3</a:t>
                      </a: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33    108.5</a:t>
                      </a: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dirty="0"/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6132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0" marR="0" marT="36000" marB="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ore-KR" sz="800" b="1" dirty="0">
                          <a:solidFill>
                            <a:srgbClr val="00B050"/>
                          </a:solidFill>
                        </a:rPr>
                        <a:t>15(200’)          11155’          33(208’)</a:t>
                      </a: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16L/R(12’/11’)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17L(10’)</a:t>
                      </a: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43856">
                <a:tc gridSpan="8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>
                          <a:solidFill>
                            <a:srgbClr val="00B050"/>
                          </a:solidFill>
                        </a:rPr>
                        <a:t>Confirm Pushback Direction &amp; RWY</a:t>
                      </a: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119" name="Google Shape;119;p3">
            <a:extLst>
              <a:ext uri="{FF2B5EF4-FFF2-40B4-BE49-F238E27FC236}">
                <a16:creationId xmlns:a16="http://schemas.microsoft.com/office/drawing/2014/main" id="{A2BCE2B1-C74D-3AFF-60FB-3D3D12DC5B1E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029514188"/>
              </p:ext>
            </p:extLst>
          </p:nvPr>
        </p:nvGraphicFramePr>
        <p:xfrm>
          <a:off x="-2501" y="16504"/>
          <a:ext cx="2328850" cy="60930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ZSOF(HFE) 207ft</a:t>
                      </a:r>
                      <a:endParaRPr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None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FF0000"/>
                          </a:solidFill>
                        </a:rPr>
                        <a:t>DCL(NO Readback)</a:t>
                      </a:r>
                    </a:p>
                  </a:txBody>
                  <a:tcPr marL="36000" marR="3600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0EB04AD8-D9E4-76EC-E5FB-300A9A730A73}"/>
              </a:ext>
            </a:extLst>
          </p:cNvPr>
          <p:cNvSpPr txBox="1"/>
          <p:nvPr/>
        </p:nvSpPr>
        <p:spPr>
          <a:xfrm>
            <a:off x="32545" y="2128974"/>
            <a:ext cx="1710405" cy="782778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HFE APP 119.85</a:t>
            </a:r>
            <a:r>
              <a:rPr kumimoji="1" lang="en-US" altLang="ko-Kore-KR" sz="700" b="1" u="sng" dirty="0">
                <a:solidFill>
                  <a:srgbClr val="C0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- 124.45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NKG APP 126.55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SHA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132.4 - 120.55 - 120.95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ICN 125.725(124.52) – 120.72 – 126.17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APP – 119.75</a:t>
            </a:r>
            <a:endParaRPr kumimoji="1" lang="ko-Kore-KR" altLang="en-US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graphicFrame>
        <p:nvGraphicFramePr>
          <p:cNvPr id="5" name="Google Shape;303;p19">
            <a:extLst>
              <a:ext uri="{FF2B5EF4-FFF2-40B4-BE49-F238E27FC236}">
                <a16:creationId xmlns:a16="http://schemas.microsoft.com/office/drawing/2014/main" id="{597B4D83-CABC-3458-4491-C849AB332E79}"/>
              </a:ext>
            </a:extLst>
          </p:cNvPr>
          <p:cNvGraphicFramePr/>
          <p:nvPr/>
        </p:nvGraphicFramePr>
        <p:xfrm>
          <a:off x="1119" y="3405664"/>
          <a:ext cx="2325975" cy="2130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59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3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55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774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STAR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33/34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</a:t>
                      </a:r>
                      <a:r>
                        <a:rPr lang="en-US" sz="800" b="1" dirty="0" err="1"/>
                        <a:t>xE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ENPIL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180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15/16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</a:t>
                      </a:r>
                      <a:r>
                        <a:rPr lang="en-US" sz="800" b="1" dirty="0" err="1"/>
                        <a:t>xH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MUNAN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180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285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33L/R 34L(23’)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15L/R 16R(23’)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285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34R(23’)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13123’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16L(23’)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64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FIX</a:t>
                      </a:r>
                      <a:endParaRPr/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RWY /8, /5 , YJU R271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C4(7529’),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C5(8513’), 33L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: B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7563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8513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C2(7522’),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C1(8536’), 15R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B3(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7454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B2(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8641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P7(5600’),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P8(6578’), 34R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N4(6876’),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N5(8507‘)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P6(5597’),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P5(6574’), 16L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N3(7043‘),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N2(8444‘)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01600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8NM 180kts, 5NM 160kts, Parr TAXI 10kts이상,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HIRO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6" name="직사각형 5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54003D5B-CD63-500B-2937-F0A8F12629AB}"/>
              </a:ext>
            </a:extLst>
          </p:cNvPr>
          <p:cNvSpPr/>
          <p:nvPr/>
        </p:nvSpPr>
        <p:spPr>
          <a:xfrm>
            <a:off x="1651787" y="2899389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C3EF7D9C-B8AB-C70B-000C-0CCBC7A1B98A}"/>
              </a:ext>
            </a:extLst>
          </p:cNvPr>
          <p:cNvSpPr/>
          <p:nvPr/>
        </p:nvSpPr>
        <p:spPr>
          <a:xfrm>
            <a:off x="844824" y="32423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240637297"/>
      </p:ext>
    </p:extLst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9">
          <a:extLst>
            <a:ext uri="{FF2B5EF4-FFF2-40B4-BE49-F238E27FC236}">
              <a16:creationId xmlns:a16="http://schemas.microsoft.com/office/drawing/2014/main" id="{55657D24-EF04-788C-A1E9-7789054D11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AA0A2667-F766-B4F2-F036-D649D29449F8}"/>
              </a:ext>
            </a:extLst>
          </p:cNvPr>
          <p:cNvSpPr txBox="1"/>
          <p:nvPr/>
        </p:nvSpPr>
        <p:spPr>
          <a:xfrm>
            <a:off x="-77262" y="3102610"/>
            <a:ext cx="2547492" cy="693899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125.15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128.7 – DLC 132.95 – TAO 128.55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PEK 127.35 – 127.5 - 132.2 – CAN 18.9 – 133.5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CAN 135.35 – 132.35 – 128.72 – CHD 132.25 – 133.65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KMG 134.35 - APP 120.35 – 119.0</a:t>
            </a:r>
          </a:p>
        </p:txBody>
      </p:sp>
      <p:graphicFrame>
        <p:nvGraphicFramePr>
          <p:cNvPr id="292" name="Google Shape;292;p18">
            <a:extLst>
              <a:ext uri="{FF2B5EF4-FFF2-40B4-BE49-F238E27FC236}">
                <a16:creationId xmlns:a16="http://schemas.microsoft.com/office/drawing/2014/main" id="{665C0695-28F6-DD44-D6A8-CC9C5617F8DF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692333848"/>
              </p:ext>
            </p:extLst>
          </p:nvPr>
        </p:nvGraphicFramePr>
        <p:xfrm>
          <a:off x="15324" y="3815434"/>
          <a:ext cx="2311025" cy="17578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822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6251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5188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92514">
                  <a:extLst>
                    <a:ext uri="{9D8B030D-6E8A-4147-A177-3AD203B41FA5}">
                      <a16:colId xmlns:a16="http://schemas.microsoft.com/office/drawing/2014/main" val="1537120119"/>
                    </a:ext>
                  </a:extLst>
                </a:gridCol>
                <a:gridCol w="52188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87250">
                <a:tc gridSpan="5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KMG : STAR  (L/D </a:t>
                      </a:r>
                      <a:r>
                        <a:rPr lang="en-US" sz="800" dirty="0" err="1"/>
                        <a:t>Wt</a:t>
                      </a:r>
                      <a:r>
                        <a:rPr lang="en-US" sz="800" dirty="0"/>
                        <a:t> Limit, no VOR at A/P)</a:t>
                      </a:r>
                      <a:endParaRPr lang="en-US" sz="800" b="0" dirty="0">
                        <a:solidFill>
                          <a:srgbClr val="FFC000"/>
                        </a:solidFill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rgbClr val="FFC000"/>
                          </a:solidFill>
                        </a:rPr>
                        <a:t>Check </a:t>
                      </a:r>
                      <a:r>
                        <a:rPr lang="en-US" sz="900" b="1" dirty="0">
                          <a:solidFill>
                            <a:srgbClr val="FF0000"/>
                          </a:solidFill>
                          <a:hlinkClick r:id="rId3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NO ENG BLEED L/D</a:t>
                      </a:r>
                      <a:r>
                        <a:rPr lang="en-US" sz="900" b="1" dirty="0">
                          <a:solidFill>
                            <a:srgbClr val="FF0000"/>
                          </a:solidFill>
                        </a:rPr>
                        <a:t>, </a:t>
                      </a:r>
                      <a:r>
                        <a:rPr lang="en-US" sz="900" b="1" dirty="0">
                          <a:solidFill>
                            <a:schemeClr val="accent2"/>
                          </a:solidFill>
                          <a:hlinkClick r:id="rId4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FLAP 15 L/D</a:t>
                      </a:r>
                      <a:endParaRPr lang="en-US" sz="900" b="1" dirty="0">
                        <a:solidFill>
                          <a:schemeClr val="accent2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6136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03/04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XIS 2J </a:t>
                      </a:r>
                      <a:r>
                        <a:rPr lang="en-US" sz="800" b="0" dirty="0"/>
                        <a:t>(1,3J)</a:t>
                      </a: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MP3 </a:t>
                      </a:r>
                      <a:r>
                        <a:rPr lang="en-US" sz="800" b="0" dirty="0"/>
                        <a:t>(XSJ)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Z</a:t>
                      </a: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6136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/>
                        <a:t>21/22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/>
                        <a:t>XIS 2L </a:t>
                      </a:r>
                      <a:r>
                        <a:rPr lang="en-US" altLang="ko-Kore-KR" sz="800" b="0" dirty="0"/>
                        <a:t>(1,3L)</a:t>
                      </a:r>
                      <a:endParaRPr lang="en-US" altLang="ko-Kore-KR" sz="800" b="0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MP1</a:t>
                      </a:r>
                      <a:r>
                        <a:rPr lang="en-US" sz="800" b="0" dirty="0"/>
                        <a:t> (MP2)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Z</a:t>
                      </a: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0587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03(6896’)    11352’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04(6885’)    14764’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ore-KR" sz="800" b="1" dirty="0">
                          <a:solidFill>
                            <a:srgbClr val="00B050"/>
                          </a:solidFill>
                        </a:rPr>
                        <a:t>11352’     21(6887’)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13123’     22(6879’)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66136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FIX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dirty="0">
                          <a:solidFill>
                            <a:schemeClr val="tx1"/>
                          </a:solidFill>
                        </a:rPr>
                        <a:t>RWY21/22 /8 170kts, /6 160kts</a:t>
                      </a:r>
                      <a:endParaRPr sz="800" b="0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64524519"/>
                  </a:ext>
                </a:extLst>
              </a:tr>
              <a:tr h="270587">
                <a:tc gridSpan="5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03 : F4(5994’), F3(7227’),     21 : F7(5892’), F8(7204’)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</a:rPr>
                        <a:t>04 : C5(6482’), C4(716’),       22 : C6(6509’), C7(7726’)</a:t>
                      </a:r>
                      <a:endParaRPr lang="en-US" sz="800" b="0" dirty="0">
                        <a:solidFill>
                          <a:schemeClr val="dk1"/>
                        </a:solidFill>
                      </a:endParaRP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66136">
                <a:tc gridSpan="5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700" dirty="0"/>
                        <a:t>Follow Me Car </a:t>
                      </a:r>
                      <a:r>
                        <a:rPr lang="en-US" sz="700" b="1" dirty="0"/>
                        <a:t>D7</a:t>
                      </a:r>
                      <a:r>
                        <a:rPr lang="en-US" sz="700" dirty="0"/>
                        <a:t>, </a:t>
                      </a:r>
                      <a:r>
                        <a:rPr lang="en-US" sz="800" b="1" dirty="0"/>
                        <a:t>R East only, Q West Only</a:t>
                      </a:r>
                      <a:endParaRPr b="1" dirty="0"/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293" name="Google Shape;293;p18">
            <a:extLst>
              <a:ext uri="{FF2B5EF4-FFF2-40B4-BE49-F238E27FC236}">
                <a16:creationId xmlns:a16="http://schemas.microsoft.com/office/drawing/2014/main" id="{3EF6D167-24A1-9215-ABD7-487F64DC0C52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317768073"/>
              </p:ext>
            </p:extLst>
          </p:nvPr>
        </p:nvGraphicFramePr>
        <p:xfrm>
          <a:off x="-2501" y="16504"/>
          <a:ext cx="2328850" cy="57881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5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bg1"/>
                          </a:solidFill>
                          <a:hlinkClick r:id="rId6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ZPPP(KMG) </a:t>
                      </a:r>
                      <a:r>
                        <a:rPr lang="en-US" sz="1100" dirty="0">
                          <a:solidFill>
                            <a:srgbClr val="FF0000"/>
                          </a:solidFill>
                          <a:hlinkClick r:id="rId6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6901ft</a:t>
                      </a:r>
                      <a:endParaRPr sz="1300" dirty="0">
                        <a:solidFill>
                          <a:srgbClr val="FF0000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600"/>
                        <a:buFont typeface="Calibri"/>
                        <a:buNone/>
                      </a:pPr>
                      <a:r>
                        <a:rPr lang="en-US" sz="600" dirty="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-10분 TOBT 5분 </a:t>
                      </a:r>
                      <a:r>
                        <a:rPr lang="en-US" sz="600" dirty="0" err="1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차이시</a:t>
                      </a:r>
                      <a:r>
                        <a:rPr lang="en-US" sz="600" dirty="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CTC Comm</a:t>
                      </a:r>
                      <a:endParaRPr sz="900" dirty="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KMG 133.35</a:t>
                      </a:r>
                      <a:endParaRPr sz="105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57245724-33D4-02A8-C4A0-C832FF8FFE59}"/>
              </a:ext>
            </a:extLst>
          </p:cNvPr>
          <p:cNvSpPr/>
          <p:nvPr/>
        </p:nvSpPr>
        <p:spPr>
          <a:xfrm>
            <a:off x="1610843" y="354990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9235581E-ACC7-00F2-10B7-543CD2C385F8}"/>
              </a:ext>
            </a:extLst>
          </p:cNvPr>
          <p:cNvSpPr/>
          <p:nvPr/>
        </p:nvSpPr>
        <p:spPr>
          <a:xfrm>
            <a:off x="820538" y="26372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8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graphicFrame>
        <p:nvGraphicFramePr>
          <p:cNvPr id="5" name="Google Shape;291;p18">
            <a:extLst>
              <a:ext uri="{FF2B5EF4-FFF2-40B4-BE49-F238E27FC236}">
                <a16:creationId xmlns:a16="http://schemas.microsoft.com/office/drawing/2014/main" id="{5049F2F4-85AA-4A63-9F66-7192D50846FA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961500826"/>
              </p:ext>
            </p:extLst>
          </p:nvPr>
        </p:nvGraphicFramePr>
        <p:xfrm>
          <a:off x="0" y="606927"/>
          <a:ext cx="2332925" cy="2525112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91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17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69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21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254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10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181611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SID (33/34 NADP 1, 15/16 NADP 2)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0702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NOPIK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xA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5056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NOPIK </a:t>
                      </a:r>
                      <a:r>
                        <a:rPr lang="en-US" sz="800" dirty="0" err="1"/>
                        <a:t>xY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65056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BINIL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xC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65056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BINIL </a:t>
                      </a:r>
                      <a:r>
                        <a:rPr lang="en-US" sz="800" dirty="0" err="1"/>
                        <a:t>xH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68829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NCN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113.8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33L 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33R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108.9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15L 111.9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15R 109.1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68829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WNG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112.9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109.95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110.35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108.55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68829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33L/R : NC05L/R,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P518 R068, R278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34L/R : EO34L/R,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ore-KR" sz="800" dirty="0"/>
                        <a:t>P518 R068, R278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65056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33L/R 34L(23’)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15L/R 16R(23’)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65056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34R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65056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Parallel TWY 10KTS </a:t>
                      </a:r>
                      <a:r>
                        <a:rPr lang="en-US" sz="800" dirty="0" err="1"/>
                        <a:t>이상</a:t>
                      </a:r>
                      <a:r>
                        <a:rPr lang="en-US" sz="800" dirty="0"/>
                        <a:t>(R17 MAX 15kts)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19168309"/>
      </p:ext>
    </p:extLst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5">
          <a:extLst>
            <a:ext uri="{FF2B5EF4-FFF2-40B4-BE49-F238E27FC236}">
              <a16:creationId xmlns:a16="http://schemas.microsoft.com/office/drawing/2014/main" id="{DB7FAE1E-B18C-74EC-9B2A-076C45F403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7" name="Google Shape;397;p30">
            <a:extLst>
              <a:ext uri="{FF2B5EF4-FFF2-40B4-BE49-F238E27FC236}">
                <a16:creationId xmlns:a16="http://schemas.microsoft.com/office/drawing/2014/main" id="{BD773260-2EF4-64FA-451C-67FFE2E4B96F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1" y="-9795"/>
            <a:ext cx="2328863" cy="5064777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100FAE85-9FD7-AAA7-8D18-E346FB76BA1D}"/>
              </a:ext>
            </a:extLst>
          </p:cNvPr>
          <p:cNvSpPr txBox="1"/>
          <p:nvPr/>
        </p:nvSpPr>
        <p:spPr>
          <a:xfrm>
            <a:off x="1278611" y="4006314"/>
            <a:ext cx="1031051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900" b="1" dirty="0">
                <a:solidFill>
                  <a:srgbClr val="0070C0"/>
                </a:solidFill>
              </a:rPr>
              <a:t>550M       1800ft</a:t>
            </a:r>
            <a:endParaRPr kumimoji="1" lang="ko-Kore-KR" altLang="en-US" sz="900" b="1" dirty="0">
              <a:solidFill>
                <a:srgbClr val="0070C0"/>
              </a:solidFill>
            </a:endParaRP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BA9A2C8C-327C-FB35-BE2C-6164DD8593E3}"/>
              </a:ext>
            </a:extLst>
          </p:cNvPr>
          <p:cNvSpPr/>
          <p:nvPr/>
        </p:nvSpPr>
        <p:spPr>
          <a:xfrm>
            <a:off x="55571" y="3177666"/>
            <a:ext cx="1000283" cy="333428"/>
          </a:xfrm>
          <a:prstGeom prst="rect">
            <a:avLst/>
          </a:prstGeom>
          <a:noFill/>
          <a:ln w="3492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9387D75-AA7B-0E17-26E2-A9031A8B166B}"/>
              </a:ext>
            </a:extLst>
          </p:cNvPr>
          <p:cNvSpPr txBox="1"/>
          <p:nvPr/>
        </p:nvSpPr>
        <p:spPr>
          <a:xfrm>
            <a:off x="997707" y="3142302"/>
            <a:ext cx="330540" cy="41287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900" b="1" dirty="0">
                <a:solidFill>
                  <a:srgbClr val="0070C0"/>
                </a:solidFill>
              </a:rPr>
              <a:t>TL</a:t>
            </a:r>
          </a:p>
          <a:p>
            <a:pPr algn="dist">
              <a:lnSpc>
                <a:spcPct val="150000"/>
              </a:lnSpc>
            </a:pPr>
            <a:r>
              <a:rPr kumimoji="1" lang="en-US" altLang="ko-Kore-KR" sz="900" b="1" dirty="0">
                <a:solidFill>
                  <a:srgbClr val="0070C0"/>
                </a:solidFill>
              </a:rPr>
              <a:t>TA</a:t>
            </a:r>
            <a:endParaRPr kumimoji="1" lang="ko-Kore-KR" altLang="en-US" sz="900" b="1" dirty="0">
              <a:solidFill>
                <a:srgbClr val="0070C0"/>
              </a:solidFill>
            </a:endParaRPr>
          </a:p>
        </p:txBody>
      </p:sp>
      <p:sp>
        <p:nvSpPr>
          <p:cNvPr id="6" name="직사각형 5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C698FB7A-3563-0A57-494B-50A15AA05870}"/>
              </a:ext>
            </a:extLst>
          </p:cNvPr>
          <p:cNvSpPr/>
          <p:nvPr/>
        </p:nvSpPr>
        <p:spPr>
          <a:xfrm>
            <a:off x="847353" y="527797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719577641"/>
      </p:ext>
    </p:extLst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>
          <a:extLst>
            <a:ext uri="{FF2B5EF4-FFF2-40B4-BE49-F238E27FC236}">
              <a16:creationId xmlns:a16="http://schemas.microsoft.com/office/drawing/2014/main" id="{C9E1F807-0D99-3574-03F6-F70BD7E5E0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17" name="Google Shape;117;p3">
            <a:extLst>
              <a:ext uri="{FF2B5EF4-FFF2-40B4-BE49-F238E27FC236}">
                <a16:creationId xmlns:a16="http://schemas.microsoft.com/office/drawing/2014/main" id="{E8309597-2BC1-0786-685C-C832E85B0122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012195289"/>
              </p:ext>
            </p:extLst>
          </p:nvPr>
        </p:nvGraphicFramePr>
        <p:xfrm>
          <a:off x="-4159" y="643460"/>
          <a:ext cx="2339848" cy="1555803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3271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5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70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01959">
                  <a:extLst>
                    <a:ext uri="{9D8B030D-6E8A-4147-A177-3AD203B41FA5}">
                      <a16:colId xmlns:a16="http://schemas.microsoft.com/office/drawing/2014/main" val="2691487666"/>
                    </a:ext>
                  </a:extLst>
                </a:gridCol>
                <a:gridCol w="183003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83555">
                  <a:extLst>
                    <a:ext uri="{9D8B030D-6E8A-4147-A177-3AD203B41FA5}">
                      <a16:colId xmlns:a16="http://schemas.microsoft.com/office/drawing/2014/main" val="3936429666"/>
                    </a:ext>
                  </a:extLst>
                </a:gridCol>
                <a:gridCol w="29251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0889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264878">
                  <a:extLst>
                    <a:ext uri="{9D8B030D-6E8A-4147-A177-3AD203B41FA5}">
                      <a16:colId xmlns:a16="http://schemas.microsoft.com/office/drawing/2014/main" val="89384936"/>
                    </a:ext>
                  </a:extLst>
                </a:gridCol>
                <a:gridCol w="320084">
                  <a:extLst>
                    <a:ext uri="{9D8B030D-6E8A-4147-A177-3AD203B41FA5}">
                      <a16:colId xmlns:a16="http://schemas.microsoft.com/office/drawing/2014/main" val="448940902"/>
                    </a:ext>
                  </a:extLst>
                </a:gridCol>
              </a:tblGrid>
              <a:tr h="14674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KMG: SID (NADP 1)  </a:t>
                      </a:r>
                      <a:r>
                        <a:rPr lang="en-US" sz="800" u="none" strike="noStrike" cap="none" dirty="0">
                          <a:solidFill>
                            <a:srgbClr val="FF0000"/>
                          </a:solidFill>
                        </a:rPr>
                        <a:t>Check T/O Perf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>
                          <a:solidFill>
                            <a:srgbClr val="FFC000"/>
                          </a:solidFill>
                        </a:rPr>
                        <a:t>Report SID to TWR Initial CTC</a:t>
                      </a:r>
                    </a:p>
                  </a:txBody>
                  <a:tcPr marL="36000" marR="72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9237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03/04</a:t>
                      </a:r>
                      <a:endParaRPr sz="800" b="0" u="none" strike="noStrike" cap="none" dirty="0"/>
                    </a:p>
                  </a:txBody>
                  <a:tcPr marL="0" marR="0" marT="36000" marB="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NOD x W/X</a:t>
                      </a: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040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040</a:t>
                      </a:r>
                      <a:endParaRPr sz="800" b="1" u="none" strike="noStrike" cap="none" dirty="0"/>
                    </a:p>
                  </a:txBody>
                  <a:tcPr marL="0" marR="0" marT="0" marB="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ATC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(3000m)</a:t>
                      </a:r>
                      <a:endParaRPr lang="ko-Kore-KR" dirty="0"/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040</a:t>
                      </a:r>
                      <a:endParaRPr lang="ko-Kore-KR" altLang="en-US" dirty="0"/>
                    </a:p>
                  </a:txBody>
                  <a:tcPr marL="0" marR="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9237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21/22</a:t>
                      </a:r>
                    </a:p>
                  </a:txBody>
                  <a:tcPr marL="0" marR="0" marT="36000" marB="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NOD x Y/Z</a:t>
                      </a: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220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220</a:t>
                      </a:r>
                      <a:endParaRPr sz="800" b="1" u="none" strike="noStrike" cap="none" dirty="0"/>
                    </a:p>
                  </a:txBody>
                  <a:tcPr marL="0" marR="0" marT="0" marB="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ATC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(3000m)</a:t>
                      </a:r>
                      <a:endParaRPr lang="ko-Kore-KR" dirty="0"/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220</a:t>
                      </a:r>
                      <a:endParaRPr lang="ko-Kore-KR" altLang="en-US" dirty="0"/>
                    </a:p>
                  </a:txBody>
                  <a:tcPr marL="0" marR="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64587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03 111.3</a:t>
                      </a: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04 109.3</a:t>
                      </a: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21 110.1</a:t>
                      </a: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dirty="0"/>
                    </a:p>
                  </a:txBody>
                  <a:tcPr marL="0" marR="0" marT="0" marB="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22 108.5</a:t>
                      </a: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dirty="0"/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6132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0" marR="0" marT="36000" marB="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8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ore-KR" sz="800" b="1" dirty="0">
                          <a:solidFill>
                            <a:srgbClr val="00B050"/>
                          </a:solidFill>
                        </a:rPr>
                        <a:t>03(6896’)            13123’            21(6887’)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ore-KR" sz="800" b="1" dirty="0">
                          <a:solidFill>
                            <a:srgbClr val="00B050"/>
                          </a:solidFill>
                        </a:rPr>
                        <a:t>04(6885’)            14764’            22(6879’)       </a:t>
                      </a: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16L/R(12’/11’)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17L(10’)</a:t>
                      </a: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43856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>
                          <a:solidFill>
                            <a:srgbClr val="00B050"/>
                          </a:solidFill>
                        </a:rPr>
                        <a:t>Pushback After 5min, Eng Start After Pushback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tx1"/>
                          </a:solidFill>
                        </a:rPr>
                        <a:t>Watch STOPBAR L/T, Don’t Confuse J, C1, C2</a:t>
                      </a: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119" name="Google Shape;119;p3">
            <a:extLst>
              <a:ext uri="{FF2B5EF4-FFF2-40B4-BE49-F238E27FC236}">
                <a16:creationId xmlns:a16="http://schemas.microsoft.com/office/drawing/2014/main" id="{86851603-C2B9-746F-A760-C9423ACB89B5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13548295"/>
              </p:ext>
            </p:extLst>
          </p:nvPr>
        </p:nvGraphicFramePr>
        <p:xfrm>
          <a:off x="-2501" y="16504"/>
          <a:ext cx="2328850" cy="60930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ZPPP(KMG) </a:t>
                      </a:r>
                      <a:r>
                        <a:rPr lang="en-US" sz="1100" dirty="0">
                          <a:solidFill>
                            <a:srgbClr val="FF0000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6901ft</a:t>
                      </a:r>
                      <a:endParaRPr sz="1100" dirty="0">
                        <a:solidFill>
                          <a:srgbClr val="FF000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KMG 133.35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FF0000"/>
                          </a:solidFill>
                        </a:rPr>
                        <a:t>DCL 10-30min TOBT</a:t>
                      </a:r>
                    </a:p>
                  </a:txBody>
                  <a:tcPr marL="36000" marR="3600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8926328A-E9B9-D486-502B-D68E01ED0134}"/>
              </a:ext>
            </a:extLst>
          </p:cNvPr>
          <p:cNvSpPr txBox="1"/>
          <p:nvPr/>
        </p:nvSpPr>
        <p:spPr>
          <a:xfrm>
            <a:off x="32545" y="2281540"/>
            <a:ext cx="1380186" cy="136448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KMG APP 124.25</a:t>
            </a:r>
            <a:r>
              <a:rPr kumimoji="1" lang="en-US" altLang="ko-Kore-KR" sz="700" b="1" u="sng" dirty="0">
                <a:solidFill>
                  <a:srgbClr val="C0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 KMG 125.75</a:t>
            </a:r>
          </a:p>
        </p:txBody>
      </p:sp>
      <p:sp>
        <p:nvSpPr>
          <p:cNvPr id="6" name="직사각형 5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BCD12EC5-2C4E-47F2-1E10-686FD8FE7030}"/>
              </a:ext>
            </a:extLst>
          </p:cNvPr>
          <p:cNvSpPr/>
          <p:nvPr/>
        </p:nvSpPr>
        <p:spPr>
          <a:xfrm>
            <a:off x="1651787" y="2899389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809BD212-F7DA-E363-F1F3-3E28935E209E}"/>
              </a:ext>
            </a:extLst>
          </p:cNvPr>
          <p:cNvSpPr/>
          <p:nvPr/>
        </p:nvSpPr>
        <p:spPr>
          <a:xfrm>
            <a:off x="844824" y="32423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graphicFrame>
        <p:nvGraphicFramePr>
          <p:cNvPr id="3" name="Google Shape;303;p19">
            <a:extLst>
              <a:ext uri="{FF2B5EF4-FFF2-40B4-BE49-F238E27FC236}">
                <a16:creationId xmlns:a16="http://schemas.microsoft.com/office/drawing/2014/main" id="{C1F55D7A-A272-9D92-C849-FD4500C03132}"/>
              </a:ext>
            </a:extLst>
          </p:cNvPr>
          <p:cNvGraphicFramePr/>
          <p:nvPr/>
        </p:nvGraphicFramePr>
        <p:xfrm>
          <a:off x="1119" y="3405664"/>
          <a:ext cx="2325975" cy="2130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59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3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55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774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STAR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33/34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</a:t>
                      </a:r>
                      <a:r>
                        <a:rPr lang="en-US" sz="800" b="1" dirty="0" err="1"/>
                        <a:t>xA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PAMBI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170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15/16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</a:t>
                      </a:r>
                      <a:r>
                        <a:rPr lang="en-US" sz="800" b="1" dirty="0" err="1"/>
                        <a:t>xH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MUNAN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170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285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33L/R 34L(23’)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15L/R 16R(23’)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285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34R(23’)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13123’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16L(23’)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64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FIX</a:t>
                      </a:r>
                      <a:endParaRPr/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RWY /8, /5 , P518 R068, R278</a:t>
                      </a:r>
                      <a:endParaRPr sz="458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C4(7529’),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C5(8513’), 33L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: B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7563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8513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 : </a:t>
                      </a:r>
                      <a:r>
                        <a:rPr lang="en-US" altLang="ko-Kore-KR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C2(7522’), </a:t>
                      </a:r>
                      <a:r>
                        <a:rPr lang="en-US" altLang="ko-Kore-KR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C1(8536’), 15R : </a:t>
                      </a:r>
                      <a:r>
                        <a:rPr lang="en-US" altLang="ko-Kore-KR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B3(</a:t>
                      </a:r>
                      <a:r>
                        <a:rPr lang="en-US" altLang="ko-KR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7454</a:t>
                      </a:r>
                      <a:r>
                        <a:rPr lang="en-US" altLang="ko-Kore-KR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‘), </a:t>
                      </a:r>
                      <a:r>
                        <a:rPr lang="en-US" altLang="ko-Kore-KR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B2(</a:t>
                      </a:r>
                      <a:r>
                        <a:rPr lang="en-US" altLang="ko-KR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8641</a:t>
                      </a:r>
                      <a:r>
                        <a:rPr lang="en-US" altLang="ko-Kore-KR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P7(5600’),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P8(6578’), 34R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N4(6876’),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N5(8507‘)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P6(5597’),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P5(6574’), 16L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N3(7043‘),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N2(8444‘)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01600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8NM 180kts, 5NM 160kts, Parr TAXI 10kts이상,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HIRO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761726275"/>
      </p:ext>
    </p:extLst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62F9807-5AEF-8D80-6311-45C5000B22FB}"/>
              </a:ext>
            </a:extLst>
          </p:cNvPr>
          <p:cNvSpPr txBox="1"/>
          <p:nvPr/>
        </p:nvSpPr>
        <p:spPr>
          <a:xfrm>
            <a:off x="-69798" y="3164294"/>
            <a:ext cx="2465740" cy="532316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FUK 127.5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TPE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125.5 – 127.9 – 129.1 – MNL 119.3</a:t>
            </a:r>
            <a:endParaRPr kumimoji="1" lang="en-US" altLang="ko-Kore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MNL RDO 8942(5655) – HCM 120.7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132.35 – 134.05 – CXR APP 127.9</a:t>
            </a:r>
          </a:p>
        </p:txBody>
      </p:sp>
      <p:graphicFrame>
        <p:nvGraphicFramePr>
          <p:cNvPr id="291" name="Google Shape;291;p18"/>
          <p:cNvGraphicFramePr/>
          <p:nvPr>
            <p:extLst>
              <p:ext uri="{D42A27DB-BD31-4B8C-83A1-F6EECF244321}">
                <p14:modId xmlns:p14="http://schemas.microsoft.com/office/powerpoint/2010/main" val="3607833438"/>
              </p:ext>
            </p:extLst>
          </p:nvPr>
        </p:nvGraphicFramePr>
        <p:xfrm>
          <a:off x="0" y="635155"/>
          <a:ext cx="2332925" cy="256021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91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17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69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21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254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10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15930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SID (33/34 NADP 1, 15/16 NADP 2)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5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BOPTA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xA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BOPTA </a:t>
                      </a:r>
                      <a:r>
                        <a:rPr lang="en-US" sz="800" dirty="0" err="1"/>
                        <a:t>xY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BOPTA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xC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BOPTA </a:t>
                      </a:r>
                      <a:r>
                        <a:rPr lang="en-US" sz="800" dirty="0" err="1"/>
                        <a:t>xH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NCN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113.8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33L 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15L 111.9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15R 109.1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WNG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112.9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109.95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110.35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108.55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580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33L/R : NC05L/R, R242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YJU R271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34L/R : EO34L/R,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YJU R271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44775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33L/R 34L(23’)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15L/R 16R(23’)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4477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34R (23’)</a:t>
                      </a:r>
                      <a:endParaRPr sz="458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44775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Parallel TWY 10KTS </a:t>
                      </a:r>
                      <a:r>
                        <a:rPr lang="en-US" sz="800" dirty="0" err="1"/>
                        <a:t>이상</a:t>
                      </a:r>
                      <a:r>
                        <a:rPr lang="en-US" sz="800" dirty="0"/>
                        <a:t>(R17 MAX 15kts)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292" name="Google Shape;292;p18"/>
          <p:cNvGraphicFramePr/>
          <p:nvPr>
            <p:extLst>
              <p:ext uri="{D42A27DB-BD31-4B8C-83A1-F6EECF244321}">
                <p14:modId xmlns:p14="http://schemas.microsoft.com/office/powerpoint/2010/main" val="3978494010"/>
              </p:ext>
            </p:extLst>
          </p:nvPr>
        </p:nvGraphicFramePr>
        <p:xfrm>
          <a:off x="-2501" y="3686661"/>
          <a:ext cx="2327658" cy="186877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6454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4592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7331">
                  <a:extLst>
                    <a:ext uri="{9D8B030D-6E8A-4147-A177-3AD203B41FA5}">
                      <a16:colId xmlns:a16="http://schemas.microsoft.com/office/drawing/2014/main" val="502366202"/>
                    </a:ext>
                  </a:extLst>
                </a:gridCol>
                <a:gridCol w="118370">
                  <a:extLst>
                    <a:ext uri="{9D8B030D-6E8A-4147-A177-3AD203B41FA5}">
                      <a16:colId xmlns:a16="http://schemas.microsoft.com/office/drawing/2014/main" val="992510185"/>
                    </a:ext>
                  </a:extLst>
                </a:gridCol>
                <a:gridCol w="511481">
                  <a:extLst>
                    <a:ext uri="{9D8B030D-6E8A-4147-A177-3AD203B41FA5}">
                      <a16:colId xmlns:a16="http://schemas.microsoft.com/office/drawing/2014/main" val="2076907169"/>
                    </a:ext>
                  </a:extLst>
                </a:gridCol>
              </a:tblGrid>
              <a:tr h="324137">
                <a:tc gridSpan="5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CXR : STAR  </a:t>
                      </a:r>
                      <a:r>
                        <a:rPr lang="en-US" sz="800" dirty="0">
                          <a:solidFill>
                            <a:schemeClr val="accent4"/>
                          </a:solidFill>
                        </a:rPr>
                        <a:t>(</a:t>
                      </a:r>
                      <a:r>
                        <a:rPr lang="en-US" sz="800" dirty="0" err="1">
                          <a:solidFill>
                            <a:schemeClr val="accent4"/>
                          </a:solidFill>
                        </a:rPr>
                        <a:t>Wx</a:t>
                      </a:r>
                      <a:r>
                        <a:rPr lang="en-US" sz="800" dirty="0">
                          <a:solidFill>
                            <a:schemeClr val="accent4"/>
                          </a:solidFill>
                        </a:rPr>
                        <a:t>, Using RWY from </a:t>
                      </a:r>
                      <a:r>
                        <a:rPr lang="en-US" sz="800" dirty="0" err="1">
                          <a:solidFill>
                            <a:schemeClr val="accent4"/>
                          </a:solidFill>
                        </a:rPr>
                        <a:t>HoChiMinh</a:t>
                      </a:r>
                      <a:r>
                        <a:rPr lang="en-US" sz="800" dirty="0">
                          <a:solidFill>
                            <a:schemeClr val="accent4"/>
                          </a:solidFill>
                        </a:rPr>
                        <a:t> CTL)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>
                          <a:solidFill>
                            <a:srgbClr val="FFC000"/>
                          </a:solidFill>
                        </a:rPr>
                        <a:t>RWY20 Max Tail Wind 15kts, </a:t>
                      </a:r>
                      <a:r>
                        <a:rPr lang="en-US" sz="800" b="0" dirty="0" err="1">
                          <a:solidFill>
                            <a:srgbClr val="FFC000"/>
                          </a:solidFill>
                        </a:rPr>
                        <a:t>chk</a:t>
                      </a:r>
                      <a:r>
                        <a:rPr lang="en-US" sz="800" b="0" dirty="0">
                          <a:solidFill>
                            <a:srgbClr val="FFC000"/>
                          </a:solidFill>
                        </a:rPr>
                        <a:t> condition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CAAV STAR, APP not Authorized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3913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20L</a:t>
                      </a:r>
                      <a:r>
                        <a:rPr lang="en-US" sz="800" b="0" dirty="0"/>
                        <a:t>/R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 row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COTUN, BANKE, HUNTA, NHATA xx</a:t>
                      </a:r>
                      <a:endParaRPr lang="en-US" sz="700" b="1" dirty="0"/>
                    </a:p>
                  </a:txBody>
                  <a:tcPr marL="36000" marR="36000" marT="36000" marB="36000" anchor="ctr"/>
                </a:tc>
                <a:tc rowSpan="2">
                  <a:txBody>
                    <a:bodyPr/>
                    <a:lstStyle/>
                    <a:p>
                      <a:r>
                        <a:rPr lang="en-US" sz="800" b="1" dirty="0"/>
                        <a:t>CR xxx </a:t>
                      </a:r>
                      <a:r>
                        <a:rPr lang="en-US" sz="700" b="0" dirty="0">
                          <a:solidFill>
                            <a:srgbClr val="C00000"/>
                          </a:solidFill>
                        </a:rPr>
                        <a:t>AFT IAF STEEP DES(3.8)</a:t>
                      </a: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Y 20L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/>
                        <a:t>RNP 20R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37479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02R</a:t>
                      </a:r>
                      <a:r>
                        <a:rPr lang="en-US" sz="800" b="0" dirty="0"/>
                        <a:t>/L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 v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altLang="ko-Kore-KR" sz="800" b="1" dirty="0"/>
                    </a:p>
                  </a:txBody>
                  <a:tcPr marL="36000" marR="36000" marT="36000" marB="36000" anchor="ctr"/>
                </a:tc>
                <a:tc v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r>
                        <a:rPr lang="en-US" sz="800" b="1" dirty="0"/>
                        <a:t>ILS X/Z 02L/R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37479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02R(15’) </a:t>
                      </a: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3.5</a:t>
                      </a:r>
                      <a:r>
                        <a:rPr lang="ko-KR" altLang="en-US" sz="800" b="1" dirty="0">
                          <a:solidFill>
                            <a:srgbClr val="C00000"/>
                          </a:solidFill>
                        </a:rPr>
                        <a:t>도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R" sz="800" b="1" dirty="0">
                          <a:solidFill>
                            <a:srgbClr val="00B050"/>
                          </a:solidFill>
                        </a:rPr>
                        <a:t>10000’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20L(34’)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37479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02L(20’) </a:t>
                      </a: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3.5</a:t>
                      </a:r>
                      <a:r>
                        <a:rPr lang="ko-KR" altLang="en-US" sz="800" b="1" dirty="0">
                          <a:solidFill>
                            <a:srgbClr val="C00000"/>
                          </a:solidFill>
                        </a:rPr>
                        <a:t>도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R" sz="800" b="1" dirty="0">
                          <a:solidFill>
                            <a:srgbClr val="00B050"/>
                          </a:solidFill>
                        </a:rPr>
                        <a:t>10010’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R" sz="800" b="1" dirty="0">
                          <a:solidFill>
                            <a:srgbClr val="00B050"/>
                          </a:solidFill>
                        </a:rPr>
                        <a:t>20R(46’)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23913">
                <a:tc gridSpan="5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20L : G3(6735’), G1(9603’),   02R : G5(6528’), G7(9662’)</a:t>
                      </a:r>
                      <a:endParaRPr sz="800" dirty="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20R : W4(5971’), W3(7680’),02L : W5(5606’), W6(7345’)</a:t>
                      </a:r>
                      <a:r>
                        <a:rPr lang="en-US" sz="800" dirty="0">
                          <a:solidFill>
                            <a:schemeClr val="dk1"/>
                          </a:solidFill>
                        </a:rPr>
                        <a:t> </a:t>
                      </a:r>
                      <a:endParaRPr dirty="0"/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37479">
                <a:tc gridSpan="5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 err="1"/>
                        <a:t>FollowMe</a:t>
                      </a:r>
                      <a:r>
                        <a:rPr lang="en-US" sz="800" dirty="0"/>
                        <a:t> Car Service, </a:t>
                      </a:r>
                      <a:r>
                        <a:rPr lang="en-US" sz="800" b="1" dirty="0" err="1">
                          <a:solidFill>
                            <a:srgbClr val="C00000"/>
                          </a:solidFill>
                        </a:rPr>
                        <a:t>Sensitie</a:t>
                      </a: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 VDGS Caution!!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293" name="Google Shape;293;p18"/>
          <p:cNvGraphicFramePr/>
          <p:nvPr>
            <p:extLst>
              <p:ext uri="{D42A27DB-BD31-4B8C-83A1-F6EECF244321}">
                <p14:modId xmlns:p14="http://schemas.microsoft.com/office/powerpoint/2010/main" val="2390529704"/>
              </p:ext>
            </p:extLst>
          </p:nvPr>
        </p:nvGraphicFramePr>
        <p:xfrm>
          <a:off x="-2501" y="16504"/>
          <a:ext cx="2328850" cy="60930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VVCR(CXR) 46ft</a:t>
                      </a:r>
                      <a:endParaRPr lang="en-US" altLang="ko-Kore-KR" sz="1300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KE ICN 131.5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600"/>
                        <a:buFont typeface="Calibri"/>
                        <a:buNone/>
                      </a:pPr>
                      <a:r>
                        <a:rPr lang="en-US" sz="60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-10분 TOBT 5분 차이시 CTC Comm</a:t>
                      </a:r>
                      <a:endParaRPr sz="90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None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FF0000"/>
                          </a:solidFill>
                        </a:rPr>
                        <a:t>No D-ATIS</a:t>
                      </a:r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48BFDA17-699D-A0C3-A1F6-B1CDE98B3DE3}"/>
              </a:ext>
            </a:extLst>
          </p:cNvPr>
          <p:cNvSpPr/>
          <p:nvPr/>
        </p:nvSpPr>
        <p:spPr>
          <a:xfrm>
            <a:off x="1469976" y="3426031"/>
            <a:ext cx="910408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7030A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SE Asia</a:t>
            </a:r>
            <a:endParaRPr lang="en-US" altLang="ko-KR" sz="1800" b="1" cap="none" spc="0" dirty="0">
              <a:ln w="0"/>
              <a:solidFill>
                <a:srgbClr val="7030A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26E8B272-8D5B-D47D-58C6-4C3C17E8230E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7030A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7030A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822469925"/>
      </p:ext>
    </p:extLst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Google Shape;303;p19">
            <a:extLst>
              <a:ext uri="{FF2B5EF4-FFF2-40B4-BE49-F238E27FC236}">
                <a16:creationId xmlns:a16="http://schemas.microsoft.com/office/drawing/2014/main" id="{9A6F36E3-64E2-A97B-D85E-56AC20DB6603}"/>
              </a:ext>
            </a:extLst>
          </p:cNvPr>
          <p:cNvGraphicFramePr/>
          <p:nvPr/>
        </p:nvGraphicFramePr>
        <p:xfrm>
          <a:off x="1119" y="3405664"/>
          <a:ext cx="2325975" cy="2130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59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3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55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774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STAR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33/34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</a:t>
                      </a:r>
                      <a:r>
                        <a:rPr lang="en-US" sz="800" b="1" dirty="0" err="1"/>
                        <a:t>xE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ENPIL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180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15/16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</a:t>
                      </a:r>
                      <a:r>
                        <a:rPr lang="en-US" sz="800" b="1" dirty="0" err="1"/>
                        <a:t>xH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MUNAN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180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285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33L/R 34L(23’)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15L/R 16R(23’)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285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34R(23’)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13123’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16L(23’)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64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FIX</a:t>
                      </a:r>
                      <a:endParaRPr/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RWY /8, /5 , YJU R271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C4(7529’),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C5(8513’), 33L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: B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7563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8513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C2(7522’),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C1(8536’), 15R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B3(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7454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B2(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8641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P7(5600’),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P8(6578’), 34R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N4(6876’),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N5(8507‘)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P6(5597’),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P5(6574’), 16L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N3(7043‘),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N2(8444‘)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01600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8NM 180kts, 5NM 160kts, Parr TAXI 10kts이상,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HIRO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3" name="Google Shape;117;p3">
            <a:extLst>
              <a:ext uri="{FF2B5EF4-FFF2-40B4-BE49-F238E27FC236}">
                <a16:creationId xmlns:a16="http://schemas.microsoft.com/office/drawing/2014/main" id="{B2399E6E-0BF9-245E-720B-598089D336E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752605063"/>
              </p:ext>
            </p:extLst>
          </p:nvPr>
        </p:nvGraphicFramePr>
        <p:xfrm>
          <a:off x="-4046" y="586900"/>
          <a:ext cx="2347194" cy="174265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3540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884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2489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78013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14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9488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6935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325783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288614">
                  <a:extLst>
                    <a:ext uri="{9D8B030D-6E8A-4147-A177-3AD203B41FA5}">
                      <a16:colId xmlns:a16="http://schemas.microsoft.com/office/drawing/2014/main" val="448940902"/>
                    </a:ext>
                  </a:extLst>
                </a:gridCol>
              </a:tblGrid>
              <a:tr h="0">
                <a:tc gridSpan="9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CNX : RNP SID (NADP 1)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accent4"/>
                          </a:solidFill>
                        </a:rPr>
                        <a:t>Follow Restrictions due to Military Traffic</a:t>
                      </a:r>
                    </a:p>
                  </a:txBody>
                  <a:tcPr marL="36000" marR="7200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02L</a:t>
                      </a:r>
                      <a:r>
                        <a:rPr lang="en-US" sz="800" b="0" u="none" strike="noStrike" cap="none" dirty="0"/>
                        <a:t>/R</a:t>
                      </a: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NIHOA </a:t>
                      </a:r>
                      <a:r>
                        <a:rPr lang="en-US" sz="800" b="1" u="none" strike="noStrike" cap="none" dirty="0" err="1">
                          <a:solidFill>
                            <a:srgbClr val="0070C0"/>
                          </a:solidFill>
                        </a:rPr>
                        <a:t>xxA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020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020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ATC/FL</a:t>
                      </a:r>
                      <a:r>
                        <a:rPr lang="en-US" altLang="ko-KR" sz="800" b="1" u="none" strike="noStrike" cap="none" dirty="0">
                          <a:solidFill>
                            <a:srgbClr val="0070C0"/>
                          </a:solidFill>
                        </a:rPr>
                        <a:t>100</a:t>
                      </a:r>
                      <a:endParaRPr lang="en-US"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900m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020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20R</a:t>
                      </a:r>
                      <a:r>
                        <a:rPr lang="en-US" sz="800" b="0" u="none" strike="noStrike" cap="none" dirty="0"/>
                        <a:t>/L</a:t>
                      </a:r>
                      <a:endParaRPr sz="800" b="0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NIHOA </a:t>
                      </a:r>
                      <a:r>
                        <a:rPr lang="en-US" altLang="ko-Kore-KR" sz="800" b="1" u="none" strike="noStrike" cap="none" dirty="0" err="1">
                          <a:solidFill>
                            <a:srgbClr val="0070C0"/>
                          </a:solidFill>
                        </a:rPr>
                        <a:t>xxB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200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200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ATC/FL100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900m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200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57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CRA 116.5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02R 111.9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algn="ctr"/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02L 110.7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20L 110.3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19 108.9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5700">
                <a:tc gridSpan="9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u="none" strike="noStrike" cap="none" dirty="0">
                          <a:solidFill>
                            <a:schemeClr val="tx1"/>
                          </a:solidFill>
                        </a:rPr>
                        <a:t>02 : CRA 020/2, R090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u="none" strike="noStrike" cap="none" dirty="0">
                          <a:solidFill>
                            <a:schemeClr val="tx1"/>
                          </a:solidFill>
                        </a:rPr>
                        <a:t> 20 : CRA 200/6, R150</a:t>
                      </a:r>
                      <a:endParaRPr sz="800" b="0" u="none" strike="noStrike" cap="none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186816789"/>
                  </a:ext>
                </a:extLst>
              </a:tr>
              <a:tr h="10160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02L(20’) </a:t>
                      </a: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3.5</a:t>
                      </a:r>
                      <a:r>
                        <a:rPr lang="ko-KR" altLang="en-US" sz="800" b="1" u="none" strike="noStrike" cap="none" dirty="0">
                          <a:solidFill>
                            <a:srgbClr val="C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도</a:t>
                      </a:r>
                      <a:endParaRPr lang="en-US" sz="800" b="1" u="none" strike="noStrike" cap="none" dirty="0">
                        <a:solidFill>
                          <a:srgbClr val="C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10010</a:t>
                      </a: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</a:t>
                      </a:r>
                      <a:endParaRPr sz="800" b="1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20R(46’)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01600">
                <a:tc v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ore-KR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02R(15’) </a:t>
                      </a:r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3.5</a:t>
                      </a:r>
                      <a:r>
                        <a:rPr lang="ko-KR" altLang="en-US" sz="800" b="1" u="none" strike="noStrike" cap="none" dirty="0">
                          <a:solidFill>
                            <a:srgbClr val="C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도</a:t>
                      </a:r>
                      <a:endParaRPr lang="en-US" sz="800" b="1" u="none" strike="noStrike" cap="none" dirty="0">
                        <a:solidFill>
                          <a:srgbClr val="C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10000’</a:t>
                      </a:r>
                      <a:endParaRPr sz="800" b="1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20L(34’)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44693353"/>
                  </a:ext>
                </a:extLst>
              </a:tr>
              <a:tr h="115700">
                <a:tc gridSpan="9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TWY Y5 only below wingspan 36m/118ft</a:t>
                      </a: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6" name="Google Shape;119;p3">
            <a:extLst>
              <a:ext uri="{FF2B5EF4-FFF2-40B4-BE49-F238E27FC236}">
                <a16:creationId xmlns:a16="http://schemas.microsoft.com/office/drawing/2014/main" id="{9324F2DF-C628-CA2F-3D82-2A8B1E34FA1F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719691675"/>
              </p:ext>
            </p:extLst>
          </p:nvPr>
        </p:nvGraphicFramePr>
        <p:xfrm>
          <a:off x="-2501" y="16504"/>
          <a:ext cx="2328850" cy="55937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VVCR(CXR) 46ft</a:t>
                      </a:r>
                      <a:endParaRPr lang="en-US" altLang="ko-Kore-KR" sz="1300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None</a:t>
                      </a:r>
                      <a:endParaRPr sz="1200"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700" dirty="0">
                          <a:solidFill>
                            <a:srgbClr val="FF0000"/>
                          </a:solidFill>
                        </a:rPr>
                        <a:t>TWR 118.2 By Voice</a:t>
                      </a:r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14CA6956-FB7E-2FB3-571E-9A16B59F12B1}"/>
              </a:ext>
            </a:extLst>
          </p:cNvPr>
          <p:cNvSpPr txBox="1"/>
          <p:nvPr/>
        </p:nvSpPr>
        <p:spPr>
          <a:xfrm>
            <a:off x="775855" y="2358321"/>
            <a:ext cx="1612942" cy="855482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127.9 – HCM 134.05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DAD 123.3 – SNY 122.6</a:t>
            </a:r>
            <a:r>
              <a:rPr kumimoji="1" lang="en-US" altLang="ko-Kore-KR" sz="700" b="1" u="sng" dirty="0">
                <a:solidFill>
                  <a:srgbClr val="C0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(-5min) 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HKG 132.15 – 127.1 – TPE 129.1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125.5 – FUK 127.5</a:t>
            </a:r>
            <a:r>
              <a:rPr kumimoji="1" lang="en-US" altLang="ko-KR" sz="700" b="1" u="sng" dirty="0">
                <a:solidFill>
                  <a:srgbClr val="C0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(SENKA /20)</a:t>
            </a:r>
          </a:p>
          <a:p>
            <a:pPr>
              <a:lnSpc>
                <a:spcPct val="150000"/>
              </a:lnSpc>
            </a:pPr>
            <a:endParaRPr kumimoji="1" lang="en-US" altLang="ko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pic>
        <p:nvPicPr>
          <p:cNvPr id="9" name="그림 8" descr="지도, 텍스트, 도표이(가) 표시된 사진&#10;&#10;자동 생성된 설명">
            <a:extLst>
              <a:ext uri="{FF2B5EF4-FFF2-40B4-BE49-F238E27FC236}">
                <a16:creationId xmlns:a16="http://schemas.microsoft.com/office/drawing/2014/main" id="{40FAD37A-76DB-4884-AE7F-03831C74A2D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2336310"/>
            <a:ext cx="845389" cy="825728"/>
          </a:xfrm>
          <a:prstGeom prst="rect">
            <a:avLst/>
          </a:prstGeom>
        </p:spPr>
      </p:pic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33F13AC3-0D74-CEBB-7100-2629A32A1FE4}"/>
              </a:ext>
            </a:extLst>
          </p:cNvPr>
          <p:cNvSpPr/>
          <p:nvPr/>
        </p:nvSpPr>
        <p:spPr>
          <a:xfrm>
            <a:off x="1469976" y="3084579"/>
            <a:ext cx="910408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7030A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SE Asia</a:t>
            </a:r>
            <a:endParaRPr lang="en-US" altLang="ko-KR" sz="1800" b="1" cap="none" spc="0" dirty="0">
              <a:ln w="0"/>
              <a:solidFill>
                <a:srgbClr val="7030A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6C9523CA-AC93-469E-02C8-A31FDF3992F7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740263879"/>
      </p:ext>
    </p:extLst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62F9807-5AEF-8D80-6311-45C5000B22FB}"/>
              </a:ext>
            </a:extLst>
          </p:cNvPr>
          <p:cNvSpPr txBox="1"/>
          <p:nvPr/>
        </p:nvSpPr>
        <p:spPr>
          <a:xfrm>
            <a:off x="-69798" y="3164294"/>
            <a:ext cx="2438488" cy="532316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FUK 127.5</a:t>
            </a:r>
            <a:r>
              <a:rPr kumimoji="1" lang="en-US" altLang="ko-Kore-KR" sz="700" b="1" u="sng" dirty="0">
                <a:solidFill>
                  <a:srgbClr val="C0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(SENKA /20)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TPE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125.5 – 127.9 – 129.1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MNL 119.3 - 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MNL RDO 8942(5655) – HCM 120.7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132.35 – SGN APP 125.5</a:t>
            </a:r>
          </a:p>
        </p:txBody>
      </p:sp>
      <p:graphicFrame>
        <p:nvGraphicFramePr>
          <p:cNvPr id="291" name="Google Shape;291;p18"/>
          <p:cNvGraphicFramePr/>
          <p:nvPr>
            <p:extLst>
              <p:ext uri="{D42A27DB-BD31-4B8C-83A1-F6EECF244321}">
                <p14:modId xmlns:p14="http://schemas.microsoft.com/office/powerpoint/2010/main" val="1153951041"/>
              </p:ext>
            </p:extLst>
          </p:nvPr>
        </p:nvGraphicFramePr>
        <p:xfrm>
          <a:off x="0" y="635155"/>
          <a:ext cx="2332925" cy="256021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91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17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69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21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254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10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15930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SID (33/34 NADP 1, 15/16 NADP 2)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5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BOPTA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xA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BOPTA </a:t>
                      </a:r>
                      <a:r>
                        <a:rPr lang="en-US" sz="800" dirty="0" err="1"/>
                        <a:t>xY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BOPTA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xC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BOPTA </a:t>
                      </a:r>
                      <a:r>
                        <a:rPr lang="en-US" sz="800" dirty="0" err="1"/>
                        <a:t>xH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NCN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113.8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33L 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15L 111.9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15R 109.1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WNG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112.9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109.95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110.35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108.55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580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33L/R : NC05L/R, R242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YJU R271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34L/R : EO34L/R,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YJU R271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44775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33L/R 34L(23’)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15L/R 16R(23’)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4477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34R (23’)</a:t>
                      </a:r>
                      <a:endParaRPr sz="458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44775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Parallel TWY 10KTS </a:t>
                      </a:r>
                      <a:r>
                        <a:rPr lang="en-US" sz="800" dirty="0" err="1"/>
                        <a:t>이상</a:t>
                      </a:r>
                      <a:r>
                        <a:rPr lang="en-US" sz="800" dirty="0"/>
                        <a:t>(R17 MAX 15kts)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292" name="Google Shape;292;p18"/>
          <p:cNvGraphicFramePr/>
          <p:nvPr>
            <p:extLst>
              <p:ext uri="{D42A27DB-BD31-4B8C-83A1-F6EECF244321}">
                <p14:modId xmlns:p14="http://schemas.microsoft.com/office/powerpoint/2010/main" val="2356095685"/>
              </p:ext>
            </p:extLst>
          </p:nvPr>
        </p:nvGraphicFramePr>
        <p:xfrm>
          <a:off x="-11466" y="3788344"/>
          <a:ext cx="2365375" cy="174265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6454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5235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7906">
                  <a:extLst>
                    <a:ext uri="{9D8B030D-6E8A-4147-A177-3AD203B41FA5}">
                      <a16:colId xmlns:a16="http://schemas.microsoft.com/office/drawing/2014/main" val="689142997"/>
                    </a:ext>
                  </a:extLst>
                </a:gridCol>
                <a:gridCol w="224118">
                  <a:extLst>
                    <a:ext uri="{9D8B030D-6E8A-4147-A177-3AD203B41FA5}">
                      <a16:colId xmlns:a16="http://schemas.microsoft.com/office/drawing/2014/main" val="502366202"/>
                    </a:ext>
                  </a:extLst>
                </a:gridCol>
                <a:gridCol w="946450">
                  <a:extLst>
                    <a:ext uri="{9D8B030D-6E8A-4147-A177-3AD203B41FA5}">
                      <a16:colId xmlns:a16="http://schemas.microsoft.com/office/drawing/2014/main" val="992510185"/>
                    </a:ext>
                  </a:extLst>
                </a:gridCol>
              </a:tblGrid>
              <a:tr h="120271">
                <a:tc gridSpan="5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SGN : STAR  </a:t>
                      </a:r>
                      <a:r>
                        <a:rPr lang="en-US" sz="800" dirty="0">
                          <a:solidFill>
                            <a:schemeClr val="accent4"/>
                          </a:solidFill>
                        </a:rPr>
                        <a:t>(CPDLC : VVHM)</a:t>
                      </a:r>
                      <a:r>
                        <a:rPr lang="ko-KR" altLang="en-US" sz="800" dirty="0">
                          <a:solidFill>
                            <a:schemeClr val="accent4"/>
                          </a:solidFill>
                        </a:rPr>
                        <a:t> </a:t>
                      </a:r>
                      <a:r>
                        <a:rPr lang="en-US" altLang="ko-KR" sz="800" dirty="0">
                          <a:solidFill>
                            <a:schemeClr val="bg1"/>
                          </a:solidFill>
                        </a:rPr>
                        <a:t>TL 190</a:t>
                      </a:r>
                      <a:endParaRPr sz="8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25R</a:t>
                      </a:r>
                      <a:r>
                        <a:rPr lang="en-US" sz="800" b="0" dirty="0"/>
                        <a:t>(L)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DALAP </a:t>
                      </a:r>
                      <a:r>
                        <a:rPr lang="en-US" sz="800" b="1" dirty="0" err="1"/>
                        <a:t>xxH</a:t>
                      </a:r>
                      <a:endParaRPr lang="en-US" sz="700" b="1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/>
                        <a:t>SOKAN</a:t>
                      </a:r>
                      <a:endParaRPr lang="en-US" sz="700"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lang="en-US" altLang="ko-Kore-KR" sz="800" b="1" dirty="0"/>
                        <a:t>SOKAN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W 25R/L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800" b="1" dirty="0"/>
                        <a:t>07R</a:t>
                      </a:r>
                      <a:r>
                        <a:rPr lang="en-US" sz="800" b="0" dirty="0"/>
                        <a:t>(L)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DALAP </a:t>
                      </a:r>
                      <a:r>
                        <a:rPr lang="en-US" sz="800" b="1" dirty="0" err="1"/>
                        <a:t>xxG</a:t>
                      </a:r>
                      <a:endParaRPr lang="en-US" sz="800" b="1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/>
                        <a:t>SAMDU</a:t>
                      </a:r>
                      <a:endParaRPr lang="en-US" sz="700"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lang="en-US" altLang="ko-Kore-KR" sz="800" b="1" dirty="0"/>
                        <a:t>SAMDU</a:t>
                      </a:r>
                      <a:endParaRPr lang="ko-Kore-KR" altLang="en-US"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1" dirty="0"/>
                        <a:t>ILS W 07R, VOR 07L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4277695380"/>
                  </a:ext>
                </a:extLst>
              </a:tr>
              <a:tr h="137479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25R(33’)                   </a:t>
                      </a:r>
                      <a:r>
                        <a:rPr lang="en-US" altLang="ko-KR" sz="800" b="1" dirty="0">
                          <a:solidFill>
                            <a:srgbClr val="00B050"/>
                          </a:solidFill>
                        </a:rPr>
                        <a:t>10007’                 </a:t>
                      </a: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07L(20’)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R" sz="800" b="1" dirty="0">
                          <a:solidFill>
                            <a:srgbClr val="00B050"/>
                          </a:solidFill>
                        </a:rPr>
                        <a:t>10007’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37479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25L(32’)       </a:t>
                      </a:r>
                      <a:r>
                        <a:rPr lang="en-US" altLang="ko-KR" sz="800" b="1" dirty="0">
                          <a:solidFill>
                            <a:srgbClr val="00B050"/>
                          </a:solidFill>
                        </a:rPr>
                        <a:t>12559’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R" sz="800" b="1" dirty="0">
                          <a:solidFill>
                            <a:srgbClr val="FF0000"/>
                          </a:solidFill>
                        </a:rPr>
                        <a:t>10036’ (DISP TH) </a:t>
                      </a:r>
                      <a:r>
                        <a:rPr lang="en-US" altLang="ko-KR" sz="800" b="1" dirty="0">
                          <a:solidFill>
                            <a:srgbClr val="00B050"/>
                          </a:solidFill>
                        </a:rPr>
                        <a:t>07R(24’)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23913">
                <a:tc gridSpan="5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25R:</a:t>
                      </a:r>
                      <a:r>
                        <a:rPr lang="en-US" sz="800" b="1" dirty="0">
                          <a:solidFill>
                            <a:schemeClr val="accent1"/>
                          </a:solidFill>
                        </a:rPr>
                        <a:t>P4(6158’), P5(6991’)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,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</a:rPr>
                        <a:t>07R:</a:t>
                      </a:r>
                      <a:r>
                        <a:rPr lang="en-US" altLang="ko-Kore-KR" sz="800" b="1" dirty="0">
                          <a:solidFill>
                            <a:schemeClr val="accent1"/>
                          </a:solidFill>
                        </a:rPr>
                        <a:t>S6(4412’),S5(6574’</a:t>
                      </a:r>
                      <a:r>
                        <a:rPr lang="en-US" altLang="ko-KR" sz="800" b="1" dirty="0">
                          <a:solidFill>
                            <a:schemeClr val="accent1"/>
                          </a:solidFill>
                        </a:rPr>
                        <a:t>,</a:t>
                      </a:r>
                      <a:r>
                        <a:rPr lang="en-US" altLang="ko-KR" sz="700" b="1" dirty="0">
                          <a:solidFill>
                            <a:schemeClr val="accent1"/>
                          </a:solidFill>
                        </a:rPr>
                        <a:t>11</a:t>
                      </a:r>
                      <a:r>
                        <a:rPr lang="en-US" altLang="ko-Kore-KR" sz="700" b="1" dirty="0">
                          <a:solidFill>
                            <a:schemeClr val="accent1"/>
                          </a:solidFill>
                        </a:rPr>
                        <a:t>0도</a:t>
                      </a:r>
                      <a:r>
                        <a:rPr lang="en-US" altLang="ko-KR" sz="800" b="1" dirty="0">
                          <a:solidFill>
                            <a:schemeClr val="accent1"/>
                          </a:solidFill>
                        </a:rPr>
                        <a:t>)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R" sz="800" dirty="0">
                          <a:solidFill>
                            <a:schemeClr val="accent1"/>
                          </a:solidFill>
                        </a:rPr>
                        <a:t>B737 P4, P5, S6, S5 Unable Tell ATC</a:t>
                      </a:r>
                      <a:endParaRPr lang="en-US" altLang="ko-Kore-KR" sz="800" b="1" dirty="0">
                        <a:solidFill>
                          <a:schemeClr val="accent1"/>
                        </a:solidFill>
                      </a:endParaRP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25L : S7(6824’), </a:t>
                      </a:r>
                      <a:r>
                        <a:rPr lang="en-US" sz="800" b="1" dirty="0">
                          <a:solidFill>
                            <a:schemeClr val="tx1"/>
                          </a:solidFill>
                        </a:rPr>
                        <a:t>S8(9671’),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</a:rPr>
                        <a:t>     07L : P3(6266’), P2(8907’)</a:t>
                      </a:r>
                      <a:endParaRPr lang="en-US" altLang="ko-Kore-KR" sz="800" dirty="0">
                        <a:solidFill>
                          <a:schemeClr val="dk1"/>
                        </a:solidFill>
                      </a:endParaRP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37479">
                <a:tc gridSpan="5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 err="1"/>
                        <a:t>FollowMe</a:t>
                      </a:r>
                      <a:r>
                        <a:rPr lang="en-US" sz="800" dirty="0"/>
                        <a:t> Car Service in Ramp </a:t>
                      </a:r>
                      <a:r>
                        <a:rPr lang="en-US" sz="800" dirty="0">
                          <a:solidFill>
                            <a:schemeClr val="accent1"/>
                          </a:solidFill>
                        </a:rPr>
                        <a:t>(Caution STOPBAR L/T)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 err="1">
                          <a:solidFill>
                            <a:srgbClr val="C00000"/>
                          </a:solidFill>
                        </a:rPr>
                        <a:t>Sensitie</a:t>
                      </a: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 VDGS</a:t>
                      </a:r>
                      <a:r>
                        <a:rPr lang="en-US" altLang="ko-KR" sz="800" b="1" dirty="0">
                          <a:solidFill>
                            <a:srgbClr val="C00000"/>
                          </a:solidFill>
                        </a:rPr>
                        <a:t>!!!</a:t>
                      </a:r>
                      <a:r>
                        <a:rPr lang="ko-KR" altLang="en-US" sz="800" b="1" dirty="0">
                          <a:solidFill>
                            <a:srgbClr val="C00000"/>
                          </a:solidFill>
                        </a:rPr>
                        <a:t> </a:t>
                      </a:r>
                      <a:r>
                        <a:rPr lang="en-US" altLang="ko-KR" sz="800" b="1" dirty="0">
                          <a:solidFill>
                            <a:srgbClr val="C00000"/>
                          </a:solidFill>
                        </a:rPr>
                        <a:t>(</a:t>
                      </a: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0.5m</a:t>
                      </a:r>
                      <a:r>
                        <a:rPr lang="ko-KR" altLang="en-US" sz="800" b="1" dirty="0">
                          <a:solidFill>
                            <a:srgbClr val="C00000"/>
                          </a:solidFill>
                        </a:rPr>
                        <a:t>이내</a:t>
                      </a:r>
                      <a:r>
                        <a:rPr lang="en-US" altLang="ko-KR" sz="800" b="1" dirty="0">
                          <a:solidFill>
                            <a:srgbClr val="C00000"/>
                          </a:solidFill>
                        </a:rPr>
                        <a:t>,</a:t>
                      </a:r>
                      <a:r>
                        <a:rPr lang="ko-KR" altLang="en-US" sz="800" b="1" dirty="0">
                          <a:solidFill>
                            <a:srgbClr val="C00000"/>
                          </a:solidFill>
                        </a:rPr>
                        <a:t> </a:t>
                      </a:r>
                      <a:r>
                        <a:rPr lang="en-US" altLang="ko-KR" sz="800" b="1" dirty="0">
                          <a:solidFill>
                            <a:srgbClr val="C00000"/>
                          </a:solidFill>
                        </a:rPr>
                        <a:t>2m STOP</a:t>
                      </a:r>
                      <a:r>
                        <a:rPr lang="ko-KR" altLang="en-US" sz="800" b="1" dirty="0">
                          <a:solidFill>
                            <a:srgbClr val="C00000"/>
                          </a:solidFill>
                        </a:rPr>
                        <a:t>시 바로 정지</a:t>
                      </a:r>
                      <a:r>
                        <a:rPr lang="en-US" altLang="ko-KR" sz="800" b="1" dirty="0">
                          <a:solidFill>
                            <a:srgbClr val="C00000"/>
                          </a:solidFill>
                        </a:rPr>
                        <a:t>) </a:t>
                      </a:r>
                      <a:endParaRPr lang="en-US"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293" name="Google Shape;293;p18"/>
          <p:cNvGraphicFramePr/>
          <p:nvPr>
            <p:extLst>
              <p:ext uri="{D42A27DB-BD31-4B8C-83A1-F6EECF244321}">
                <p14:modId xmlns:p14="http://schemas.microsoft.com/office/powerpoint/2010/main" val="1133473494"/>
              </p:ext>
            </p:extLst>
          </p:nvPr>
        </p:nvGraphicFramePr>
        <p:xfrm>
          <a:off x="-2501" y="16504"/>
          <a:ext cx="2328850" cy="60930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VVTS(SGN) 33ft</a:t>
                      </a:r>
                      <a:endParaRPr lang="en-US" altLang="ko-Kore-KR" sz="1300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KE ICN 131.5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600"/>
                        <a:buFont typeface="Calibri"/>
                        <a:buNone/>
                      </a:pPr>
                      <a:r>
                        <a:rPr lang="en-US" sz="60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-10분 TOBT 5분 차이시 CTC Comm</a:t>
                      </a:r>
                      <a:endParaRPr sz="90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None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FF0000"/>
                          </a:solidFill>
                        </a:rPr>
                        <a:t>No D-ATIS</a:t>
                      </a:r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2AAB07A0-B244-1F75-A200-72ACAFBC97D5}"/>
              </a:ext>
            </a:extLst>
          </p:cNvPr>
          <p:cNvSpPr/>
          <p:nvPr/>
        </p:nvSpPr>
        <p:spPr>
          <a:xfrm>
            <a:off x="1469976" y="3466541"/>
            <a:ext cx="910408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7030A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SE Asia</a:t>
            </a:r>
            <a:endParaRPr lang="en-US" altLang="ko-KR" sz="1800" b="1" cap="none" spc="0" dirty="0">
              <a:ln w="0"/>
              <a:solidFill>
                <a:srgbClr val="7030A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A7640F26-AA68-BC81-60B9-DD726B8F893E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7030A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7030A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964756758"/>
      </p:ext>
    </p:extLst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Google Shape;303;p19">
            <a:extLst>
              <a:ext uri="{FF2B5EF4-FFF2-40B4-BE49-F238E27FC236}">
                <a16:creationId xmlns:a16="http://schemas.microsoft.com/office/drawing/2014/main" id="{9A6F36E3-64E2-A97B-D85E-56AC20DB6603}"/>
              </a:ext>
            </a:extLst>
          </p:cNvPr>
          <p:cNvGraphicFramePr/>
          <p:nvPr/>
        </p:nvGraphicFramePr>
        <p:xfrm>
          <a:off x="1119" y="3405664"/>
          <a:ext cx="2325975" cy="2130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59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3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55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774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STAR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33/34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</a:t>
                      </a:r>
                      <a:r>
                        <a:rPr lang="en-US" sz="800" b="1" dirty="0" err="1"/>
                        <a:t>xE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ENPIL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180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15/16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</a:t>
                      </a:r>
                      <a:r>
                        <a:rPr lang="en-US" sz="800" b="1" dirty="0" err="1"/>
                        <a:t>xH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MUNAN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180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285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33L/R 34L(23’)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15L/R 16R(23’)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285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34R(23’)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13123’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16L(23’)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64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FIX</a:t>
                      </a:r>
                      <a:endParaRPr/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RWY /8, /5 , YJU R271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C4(7529’),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C5(8513’), 33L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: B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7563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8513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C2(7522’),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C1(8536’), 15R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B3(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7454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B2(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8641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P7(5600’),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P8(6578’), 34R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N4(6876’),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N5(8507‘)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P6(5597’),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P5(6574’), 16L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N3(7043‘),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N2(8444‘)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01600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8NM 180kts, 5NM 160kts, Parr TAXI 10kts이상,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HIRO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3" name="Google Shape;117;p3">
            <a:extLst>
              <a:ext uri="{FF2B5EF4-FFF2-40B4-BE49-F238E27FC236}">
                <a16:creationId xmlns:a16="http://schemas.microsoft.com/office/drawing/2014/main" id="{B2399E6E-0BF9-245E-720B-598089D336E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626756709"/>
              </p:ext>
            </p:extLst>
          </p:nvPr>
        </p:nvGraphicFramePr>
        <p:xfrm>
          <a:off x="-15808" y="580010"/>
          <a:ext cx="2349161" cy="174265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4149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639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3700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14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8330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4142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36509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211716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79923">
                  <a:extLst>
                    <a:ext uri="{9D8B030D-6E8A-4147-A177-3AD203B41FA5}">
                      <a16:colId xmlns:a16="http://schemas.microsoft.com/office/drawing/2014/main" val="448940902"/>
                    </a:ext>
                  </a:extLst>
                </a:gridCol>
              </a:tblGrid>
              <a:tr h="0">
                <a:tc gridSpan="9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SGN : RNP SID (NADP 1) TA 18000’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accent4"/>
                          </a:solidFill>
                        </a:rPr>
                        <a:t>Request RWY due to Performance</a:t>
                      </a:r>
                    </a:p>
                  </a:txBody>
                  <a:tcPr marL="36000" marR="7200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25L</a:t>
                      </a:r>
                      <a:r>
                        <a:rPr lang="en-US" sz="800" b="0" u="none" strike="noStrike" cap="none" dirty="0"/>
                        <a:t>(R)</a:t>
                      </a: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KADUM </a:t>
                      </a:r>
                      <a:r>
                        <a:rPr lang="en-US" sz="800" b="1" u="none" strike="noStrike" cap="none" dirty="0" err="1">
                          <a:solidFill>
                            <a:srgbClr val="0070C0"/>
                          </a:solidFill>
                        </a:rPr>
                        <a:t>xxD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250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250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11000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900m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250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07L</a:t>
                      </a:r>
                      <a:r>
                        <a:rPr lang="en-US" sz="800" b="0" u="none" strike="noStrike" cap="none" dirty="0"/>
                        <a:t>(R)</a:t>
                      </a:r>
                      <a:endParaRPr sz="800" b="0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KADUM </a:t>
                      </a:r>
                      <a:r>
                        <a:rPr lang="en-US" altLang="ko-Kore-KR" sz="800" b="1" u="none" strike="noStrike" cap="none" dirty="0" err="1">
                          <a:solidFill>
                            <a:srgbClr val="0070C0"/>
                          </a:solidFill>
                        </a:rPr>
                        <a:t>xxE</a:t>
                      </a:r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/A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070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070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ATC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900m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070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57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TSH 116.8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25R 110.5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algn="ctr"/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07R 111.7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25L 108.3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19 108.9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0160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8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25R(33’)</a:t>
                      </a: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      </a:t>
                      </a:r>
                      <a:r>
                        <a:rPr lang="en-US" altLang="ko-KR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cs typeface="Calibri"/>
                          <a:sym typeface="Calibri"/>
                        </a:rPr>
                        <a:t>10007</a:t>
                      </a: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cs typeface="Calibri"/>
                          <a:sym typeface="Calibri"/>
                        </a:rPr>
                        <a:t>’          07L(20’)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10010</a:t>
                      </a: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</a:t>
                      </a:r>
                      <a:endParaRPr sz="800" b="1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20R(46’)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01600">
                <a:tc v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8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ore-KR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25L(32’)</a:t>
                      </a:r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      </a:t>
                      </a: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cs typeface="Calibri"/>
                          <a:sym typeface="Calibri"/>
                        </a:rPr>
                        <a:t>12559’          07R(24’)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10000’</a:t>
                      </a:r>
                      <a:endParaRPr sz="800" b="1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20L(34’)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44693353"/>
                  </a:ext>
                </a:extLst>
              </a:tr>
              <a:tr h="115700">
                <a:tc gridSpan="9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u="none" strike="noStrike" cap="none" dirty="0">
                          <a:solidFill>
                            <a:srgbClr val="C00000"/>
                          </a:solidFill>
                        </a:rPr>
                        <a:t>Caution TSAT +- 5min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ATC CLR, RWY CHG After TAXI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Caution STOPBAR L/T, </a:t>
                      </a:r>
                      <a:r>
                        <a:rPr lang="en-US" sz="800" b="1" u="none" strike="noStrike" cap="none" dirty="0">
                          <a:solidFill>
                            <a:schemeClr val="tx1"/>
                          </a:solidFill>
                        </a:rPr>
                        <a:t>Follow Car Service</a:t>
                      </a: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6" name="Google Shape;119;p3">
            <a:extLst>
              <a:ext uri="{FF2B5EF4-FFF2-40B4-BE49-F238E27FC236}">
                <a16:creationId xmlns:a16="http://schemas.microsoft.com/office/drawing/2014/main" id="{9324F2DF-C628-CA2F-3D82-2A8B1E34FA1F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502158126"/>
              </p:ext>
            </p:extLst>
          </p:nvPr>
        </p:nvGraphicFramePr>
        <p:xfrm>
          <a:off x="-2501" y="16504"/>
          <a:ext cx="2328850" cy="55937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VVTS(SGN) 33ft</a:t>
                      </a:r>
                      <a:endParaRPr lang="en-US" altLang="ko-Kore-KR" sz="1300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None</a:t>
                      </a:r>
                      <a:endParaRPr sz="1200" dirty="0">
                        <a:solidFill>
                          <a:srgbClr val="0070C0"/>
                        </a:solidFill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700" dirty="0">
                          <a:solidFill>
                            <a:srgbClr val="FF0000"/>
                          </a:solidFill>
                        </a:rPr>
                        <a:t>-15min,</a:t>
                      </a:r>
                      <a:r>
                        <a:rPr lang="ko-KR" altLang="en-US" sz="700" dirty="0">
                          <a:solidFill>
                            <a:srgbClr val="FF0000"/>
                          </a:solidFill>
                        </a:rPr>
                        <a:t> </a:t>
                      </a:r>
                      <a:r>
                        <a:rPr lang="en-US" altLang="ko-KR" sz="700" dirty="0">
                          <a:solidFill>
                            <a:srgbClr val="FF0000"/>
                          </a:solidFill>
                        </a:rPr>
                        <a:t>DEL 121.8 By Voice</a:t>
                      </a:r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14CA6956-FB7E-2FB3-571E-9A16B59F12B1}"/>
              </a:ext>
            </a:extLst>
          </p:cNvPr>
          <p:cNvSpPr txBox="1"/>
          <p:nvPr/>
        </p:nvSpPr>
        <p:spPr>
          <a:xfrm>
            <a:off x="78327" y="2363041"/>
            <a:ext cx="1963999" cy="855482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APP 125.5 – HCM 120.1 - 134.05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HNI 123.3 – SNY 122.6</a:t>
            </a:r>
            <a:r>
              <a:rPr kumimoji="1" lang="en-US" altLang="ko-Kore-KR" sz="700" b="1" u="sng" dirty="0">
                <a:solidFill>
                  <a:srgbClr val="C0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(-5min)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HKG 132.15 – 127.1 – TPE 129.1 – 127.9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126.7 – 123.6 - FUK 127.5</a:t>
            </a:r>
            <a:r>
              <a:rPr kumimoji="1" lang="en-US" altLang="ko-KR" sz="700" b="1" u="sng" dirty="0">
                <a:solidFill>
                  <a:srgbClr val="C0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(SENKA /20)</a:t>
            </a:r>
          </a:p>
          <a:p>
            <a:pPr>
              <a:lnSpc>
                <a:spcPct val="150000"/>
              </a:lnSpc>
            </a:pPr>
            <a:endParaRPr kumimoji="1" lang="en-US" altLang="ko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399BF2EA-C484-82B5-D698-2C4DFAE01B8A}"/>
              </a:ext>
            </a:extLst>
          </p:cNvPr>
          <p:cNvSpPr/>
          <p:nvPr/>
        </p:nvSpPr>
        <p:spPr>
          <a:xfrm>
            <a:off x="1469976" y="3084579"/>
            <a:ext cx="910408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7030A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SE Asia</a:t>
            </a:r>
            <a:endParaRPr lang="en-US" altLang="ko-KR" sz="1800" b="1" cap="none" spc="0" dirty="0">
              <a:ln w="0"/>
              <a:solidFill>
                <a:srgbClr val="7030A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25CD2C11-84BB-CA3F-91BE-B3B15E82C893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72432630"/>
      </p:ext>
    </p:extLst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62F9807-5AEF-8D80-6311-45C5000B22FB}"/>
              </a:ext>
            </a:extLst>
          </p:cNvPr>
          <p:cNvSpPr txBox="1"/>
          <p:nvPr/>
        </p:nvSpPr>
        <p:spPr>
          <a:xfrm>
            <a:off x="-69798" y="3136663"/>
            <a:ext cx="2438488" cy="693899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FUK 127.5</a:t>
            </a:r>
            <a:r>
              <a:rPr kumimoji="1" lang="en-US" altLang="ko-Kore-KR" sz="700" b="1" u="sng" dirty="0">
                <a:solidFill>
                  <a:srgbClr val="C0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(SENKA /20)</a:t>
            </a:r>
            <a:r>
              <a:rPr kumimoji="1" lang="ko-KR" altLang="en-US" sz="700" b="1" u="sng" dirty="0">
                <a:solidFill>
                  <a:srgbClr val="C0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TPE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125.5 – 127.9 – 129.1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MNL 119.3 - 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MNL RDO 8942(5655)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HCM 120.7</a:t>
            </a:r>
            <a:r>
              <a:rPr kumimoji="1" lang="en-US" altLang="ko-Kore-KR" sz="700" b="1" u="sng" dirty="0">
                <a:solidFill>
                  <a:srgbClr val="FF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(MIGUG) 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- PNH 127.5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APP 123.8</a:t>
            </a:r>
          </a:p>
        </p:txBody>
      </p:sp>
      <p:graphicFrame>
        <p:nvGraphicFramePr>
          <p:cNvPr id="291" name="Google Shape;291;p18"/>
          <p:cNvGraphicFramePr/>
          <p:nvPr>
            <p:extLst>
              <p:ext uri="{D42A27DB-BD31-4B8C-83A1-F6EECF244321}">
                <p14:modId xmlns:p14="http://schemas.microsoft.com/office/powerpoint/2010/main" val="2617524240"/>
              </p:ext>
            </p:extLst>
          </p:nvPr>
        </p:nvGraphicFramePr>
        <p:xfrm>
          <a:off x="0" y="635155"/>
          <a:ext cx="2332925" cy="256021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91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17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69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21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254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10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15930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SID (33/34 NADP 1, 15/16 NADP 2)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5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BOPTA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xA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BOPTA </a:t>
                      </a:r>
                      <a:r>
                        <a:rPr lang="en-US" sz="800" dirty="0" err="1"/>
                        <a:t>xY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BOPTA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xC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BOPTA </a:t>
                      </a:r>
                      <a:r>
                        <a:rPr lang="en-US" sz="800" dirty="0" err="1"/>
                        <a:t>xH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NCN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113.8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33L 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15L 111.9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15R 109.1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WNG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112.9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109.95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110.35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108.55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580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33L/R : NC05L/R, R242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YJU R271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34L/R : EO34L/R,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YJU R271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44775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33L/R 34L(23’)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15L/R 16R(23’)</a:t>
                      </a:r>
                      <a:endParaRPr sz="458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4477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34R (23’)</a:t>
                      </a:r>
                      <a:endParaRPr sz="458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44775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Parallel TWY 10KTS </a:t>
                      </a:r>
                      <a:r>
                        <a:rPr lang="en-US" sz="800" dirty="0" err="1"/>
                        <a:t>이상</a:t>
                      </a:r>
                      <a:r>
                        <a:rPr lang="en-US" sz="800" dirty="0"/>
                        <a:t>(R17 MAX 15kts)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292" name="Google Shape;292;p18"/>
          <p:cNvGraphicFramePr/>
          <p:nvPr>
            <p:extLst>
              <p:ext uri="{D42A27DB-BD31-4B8C-83A1-F6EECF244321}">
                <p14:modId xmlns:p14="http://schemas.microsoft.com/office/powerpoint/2010/main" val="3275025826"/>
              </p:ext>
            </p:extLst>
          </p:nvPr>
        </p:nvGraphicFramePr>
        <p:xfrm>
          <a:off x="20430" y="3857452"/>
          <a:ext cx="2286834" cy="167065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4700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6106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64532">
                  <a:extLst>
                    <a:ext uri="{9D8B030D-6E8A-4147-A177-3AD203B41FA5}">
                      <a16:colId xmlns:a16="http://schemas.microsoft.com/office/drawing/2014/main" val="689142997"/>
                    </a:ext>
                  </a:extLst>
                </a:gridCol>
                <a:gridCol w="518328">
                  <a:extLst>
                    <a:ext uri="{9D8B030D-6E8A-4147-A177-3AD203B41FA5}">
                      <a16:colId xmlns:a16="http://schemas.microsoft.com/office/drawing/2014/main" val="502366202"/>
                    </a:ext>
                  </a:extLst>
                </a:gridCol>
                <a:gridCol w="595906">
                  <a:extLst>
                    <a:ext uri="{9D8B030D-6E8A-4147-A177-3AD203B41FA5}">
                      <a16:colId xmlns:a16="http://schemas.microsoft.com/office/drawing/2014/main" val="992510185"/>
                    </a:ext>
                  </a:extLst>
                </a:gridCol>
              </a:tblGrid>
              <a:tr h="120271">
                <a:tc gridSpan="5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PNH : RNAV STAR (</a:t>
                      </a:r>
                      <a:r>
                        <a:rPr lang="en-US" altLang="ko-KR" sz="800" dirty="0">
                          <a:solidFill>
                            <a:schemeClr val="bg1"/>
                          </a:solidFill>
                        </a:rPr>
                        <a:t>TL ATC, ATIS)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>
                          <a:solidFill>
                            <a:srgbClr val="FFC000"/>
                          </a:solidFill>
                        </a:rPr>
                        <a:t>Caution CLR Limit GONLY, Do not Confuse ANAT, ANAB</a:t>
                      </a:r>
                      <a:endParaRPr sz="800" b="0" dirty="0">
                        <a:solidFill>
                          <a:srgbClr val="FFC000"/>
                        </a:solidFill>
                      </a:endParaRPr>
                    </a:p>
                  </a:txBody>
                  <a:tcPr marL="0" marR="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05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NANXY </a:t>
                      </a:r>
                      <a:r>
                        <a:rPr lang="en-US" sz="800" b="1" dirty="0" err="1"/>
                        <a:t>xxB</a:t>
                      </a:r>
                      <a:endParaRPr lang="en-US" sz="700" b="1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/>
                        <a:t>BOSET</a:t>
                      </a:r>
                      <a:endParaRPr lang="en-US" sz="700"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lang="en-US" altLang="ko-Kore-KR" sz="800" b="1" dirty="0"/>
                        <a:t>SOKAN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RNP 05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800" b="1" dirty="0"/>
                        <a:t>23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DETMA </a:t>
                      </a:r>
                      <a:r>
                        <a:rPr lang="en-US" sz="800" b="1" dirty="0" err="1"/>
                        <a:t>xxA</a:t>
                      </a:r>
                      <a:endParaRPr lang="en-US" sz="800" b="1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KOSDA 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>
                          <a:solidFill>
                            <a:srgbClr val="0070C0"/>
                          </a:solidFill>
                        </a:rPr>
                        <a:t>Del Holding Data</a:t>
                      </a:r>
                      <a:endParaRPr lang="en-US" sz="700" b="0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lang="en-US" altLang="ko-Kore-KR" sz="800" b="1" dirty="0"/>
                        <a:t>SAMDU</a:t>
                      </a:r>
                      <a:endParaRPr lang="ko-Kore-KR" altLang="en-US"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1" dirty="0"/>
                        <a:t>ILS 23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4277695380"/>
                  </a:ext>
                </a:extLst>
              </a:tr>
              <a:tr h="137479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05(40’)       9843</a:t>
                      </a:r>
                      <a:r>
                        <a:rPr lang="en-US" altLang="ko-KR" sz="800" b="1" dirty="0">
                          <a:solidFill>
                            <a:srgbClr val="00B050"/>
                          </a:solidFill>
                        </a:rPr>
                        <a:t>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R" sz="800" b="1" dirty="0">
                          <a:solidFill>
                            <a:srgbClr val="FF0000"/>
                          </a:solidFill>
                        </a:rPr>
                        <a:t>9350’ (DISP TH) </a:t>
                      </a:r>
                      <a:r>
                        <a:rPr lang="en-US" altLang="ko-KR" sz="800" b="1" dirty="0">
                          <a:solidFill>
                            <a:srgbClr val="00B050"/>
                          </a:solidFill>
                        </a:rPr>
                        <a:t>23(37’)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23913">
                <a:tc gridSpan="5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lang="en-US" sz="800" b="1" dirty="0">
                          <a:solidFill>
                            <a:schemeClr val="tx1"/>
                          </a:solidFill>
                        </a:rPr>
                        <a:t>05 : E(6240’), H(7148’),     23 </a:t>
                      </a:r>
                      <a:r>
                        <a:rPr lang="en-US" altLang="ko-Kore-KR" sz="800" b="1" dirty="0">
                          <a:solidFill>
                            <a:schemeClr val="tx1"/>
                          </a:solidFill>
                        </a:rPr>
                        <a:t>: C(7004’), 180 Back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R" sz="800" b="0" dirty="0">
                          <a:solidFill>
                            <a:srgbClr val="0070C0"/>
                          </a:solidFill>
                        </a:rPr>
                        <a:t>No Centerline L/T,</a:t>
                      </a:r>
                      <a:r>
                        <a:rPr lang="ko-KR" altLang="en-US" sz="800" b="0" dirty="0">
                          <a:solidFill>
                            <a:srgbClr val="0070C0"/>
                          </a:solidFill>
                        </a:rPr>
                        <a:t> </a:t>
                      </a:r>
                      <a:r>
                        <a:rPr lang="en-US" altLang="ko-KR" sz="800" b="0" dirty="0">
                          <a:solidFill>
                            <a:srgbClr val="0070C0"/>
                          </a:solidFill>
                        </a:rPr>
                        <a:t>No Vacate Lead L/T(Only Edge L/T)</a:t>
                      </a: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37479">
                <a:tc gridSpan="5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tx1"/>
                          </a:solidFill>
                        </a:rPr>
                        <a:t>APU Off after 5min after parking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Stand xx Yellow Lead-in Marking(xx A,B Blue Line!!)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293" name="Google Shape;293;p18"/>
          <p:cNvGraphicFramePr/>
          <p:nvPr>
            <p:extLst>
              <p:ext uri="{D42A27DB-BD31-4B8C-83A1-F6EECF244321}">
                <p14:modId xmlns:p14="http://schemas.microsoft.com/office/powerpoint/2010/main" val="2857097307"/>
              </p:ext>
            </p:extLst>
          </p:nvPr>
        </p:nvGraphicFramePr>
        <p:xfrm>
          <a:off x="-2501" y="16504"/>
          <a:ext cx="2328850" cy="60930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VDPP(PNH) 40ft</a:t>
                      </a:r>
                      <a:endParaRPr lang="en-US" altLang="ko-Kore-KR" sz="1300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KE ICN 131.5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600"/>
                        <a:buFont typeface="Calibri"/>
                        <a:buNone/>
                      </a:pPr>
                      <a:r>
                        <a:rPr lang="en-US" sz="60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-10분 TOBT 5분 차이시 CTC Comm</a:t>
                      </a:r>
                      <a:endParaRPr sz="90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PNH DIS 129.0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800" dirty="0">
                        <a:solidFill>
                          <a:srgbClr val="FF0000"/>
                        </a:solidFill>
                      </a:endParaRPr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2AAB07A0-B244-1F75-A200-72ACAFBC97D5}"/>
              </a:ext>
            </a:extLst>
          </p:cNvPr>
          <p:cNvSpPr/>
          <p:nvPr/>
        </p:nvSpPr>
        <p:spPr>
          <a:xfrm>
            <a:off x="1469976" y="3466541"/>
            <a:ext cx="910408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7030A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SE Asia</a:t>
            </a:r>
            <a:endParaRPr lang="en-US" altLang="ko-KR" sz="1800" b="1" cap="none" spc="0" dirty="0">
              <a:ln w="0"/>
              <a:solidFill>
                <a:srgbClr val="7030A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7304DB22-750F-4097-365B-79B389FA2387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7030A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7030A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441693011"/>
      </p:ext>
    </p:extLst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Google Shape;303;p19">
            <a:extLst>
              <a:ext uri="{FF2B5EF4-FFF2-40B4-BE49-F238E27FC236}">
                <a16:creationId xmlns:a16="http://schemas.microsoft.com/office/drawing/2014/main" id="{9A6F36E3-64E2-A97B-D85E-56AC20DB6603}"/>
              </a:ext>
            </a:extLst>
          </p:cNvPr>
          <p:cNvGraphicFramePr/>
          <p:nvPr/>
        </p:nvGraphicFramePr>
        <p:xfrm>
          <a:off x="1119" y="3405664"/>
          <a:ext cx="2325975" cy="2130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59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3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55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774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STAR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33/34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</a:t>
                      </a:r>
                      <a:r>
                        <a:rPr lang="en-US" sz="800" b="1" dirty="0" err="1"/>
                        <a:t>xE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ENPIL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180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15/16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</a:t>
                      </a:r>
                      <a:r>
                        <a:rPr lang="en-US" sz="800" b="1" dirty="0" err="1"/>
                        <a:t>xH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MUNAN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180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285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33L/R 34L(23’)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15L/R 16R(23’)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285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34R(23’)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13123’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16L(23’)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64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FIX</a:t>
                      </a:r>
                      <a:endParaRPr/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RWY /8, /5 , YJU R271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C4(7529’),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C5(8513’), 33L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: B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7563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8513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C2(7522’),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C1(8536’), 15R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B3(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7454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B2(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8641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P7(5600’),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P8(6578’), 34R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N4(6876’),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N5(8507‘)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P6(5597’),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P5(6574’), 16L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N3(7043‘),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N2(8444‘)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01600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8NM 180kts, 5NM 160kts, Parr TAXI 10kts이상,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HIRO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3" name="Google Shape;117;p3">
            <a:extLst>
              <a:ext uri="{FF2B5EF4-FFF2-40B4-BE49-F238E27FC236}">
                <a16:creationId xmlns:a16="http://schemas.microsoft.com/office/drawing/2014/main" id="{B2399E6E-0BF9-245E-720B-598089D336E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683847497"/>
              </p:ext>
            </p:extLst>
          </p:nvPr>
        </p:nvGraphicFramePr>
        <p:xfrm>
          <a:off x="-15808" y="580010"/>
          <a:ext cx="2349161" cy="174265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4149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9339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14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8330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4142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4822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379923">
                  <a:extLst>
                    <a:ext uri="{9D8B030D-6E8A-4147-A177-3AD203B41FA5}">
                      <a16:colId xmlns:a16="http://schemas.microsoft.com/office/drawing/2014/main" val="448940902"/>
                    </a:ext>
                  </a:extLst>
                </a:gridCol>
              </a:tblGrid>
              <a:tr h="297551">
                <a:tc gridSpan="7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PNH : RNAV SID (NADP 1) TA 10000’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>
                          <a:solidFill>
                            <a:schemeClr val="accent4"/>
                          </a:solidFill>
                        </a:rPr>
                        <a:t>RWY 23 SEYHA Watch Over Bank</a:t>
                      </a:r>
                    </a:p>
                  </a:txBody>
                  <a:tcPr marL="36000" marR="7200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029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u="none" strike="noStrike" cap="none" dirty="0"/>
                        <a:t>0</a:t>
                      </a:r>
                      <a:r>
                        <a:rPr lang="en-US" sz="800" b="1" u="none" strike="noStrike" cap="none" dirty="0"/>
                        <a:t>5</a:t>
                      </a:r>
                      <a:endParaRPr lang="en-US" sz="800" b="0" u="none" strike="noStrike" cap="none" dirty="0"/>
                    </a:p>
                  </a:txBody>
                  <a:tcPr marL="36000" marR="36000" marT="36000" marB="36000" anchor="ctr"/>
                </a:tc>
                <a:tc rowSpan="2">
                  <a:txBody>
                    <a:bodyPr/>
                    <a:lstStyle/>
                    <a:p>
                      <a:pPr algn="ctr"/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NANXY xx</a:t>
                      </a:r>
                    </a:p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(SEYHA xx)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046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046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ATC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(5000)</a:t>
                      </a: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046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72093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u="none" strike="noStrike" cap="none" dirty="0"/>
                        <a:t>23</a:t>
                      </a:r>
                      <a:endParaRPr sz="800" b="0" u="none" strike="noStrike" cap="none" dirty="0"/>
                    </a:p>
                  </a:txBody>
                  <a:tcPr marL="36000" marR="36000" marT="36000" marB="36000" anchor="ctr"/>
                </a:tc>
                <a:tc vMerge="1">
                  <a:txBody>
                    <a:bodyPr/>
                    <a:lstStyle/>
                    <a:p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KADUM </a:t>
                      </a:r>
                      <a:r>
                        <a:rPr lang="en-US" altLang="ko-Kore-KR" sz="800" b="1" u="none" strike="noStrike" cap="none" dirty="0" err="1">
                          <a:solidFill>
                            <a:srgbClr val="0070C0"/>
                          </a:solidFill>
                        </a:rPr>
                        <a:t>xxE</a:t>
                      </a:r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/A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226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226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ATC</a:t>
                      </a: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226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72093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PNH 114.3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algn="ctr"/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23 109.7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19 108.9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72093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05(40’)</a:t>
                      </a: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      </a:t>
                      </a: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9843</a:t>
                      </a: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cs typeface="Calibri"/>
                          <a:sym typeface="Calibri"/>
                        </a:rPr>
                        <a:t>’          23(37’)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10010</a:t>
                      </a: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</a:t>
                      </a:r>
                      <a:endParaRPr sz="800" b="1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72093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lt1"/>
                          </a:solidFill>
                        </a:rPr>
                        <a:t>E.O</a:t>
                      </a: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u="none" strike="noStrike" cap="none" dirty="0">
                          <a:solidFill>
                            <a:schemeClr val="tx1"/>
                          </a:solidFill>
                          <a:latin typeface="Calibri"/>
                          <a:cs typeface="Calibri"/>
                          <a:sym typeface="Calibri"/>
                        </a:rPr>
                        <a:t>PNH 226/2.5, R160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84648163"/>
                  </a:ext>
                </a:extLst>
              </a:tr>
              <a:tr h="280290">
                <a:tc gridSpan="7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u="none" strike="noStrike" cap="none" dirty="0">
                          <a:solidFill>
                            <a:schemeClr val="tx1"/>
                          </a:solidFill>
                        </a:rPr>
                        <a:t>APU Start 10min Before DEP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Line up 180 Back follow Yellow Guide Line</a:t>
                      </a:r>
                      <a:endParaRPr lang="en-US" sz="800" b="1" u="none" strike="noStrike" cap="none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6" name="Google Shape;119;p3">
            <a:extLst>
              <a:ext uri="{FF2B5EF4-FFF2-40B4-BE49-F238E27FC236}">
                <a16:creationId xmlns:a16="http://schemas.microsoft.com/office/drawing/2014/main" id="{9324F2DF-C628-CA2F-3D82-2A8B1E34FA1F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086314932"/>
              </p:ext>
            </p:extLst>
          </p:nvPr>
        </p:nvGraphicFramePr>
        <p:xfrm>
          <a:off x="-2501" y="16504"/>
          <a:ext cx="2328850" cy="55937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VDPP(PNH) 40ft</a:t>
                      </a:r>
                      <a:endParaRPr lang="en-US" altLang="ko-Kore-KR" sz="1300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chemeClr val="tx1"/>
                          </a:solidFill>
                        </a:rPr>
                        <a:t>PNH DIS 129.0</a:t>
                      </a:r>
                      <a:endParaRPr sz="1200" dirty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700" dirty="0">
                          <a:solidFill>
                            <a:srgbClr val="FF0000"/>
                          </a:solidFill>
                        </a:rPr>
                        <a:t>READY!</a:t>
                      </a:r>
                      <a:r>
                        <a:rPr lang="ko-KR" altLang="en-US" sz="700" dirty="0">
                          <a:solidFill>
                            <a:srgbClr val="FF0000"/>
                          </a:solidFill>
                        </a:rPr>
                        <a:t> </a:t>
                      </a:r>
                      <a:r>
                        <a:rPr lang="en-US" altLang="ko-KR" sz="700" dirty="0">
                          <a:solidFill>
                            <a:srgbClr val="FF0000"/>
                          </a:solidFill>
                        </a:rPr>
                        <a:t>TWR 118.0 By Voice</a:t>
                      </a:r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399BF2EA-C484-82B5-D698-2C4DFAE01B8A}"/>
              </a:ext>
            </a:extLst>
          </p:cNvPr>
          <p:cNvSpPr/>
          <p:nvPr/>
        </p:nvSpPr>
        <p:spPr>
          <a:xfrm>
            <a:off x="1469976" y="2953949"/>
            <a:ext cx="910408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7030A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SE Asia</a:t>
            </a:r>
            <a:endParaRPr lang="en-US" altLang="ko-KR" sz="1800" b="1" cap="none" spc="0" dirty="0">
              <a:ln w="0"/>
              <a:solidFill>
                <a:srgbClr val="7030A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pic>
        <p:nvPicPr>
          <p:cNvPr id="9" name="그림 8" descr="텍스트, 폰트, 라인, 도표이(가) 표시된 사진&#10;&#10;자동 생성된 설명">
            <a:extLst>
              <a:ext uri="{FF2B5EF4-FFF2-40B4-BE49-F238E27FC236}">
                <a16:creationId xmlns:a16="http://schemas.microsoft.com/office/drawing/2014/main" id="{48DFD2B7-3E52-6B57-0EA3-05AC6BD7B75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14232" y="2344525"/>
            <a:ext cx="806295" cy="678848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14CA6956-FB7E-2FB3-571E-9A16B59F12B1}"/>
              </a:ext>
            </a:extLst>
          </p:cNvPr>
          <p:cNvSpPr txBox="1"/>
          <p:nvPr/>
        </p:nvSpPr>
        <p:spPr>
          <a:xfrm>
            <a:off x="598763" y="2378007"/>
            <a:ext cx="1491114" cy="1178647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APP 123.8 – PNH 127.5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HCM 134.05 – 120.7 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MNL RDO 8942/5655</a:t>
            </a:r>
            <a:r>
              <a:rPr kumimoji="1" lang="en-US" altLang="ko-Kore-KR" sz="700" b="1" u="sng" dirty="0">
                <a:solidFill>
                  <a:srgbClr val="C0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(ARESI) 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MNL 119.3</a:t>
            </a:r>
            <a:r>
              <a:rPr kumimoji="1" lang="en-US" altLang="ko-Kore-KR" sz="700" b="1" u="sng" dirty="0">
                <a:solidFill>
                  <a:srgbClr val="C0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(AKOTA)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TPE 127.9 – 125.5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FUK 127.5</a:t>
            </a:r>
            <a:r>
              <a:rPr kumimoji="1" lang="en-US" altLang="ko-KR" sz="700" b="1" u="sng" dirty="0">
                <a:solidFill>
                  <a:srgbClr val="C0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(SENKA /20)</a:t>
            </a:r>
          </a:p>
          <a:p>
            <a:pPr>
              <a:lnSpc>
                <a:spcPct val="150000"/>
              </a:lnSpc>
            </a:pPr>
            <a:endParaRPr kumimoji="1" lang="en-US" altLang="ko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1A271B0A-E414-C9F5-151D-200BBB86EC52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263593187"/>
      </p:ext>
    </p:extLst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62F9807-5AEF-8D80-6311-45C5000B22FB}"/>
              </a:ext>
            </a:extLst>
          </p:cNvPr>
          <p:cNvSpPr txBox="1"/>
          <p:nvPr/>
        </p:nvSpPr>
        <p:spPr>
          <a:xfrm>
            <a:off x="-69798" y="3164294"/>
            <a:ext cx="2207656" cy="532316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FUK 1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33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.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6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127.5 – 123.2 – 123.9</a:t>
            </a:r>
            <a:r>
              <a:rPr kumimoji="1" lang="en-US" altLang="ko-KR" sz="700" b="1" u="sng" dirty="0">
                <a:solidFill>
                  <a:srgbClr val="FF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(BISIG ETA)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MNL RDO 89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03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(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13300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)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MNL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128.7</a:t>
            </a:r>
            <a:r>
              <a:rPr kumimoji="1" lang="en-US" altLang="ko-KR" sz="700" b="1" u="sng" dirty="0">
                <a:solidFill>
                  <a:srgbClr val="FF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(BEDIP)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 APP 124.4</a:t>
            </a:r>
            <a:endParaRPr kumimoji="1" lang="en-US" altLang="ko-Kore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graphicFrame>
        <p:nvGraphicFramePr>
          <p:cNvPr id="291" name="Google Shape;291;p18"/>
          <p:cNvGraphicFramePr/>
          <p:nvPr>
            <p:extLst>
              <p:ext uri="{D42A27DB-BD31-4B8C-83A1-F6EECF244321}">
                <p14:modId xmlns:p14="http://schemas.microsoft.com/office/powerpoint/2010/main" val="1546262138"/>
              </p:ext>
            </p:extLst>
          </p:nvPr>
        </p:nvGraphicFramePr>
        <p:xfrm>
          <a:off x="0" y="635155"/>
          <a:ext cx="2332925" cy="256021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91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17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69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21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254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10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15930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SID (33/34 NADP 1, 15/16 NADP 2)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5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BOPTA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xA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BOPTA </a:t>
                      </a:r>
                      <a:r>
                        <a:rPr lang="en-US" sz="800" dirty="0" err="1"/>
                        <a:t>xY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BOPTA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xC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BOPTA </a:t>
                      </a:r>
                      <a:r>
                        <a:rPr lang="en-US" sz="800" dirty="0" err="1"/>
                        <a:t>xH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NCN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113.8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33L 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15L 111.9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15R 109.1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WNG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112.9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109.95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110.35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108.55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580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33L/R : NC05L/R, R242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YJU R271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34L/R : EO34L/R,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YJU R271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44775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33L/R 34L(23’)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15L/R 16R(23’)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4477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34R (23’)</a:t>
                      </a:r>
                      <a:endParaRPr sz="458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44775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Parallel TWY 10KTS </a:t>
                      </a:r>
                      <a:r>
                        <a:rPr lang="en-US" sz="800" dirty="0" err="1"/>
                        <a:t>이상</a:t>
                      </a:r>
                      <a:r>
                        <a:rPr lang="en-US" sz="800" dirty="0"/>
                        <a:t>(R17 MAX 15kts)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292" name="Google Shape;292;p18"/>
          <p:cNvGraphicFramePr/>
          <p:nvPr>
            <p:extLst>
              <p:ext uri="{D42A27DB-BD31-4B8C-83A1-F6EECF244321}">
                <p14:modId xmlns:p14="http://schemas.microsoft.com/office/powerpoint/2010/main" val="2313761822"/>
              </p:ext>
            </p:extLst>
          </p:nvPr>
        </p:nvGraphicFramePr>
        <p:xfrm>
          <a:off x="-11466" y="3783028"/>
          <a:ext cx="2365375" cy="179257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6454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387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63525">
                  <a:extLst>
                    <a:ext uri="{9D8B030D-6E8A-4147-A177-3AD203B41FA5}">
                      <a16:colId xmlns:a16="http://schemas.microsoft.com/office/drawing/2014/main" val="154479603"/>
                    </a:ext>
                  </a:extLst>
                </a:gridCol>
                <a:gridCol w="498528">
                  <a:extLst>
                    <a:ext uri="{9D8B030D-6E8A-4147-A177-3AD203B41FA5}">
                      <a16:colId xmlns:a16="http://schemas.microsoft.com/office/drawing/2014/main" val="992510185"/>
                    </a:ext>
                  </a:extLst>
                </a:gridCol>
              </a:tblGrid>
              <a:tr h="120271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MNL : RNP STAR with RNP APP </a:t>
                      </a:r>
                      <a:r>
                        <a:rPr lang="en-US" sz="800" dirty="0">
                          <a:solidFill>
                            <a:schemeClr val="accent4"/>
                          </a:solidFill>
                        </a:rPr>
                        <a:t>(CPDLC : RPHI)</a:t>
                      </a:r>
                      <a:r>
                        <a:rPr lang="ko-KR" altLang="en-US" sz="800" dirty="0">
                          <a:solidFill>
                            <a:schemeClr val="accent4"/>
                          </a:solidFill>
                        </a:rPr>
                        <a:t> </a:t>
                      </a:r>
                      <a:r>
                        <a:rPr lang="en-US" altLang="ko-KR" sz="800" dirty="0">
                          <a:solidFill>
                            <a:schemeClr val="bg1"/>
                          </a:solidFill>
                        </a:rPr>
                        <a:t>TL 130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>
                          <a:solidFill>
                            <a:srgbClr val="FFC000"/>
                          </a:solidFill>
                        </a:rPr>
                        <a:t>3 STAR Difference Track Mile &amp; IAF  </a:t>
                      </a:r>
                      <a:endParaRPr sz="800" b="0" dirty="0">
                        <a:solidFill>
                          <a:srgbClr val="FFC000"/>
                        </a:solidFill>
                      </a:endParaRPr>
                    </a:p>
                  </a:txBody>
                  <a:tcPr marL="0" marR="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06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 row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POLIO, NABAL </a:t>
                      </a:r>
                      <a:r>
                        <a:rPr lang="en-US" altLang="ko-KR" sz="800" b="1" dirty="0"/>
                        <a:t>(</a:t>
                      </a:r>
                      <a:r>
                        <a:rPr lang="en-US" altLang="ko-KR" sz="800" b="1" dirty="0">
                          <a:solidFill>
                            <a:srgbClr val="FF0000"/>
                          </a:solidFill>
                        </a:rPr>
                        <a:t>7</a:t>
                      </a:r>
                      <a:r>
                        <a:rPr lang="en-US" altLang="ko-KR" sz="800" b="1" dirty="0"/>
                        <a:t>,5,3)R/P</a:t>
                      </a:r>
                      <a:endParaRPr lang="en-US" sz="800" b="1"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DCT MIA RDR </a:t>
                      </a:r>
                      <a:r>
                        <a:rPr lang="en-US" sz="800" b="1" dirty="0" err="1">
                          <a:solidFill>
                            <a:srgbClr val="00B050"/>
                          </a:solidFill>
                        </a:rPr>
                        <a:t>Vec</a:t>
                      </a:r>
                      <a:endParaRPr lang="en-US" sz="800" b="1" dirty="0">
                        <a:solidFill>
                          <a:srgbClr val="00B050"/>
                        </a:solidFill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b="0" dirty="0">
                          <a:solidFill>
                            <a:srgbClr val="C00000"/>
                          </a:solidFill>
                        </a:rPr>
                        <a:t>(TMA 250, 20NM 210)</a:t>
                      </a: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/>
                        <a:t>GONDO</a:t>
                      </a:r>
                      <a:endParaRPr lang="en-US" sz="800" b="1"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(</a:t>
                      </a:r>
                      <a:r>
                        <a:rPr lang="en-US" altLang="ko-Kore-KR" sz="800" b="1" dirty="0"/>
                        <a:t>DAGAT</a:t>
                      </a:r>
                      <a:r>
                        <a:rPr lang="en-US" sz="800" b="1" dirty="0"/>
                        <a:t>)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RNP 06 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ILS 06</a:t>
                      </a: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800" b="1" dirty="0"/>
                        <a:t>24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tc v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DALAP </a:t>
                      </a:r>
                      <a:r>
                        <a:rPr lang="en-US" sz="800" b="1" dirty="0" err="1"/>
                        <a:t>xxG</a:t>
                      </a:r>
                      <a:endParaRPr lang="en-US"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800" b="1" dirty="0"/>
                        <a:t>MUTAN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800" b="1" dirty="0"/>
                        <a:t>(</a:t>
                      </a:r>
                      <a:r>
                        <a:rPr lang="en-US" altLang="ko-Kore-KR" sz="800" b="1" dirty="0"/>
                        <a:t>MEDAM</a:t>
                      </a:r>
                      <a:r>
                        <a:rPr lang="en-US" sz="800" b="1" dirty="0"/>
                        <a:t>)</a:t>
                      </a:r>
                      <a:endParaRPr lang="ko-Kore-KR" altLang="en-US"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1" dirty="0"/>
                        <a:t>RNP 24 </a:t>
                      </a:r>
                    </a:p>
                    <a:p>
                      <a:pPr algn="ctr"/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ILS 24</a:t>
                      </a:r>
                      <a:endParaRPr lang="ko-Kore-KR" altLang="en-US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4277695380"/>
                  </a:ext>
                </a:extLst>
              </a:tr>
              <a:tr h="137479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06 </a:t>
                      </a: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(16’)                </a:t>
                      </a: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11188</a:t>
                      </a:r>
                      <a:r>
                        <a:rPr lang="en-US" altLang="ko-KR" sz="800" b="1" dirty="0">
                          <a:solidFill>
                            <a:srgbClr val="00B050"/>
                          </a:solidFill>
                        </a:rPr>
                        <a:t>’              </a:t>
                      </a:r>
                      <a:r>
                        <a:rPr lang="en-US" altLang="ko-KR" sz="800" b="1" dirty="0">
                          <a:solidFill>
                            <a:srgbClr val="FF0000"/>
                          </a:solidFill>
                        </a:rPr>
                        <a:t> </a:t>
                      </a:r>
                      <a:r>
                        <a:rPr lang="en-US" altLang="ko-KR" sz="800" b="1" dirty="0">
                          <a:solidFill>
                            <a:srgbClr val="00B050"/>
                          </a:solidFill>
                        </a:rPr>
                        <a:t>24 </a:t>
                      </a:r>
                      <a:r>
                        <a:rPr lang="en-US" altLang="ko-KR" sz="800" b="1" dirty="0">
                          <a:solidFill>
                            <a:srgbClr val="C00000"/>
                          </a:solidFill>
                        </a:rPr>
                        <a:t>(75’)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23913">
                <a:tc gridSpan="4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lang="en-US" sz="800" b="1" dirty="0">
                          <a:solidFill>
                            <a:schemeClr val="tx1"/>
                          </a:solidFill>
                        </a:rPr>
                        <a:t>06 : R2(6223’), R1(8221’),     24 </a:t>
                      </a:r>
                      <a:r>
                        <a:rPr lang="en-US" altLang="ko-Kore-KR" sz="800" b="1" dirty="0">
                          <a:solidFill>
                            <a:schemeClr val="tx1"/>
                          </a:solidFill>
                        </a:rPr>
                        <a:t>: R4(6095’), R5(7746’</a:t>
                      </a:r>
                      <a:r>
                        <a:rPr lang="en-US" altLang="ko-KR" sz="800" b="1" dirty="0">
                          <a:solidFill>
                            <a:schemeClr val="tx1"/>
                          </a:solidFill>
                        </a:rPr>
                        <a:t>)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R" sz="800" b="0" dirty="0">
                          <a:solidFill>
                            <a:srgbClr val="0070C0"/>
                          </a:solidFill>
                        </a:rPr>
                        <a:t>Unable advise ATC, </a:t>
                      </a:r>
                      <a:r>
                        <a:rPr lang="en-US" altLang="ko-KR" sz="800" b="0" dirty="0">
                          <a:solidFill>
                            <a:srgbClr val="C00000"/>
                          </a:solidFill>
                        </a:rPr>
                        <a:t>Do not confuse R2, E2, RWY31</a:t>
                      </a: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37479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CTC Ramp before Entering apron, </a:t>
                      </a:r>
                      <a:r>
                        <a:rPr lang="en-US" sz="800" dirty="0">
                          <a:solidFill>
                            <a:srgbClr val="0070C0"/>
                          </a:solidFill>
                        </a:rPr>
                        <a:t>Report </a:t>
                      </a:r>
                      <a:r>
                        <a:rPr lang="en-US" sz="800" dirty="0" err="1">
                          <a:solidFill>
                            <a:srgbClr val="0070C0"/>
                          </a:solidFill>
                        </a:rPr>
                        <a:t>Chockin</a:t>
                      </a:r>
                      <a:r>
                        <a:rPr lang="en-US" sz="800" dirty="0">
                          <a:solidFill>
                            <a:srgbClr val="0070C0"/>
                          </a:solidFill>
                        </a:rPr>
                        <a:t> Time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Caution </a:t>
                      </a:r>
                      <a:r>
                        <a:rPr lang="en-US" sz="800" b="1" dirty="0" err="1">
                          <a:solidFill>
                            <a:srgbClr val="C00000"/>
                          </a:solidFill>
                        </a:rPr>
                        <a:t>HotSpot</a:t>
                      </a: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 RWY31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293" name="Google Shape;293;p18"/>
          <p:cNvGraphicFramePr/>
          <p:nvPr>
            <p:extLst>
              <p:ext uri="{D42A27DB-BD31-4B8C-83A1-F6EECF244321}">
                <p14:modId xmlns:p14="http://schemas.microsoft.com/office/powerpoint/2010/main" val="3513704510"/>
              </p:ext>
            </p:extLst>
          </p:nvPr>
        </p:nvGraphicFramePr>
        <p:xfrm>
          <a:off x="-2501" y="16504"/>
          <a:ext cx="2328850" cy="60930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RPLL(MNL) 75ft</a:t>
                      </a:r>
                      <a:endParaRPr lang="en-US" altLang="ko-Kore-KR" sz="1300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KE ICN 131.5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600"/>
                        <a:buFont typeface="Calibri"/>
                        <a:buNone/>
                      </a:pPr>
                      <a:r>
                        <a:rPr lang="en-US" sz="60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-10분 TOBT 5분 차이시 CTC Comm</a:t>
                      </a:r>
                      <a:endParaRPr sz="90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PAGSS </a:t>
                      </a:r>
                      <a:r>
                        <a:rPr lang="en-US" sz="900" dirty="0" err="1"/>
                        <a:t>Oper</a:t>
                      </a:r>
                      <a:r>
                        <a:rPr lang="en-US" sz="900" dirty="0"/>
                        <a:t> 131.0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FF0000"/>
                          </a:solidFill>
                        </a:rPr>
                        <a:t>No D-ATIS</a:t>
                      </a:r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2AAB07A0-B244-1F75-A200-72ACAFBC97D5}"/>
              </a:ext>
            </a:extLst>
          </p:cNvPr>
          <p:cNvSpPr/>
          <p:nvPr/>
        </p:nvSpPr>
        <p:spPr>
          <a:xfrm>
            <a:off x="1469976" y="3466541"/>
            <a:ext cx="910408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7030A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SE Asia</a:t>
            </a:r>
            <a:endParaRPr lang="en-US" altLang="ko-KR" sz="1800" b="1" cap="none" spc="0" dirty="0">
              <a:ln w="0"/>
              <a:solidFill>
                <a:srgbClr val="7030A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93365F54-8A36-6A9A-F1D4-D28F7D1796D7}"/>
              </a:ext>
            </a:extLst>
          </p:cNvPr>
          <p:cNvSpPr/>
          <p:nvPr/>
        </p:nvSpPr>
        <p:spPr>
          <a:xfrm>
            <a:off x="846113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7030A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7030A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232215541"/>
      </p:ext>
    </p:extLst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Google Shape;303;p19">
            <a:extLst>
              <a:ext uri="{FF2B5EF4-FFF2-40B4-BE49-F238E27FC236}">
                <a16:creationId xmlns:a16="http://schemas.microsoft.com/office/drawing/2014/main" id="{9A6F36E3-64E2-A97B-D85E-56AC20DB6603}"/>
              </a:ext>
            </a:extLst>
          </p:cNvPr>
          <p:cNvGraphicFramePr/>
          <p:nvPr/>
        </p:nvGraphicFramePr>
        <p:xfrm>
          <a:off x="1119" y="3405664"/>
          <a:ext cx="2325975" cy="2130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59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3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55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774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STAR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33/34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</a:t>
                      </a:r>
                      <a:r>
                        <a:rPr lang="en-US" sz="800" b="1" dirty="0" err="1"/>
                        <a:t>xE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ENPIL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180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15/16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</a:t>
                      </a:r>
                      <a:r>
                        <a:rPr lang="en-US" sz="800" b="1" dirty="0" err="1"/>
                        <a:t>xH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MUNAN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180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285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33L/R 34L(23’)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15L/R 16R(23’)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285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34R(23’)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13123’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16L(23’)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64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FIX</a:t>
                      </a:r>
                      <a:endParaRPr/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RWY /8, /5 , YJU R271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C4(7529’),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C5(8513’), 33L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: B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7563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8513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C2(7522’),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C1(8536’), 15R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B3(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7454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B2(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8641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P7(5600’),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P8(6578’), 34R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N4(6876’),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N5(8507‘)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P6(5597’),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P5(6574’), 16L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N3(7043‘),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N2(8444‘)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01600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8NM 180kts, 5NM 160kts, Parr TAXI 10kts이상,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HIRO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3" name="Google Shape;117;p3">
            <a:extLst>
              <a:ext uri="{FF2B5EF4-FFF2-40B4-BE49-F238E27FC236}">
                <a16:creationId xmlns:a16="http://schemas.microsoft.com/office/drawing/2014/main" id="{B2399E6E-0BF9-245E-720B-598089D336E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352760667"/>
              </p:ext>
            </p:extLst>
          </p:nvPr>
        </p:nvGraphicFramePr>
        <p:xfrm>
          <a:off x="-15808" y="675701"/>
          <a:ext cx="2349162" cy="174265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4149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8239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11004">
                  <a:extLst>
                    <a:ext uri="{9D8B030D-6E8A-4147-A177-3AD203B41FA5}">
                      <a16:colId xmlns:a16="http://schemas.microsoft.com/office/drawing/2014/main" val="2284565888"/>
                    </a:ext>
                  </a:extLst>
                </a:gridCol>
                <a:gridCol w="24470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41421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4822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379923">
                  <a:extLst>
                    <a:ext uri="{9D8B030D-6E8A-4147-A177-3AD203B41FA5}">
                      <a16:colId xmlns:a16="http://schemas.microsoft.com/office/drawing/2014/main" val="448940902"/>
                    </a:ext>
                  </a:extLst>
                </a:gridCol>
              </a:tblGrid>
              <a:tr h="303688">
                <a:tc gridSpan="7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MNL : RDR Vector to CAB (NADP 1) TA 11000’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accent4"/>
                          </a:solidFill>
                        </a:rPr>
                        <a:t>Main RWY H/D Climb 7000ft, CLR for T/O</a:t>
                      </a:r>
                    </a:p>
                  </a:txBody>
                  <a:tcPr marL="36000" marR="7200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6071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06</a:t>
                      </a:r>
                      <a:endParaRPr lang="en-US" sz="800" b="0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CAB xx R/A (Cabanatuan)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algn="ctr"/>
                      <a:endParaRPr lang="ko-Kore-KR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061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061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1200</a:t>
                      </a:r>
                      <a:r>
                        <a:rPr lang="en-US" altLang="ko-KR" sz="800" b="1" u="none" strike="noStrike" cap="none" dirty="0">
                          <a:solidFill>
                            <a:srgbClr val="0070C0"/>
                          </a:solidFill>
                        </a:rPr>
                        <a:t>0</a:t>
                      </a: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ATC</a:t>
                      </a: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061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6071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24</a:t>
                      </a:r>
                      <a:endParaRPr sz="800" b="0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CAB xx P/B</a:t>
                      </a:r>
                    </a:p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(Cabanatuan)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algn="ctr"/>
                      <a:endParaRPr lang="ko-Kore-KR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241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241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9000</a:t>
                      </a:r>
                      <a:r>
                        <a:rPr lang="ko-KR" altLang="en-US" sz="800" b="1" u="none" strike="noStrike" cap="none">
                          <a:solidFill>
                            <a:srgbClr val="0070C0"/>
                          </a:solidFill>
                        </a:rPr>
                        <a:t> </a:t>
                      </a:r>
                      <a:r>
                        <a:rPr lang="en-US" sz="800" b="1" u="none" strike="noStrike" cap="none">
                          <a:solidFill>
                            <a:srgbClr val="0070C0"/>
                          </a:solidFill>
                        </a:rPr>
                        <a:t>ATC</a:t>
                      </a:r>
                      <a:endParaRPr lang="en-US"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241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75643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MIA 114.4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algn="ctr"/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06 109.1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24 109.9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19 108.9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75643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lt1"/>
                          </a:solidFill>
                        </a:rPr>
                        <a:t>E.O</a:t>
                      </a: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u="none" strike="noStrike" cap="none" dirty="0">
                          <a:solidFill>
                            <a:schemeClr val="tx1"/>
                          </a:solidFill>
                          <a:latin typeface="Calibri"/>
                          <a:cs typeface="Calibri"/>
                          <a:sym typeface="Calibri"/>
                        </a:rPr>
                        <a:t>06 </a:t>
                      </a:r>
                      <a:r>
                        <a:rPr lang="en-US" sz="800" b="0" u="none" strike="noStrike" cap="none">
                          <a:solidFill>
                            <a:schemeClr val="tx1"/>
                          </a:solidFill>
                          <a:latin typeface="Calibri"/>
                          <a:cs typeface="Calibri"/>
                          <a:sym typeface="Calibri"/>
                        </a:rPr>
                        <a:t>: MIA /2</a:t>
                      </a:r>
                      <a:r>
                        <a:rPr lang="en-US" sz="800" b="0" u="none" strike="noStrike" cap="none" dirty="0">
                          <a:solidFill>
                            <a:schemeClr val="tx1"/>
                          </a:solidFill>
                          <a:latin typeface="Calibri"/>
                          <a:cs typeface="Calibri"/>
                          <a:sym typeface="Calibri"/>
                        </a:rPr>
                        <a:t>, R250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57310195"/>
                  </a:ext>
                </a:extLst>
              </a:tr>
              <a:tr h="175643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06</a:t>
                      </a: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(16’)          </a:t>
                      </a:r>
                      <a:r>
                        <a:rPr lang="en-US" altLang="ko-KR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cs typeface="Calibri"/>
                          <a:sym typeface="Calibri"/>
                        </a:rPr>
                        <a:t>11188</a:t>
                      </a: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cs typeface="Calibri"/>
                          <a:sym typeface="Calibri"/>
                        </a:rPr>
                        <a:t>’          24</a:t>
                      </a: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  <a:latin typeface="Calibri"/>
                          <a:cs typeface="Calibri"/>
                          <a:sym typeface="Calibri"/>
                        </a:rPr>
                        <a:t>(75’)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75643">
                <a:tc gridSpan="7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u="none" strike="noStrike" cap="none" dirty="0">
                          <a:solidFill>
                            <a:srgbClr val="C00000"/>
                          </a:solidFill>
                        </a:rPr>
                        <a:t>Req </a:t>
                      </a: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ENG Startup to GND </a:t>
                      </a:r>
                      <a:r>
                        <a:rPr lang="en-US" altLang="ko-KR" sz="800" b="0" u="none" strike="noStrike" cap="none" dirty="0">
                          <a:solidFill>
                            <a:srgbClr val="C00000"/>
                          </a:solidFill>
                        </a:rPr>
                        <a:t>-&gt;</a:t>
                      </a:r>
                      <a:r>
                        <a:rPr lang="ko-KR" altLang="en-US" sz="800" b="0" u="none" strike="noStrike" cap="none" dirty="0">
                          <a:solidFill>
                            <a:srgbClr val="C00000"/>
                          </a:solidFill>
                        </a:rPr>
                        <a:t> </a:t>
                      </a:r>
                      <a:r>
                        <a:rPr lang="en-US" sz="800" b="0" u="none" strike="noStrike" cap="none" dirty="0">
                          <a:solidFill>
                            <a:srgbClr val="C00000"/>
                          </a:solidFill>
                        </a:rPr>
                        <a:t> Req </a:t>
                      </a: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Pushback to Ramp</a:t>
                      </a: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6" name="Google Shape;119;p3">
            <a:extLst>
              <a:ext uri="{FF2B5EF4-FFF2-40B4-BE49-F238E27FC236}">
                <a16:creationId xmlns:a16="http://schemas.microsoft.com/office/drawing/2014/main" id="{9324F2DF-C628-CA2F-3D82-2A8B1E34FA1F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555956729"/>
              </p:ext>
            </p:extLst>
          </p:nvPr>
        </p:nvGraphicFramePr>
        <p:xfrm>
          <a:off x="-2501" y="16504"/>
          <a:ext cx="2328850" cy="66605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RPLL(MNL) 75ft</a:t>
                      </a:r>
                      <a:endParaRPr lang="en-US" altLang="ko-Kore-KR" sz="1300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chemeClr val="tx1"/>
                          </a:solidFill>
                        </a:rPr>
                        <a:t>PAGSS </a:t>
                      </a:r>
                      <a:r>
                        <a:rPr lang="en-US" sz="800" dirty="0" err="1">
                          <a:solidFill>
                            <a:schemeClr val="tx1"/>
                          </a:solidFill>
                        </a:rPr>
                        <a:t>Oper</a:t>
                      </a:r>
                      <a:r>
                        <a:rPr lang="en-US" sz="800" dirty="0">
                          <a:solidFill>
                            <a:schemeClr val="tx1"/>
                          </a:solidFill>
                        </a:rPr>
                        <a:t> 131.0</a:t>
                      </a:r>
                      <a:endParaRPr sz="1200" dirty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700" dirty="0">
                          <a:solidFill>
                            <a:srgbClr val="FF0000"/>
                          </a:solidFill>
                        </a:rPr>
                        <a:t>-5min,</a:t>
                      </a:r>
                      <a:r>
                        <a:rPr lang="ko-KR" altLang="en-US" sz="700" dirty="0">
                          <a:solidFill>
                            <a:srgbClr val="FF0000"/>
                          </a:solidFill>
                        </a:rPr>
                        <a:t> </a:t>
                      </a:r>
                      <a:r>
                        <a:rPr lang="en-US" altLang="ko-KR" sz="700" dirty="0">
                          <a:solidFill>
                            <a:srgbClr val="FF0000"/>
                          </a:solidFill>
                        </a:rPr>
                        <a:t>CLR 125.1 By Voice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700" dirty="0">
                          <a:solidFill>
                            <a:srgbClr val="FF0000"/>
                          </a:solidFill>
                        </a:rPr>
                        <a:t>Aircraft Type, Proposing ALT</a:t>
                      </a:r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14CA6956-FB7E-2FB3-571E-9A16B59F12B1}"/>
              </a:ext>
            </a:extLst>
          </p:cNvPr>
          <p:cNvSpPr txBox="1"/>
          <p:nvPr/>
        </p:nvSpPr>
        <p:spPr>
          <a:xfrm>
            <a:off x="901089" y="2339711"/>
            <a:ext cx="1522810" cy="1017064"/>
          </a:xfrm>
          <a:prstGeom prst="rect">
            <a:avLst/>
          </a:prstGeom>
          <a:noFill/>
        </p:spPr>
        <p:txBody>
          <a:bodyPr wrap="squar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124.4(121.1)</a:t>
            </a:r>
            <a:endParaRPr kumimoji="1" lang="en-US" altLang="ko-Kore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MNL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128.7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119.3</a:t>
            </a:r>
            <a:r>
              <a:rPr kumimoji="1" lang="en-US" altLang="ko-KR" sz="700" b="1" u="sng" dirty="0">
                <a:solidFill>
                  <a:srgbClr val="FF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(LEBIX ETA)</a:t>
            </a:r>
            <a:endParaRPr kumimoji="1" lang="en-US" altLang="ko-Kore-KR" sz="700" b="1" u="sng" dirty="0">
              <a:solidFill>
                <a:srgbClr val="FF000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TPE 127.9 – 125.5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FUK 127.5 -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133.6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ICN 125.72 - 124.52</a:t>
            </a:r>
          </a:p>
          <a:p>
            <a:pPr>
              <a:lnSpc>
                <a:spcPct val="150000"/>
              </a:lnSpc>
            </a:pPr>
            <a:endParaRPr kumimoji="1" lang="en-US" altLang="ko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399BF2EA-C484-82B5-D698-2C4DFAE01B8A}"/>
              </a:ext>
            </a:extLst>
          </p:cNvPr>
          <p:cNvSpPr/>
          <p:nvPr/>
        </p:nvSpPr>
        <p:spPr>
          <a:xfrm>
            <a:off x="1469976" y="3112459"/>
            <a:ext cx="910408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7030A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SE Asia</a:t>
            </a:r>
            <a:endParaRPr lang="en-US" altLang="ko-KR" sz="1800" b="1" cap="none" spc="0" dirty="0">
              <a:ln w="0"/>
              <a:solidFill>
                <a:srgbClr val="7030A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pic>
        <p:nvPicPr>
          <p:cNvPr id="9" name="그림 8" descr="텍스트, 라인, 도표, 폰트이(가) 표시된 사진&#10;&#10;자동 생성된 설명">
            <a:extLst>
              <a:ext uri="{FF2B5EF4-FFF2-40B4-BE49-F238E27FC236}">
                <a16:creationId xmlns:a16="http://schemas.microsoft.com/office/drawing/2014/main" id="{B005688E-5621-947C-9A52-94A084F0AE3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6734" y="2423260"/>
            <a:ext cx="993580" cy="464007"/>
          </a:xfrm>
          <a:prstGeom prst="rect">
            <a:avLst/>
          </a:prstGeom>
        </p:spPr>
      </p:pic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B363B5B1-8E7B-7609-6A41-4AC4F2531BE5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698846541"/>
      </p:ext>
    </p:extLst>
  </p:cSld>
  <p:clrMapOvr>
    <a:masterClrMapping/>
  </p:clrMapOvr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62F9807-5AEF-8D80-6311-45C5000B22FB}"/>
              </a:ext>
            </a:extLst>
          </p:cNvPr>
          <p:cNvSpPr txBox="1"/>
          <p:nvPr/>
        </p:nvSpPr>
        <p:spPr>
          <a:xfrm>
            <a:off x="-58296" y="3162308"/>
            <a:ext cx="1338828" cy="693899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FUK 127.5</a:t>
            </a:r>
            <a:r>
              <a:rPr kumimoji="1" lang="en-US" altLang="ko-Kore-KR" sz="700" b="1" u="sng" dirty="0">
                <a:solidFill>
                  <a:srgbClr val="FF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(SENKA</a:t>
            </a:r>
            <a:r>
              <a:rPr kumimoji="1" lang="ko-KR" altLang="en-US" sz="700" b="1" u="sng" dirty="0">
                <a:solidFill>
                  <a:srgbClr val="FF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FF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/20) </a:t>
            </a:r>
            <a:endParaRPr kumimoji="1" lang="en-US" altLang="ko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TPE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125.5 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APP 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28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.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5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119.7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130.1</a:t>
            </a:r>
            <a:endParaRPr kumimoji="1" lang="en-US" altLang="ko-Kore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endParaRPr kumimoji="1" lang="en-US" altLang="ko-Kore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graphicFrame>
        <p:nvGraphicFramePr>
          <p:cNvPr id="291" name="Google Shape;291;p18"/>
          <p:cNvGraphicFramePr/>
          <p:nvPr/>
        </p:nvGraphicFramePr>
        <p:xfrm>
          <a:off x="0" y="635155"/>
          <a:ext cx="2332925" cy="256021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91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17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69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21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254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10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15930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SID (33/34 NADP 1, 15/16 NADP 2)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5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BOPTA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xA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BOPTA </a:t>
                      </a:r>
                      <a:r>
                        <a:rPr lang="en-US" sz="800" dirty="0" err="1"/>
                        <a:t>xY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BOPTA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xC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BOPTA </a:t>
                      </a:r>
                      <a:r>
                        <a:rPr lang="en-US" sz="800" dirty="0" err="1"/>
                        <a:t>xH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NCN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113.8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33L 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15L 111.9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15R 109.1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WNG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112.9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109.95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110.35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108.55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580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33L/R : NC05L/R, R242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YJU R271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34L/R : EO34L/R,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YJU R271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44775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33L/R 34L(23’)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15L/R 16R(23’)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4477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34R (23’)</a:t>
                      </a:r>
                      <a:endParaRPr sz="458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44775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Parallel TWY 10KTS </a:t>
                      </a:r>
                      <a:r>
                        <a:rPr lang="en-US" sz="800" dirty="0" err="1"/>
                        <a:t>이상</a:t>
                      </a:r>
                      <a:r>
                        <a:rPr lang="en-US" sz="800" dirty="0"/>
                        <a:t>(R17 MAX 15kts)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292" name="Google Shape;292;p18"/>
          <p:cNvGraphicFramePr/>
          <p:nvPr>
            <p:extLst>
              <p:ext uri="{D42A27DB-BD31-4B8C-83A1-F6EECF244321}">
                <p14:modId xmlns:p14="http://schemas.microsoft.com/office/powerpoint/2010/main" val="4225320391"/>
              </p:ext>
            </p:extLst>
          </p:nvPr>
        </p:nvGraphicFramePr>
        <p:xfrm>
          <a:off x="-2501" y="3771883"/>
          <a:ext cx="2327659" cy="1785143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6454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8239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50869">
                  <a:extLst>
                    <a:ext uri="{9D8B030D-6E8A-4147-A177-3AD203B41FA5}">
                      <a16:colId xmlns:a16="http://schemas.microsoft.com/office/drawing/2014/main" val="502366202"/>
                    </a:ext>
                  </a:extLst>
                </a:gridCol>
                <a:gridCol w="118370">
                  <a:extLst>
                    <a:ext uri="{9D8B030D-6E8A-4147-A177-3AD203B41FA5}">
                      <a16:colId xmlns:a16="http://schemas.microsoft.com/office/drawing/2014/main" val="992510185"/>
                    </a:ext>
                  </a:extLst>
                </a:gridCol>
                <a:gridCol w="511481">
                  <a:extLst>
                    <a:ext uri="{9D8B030D-6E8A-4147-A177-3AD203B41FA5}">
                      <a16:colId xmlns:a16="http://schemas.microsoft.com/office/drawing/2014/main" val="2076907169"/>
                    </a:ext>
                  </a:extLst>
                </a:gridCol>
              </a:tblGrid>
              <a:tr h="250971">
                <a:tc gridSpan="5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RMQ : No STAR TL130 </a:t>
                      </a:r>
                      <a:r>
                        <a:rPr lang="en-US" sz="800" dirty="0">
                          <a:solidFill>
                            <a:schemeClr val="accent4"/>
                          </a:solidFill>
                        </a:rPr>
                        <a:t>COPRA FL220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accent4"/>
                          </a:solidFill>
                        </a:rPr>
                        <a:t>ILS Z 36 : HLG31 SPD Modify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2316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18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 row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RDR Vector</a:t>
                      </a:r>
                      <a:endParaRPr lang="en-US" sz="7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dirty="0"/>
                        <a:t>HLG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18</a:t>
                      </a:r>
                      <a:endParaRPr lang="ko-Kore-KR" altLang="en-US" b="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5153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dirty="0"/>
                        <a:t>36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 v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altLang="ko-Kore-KR"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FATAN</a:t>
                      </a:r>
                    </a:p>
                    <a:p>
                      <a:pPr algn="ctr"/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(ARROZ)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sz="800" b="1" dirty="0"/>
                        <a:t>ILS Z 36 </a:t>
                      </a:r>
                    </a:p>
                    <a:p>
                      <a:pPr algn="ctr"/>
                      <a:r>
                        <a:rPr lang="en-US" sz="800" b="1" dirty="0"/>
                        <a:t>(ILS Y 36</a:t>
                      </a:r>
                      <a:r>
                        <a:rPr lang="en-US" sz="800" b="0" dirty="0"/>
                        <a:t>)</a:t>
                      </a:r>
                      <a:endParaRPr lang="en-US" sz="800"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5153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18(653’)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R" sz="800" b="1" dirty="0">
                          <a:solidFill>
                            <a:srgbClr val="00B050"/>
                          </a:solidFill>
                        </a:rPr>
                        <a:t>12005’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36(663’)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45153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FIX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dirty="0" err="1">
                          <a:solidFill>
                            <a:schemeClr val="tx1"/>
                          </a:solidFill>
                        </a:rPr>
                        <a:t>RWxx</a:t>
                      </a:r>
                      <a:r>
                        <a:rPr lang="en-US" sz="800" b="0" dirty="0">
                          <a:solidFill>
                            <a:schemeClr val="tx1"/>
                          </a:solidFill>
                        </a:rPr>
                        <a:t> /8</a:t>
                      </a:r>
                      <a:r>
                        <a:rPr lang="en-US" altLang="ko-KR" sz="800" b="0" dirty="0">
                          <a:solidFill>
                            <a:schemeClr val="tx1"/>
                          </a:solidFill>
                        </a:rPr>
                        <a:t> </a:t>
                      </a:r>
                      <a:endParaRPr sz="800" b="0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3343174176"/>
                  </a:ext>
                </a:extLst>
              </a:tr>
              <a:tr h="236413">
                <a:tc gridSpan="5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18 : EOR(12005’),  36 : W5(8500’)</a:t>
                      </a:r>
                      <a:r>
                        <a:rPr lang="en-US" sz="800" dirty="0">
                          <a:solidFill>
                            <a:schemeClr val="dk1"/>
                          </a:solidFill>
                        </a:rPr>
                        <a:t> </a:t>
                      </a:r>
                      <a:endParaRPr dirty="0"/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45153">
                <a:tc gridSpan="5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E1~4, W1 for Military  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dirty="0">
                          <a:solidFill>
                            <a:schemeClr val="tx1"/>
                          </a:solidFill>
                        </a:rPr>
                        <a:t>Follow Me Car on W, Report W3 Intersection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293" name="Google Shape;293;p18"/>
          <p:cNvGraphicFramePr/>
          <p:nvPr>
            <p:extLst>
              <p:ext uri="{D42A27DB-BD31-4B8C-83A1-F6EECF244321}">
                <p14:modId xmlns:p14="http://schemas.microsoft.com/office/powerpoint/2010/main" val="3778245021"/>
              </p:ext>
            </p:extLst>
          </p:nvPr>
        </p:nvGraphicFramePr>
        <p:xfrm>
          <a:off x="-2501" y="16504"/>
          <a:ext cx="2328850" cy="62454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2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RCMQ(RMQ)</a:t>
                      </a:r>
                      <a:r>
                        <a:rPr lang="en-US" altLang="ko-Kore-KR" sz="1200" dirty="0">
                          <a:solidFill>
                            <a:srgbClr val="FF0000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665ft</a:t>
                      </a:r>
                      <a:endParaRPr lang="en-US" altLang="ko-Kore-KR" sz="1300" dirty="0">
                        <a:solidFill>
                          <a:srgbClr val="FF0000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KE ICN 131.5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600"/>
                        <a:buFont typeface="Calibri"/>
                        <a:buNone/>
                      </a:pPr>
                      <a:r>
                        <a:rPr lang="en-US" sz="60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-10분 TOBT 5분 차이시 CTC Comm</a:t>
                      </a:r>
                      <a:endParaRPr sz="90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Mandarin Operation 131.85/95</a:t>
                      </a:r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48BFDA17-699D-A0C3-A1F6-B1CDE98B3DE3}"/>
              </a:ext>
            </a:extLst>
          </p:cNvPr>
          <p:cNvSpPr/>
          <p:nvPr/>
        </p:nvSpPr>
        <p:spPr>
          <a:xfrm>
            <a:off x="1469976" y="3426031"/>
            <a:ext cx="910408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7030A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SE Asia</a:t>
            </a:r>
            <a:endParaRPr lang="en-US" altLang="ko-KR" sz="1800" b="1" cap="none" spc="0" dirty="0">
              <a:ln w="0"/>
              <a:solidFill>
                <a:srgbClr val="7030A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26E8B272-8D5B-D47D-58C6-4C3C17E8230E}"/>
              </a:ext>
            </a:extLst>
          </p:cNvPr>
          <p:cNvSpPr/>
          <p:nvPr/>
        </p:nvSpPr>
        <p:spPr>
          <a:xfrm>
            <a:off x="824277" y="283513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7030A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7030A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114432236"/>
      </p:ext>
    </p:extLst>
  </p:cSld>
  <p:clrMapOvr>
    <a:masterClrMapping/>
  </p:clrMapOvr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Google Shape;303;p19">
            <a:extLst>
              <a:ext uri="{FF2B5EF4-FFF2-40B4-BE49-F238E27FC236}">
                <a16:creationId xmlns:a16="http://schemas.microsoft.com/office/drawing/2014/main" id="{9A6F36E3-64E2-A97B-D85E-56AC20DB6603}"/>
              </a:ext>
            </a:extLst>
          </p:cNvPr>
          <p:cNvGraphicFramePr/>
          <p:nvPr/>
        </p:nvGraphicFramePr>
        <p:xfrm>
          <a:off x="1119" y="3405664"/>
          <a:ext cx="2325975" cy="2130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59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3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55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774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STAR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33/34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</a:t>
                      </a:r>
                      <a:r>
                        <a:rPr lang="en-US" sz="800" b="1" dirty="0" err="1"/>
                        <a:t>xE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ENPIL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180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15/16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</a:t>
                      </a:r>
                      <a:r>
                        <a:rPr lang="en-US" sz="800" b="1" dirty="0" err="1"/>
                        <a:t>xH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MUNAN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180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285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33L/R 34L(23’)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15L/R 16R(23’)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285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34R(23’)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13123’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16L(23’)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64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FIX</a:t>
                      </a:r>
                      <a:endParaRPr/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RWY /8, /5 , YJU R271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C4(7529’),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C5(8513’), 33L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: B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7563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8513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C2(7522’),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C1(8536’), 15R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B3(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7454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B2(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8641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P7(5600’),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P8(6578’), 34R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N4(6876’),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N5(8507‘)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P6(5597’),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P5(6574’), 16L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N3(7043‘),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N2(8444‘)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01600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8NM 180kts, 5NM 160kts, Parr TAXI 10kts이상,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HIRO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3" name="Google Shape;117;p3">
            <a:extLst>
              <a:ext uri="{FF2B5EF4-FFF2-40B4-BE49-F238E27FC236}">
                <a16:creationId xmlns:a16="http://schemas.microsoft.com/office/drawing/2014/main" id="{B2399E6E-0BF9-245E-720B-598089D336E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886744170"/>
              </p:ext>
            </p:extLst>
          </p:nvPr>
        </p:nvGraphicFramePr>
        <p:xfrm>
          <a:off x="-4046" y="689875"/>
          <a:ext cx="2347194" cy="13768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3540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175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88612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37023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25783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288614">
                  <a:extLst>
                    <a:ext uri="{9D8B030D-6E8A-4147-A177-3AD203B41FA5}">
                      <a16:colId xmlns:a16="http://schemas.microsoft.com/office/drawing/2014/main" val="448940902"/>
                    </a:ext>
                  </a:extLst>
                </a:gridCol>
              </a:tblGrid>
              <a:tr h="0"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RMQ : SID (NADP 1) TA 11000</a:t>
                      </a:r>
                    </a:p>
                  </a:txBody>
                  <a:tcPr marL="36000" marR="7200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18</a:t>
                      </a:r>
                      <a:endParaRPr lang="en-US" sz="800" b="0" u="none" strike="noStrike" cap="none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700" b="1" u="none" strike="noStrike" cap="none" dirty="0">
                          <a:solidFill>
                            <a:srgbClr val="0070C0"/>
                          </a:solidFill>
                        </a:rPr>
                        <a:t>HLG </a:t>
                      </a:r>
                      <a:r>
                        <a:rPr lang="en-US" sz="700" b="1" u="none" strike="noStrike" cap="none" dirty="0" err="1">
                          <a:solidFill>
                            <a:srgbClr val="0070C0"/>
                          </a:solidFill>
                        </a:rPr>
                        <a:t>xA</a:t>
                      </a:r>
                      <a:r>
                        <a:rPr lang="en-US" sz="700" b="1" u="none" strike="noStrike" cap="none" dirty="0">
                          <a:solidFill>
                            <a:srgbClr val="0070C0"/>
                          </a:solidFill>
                        </a:rPr>
                        <a:t> (SPRAY </a:t>
                      </a:r>
                      <a:r>
                        <a:rPr lang="en-US" sz="700" b="1" u="none" strike="noStrike" cap="none" dirty="0" err="1">
                          <a:solidFill>
                            <a:srgbClr val="0070C0"/>
                          </a:solidFill>
                        </a:rPr>
                        <a:t>xS</a:t>
                      </a:r>
                      <a:r>
                        <a:rPr lang="en-US" sz="700" b="1" u="none" strike="noStrike" cap="none" dirty="0">
                          <a:solidFill>
                            <a:srgbClr val="0070C0"/>
                          </a:solidFill>
                        </a:rPr>
                        <a:t>)</a:t>
                      </a:r>
                      <a:endParaRPr lang="ko-Kore-KR" sz="120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181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181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row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ATC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7000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181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36</a:t>
                      </a:r>
                      <a:endParaRPr sz="800" b="0" u="none" strike="noStrike" cap="none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700" b="1" u="none" strike="noStrike" cap="none" dirty="0">
                          <a:solidFill>
                            <a:srgbClr val="0070C0"/>
                          </a:solidFill>
                        </a:rPr>
                        <a:t>HLG </a:t>
                      </a:r>
                      <a:r>
                        <a:rPr lang="en-US" altLang="ko-Kore-KR" sz="700" b="1" u="none" strike="noStrike" cap="none" dirty="0" err="1">
                          <a:solidFill>
                            <a:srgbClr val="0070C0"/>
                          </a:solidFill>
                        </a:rPr>
                        <a:t>xB</a:t>
                      </a:r>
                      <a:r>
                        <a:rPr lang="en-US" altLang="ko-Kore-KR" sz="700" b="1" u="none" strike="noStrike" cap="none" dirty="0">
                          <a:solidFill>
                            <a:srgbClr val="0070C0"/>
                          </a:solidFill>
                        </a:rPr>
                        <a:t> (SPRAY </a:t>
                      </a:r>
                      <a:r>
                        <a:rPr lang="en-US" altLang="ko-Kore-KR" sz="700" b="1" u="none" strike="noStrike" cap="none" dirty="0" err="1">
                          <a:solidFill>
                            <a:srgbClr val="0070C0"/>
                          </a:solidFill>
                        </a:rPr>
                        <a:t>xT</a:t>
                      </a:r>
                      <a:r>
                        <a:rPr lang="en-US" altLang="ko-Kore-KR" sz="700" b="1" u="none" strike="noStrike" cap="none" dirty="0">
                          <a:solidFill>
                            <a:srgbClr val="0070C0"/>
                          </a:solidFill>
                        </a:rPr>
                        <a:t>)</a:t>
                      </a:r>
                      <a:endParaRPr lang="ko-Kore-KR" sz="120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001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001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vMerge="1">
                  <a:txBody>
                    <a:bodyPr/>
                    <a:lstStyle/>
                    <a:p>
                      <a:endParaRPr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001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5700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18 111.7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algn="ctr"/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36 111.5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19 108.9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18(653’)</a:t>
                      </a:r>
                      <a:endParaRPr lang="en-US" sz="800" b="1" u="none" strike="noStrike" cap="none" dirty="0">
                        <a:solidFill>
                          <a:srgbClr val="C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12005</a:t>
                      </a: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</a:t>
                      </a:r>
                      <a:endParaRPr sz="800" b="1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36(663’)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lt1"/>
                          </a:solidFill>
                        </a:rPr>
                        <a:t>EO</a:t>
                      </a: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5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u="none" strike="noStrike" cap="none" dirty="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18 : TCK 181/7, R270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800" b="1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80062539"/>
                  </a:ext>
                </a:extLst>
              </a:tr>
              <a:tr h="115700">
                <a:tc gridSpan="6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ATC CLR after </a:t>
                      </a:r>
                      <a:r>
                        <a:rPr lang="en-US" sz="800" b="1" u="none" strike="noStrike" cap="none" dirty="0" err="1">
                          <a:solidFill>
                            <a:srgbClr val="0070C0"/>
                          </a:solidFill>
                        </a:rPr>
                        <a:t>PushBack</a:t>
                      </a: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, Report W3 Intersection</a:t>
                      </a: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6" name="Google Shape;119;p3">
            <a:extLst>
              <a:ext uri="{FF2B5EF4-FFF2-40B4-BE49-F238E27FC236}">
                <a16:creationId xmlns:a16="http://schemas.microsoft.com/office/drawing/2014/main" id="{9324F2DF-C628-CA2F-3D82-2A8B1E34FA1F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46817655"/>
              </p:ext>
            </p:extLst>
          </p:nvPr>
        </p:nvGraphicFramePr>
        <p:xfrm>
          <a:off x="-2501" y="16504"/>
          <a:ext cx="2328850" cy="68129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2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RCMQ(RMQ)</a:t>
                      </a:r>
                      <a:r>
                        <a:rPr lang="en-US" altLang="ko-Kore-KR" sz="1200" dirty="0">
                          <a:solidFill>
                            <a:srgbClr val="FF0000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665ft</a:t>
                      </a:r>
                      <a:endParaRPr lang="en-US" altLang="ko-Kore-KR" sz="1300" dirty="0">
                        <a:solidFill>
                          <a:srgbClr val="FF000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 err="1"/>
                        <a:t>Madarin</a:t>
                      </a:r>
                      <a:r>
                        <a:rPr lang="en-US" sz="800" dirty="0"/>
                        <a:t> Operation 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131.85/95</a:t>
                      </a:r>
                      <a:endParaRPr sz="1200"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700" dirty="0">
                          <a:solidFill>
                            <a:srgbClr val="FF0000"/>
                          </a:solidFill>
                        </a:rPr>
                        <a:t>Voice to GND</a:t>
                      </a:r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14CA6956-FB7E-2FB3-571E-9A16B59F12B1}"/>
              </a:ext>
            </a:extLst>
          </p:cNvPr>
          <p:cNvSpPr txBox="1"/>
          <p:nvPr/>
        </p:nvSpPr>
        <p:spPr>
          <a:xfrm>
            <a:off x="1166590" y="2223843"/>
            <a:ext cx="1213794" cy="855482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TWR 118.75 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TPE APP 130.1 – 119.7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TPE 125.5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FUK 127.5 </a:t>
            </a:r>
            <a:r>
              <a:rPr kumimoji="1" lang="en-US" altLang="ko-KR" sz="700" b="1" u="sng" dirty="0">
                <a:solidFill>
                  <a:srgbClr val="C0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(SENKA /20)</a:t>
            </a:r>
          </a:p>
          <a:p>
            <a:pPr>
              <a:lnSpc>
                <a:spcPct val="150000"/>
              </a:lnSpc>
            </a:pPr>
            <a:endParaRPr kumimoji="1" lang="en-US" altLang="ko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33F13AC3-0D74-CEBB-7100-2629A32A1FE4}"/>
              </a:ext>
            </a:extLst>
          </p:cNvPr>
          <p:cNvSpPr/>
          <p:nvPr/>
        </p:nvSpPr>
        <p:spPr>
          <a:xfrm>
            <a:off x="1469976" y="3084579"/>
            <a:ext cx="910408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7030A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SE Asia</a:t>
            </a:r>
            <a:endParaRPr lang="en-US" altLang="ko-KR" sz="1800" b="1" cap="none" spc="0" dirty="0">
              <a:ln w="0"/>
              <a:solidFill>
                <a:srgbClr val="7030A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6C9523CA-AC93-469E-02C8-A31FDF3992F7}"/>
              </a:ext>
            </a:extLst>
          </p:cNvPr>
          <p:cNvSpPr/>
          <p:nvPr/>
        </p:nvSpPr>
        <p:spPr>
          <a:xfrm>
            <a:off x="912590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pic>
        <p:nvPicPr>
          <p:cNvPr id="9" name="그림 8" descr="텍스트, 폰트, 도표, 라인이(가) 표시된 사진&#10;&#10;자동 생성된 설명">
            <a:extLst>
              <a:ext uri="{FF2B5EF4-FFF2-40B4-BE49-F238E27FC236}">
                <a16:creationId xmlns:a16="http://schemas.microsoft.com/office/drawing/2014/main" id="{B1A74796-EF8E-5C5F-D7DE-4AA33B5D8BF5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0" y="2093371"/>
            <a:ext cx="1040674" cy="8767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76235835"/>
      </p:ext>
    </p:extLst>
  </p:cSld>
  <p:clrMapOvr>
    <a:masterClrMapping/>
  </p:clrMapOvr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62F9807-5AEF-8D80-6311-45C5000B22FB}"/>
              </a:ext>
            </a:extLst>
          </p:cNvPr>
          <p:cNvSpPr txBox="1"/>
          <p:nvPr/>
        </p:nvSpPr>
        <p:spPr>
          <a:xfrm>
            <a:off x="-58296" y="3162308"/>
            <a:ext cx="1213794" cy="693899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FUK 127.5</a:t>
            </a:r>
            <a:r>
              <a:rPr kumimoji="1" lang="en-US" altLang="ko-Kore-KR" sz="700" b="1" u="sng" dirty="0">
                <a:solidFill>
                  <a:srgbClr val="FF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(SENKA</a:t>
            </a:r>
            <a:r>
              <a:rPr kumimoji="1" lang="ko-KR" altLang="en-US" sz="700" b="1" u="sng" dirty="0">
                <a:solidFill>
                  <a:srgbClr val="FF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FF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/20) </a:t>
            </a:r>
            <a:endParaRPr kumimoji="1" lang="en-US" altLang="ko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TPE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125.5 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APP 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128.5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125.6</a:t>
            </a:r>
          </a:p>
        </p:txBody>
      </p:sp>
      <p:graphicFrame>
        <p:nvGraphicFramePr>
          <p:cNvPr id="291" name="Google Shape;291;p18"/>
          <p:cNvGraphicFramePr/>
          <p:nvPr>
            <p:extLst>
              <p:ext uri="{D42A27DB-BD31-4B8C-83A1-F6EECF244321}">
                <p14:modId xmlns:p14="http://schemas.microsoft.com/office/powerpoint/2010/main" val="3329093741"/>
              </p:ext>
            </p:extLst>
          </p:nvPr>
        </p:nvGraphicFramePr>
        <p:xfrm>
          <a:off x="0" y="635155"/>
          <a:ext cx="2332925" cy="256021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91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17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69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21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254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10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15930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SID (33/34 NADP 1, 15/16 NADP 2)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5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BOPTA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xA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BOPTA </a:t>
                      </a:r>
                      <a:r>
                        <a:rPr lang="en-US" sz="800" dirty="0" err="1"/>
                        <a:t>xY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BOPTA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xC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BOPTA </a:t>
                      </a:r>
                      <a:r>
                        <a:rPr lang="en-US" sz="800" dirty="0" err="1"/>
                        <a:t>xH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NCN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113.8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33L 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15L 111.9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15R 109.1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WNG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112.9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109.95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110.35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108.55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580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33L/R : NC05L/R, R242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YJU R271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34L/R : EO34L/R,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YJU R271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44775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33L/R 34L(23’)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15L/R 16R(23’)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4477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34R (23’)</a:t>
                      </a:r>
                      <a:endParaRPr sz="458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44775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Parallel TWY 10KTS </a:t>
                      </a:r>
                      <a:r>
                        <a:rPr lang="en-US" sz="800" dirty="0" err="1"/>
                        <a:t>이상</a:t>
                      </a:r>
                      <a:r>
                        <a:rPr lang="en-US" sz="800" dirty="0"/>
                        <a:t>(R17 MAX 15kts)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292" name="Google Shape;292;p18"/>
          <p:cNvGraphicFramePr/>
          <p:nvPr>
            <p:extLst>
              <p:ext uri="{D42A27DB-BD31-4B8C-83A1-F6EECF244321}">
                <p14:modId xmlns:p14="http://schemas.microsoft.com/office/powerpoint/2010/main" val="4114335148"/>
              </p:ext>
            </p:extLst>
          </p:nvPr>
        </p:nvGraphicFramePr>
        <p:xfrm>
          <a:off x="-2501" y="3874835"/>
          <a:ext cx="2327659" cy="162073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6454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8239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9164">
                  <a:extLst>
                    <a:ext uri="{9D8B030D-6E8A-4147-A177-3AD203B41FA5}">
                      <a16:colId xmlns:a16="http://schemas.microsoft.com/office/drawing/2014/main" val="502366202"/>
                    </a:ext>
                  </a:extLst>
                </a:gridCol>
                <a:gridCol w="351705">
                  <a:extLst>
                    <a:ext uri="{9D8B030D-6E8A-4147-A177-3AD203B41FA5}">
                      <a16:colId xmlns:a16="http://schemas.microsoft.com/office/drawing/2014/main" val="1226482719"/>
                    </a:ext>
                  </a:extLst>
                </a:gridCol>
                <a:gridCol w="118370">
                  <a:extLst>
                    <a:ext uri="{9D8B030D-6E8A-4147-A177-3AD203B41FA5}">
                      <a16:colId xmlns:a16="http://schemas.microsoft.com/office/drawing/2014/main" val="992510185"/>
                    </a:ext>
                  </a:extLst>
                </a:gridCol>
                <a:gridCol w="511481">
                  <a:extLst>
                    <a:ext uri="{9D8B030D-6E8A-4147-A177-3AD203B41FA5}">
                      <a16:colId xmlns:a16="http://schemas.microsoft.com/office/drawing/2014/main" val="2076907169"/>
                    </a:ext>
                  </a:extLst>
                </a:gridCol>
              </a:tblGrid>
              <a:tr h="250971"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TPE : STAR TL130 </a:t>
                      </a:r>
                      <a:r>
                        <a:rPr lang="en-US" sz="800" dirty="0">
                          <a:solidFill>
                            <a:schemeClr val="accent4"/>
                          </a:solidFill>
                        </a:rPr>
                        <a:t>COPRA FL200 (</a:t>
                      </a:r>
                      <a:r>
                        <a:rPr lang="en-US" sz="800" b="0" dirty="0">
                          <a:solidFill>
                            <a:srgbClr val="FFC000"/>
                          </a:solidFill>
                        </a:rPr>
                        <a:t>FL250-130 : 280kts, FL130-10000ft : Max 280kts, APP Chart Text)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2316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dirty="0"/>
                        <a:t>05</a:t>
                      </a:r>
                      <a:r>
                        <a:rPr lang="en-US" sz="800" b="1" dirty="0"/>
                        <a:t>L</a:t>
                      </a:r>
                      <a:r>
                        <a:rPr lang="en-US" sz="800" b="0" dirty="0"/>
                        <a:t>/R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BAKER xx A</a:t>
                      </a:r>
                      <a:endParaRPr lang="en-US" sz="700" b="1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altLang="ko-Kore-KR" sz="800" b="1" dirty="0"/>
                        <a:t>JAMMY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05L</a:t>
                      </a:r>
                      <a:r>
                        <a:rPr lang="en-US" sz="800" b="0" dirty="0"/>
                        <a:t>/R</a:t>
                      </a:r>
                      <a:endParaRPr lang="ko-Kore-KR" altLang="en-US" b="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5153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dirty="0"/>
                        <a:t>23</a:t>
                      </a:r>
                      <a:r>
                        <a:rPr lang="en-US" sz="800" b="1" dirty="0"/>
                        <a:t>R</a:t>
                      </a:r>
                      <a:r>
                        <a:rPr lang="en-US" sz="800" b="0" dirty="0"/>
                        <a:t>/L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BAKER xx B</a:t>
                      </a:r>
                      <a:endParaRPr lang="en-US" altLang="ko-Kore-KR" sz="800" b="1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AUGUR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sz="800" b="1" dirty="0"/>
                        <a:t>ILS 23R</a:t>
                      </a:r>
                      <a:r>
                        <a:rPr lang="en-US" sz="800" b="0" dirty="0"/>
                        <a:t>/L</a:t>
                      </a:r>
                      <a:endParaRPr lang="ko-Kore-KR" altLang="en-US" b="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5153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05L(74’)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R" sz="800" b="1" dirty="0">
                          <a:solidFill>
                            <a:srgbClr val="00B050"/>
                          </a:solidFill>
                        </a:rPr>
                        <a:t>12008’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23R(63’)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45153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05R(107’) </a:t>
                      </a:r>
                      <a:r>
                        <a:rPr lang="en-US" sz="800" b="1" dirty="0">
                          <a:solidFill>
                            <a:srgbClr val="FF0000"/>
                          </a:solidFill>
                        </a:rPr>
                        <a:t>DIS 12139’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R" sz="800" b="1" dirty="0">
                          <a:solidFill>
                            <a:srgbClr val="00B050"/>
                          </a:solidFill>
                        </a:rPr>
                        <a:t>12467’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R" sz="800" b="1" dirty="0">
                          <a:solidFill>
                            <a:srgbClr val="00B050"/>
                          </a:solidFill>
                        </a:rPr>
                        <a:t>23L(96’) </a:t>
                      </a:r>
                      <a:r>
                        <a:rPr lang="en-US" altLang="ko-KR" sz="800" b="1" dirty="0">
                          <a:solidFill>
                            <a:srgbClr val="FF0000"/>
                          </a:solidFill>
                        </a:rPr>
                        <a:t>DIS 11319’</a:t>
                      </a:r>
                      <a:endParaRPr lang="en-US" altLang="ko-Kore-KR" sz="800" b="1" dirty="0">
                        <a:solidFill>
                          <a:srgbClr val="FF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R" sz="800" b="1" dirty="0">
                          <a:solidFill>
                            <a:srgbClr val="00B050"/>
                          </a:solidFill>
                        </a:rPr>
                        <a:t>23L(96’)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6413">
                <a:tc gridSpan="6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05L : N7(5787’), N6(6738’),  23R : N6(4468’), N4(6656’)</a:t>
                      </a:r>
                      <a:endParaRPr sz="800" dirty="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05R : S6(5419’), S7(7244’), 23L : S5(5442’), S4(7470’)</a:t>
                      </a:r>
                      <a:r>
                        <a:rPr lang="en-US" sz="800" dirty="0">
                          <a:solidFill>
                            <a:schemeClr val="dk1"/>
                          </a:solidFill>
                        </a:rPr>
                        <a:t> </a:t>
                      </a:r>
                      <a:endParaRPr dirty="0"/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45153">
                <a:tc gridSpan="6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No VOR at TPE, A-VDGS see above 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293" name="Google Shape;293;p18"/>
          <p:cNvGraphicFramePr/>
          <p:nvPr>
            <p:extLst>
              <p:ext uri="{D42A27DB-BD31-4B8C-83A1-F6EECF244321}">
                <p14:modId xmlns:p14="http://schemas.microsoft.com/office/powerpoint/2010/main" val="2943571297"/>
              </p:ext>
            </p:extLst>
          </p:nvPr>
        </p:nvGraphicFramePr>
        <p:xfrm>
          <a:off x="-2501" y="16504"/>
          <a:ext cx="2328850" cy="62454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RCTP(TPE)108ft</a:t>
                      </a:r>
                      <a:endParaRPr lang="en-US" altLang="ko-Kore-KR" sz="1300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KE ICN 131.5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600"/>
                        <a:buFont typeface="Calibri"/>
                        <a:buNone/>
                      </a:pPr>
                      <a:r>
                        <a:rPr lang="en-US" sz="60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-10분 TOBT 5분 차이시 CTC Comm</a:t>
                      </a:r>
                      <a:endParaRPr sz="90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Dynasty Operation 131.3</a:t>
                      </a:r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48BFDA17-699D-A0C3-A1F6-B1CDE98B3DE3}"/>
              </a:ext>
            </a:extLst>
          </p:cNvPr>
          <p:cNvSpPr/>
          <p:nvPr/>
        </p:nvSpPr>
        <p:spPr>
          <a:xfrm>
            <a:off x="1469976" y="3426031"/>
            <a:ext cx="910408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7030A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SE Asia</a:t>
            </a:r>
            <a:endParaRPr lang="en-US" altLang="ko-KR" sz="1800" b="1" cap="none" spc="0" dirty="0">
              <a:ln w="0"/>
              <a:solidFill>
                <a:srgbClr val="7030A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26E8B272-8D5B-D47D-58C6-4C3C17E8230E}"/>
              </a:ext>
            </a:extLst>
          </p:cNvPr>
          <p:cNvSpPr/>
          <p:nvPr/>
        </p:nvSpPr>
        <p:spPr>
          <a:xfrm>
            <a:off x="849329" y="283513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7030A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7030A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pic>
        <p:nvPicPr>
          <p:cNvPr id="6" name="그림 5" descr="텍스트, 도표, 스크린샷, 폰트이(가) 표시된 사진&#10;&#10;자동 생성된 설명">
            <a:extLst>
              <a:ext uri="{FF2B5EF4-FFF2-40B4-BE49-F238E27FC236}">
                <a16:creationId xmlns:a16="http://schemas.microsoft.com/office/drawing/2014/main" id="{6533B1B9-4E05-6110-F9FE-1C5ADBF7FAB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94998" y="3339535"/>
            <a:ext cx="833046" cy="5358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5969506"/>
      </p:ext>
    </p:extLst>
  </p:cSld>
  <p:clrMapOvr>
    <a:masterClrMapping/>
  </p:clrMapOvr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Google Shape;303;p19">
            <a:extLst>
              <a:ext uri="{FF2B5EF4-FFF2-40B4-BE49-F238E27FC236}">
                <a16:creationId xmlns:a16="http://schemas.microsoft.com/office/drawing/2014/main" id="{9A6F36E3-64E2-A97B-D85E-56AC20DB6603}"/>
              </a:ext>
            </a:extLst>
          </p:cNvPr>
          <p:cNvGraphicFramePr/>
          <p:nvPr/>
        </p:nvGraphicFramePr>
        <p:xfrm>
          <a:off x="1119" y="3405664"/>
          <a:ext cx="2325975" cy="2130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59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3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55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774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STAR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33/34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</a:t>
                      </a:r>
                      <a:r>
                        <a:rPr lang="en-US" sz="800" b="1" dirty="0" err="1"/>
                        <a:t>xE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ENPIL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180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15/16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</a:t>
                      </a:r>
                      <a:r>
                        <a:rPr lang="en-US" sz="800" b="1" dirty="0" err="1"/>
                        <a:t>xH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MUNAN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180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285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33L/R 34L(23’)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15L/R 16R(23’)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285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34R(23’)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13123’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16L(23’)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64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FIX</a:t>
                      </a:r>
                      <a:endParaRPr/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RWY /8, /5 , YJU R271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C4(7529’),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C5(8513’), 33L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: B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7563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8513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C2(7522’),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C1(8536’), 15R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B3(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7454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B2(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8641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P7(5600’),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P8(6578’), 34R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N4(6876’),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N5(8507‘)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P6(5597’),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P5(6574’), 16L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N3(7043‘),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N2(8444‘)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01600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8NM 180kts, 5NM 160kts, Parr TAXI 10kts이상,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HIRO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3" name="Google Shape;117;p3">
            <a:extLst>
              <a:ext uri="{FF2B5EF4-FFF2-40B4-BE49-F238E27FC236}">
                <a16:creationId xmlns:a16="http://schemas.microsoft.com/office/drawing/2014/main" id="{B2399E6E-0BF9-245E-720B-598089D336E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666107896"/>
              </p:ext>
            </p:extLst>
          </p:nvPr>
        </p:nvGraphicFramePr>
        <p:xfrm>
          <a:off x="-4046" y="586900"/>
          <a:ext cx="2347194" cy="149881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3540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884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291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88612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37023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25783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288614">
                  <a:extLst>
                    <a:ext uri="{9D8B030D-6E8A-4147-A177-3AD203B41FA5}">
                      <a16:colId xmlns:a16="http://schemas.microsoft.com/office/drawing/2014/main" val="448940902"/>
                    </a:ext>
                  </a:extLst>
                </a:gridCol>
              </a:tblGrid>
              <a:tr h="0">
                <a:tc gridSpan="7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TPE : RNAV SID (NADP 1) TA 11000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accent4"/>
                          </a:solidFill>
                        </a:rPr>
                        <a:t>Be Ready Intersection T/O, A030 -&gt; 3000ft</a:t>
                      </a:r>
                    </a:p>
                  </a:txBody>
                  <a:tcPr marL="36000" marR="7200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05R</a:t>
                      </a:r>
                      <a:r>
                        <a:rPr lang="en-US" sz="800" b="0" u="none" strike="noStrike" cap="none" dirty="0"/>
                        <a:t>/L</a:t>
                      </a: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PIANO </a:t>
                      </a:r>
                      <a:r>
                        <a:rPr lang="en-US" sz="800" b="1" u="none" strike="noStrike" cap="none" dirty="0" err="1">
                          <a:solidFill>
                            <a:srgbClr val="0070C0"/>
                          </a:solidFill>
                        </a:rPr>
                        <a:t>xxA</a:t>
                      </a: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/C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1" u="none" strike="noStrike" cap="none">
                          <a:solidFill>
                            <a:srgbClr val="C00000"/>
                          </a:solidFill>
                        </a:rPr>
                        <a:t>054</a:t>
                      </a:r>
                      <a:endParaRPr lang="ko-Kore-KR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054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054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23L</a:t>
                      </a:r>
                      <a:r>
                        <a:rPr lang="en-US" sz="800" b="0" u="none" strike="noStrike" cap="none" dirty="0"/>
                        <a:t>/R</a:t>
                      </a:r>
                      <a:endParaRPr sz="800" b="0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PIANO </a:t>
                      </a:r>
                      <a:r>
                        <a:rPr lang="en-US" altLang="ko-Kore-KR" sz="800" b="1" u="none" strike="noStrike" cap="none" dirty="0" err="1">
                          <a:solidFill>
                            <a:srgbClr val="0070C0"/>
                          </a:solidFill>
                        </a:rPr>
                        <a:t>xxD</a:t>
                      </a:r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/B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234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234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234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5700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05L 111.1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23R 109.3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05R 110.7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23L 111.9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19 108.9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0160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05L(74’)</a:t>
                      </a:r>
                      <a:endParaRPr lang="en-US" sz="800" b="1" u="none" strike="noStrike" cap="none" dirty="0">
                        <a:solidFill>
                          <a:srgbClr val="C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12008</a:t>
                      </a: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</a:t>
                      </a:r>
                      <a:endParaRPr sz="800" b="1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23R(63’)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01600">
                <a:tc v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ore-KR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05R(107’)</a:t>
                      </a:r>
                      <a:endParaRPr lang="en-US" sz="800" b="1" u="none" strike="noStrike" cap="none" dirty="0">
                        <a:solidFill>
                          <a:srgbClr val="C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12467’</a:t>
                      </a:r>
                      <a:endParaRPr sz="800" b="1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23L(96’)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44693353"/>
                  </a:ext>
                </a:extLst>
              </a:tr>
              <a:tr h="115700">
                <a:tc gridSpan="7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“DCT PIANO then L3 RNAV Transition”</a:t>
                      </a: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6" name="Google Shape;119;p3">
            <a:extLst>
              <a:ext uri="{FF2B5EF4-FFF2-40B4-BE49-F238E27FC236}">
                <a16:creationId xmlns:a16="http://schemas.microsoft.com/office/drawing/2014/main" id="{9324F2DF-C628-CA2F-3D82-2A8B1E34FA1F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073734826"/>
              </p:ext>
            </p:extLst>
          </p:nvPr>
        </p:nvGraphicFramePr>
        <p:xfrm>
          <a:off x="-2501" y="16504"/>
          <a:ext cx="2328850" cy="55937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RCTP(TPE)108ft</a:t>
                      </a:r>
                      <a:endParaRPr lang="en-US" altLang="ko-Kore-KR" sz="1300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Dynasty Operation 131.3</a:t>
                      </a:r>
                      <a:endParaRPr sz="1200"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700" dirty="0">
                          <a:solidFill>
                            <a:srgbClr val="FF0000"/>
                          </a:solidFill>
                        </a:rPr>
                        <a:t>DCL, Voice -5min</a:t>
                      </a:r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14CA6956-FB7E-2FB3-571E-9A16B59F12B1}"/>
              </a:ext>
            </a:extLst>
          </p:cNvPr>
          <p:cNvSpPr txBox="1"/>
          <p:nvPr/>
        </p:nvSpPr>
        <p:spPr>
          <a:xfrm>
            <a:off x="0" y="2096731"/>
            <a:ext cx="1213794" cy="693899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128.5 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TPE 125.5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FUK 127.5 </a:t>
            </a:r>
            <a:r>
              <a:rPr kumimoji="1" lang="en-US" altLang="ko-KR" sz="700" b="1" u="sng" dirty="0">
                <a:solidFill>
                  <a:srgbClr val="C0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(SENKA /20)</a:t>
            </a:r>
          </a:p>
          <a:p>
            <a:pPr>
              <a:lnSpc>
                <a:spcPct val="150000"/>
              </a:lnSpc>
            </a:pPr>
            <a:endParaRPr kumimoji="1" lang="en-US" altLang="ko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33F13AC3-0D74-CEBB-7100-2629A32A1FE4}"/>
              </a:ext>
            </a:extLst>
          </p:cNvPr>
          <p:cNvSpPr/>
          <p:nvPr/>
        </p:nvSpPr>
        <p:spPr>
          <a:xfrm>
            <a:off x="1469976" y="3084579"/>
            <a:ext cx="910408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7030A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SE Asia</a:t>
            </a:r>
            <a:endParaRPr lang="en-US" altLang="ko-KR" sz="1800" b="1" cap="none" spc="0" dirty="0">
              <a:ln w="0"/>
              <a:solidFill>
                <a:srgbClr val="7030A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6C9523CA-AC93-469E-02C8-A31FDF3992F7}"/>
              </a:ext>
            </a:extLst>
          </p:cNvPr>
          <p:cNvSpPr/>
          <p:nvPr/>
        </p:nvSpPr>
        <p:spPr>
          <a:xfrm>
            <a:off x="912590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186243048"/>
      </p:ext>
    </p:extLst>
  </p:cSld>
  <p:clrMapOvr>
    <a:masterClrMapping/>
  </p:clrMapOvr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97737AA9-1E71-11AA-29CE-CB99BAAC9983}"/>
              </a:ext>
            </a:extLst>
          </p:cNvPr>
          <p:cNvSpPr txBox="1"/>
          <p:nvPr/>
        </p:nvSpPr>
        <p:spPr>
          <a:xfrm>
            <a:off x="-69798" y="3001904"/>
            <a:ext cx="1508746" cy="693899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FUK 133.15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135.3 – 132.3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TKO RDO </a:t>
            </a:r>
            <a:r>
              <a:rPr kumimoji="1" lang="en-US" altLang="ko-KR" sz="700" b="1" u="sng" dirty="0">
                <a:solidFill>
                  <a:srgbClr val="FF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(BIXAK)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17904/8870</a:t>
            </a:r>
            <a:endParaRPr kumimoji="1" lang="en-US" altLang="ko-Kore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SFO RDO </a:t>
            </a:r>
            <a:r>
              <a:rPr kumimoji="1" lang="en-US" altLang="ko-Kore-KR" sz="700" b="1" u="sng" dirty="0">
                <a:solidFill>
                  <a:srgbClr val="FF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(PAKDO) 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4666/8903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GUM </a:t>
            </a:r>
            <a:r>
              <a:rPr kumimoji="1" lang="en-US" altLang="ko-Kore-KR" sz="700" b="1" u="sng" dirty="0">
                <a:solidFill>
                  <a:srgbClr val="FF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(NATSS) 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118.7</a:t>
            </a:r>
          </a:p>
        </p:txBody>
      </p:sp>
      <p:graphicFrame>
        <p:nvGraphicFramePr>
          <p:cNvPr id="273" name="Google Shape;273;p16"/>
          <p:cNvGraphicFramePr/>
          <p:nvPr>
            <p:extLst>
              <p:ext uri="{D42A27DB-BD31-4B8C-83A1-F6EECF244321}">
                <p14:modId xmlns:p14="http://schemas.microsoft.com/office/powerpoint/2010/main" val="2481405603"/>
              </p:ext>
            </p:extLst>
          </p:nvPr>
        </p:nvGraphicFramePr>
        <p:xfrm>
          <a:off x="4410" y="3667475"/>
          <a:ext cx="2305886" cy="186457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682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9067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8123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018799">
                  <a:extLst>
                    <a:ext uri="{9D8B030D-6E8A-4147-A177-3AD203B41FA5}">
                      <a16:colId xmlns:a16="http://schemas.microsoft.com/office/drawing/2014/main" val="3120437882"/>
                    </a:ext>
                  </a:extLst>
                </a:gridCol>
              </a:tblGrid>
              <a:tr h="395263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GUM : no STAR </a:t>
                      </a:r>
                      <a:r>
                        <a:rPr lang="en-US" sz="800" dirty="0">
                          <a:solidFill>
                            <a:srgbClr val="FFC000"/>
                          </a:solidFill>
                        </a:rPr>
                        <a:t>(UTC + 10, TL 180)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FFC000"/>
                          </a:solidFill>
                        </a:rPr>
                        <a:t>CPDLC BIXAK to NATSS : RJJJ to KZAK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FFC000"/>
                          </a:solidFill>
                        </a:rPr>
                        <a:t>CTC GUM CERAP 118.7 (SQ2100) Before 250NM </a:t>
                      </a:r>
                      <a:endParaRPr sz="800" dirty="0">
                        <a:solidFill>
                          <a:srgbClr val="FFC000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7646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06L/R</a:t>
                      </a:r>
                      <a:endParaRPr sz="800" b="1" dirty="0"/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b="1" dirty="0"/>
                        <a:t>UNZ/-15,OBALE(MEMKE) </a:t>
                      </a:r>
                    </a:p>
                  </a:txBody>
                  <a:tcPr marL="0" marR="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>
                          <a:solidFill>
                            <a:schemeClr val="dk1"/>
                          </a:solidFill>
                        </a:rPr>
                        <a:t>ILS 6L/R </a:t>
                      </a:r>
                      <a:r>
                        <a:rPr lang="en-US" sz="800" b="0" dirty="0">
                          <a:solidFill>
                            <a:srgbClr val="0070C0"/>
                          </a:solidFill>
                        </a:rPr>
                        <a:t>(Upslope)</a:t>
                      </a:r>
                      <a:endParaRPr sz="800" b="0" dirty="0">
                        <a:solidFill>
                          <a:srgbClr val="0070C0"/>
                        </a:solidFill>
                      </a:endParaRP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7646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/>
                        <a:t>24L/R</a:t>
                      </a:r>
                      <a:endParaRPr sz="800" b="0" dirty="0"/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b="1" dirty="0"/>
                        <a:t>UNZ/-15,CIBOL(WABOX)</a:t>
                      </a:r>
                      <a:endParaRPr lang="en-US" sz="800" b="1" dirty="0"/>
                    </a:p>
                  </a:txBody>
                  <a:tcPr marL="0" marR="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RNAV Y 24L/R </a:t>
                      </a:r>
                      <a:r>
                        <a:rPr kumimoji="0" lang="en-US" altLang="ko-Kore-KR" sz="6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(Downslope)</a:t>
                      </a:r>
                      <a:endParaRPr kumimoji="0" lang="en-US" altLang="ko-Kore-KR" sz="8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70C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3047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0" marR="0" marT="36000" marB="36000" anchor="ctr"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  6L(256’) 11014’ 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DIS TH</a:t>
                      </a:r>
                      <a:endParaRPr dirty="0">
                        <a:solidFill>
                          <a:srgbClr val="C00000"/>
                        </a:solidFill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  6R(258’) 10014’</a:t>
                      </a: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 24R(305’) 12014’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24L(293’) 8710’ </a:t>
                      </a: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DIS TH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800" b="1" dirty="0">
                          <a:solidFill>
                            <a:srgbClr val="00B050"/>
                          </a:solidFill>
                        </a:rPr>
                        <a:t>  24R(305’) 12014’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800" b="1" dirty="0">
                          <a:solidFill>
                            <a:srgbClr val="00B050"/>
                          </a:solidFill>
                        </a:rPr>
                        <a:t>24L(293’) 8710’ </a:t>
                      </a:r>
                      <a:r>
                        <a:rPr lang="en-US" altLang="ko-Kore-KR" sz="800" b="1" dirty="0">
                          <a:solidFill>
                            <a:srgbClr val="C00000"/>
                          </a:solidFill>
                        </a:rPr>
                        <a:t>DIS TH</a:t>
                      </a:r>
                    </a:p>
                  </a:txBody>
                  <a:tcPr marL="0" marR="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67646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FIX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0" marR="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dirty="0">
                          <a:solidFill>
                            <a:schemeClr val="dk1"/>
                          </a:solidFill>
                        </a:rPr>
                        <a:t>UNZ /250 </a:t>
                      </a:r>
                      <a:r>
                        <a:rPr lang="en-US" sz="800" b="0" dirty="0">
                          <a:solidFill>
                            <a:srgbClr val="C00000"/>
                          </a:solidFill>
                        </a:rPr>
                        <a:t>(UNZ VOR out of 3.3NM A/P)</a:t>
                      </a:r>
                      <a:endParaRPr sz="800" b="0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dirty="0">
                          <a:solidFill>
                            <a:schemeClr val="dk1"/>
                          </a:solidFill>
                        </a:rPr>
                        <a:t>18 : KMH R283, R280</a:t>
                      </a:r>
                      <a:endParaRPr sz="800" b="0" dirty="0">
                        <a:solidFill>
                          <a:schemeClr val="dk1"/>
                        </a:solidFill>
                      </a:endParaRP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73047">
                <a:tc gridSpan="4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R" sz="800" b="1" dirty="0">
                          <a:solidFill>
                            <a:schemeClr val="dk1"/>
                          </a:solidFill>
                        </a:rPr>
                        <a:t>06L : E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(6473’), F(6975’),  24R : D(6282’), C(8264’)</a:t>
                      </a:r>
                      <a:endParaRPr dirty="0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06R : E(6502’), G(7808’) , 24L : B(8254’)</a:t>
                      </a:r>
                      <a:endParaRPr sz="800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90236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Prepare GS OUT, Vacate RWY CTC Ramp CTL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274" name="Google Shape;274;p16"/>
          <p:cNvGraphicFramePr/>
          <p:nvPr>
            <p:extLst>
              <p:ext uri="{D42A27DB-BD31-4B8C-83A1-F6EECF244321}">
                <p14:modId xmlns:p14="http://schemas.microsoft.com/office/powerpoint/2010/main" val="1948597028"/>
              </p:ext>
            </p:extLst>
          </p:nvPr>
        </p:nvGraphicFramePr>
        <p:xfrm>
          <a:off x="-2501" y="16504"/>
          <a:ext cx="2328850" cy="57881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1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PGUM(GUM) </a:t>
                      </a:r>
                      <a:r>
                        <a:rPr lang="en-US" altLang="ko-Kore-KR" sz="1100" dirty="0">
                          <a:solidFill>
                            <a:srgbClr val="C00000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305ft</a:t>
                      </a:r>
                      <a:endParaRPr lang="en-US" altLang="ko-Kore-KR" sz="1100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KE ICN 131.5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600"/>
                        <a:buFont typeface="Calibri"/>
                        <a:buNone/>
                      </a:pPr>
                      <a:r>
                        <a:rPr lang="en-US" sz="60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-10분 TOBT 5분 차이시 CTC Comm</a:t>
                      </a:r>
                      <a:endParaRPr sz="90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dirty="0"/>
                        <a:t>Menzies Operations 129.4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dirty="0">
                          <a:solidFill>
                            <a:srgbClr val="FF0000"/>
                          </a:solidFill>
                        </a:rPr>
                        <a:t>No DATIS</a:t>
                      </a:r>
                      <a:endParaRPr sz="900" dirty="0">
                        <a:solidFill>
                          <a:srgbClr val="FF0000"/>
                        </a:solidFill>
                      </a:endParaRPr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276" name="Google Shape;276;p16"/>
          <p:cNvGraphicFramePr/>
          <p:nvPr>
            <p:extLst>
              <p:ext uri="{D42A27DB-BD31-4B8C-83A1-F6EECF244321}">
                <p14:modId xmlns:p14="http://schemas.microsoft.com/office/powerpoint/2010/main" val="3814818659"/>
              </p:ext>
            </p:extLst>
          </p:nvPr>
        </p:nvGraphicFramePr>
        <p:xfrm>
          <a:off x="0" y="603073"/>
          <a:ext cx="2332925" cy="244710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91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17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69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21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254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10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15930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SID (33/34 NADP 1, 15/16 NADP 2)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5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OSPOT xE/A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5500/ATC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OSPOT xY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OSPOT xC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OSPOT xH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NCN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113.8</a:t>
                      </a:r>
                      <a:endParaRPr dirty="0"/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33L 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109.3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33R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108.9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15L 111.9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15R 109.1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WNG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112.9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109.95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110.35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16R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108.55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580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33L/R : NC05L/R,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YJU R271</a:t>
                      </a:r>
                      <a:endParaRPr sz="800" dirty="0"/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34L/R : EO34L/R,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YJU R271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44775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33L/R 34L(23’)</a:t>
                      </a:r>
                      <a:endParaRPr sz="458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458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15L/R 16R(23’)</a:t>
                      </a:r>
                      <a:endParaRPr sz="458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4477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34R (23’)</a:t>
                      </a:r>
                      <a:endParaRPr sz="458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 (23’)</a:t>
                      </a:r>
                      <a:endParaRPr sz="458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44775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Parallel TWY 10KTS </a:t>
                      </a:r>
                      <a:r>
                        <a:rPr lang="en-US" sz="800" dirty="0" err="1"/>
                        <a:t>이상</a:t>
                      </a:r>
                      <a:r>
                        <a:rPr lang="en-US" sz="800" dirty="0"/>
                        <a:t>(R17 MAX 15kts)</a:t>
                      </a:r>
                      <a:endParaRPr dirty="0"/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48885B48-D909-DBA8-463D-C2595910C8DE}"/>
              </a:ext>
            </a:extLst>
          </p:cNvPr>
          <p:cNvSpPr/>
          <p:nvPr/>
        </p:nvSpPr>
        <p:spPr>
          <a:xfrm>
            <a:off x="1469976" y="3356584"/>
            <a:ext cx="910408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7030A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SE Asia</a:t>
            </a:r>
            <a:endParaRPr lang="en-US" altLang="ko-KR" sz="1800" b="1" cap="none" spc="0" dirty="0">
              <a:ln w="0"/>
              <a:solidFill>
                <a:srgbClr val="7030A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48FCA215-6716-977F-75BA-F0B5E1689E17}"/>
              </a:ext>
            </a:extLst>
          </p:cNvPr>
          <p:cNvSpPr/>
          <p:nvPr/>
        </p:nvSpPr>
        <p:spPr>
          <a:xfrm>
            <a:off x="826930" y="270118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7030A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7030A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068300014"/>
      </p:ext>
    </p:extLst>
  </p:cSld>
  <p:clrMapOvr>
    <a:masterClrMapping/>
  </p:clrMapOvr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02" name="Google Shape;402;p31"/>
          <p:cNvGraphicFramePr/>
          <p:nvPr>
            <p:extLst>
              <p:ext uri="{D42A27DB-BD31-4B8C-83A1-F6EECF244321}">
                <p14:modId xmlns:p14="http://schemas.microsoft.com/office/powerpoint/2010/main" val="3661764979"/>
              </p:ext>
            </p:extLst>
          </p:nvPr>
        </p:nvGraphicFramePr>
        <p:xfrm>
          <a:off x="0" y="1"/>
          <a:ext cx="2328875" cy="5509929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3288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99414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dirty="0">
                          <a:latin typeface="+mn-lt"/>
                        </a:rPr>
                        <a:t>EDTO Procedure </a:t>
                      </a:r>
                      <a:r>
                        <a:rPr lang="en-US" sz="1000" dirty="0">
                          <a:solidFill>
                            <a:srgbClr val="FFC000"/>
                          </a:solidFill>
                          <a:latin typeface="+mn-lt"/>
                        </a:rPr>
                        <a:t>APU Remain ON</a:t>
                      </a:r>
                      <a:endParaRPr sz="1000" dirty="0">
                        <a:solidFill>
                          <a:srgbClr val="C00000"/>
                        </a:solidFill>
                        <a:latin typeface="+mn-lt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59084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1" dirty="0">
                          <a:solidFill>
                            <a:srgbClr val="0070C0"/>
                          </a:solidFill>
                          <a:latin typeface="+mn-lt"/>
                        </a:rPr>
                        <a:t>PREFLIGHT</a:t>
                      </a:r>
                    </a:p>
                    <a:p>
                      <a:pPr algn="l"/>
                      <a:r>
                        <a:rPr kumimoji="0" lang="en-US" altLang="ko-Kore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uLnTx/>
                          <a:uFillTx/>
                          <a:latin typeface="Arial"/>
                          <a:cs typeface="Calibri"/>
                          <a:sym typeface="Arial"/>
                        </a:rPr>
                        <a:t>Apply </a:t>
                      </a:r>
                      <a:r>
                        <a:rPr lang="en-US" altLang="ko-Kore-KR" sz="700" b="1" i="0" u="none" strike="noStrike" dirty="0">
                          <a:solidFill>
                            <a:srgbClr val="00B050"/>
                          </a:solidFill>
                          <a:effectLst/>
                          <a:latin typeface="Lato" panose="020F0502020204030203" pitchFamily="34" charset="0"/>
                        </a:rPr>
                        <a:t>Alternate Airport IFR </a:t>
                      </a:r>
                      <a:r>
                        <a:rPr lang="en-US" altLang="ko-Kore-KR" sz="700" b="1" i="0" u="none" strike="noStrike" dirty="0" err="1">
                          <a:solidFill>
                            <a:srgbClr val="00B050"/>
                          </a:solidFill>
                          <a:effectLst/>
                          <a:latin typeface="Lato" panose="020F0502020204030203" pitchFamily="34" charset="0"/>
                        </a:rPr>
                        <a:t>Wx</a:t>
                      </a:r>
                      <a:r>
                        <a:rPr lang="en-US" altLang="ko-Kore-KR" sz="700" b="1" i="0" u="none" strike="noStrike" dirty="0">
                          <a:solidFill>
                            <a:srgbClr val="00B050"/>
                          </a:solidFill>
                          <a:effectLst/>
                          <a:latin typeface="Lato" panose="020F0502020204030203" pitchFamily="34" charset="0"/>
                        </a:rPr>
                        <a:t> Minima for Planning (Ops Pecs C055)</a:t>
                      </a:r>
                      <a:r>
                        <a:rPr lang="ko-KR" altLang="en-US" sz="700" b="1" i="0" u="none" strike="noStrike" dirty="0">
                          <a:solidFill>
                            <a:srgbClr val="00B050"/>
                          </a:solidFill>
                          <a:effectLst/>
                          <a:latin typeface="Lato" panose="020F0502020204030203" pitchFamily="34" charset="0"/>
                        </a:rPr>
                        <a:t> </a:t>
                      </a:r>
                      <a:r>
                        <a:rPr lang="en-US" altLang="ko-KR" sz="700" b="1" i="0" u="none" strike="noStrike" dirty="0">
                          <a:solidFill>
                            <a:srgbClr val="AA47F5"/>
                          </a:solidFill>
                          <a:effectLst/>
                          <a:latin typeface="Lato" panose="020F0502020204030203" pitchFamily="34" charset="0"/>
                        </a:rPr>
                        <a:t>-&gt;</a:t>
                      </a:r>
                      <a:r>
                        <a:rPr lang="ko-KR" altLang="en-US" sz="700" b="1" i="0" u="none" strike="noStrike" dirty="0">
                          <a:solidFill>
                            <a:srgbClr val="AA47F5"/>
                          </a:solidFill>
                          <a:effectLst/>
                          <a:latin typeface="Lato" panose="020F0502020204030203" pitchFamily="34" charset="0"/>
                        </a:rPr>
                        <a:t> </a:t>
                      </a:r>
                      <a:r>
                        <a:rPr lang="en-US" altLang="ko-KR" sz="700" b="1" i="0" u="none" strike="noStrike" dirty="0">
                          <a:solidFill>
                            <a:srgbClr val="AA47F5"/>
                          </a:solidFill>
                          <a:effectLst/>
                          <a:latin typeface="Lato" panose="020F0502020204030203" pitchFamily="34" charset="0"/>
                        </a:rPr>
                        <a:t>EDTO ERA Only(ERA no </a:t>
                      </a:r>
                      <a:r>
                        <a:rPr lang="en-US" altLang="ko-KR" sz="700" b="1" i="0" u="none" strike="noStrike" dirty="0" err="1">
                          <a:solidFill>
                            <a:srgbClr val="AA47F5"/>
                          </a:solidFill>
                          <a:effectLst/>
                          <a:latin typeface="Lato" panose="020F0502020204030203" pitchFamily="34" charset="0"/>
                        </a:rPr>
                        <a:t>Wx</a:t>
                      </a:r>
                      <a:r>
                        <a:rPr lang="en-US" altLang="ko-KR" sz="700" b="1" i="0" u="none" strike="noStrike">
                          <a:solidFill>
                            <a:srgbClr val="AA47F5"/>
                          </a:solidFill>
                          <a:effectLst/>
                          <a:latin typeface="Lato" panose="020F0502020204030203" pitchFamily="34" charset="0"/>
                        </a:rPr>
                        <a:t>)</a:t>
                      </a:r>
                      <a:endParaRPr lang="en-US" sz="700" b="1" dirty="0">
                        <a:solidFill>
                          <a:srgbClr val="AA47F5"/>
                        </a:solidFill>
                        <a:latin typeface="+mn-lt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0" dirty="0">
                          <a:solidFill>
                            <a:schemeClr val="tx1"/>
                          </a:solidFill>
                          <a:latin typeface="+mn-lt"/>
                        </a:rPr>
                        <a:t>RVSM CHK : 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+mn-lt"/>
                        </a:rPr>
                        <a:t>CAPT/FO 50ft, PILOT/FE 75ft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0" dirty="0">
                          <a:solidFill>
                            <a:schemeClr val="tx1"/>
                          </a:solidFill>
                          <a:latin typeface="+mn-lt"/>
                        </a:rPr>
                        <a:t>FUEL CROSS FEED V/V CHK : 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+mn-lt"/>
                        </a:rPr>
                        <a:t>On -&gt; Off, V/V L/T CHK</a:t>
                      </a:r>
                      <a:endParaRPr lang="en-US" sz="800" b="1" dirty="0">
                        <a:solidFill>
                          <a:srgbClr val="0070C0"/>
                        </a:solidFill>
                        <a:latin typeface="+mn-lt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lt"/>
                        </a:rPr>
                        <a:t>NAV DATA Input : 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+mn-lt"/>
                        </a:rPr>
                        <a:t>EEP, ETP1, ETP2, EXP</a:t>
                      </a:r>
                      <a:endParaRPr lang="en-US" sz="800" b="1" dirty="0">
                        <a:solidFill>
                          <a:srgbClr val="0070C0"/>
                        </a:solidFill>
                        <a:latin typeface="+mn-lt"/>
                      </a:endParaRPr>
                    </a:p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lt"/>
                        </a:rPr>
                        <a:t>HF SELCAL CHK : Jeppesen - ENT DATA Pacific</a:t>
                      </a:r>
                    </a:p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  <a:ea typeface="Malgun Gothic" panose="020B0503020000020004" pitchFamily="34" charset="-127"/>
                          <a:cs typeface="Calibri" panose="020F0502020204030204" pitchFamily="34" charset="0"/>
                        </a:rPr>
                        <a:t>SEOUL RADIO : 8903(3004,6532,13300,13303,17904)</a:t>
                      </a: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2985261219"/>
                  </a:ext>
                </a:extLst>
              </a:tr>
              <a:tr h="341841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10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Arial"/>
                          <a:cs typeface="Calibri"/>
                          <a:sym typeface="Arial"/>
                        </a:rPr>
                        <a:t>AFTER START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+mn-lt"/>
                        </a:rPr>
                        <a:t>APU Remain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+mn-lt"/>
                        </a:rPr>
                        <a:t>ON</a:t>
                      </a:r>
                      <a:r>
                        <a:rPr lang="en-US" sz="800" dirty="0">
                          <a:latin typeface="+mn-lt"/>
                        </a:rPr>
                        <a:t> Until Passing EXP </a:t>
                      </a: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91901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AFTER LEVEL OFF (CRZ CHK)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"/>
                          <a:cs typeface="Calibri"/>
                          <a:sym typeface="Arial"/>
                        </a:rPr>
                        <a:t>RVSM CHK : 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Arial"/>
                          <a:cs typeface="Calibri"/>
                          <a:sym typeface="Arial"/>
                        </a:rPr>
                        <a:t>CAPT/FO 200ft </a:t>
                      </a: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10921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9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kumimoji="0" lang="en-US" altLang="ko-Kore-KR" sz="10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BEFORE EEP (Entry Point, 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ERA </a:t>
                      </a:r>
                      <a:r>
                        <a:rPr kumimoji="0" lang="ko-Kore-KR" altLang="en-US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기준</a:t>
                      </a:r>
                      <a:r>
                        <a:rPr kumimoji="0" lang="en-US" altLang="ko-Kore-KR" sz="10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)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 60min </a:t>
                      </a:r>
                      <a:r>
                        <a:rPr kumimoji="0" lang="ko-Kore-KR" altLang="en-US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기준</a:t>
                      </a:r>
                      <a:r>
                        <a:rPr kumimoji="0" lang="ko-KR" altLang="en-US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:</a:t>
                      </a:r>
                      <a:r>
                        <a:rPr kumimoji="0" lang="ko-KR" altLang="en-US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B737-900 398NM,</a:t>
                      </a:r>
                      <a:r>
                        <a:rPr kumimoji="0" lang="ko-KR" altLang="en-US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kumimoji="0" lang="en-US" altLang="ko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Others</a:t>
                      </a: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 408NM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 (</a:t>
                      </a:r>
                      <a:r>
                        <a:rPr kumimoji="0" lang="en-US" altLang="ko-Kore-KR" sz="800" b="0" i="0" u="none" strike="noStrike" kern="0" cap="none" spc="0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winthin</a:t>
                      </a: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 MAX 120min 750NM) 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cs typeface="Calibri"/>
                          <a:sym typeface="Arial"/>
                        </a:rPr>
                        <a:t> </a:t>
                      </a: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+mn-lt"/>
                          <a:cs typeface="Calibri"/>
                          <a:sym typeface="Arial"/>
                        </a:rPr>
                        <a:t>1 ELEC SRC Fail Before EEP : 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+mn-lt"/>
                          <a:cs typeface="Calibri"/>
                          <a:sym typeface="Arial"/>
                        </a:rPr>
                        <a:t>Reroute, Divert</a:t>
                      </a: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+mn-lt"/>
                          <a:cs typeface="Calibri"/>
                          <a:sym typeface="Arial"/>
                        </a:rPr>
                        <a:t> 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cs typeface="Calibri"/>
                          <a:sym typeface="Arial"/>
                        </a:rPr>
                        <a:t> FIX 1 : 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+mn-lt"/>
                          <a:cs typeface="Calibri"/>
                          <a:sym typeface="Arial"/>
                        </a:rPr>
                        <a:t>EEP</a:t>
                      </a: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cs typeface="Calibri"/>
                          <a:sym typeface="Arial"/>
                        </a:rPr>
                        <a:t>, FIX 2 : 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+mn-lt"/>
                          <a:cs typeface="Calibri"/>
                          <a:sym typeface="Arial"/>
                        </a:rPr>
                        <a:t>ETP1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cs typeface="Calibri"/>
                          <a:sym typeface="Arial"/>
                        </a:rPr>
                        <a:t> FMS ALT A/P SET : 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+mn-lt"/>
                          <a:cs typeface="Calibri"/>
                          <a:sym typeface="Arial"/>
                        </a:rPr>
                        <a:t>ALTN Page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cs typeface="Calibri"/>
                          <a:sym typeface="Arial"/>
                        </a:rPr>
                        <a:t> EDTO C/L : 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+mn-lt"/>
                          <a:cs typeface="Calibri"/>
                          <a:sym typeface="Arial"/>
                        </a:rPr>
                        <a:t>Fuel, A/C, MSA, ALT </a:t>
                      </a:r>
                      <a:r>
                        <a:rPr kumimoji="0" lang="en-US" altLang="ko-Kore-KR" sz="800" b="1" i="0" u="none" strike="noStrike" kern="0" cap="none" spc="0" normalizeH="0" baseline="0" noProof="0" dirty="0" err="1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+mn-lt"/>
                          <a:cs typeface="Calibri"/>
                          <a:sym typeface="Arial"/>
                        </a:rPr>
                        <a:t>Wx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+mn-lt"/>
                          <a:cs typeface="Calibri"/>
                          <a:sym typeface="Arial"/>
                        </a:rPr>
                        <a:t> &amp; NOTAM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+mn-lt"/>
                          <a:cs typeface="Calibri"/>
                          <a:sym typeface="Arial"/>
                        </a:rPr>
                        <a:t> </a:t>
                      </a:r>
                      <a:r>
                        <a:rPr kumimoji="0" lang="en-US" altLang="ko-Kore-KR" sz="9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uLnTx/>
                          <a:uFillTx/>
                          <a:latin typeface="+mn-lt"/>
                          <a:cs typeface="Calibri"/>
                          <a:sym typeface="Arial"/>
                        </a:rPr>
                        <a:t>Review Contingency Procedure 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AA47F5"/>
                          </a:solidFill>
                          <a:effectLst/>
                          <a:uLnTx/>
                          <a:uFillTx/>
                          <a:latin typeface="+mn-lt"/>
                          <a:cs typeface="Calibri"/>
                          <a:sym typeface="Arial"/>
                        </a:rPr>
                        <a:t> - Drift Down 30</a:t>
                      </a:r>
                      <a:r>
                        <a:rPr kumimoji="0" lang="ko-Kore-KR" altLang="en-US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AA47F5"/>
                          </a:solidFill>
                          <a:effectLst/>
                          <a:uLnTx/>
                          <a:uFillTx/>
                          <a:latin typeface="+mn-lt"/>
                          <a:cs typeface="Calibri"/>
                          <a:sym typeface="Arial"/>
                        </a:rPr>
                        <a:t>도이상</a:t>
                      </a:r>
                      <a:r>
                        <a:rPr kumimoji="0" lang="en-US" altLang="ko-Kore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AA47F5"/>
                          </a:solidFill>
                          <a:effectLst/>
                          <a:uLnTx/>
                          <a:uFillTx/>
                          <a:latin typeface="+mn-lt"/>
                          <a:cs typeface="Calibri"/>
                          <a:sym typeface="Arial"/>
                        </a:rPr>
                        <a:t>,</a:t>
                      </a:r>
                      <a:r>
                        <a:rPr kumimoji="0" lang="ko-KR" altLang="en-US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AA47F5"/>
                          </a:solidFill>
                          <a:effectLst/>
                          <a:uLnTx/>
                          <a:uFillTx/>
                          <a:latin typeface="+mn-lt"/>
                          <a:cs typeface="Calibri"/>
                          <a:sym typeface="Arial"/>
                        </a:rPr>
                        <a:t> </a:t>
                      </a:r>
                      <a:r>
                        <a:rPr kumimoji="0" lang="en-US" altLang="ko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AA47F5"/>
                          </a:solidFill>
                          <a:effectLst/>
                          <a:uLnTx/>
                          <a:uFillTx/>
                          <a:latin typeface="+mn-lt"/>
                          <a:cs typeface="Calibri"/>
                          <a:sym typeface="Arial"/>
                        </a:rPr>
                        <a:t>5NM, FL290</a:t>
                      </a:r>
                      <a:r>
                        <a:rPr kumimoji="0" lang="ko-KR" altLang="en-US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AA47F5"/>
                          </a:solidFill>
                          <a:effectLst/>
                          <a:uLnTx/>
                          <a:uFillTx/>
                          <a:latin typeface="+mn-lt"/>
                          <a:cs typeface="Calibri"/>
                          <a:sym typeface="Arial"/>
                        </a:rPr>
                        <a:t>이하</a:t>
                      </a:r>
                      <a:r>
                        <a:rPr kumimoji="0" lang="en-US" altLang="ko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AA47F5"/>
                          </a:solidFill>
                          <a:effectLst/>
                          <a:uLnTx/>
                          <a:uFillTx/>
                          <a:latin typeface="+mn-lt"/>
                          <a:cs typeface="Calibri"/>
                          <a:sym typeface="Arial"/>
                        </a:rPr>
                        <a:t>, +-500ft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AA47F5"/>
                          </a:solidFill>
                          <a:effectLst/>
                          <a:uLnTx/>
                          <a:uFillTx/>
                          <a:latin typeface="+mn-lt"/>
                          <a:cs typeface="Calibri"/>
                          <a:sym typeface="Arial"/>
                        </a:rPr>
                        <a:t> - </a:t>
                      </a:r>
                      <a:r>
                        <a:rPr kumimoji="0" lang="en-US" altLang="ko-Kore-KR" sz="700" b="1" i="0" u="none" strike="noStrike" kern="0" cap="none" spc="0" normalizeH="0" baseline="0" noProof="0" dirty="0" err="1">
                          <a:ln>
                            <a:noFill/>
                          </a:ln>
                          <a:solidFill>
                            <a:srgbClr val="AA47F5"/>
                          </a:solidFill>
                          <a:effectLst/>
                          <a:uLnTx/>
                          <a:uFillTx/>
                          <a:latin typeface="+mn-lt"/>
                          <a:cs typeface="Calibri"/>
                          <a:sym typeface="Arial"/>
                        </a:rPr>
                        <a:t>Wx</a:t>
                      </a:r>
                      <a:r>
                        <a:rPr kumimoji="0" lang="en-US" altLang="ko-Kore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AA47F5"/>
                          </a:solidFill>
                          <a:effectLst/>
                          <a:uLnTx/>
                          <a:uFillTx/>
                          <a:latin typeface="+mn-lt"/>
                          <a:cs typeface="Calibri"/>
                          <a:sym typeface="Arial"/>
                        </a:rPr>
                        <a:t> Dev 5NM </a:t>
                      </a:r>
                      <a:r>
                        <a:rPr kumimoji="0" lang="ko-KR" altLang="en-US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AA47F5"/>
                          </a:solidFill>
                          <a:effectLst/>
                          <a:uLnTx/>
                          <a:uFillTx/>
                          <a:latin typeface="+mn-lt"/>
                          <a:cs typeface="Calibri"/>
                          <a:sym typeface="Arial"/>
                        </a:rPr>
                        <a:t>이상</a:t>
                      </a:r>
                      <a:r>
                        <a:rPr kumimoji="0" lang="en-US" altLang="ko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AA47F5"/>
                          </a:solidFill>
                          <a:effectLst/>
                          <a:uLnTx/>
                          <a:uFillTx/>
                          <a:latin typeface="+mn-lt"/>
                          <a:cs typeface="Calibri"/>
                          <a:sym typeface="Arial"/>
                        </a:rPr>
                        <a:t>,</a:t>
                      </a:r>
                      <a:r>
                        <a:rPr kumimoji="0" lang="ko-KR" altLang="en-US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AA47F5"/>
                          </a:solidFill>
                          <a:effectLst/>
                          <a:uLnTx/>
                          <a:uFillTx/>
                          <a:latin typeface="+mn-lt"/>
                          <a:cs typeface="Calibri"/>
                          <a:sym typeface="Arial"/>
                        </a:rPr>
                        <a:t> </a:t>
                      </a:r>
                      <a:r>
                        <a:rPr kumimoji="0" lang="en-US" altLang="ko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AA47F5"/>
                          </a:solidFill>
                          <a:effectLst/>
                          <a:uLnTx/>
                          <a:uFillTx/>
                          <a:latin typeface="+mn-lt"/>
                          <a:cs typeface="Calibri"/>
                          <a:sym typeface="Arial"/>
                        </a:rPr>
                        <a:t>+-300ft</a:t>
                      </a:r>
                      <a:endParaRPr kumimoji="0" lang="en-US" altLang="ko-Kore-KR" sz="600" b="1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AA47F5"/>
                        </a:solidFill>
                        <a:effectLst/>
                        <a:uLnTx/>
                        <a:uFillTx/>
                        <a:latin typeface="+mn-lt"/>
                        <a:cs typeface="Calibri"/>
                        <a:sym typeface="Arial"/>
                      </a:endParaRPr>
                    </a:p>
                  </a:txBody>
                  <a:tcPr marL="0" marR="0" marT="36000" marB="36000"/>
                </a:tc>
                <a:extLst>
                  <a:ext uri="{0D108BD9-81ED-4DB2-BD59-A6C34878D82A}">
                    <a16:rowId xmlns:a16="http://schemas.microsoft.com/office/drawing/2014/main" val="3740928111"/>
                  </a:ext>
                </a:extLst>
              </a:tr>
              <a:tr h="46296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10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EDTO Segment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Arial"/>
                          <a:cs typeface="Calibri"/>
                          <a:sym typeface="Arial"/>
                        </a:rPr>
                        <a:t>1 ELEC SRC Fail After EEP : 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Arial"/>
                          <a:cs typeface="Calibri"/>
                          <a:sym typeface="Arial"/>
                        </a:rPr>
                        <a:t>Continue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uLnTx/>
                          <a:uFillTx/>
                          <a:latin typeface="Arial"/>
                          <a:cs typeface="Calibri"/>
                          <a:sym typeface="Arial"/>
                        </a:rPr>
                        <a:t>Apply Actual </a:t>
                      </a:r>
                      <a:r>
                        <a:rPr kumimoji="0" lang="en-US" altLang="ko-Kore-KR" sz="800" b="1" i="0" u="none" strike="noStrike" kern="0" cap="none" spc="0" normalizeH="0" baseline="0" noProof="0" dirty="0" err="1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uLnTx/>
                          <a:uFillTx/>
                          <a:latin typeface="Arial"/>
                          <a:cs typeface="Calibri"/>
                          <a:sym typeface="Arial"/>
                        </a:rPr>
                        <a:t>Wx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uLnTx/>
                          <a:uFillTx/>
                          <a:latin typeface="Arial"/>
                          <a:cs typeface="Calibri"/>
                          <a:sym typeface="Arial"/>
                        </a:rPr>
                        <a:t> for Actual Divert</a:t>
                      </a: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799958746"/>
                  </a:ext>
                </a:extLst>
              </a:tr>
              <a:tr h="670308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10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ETP (Equal Time Point</a:t>
                      </a:r>
                      <a:r>
                        <a:rPr kumimoji="0" lang="en-US" altLang="ko-KR" sz="10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,</a:t>
                      </a:r>
                      <a:r>
                        <a:rPr kumimoji="0" lang="ko-KR" altLang="en-US" sz="10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kumimoji="0" lang="en-US" altLang="ko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EDTO ERA</a:t>
                      </a:r>
                      <a:r>
                        <a:rPr kumimoji="0" lang="ko-KR" altLang="en-US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기준</a:t>
                      </a:r>
                      <a:r>
                        <a:rPr kumimoji="0" lang="en-US" altLang="ko-Kore-KR" sz="10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)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"/>
                          <a:cs typeface="Calibri"/>
                          <a:sym typeface="Arial"/>
                        </a:rPr>
                        <a:t>FIX, ALTN Page SET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"/>
                          <a:cs typeface="Calibri"/>
                          <a:sym typeface="Arial"/>
                        </a:rPr>
                        <a:t>EDTO C/L : 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Arial"/>
                          <a:cs typeface="Calibri"/>
                          <a:sym typeface="Arial"/>
                        </a:rPr>
                        <a:t>Fuel, A/C, MSA, ALT </a:t>
                      </a:r>
                      <a:r>
                        <a:rPr kumimoji="0" lang="en-US" altLang="ko-Kore-KR" sz="800" b="1" i="0" u="none" strike="noStrike" kern="0" cap="none" spc="0" normalizeH="0" baseline="0" noProof="0" dirty="0" err="1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Arial"/>
                          <a:cs typeface="Calibri"/>
                          <a:sym typeface="Arial"/>
                        </a:rPr>
                        <a:t>Wx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Arial"/>
                          <a:cs typeface="Calibri"/>
                          <a:sym typeface="Arial"/>
                        </a:rPr>
                        <a:t> &amp; NOTAM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"/>
                          <a:cs typeface="Calibri"/>
                          <a:sym typeface="Arial"/>
                        </a:rPr>
                        <a:t>Last ETP(Critical Point) Fuel less then PLAN 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Arial"/>
                          <a:cs typeface="Calibri"/>
                          <a:sym typeface="Arial"/>
                        </a:rPr>
                        <a:t>– Continue by PIC</a:t>
                      </a: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646462774"/>
                  </a:ext>
                </a:extLst>
              </a:tr>
              <a:tr h="341841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10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EXP (Exit Point)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"/>
                          <a:cs typeface="Calibri"/>
                          <a:sym typeface="Arial"/>
                        </a:rPr>
                        <a:t>APU - </a:t>
                      </a:r>
                      <a:r>
                        <a:rPr kumimoji="0" lang="en-US" altLang="ko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Arial"/>
                          <a:cs typeface="Calibri"/>
                          <a:sym typeface="Arial"/>
                        </a:rPr>
                        <a:t>OFF</a:t>
                      </a:r>
                      <a:endParaRPr kumimoji="0" lang="en-US" altLang="ko-Kore-KR" sz="800" b="1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70C0"/>
                        </a:solidFill>
                        <a:effectLst/>
                        <a:uLnTx/>
                        <a:uFillTx/>
                        <a:latin typeface="Arial"/>
                        <a:cs typeface="Calibri"/>
                        <a:sym typeface="Arial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3122030425"/>
                  </a:ext>
                </a:extLst>
              </a:tr>
              <a:tr h="46296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10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1 HR Before TOD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"/>
                          <a:cs typeface="Calibri"/>
                          <a:sym typeface="Arial"/>
                        </a:rPr>
                        <a:t>FUEL CROSS FEED V/V CHK : </a:t>
                      </a:r>
                      <a:r>
                        <a:rPr kumimoji="0" lang="en-US" altLang="ko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Arial"/>
                          <a:cs typeface="Calibri"/>
                          <a:sym typeface="Arial"/>
                        </a:rPr>
                        <a:t>On -&gt; Off, V/V L/T CHK</a:t>
                      </a:r>
                      <a:endParaRPr kumimoji="0" lang="en-US" altLang="ko-Kore-KR" sz="800" b="1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70C0"/>
                        </a:solidFill>
                        <a:effectLst/>
                        <a:uLnTx/>
                        <a:uFillTx/>
                        <a:latin typeface="Arial"/>
                        <a:cs typeface="Calibri"/>
                        <a:sym typeface="Arial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331874243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48424028"/>
      </p:ext>
    </p:extLst>
  </p:cSld>
  <p:clrMapOvr>
    <a:masterClrMapping/>
  </p:clrMapOvr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82" name="Google Shape;282;p17"/>
          <p:cNvGraphicFramePr/>
          <p:nvPr>
            <p:extLst>
              <p:ext uri="{D42A27DB-BD31-4B8C-83A1-F6EECF244321}">
                <p14:modId xmlns:p14="http://schemas.microsoft.com/office/powerpoint/2010/main" val="4072713511"/>
              </p:ext>
            </p:extLst>
          </p:nvPr>
        </p:nvGraphicFramePr>
        <p:xfrm>
          <a:off x="6595" y="623810"/>
          <a:ext cx="2330925" cy="162073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62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2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7863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9596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7785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953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21777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280325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</a:tblGrid>
              <a:tr h="0">
                <a:tc gridSpan="8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PUS : no SID </a:t>
                      </a:r>
                      <a:r>
                        <a:rPr lang="en-US" sz="800" dirty="0">
                          <a:solidFill>
                            <a:srgbClr val="FFC000"/>
                          </a:solidFill>
                        </a:rPr>
                        <a:t>(RWY 06 LNAV not Arming on GND)</a:t>
                      </a:r>
                      <a:endParaRPr sz="800" dirty="0">
                        <a:solidFill>
                          <a:srgbClr val="FFC000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dirty="0"/>
                        <a:t>0</a:t>
                      </a:r>
                      <a:r>
                        <a:rPr lang="en-US" sz="800" b="1" dirty="0"/>
                        <a:t>6L/R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RWY H/D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063</a:t>
                      </a:r>
                      <a:endParaRPr sz="458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1" dirty="0"/>
                        <a:t>063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ATC (9000)</a:t>
                      </a:r>
                      <a:endParaRPr lang="ko-Kore-KR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063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24L/R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RWY H/D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243</a:t>
                      </a:r>
                      <a:endParaRPr sz="458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dirty="0"/>
                        <a:t>243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</a:rPr>
                        <a:t>ATC (9000)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243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570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UNZ 115.8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06L 110.3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06R 110.9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5700">
                <a:tc gridSpan="8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24 : UNZ /2.5 </a:t>
                      </a:r>
                      <a:r>
                        <a:rPr lang="en-US" altLang="ko-Kore-KR" sz="800" b="0" dirty="0">
                          <a:solidFill>
                            <a:srgbClr val="C00000"/>
                          </a:solidFill>
                        </a:rPr>
                        <a:t>(UNZ VOR out of 3.3NM A/P)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016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06L(256’)        12014’        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24R(305’) 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06R(258’)        10014’        24L(293’)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24R(305’) 8530’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24L(293’) 8999’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5700">
                <a:tc gridSpan="8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RWY, Ramp Area have lots of Slope, Be Caution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06 Upslope, 24 Downslope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283" name="Google Shape;283;p17"/>
          <p:cNvGraphicFramePr/>
          <p:nvPr>
            <p:extLst>
              <p:ext uri="{D42A27DB-BD31-4B8C-83A1-F6EECF244321}">
                <p14:modId xmlns:p14="http://schemas.microsoft.com/office/powerpoint/2010/main" val="2685120419"/>
              </p:ext>
            </p:extLst>
          </p:nvPr>
        </p:nvGraphicFramePr>
        <p:xfrm>
          <a:off x="11589" y="3423394"/>
          <a:ext cx="2325975" cy="2130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59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3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55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774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STAR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33/34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xE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ENPIL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180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15/16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xH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MUNAN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180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285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33L/R 34L(23’)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15L/R 16R(23’)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285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34R(23’)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13123’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16L(23’)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64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FIX</a:t>
                      </a:r>
                      <a:endParaRPr/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RWY /8, /5 , YJU R271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33R :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C4(7529’), 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C5(8513’), 33L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: B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7463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’), 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8513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 :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C2(7522’), 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C1(8536’), 15R :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B3(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7454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‘), 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B2(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8641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P7(5600’),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P8(6578’), 34R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N4(6876’),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N5(8507‘)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P6(5597’),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P5(6574’), 16L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N3(7043‘),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N2(8444‘)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01600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8NM 180kts, 5NM 160kts, Parr TAXI 10kts이상,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HIRO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284" name="Google Shape;284;p17"/>
          <p:cNvGraphicFramePr/>
          <p:nvPr>
            <p:extLst>
              <p:ext uri="{D42A27DB-BD31-4B8C-83A1-F6EECF244321}">
                <p14:modId xmlns:p14="http://schemas.microsoft.com/office/powerpoint/2010/main" val="533897768"/>
              </p:ext>
            </p:extLst>
          </p:nvPr>
        </p:nvGraphicFramePr>
        <p:xfrm>
          <a:off x="-2501" y="16504"/>
          <a:ext cx="2328850" cy="59406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1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PGUM(GUM) </a:t>
                      </a:r>
                      <a:r>
                        <a:rPr lang="en-US" altLang="ko-Kore-KR" sz="1100" dirty="0">
                          <a:solidFill>
                            <a:srgbClr val="C00000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305ft</a:t>
                      </a:r>
                      <a:endParaRPr lang="en-US" altLang="ko-Kore-KR" sz="1100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600" dirty="0"/>
                        <a:t>Menzies Operations   </a:t>
                      </a:r>
                      <a:r>
                        <a:rPr lang="en-US" altLang="ko-Kore-KR" sz="900" dirty="0"/>
                        <a:t>129.4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>
                          <a:solidFill>
                            <a:srgbClr val="FF0000"/>
                          </a:solidFill>
                        </a:rPr>
                        <a:t>By Voice, No DATIS</a:t>
                      </a:r>
                      <a:endParaRPr sz="700" dirty="0">
                        <a:solidFill>
                          <a:srgbClr val="FF0000"/>
                        </a:solidFill>
                      </a:endParaRPr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pic>
        <p:nvPicPr>
          <p:cNvPr id="4" name="그림 3" descr="텍스트, 지도, 도표, 폰트이(가) 표시된 사진&#10;&#10;자동 생성된 설명">
            <a:extLst>
              <a:ext uri="{FF2B5EF4-FFF2-40B4-BE49-F238E27FC236}">
                <a16:creationId xmlns:a16="http://schemas.microsoft.com/office/drawing/2014/main" id="{87A0FC69-EC5A-98B1-ECF9-3EE0D15EB3C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94" y="2257781"/>
            <a:ext cx="914393" cy="932272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2C10DF35-4C8C-4BCD-35BF-D473906D8D90}"/>
              </a:ext>
            </a:extLst>
          </p:cNvPr>
          <p:cNvSpPr txBox="1"/>
          <p:nvPr/>
        </p:nvSpPr>
        <p:spPr>
          <a:xfrm>
            <a:off x="880917" y="2173448"/>
            <a:ext cx="1764127" cy="1017064"/>
          </a:xfrm>
          <a:prstGeom prst="rect">
            <a:avLst/>
          </a:prstGeom>
          <a:noFill/>
        </p:spPr>
        <p:txBody>
          <a:bodyPr wrap="squar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118.7</a:t>
            </a:r>
            <a:endParaRPr kumimoji="1" lang="en-US" altLang="ko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SFO RDO </a:t>
            </a:r>
            <a:r>
              <a:rPr kumimoji="1" lang="en-US" altLang="ko-Kore-KR" sz="700" b="1" u="sng" dirty="0">
                <a:solidFill>
                  <a:srgbClr val="C0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(NATSS) 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8870/6532</a:t>
            </a:r>
            <a:endParaRPr kumimoji="1" lang="en-US" altLang="ko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TKO RDO </a:t>
            </a:r>
            <a:r>
              <a:rPr kumimoji="1" lang="en-US" altLang="ko-KR" sz="700" b="1" u="sng" dirty="0">
                <a:solidFill>
                  <a:srgbClr val="C0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(PAKDO)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3455/8903</a:t>
            </a:r>
            <a:endParaRPr kumimoji="1" lang="en-US" altLang="ko-Kore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FUK 132.3 </a:t>
            </a:r>
            <a:r>
              <a:rPr kumimoji="1" lang="en-US" altLang="ko-Kore-KR" sz="700" b="1" u="sng" dirty="0">
                <a:solidFill>
                  <a:srgbClr val="C0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(HIDEK)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KOB 133.85 – 118.9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TAE 125.37</a:t>
            </a:r>
          </a:p>
        </p:txBody>
      </p:sp>
      <p:sp>
        <p:nvSpPr>
          <p:cNvPr id="3" name="직사각형 2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8F680019-B6B1-64EC-2F72-04F687483095}"/>
              </a:ext>
            </a:extLst>
          </p:cNvPr>
          <p:cNvSpPr/>
          <p:nvPr/>
        </p:nvSpPr>
        <p:spPr>
          <a:xfrm>
            <a:off x="1469976" y="3096153"/>
            <a:ext cx="910408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7030A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SE Asia</a:t>
            </a:r>
            <a:endParaRPr lang="en-US" altLang="ko-KR" sz="1800" b="1" cap="none" spc="0" dirty="0">
              <a:ln w="0"/>
              <a:solidFill>
                <a:srgbClr val="7030A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12E5B13E-BE59-CD40-278E-11D41D545401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054366310"/>
      </p:ext>
    </p:extLst>
  </p:cSld>
  <p:clrMapOvr>
    <a:masterClrMapping/>
  </p:clrMapOvr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62F9807-5AEF-8D80-6311-45C5000B22FB}"/>
              </a:ext>
            </a:extLst>
          </p:cNvPr>
          <p:cNvSpPr txBox="1"/>
          <p:nvPr/>
        </p:nvSpPr>
        <p:spPr>
          <a:xfrm>
            <a:off x="-58296" y="2991349"/>
            <a:ext cx="2069797" cy="855482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125.5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128.17 – 124.52(125.72) 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FUK 127.5</a:t>
            </a:r>
            <a:r>
              <a:rPr kumimoji="1" lang="en-US" altLang="ko-Kore-KR" sz="700" b="1" u="sng" dirty="0">
                <a:solidFill>
                  <a:srgbClr val="FF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(SENKA</a:t>
            </a:r>
            <a:r>
              <a:rPr kumimoji="1" lang="ko-KR" altLang="en-US" sz="700" b="1" u="sng" dirty="0">
                <a:solidFill>
                  <a:srgbClr val="FF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FF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/20) </a:t>
            </a:r>
            <a:endParaRPr kumimoji="1" lang="en-US" altLang="ko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TPE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125.5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APP 128.5 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125.6</a:t>
            </a:r>
          </a:p>
        </p:txBody>
      </p:sp>
      <p:graphicFrame>
        <p:nvGraphicFramePr>
          <p:cNvPr id="292" name="Google Shape;292;p18"/>
          <p:cNvGraphicFramePr/>
          <p:nvPr>
            <p:extLst>
              <p:ext uri="{D42A27DB-BD31-4B8C-83A1-F6EECF244321}">
                <p14:modId xmlns:p14="http://schemas.microsoft.com/office/powerpoint/2010/main" val="1919514618"/>
              </p:ext>
            </p:extLst>
          </p:nvPr>
        </p:nvGraphicFramePr>
        <p:xfrm>
          <a:off x="-2501" y="3903061"/>
          <a:ext cx="2327659" cy="1670378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6454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8239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9164">
                  <a:extLst>
                    <a:ext uri="{9D8B030D-6E8A-4147-A177-3AD203B41FA5}">
                      <a16:colId xmlns:a16="http://schemas.microsoft.com/office/drawing/2014/main" val="502366202"/>
                    </a:ext>
                  </a:extLst>
                </a:gridCol>
                <a:gridCol w="351705">
                  <a:extLst>
                    <a:ext uri="{9D8B030D-6E8A-4147-A177-3AD203B41FA5}">
                      <a16:colId xmlns:a16="http://schemas.microsoft.com/office/drawing/2014/main" val="1226482719"/>
                    </a:ext>
                  </a:extLst>
                </a:gridCol>
                <a:gridCol w="118370">
                  <a:extLst>
                    <a:ext uri="{9D8B030D-6E8A-4147-A177-3AD203B41FA5}">
                      <a16:colId xmlns:a16="http://schemas.microsoft.com/office/drawing/2014/main" val="992510185"/>
                    </a:ext>
                  </a:extLst>
                </a:gridCol>
                <a:gridCol w="511481">
                  <a:extLst>
                    <a:ext uri="{9D8B030D-6E8A-4147-A177-3AD203B41FA5}">
                      <a16:colId xmlns:a16="http://schemas.microsoft.com/office/drawing/2014/main" val="2076907169"/>
                    </a:ext>
                  </a:extLst>
                </a:gridCol>
              </a:tblGrid>
              <a:tr h="324137"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dirty="0"/>
                        <a:t>TPE : STAR TL130 </a:t>
                      </a:r>
                      <a:r>
                        <a:rPr lang="en-US" altLang="ko-Kore-KR" sz="800" dirty="0">
                          <a:solidFill>
                            <a:schemeClr val="accent4"/>
                          </a:solidFill>
                        </a:rPr>
                        <a:t>COPRA FL200 (</a:t>
                      </a:r>
                      <a:r>
                        <a:rPr lang="en-US" altLang="ko-Kore-KR" sz="800" b="0" dirty="0">
                          <a:solidFill>
                            <a:srgbClr val="FFC000"/>
                          </a:solidFill>
                        </a:rPr>
                        <a:t>FL250-130 : 280kts, FL130-10000ft : Max 280kts, APP Chart Text)</a:t>
                      </a:r>
                      <a:endParaRPr lang="en-US" altLang="ko-Kore-KR"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43568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dirty="0"/>
                        <a:t>05</a:t>
                      </a:r>
                      <a:r>
                        <a:rPr lang="en-US" sz="800" b="1" dirty="0"/>
                        <a:t>L</a:t>
                      </a:r>
                      <a:r>
                        <a:rPr lang="en-US" sz="800" b="0" dirty="0"/>
                        <a:t>/R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BAKER xx A</a:t>
                      </a:r>
                      <a:endParaRPr lang="en-US" sz="700" b="1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altLang="ko-Kore-KR" sz="800" b="1" dirty="0"/>
                        <a:t>JAMMY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05L</a:t>
                      </a:r>
                      <a:r>
                        <a:rPr lang="en-US" sz="800" b="0" dirty="0"/>
                        <a:t>/R</a:t>
                      </a:r>
                      <a:endParaRPr lang="ko-Kore-KR" altLang="en-US" b="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37479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dirty="0"/>
                        <a:t>23</a:t>
                      </a:r>
                      <a:r>
                        <a:rPr lang="en-US" sz="800" b="1" dirty="0"/>
                        <a:t>R</a:t>
                      </a:r>
                      <a:r>
                        <a:rPr lang="en-US" sz="800" b="0" dirty="0"/>
                        <a:t>/L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BAKER xx B</a:t>
                      </a:r>
                      <a:endParaRPr lang="en-US" altLang="ko-Kore-KR" sz="800" b="1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AUGUR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sz="800" b="1" dirty="0"/>
                        <a:t>ILS 23R</a:t>
                      </a:r>
                      <a:r>
                        <a:rPr lang="en-US" sz="800" b="0" dirty="0"/>
                        <a:t>/L</a:t>
                      </a:r>
                      <a:endParaRPr lang="ko-Kore-KR" altLang="en-US" b="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37479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05L(74’)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R" sz="800" b="1" dirty="0">
                          <a:solidFill>
                            <a:srgbClr val="00B050"/>
                          </a:solidFill>
                        </a:rPr>
                        <a:t>12008’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23R(63’)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37479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05R(107’) </a:t>
                      </a:r>
                      <a:r>
                        <a:rPr lang="en-US" sz="800" b="1" dirty="0">
                          <a:solidFill>
                            <a:srgbClr val="FF0000"/>
                          </a:solidFill>
                        </a:rPr>
                        <a:t>DIS 12139’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R" sz="800" b="1" dirty="0">
                          <a:solidFill>
                            <a:srgbClr val="00B050"/>
                          </a:solidFill>
                        </a:rPr>
                        <a:t>12467’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R" sz="800" b="1" dirty="0">
                          <a:solidFill>
                            <a:srgbClr val="00B050"/>
                          </a:solidFill>
                        </a:rPr>
                        <a:t>23L(96’) </a:t>
                      </a:r>
                      <a:r>
                        <a:rPr lang="en-US" altLang="ko-KR" sz="800" b="1" dirty="0">
                          <a:solidFill>
                            <a:srgbClr val="FF0000"/>
                          </a:solidFill>
                        </a:rPr>
                        <a:t>DIS 11319’</a:t>
                      </a:r>
                      <a:endParaRPr lang="en-US" altLang="ko-Kore-KR" sz="800" b="1" dirty="0">
                        <a:solidFill>
                          <a:srgbClr val="FF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R" sz="800" b="1" dirty="0">
                          <a:solidFill>
                            <a:srgbClr val="00B050"/>
                          </a:solidFill>
                        </a:rPr>
                        <a:t>23L(96’)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23913">
                <a:tc gridSpan="6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05L : N7(5787’), N6(6738’),  23R : N6(4468’), N4(6656’)</a:t>
                      </a:r>
                      <a:endParaRPr sz="800" dirty="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05R : S6(5419’), S7(7244’), 23L : S5(5442’), S4(7470’)</a:t>
                      </a:r>
                      <a:r>
                        <a:rPr lang="en-US" sz="800" dirty="0">
                          <a:solidFill>
                            <a:schemeClr val="dk1"/>
                          </a:solidFill>
                        </a:rPr>
                        <a:t> </a:t>
                      </a:r>
                      <a:endParaRPr dirty="0"/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37479">
                <a:tc gridSpan="6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No VOR at TPE, </a:t>
                      </a: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A-VDGS see above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293" name="Google Shape;293;p18"/>
          <p:cNvGraphicFramePr/>
          <p:nvPr>
            <p:extLst>
              <p:ext uri="{D42A27DB-BD31-4B8C-83A1-F6EECF244321}">
                <p14:modId xmlns:p14="http://schemas.microsoft.com/office/powerpoint/2010/main" val="2459661021"/>
              </p:ext>
            </p:extLst>
          </p:nvPr>
        </p:nvGraphicFramePr>
        <p:xfrm>
          <a:off x="-2501" y="16504"/>
          <a:ext cx="2328850" cy="62454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RKPK(PUS) 13ft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RCTP(TPE)108ft</a:t>
                      </a:r>
                      <a:endParaRPr lang="en-US" altLang="ko-Kore-KR" sz="1300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</a:t>
                      </a:r>
                      <a:r>
                        <a:rPr lang="en-US" sz="900" dirty="0" err="1"/>
                        <a:t>Gimhae</a:t>
                      </a:r>
                      <a:r>
                        <a:rPr lang="en-US" sz="900" dirty="0"/>
                        <a:t> 129.2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6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-5분</a:t>
                      </a:r>
                      <a:endParaRPr sz="1050" dirty="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Dynasty Operation 131.3</a:t>
                      </a:r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48BFDA17-699D-A0C3-A1F6-B1CDE98B3DE3}"/>
              </a:ext>
            </a:extLst>
          </p:cNvPr>
          <p:cNvSpPr/>
          <p:nvPr/>
        </p:nvSpPr>
        <p:spPr>
          <a:xfrm>
            <a:off x="1469976" y="3426031"/>
            <a:ext cx="910408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7030A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SE Asia</a:t>
            </a:r>
            <a:endParaRPr lang="en-US" altLang="ko-KR" sz="1800" b="1" cap="none" spc="0" dirty="0">
              <a:ln w="0"/>
              <a:solidFill>
                <a:srgbClr val="7030A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26E8B272-8D5B-D47D-58C6-4C3C17E8230E}"/>
              </a:ext>
            </a:extLst>
          </p:cNvPr>
          <p:cNvSpPr/>
          <p:nvPr/>
        </p:nvSpPr>
        <p:spPr>
          <a:xfrm>
            <a:off x="849329" y="283513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7030A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7030A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graphicFrame>
        <p:nvGraphicFramePr>
          <p:cNvPr id="6" name="Google Shape;247;p13">
            <a:extLst>
              <a:ext uri="{FF2B5EF4-FFF2-40B4-BE49-F238E27FC236}">
                <a16:creationId xmlns:a16="http://schemas.microsoft.com/office/drawing/2014/main" id="{0A1B02FF-5F26-C6D7-81DB-46D44D71B267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404171429"/>
              </p:ext>
            </p:extLst>
          </p:nvPr>
        </p:nvGraphicFramePr>
        <p:xfrm>
          <a:off x="0" y="640973"/>
          <a:ext cx="2330925" cy="174265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62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2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70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179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041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19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14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779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1747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21777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280325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</a:tblGrid>
              <a:tr h="0">
                <a:tc gridSpan="1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PUS : SID </a:t>
                      </a:r>
                      <a:r>
                        <a:rPr lang="en-US" sz="800" dirty="0">
                          <a:solidFill>
                            <a:srgbClr val="FFC000"/>
                          </a:solidFill>
                        </a:rPr>
                        <a:t>(Mod NADP CLB2 1000, 14000 MAX)</a:t>
                      </a:r>
                      <a:endParaRPr sz="800" dirty="0">
                        <a:solidFill>
                          <a:srgbClr val="FFC000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36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SOORO x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TOPAX tx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30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</a:rPr>
                        <a:t>6</a:t>
                      </a:r>
                      <a:endParaRPr sz="458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280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27</a:t>
                      </a:r>
                      <a:r>
                        <a:rPr lang="en-US" altLang="ko-KR" sz="800" b="1" dirty="0">
                          <a:solidFill>
                            <a:srgbClr val="00B050"/>
                          </a:solidFill>
                        </a:rPr>
                        <a:t>9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18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BULIM x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ENGOT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tx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182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182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182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5700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KMH 113.8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PSN 114.0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36L 108.5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36R 109.5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5700">
                <a:tc gridSpan="1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36 : KMH R091, R271, R185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016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5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36L(13’) 10499’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36R(8’) 8999’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18R(13’) 8530’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18L(13’) 8999’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5700">
                <a:tc gridSpan="1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RWY36 400ft Man L/H turn, Max Taxi SPD 20KTS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pic>
        <p:nvPicPr>
          <p:cNvPr id="7" name="Google Shape;248;p13">
            <a:extLst>
              <a:ext uri="{FF2B5EF4-FFF2-40B4-BE49-F238E27FC236}">
                <a16:creationId xmlns:a16="http://schemas.microsoft.com/office/drawing/2014/main" id="{7031B509-E213-E55A-D00C-2A7E716876D9}"/>
              </a:ext>
            </a:extLst>
          </p:cNvPr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4472" y="2383655"/>
            <a:ext cx="1559909" cy="651823"/>
          </a:xfrm>
          <a:prstGeom prst="rect">
            <a:avLst/>
          </a:prstGeom>
          <a:noFill/>
          <a:ln>
            <a:noFill/>
          </a:ln>
        </p:spPr>
      </p:pic>
      <p:pic>
        <p:nvPicPr>
          <p:cNvPr id="10" name="그림 9" descr="텍스트, 도표, 스크린샷, 폰트이(가) 표시된 사진&#10;&#10;자동 생성된 설명">
            <a:extLst>
              <a:ext uri="{FF2B5EF4-FFF2-40B4-BE49-F238E27FC236}">
                <a16:creationId xmlns:a16="http://schemas.microsoft.com/office/drawing/2014/main" id="{F64CEF4C-47A5-8D86-A1CC-D5A6FCB5450E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32272" y="3352795"/>
            <a:ext cx="867550" cy="5580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17822762"/>
      </p:ext>
    </p:extLst>
  </p:cSld>
  <p:clrMapOvr>
    <a:masterClrMapping/>
  </p:clrMapOvr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Google Shape;117;p3">
            <a:extLst>
              <a:ext uri="{FF2B5EF4-FFF2-40B4-BE49-F238E27FC236}">
                <a16:creationId xmlns:a16="http://schemas.microsoft.com/office/drawing/2014/main" id="{B2399E6E-0BF9-245E-720B-598089D336E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570534173"/>
              </p:ext>
            </p:extLst>
          </p:nvPr>
        </p:nvGraphicFramePr>
        <p:xfrm>
          <a:off x="-4046" y="643000"/>
          <a:ext cx="2347194" cy="149881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3540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884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291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88612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37023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25783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288614">
                  <a:extLst>
                    <a:ext uri="{9D8B030D-6E8A-4147-A177-3AD203B41FA5}">
                      <a16:colId xmlns:a16="http://schemas.microsoft.com/office/drawing/2014/main" val="448940902"/>
                    </a:ext>
                  </a:extLst>
                </a:gridCol>
              </a:tblGrid>
              <a:tr h="0">
                <a:tc gridSpan="7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TPE : RNAV SID (NADP 1) TA 11000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accent4"/>
                          </a:solidFill>
                        </a:rPr>
                        <a:t>Be Ready Intersection T/O, A030 -&gt; 3000ft</a:t>
                      </a:r>
                    </a:p>
                  </a:txBody>
                  <a:tcPr marL="36000" marR="7200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05R</a:t>
                      </a:r>
                      <a:r>
                        <a:rPr lang="en-US" sz="800" b="0" u="none" strike="noStrike" cap="none" dirty="0"/>
                        <a:t>/L</a:t>
                      </a: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PIANO </a:t>
                      </a:r>
                      <a:r>
                        <a:rPr lang="en-US" sz="800" b="1" u="none" strike="noStrike" cap="none" dirty="0" err="1">
                          <a:solidFill>
                            <a:srgbClr val="0070C0"/>
                          </a:solidFill>
                        </a:rPr>
                        <a:t>xxA</a:t>
                      </a: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/C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054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054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054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23L</a:t>
                      </a:r>
                      <a:r>
                        <a:rPr lang="en-US" sz="800" b="0" u="none" strike="noStrike" cap="none" dirty="0"/>
                        <a:t>/R</a:t>
                      </a:r>
                      <a:endParaRPr sz="800" b="0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PIANO </a:t>
                      </a:r>
                      <a:r>
                        <a:rPr lang="en-US" altLang="ko-Kore-KR" sz="800" b="1" u="none" strike="noStrike" cap="none" dirty="0" err="1">
                          <a:solidFill>
                            <a:srgbClr val="0070C0"/>
                          </a:solidFill>
                        </a:rPr>
                        <a:t>xxD</a:t>
                      </a:r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/B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234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234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234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5700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05L 111.1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23R 109.3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05R 110.7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23L 111.9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19 108.9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0160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05L(74’)</a:t>
                      </a:r>
                      <a:endParaRPr lang="en-US" sz="800" b="1" u="none" strike="noStrike" cap="none" dirty="0">
                        <a:solidFill>
                          <a:srgbClr val="C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12008</a:t>
                      </a: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</a:t>
                      </a:r>
                      <a:endParaRPr sz="800" b="1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23R(63’)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01600">
                <a:tc v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ore-KR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05R(107’)</a:t>
                      </a:r>
                      <a:endParaRPr lang="en-US" sz="800" b="1" u="none" strike="noStrike" cap="none" dirty="0">
                        <a:solidFill>
                          <a:srgbClr val="C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12467’</a:t>
                      </a:r>
                      <a:endParaRPr sz="800" b="1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23L(96’)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44693353"/>
                  </a:ext>
                </a:extLst>
              </a:tr>
              <a:tr h="115700">
                <a:tc gridSpan="7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“DCT PIANO then L3 RNAV Transition”</a:t>
                      </a: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6" name="Google Shape;119;p3">
            <a:extLst>
              <a:ext uri="{FF2B5EF4-FFF2-40B4-BE49-F238E27FC236}">
                <a16:creationId xmlns:a16="http://schemas.microsoft.com/office/drawing/2014/main" id="{9324F2DF-C628-CA2F-3D82-2A8B1E34FA1F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287767293"/>
              </p:ext>
            </p:extLst>
          </p:nvPr>
        </p:nvGraphicFramePr>
        <p:xfrm>
          <a:off x="-2501" y="16504"/>
          <a:ext cx="2328850" cy="62454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RCTP(TPE)108ft</a:t>
                      </a:r>
                      <a:endParaRPr lang="en-US" altLang="ko-Kore-KR" sz="1300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RKPK(PUS) 13ft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Dynasty Operation 131.3</a:t>
                      </a:r>
                      <a:endParaRPr sz="1200"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700" dirty="0">
                          <a:solidFill>
                            <a:srgbClr val="FF0000"/>
                          </a:solidFill>
                        </a:rPr>
                        <a:t>DCL, Voice -5min</a:t>
                      </a:r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</a:t>
                      </a:r>
                      <a:r>
                        <a:rPr lang="en-US" sz="900" dirty="0" err="1"/>
                        <a:t>Gimhae</a:t>
                      </a:r>
                      <a:endParaRPr lang="en-US" sz="900"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 129.2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33F13AC3-0D74-CEBB-7100-2629A32A1FE4}"/>
              </a:ext>
            </a:extLst>
          </p:cNvPr>
          <p:cNvSpPr/>
          <p:nvPr/>
        </p:nvSpPr>
        <p:spPr>
          <a:xfrm>
            <a:off x="1469976" y="3084579"/>
            <a:ext cx="910408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7030A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SE Asia</a:t>
            </a:r>
            <a:endParaRPr lang="en-US" altLang="ko-KR" sz="1800" b="1" cap="none" spc="0" dirty="0">
              <a:ln w="0"/>
              <a:solidFill>
                <a:srgbClr val="7030A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6C9523CA-AC93-469E-02C8-A31FDF3992F7}"/>
              </a:ext>
            </a:extLst>
          </p:cNvPr>
          <p:cNvSpPr/>
          <p:nvPr/>
        </p:nvSpPr>
        <p:spPr>
          <a:xfrm>
            <a:off x="912590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84A1E97-A30C-EFBD-8019-7DCE7F1ED4CC}"/>
              </a:ext>
            </a:extLst>
          </p:cNvPr>
          <p:cNvSpPr txBox="1"/>
          <p:nvPr/>
        </p:nvSpPr>
        <p:spPr>
          <a:xfrm>
            <a:off x="60107" y="2180607"/>
            <a:ext cx="1306448" cy="782778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128.5 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TPE 125.5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FUK 127.5 </a:t>
            </a:r>
            <a:r>
              <a:rPr kumimoji="1" lang="en-US" altLang="ko-KR" sz="700" b="1" u="sng" dirty="0">
                <a:solidFill>
                  <a:srgbClr val="C0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(SENKA /20)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ICN 125.725(124.52) – 128.17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APP – 125.5</a:t>
            </a:r>
            <a:endParaRPr kumimoji="1" lang="ko-Kore-KR" altLang="en-US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graphicFrame>
        <p:nvGraphicFramePr>
          <p:cNvPr id="9" name="Google Shape;137;p4">
            <a:extLst>
              <a:ext uri="{FF2B5EF4-FFF2-40B4-BE49-F238E27FC236}">
                <a16:creationId xmlns:a16="http://schemas.microsoft.com/office/drawing/2014/main" id="{DB02378F-05ED-DDF1-8735-FC7557702C54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955913174"/>
              </p:ext>
            </p:extLst>
          </p:nvPr>
        </p:nvGraphicFramePr>
        <p:xfrm>
          <a:off x="-3340" y="3767489"/>
          <a:ext cx="2339140" cy="174265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9386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1251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6013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7262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146675">
                <a:tc gridSpan="4"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PUS : STAR </a:t>
                      </a:r>
                      <a:r>
                        <a:rPr lang="en-US" sz="800" dirty="0">
                          <a:solidFill>
                            <a:srgbClr val="FFC000"/>
                          </a:solidFill>
                        </a:rPr>
                        <a:t>(Tail Wind 36R 136000lbs F40)</a:t>
                      </a:r>
                      <a:endParaRPr sz="800" dirty="0">
                        <a:solidFill>
                          <a:srgbClr val="FFC000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3332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KEVOX x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dirty="0"/>
                        <a:t>ANROD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>
                          <a:solidFill>
                            <a:schemeClr val="dk1"/>
                          </a:solidFill>
                        </a:rPr>
                        <a:t>9DME LG, 8DME FLAP</a:t>
                      </a:r>
                      <a:endParaRPr sz="800" b="0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3332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VOR 18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GAYHA x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ANROD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rgbClr val="C00000"/>
                          </a:solidFill>
                          <a:hlinkClick r:id="rId7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18 Circling Click!!</a:t>
                      </a:r>
                      <a:endParaRPr lang="en-US" altLang="ko-Kore-KR"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712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36L(13’) 10499’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36R(8’) 8999’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18R(13’) 8530’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18L(13’) 8999’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FIX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dirty="0">
                          <a:solidFill>
                            <a:schemeClr val="dk1"/>
                          </a:solidFill>
                        </a:rPr>
                        <a:t>36 : IKMA/IKHE /9, /8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>
                          <a:solidFill>
                            <a:schemeClr val="dk1"/>
                          </a:solidFill>
                        </a:rPr>
                        <a:t>18 : KMH R283, R280</a:t>
                      </a:r>
                      <a:endParaRPr sz="800" b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20050">
                <a:tc gridSpan="4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tx1"/>
                          </a:solidFill>
                        </a:rPr>
                        <a:t>36L : </a:t>
                      </a:r>
                      <a:r>
                        <a:rPr lang="en-US" sz="800" b="1" dirty="0">
                          <a:solidFill>
                            <a:srgbClr val="FF0000"/>
                          </a:solidFill>
                        </a:rPr>
                        <a:t>C4 (6299’), 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C2(7795’) / 36R : E3(5866’), E2(7339’)</a:t>
                      </a:r>
                      <a:endParaRPr dirty="0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18R : C6(5770’), C7 (6824’) / 18L : E4(5882’), E5(8792’)</a:t>
                      </a:r>
                      <a:endParaRPr sz="800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2005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Vacate </a:t>
                      </a: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C3,C4 </a:t>
                      </a:r>
                      <a:r>
                        <a:rPr lang="en-US" sz="800" dirty="0"/>
                        <a:t>by ATC only. Max Taxi SPD 20KTS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C2 HOLD SHORT </a:t>
                      </a:r>
                      <a:r>
                        <a:rPr lang="en-US" sz="800" dirty="0" err="1"/>
                        <a:t>가까움</a:t>
                      </a:r>
                      <a:r>
                        <a:rPr lang="en-US" sz="800" dirty="0"/>
                        <a:t>(Vacate </a:t>
                      </a:r>
                      <a:r>
                        <a:rPr lang="en-US" sz="800" dirty="0" err="1"/>
                        <a:t>TaxiSPD</a:t>
                      </a:r>
                      <a:r>
                        <a:rPr lang="en-US" sz="800" dirty="0"/>
                        <a:t>)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525559787"/>
      </p:ext>
    </p:extLst>
  </p:cSld>
  <p:clrMapOvr>
    <a:masterClrMapping/>
  </p:clrMapOvr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62F9807-5AEF-8D80-6311-45C5000B22FB}"/>
              </a:ext>
            </a:extLst>
          </p:cNvPr>
          <p:cNvSpPr txBox="1"/>
          <p:nvPr/>
        </p:nvSpPr>
        <p:spPr>
          <a:xfrm>
            <a:off x="-58296" y="2991349"/>
            <a:ext cx="2069797" cy="855482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125.5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128.17 – 124.52(125.72) 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FUK 127.5</a:t>
            </a:r>
            <a:r>
              <a:rPr kumimoji="1" lang="en-US" altLang="ko-Kore-KR" sz="700" b="1" u="sng" dirty="0">
                <a:solidFill>
                  <a:srgbClr val="FF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(SENKA</a:t>
            </a:r>
            <a:r>
              <a:rPr kumimoji="1" lang="ko-KR" altLang="en-US" sz="700" b="1" u="sng" dirty="0">
                <a:solidFill>
                  <a:srgbClr val="FF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FF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/20) </a:t>
            </a:r>
            <a:endParaRPr kumimoji="1" lang="en-US" altLang="ko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TPE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125.5 – 129.1 – HKG 132.15 - 127.1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SNY 122.6 – HNI 123.3 – VTN 128.3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BKK 132.1 – 133.1 - APP 119.1 </a:t>
            </a:r>
          </a:p>
        </p:txBody>
      </p:sp>
      <p:graphicFrame>
        <p:nvGraphicFramePr>
          <p:cNvPr id="292" name="Google Shape;292;p18"/>
          <p:cNvGraphicFramePr/>
          <p:nvPr>
            <p:extLst>
              <p:ext uri="{D42A27DB-BD31-4B8C-83A1-F6EECF244321}">
                <p14:modId xmlns:p14="http://schemas.microsoft.com/office/powerpoint/2010/main" val="580172753"/>
              </p:ext>
            </p:extLst>
          </p:nvPr>
        </p:nvGraphicFramePr>
        <p:xfrm>
          <a:off x="-2501" y="3838579"/>
          <a:ext cx="2327659" cy="1696032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3581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2072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90916">
                  <a:extLst>
                    <a:ext uri="{9D8B030D-6E8A-4147-A177-3AD203B41FA5}">
                      <a16:colId xmlns:a16="http://schemas.microsoft.com/office/drawing/2014/main" val="502366202"/>
                    </a:ext>
                  </a:extLst>
                </a:gridCol>
                <a:gridCol w="109040">
                  <a:extLst>
                    <a:ext uri="{9D8B030D-6E8A-4147-A177-3AD203B41FA5}">
                      <a16:colId xmlns:a16="http://schemas.microsoft.com/office/drawing/2014/main" val="992510185"/>
                    </a:ext>
                  </a:extLst>
                </a:gridCol>
                <a:gridCol w="471166">
                  <a:extLst>
                    <a:ext uri="{9D8B030D-6E8A-4147-A177-3AD203B41FA5}">
                      <a16:colId xmlns:a16="http://schemas.microsoft.com/office/drawing/2014/main" val="2076907169"/>
                    </a:ext>
                  </a:extLst>
                </a:gridCol>
              </a:tblGrid>
              <a:tr h="145629">
                <a:tc gridSpan="5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dirty="0"/>
                        <a:t>BKK : STAR TL130 UTC+7 </a:t>
                      </a:r>
                      <a:r>
                        <a:rPr lang="en-US" altLang="ko-Kore-KR" sz="800" dirty="0">
                          <a:solidFill>
                            <a:srgbClr val="FFC000"/>
                          </a:solidFill>
                        </a:rPr>
                        <a:t>(SPD CTL via STAR Chart)</a:t>
                      </a:r>
                      <a:endParaRPr lang="en-US" altLang="ko-Kore-KR" sz="800" b="1" dirty="0">
                        <a:solidFill>
                          <a:srgbClr val="FFC000"/>
                        </a:solidFill>
                      </a:endParaRPr>
                    </a:p>
                  </a:txBody>
                  <a:tcPr marL="0" marR="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95571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19L</a:t>
                      </a:r>
                      <a:r>
                        <a:rPr lang="en-US" sz="800" b="0" dirty="0"/>
                        <a:t>/R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EASTE </a:t>
                      </a:r>
                      <a:r>
                        <a:rPr lang="en-US" sz="800" b="1" dirty="0" err="1"/>
                        <a:t>xxC</a:t>
                      </a:r>
                      <a:endParaRPr lang="en-US"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dirty="0"/>
                        <a:t>Select Tx</a:t>
                      </a: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Z 19L</a:t>
                      </a:r>
                      <a:r>
                        <a:rPr lang="en-US" sz="800" b="0" dirty="0"/>
                        <a:t>/R</a:t>
                      </a:r>
                      <a:endParaRPr lang="ko-Kore-KR" altLang="en-US" b="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95571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01L</a:t>
                      </a:r>
                      <a:r>
                        <a:rPr lang="en-US" sz="800" b="0" dirty="0"/>
                        <a:t>/R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EASTE </a:t>
                      </a:r>
                      <a:r>
                        <a:rPr kumimoji="0" lang="en-US" altLang="ko-Kore-KR" sz="800" b="1" i="0" u="none" strike="noStrike" kern="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xxD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 </a:t>
                      </a: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0" lang="en-US" altLang="ko-Kore-KR" sz="800" b="1" i="0" u="none" strike="noStrike" kern="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Select 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Tx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sz="800" b="1" dirty="0"/>
                        <a:t>ILS Z 01L</a:t>
                      </a:r>
                      <a:r>
                        <a:rPr lang="en-US" sz="800" b="0" dirty="0"/>
                        <a:t>/R</a:t>
                      </a:r>
                      <a:endParaRPr lang="ko-Kore-KR" altLang="en-US" b="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20077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19L(4’)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R" sz="800" b="1" dirty="0">
                          <a:solidFill>
                            <a:srgbClr val="00B050"/>
                          </a:solidFill>
                        </a:rPr>
                        <a:t>13123’</a:t>
                      </a:r>
                      <a:r>
                        <a:rPr lang="en-US" altLang="ko-KR" sz="800" b="1" dirty="0">
                          <a:solidFill>
                            <a:srgbClr val="C00000"/>
                          </a:solidFill>
                        </a:rPr>
                        <a:t> No </a:t>
                      </a:r>
                      <a:r>
                        <a:rPr lang="en-US" altLang="ko-KR" sz="800" b="1" dirty="0" err="1">
                          <a:solidFill>
                            <a:srgbClr val="C00000"/>
                          </a:solidFill>
                        </a:rPr>
                        <a:t>Groov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01R(4’)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20077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19R(4’)</a:t>
                      </a:r>
                      <a:endParaRPr lang="en-US" sz="800" b="1" dirty="0">
                        <a:solidFill>
                          <a:srgbClr val="FF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R" sz="800" b="1" dirty="0">
                          <a:solidFill>
                            <a:srgbClr val="00B050"/>
                          </a:solidFill>
                        </a:rPr>
                        <a:t>12139’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R" sz="800" b="1" dirty="0">
                          <a:solidFill>
                            <a:srgbClr val="00B050"/>
                          </a:solidFill>
                        </a:rPr>
                        <a:t>01L(4’)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20077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FIX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RWxx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 /8 (180tks), /5 (160-150kts)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3433256594"/>
                  </a:ext>
                </a:extLst>
              </a:tr>
              <a:tr h="195571">
                <a:tc gridSpan="5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tx1"/>
                          </a:solidFill>
                        </a:rPr>
                        <a:t>19L :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B8(5567’), B10(6965’),  </a:t>
                      </a:r>
                      <a:r>
                        <a:rPr lang="en-US" sz="800" b="0" dirty="0">
                          <a:solidFill>
                            <a:schemeClr val="tx1"/>
                          </a:solidFill>
                        </a:rPr>
                        <a:t>01R : B7(5964’), B5(7962’)</a:t>
                      </a:r>
                      <a:endParaRPr sz="800" b="0" dirty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dirty="0">
                          <a:solidFill>
                            <a:schemeClr val="tx1"/>
                          </a:solidFill>
                        </a:rPr>
                        <a:t>19R : E9(5052’), E13(7139’), </a:t>
                      </a:r>
                      <a:r>
                        <a:rPr lang="en-US" sz="800" b="1" dirty="0">
                          <a:solidFill>
                            <a:schemeClr val="tx1"/>
                          </a:solidFill>
                        </a:rPr>
                        <a:t>01L :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E12(4872’), E7(6958’)</a:t>
                      </a:r>
                      <a:r>
                        <a:rPr lang="en-US" sz="800" dirty="0">
                          <a:solidFill>
                            <a:srgbClr val="0070C0"/>
                          </a:solidFill>
                        </a:rPr>
                        <a:t> </a:t>
                      </a:r>
                      <a:endParaRPr dirty="0">
                        <a:solidFill>
                          <a:srgbClr val="0070C0"/>
                        </a:solidFill>
                      </a:endParaRP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20077">
                <a:tc gridSpan="5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HIRO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, Standard Taxi Route, APU Off Procedure</a:t>
                      </a:r>
                      <a:endParaRPr lang="en-US" sz="8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293" name="Google Shape;293;p18"/>
          <p:cNvGraphicFramePr/>
          <p:nvPr>
            <p:extLst>
              <p:ext uri="{D42A27DB-BD31-4B8C-83A1-F6EECF244321}">
                <p14:modId xmlns:p14="http://schemas.microsoft.com/office/powerpoint/2010/main" val="736159813"/>
              </p:ext>
            </p:extLst>
          </p:nvPr>
        </p:nvGraphicFramePr>
        <p:xfrm>
          <a:off x="-2501" y="16504"/>
          <a:ext cx="2328850" cy="62454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RKPK(PUS) 13ft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VTBS(BKK) 4ft</a:t>
                      </a:r>
                      <a:endParaRPr lang="en-US" altLang="ko-Kore-KR" sz="1300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</a:t>
                      </a:r>
                      <a:r>
                        <a:rPr lang="en-US" sz="900" dirty="0" err="1"/>
                        <a:t>Gimhae</a:t>
                      </a:r>
                      <a:r>
                        <a:rPr lang="en-US" sz="900" dirty="0"/>
                        <a:t> 129.2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6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-5분</a:t>
                      </a:r>
                      <a:endParaRPr sz="1050" dirty="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Bangkok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131.25</a:t>
                      </a:r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48BFDA17-699D-A0C3-A1F6-B1CDE98B3DE3}"/>
              </a:ext>
            </a:extLst>
          </p:cNvPr>
          <p:cNvSpPr/>
          <p:nvPr/>
        </p:nvSpPr>
        <p:spPr>
          <a:xfrm>
            <a:off x="1469976" y="3572577"/>
            <a:ext cx="910408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7030A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SE Asia</a:t>
            </a:r>
            <a:endParaRPr lang="en-US" altLang="ko-KR" sz="1800" b="1" cap="none" spc="0" dirty="0">
              <a:ln w="0"/>
              <a:solidFill>
                <a:srgbClr val="7030A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26E8B272-8D5B-D47D-58C6-4C3C17E8230E}"/>
              </a:ext>
            </a:extLst>
          </p:cNvPr>
          <p:cNvSpPr/>
          <p:nvPr/>
        </p:nvSpPr>
        <p:spPr>
          <a:xfrm>
            <a:off x="849329" y="283513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7030A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7030A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graphicFrame>
        <p:nvGraphicFramePr>
          <p:cNvPr id="6" name="Google Shape;247;p13">
            <a:extLst>
              <a:ext uri="{FF2B5EF4-FFF2-40B4-BE49-F238E27FC236}">
                <a16:creationId xmlns:a16="http://schemas.microsoft.com/office/drawing/2014/main" id="{0A1B02FF-5F26-C6D7-81DB-46D44D71B267}"/>
              </a:ext>
            </a:extLst>
          </p:cNvPr>
          <p:cNvGraphicFramePr/>
          <p:nvPr/>
        </p:nvGraphicFramePr>
        <p:xfrm>
          <a:off x="0" y="640973"/>
          <a:ext cx="2330925" cy="174265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62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2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70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179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041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19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14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779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1747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21777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280325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</a:tblGrid>
              <a:tr h="0">
                <a:tc gridSpan="1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PUS : SID </a:t>
                      </a:r>
                      <a:r>
                        <a:rPr lang="en-US" sz="800" dirty="0">
                          <a:solidFill>
                            <a:srgbClr val="FFC000"/>
                          </a:solidFill>
                        </a:rPr>
                        <a:t>(Mod NADP CLB2 1000, 14000 MAX)</a:t>
                      </a:r>
                      <a:endParaRPr sz="800" dirty="0">
                        <a:solidFill>
                          <a:srgbClr val="FFC000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36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SOORO x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TOPAX tx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30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</a:rPr>
                        <a:t>6</a:t>
                      </a:r>
                      <a:endParaRPr sz="458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280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27</a:t>
                      </a:r>
                      <a:r>
                        <a:rPr lang="en-US" altLang="ko-KR" sz="800" b="1" dirty="0">
                          <a:solidFill>
                            <a:srgbClr val="00B050"/>
                          </a:solidFill>
                        </a:rPr>
                        <a:t>9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18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BULIM x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ENGOT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tx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182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182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182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5700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KMH 113.8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PSN 114.0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36L 108.5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36R 109.5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5700">
                <a:tc gridSpan="1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36 : KMH R091, R271, R185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016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5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36L(13’) 10499’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36R(8’) 8999’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18R(13’) 8530’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18L(13’) 8999’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5700">
                <a:tc gridSpan="1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RWY36 400ft Man L/H turn, Max Taxi SPD 20KTS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pic>
        <p:nvPicPr>
          <p:cNvPr id="7" name="Google Shape;248;p13">
            <a:extLst>
              <a:ext uri="{FF2B5EF4-FFF2-40B4-BE49-F238E27FC236}">
                <a16:creationId xmlns:a16="http://schemas.microsoft.com/office/drawing/2014/main" id="{7031B509-E213-E55A-D00C-2A7E716876D9}"/>
              </a:ext>
            </a:extLst>
          </p:cNvPr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4472" y="2383655"/>
            <a:ext cx="1559909" cy="651823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40196651"/>
      </p:ext>
    </p:extLst>
  </p:cSld>
  <p:clrMapOvr>
    <a:masterClrMapping/>
  </p:clrMapOvr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Google Shape;117;p3">
            <a:extLst>
              <a:ext uri="{FF2B5EF4-FFF2-40B4-BE49-F238E27FC236}">
                <a16:creationId xmlns:a16="http://schemas.microsoft.com/office/drawing/2014/main" id="{B2399E6E-0BF9-245E-720B-598089D336E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534931131"/>
              </p:ext>
            </p:extLst>
          </p:nvPr>
        </p:nvGraphicFramePr>
        <p:xfrm>
          <a:off x="-4045" y="643000"/>
          <a:ext cx="2342156" cy="186457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1892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744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46370">
                  <a:extLst>
                    <a:ext uri="{9D8B030D-6E8A-4147-A177-3AD203B41FA5}">
                      <a16:colId xmlns:a16="http://schemas.microsoft.com/office/drawing/2014/main" val="316027583"/>
                    </a:ext>
                  </a:extLst>
                </a:gridCol>
                <a:gridCol w="160014">
                  <a:extLst>
                    <a:ext uri="{9D8B030D-6E8A-4147-A177-3AD203B41FA5}">
                      <a16:colId xmlns:a16="http://schemas.microsoft.com/office/drawing/2014/main" val="3522764159"/>
                    </a:ext>
                  </a:extLst>
                </a:gridCol>
                <a:gridCol w="274429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14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08535">
                  <a:extLst>
                    <a:ext uri="{9D8B030D-6E8A-4147-A177-3AD203B41FA5}">
                      <a16:colId xmlns:a16="http://schemas.microsoft.com/office/drawing/2014/main" val="2506187783"/>
                    </a:ext>
                  </a:extLst>
                </a:gridCol>
                <a:gridCol w="137834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171939">
                  <a:extLst>
                    <a:ext uri="{9D8B030D-6E8A-4147-A177-3AD203B41FA5}">
                      <a16:colId xmlns:a16="http://schemas.microsoft.com/office/drawing/2014/main" val="3421815691"/>
                    </a:ext>
                  </a:extLst>
                </a:gridCol>
                <a:gridCol w="335266">
                  <a:extLst>
                    <a:ext uri="{9D8B030D-6E8A-4147-A177-3AD203B41FA5}">
                      <a16:colId xmlns:a16="http://schemas.microsoft.com/office/drawing/2014/main" val="448940902"/>
                    </a:ext>
                  </a:extLst>
                </a:gridCol>
              </a:tblGrid>
              <a:tr h="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BKK : RNAV SID (NADP 1) TA 11000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accent4"/>
                          </a:solidFill>
                        </a:rPr>
                        <a:t>A-CDM REQ Pushback +-5min of TSAT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accent4"/>
                          </a:solidFill>
                        </a:rPr>
                        <a:t>TSAT/CTOT Inform to GND CTL </a:t>
                      </a:r>
                    </a:p>
                  </a:txBody>
                  <a:tcPr marL="36000" marR="7200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19R</a:t>
                      </a:r>
                      <a:r>
                        <a:rPr lang="en-US" sz="800" b="0" u="none" strike="noStrike" cap="none" dirty="0"/>
                        <a:t>/L</a:t>
                      </a:r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algn="ctr"/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UPKUP </a:t>
                      </a:r>
                      <a:r>
                        <a:rPr lang="en-US" sz="800" b="1" u="none" strike="noStrike" cap="none" dirty="0" err="1">
                          <a:solidFill>
                            <a:srgbClr val="0070C0"/>
                          </a:solidFill>
                        </a:rPr>
                        <a:t>xxG</a:t>
                      </a: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/J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195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195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6000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195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01R</a:t>
                      </a:r>
                      <a:r>
                        <a:rPr lang="en-US" sz="800" b="0" u="none" strike="noStrike" cap="none" dirty="0"/>
                        <a:t>/L</a:t>
                      </a:r>
                      <a:endParaRPr sz="800" b="0" u="none" strike="noStrike" cap="none" dirty="0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UPKUP </a:t>
                      </a:r>
                      <a:r>
                        <a:rPr lang="en-US" altLang="ko-Kore-KR" sz="800" b="1" u="none" strike="noStrike" cap="none" dirty="0" err="1">
                          <a:solidFill>
                            <a:srgbClr val="0070C0"/>
                          </a:solidFill>
                        </a:rPr>
                        <a:t>xxK</a:t>
                      </a:r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/H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015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015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6000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015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5700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SVB 111.4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19L 110.5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01L 109.1</a:t>
                      </a:r>
                      <a:endParaRPr kumimoji="0" lang="ko-Kore-KR" altLang="en-US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05R 110.7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19R 109.5</a:t>
                      </a:r>
                      <a:endParaRPr kumimoji="0" lang="ko-Kore-KR" altLang="en-US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23L 111.9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01R 110.1</a:t>
                      </a:r>
                      <a:endParaRPr kumimoji="0" lang="ko-Kore-KR" altLang="en-US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19 108.9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0160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19R(4’)</a:t>
                      </a:r>
                      <a:endParaRPr lang="en-US" sz="800" b="1" u="none" strike="noStrike" cap="none" dirty="0">
                        <a:solidFill>
                          <a:srgbClr val="C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12139</a:t>
                      </a: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</a:t>
                      </a:r>
                      <a:endParaRPr sz="800" b="1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01L(4’)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01600">
                <a:tc v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9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ore-KR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19L (4’)        </a:t>
                      </a: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cs typeface="Calibri"/>
                          <a:sym typeface="Calibri"/>
                        </a:rPr>
                        <a:t>13123’ </a:t>
                      </a: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  <a:latin typeface="Calibri"/>
                          <a:cs typeface="Calibri"/>
                          <a:sym typeface="Calibri"/>
                        </a:rPr>
                        <a:t>No </a:t>
                      </a:r>
                      <a:r>
                        <a:rPr lang="en-US" sz="800" b="1" u="none" strike="noStrike" cap="none" dirty="0" err="1">
                          <a:solidFill>
                            <a:srgbClr val="C00000"/>
                          </a:solidFill>
                          <a:latin typeface="Calibri"/>
                          <a:cs typeface="Calibri"/>
                          <a:sym typeface="Calibri"/>
                        </a:rPr>
                        <a:t>Groov</a:t>
                      </a: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  <a:latin typeface="Calibri"/>
                          <a:cs typeface="Calibri"/>
                          <a:sym typeface="Calibri"/>
                        </a:rPr>
                        <a:t>       </a:t>
                      </a: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cs typeface="Calibri"/>
                          <a:sym typeface="Calibri"/>
                        </a:rPr>
                        <a:t>01R(4’)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800" b="1" u="none" strike="noStrike" cap="none" dirty="0">
                        <a:solidFill>
                          <a:srgbClr val="C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01R(4’)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44693353"/>
                  </a:ext>
                </a:extLst>
              </a:tr>
              <a:tr h="115700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u="none" strike="noStrike" cap="none" dirty="0">
                          <a:solidFill>
                            <a:schemeClr val="tx1"/>
                          </a:solidFill>
                        </a:rPr>
                        <a:t>APU Start within 10min, Standard TAXI Route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19R Do not Pass E1, D2</a:t>
                      </a: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6" name="Google Shape;119;p3">
            <a:extLst>
              <a:ext uri="{FF2B5EF4-FFF2-40B4-BE49-F238E27FC236}">
                <a16:creationId xmlns:a16="http://schemas.microsoft.com/office/drawing/2014/main" id="{9324F2DF-C628-CA2F-3D82-2A8B1E34FA1F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066198250"/>
              </p:ext>
            </p:extLst>
          </p:nvPr>
        </p:nvGraphicFramePr>
        <p:xfrm>
          <a:off x="-2501" y="16504"/>
          <a:ext cx="2328850" cy="62454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VTBS(BKK) 4ft</a:t>
                      </a:r>
                      <a:endParaRPr lang="en-US" altLang="ko-Kore-KR" sz="1300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RKPK(PUS) 13ft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KE Bangkok 131.25</a:t>
                      </a:r>
                      <a:endParaRPr sz="1200"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700" dirty="0">
                          <a:solidFill>
                            <a:srgbClr val="FF0000"/>
                          </a:solidFill>
                        </a:rPr>
                        <a:t>DCL -20min, Voice 133.8</a:t>
                      </a:r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</a:t>
                      </a:r>
                      <a:r>
                        <a:rPr lang="en-US" sz="900" dirty="0" err="1"/>
                        <a:t>Gimhae</a:t>
                      </a:r>
                      <a:endParaRPr lang="en-US" sz="900"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 129.2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33F13AC3-0D74-CEBB-7100-2629A32A1FE4}"/>
              </a:ext>
            </a:extLst>
          </p:cNvPr>
          <p:cNvSpPr/>
          <p:nvPr/>
        </p:nvSpPr>
        <p:spPr>
          <a:xfrm>
            <a:off x="1469976" y="3084579"/>
            <a:ext cx="910408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7030A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SE Asia</a:t>
            </a:r>
            <a:endParaRPr lang="en-US" altLang="ko-KR" sz="1800" b="1" cap="none" spc="0" dirty="0">
              <a:ln w="0"/>
              <a:solidFill>
                <a:srgbClr val="7030A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6C9523CA-AC93-469E-02C8-A31FDF3992F7}"/>
              </a:ext>
            </a:extLst>
          </p:cNvPr>
          <p:cNvSpPr/>
          <p:nvPr/>
        </p:nvSpPr>
        <p:spPr>
          <a:xfrm>
            <a:off x="912590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84A1E97-A30C-EFBD-8019-7DCE7F1ED4CC}"/>
              </a:ext>
            </a:extLst>
          </p:cNvPr>
          <p:cNvSpPr txBox="1"/>
          <p:nvPr/>
        </p:nvSpPr>
        <p:spPr>
          <a:xfrm>
            <a:off x="48383" y="2534703"/>
            <a:ext cx="1987724" cy="944361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119.25 </a:t>
            </a:r>
            <a:r>
              <a:rPr kumimoji="1" lang="en-US" altLang="ko-Kore-KR" sz="700" b="1" u="sng" dirty="0">
                <a:solidFill>
                  <a:srgbClr val="C0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(AUTO) 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 </a:t>
            </a:r>
            <a:r>
              <a:rPr kumimoji="1" lang="en-US" altLang="ko-Kore-KR" sz="700" b="1" u="sng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BKK 133.1 – VIE 128.3</a:t>
            </a:r>
            <a:endParaRPr kumimoji="1" lang="en-US" altLang="ko-Kore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HNI 123.3 - SNY 122.6 – HKG 127.1 – 125.35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TPE 129.1(126.7, 127.9) – 125.5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FUK 127.5 </a:t>
            </a:r>
            <a:r>
              <a:rPr kumimoji="1" lang="en-US" altLang="ko-KR" sz="700" b="1" u="sng" dirty="0">
                <a:solidFill>
                  <a:srgbClr val="C0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(SENKA /20)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ICN 125.725(124.52) – 128.17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APP 125.5</a:t>
            </a:r>
            <a:endParaRPr kumimoji="1" lang="ko-Kore-KR" altLang="en-US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graphicFrame>
        <p:nvGraphicFramePr>
          <p:cNvPr id="9" name="Google Shape;137;p4">
            <a:extLst>
              <a:ext uri="{FF2B5EF4-FFF2-40B4-BE49-F238E27FC236}">
                <a16:creationId xmlns:a16="http://schemas.microsoft.com/office/drawing/2014/main" id="{DB02378F-05ED-DDF1-8735-FC7557702C54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763007963"/>
              </p:ext>
            </p:extLst>
          </p:nvPr>
        </p:nvGraphicFramePr>
        <p:xfrm>
          <a:off x="-3340" y="3767489"/>
          <a:ext cx="2339140" cy="174265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9386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1251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6013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7262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146675">
                <a:tc gridSpan="4"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PUS : STAR </a:t>
                      </a:r>
                      <a:r>
                        <a:rPr lang="en-US" sz="800" dirty="0">
                          <a:solidFill>
                            <a:srgbClr val="FFC000"/>
                          </a:solidFill>
                        </a:rPr>
                        <a:t>(Tail Wind 36R 136000lbs F40)</a:t>
                      </a:r>
                      <a:endParaRPr sz="800" dirty="0">
                        <a:solidFill>
                          <a:srgbClr val="FFC000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3332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KEVOX x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dirty="0"/>
                        <a:t>ANROD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>
                          <a:solidFill>
                            <a:schemeClr val="dk1"/>
                          </a:solidFill>
                        </a:rPr>
                        <a:t>9DME LG, 8DME FLAP</a:t>
                      </a:r>
                      <a:endParaRPr sz="800" b="0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3332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VOR 18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GAYHA x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ANROD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rgbClr val="C00000"/>
                          </a:solidFill>
                          <a:hlinkClick r:id="rId7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18 Circling Click!!</a:t>
                      </a:r>
                      <a:endParaRPr lang="en-US" altLang="ko-Kore-KR"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712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36L(13’) 10499’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36R(8’) 8999’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18R(13’) 8530’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18L(13’) 8999’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FIX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dirty="0">
                          <a:solidFill>
                            <a:schemeClr val="dk1"/>
                          </a:solidFill>
                        </a:rPr>
                        <a:t>36 : IKMA/IKHE /9, /8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>
                          <a:solidFill>
                            <a:schemeClr val="dk1"/>
                          </a:solidFill>
                        </a:rPr>
                        <a:t>18 : KMH R283, R280</a:t>
                      </a:r>
                      <a:endParaRPr sz="800" b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20050">
                <a:tc gridSpan="4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tx1"/>
                          </a:solidFill>
                        </a:rPr>
                        <a:t>36L : </a:t>
                      </a:r>
                      <a:r>
                        <a:rPr lang="en-US" sz="800" b="1" dirty="0">
                          <a:solidFill>
                            <a:srgbClr val="FF0000"/>
                          </a:solidFill>
                        </a:rPr>
                        <a:t>C4 (6299’), 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C2(7795’) / 36R : E3(5866’), E2(7339’)</a:t>
                      </a:r>
                      <a:endParaRPr dirty="0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18R : C6(5770’), C7 (6824’) / 18L : E4(5882’), E5(8792’)</a:t>
                      </a:r>
                      <a:endParaRPr sz="800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2005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Vacate </a:t>
                      </a: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C3,C4 </a:t>
                      </a:r>
                      <a:r>
                        <a:rPr lang="en-US" sz="800" dirty="0"/>
                        <a:t>by ATC only. Max Taxi SPD 20KTS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C2 HOLD SHORT </a:t>
                      </a:r>
                      <a:r>
                        <a:rPr lang="en-US" sz="800" dirty="0" err="1"/>
                        <a:t>가까움</a:t>
                      </a:r>
                      <a:r>
                        <a:rPr lang="en-US" sz="800" dirty="0"/>
                        <a:t>(Vacate </a:t>
                      </a:r>
                      <a:r>
                        <a:rPr lang="en-US" sz="800" dirty="0" err="1"/>
                        <a:t>TaxiSPD</a:t>
                      </a:r>
                      <a:r>
                        <a:rPr lang="en-US" sz="800" dirty="0"/>
                        <a:t>)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27143895"/>
      </p:ext>
    </p:extLst>
  </p:cSld>
  <p:clrMapOvr>
    <a:masterClrMapping/>
  </p:clrMapOvr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02" name="Google Shape;402;p31"/>
          <p:cNvGraphicFramePr/>
          <p:nvPr>
            <p:extLst>
              <p:ext uri="{D42A27DB-BD31-4B8C-83A1-F6EECF244321}">
                <p14:modId xmlns:p14="http://schemas.microsoft.com/office/powerpoint/2010/main" val="3959424697"/>
              </p:ext>
            </p:extLst>
          </p:nvPr>
        </p:nvGraphicFramePr>
        <p:xfrm>
          <a:off x="0" y="0"/>
          <a:ext cx="2328875" cy="184248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3288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226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dirty="0">
                          <a:solidFill>
                            <a:srgbClr val="FFC000"/>
                          </a:solidFill>
                          <a:latin typeface="+mn-lt"/>
                        </a:rPr>
                        <a:t>CRZ FUEL Penalty </a:t>
                      </a:r>
                      <a:r>
                        <a:rPr lang="en-US" sz="1000" dirty="0">
                          <a:latin typeface="+mn-lt"/>
                        </a:rPr>
                        <a:t>(Approximation)</a:t>
                      </a:r>
                      <a:endParaRPr sz="1000" dirty="0">
                        <a:solidFill>
                          <a:srgbClr val="C00000"/>
                        </a:solidFill>
                        <a:latin typeface="+mn-lt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4363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ISA+10℃ : 1% increase trip fuel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2000ft above/below OPT ALT : 1~2% increase trip fuel</a:t>
                      </a: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2985261219"/>
                  </a:ext>
                </a:extLst>
              </a:tr>
              <a:tr h="214363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000" b="1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Arial"/>
                        </a:rPr>
                        <a:t>NG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900" b="0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Arial"/>
                        </a:rPr>
                        <a:t>400</a:t>
                      </a:r>
                      <a:r>
                        <a:rPr lang="en-US" altLang="ko-KR" sz="900" b="0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Arial"/>
                        </a:rPr>
                        <a:t>0ft below OPT ALT : 3~5% increase trip fuel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900" b="0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Arial"/>
                        </a:rPr>
                        <a:t>8000</a:t>
                      </a:r>
                      <a:r>
                        <a:rPr lang="en-US" altLang="ko-KR" sz="900" b="0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Arial"/>
                        </a:rPr>
                        <a:t>ft below OPT ALT : 8~14% increase trip fuel</a:t>
                      </a: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4363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000" b="1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Arial"/>
                        </a:rPr>
                        <a:t>-8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900" b="0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Arial"/>
                        </a:rPr>
                        <a:t>4000ft below OPT ALT : 2% increase in trip fuel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900" b="0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Arial"/>
                        </a:rPr>
                        <a:t>8000</a:t>
                      </a:r>
                      <a:r>
                        <a:rPr lang="en-US" altLang="ko-KR" sz="900" b="0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Arial"/>
                        </a:rPr>
                        <a:t>ft below OPT ALT : 7% increase in trip fuel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900" b="0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Arial"/>
                        </a:rPr>
                        <a:t>0.01M above LRC : 1~2% increase in trip fuel</a:t>
                      </a: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4015474656"/>
                  </a:ext>
                </a:extLst>
              </a:tr>
            </a:tbl>
          </a:graphicData>
        </a:graphic>
      </p:graphicFrame>
      <p:sp>
        <p:nvSpPr>
          <p:cNvPr id="3" name="직사각형 2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3C10DF26-E717-6E81-27C6-F6B26E149BB6}"/>
              </a:ext>
            </a:extLst>
          </p:cNvPr>
          <p:cNvSpPr/>
          <p:nvPr/>
        </p:nvSpPr>
        <p:spPr>
          <a:xfrm>
            <a:off x="847353" y="5193196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" action="ppaction://hlinkshowjump?jump=firstslide"/>
              </a:rPr>
              <a:t>Home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graphicFrame>
        <p:nvGraphicFramePr>
          <p:cNvPr id="2" name="Google Shape;402;p31">
            <a:extLst>
              <a:ext uri="{FF2B5EF4-FFF2-40B4-BE49-F238E27FC236}">
                <a16:creationId xmlns:a16="http://schemas.microsoft.com/office/drawing/2014/main" id="{8C1A594E-6DAE-98B3-E918-E5F0370C4B3C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167045316"/>
              </p:ext>
            </p:extLst>
          </p:nvPr>
        </p:nvGraphicFramePr>
        <p:xfrm>
          <a:off x="1933" y="1830722"/>
          <a:ext cx="2328875" cy="208212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3288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226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dirty="0">
                          <a:solidFill>
                            <a:srgbClr val="FFC000"/>
                          </a:solidFill>
                          <a:latin typeface="+mn-lt"/>
                        </a:rPr>
                        <a:t>FUEL Consumption</a:t>
                      </a:r>
                      <a:endParaRPr sz="1000" dirty="0">
                        <a:solidFill>
                          <a:srgbClr val="FFC000"/>
                        </a:solidFill>
                        <a:latin typeface="+mn-lt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4363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APU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GND : 270LBS/</a:t>
                      </a:r>
                      <a:r>
                        <a:rPr lang="en-US" sz="900" b="0" dirty="0" err="1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hr</a:t>
                      </a:r>
                      <a:endParaRPr lang="en-US" sz="900" b="0" dirty="0">
                        <a:solidFill>
                          <a:srgbClr val="0070C0"/>
                        </a:solidFill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IN FLT : 180LBS/</a:t>
                      </a:r>
                      <a:r>
                        <a:rPr lang="en-US" sz="900" b="0" dirty="0" err="1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hr</a:t>
                      </a:r>
                      <a:endParaRPr lang="en-US" sz="900" b="0" dirty="0">
                        <a:solidFill>
                          <a:srgbClr val="0070C0"/>
                        </a:solidFill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2985261219"/>
                  </a:ext>
                </a:extLst>
              </a:tr>
              <a:tr h="214363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000" b="1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Arial"/>
                        </a:rPr>
                        <a:t>TAXI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900" b="0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Arial"/>
                        </a:rPr>
                        <a:t>2 ENG, no APU : 1500LBS/</a:t>
                      </a:r>
                      <a:r>
                        <a:rPr lang="en-US" altLang="ko-Kore-KR" sz="900" b="0" i="0" u="none" strike="noStrike" cap="none" dirty="0" err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Arial"/>
                        </a:rPr>
                        <a:t>hr</a:t>
                      </a:r>
                      <a:r>
                        <a:rPr lang="en-US" altLang="ko-Kore-KR" sz="900" b="0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Arial"/>
                        </a:rPr>
                        <a:t> (400LBS 16</a:t>
                      </a:r>
                      <a:r>
                        <a:rPr lang="ko-KR" altLang="en-US" sz="900" b="0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Arial"/>
                        </a:rPr>
                        <a:t>분 연료</a:t>
                      </a:r>
                      <a:r>
                        <a:rPr lang="en-US" altLang="ko-KR" sz="900" b="0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Arial"/>
                        </a:rPr>
                        <a:t>)</a:t>
                      </a: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4363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000" b="1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Arial"/>
                        </a:rPr>
                        <a:t>CRZ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900" b="0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Arial"/>
                        </a:rPr>
                        <a:t>1</a:t>
                      </a:r>
                      <a:r>
                        <a:rPr lang="ko-KR" altLang="en-US" sz="900" b="0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Arial"/>
                        </a:rPr>
                        <a:t>시간당 </a:t>
                      </a:r>
                      <a:r>
                        <a:rPr lang="en-US" altLang="ko-KR" sz="900" b="0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Arial"/>
                        </a:rPr>
                        <a:t>750ft </a:t>
                      </a:r>
                      <a:r>
                        <a:rPr lang="ko-KR" altLang="en-US" sz="900" b="0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Arial"/>
                        </a:rPr>
                        <a:t>상승가능</a:t>
                      </a:r>
                      <a:endParaRPr lang="en-US" altLang="ko-Kore-KR" sz="900" b="0" i="0" u="none" strike="noStrike" cap="none" dirty="0">
                        <a:solidFill>
                          <a:srgbClr val="0070C0"/>
                        </a:solidFill>
                        <a:latin typeface="Calibri"/>
                        <a:ea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4015474656"/>
                  </a:ext>
                </a:extLst>
              </a:tr>
              <a:tr h="214363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000" b="1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Arial"/>
                        </a:rPr>
                        <a:t>Holding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900" b="0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Arial"/>
                        </a:rPr>
                        <a:t>분당 </a:t>
                      </a:r>
                      <a:r>
                        <a:rPr lang="en-US" altLang="ko-KR" sz="900" b="0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Arial"/>
                        </a:rPr>
                        <a:t>100LBS (4000LBS</a:t>
                      </a:r>
                      <a:r>
                        <a:rPr lang="ko-KR" altLang="en-US" sz="900" b="0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Arial"/>
                        </a:rPr>
                        <a:t>는 </a:t>
                      </a:r>
                      <a:r>
                        <a:rPr lang="en-US" altLang="ko-KR" sz="900" b="0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Arial"/>
                        </a:rPr>
                        <a:t>40</a:t>
                      </a:r>
                      <a:r>
                        <a:rPr lang="ko-KR" altLang="en-US" sz="900" b="0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Arial"/>
                        </a:rPr>
                        <a:t>분 </a:t>
                      </a:r>
                      <a:r>
                        <a:rPr lang="en-US" altLang="ko-KR" sz="900" b="0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Arial"/>
                        </a:rPr>
                        <a:t>Holding</a:t>
                      </a:r>
                      <a:r>
                        <a:rPr lang="ko-KR" altLang="en-US" sz="900" b="0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Arial"/>
                        </a:rPr>
                        <a:t>가능</a:t>
                      </a:r>
                      <a:r>
                        <a:rPr lang="en-US" altLang="ko-KR" sz="900" b="0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Arial"/>
                        </a:rPr>
                        <a:t>)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10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Arial"/>
                        </a:rPr>
                        <a:t>Missed App </a:t>
                      </a:r>
                      <a:r>
                        <a:rPr kumimoji="0" lang="en-US" altLang="ko-KR" sz="10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Arial"/>
                        </a:rPr>
                        <a:t>&amp;</a:t>
                      </a:r>
                      <a:r>
                        <a:rPr kumimoji="0" lang="ko-KR" altLang="en-US" sz="10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Arial"/>
                        </a:rPr>
                        <a:t> </a:t>
                      </a:r>
                      <a:r>
                        <a:rPr kumimoji="0" lang="en-US" altLang="ko-KR" sz="10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Arial"/>
                        </a:rPr>
                        <a:t>Landing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R" sz="9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Arial"/>
                        </a:rPr>
                        <a:t>1200LBS (</a:t>
                      </a:r>
                      <a:r>
                        <a:rPr kumimoji="0" lang="ko-KR" altLang="en-US" sz="9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Arial"/>
                        </a:rPr>
                        <a:t>과거 </a:t>
                      </a:r>
                      <a:r>
                        <a:rPr kumimoji="0" lang="en-US" altLang="ko-KR" sz="9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Arial"/>
                        </a:rPr>
                        <a:t>EDTO</a:t>
                      </a:r>
                      <a:r>
                        <a:rPr kumimoji="0" lang="ko-KR" altLang="en-US" sz="9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Arial"/>
                        </a:rPr>
                        <a:t>자료</a:t>
                      </a:r>
                      <a:r>
                        <a:rPr kumimoji="0" lang="en-US" altLang="ko-KR" sz="9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Arial"/>
                        </a:rPr>
                        <a:t>)</a:t>
                      </a:r>
                      <a:r>
                        <a:rPr kumimoji="0" lang="ko-KR" altLang="en-US" sz="9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Arial"/>
                        </a:rPr>
                        <a:t> </a:t>
                      </a:r>
                      <a:r>
                        <a:rPr kumimoji="0" lang="en-US" altLang="ko-KR" sz="9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Arial"/>
                        </a:rPr>
                        <a:t>1500LBS</a:t>
                      </a:r>
                      <a:r>
                        <a:rPr kumimoji="0" lang="ko-KR" altLang="en-US" sz="9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Arial"/>
                        </a:rPr>
                        <a:t>이상 적용</a:t>
                      </a:r>
                      <a:endParaRPr kumimoji="0" lang="en-US" altLang="ko-KR" sz="9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70C0"/>
                        </a:solidFill>
                        <a:effectLst/>
                        <a:uLnTx/>
                        <a:uFillTx/>
                        <a:latin typeface="Calibri"/>
                        <a:ea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3077422953"/>
                  </a:ext>
                </a:extLst>
              </a:tr>
            </a:tbl>
          </a:graphicData>
        </a:graphic>
      </p:graphicFrame>
      <p:graphicFrame>
        <p:nvGraphicFramePr>
          <p:cNvPr id="5" name="Google Shape;402;p31">
            <a:extLst>
              <a:ext uri="{FF2B5EF4-FFF2-40B4-BE49-F238E27FC236}">
                <a16:creationId xmlns:a16="http://schemas.microsoft.com/office/drawing/2014/main" id="{CC58B19C-6D0D-9F37-979E-48EB84619961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272519374"/>
              </p:ext>
            </p:extLst>
          </p:nvPr>
        </p:nvGraphicFramePr>
        <p:xfrm>
          <a:off x="3864" y="3904509"/>
          <a:ext cx="2328875" cy="1303828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3288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226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dirty="0">
                          <a:solidFill>
                            <a:srgbClr val="FFC000"/>
                          </a:solidFill>
                          <a:latin typeface="+mn-lt"/>
                          <a:ea typeface="+mn-ea"/>
                          <a:cs typeface="Calibri" panose="020F0502020204030204" pitchFamily="34" charset="0"/>
                        </a:rPr>
                        <a:t>FUEL Loading</a:t>
                      </a:r>
                      <a:endParaRPr sz="1000" dirty="0">
                        <a:solidFill>
                          <a:srgbClr val="FFC000"/>
                        </a:solidFill>
                        <a:latin typeface="+mn-lt"/>
                        <a:ea typeface="+mn-ea"/>
                        <a:cs typeface="Calibri" panose="020F0502020204030204" pitchFamily="34" charset="0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4363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Center Tank 1000LBS </a:t>
                      </a:r>
                      <a:r>
                        <a:rPr lang="ko-KR" altLang="en-US" sz="900" b="0" dirty="0" err="1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이상시</a:t>
                      </a:r>
                      <a:r>
                        <a:rPr lang="ko-KR" altLang="en-US" sz="900" b="0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altLang="ko-KR" sz="900" b="0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Main Tank FULL FUEL Overfill : 1000LBS</a:t>
                      </a:r>
                      <a:r>
                        <a:rPr lang="ko-KR" altLang="en-US" sz="900" b="0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기준</a:t>
                      </a:r>
                      <a:endParaRPr lang="en-US" altLang="ko-KR" sz="900" b="0" dirty="0">
                        <a:solidFill>
                          <a:srgbClr val="0070C0"/>
                        </a:solidFill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900" b="0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-</a:t>
                      </a:r>
                      <a:r>
                        <a:rPr lang="ko-KR" altLang="en-US" sz="900" b="0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altLang="ko-KR" sz="900" b="0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8</a:t>
                      </a:r>
                      <a:r>
                        <a:rPr lang="ko-KR" altLang="en-US" sz="900" b="0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altLang="ko-KR" sz="900" b="0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: CTR fuel 1000~2000LBS T/O</a:t>
                      </a:r>
                      <a:r>
                        <a:rPr lang="ko-KR" altLang="en-US" sz="900" b="0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시 </a:t>
                      </a:r>
                      <a:r>
                        <a:rPr lang="en-US" altLang="ko-KR" sz="900" b="0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Low Press L/T ON</a:t>
                      </a:r>
                      <a:r>
                        <a:rPr lang="ko-KR" altLang="en-US" sz="900" b="0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altLang="ko-KR" sz="900" b="0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-&gt; </a:t>
                      </a:r>
                      <a:r>
                        <a:rPr lang="en-US" altLang="ko-KR" sz="900" b="1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CTR</a:t>
                      </a:r>
                      <a:r>
                        <a:rPr lang="ko-KR" altLang="en-US" sz="900" b="1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altLang="ko-KR" sz="900" b="1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Fuel </a:t>
                      </a:r>
                      <a:r>
                        <a:rPr lang="ko-KR" altLang="en-US" sz="900" b="1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필요시</a:t>
                      </a:r>
                      <a:r>
                        <a:rPr lang="en-US" altLang="ko-KR" sz="900" b="1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2000LBS</a:t>
                      </a:r>
                      <a:r>
                        <a:rPr lang="ko-KR" altLang="en-US" sz="900" b="1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이상으로 </a:t>
                      </a:r>
                      <a:r>
                        <a:rPr lang="en-US" altLang="ko-KR" sz="900" b="1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Dispatch</a:t>
                      </a: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298526121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80761599"/>
      </p:ext>
    </p:extLst>
  </p:cSld>
  <p:clrMapOvr>
    <a:masterClrMapping/>
  </p:clrMapOvr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02" name="Google Shape;402;p31"/>
          <p:cNvGraphicFramePr/>
          <p:nvPr>
            <p:extLst>
              <p:ext uri="{D42A27DB-BD31-4B8C-83A1-F6EECF244321}">
                <p14:modId xmlns:p14="http://schemas.microsoft.com/office/powerpoint/2010/main" val="2314084060"/>
              </p:ext>
            </p:extLst>
          </p:nvPr>
        </p:nvGraphicFramePr>
        <p:xfrm>
          <a:off x="0" y="0"/>
          <a:ext cx="2328875" cy="5025291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3288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226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dirty="0">
                          <a:latin typeface="+mn-lt"/>
                        </a:rPr>
                        <a:t>NO ENGINE BLEED TAKEOFF </a:t>
                      </a:r>
                      <a:r>
                        <a:rPr lang="en-US" sz="1000" dirty="0">
                          <a:solidFill>
                            <a:srgbClr val="FFC000"/>
                          </a:solidFill>
                          <a:latin typeface="+mn-lt"/>
                        </a:rPr>
                        <a:t>AFTER START</a:t>
                      </a:r>
                      <a:r>
                        <a:rPr lang="en-US" sz="1000" dirty="0">
                          <a:latin typeface="+mn-lt"/>
                        </a:rPr>
                        <a:t> </a:t>
                      </a:r>
                      <a:r>
                        <a:rPr lang="en-US" sz="1000" dirty="0">
                          <a:solidFill>
                            <a:srgbClr val="C00000"/>
                          </a:solidFill>
                          <a:latin typeface="+mn-lt"/>
                        </a:rPr>
                        <a:t>(APU ON)</a:t>
                      </a:r>
                      <a:endParaRPr sz="1000" dirty="0">
                        <a:solidFill>
                          <a:srgbClr val="C00000"/>
                        </a:solidFill>
                        <a:latin typeface="+mn-lt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4363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1" dirty="0">
                          <a:solidFill>
                            <a:srgbClr val="0070C0"/>
                          </a:solidFill>
                          <a:latin typeface="+mn-lt"/>
                        </a:rPr>
                        <a:t>Consideration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700" b="0" dirty="0">
                          <a:solidFill>
                            <a:srgbClr val="0070C0"/>
                          </a:solidFill>
                          <a:latin typeface="+mn-lt"/>
                        </a:rPr>
                        <a:t>-</a:t>
                      </a:r>
                      <a:r>
                        <a:rPr lang="ko-KR" altLang="en-US" sz="700" b="0" dirty="0">
                          <a:solidFill>
                            <a:srgbClr val="0070C0"/>
                          </a:solidFill>
                          <a:latin typeface="+mn-lt"/>
                        </a:rPr>
                        <a:t> </a:t>
                      </a:r>
                      <a:r>
                        <a:rPr lang="en-US" altLang="ko-KR" sz="700" b="0" dirty="0">
                          <a:solidFill>
                            <a:srgbClr val="0070C0"/>
                          </a:solidFill>
                          <a:latin typeface="+mn-lt"/>
                        </a:rPr>
                        <a:t>Max Taxi Weight Check (MTOW+500lbs)</a:t>
                      </a:r>
                      <a:endParaRPr lang="en-US" sz="700" b="0" dirty="0">
                        <a:solidFill>
                          <a:srgbClr val="0070C0"/>
                        </a:solidFill>
                        <a:latin typeface="+mn-lt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700" dirty="0">
                          <a:latin typeface="+mn-lt"/>
                        </a:rPr>
                        <a:t>-</a:t>
                      </a:r>
                      <a:r>
                        <a:rPr lang="ko-KR" altLang="en-US" sz="700" dirty="0">
                          <a:latin typeface="+mn-lt"/>
                        </a:rPr>
                        <a:t> </a:t>
                      </a:r>
                      <a:r>
                        <a:rPr lang="en-US" sz="700" dirty="0">
                          <a:latin typeface="+mn-lt"/>
                        </a:rPr>
                        <a:t>Improved T/O &lt; No Bleed T/O &lt; Improved T/O + No Bleed T/O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700" dirty="0">
                          <a:solidFill>
                            <a:srgbClr val="0070C0"/>
                          </a:solidFill>
                          <a:latin typeface="+mn-lt"/>
                        </a:rPr>
                        <a:t>-</a:t>
                      </a:r>
                      <a:r>
                        <a:rPr lang="ko-KR" altLang="en-US" sz="700" dirty="0">
                          <a:solidFill>
                            <a:srgbClr val="0070C0"/>
                          </a:solidFill>
                          <a:latin typeface="+mn-lt"/>
                        </a:rPr>
                        <a:t> </a:t>
                      </a:r>
                      <a:r>
                        <a:rPr lang="en-US" sz="700" dirty="0">
                          <a:solidFill>
                            <a:srgbClr val="0070C0"/>
                          </a:solidFill>
                          <a:latin typeface="+mn-lt"/>
                        </a:rPr>
                        <a:t>OPT TOW Blank -&gt; </a:t>
                      </a:r>
                      <a:r>
                        <a:rPr lang="en-US" altLang="ko-KR" sz="700" dirty="0">
                          <a:solidFill>
                            <a:srgbClr val="0070C0"/>
                          </a:solidFill>
                          <a:latin typeface="+mn-lt"/>
                        </a:rPr>
                        <a:t>MTOW Check</a:t>
                      </a:r>
                      <a:r>
                        <a:rPr lang="en-US" altLang="ko-KR" sz="700" dirty="0">
                          <a:latin typeface="+mn-lt"/>
                        </a:rPr>
                        <a:t> 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700" dirty="0">
                          <a:latin typeface="+mn-lt"/>
                        </a:rPr>
                        <a:t>-</a:t>
                      </a:r>
                      <a:r>
                        <a:rPr lang="ko-KR" altLang="en-US" sz="700" dirty="0">
                          <a:latin typeface="+mn-lt"/>
                        </a:rPr>
                        <a:t> </a:t>
                      </a:r>
                      <a:r>
                        <a:rPr lang="en-US" altLang="ko-KR" sz="700" dirty="0">
                          <a:latin typeface="+mn-lt"/>
                        </a:rPr>
                        <a:t>ELEC :</a:t>
                      </a:r>
                      <a:r>
                        <a:rPr lang="ko-KR" altLang="en-US" sz="700" dirty="0">
                          <a:latin typeface="+mn-lt"/>
                        </a:rPr>
                        <a:t> </a:t>
                      </a:r>
                      <a:r>
                        <a:rPr lang="en-US" altLang="ko-KR" sz="700" dirty="0">
                          <a:latin typeface="+mn-lt"/>
                        </a:rPr>
                        <a:t>ENG GEN, BLEED : APU BLEED </a:t>
                      </a:r>
                      <a:r>
                        <a:rPr lang="en-US" altLang="ko-KR" sz="700" dirty="0">
                          <a:solidFill>
                            <a:srgbClr val="C00000"/>
                          </a:solidFill>
                          <a:latin typeface="+mn-lt"/>
                        </a:rPr>
                        <a:t>(Max 17000ft)</a:t>
                      </a:r>
                      <a:endParaRPr sz="700" dirty="0">
                        <a:solidFill>
                          <a:srgbClr val="C00000"/>
                        </a:solidFill>
                        <a:latin typeface="+mn-lt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2985261219"/>
                  </a:ext>
                </a:extLst>
              </a:tr>
              <a:tr h="214363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dirty="0">
                          <a:latin typeface="+mn-lt"/>
                        </a:rPr>
                        <a:t>Anti-ice </a:t>
                      </a:r>
                      <a:r>
                        <a:rPr lang="ko-KR" altLang="en-US" sz="700" dirty="0">
                          <a:latin typeface="+mn-lt"/>
                        </a:rPr>
                        <a:t>필요시 </a:t>
                      </a:r>
                      <a:r>
                        <a:rPr lang="ko-KR" altLang="en-US" sz="700" dirty="0" err="1">
                          <a:latin typeface="+mn-lt"/>
                        </a:rPr>
                        <a:t>이륙전</a:t>
                      </a:r>
                      <a:r>
                        <a:rPr lang="ko-KR" altLang="en-US" sz="700" dirty="0">
                          <a:latin typeface="+mn-lt"/>
                        </a:rPr>
                        <a:t> 수행</a:t>
                      </a:r>
                      <a:r>
                        <a:rPr lang="en-US" altLang="ko-KR" sz="700" dirty="0">
                          <a:latin typeface="+mn-lt"/>
                        </a:rPr>
                        <a:t>,</a:t>
                      </a:r>
                      <a:r>
                        <a:rPr lang="ko-KR" altLang="en-US" sz="700" dirty="0">
                          <a:latin typeface="+mn-lt"/>
                        </a:rPr>
                        <a:t> 불필요시 </a:t>
                      </a:r>
                      <a:r>
                        <a:rPr lang="ko-KR" altLang="en-US" sz="700" dirty="0" err="1">
                          <a:latin typeface="+mn-lt"/>
                        </a:rPr>
                        <a:t>시동후</a:t>
                      </a:r>
                      <a:r>
                        <a:rPr lang="ko-KR" altLang="en-US" sz="700" dirty="0">
                          <a:latin typeface="+mn-lt"/>
                        </a:rPr>
                        <a:t> 수행</a:t>
                      </a:r>
                      <a:endParaRPr lang="en-US" altLang="ko-KR" sz="700" dirty="0">
                        <a:solidFill>
                          <a:srgbClr val="0070C0"/>
                        </a:solidFill>
                        <a:latin typeface="+mn-lt"/>
                      </a:endParaRP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+mn-lt"/>
                        </a:rPr>
                        <a:t>BLUE(S/W CHG)</a:t>
                      </a:r>
                      <a:r>
                        <a:rPr lang="en-US" sz="800" b="1" dirty="0">
                          <a:latin typeface="+mn-lt"/>
                        </a:rPr>
                        <a:t>,</a:t>
                      </a:r>
                      <a:r>
                        <a:rPr lang="en-US" sz="800" dirty="0">
                          <a:latin typeface="+mn-lt"/>
                        </a:rPr>
                        <a:t>  </a:t>
                      </a:r>
                      <a:r>
                        <a:rPr lang="en-US" sz="800" b="1" dirty="0">
                          <a:latin typeface="+mn-lt"/>
                        </a:rPr>
                        <a:t>BLACK(S/W NO CHG)</a:t>
                      </a:r>
                      <a:r>
                        <a:rPr lang="en-US" sz="800" dirty="0">
                          <a:latin typeface="+mn-lt"/>
                        </a:rPr>
                        <a:t> </a:t>
                      </a:r>
                      <a:endParaRPr sz="800" dirty="0">
                        <a:latin typeface="+mn-lt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1" dirty="0">
                          <a:solidFill>
                            <a:srgbClr val="AA47F5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Stabilized - </a:t>
                      </a:r>
                      <a:r>
                        <a:rPr 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AFTER START Flow 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GEN</a:t>
                      </a:r>
                      <a:r>
                        <a:rPr lang="en-US" altLang="ko-KR" sz="9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s</a:t>
                      </a:r>
                      <a:r>
                        <a:rPr lang="en-US" sz="9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on BUS, Prob Heats ON </a:t>
                      </a:r>
                      <a:r>
                        <a:rPr lang="ko-KR" altLang="en-US" sz="9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이후 수행</a:t>
                      </a:r>
                      <a:endParaRPr lang="en-US" sz="900" b="1" dirty="0">
                        <a:solidFill>
                          <a:schemeClr val="tx1"/>
                        </a:solidFill>
                        <a:latin typeface="+mn-lt"/>
                        <a:ea typeface="Helvetica Neue"/>
                        <a:cs typeface="Helvetica Neue"/>
                        <a:sym typeface="Helvetica Neue"/>
                      </a:endParaRP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Right PACK switch . . . . . . . . . . . . .</a:t>
                      </a:r>
                      <a:r>
                        <a:rPr lang="ko-KR" alt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AUTO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ISOLATION VALVE switch  . .</a:t>
                      </a:r>
                      <a:r>
                        <a:rPr lang="ko-KR" alt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. . . . CLOSE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Left PACK switch . . . . . . . . . . . . . . </a:t>
                      </a:r>
                      <a:r>
                        <a:rPr lang="ko-KR" alt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AUTO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Engine No. 1 BLEED air switch . . . . . OFF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APU BLEED air switch . . . . . . . . . . . . . ON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Engine No. 2 BLEED air switch . . . . . OFF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Trim Air Switch . . . . . . . . . . . . . . . . . . </a:t>
                      </a:r>
                      <a:r>
                        <a:rPr lang="ko-KR" altLang="en-US" sz="900" b="1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 </a:t>
                      </a:r>
                      <a:r>
                        <a:rPr lang="en-US" sz="900" b="1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ON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WING ANTI-ICE switch . . . . . . . . . . .</a:t>
                      </a:r>
                      <a:r>
                        <a:rPr lang="ko-KR" altLang="en-US" sz="900" b="1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900" b="1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OFF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(ENG BLEED ON &amp; ISOL V/V AUTO</a:t>
                      </a:r>
                      <a:r>
                        <a:rPr lang="ko-KR" altLang="en-US" sz="800" b="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까지 </a:t>
                      </a:r>
                      <a:r>
                        <a:rPr lang="en-US" altLang="ko-KR" sz="800" b="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OFF)</a:t>
                      </a:r>
                      <a:endParaRPr lang="en-US" sz="900" b="1" dirty="0">
                        <a:latin typeface="+mn-lt"/>
                        <a:ea typeface="Helvetica Neue"/>
                        <a:cs typeface="Helvetica Neue"/>
                        <a:sym typeface="Helvetica Neue"/>
                      </a:endParaRP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Bleed Air DUCT PRESS indicator .  Check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uLnTx/>
                          <a:uFillTx/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Ensure that </a:t>
                      </a:r>
                      <a:r>
                        <a:rPr kumimoji="0" lang="en-US" altLang="ko-Kore-KR" sz="800" b="1" i="0" u="none" strike="noStrike" kern="0" cap="none" spc="0" normalizeH="0" baseline="0" noProof="0" dirty="0" err="1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uLnTx/>
                          <a:uFillTx/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eng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uLnTx/>
                          <a:uFillTx/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bleed air supplies the packs.</a:t>
                      </a:r>
                      <a:endParaRPr lang="en-US" sz="900" b="1" dirty="0">
                        <a:solidFill>
                          <a:srgbClr val="00B050"/>
                        </a:solidFill>
                        <a:latin typeface="+mn-lt"/>
                        <a:ea typeface="Helvetica Neue"/>
                        <a:cs typeface="Helvetica Neue"/>
                        <a:sym typeface="Helvetica Neue"/>
                      </a:endParaRP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dirty="0">
                          <a:solidFill>
                            <a:srgbClr val="C00000"/>
                          </a:solidFill>
                          <a:latin typeface="+mn-lt"/>
                          <a:cs typeface="Helvetica Neue"/>
                          <a:sym typeface="Helvetica Neue"/>
                        </a:rPr>
                        <a:t>APU Remain – ON (OFF </a:t>
                      </a:r>
                      <a:r>
                        <a:rPr lang="ko-KR" altLang="en-US" sz="800" b="1" dirty="0">
                          <a:solidFill>
                            <a:srgbClr val="C00000"/>
                          </a:solidFill>
                          <a:latin typeface="+mn-lt"/>
                          <a:cs typeface="Helvetica Neue"/>
                          <a:sym typeface="Helvetica Neue"/>
                        </a:rPr>
                        <a:t>주의</a:t>
                      </a:r>
                      <a:r>
                        <a:rPr lang="en-US" altLang="ko-KR" sz="800" b="1" dirty="0">
                          <a:solidFill>
                            <a:srgbClr val="C00000"/>
                          </a:solidFill>
                          <a:latin typeface="+mn-lt"/>
                          <a:cs typeface="Helvetica Neue"/>
                          <a:sym typeface="Helvetica Neue"/>
                        </a:rPr>
                        <a:t>)</a:t>
                      </a:r>
                      <a:endParaRPr lang="en-US" sz="800" b="1" dirty="0">
                        <a:solidFill>
                          <a:srgbClr val="C00000"/>
                        </a:solidFill>
                        <a:latin typeface="+mn-lt"/>
                        <a:cs typeface="Helvetica Neue"/>
                        <a:sym typeface="Helvetica Neue"/>
                      </a:endParaRP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  <a:latin typeface="+mn-lt"/>
                          <a:cs typeface="Helvetica Neue"/>
                          <a:sym typeface="Helvetica Neue"/>
                        </a:rPr>
                        <a:t>RECALL CHK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  <a:latin typeface="+mn-lt"/>
                          <a:cs typeface="Helvetica Neue"/>
                          <a:sym typeface="Helvetica Neue"/>
                        </a:rPr>
                        <a:t>AFTER START CHECK LIST</a:t>
                      </a:r>
                      <a:endParaRPr sz="14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3" name="직사각형 2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3C10DF26-E717-6E81-27C6-F6B26E149BB6}"/>
              </a:ext>
            </a:extLst>
          </p:cNvPr>
          <p:cNvSpPr/>
          <p:nvPr/>
        </p:nvSpPr>
        <p:spPr>
          <a:xfrm>
            <a:off x="847353" y="522213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" action="ppaction://hlinkshowjump?jump=firstslide"/>
              </a:rPr>
              <a:t>Home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8409F7C-9A34-07D3-B638-05B5A50E1A63}"/>
              </a:ext>
            </a:extLst>
          </p:cNvPr>
          <p:cNvSpPr txBox="1"/>
          <p:nvPr/>
        </p:nvSpPr>
        <p:spPr>
          <a:xfrm>
            <a:off x="1460215" y="5170979"/>
            <a:ext cx="843501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1100" dirty="0">
                <a:solidFill>
                  <a:srgbClr val="C00000"/>
                </a:solidFill>
              </a:rPr>
              <a:t>Continue </a:t>
            </a:r>
          </a:p>
          <a:p>
            <a:r>
              <a:rPr kumimoji="1" lang="en-US" altLang="ko-Kore-KR" sz="1100" dirty="0">
                <a:solidFill>
                  <a:srgbClr val="C00000"/>
                </a:solidFill>
              </a:rPr>
              <a:t>Next Page</a:t>
            </a:r>
            <a:endParaRPr kumimoji="1" lang="ko-Kore-KR" altLang="en-US" sz="1100" dirty="0">
              <a:solidFill>
                <a:srgbClr val="C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83982406"/>
      </p:ext>
    </p:extLst>
  </p:cSld>
  <p:clrMapOvr>
    <a:masterClrMapping/>
  </p:clrMapOvr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02" name="Google Shape;402;p31"/>
          <p:cNvGraphicFramePr/>
          <p:nvPr>
            <p:extLst>
              <p:ext uri="{D42A27DB-BD31-4B8C-83A1-F6EECF244321}">
                <p14:modId xmlns:p14="http://schemas.microsoft.com/office/powerpoint/2010/main" val="1645659515"/>
              </p:ext>
            </p:extLst>
          </p:nvPr>
        </p:nvGraphicFramePr>
        <p:xfrm>
          <a:off x="0" y="2511642"/>
          <a:ext cx="2328875" cy="2696174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3288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67136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dirty="0">
                          <a:latin typeface="+mn-lt"/>
                        </a:rPr>
                        <a:t>NO ENGINE BLEED </a:t>
                      </a:r>
                      <a:r>
                        <a:rPr lang="en-US" sz="1000" dirty="0">
                          <a:solidFill>
                            <a:srgbClr val="FFC000"/>
                          </a:solidFill>
                          <a:latin typeface="+mn-lt"/>
                        </a:rPr>
                        <a:t>LANDING</a:t>
                      </a:r>
                      <a:endParaRPr sz="1000" dirty="0">
                        <a:solidFill>
                          <a:srgbClr val="FFC000"/>
                        </a:solidFill>
                        <a:latin typeface="+mn-lt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49506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dirty="0">
                          <a:latin typeface="+mn-lt"/>
                        </a:rPr>
                        <a:t>GA Thrust </a:t>
                      </a:r>
                      <a:r>
                        <a:rPr lang="ko-KR" altLang="en-US" sz="700" dirty="0">
                          <a:latin typeface="+mn-lt"/>
                        </a:rPr>
                        <a:t>추가 필요시 </a:t>
                      </a:r>
                      <a:r>
                        <a:rPr lang="en-US" altLang="ko-KR" sz="700" b="1" dirty="0">
                          <a:solidFill>
                            <a:srgbClr val="C00000"/>
                          </a:solidFill>
                          <a:latin typeface="+mn-lt"/>
                        </a:rPr>
                        <a:t>10000ft</a:t>
                      </a:r>
                      <a:r>
                        <a:rPr lang="en-US" altLang="ko-KR" sz="700" dirty="0">
                          <a:latin typeface="+mn-lt"/>
                        </a:rPr>
                        <a:t> </a:t>
                      </a:r>
                      <a:r>
                        <a:rPr lang="ko-KR" altLang="en-US" sz="700" dirty="0">
                          <a:latin typeface="+mn-lt"/>
                        </a:rPr>
                        <a:t>이하에서 수행</a:t>
                      </a:r>
                      <a:endParaRPr sz="700" dirty="0">
                        <a:latin typeface="+mn-lt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5878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FL200</a:t>
                      </a:r>
                      <a:r>
                        <a:rPr lang="en-US" sz="800" b="0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or TOD</a:t>
                      </a:r>
                      <a:r>
                        <a:rPr lang="ko-KR" altLang="en-US" sz="800" b="0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이하 </a:t>
                      </a:r>
                      <a:r>
                        <a:rPr 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APU switch . . . .</a:t>
                      </a:r>
                      <a:r>
                        <a:rPr lang="ko-KR" alt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 </a:t>
                      </a:r>
                      <a:r>
                        <a:rPr 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START</a:t>
                      </a:r>
                      <a:endParaRPr sz="1200" dirty="0">
                        <a:solidFill>
                          <a:srgbClr val="00B050"/>
                        </a:solidFill>
                        <a:latin typeface="+mn-lt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55334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900" b="1" dirty="0">
                          <a:solidFill>
                            <a:srgbClr val="C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When below 10,000 ft: 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9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WING ANTI-ICE switch . . . . . . . . . . .  OFF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9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Right PACK switch . . . . . . . . . . . . .  AUTO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ISOLATION VALVE switch . . . .. .  CLOSE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9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Left PACK switch . . . . . . . . . . . . . .  AUTO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Engine No. 1 BLEED air switch . . . . . OFF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APU BLEED air switch . . . . . . . . . . . . . ON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Engine No. 2 BLEED air switch . . . . . OFF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900" b="1" dirty="0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Bleed Air DUCT PRESS indicator . .Check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Ensure that APU bleed air supplies the packs.</a:t>
                      </a:r>
                      <a:endParaRPr sz="1100" dirty="0">
                        <a:solidFill>
                          <a:srgbClr val="00B050"/>
                        </a:solidFill>
                        <a:latin typeface="+mn-lt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864529546"/>
                  </a:ext>
                </a:extLst>
              </a:tr>
            </a:tbl>
          </a:graphicData>
        </a:graphic>
      </p:graphicFrame>
      <p:sp>
        <p:nvSpPr>
          <p:cNvPr id="3" name="직사각형 2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3C10DF26-E717-6E81-27C6-F6B26E149BB6}"/>
              </a:ext>
            </a:extLst>
          </p:cNvPr>
          <p:cNvSpPr/>
          <p:nvPr/>
        </p:nvSpPr>
        <p:spPr>
          <a:xfrm>
            <a:off x="847353" y="522213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" action="ppaction://hlinkshowjump?jump=firstslide"/>
              </a:rPr>
              <a:t>Home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graphicFrame>
        <p:nvGraphicFramePr>
          <p:cNvPr id="2" name="Google Shape;402;p31">
            <a:extLst>
              <a:ext uri="{FF2B5EF4-FFF2-40B4-BE49-F238E27FC236}">
                <a16:creationId xmlns:a16="http://schemas.microsoft.com/office/drawing/2014/main" id="{22E60F0B-EE5F-9463-9E12-FE63A897D865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093942609"/>
              </p:ext>
            </p:extLst>
          </p:nvPr>
        </p:nvGraphicFramePr>
        <p:xfrm>
          <a:off x="-12" y="7167"/>
          <a:ext cx="2328875" cy="2441294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3288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9179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dirty="0">
                          <a:latin typeface="+mn-lt"/>
                        </a:rPr>
                        <a:t>NO ENGINE BLEED </a:t>
                      </a:r>
                      <a:r>
                        <a:rPr lang="en-US" sz="1000" dirty="0">
                          <a:solidFill>
                            <a:srgbClr val="FFC000"/>
                          </a:solidFill>
                          <a:latin typeface="+mn-lt"/>
                        </a:rPr>
                        <a:t>AFTERTAKEOFF</a:t>
                      </a:r>
                      <a:endParaRPr sz="1000" dirty="0">
                        <a:solidFill>
                          <a:srgbClr val="FFC000"/>
                        </a:solidFill>
                        <a:latin typeface="+mn-lt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7156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dirty="0">
                          <a:latin typeface="+mn-lt"/>
                        </a:rPr>
                        <a:t>ENG Fail</a:t>
                      </a:r>
                      <a:r>
                        <a:rPr lang="ko-KR" altLang="en-US" sz="700" dirty="0">
                          <a:latin typeface="+mn-lt"/>
                        </a:rPr>
                        <a:t>시 </a:t>
                      </a:r>
                      <a:r>
                        <a:rPr lang="en-US" altLang="ko-KR" sz="700" dirty="0">
                          <a:latin typeface="+mn-lt"/>
                        </a:rPr>
                        <a:t>FE+1500ft or Obstacle CLR</a:t>
                      </a:r>
                      <a:r>
                        <a:rPr lang="ko-KR" altLang="en-US" sz="700" dirty="0">
                          <a:latin typeface="+mn-lt"/>
                        </a:rPr>
                        <a:t>후 수행하라</a:t>
                      </a:r>
                      <a:r>
                        <a:rPr lang="en-US" altLang="ko-KR" sz="700" dirty="0">
                          <a:latin typeface="+mn-lt"/>
                        </a:rPr>
                        <a:t>.</a:t>
                      </a:r>
                      <a:endParaRPr sz="700" dirty="0">
                        <a:latin typeface="+mn-lt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30474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N1, Climb Thrust </a:t>
                      </a:r>
                      <a:r>
                        <a:rPr lang="en-US" sz="800" b="1" dirty="0">
                          <a:solidFill>
                            <a:srgbClr val="C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(APU Bleed MAX 17000ft</a:t>
                      </a:r>
                      <a:r>
                        <a:rPr lang="en-US" altLang="ko-KR" sz="800" b="1" dirty="0">
                          <a:solidFill>
                            <a:srgbClr val="C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)</a:t>
                      </a:r>
                      <a:endParaRPr lang="en-US" sz="900" b="1" dirty="0">
                        <a:solidFill>
                          <a:srgbClr val="C00000"/>
                        </a:solidFill>
                        <a:latin typeface="+mn-lt"/>
                        <a:ea typeface="Helvetica Neue"/>
                        <a:cs typeface="Helvetica Neue"/>
                        <a:sym typeface="Helvetica Neue"/>
                      </a:endParaRP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Engine No. 2 BLEED air switch . . . . . . ON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APU BLEED air switch. . . . . . . . . . . .  OFF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Helvetica Neue"/>
                          <a:sym typeface="Helvetica Neue"/>
                        </a:rPr>
                        <a:t>CABIN rate of CLIMB indicator </a:t>
                      </a:r>
                      <a:r>
                        <a:rPr lang="ko-KR" altLang="en-US" sz="800" b="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Helvetica Neue"/>
                          <a:sym typeface="Helvetica Neue"/>
                        </a:rPr>
                        <a:t>안정되면</a:t>
                      </a:r>
                      <a:endParaRPr lang="en-US" sz="800" b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Helvetica Neue"/>
                        <a:sym typeface="Helvetica Neue"/>
                      </a:endParaRP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Engine No. 1 BLEED air switch . . . . . . ON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ISOLATION VALVE switch . . . . . . .  AUTO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APU switch . . . . . . OFF (or ON for EDTO)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For EDTO flights, APU EXP</a:t>
                      </a:r>
                      <a:r>
                        <a:rPr lang="ko-KR" altLang="en-US" sz="800" b="0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까지 </a:t>
                      </a:r>
                      <a:r>
                        <a:rPr lang="en-US" altLang="ko-KR" sz="800" b="0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ON </a:t>
                      </a:r>
                      <a:r>
                        <a:rPr lang="ko-KR" altLang="en-US" sz="800" b="0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유지하라</a:t>
                      </a:r>
                      <a:endParaRPr lang="en-US" sz="800" b="0" dirty="0">
                        <a:solidFill>
                          <a:schemeClr val="tx1"/>
                        </a:solidFill>
                        <a:latin typeface="+mn-lt"/>
                        <a:ea typeface="Helvetica Neue"/>
                        <a:cs typeface="Helvetica Neue"/>
                        <a:sym typeface="Helvetica Neue"/>
                      </a:endParaRP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Bleed Air DUCT PRESS indicator . .Check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Ensure that </a:t>
                      </a:r>
                      <a:r>
                        <a:rPr lang="en-US" sz="800" b="1" dirty="0" err="1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eng</a:t>
                      </a: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bleed air supplies the packs.</a:t>
                      </a: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052178700"/>
      </p:ext>
    </p:extLst>
  </p:cSld>
  <p:clrMapOvr>
    <a:masterClrMapping/>
  </p:clrMapOvr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01">
          <a:extLst>
            <a:ext uri="{FF2B5EF4-FFF2-40B4-BE49-F238E27FC236}">
              <a16:creationId xmlns:a16="http://schemas.microsoft.com/office/drawing/2014/main" id="{8CF74D2A-34DE-9C7E-664B-738C27559C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42F52199-2BB4-AE92-B2DF-191959FBE5A8}"/>
              </a:ext>
            </a:extLst>
          </p:cNvPr>
          <p:cNvSpPr/>
          <p:nvPr/>
        </p:nvSpPr>
        <p:spPr>
          <a:xfrm>
            <a:off x="847353" y="522213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" action="ppaction://hlinkshowjump?jump=firstslide"/>
              </a:rPr>
              <a:t>Home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graphicFrame>
        <p:nvGraphicFramePr>
          <p:cNvPr id="2" name="Google Shape;402;p31">
            <a:extLst>
              <a:ext uri="{FF2B5EF4-FFF2-40B4-BE49-F238E27FC236}">
                <a16:creationId xmlns:a16="http://schemas.microsoft.com/office/drawing/2014/main" id="{CBF03987-8E54-340D-0952-0B89831F8865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984147047"/>
              </p:ext>
            </p:extLst>
          </p:nvPr>
        </p:nvGraphicFramePr>
        <p:xfrm>
          <a:off x="-12" y="7167"/>
          <a:ext cx="2328875" cy="6469846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3288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9179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dirty="0">
                          <a:solidFill>
                            <a:srgbClr val="FFC000"/>
                          </a:solidFill>
                          <a:latin typeface="+mn-lt"/>
                        </a:rPr>
                        <a:t>All Eng FLAP 15 LANDING </a:t>
                      </a:r>
                      <a:r>
                        <a:rPr lang="en-US" sz="1000" dirty="0">
                          <a:solidFill>
                            <a:schemeClr val="bg1"/>
                          </a:solidFill>
                          <a:latin typeface="+mn-lt"/>
                        </a:rPr>
                        <a:t>(</a:t>
                      </a:r>
                      <a:r>
                        <a:rPr lang="en-US" sz="1000" dirty="0" err="1">
                          <a:solidFill>
                            <a:schemeClr val="bg1"/>
                          </a:solidFill>
                          <a:latin typeface="+mn-lt"/>
                        </a:rPr>
                        <a:t>e.g</a:t>
                      </a:r>
                      <a:r>
                        <a:rPr lang="en-US" sz="1000" dirty="0">
                          <a:solidFill>
                            <a:schemeClr val="bg1"/>
                          </a:solidFill>
                          <a:latin typeface="+mn-lt"/>
                        </a:rPr>
                        <a:t> KMG)</a:t>
                      </a:r>
                      <a:endParaRPr sz="1000" dirty="0">
                        <a:solidFill>
                          <a:schemeClr val="bg1"/>
                        </a:solidFill>
                        <a:latin typeface="+mn-lt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7156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050" b="1" i="0" u="none" strike="noStrike" cap="none" dirty="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  <a:sym typeface="Arial"/>
                        </a:rPr>
                        <a:t>Consideration</a:t>
                      </a:r>
                      <a:r>
                        <a:rPr lang="en-US" altLang="ko-Kore-KR" sz="1000" b="1" i="0" u="none" strike="noStrike" cap="none" dirty="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  <a:sym typeface="Arial"/>
                        </a:rPr>
                        <a:t> </a:t>
                      </a:r>
                      <a:r>
                        <a:rPr lang="en-US" altLang="ko-Kore-KR" sz="1000" b="0" i="0" u="none" strike="noStrike" cap="none" dirty="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  <a:sym typeface="Arial"/>
                        </a:rPr>
                        <a:t>(Go Around Climb Gradient)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900" b="1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Arial"/>
                        </a:rPr>
                        <a:t>- Check Limit </a:t>
                      </a:r>
                      <a:r>
                        <a:rPr lang="en-US" altLang="ko-KR" sz="900" b="1" i="0" u="none" strike="noStrike" cap="none" dirty="0" err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Arial"/>
                        </a:rPr>
                        <a:t>Wt</a:t>
                      </a:r>
                      <a:r>
                        <a:rPr lang="en-US" altLang="ko-KR" sz="900" b="1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Arial"/>
                        </a:rPr>
                        <a:t> with Flap 30/40 BY EFB-OPT</a:t>
                      </a:r>
                      <a:endParaRPr lang="en-US" altLang="ko-Kore-KR" sz="900" b="1" i="0" u="none" strike="noStrike" cap="none" dirty="0">
                        <a:solidFill>
                          <a:srgbClr val="0070C0"/>
                        </a:solidFill>
                        <a:latin typeface="Calibri"/>
                        <a:ea typeface="Calibri"/>
                        <a:cs typeface="Calibri"/>
                        <a:sym typeface="Arial"/>
                      </a:endParaRP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900" b="0" i="0" u="none" strike="noStrike" cap="none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Arial"/>
                        </a:rPr>
                        <a:t>  (Flap 30 &lt; Flap 30 No Bleed L/D &lt; Flap 15 L/D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kumimoji="0" lang="en-US" altLang="ko-KR" sz="9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dk1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Arial"/>
                        </a:rPr>
                        <a:t>- </a:t>
                      </a:r>
                      <a:r>
                        <a:rPr kumimoji="0" lang="en-US" altLang="ko-KR" sz="9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Arial"/>
                        </a:rPr>
                        <a:t>L/D Pitch Increase 1-1.5 degree (Tail CLR)</a:t>
                      </a: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30474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Operating Instructions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 Select Ground Proximity Flap Inhibit switch 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  to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FLAP INHIBIT</a:t>
                      </a:r>
                      <a:r>
                        <a:rPr lang="en-US" sz="8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for flaps 15 landing.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b="0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        Note: GPWS INOP L/T - ON if  A/S exceeds 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b="0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                  250 kts for 60 secs.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b="0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 </a:t>
                      </a:r>
                      <a:r>
                        <a:rPr lang="en-US" sz="800" b="0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Set</a:t>
                      </a:r>
                      <a:r>
                        <a:rPr lang="en-US" sz="8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VREF ICE = VREF 15 + 10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  </a:t>
                      </a:r>
                      <a:r>
                        <a:rPr lang="en-US" sz="8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if    ENG Anti-ice ON L/D or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sz="8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        Wing Anti-ice ON one time in FLT or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        Icing Condition FLT &amp; L/D below 10</a:t>
                      </a:r>
                      <a:r>
                        <a:rPr lang="en-US" altLang="ko-Kore-KR" sz="800" b="1" i="0" u="none" strike="noStrike" cap="none" dirty="0">
                          <a:solidFill>
                            <a:schemeClr val="tx1"/>
                          </a:solidFill>
                          <a:latin typeface="Calibri"/>
                          <a:ea typeface="Helvetica Neue"/>
                          <a:cs typeface="Helvetica Neue"/>
                          <a:sym typeface="Helvetica Neue"/>
                        </a:rPr>
                        <a:t>° C</a:t>
                      </a:r>
                      <a:endParaRPr lang="en-US" sz="800" b="1" dirty="0">
                        <a:solidFill>
                          <a:schemeClr val="tx1"/>
                        </a:solidFill>
                        <a:latin typeface="+mn-lt"/>
                        <a:ea typeface="Helvetica Neue"/>
                        <a:cs typeface="Helvetica Neue"/>
                        <a:sym typeface="Helvetica Neue"/>
                      </a:endParaRP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 Do not carry excess airspeed on final.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       Consider not using autothrottles.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 Use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Flaps 15 </a:t>
                      </a:r>
                      <a:r>
                        <a:rPr lang="en-US" sz="8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for Go-Around with both 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   engines operating.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 Use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Flaps 1</a:t>
                      </a:r>
                      <a:r>
                        <a:rPr lang="en-US" sz="8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for Go-Around with one engine 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   operating.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 Use caution during flare to avoid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tail strike</a:t>
                      </a:r>
                      <a:r>
                        <a:rPr lang="en-US" sz="8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.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 Apply reverse thrust expeditiously upon 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  touchdown.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      </a:t>
                      </a:r>
                      <a:r>
                        <a:rPr lang="en-US" sz="800" b="0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Use of maximum reverse thrust is 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      recommended.</a:t>
                      </a:r>
                      <a:endParaRPr lang="en-US" sz="700" b="0" dirty="0">
                        <a:solidFill>
                          <a:schemeClr val="tx1"/>
                        </a:solidFill>
                        <a:latin typeface="+mn-lt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630474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800" b="1" dirty="0">
                        <a:solidFill>
                          <a:srgbClr val="00B050"/>
                        </a:solidFill>
                        <a:latin typeface="+mn-lt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61252354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28950646"/>
      </p:ext>
    </p:extLst>
  </p:cSld>
  <p:clrMapOvr>
    <a:masterClrMapping/>
  </p:clrMapOvr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02" name="Google Shape;402;p31"/>
          <p:cNvGraphicFramePr/>
          <p:nvPr>
            <p:extLst>
              <p:ext uri="{D42A27DB-BD31-4B8C-83A1-F6EECF244321}">
                <p14:modId xmlns:p14="http://schemas.microsoft.com/office/powerpoint/2010/main" val="50407446"/>
              </p:ext>
            </p:extLst>
          </p:nvPr>
        </p:nvGraphicFramePr>
        <p:xfrm>
          <a:off x="0" y="2264316"/>
          <a:ext cx="2328875" cy="2960271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3288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226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dirty="0">
                          <a:latin typeface="+mn-lt"/>
                        </a:rPr>
                        <a:t>GND AIR CART USE</a:t>
                      </a:r>
                      <a:endParaRPr sz="1000" dirty="0">
                        <a:latin typeface="+mn-lt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4363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dirty="0">
                          <a:latin typeface="+mn-lt"/>
                        </a:rPr>
                        <a:t>APU </a:t>
                      </a:r>
                      <a:r>
                        <a:rPr lang="ko-KR" altLang="en-US" sz="700" dirty="0">
                          <a:latin typeface="+mn-lt"/>
                        </a:rPr>
                        <a:t>부작동시 </a:t>
                      </a:r>
                      <a:r>
                        <a:rPr lang="en-US" altLang="ko-KR" sz="700" dirty="0">
                          <a:latin typeface="+mn-lt"/>
                        </a:rPr>
                        <a:t>AIR CART</a:t>
                      </a:r>
                      <a:r>
                        <a:rPr lang="ko-KR" altLang="en-US" sz="700" dirty="0">
                          <a:latin typeface="+mn-lt"/>
                        </a:rPr>
                        <a:t>로 </a:t>
                      </a:r>
                      <a:r>
                        <a:rPr lang="en-US" altLang="ko-KR" sz="700" dirty="0">
                          <a:latin typeface="+mn-lt"/>
                        </a:rPr>
                        <a:t>PACK</a:t>
                      </a:r>
                      <a:r>
                        <a:rPr lang="ko-KR" altLang="en-US" sz="700" dirty="0">
                          <a:latin typeface="+mn-lt"/>
                        </a:rPr>
                        <a:t>과 시동을 위해 사용</a:t>
                      </a:r>
                      <a:endParaRPr lang="en-US" altLang="ko-KR" sz="700" dirty="0">
                        <a:latin typeface="+mn-lt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dirty="0">
                          <a:latin typeface="+mn-lt"/>
                        </a:rPr>
                        <a:t>AIR CART</a:t>
                      </a:r>
                      <a:r>
                        <a:rPr lang="ko-KR" altLang="en-US" sz="700" dirty="0">
                          <a:latin typeface="+mn-lt"/>
                        </a:rPr>
                        <a:t>는 외부 </a:t>
                      </a:r>
                      <a:r>
                        <a:rPr lang="en-US" altLang="ko-KR" sz="700" dirty="0">
                          <a:latin typeface="+mn-lt"/>
                        </a:rPr>
                        <a:t>BLEED</a:t>
                      </a:r>
                      <a:r>
                        <a:rPr lang="ko-KR" altLang="en-US" sz="700" dirty="0">
                          <a:latin typeface="+mn-lt"/>
                        </a:rPr>
                        <a:t> </a:t>
                      </a:r>
                      <a:r>
                        <a:rPr lang="en-US" altLang="ko-KR" sz="700" dirty="0">
                          <a:latin typeface="+mn-lt"/>
                        </a:rPr>
                        <a:t>AIR</a:t>
                      </a:r>
                      <a:r>
                        <a:rPr lang="ko-KR" altLang="en-US" sz="700" dirty="0">
                          <a:latin typeface="+mn-lt"/>
                        </a:rPr>
                        <a:t>의 역할을 함</a:t>
                      </a:r>
                      <a:r>
                        <a:rPr lang="en-US" altLang="ko-KR" sz="700" dirty="0">
                          <a:latin typeface="+mn-lt"/>
                        </a:rPr>
                        <a:t>.</a:t>
                      </a:r>
                      <a:endParaRPr sz="700" dirty="0">
                        <a:latin typeface="+mn-lt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APU BLEED air switch . . . . . . . . . . . . OFF 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ISOLATION VALVE switch . . . . . . . </a:t>
                      </a:r>
                      <a:r>
                        <a:rPr lang="ko-KR" alt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OPEN 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RECIRC FAN switches . . . . . . . . . .</a:t>
                      </a:r>
                      <a:r>
                        <a:rPr lang="ko-KR" altLang="en-US" sz="9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9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AUTO 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Trim Air Switch . . . . . . . . . . . . . . . . . . . ON 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PACK switches . . . . . . . . . AUTO or HIGH 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Cabin temperature selectors . . . . . </a:t>
                      </a:r>
                      <a:r>
                        <a:rPr lang="ko-KR" altLang="en-US" sz="9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9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AUTO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Set for desired temperature. 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9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uLnTx/>
                          <a:uFillTx/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Duct pressure . . . . . . . . . 20 psi minimum</a:t>
                      </a:r>
                      <a:endParaRPr kumimoji="0" lang="en-US" altLang="ko-Kore-KR" sz="8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B050"/>
                        </a:solidFill>
                        <a:effectLst/>
                        <a:uLnTx/>
                        <a:uFillTx/>
                        <a:latin typeface="+mn-lt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5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20 psi</a:t>
                      </a:r>
                      <a:r>
                        <a:rPr kumimoji="0" lang="ko-KR" altLang="en-US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이하고 </a:t>
                      </a:r>
                      <a:r>
                        <a:rPr kumimoji="0" lang="en-US" altLang="ko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APU </a:t>
                      </a:r>
                      <a:r>
                        <a:rPr kumimoji="0" lang="ko-KR" altLang="en-US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사용가능시 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ISOLATION VALVE switch . . . . . . .  AUTO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APU BLEED air switch. . . . . . . . . . . . . </a:t>
                      </a:r>
                      <a:r>
                        <a:rPr kumimoji="0" lang="en-US" altLang="ko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ON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uLnTx/>
                          <a:uFillTx/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APU </a:t>
                      </a:r>
                      <a:r>
                        <a:rPr kumimoji="0" lang="en-US" altLang="ko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uLnTx/>
                          <a:uFillTx/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 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uLnTx/>
                          <a:uFillTx/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left pack</a:t>
                      </a:r>
                      <a:r>
                        <a:rPr kumimoji="0" lang="en-US" altLang="ko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uLnTx/>
                          <a:uFillTx/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,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uLnTx/>
                          <a:uFillTx/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external air </a:t>
                      </a:r>
                      <a:r>
                        <a:rPr kumimoji="0" lang="en-US" altLang="ko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uLnTx/>
                          <a:uFillTx/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 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uLnTx/>
                          <a:uFillTx/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right pack.</a:t>
                      </a:r>
                      <a:endParaRPr kumimoji="0" lang="en-US" altLang="ko-Kore-KR" sz="1050" b="1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B050"/>
                        </a:solidFill>
                        <a:effectLst/>
                        <a:uLnTx/>
                        <a:uFillTx/>
                        <a:latin typeface="+mn-lt"/>
                        <a:cs typeface="Calibri"/>
                        <a:sym typeface="Arial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724847737"/>
                  </a:ext>
                </a:extLst>
              </a:tr>
            </a:tbl>
          </a:graphicData>
        </a:graphic>
      </p:graphicFrame>
      <p:graphicFrame>
        <p:nvGraphicFramePr>
          <p:cNvPr id="2" name="Google Shape;402;p31">
            <a:extLst>
              <a:ext uri="{FF2B5EF4-FFF2-40B4-BE49-F238E27FC236}">
                <a16:creationId xmlns:a16="http://schemas.microsoft.com/office/drawing/2014/main" id="{EB44648E-001A-8E9D-2B8C-BD5155466247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889665009"/>
              </p:ext>
            </p:extLst>
          </p:nvPr>
        </p:nvGraphicFramePr>
        <p:xfrm>
          <a:off x="-12" y="9491"/>
          <a:ext cx="2328875" cy="227917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3288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226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dirty="0">
                          <a:latin typeface="+mn-lt"/>
                        </a:rPr>
                        <a:t>GND CONDITIONED AIR USE</a:t>
                      </a:r>
                      <a:endParaRPr sz="1000" dirty="0">
                        <a:latin typeface="+mn-lt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4363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700" dirty="0">
                          <a:latin typeface="+mn-lt"/>
                        </a:rPr>
                        <a:t>공항 요구로 </a:t>
                      </a:r>
                      <a:r>
                        <a:rPr lang="en-US" altLang="ko-KR" sz="700" dirty="0">
                          <a:latin typeface="+mn-lt"/>
                        </a:rPr>
                        <a:t>APU OFF</a:t>
                      </a:r>
                      <a:r>
                        <a:rPr lang="ko-KR" altLang="en-US" sz="700" dirty="0">
                          <a:latin typeface="+mn-lt"/>
                        </a:rPr>
                        <a:t>후 기내 온도 조절을 위한 방법</a:t>
                      </a:r>
                      <a:endParaRPr lang="en-US" altLang="ko-KR" sz="700" dirty="0">
                        <a:latin typeface="+mn-lt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dirty="0">
                          <a:latin typeface="+mn-lt"/>
                        </a:rPr>
                        <a:t>Air Cart</a:t>
                      </a:r>
                      <a:r>
                        <a:rPr lang="ko-KR" altLang="en-US" sz="700" dirty="0">
                          <a:latin typeface="+mn-lt"/>
                        </a:rPr>
                        <a:t>와는 다르며 단순 에어컨 기능만 함</a:t>
                      </a:r>
                      <a:r>
                        <a:rPr lang="en-US" altLang="ko-KR" sz="700" dirty="0">
                          <a:latin typeface="+mn-lt"/>
                        </a:rPr>
                        <a:t>.</a:t>
                      </a:r>
                      <a:r>
                        <a:rPr lang="ko-KR" altLang="en-US" sz="700" dirty="0">
                          <a:latin typeface="+mn-lt"/>
                        </a:rPr>
                        <a:t> </a:t>
                      </a:r>
                      <a:endParaRPr sz="700" dirty="0">
                        <a:latin typeface="+mn-lt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GPU Connect – GPU ONBUS</a:t>
                      </a:r>
                      <a:r>
                        <a:rPr lang="en-US" altLang="ko-Kore-KR" sz="800" b="1" i="0" u="none" strike="noStrike" cap="none" dirty="0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– APU OFF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i="0" u="none" strike="noStrike" cap="none" dirty="0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APU Bleed OFF</a:t>
                      </a:r>
                      <a:r>
                        <a:rPr lang="en-US" sz="700" b="0" i="0" u="none" strike="noStrike" cap="none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(no POM)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b="0" i="0" u="none" strike="noStrike" cap="none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(APU </a:t>
                      </a:r>
                      <a:r>
                        <a:rPr lang="ko-KR" altLang="en-US" sz="700" b="0" i="0" u="none" strike="noStrike" cap="none" dirty="0" err="1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시동후</a:t>
                      </a:r>
                      <a:r>
                        <a:rPr lang="ko-KR" altLang="en-US" sz="700" b="0" i="0" u="none" strike="noStrike" cap="none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altLang="ko-KR" sz="700" b="0" i="0" u="none" strike="noStrike" cap="none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2</a:t>
                      </a:r>
                      <a:r>
                        <a:rPr lang="ko-KR" altLang="en-US" sz="700" b="0" i="0" u="none" strike="noStrike" cap="none" dirty="0" err="1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분뒤</a:t>
                      </a:r>
                      <a:r>
                        <a:rPr lang="ko-KR" altLang="en-US" sz="700" b="0" i="0" u="none" strike="noStrike" cap="none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altLang="ko-KR" sz="700" b="0" i="0" u="none" strike="noStrike" cap="none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APU Bleed ON</a:t>
                      </a:r>
                      <a:r>
                        <a:rPr lang="ko-KR" altLang="en-US" sz="700" b="0" i="0" u="none" strike="noStrike" cap="none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을 위해서 </a:t>
                      </a:r>
                      <a:r>
                        <a:rPr lang="en-US" altLang="ko-KR" sz="700" b="0" i="0" u="none" strike="noStrike" cap="none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OFF)</a:t>
                      </a:r>
                      <a:r>
                        <a:rPr lang="ko-KR" altLang="en-US" sz="700" b="0" i="0" u="none" strike="noStrike" cap="none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endParaRPr lang="en-US" sz="800" b="0" dirty="0">
                        <a:solidFill>
                          <a:srgbClr val="0070C0"/>
                        </a:solidFill>
                        <a:latin typeface="+mn-lt"/>
                        <a:ea typeface="Helvetica Neue"/>
                        <a:cs typeface="Helvetica Neue"/>
                        <a:sym typeface="Helvetica Neue"/>
                      </a:endParaRP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8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Ground conditioned air </a:t>
                      </a:r>
                      <a:r>
                        <a:rPr lang="ko-KR" altLang="en-US" sz="8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연결 전</a:t>
                      </a:r>
                      <a:r>
                        <a:rPr lang="en-US" sz="8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PACK switches . . . . . . . . . . . . . . . . . . OFF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Packs</a:t>
                      </a:r>
                      <a:r>
                        <a:rPr lang="ko-KR" altLang="en-US" sz="800" b="0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의 </a:t>
                      </a:r>
                      <a:r>
                        <a:rPr lang="en-US" sz="800" b="0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damage</a:t>
                      </a:r>
                      <a:r>
                        <a:rPr lang="ko-KR" altLang="en-US" sz="800" b="0" dirty="0" err="1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를</a:t>
                      </a:r>
                      <a:r>
                        <a:rPr lang="ko-KR" altLang="en-US" sz="800" b="0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방지하기 위함</a:t>
                      </a:r>
                      <a:r>
                        <a:rPr lang="en-US" altLang="ko-KR" sz="800" b="0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.</a:t>
                      </a:r>
                      <a:r>
                        <a:rPr lang="ko-KR" altLang="en-US" sz="800" b="0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800" b="0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endParaRPr lang="en-US" sz="900" b="1" dirty="0">
                        <a:solidFill>
                          <a:srgbClr val="0070C0"/>
                        </a:solidFill>
                        <a:latin typeface="+mn-lt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5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uLnTx/>
                          <a:uFillTx/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APU Start – APU ONBUS – GPU, GND Air </a:t>
                      </a:r>
                      <a:r>
                        <a:rPr kumimoji="0" lang="ko-Kore-KR" altLang="en-US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uLnTx/>
                          <a:uFillTx/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제거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uLnTx/>
                          <a:uFillTx/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endParaRPr kumimoji="0" lang="en-US" altLang="ko-Kore-KR" sz="900" b="1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70C0"/>
                        </a:solidFill>
                        <a:effectLst/>
                        <a:uLnTx/>
                        <a:uFillTx/>
                        <a:latin typeface="+mn-lt"/>
                        <a:ea typeface="Helvetica Neue"/>
                        <a:cs typeface="Helvetica Neue"/>
                        <a:sym typeface="Helvetica Neue"/>
                      </a:endParaRP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9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PACK switches . . . . . . . . . . . . .As needed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After 2min, 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uLnTx/>
                          <a:uFillTx/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APU Bleed ON </a:t>
                      </a:r>
                      <a:r>
                        <a:rPr lang="en-US" altLang="ko-Kore-KR" sz="800" b="0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Helvetica Neue"/>
                          <a:cs typeface="Helvetica Neue"/>
                          <a:sym typeface="Helvetica Neue"/>
                        </a:rPr>
                        <a:t>(no POM)</a:t>
                      </a: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3004037912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28409F7C-9A34-07D3-B638-05B5A50E1A63}"/>
              </a:ext>
            </a:extLst>
          </p:cNvPr>
          <p:cNvSpPr txBox="1"/>
          <p:nvPr/>
        </p:nvSpPr>
        <p:spPr>
          <a:xfrm>
            <a:off x="1406773" y="5170979"/>
            <a:ext cx="994183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1100" dirty="0">
                <a:solidFill>
                  <a:srgbClr val="C00000"/>
                </a:solidFill>
                <a:latin typeface="+mn-lt"/>
              </a:rPr>
              <a:t>ENG START</a:t>
            </a:r>
          </a:p>
          <a:p>
            <a:r>
              <a:rPr kumimoji="1" lang="en-US" altLang="ko-Kore-KR" sz="1100" dirty="0">
                <a:solidFill>
                  <a:srgbClr val="C00000"/>
                </a:solidFill>
                <a:latin typeface="+mn-lt"/>
              </a:rPr>
              <a:t>Next Page</a:t>
            </a:r>
            <a:endParaRPr kumimoji="1" lang="ko-Kore-KR" altLang="en-US" sz="1100" dirty="0">
              <a:solidFill>
                <a:srgbClr val="C00000"/>
              </a:solidFill>
              <a:latin typeface="+mn-lt"/>
            </a:endParaRPr>
          </a:p>
        </p:txBody>
      </p:sp>
      <p:sp>
        <p:nvSpPr>
          <p:cNvPr id="5" name="직사각형 4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DC530451-8D9A-9F43-6651-727AC3D815C1}"/>
              </a:ext>
            </a:extLst>
          </p:cNvPr>
          <p:cNvSpPr/>
          <p:nvPr/>
        </p:nvSpPr>
        <p:spPr>
          <a:xfrm>
            <a:off x="847353" y="522213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" action="ppaction://hlinkshowjump?jump=firstslide"/>
              </a:rPr>
              <a:t>Home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270571121"/>
      </p:ext>
    </p:extLst>
  </p:cSld>
  <p:clrMapOvr>
    <a:masterClrMapping/>
  </p:clrMapOvr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02" name="Google Shape;402;p31"/>
          <p:cNvGraphicFramePr/>
          <p:nvPr>
            <p:extLst>
              <p:ext uri="{D42A27DB-BD31-4B8C-83A1-F6EECF244321}">
                <p14:modId xmlns:p14="http://schemas.microsoft.com/office/powerpoint/2010/main" val="2248538797"/>
              </p:ext>
            </p:extLst>
          </p:nvPr>
        </p:nvGraphicFramePr>
        <p:xfrm>
          <a:off x="0" y="2391489"/>
          <a:ext cx="2328875" cy="2842737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3288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226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dirty="0">
                          <a:latin typeface="+mn-lt"/>
                        </a:rPr>
                        <a:t>ENG CROSSBLEED START</a:t>
                      </a:r>
                      <a:endParaRPr sz="1000" dirty="0">
                        <a:latin typeface="+mn-lt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4363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+mn-lt"/>
                        </a:rPr>
                        <a:t>#1 ENGBLEED </a:t>
                      </a:r>
                      <a:r>
                        <a:rPr lang="ko-KR" altLang="en-US" sz="800" dirty="0">
                          <a:latin typeface="+mn-lt"/>
                        </a:rPr>
                        <a:t>로 </a:t>
                      </a:r>
                      <a:r>
                        <a:rPr lang="en-US" altLang="ko-KR" sz="800" dirty="0">
                          <a:latin typeface="+mn-lt"/>
                        </a:rPr>
                        <a:t>#2</a:t>
                      </a:r>
                      <a:r>
                        <a:rPr lang="ko-KR" altLang="en-US" sz="800" dirty="0">
                          <a:latin typeface="+mn-lt"/>
                        </a:rPr>
                        <a:t> </a:t>
                      </a:r>
                      <a:r>
                        <a:rPr lang="en-US" altLang="ko-KR" sz="800" dirty="0">
                          <a:latin typeface="+mn-lt"/>
                        </a:rPr>
                        <a:t>ENG START</a:t>
                      </a:r>
                      <a:endParaRPr sz="800" dirty="0">
                        <a:latin typeface="+mn-lt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 err="1">
                          <a:solidFill>
                            <a:srgbClr val="C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PushBack</a:t>
                      </a:r>
                      <a:r>
                        <a:rPr lang="en-US" sz="800" b="1" dirty="0">
                          <a:solidFill>
                            <a:srgbClr val="C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ko-KR" altLang="en-US" sz="800" b="1" dirty="0">
                          <a:solidFill>
                            <a:srgbClr val="C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완료</a:t>
                      </a:r>
                      <a:r>
                        <a:rPr lang="en-US" altLang="ko-KR" sz="800" b="1" dirty="0">
                          <a:solidFill>
                            <a:srgbClr val="C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,</a:t>
                      </a:r>
                      <a:r>
                        <a:rPr lang="ko-KR" altLang="en-US" sz="800" b="1" dirty="0">
                          <a:solidFill>
                            <a:srgbClr val="C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altLang="ko-KR" sz="800" b="1" dirty="0">
                          <a:solidFill>
                            <a:srgbClr val="C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#2</a:t>
                      </a:r>
                      <a:r>
                        <a:rPr lang="ko-KR" altLang="en-US" sz="800" b="1" dirty="0">
                          <a:solidFill>
                            <a:srgbClr val="C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altLang="ko-KR" sz="800" b="1" dirty="0">
                          <a:solidFill>
                            <a:srgbClr val="C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ENG Area CLR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Parking brake . . . . . . . . . . . . . . . . . . .  SET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Engine BLEED air switches . . . . . . . . .ON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APU BLEED air switch . . . . . . . . . . . . OFF</a:t>
                      </a:r>
                      <a:endParaRPr lang="en-US" sz="900" b="1" dirty="0">
                        <a:solidFill>
                          <a:srgbClr val="0070C0"/>
                        </a:solidFill>
                        <a:latin typeface="+mn-lt"/>
                        <a:ea typeface="Helvetica Neue"/>
                        <a:cs typeface="Helvetica Neue"/>
                        <a:sym typeface="Helvetica Neue"/>
                      </a:endParaRP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PACK switches . . . . . . . . . . . . . . . . . . OFF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ISOLATION VALVE switch . . . . . . .  AUTO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ENG Bleed air </a:t>
                      </a:r>
                      <a:r>
                        <a:rPr lang="ko-KR" altLang="en-US" sz="800" b="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Helvetica Neue"/>
                          <a:sym typeface="Helvetica Neue"/>
                        </a:rPr>
                        <a:t>들어오는지 확인하라</a:t>
                      </a:r>
                      <a:r>
                        <a:rPr lang="en-US" altLang="ko-KR" sz="800" b="0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.</a:t>
                      </a:r>
                      <a:r>
                        <a:rPr lang="ko-KR" altLang="en-US" sz="800" b="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Helvetica Neue"/>
                          <a:sym typeface="Helvetica Neue"/>
                        </a:rPr>
                        <a:t> </a:t>
                      </a:r>
                      <a:endParaRPr lang="en-US" sz="800" b="0" dirty="0">
                        <a:solidFill>
                          <a:schemeClr val="tx1"/>
                        </a:solidFill>
                        <a:latin typeface="+mn-lt"/>
                        <a:ea typeface="Helvetica Neue"/>
                        <a:cs typeface="Helvetica Neue"/>
                        <a:sym typeface="Helvetica Neue"/>
                      </a:endParaRP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#1</a:t>
                      </a:r>
                      <a:r>
                        <a:rPr 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thrust lever . . . . </a:t>
                      </a:r>
                      <a:r>
                        <a:rPr lang="ko-KR" alt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Advance thrust lever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Duct Press 30PSI</a:t>
                      </a:r>
                      <a:r>
                        <a:rPr lang="ko-KR" altLang="en-US" sz="8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까지 </a:t>
                      </a:r>
                      <a:r>
                        <a:rPr lang="en-US" altLang="ko-KR" sz="8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TH</a:t>
                      </a:r>
                      <a:r>
                        <a:rPr lang="ko-KR" altLang="en-US" sz="8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증가</a:t>
                      </a:r>
                      <a:r>
                        <a:rPr lang="en-US" altLang="ko-KR" sz="800" b="1" dirty="0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(-8 : IDLE)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Starting ENG #2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Stabilized - #1 ENG IDLE – After START Flow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AFTER START CHKLIST</a:t>
                      </a:r>
                      <a:endParaRPr sz="1000" b="1" dirty="0">
                        <a:solidFill>
                          <a:srgbClr val="00B050"/>
                        </a:solidFill>
                        <a:latin typeface="+mn-lt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3" name="직사각형 2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3C10DF26-E717-6E81-27C6-F6B26E149BB6}"/>
              </a:ext>
            </a:extLst>
          </p:cNvPr>
          <p:cNvSpPr/>
          <p:nvPr/>
        </p:nvSpPr>
        <p:spPr>
          <a:xfrm>
            <a:off x="847353" y="522213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" action="ppaction://hlinkshowjump?jump=firstslide"/>
              </a:rPr>
              <a:t>Home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graphicFrame>
        <p:nvGraphicFramePr>
          <p:cNvPr id="2" name="Google Shape;402;p31">
            <a:extLst>
              <a:ext uri="{FF2B5EF4-FFF2-40B4-BE49-F238E27FC236}">
                <a16:creationId xmlns:a16="http://schemas.microsoft.com/office/drawing/2014/main" id="{EB44648E-001A-8E9D-2B8C-BD5155466247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120291280"/>
              </p:ext>
            </p:extLst>
          </p:nvPr>
        </p:nvGraphicFramePr>
        <p:xfrm>
          <a:off x="-12" y="9491"/>
          <a:ext cx="2328875" cy="232972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3288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226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dirty="0">
                          <a:latin typeface="+mn-lt"/>
                        </a:rPr>
                        <a:t>STARTING with GND AIR SOURCE</a:t>
                      </a:r>
                      <a:endParaRPr sz="1000" dirty="0">
                        <a:latin typeface="+mn-lt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4363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#1 ENG 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먼저 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우측에 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AIR CART, GPU 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연결됨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)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dirty="0">
                          <a:solidFill>
                            <a:srgbClr val="00B050"/>
                          </a:solidFill>
                          <a:latin typeface="+mn-lt"/>
                        </a:rPr>
                        <a:t>“Req Engine Start up Present </a:t>
                      </a:r>
                      <a:r>
                        <a:rPr lang="en-US" altLang="ko-KR" sz="800" b="1" dirty="0" err="1">
                          <a:solidFill>
                            <a:srgbClr val="00B050"/>
                          </a:solidFill>
                          <a:latin typeface="+mn-lt"/>
                        </a:rPr>
                        <a:t>Positon</a:t>
                      </a:r>
                      <a:r>
                        <a:rPr lang="en-US" altLang="ko-KR" sz="800" b="1" dirty="0">
                          <a:solidFill>
                            <a:srgbClr val="00B050"/>
                          </a:solidFill>
                          <a:latin typeface="+mn-lt"/>
                        </a:rPr>
                        <a:t>~~~”</a:t>
                      </a: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rgbClr val="C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Engine No. 1 </a:t>
                      </a:r>
                      <a:r>
                        <a:rPr lang="en-US" sz="9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must be started first.</a:t>
                      </a:r>
                      <a:endParaRPr lang="en-US" sz="900" b="1" dirty="0">
                        <a:solidFill>
                          <a:srgbClr val="0070C0"/>
                        </a:solidFill>
                        <a:latin typeface="+mn-lt"/>
                        <a:ea typeface="Helvetica Neue"/>
                        <a:cs typeface="Helvetica Neue"/>
                        <a:sym typeface="Helvetica Neue"/>
                      </a:endParaRP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When cleared to start: -&gt; </a:t>
                      </a: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Before Start CHKLIST</a:t>
                      </a:r>
                      <a:endParaRPr lang="en-US" sz="900" b="1" dirty="0">
                        <a:solidFill>
                          <a:srgbClr val="00B050"/>
                        </a:solidFill>
                        <a:latin typeface="+mn-lt"/>
                        <a:ea typeface="Helvetica Neue"/>
                        <a:cs typeface="Helvetica Neue"/>
                        <a:sym typeface="Helvetica Neue"/>
                      </a:endParaRP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APU BLEED air switch . . . . . . . . . . . . OFF 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Engine No. 1 start . . . . . . . . . .Accomplish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Use normal start procedures. -&gt; </a:t>
                      </a: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PACKS – OFF…</a:t>
                      </a:r>
                      <a:endParaRPr lang="en-US" sz="900" b="1" dirty="0">
                        <a:solidFill>
                          <a:srgbClr val="0070C0"/>
                        </a:solidFill>
                        <a:latin typeface="+mn-lt"/>
                        <a:ea typeface="Helvetica Neue"/>
                        <a:cs typeface="Helvetica Neue"/>
                        <a:sym typeface="Helvetica Neue"/>
                      </a:endParaRP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Generator No. 1 switch . . . . . . . . . . . .  ON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Disconnect Air Cart &amp; GPU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“Request Pushback” (if needed)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  <a:latin typeface="+mn-ea"/>
                          <a:ea typeface="+mn-ea"/>
                          <a:cs typeface="Helvetica Neue"/>
                          <a:sym typeface="Helvetica Neue"/>
                        </a:rPr>
                        <a:t>#2 </a:t>
                      </a:r>
                      <a:r>
                        <a:rPr lang="ko-KR" altLang="en-US" sz="800" b="1" dirty="0" err="1">
                          <a:solidFill>
                            <a:srgbClr val="C00000"/>
                          </a:solidFill>
                          <a:latin typeface="+mn-ea"/>
                          <a:ea typeface="+mn-ea"/>
                          <a:cs typeface="Helvetica Neue"/>
                          <a:sym typeface="Helvetica Neue"/>
                        </a:rPr>
                        <a:t>시동전</a:t>
                      </a:r>
                      <a:r>
                        <a:rPr lang="ko-KR" altLang="en-US" sz="800" b="1" dirty="0">
                          <a:solidFill>
                            <a:srgbClr val="C00000"/>
                          </a:solidFill>
                          <a:latin typeface="+mn-ea"/>
                          <a:ea typeface="+mn-ea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altLang="ko-KR" sz="800" b="1" dirty="0">
                          <a:solidFill>
                            <a:srgbClr val="C00000"/>
                          </a:solidFill>
                          <a:latin typeface="+mn-ea"/>
                          <a:ea typeface="+mn-ea"/>
                          <a:cs typeface="Helvetica Neue"/>
                          <a:sym typeface="Helvetica Neue"/>
                        </a:rPr>
                        <a:t>Air Cart </a:t>
                      </a:r>
                      <a:r>
                        <a:rPr lang="ko-KR" altLang="en-US" sz="800" b="1" dirty="0">
                          <a:solidFill>
                            <a:srgbClr val="C00000"/>
                          </a:solidFill>
                          <a:latin typeface="+mn-ea"/>
                          <a:ea typeface="+mn-ea"/>
                          <a:cs typeface="Helvetica Neue"/>
                          <a:sym typeface="Helvetica Neue"/>
                        </a:rPr>
                        <a:t>제거 반드시 확인</a:t>
                      </a:r>
                      <a:r>
                        <a:rPr lang="en-US" altLang="ko-KR" sz="800" b="1" dirty="0">
                          <a:solidFill>
                            <a:srgbClr val="C00000"/>
                          </a:solidFill>
                          <a:latin typeface="+mn-ea"/>
                          <a:ea typeface="+mn-ea"/>
                          <a:cs typeface="Helvetica Neue"/>
                          <a:sym typeface="Helvetica Neue"/>
                        </a:rPr>
                        <a:t>!!</a:t>
                      </a:r>
                      <a:endParaRPr lang="en-US" sz="800" b="1" dirty="0">
                        <a:solidFill>
                          <a:srgbClr val="C00000"/>
                        </a:solidFill>
                        <a:latin typeface="+mn-ea"/>
                        <a:ea typeface="+mn-ea"/>
                        <a:cs typeface="Helvetica Neue"/>
                        <a:sym typeface="Helvetica Neue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16167801"/>
      </p:ext>
    </p:extLst>
  </p:cSld>
  <p:clrMapOvr>
    <a:masterClrMapping/>
  </p:clrMapOvr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77" name="Google Shape;377;p28"/>
          <p:cNvGraphicFramePr/>
          <p:nvPr>
            <p:extLst>
              <p:ext uri="{D42A27DB-BD31-4B8C-83A1-F6EECF244321}">
                <p14:modId xmlns:p14="http://schemas.microsoft.com/office/powerpoint/2010/main" val="2732521415"/>
              </p:ext>
            </p:extLst>
          </p:nvPr>
        </p:nvGraphicFramePr>
        <p:xfrm>
          <a:off x="7" y="1099855"/>
          <a:ext cx="2328775" cy="135744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332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5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850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850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850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850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8507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850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34173">
                <a:tc gridSpan="8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Height Above FE (Feet) </a:t>
                      </a:r>
                      <a:r>
                        <a:rPr lang="en-US" sz="800" dirty="0">
                          <a:solidFill>
                            <a:srgbClr val="FFC000"/>
                          </a:solidFill>
                        </a:rPr>
                        <a:t>200-800ft</a:t>
                      </a:r>
                      <a:endParaRPr sz="800" dirty="0">
                        <a:solidFill>
                          <a:srgbClr val="FFC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36613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TEMP</a:t>
                      </a:r>
                      <a:endParaRPr sz="800" b="1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200</a:t>
                      </a:r>
                      <a:endParaRPr sz="800" b="1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300</a:t>
                      </a:r>
                      <a:endParaRPr sz="800" b="1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400</a:t>
                      </a:r>
                      <a:endParaRPr sz="800" b="1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500</a:t>
                      </a:r>
                      <a:endParaRPr sz="800" b="1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600</a:t>
                      </a:r>
                      <a:endParaRPr sz="800" b="1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700</a:t>
                      </a:r>
                      <a:endParaRPr sz="800" b="1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800</a:t>
                      </a:r>
                      <a:endParaRPr sz="800" b="1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36613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0</a:t>
                      </a:r>
                      <a:endParaRPr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20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20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30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30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40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40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50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36613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-5</a:t>
                      </a:r>
                      <a:endParaRPr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20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30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40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40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50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60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70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36613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-10</a:t>
                      </a:r>
                      <a:endParaRPr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20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30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40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50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60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70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80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36613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-15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30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40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50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60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80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90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100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36613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-20</a:t>
                      </a: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30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50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60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70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90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100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120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56798653"/>
                  </a:ext>
                </a:extLst>
              </a:tr>
            </a:tbl>
          </a:graphicData>
        </a:graphic>
      </p:graphicFrame>
      <p:graphicFrame>
        <p:nvGraphicFramePr>
          <p:cNvPr id="381" name="Google Shape;381;p28"/>
          <p:cNvGraphicFramePr/>
          <p:nvPr>
            <p:extLst>
              <p:ext uri="{D42A27DB-BD31-4B8C-83A1-F6EECF244321}">
                <p14:modId xmlns:p14="http://schemas.microsoft.com/office/powerpoint/2010/main" val="2425467214"/>
              </p:ext>
            </p:extLst>
          </p:nvPr>
        </p:nvGraphicFramePr>
        <p:xfrm>
          <a:off x="7" y="0"/>
          <a:ext cx="2328850" cy="106683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328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637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dirty="0">
                          <a:solidFill>
                            <a:srgbClr val="FFC000"/>
                          </a:solidFill>
                        </a:rPr>
                        <a:t>COLD TEMP CORRECTION General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700" b="0" dirty="0">
                          <a:solidFill>
                            <a:schemeClr val="bg1"/>
                          </a:solidFill>
                        </a:rPr>
                        <a:t>5</a:t>
                      </a:r>
                      <a:r>
                        <a:rPr lang="ko-KR" altLang="en-US" sz="700" b="0" dirty="0">
                          <a:solidFill>
                            <a:schemeClr val="bg1"/>
                          </a:solidFill>
                        </a:rPr>
                        <a:t>도 간격은 보수적으로 </a:t>
                      </a:r>
                      <a:r>
                        <a:rPr lang="ko-KR" altLang="en-US" sz="700" b="0" dirty="0" err="1">
                          <a:solidFill>
                            <a:schemeClr val="bg1"/>
                          </a:solidFill>
                        </a:rPr>
                        <a:t>보간법</a:t>
                      </a:r>
                      <a:r>
                        <a:rPr lang="ko-KR" altLang="en-US" sz="700" b="0" dirty="0">
                          <a:solidFill>
                            <a:schemeClr val="bg1"/>
                          </a:solidFill>
                        </a:rPr>
                        <a:t> 적용됨</a:t>
                      </a:r>
                      <a:endParaRPr sz="700" b="0" dirty="0">
                        <a:solidFill>
                          <a:schemeClr val="bg1"/>
                        </a:solidFill>
                      </a:endParaRPr>
                    </a:p>
                  </a:txBody>
                  <a:tcPr marL="91450" marR="91450" marT="45725" marB="45725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4897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b="1" dirty="0">
                          <a:solidFill>
                            <a:srgbClr val="00B050"/>
                          </a:solidFill>
                        </a:rPr>
                        <a:t>Min</a:t>
                      </a:r>
                      <a:r>
                        <a:rPr lang="en-US" sz="700" dirty="0"/>
                        <a:t> </a:t>
                      </a:r>
                      <a:r>
                        <a:rPr lang="ko-KR" altLang="en-US" sz="700" dirty="0"/>
                        <a:t>제외한 모든 고도 수정은 </a:t>
                      </a:r>
                      <a:r>
                        <a:rPr lang="en-US" altLang="ko-KR" sz="700" dirty="0"/>
                        <a:t>ATC </a:t>
                      </a:r>
                      <a:r>
                        <a:rPr lang="ko-KR" altLang="en-US" sz="700" dirty="0"/>
                        <a:t>인가 필요</a:t>
                      </a:r>
                      <a:endParaRPr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b="1" dirty="0">
                          <a:solidFill>
                            <a:srgbClr val="C00000"/>
                          </a:solidFill>
                        </a:rPr>
                        <a:t>Mandatory</a:t>
                      </a:r>
                      <a:r>
                        <a:rPr lang="en-US" altLang="ko-KR" sz="700" b="1" dirty="0">
                          <a:solidFill>
                            <a:srgbClr val="C00000"/>
                          </a:solidFill>
                        </a:rPr>
                        <a:t>,</a:t>
                      </a:r>
                      <a:r>
                        <a:rPr lang="ko-KR" altLang="en-US" sz="700" b="1" dirty="0">
                          <a:solidFill>
                            <a:srgbClr val="C00000"/>
                          </a:solidFill>
                        </a:rPr>
                        <a:t> </a:t>
                      </a:r>
                      <a:r>
                        <a:rPr lang="en-US" sz="700" b="1" dirty="0">
                          <a:solidFill>
                            <a:srgbClr val="C00000"/>
                          </a:solidFill>
                        </a:rPr>
                        <a:t>Missed App </a:t>
                      </a:r>
                      <a:r>
                        <a:rPr lang="en-US" sz="700" b="1" dirty="0" err="1">
                          <a:solidFill>
                            <a:srgbClr val="C00000"/>
                          </a:solidFill>
                        </a:rPr>
                        <a:t>고도</a:t>
                      </a:r>
                      <a:r>
                        <a:rPr lang="ko-KR" altLang="en-US" sz="700" b="1" dirty="0">
                          <a:solidFill>
                            <a:srgbClr val="C00000"/>
                          </a:solidFill>
                        </a:rPr>
                        <a:t> </a:t>
                      </a:r>
                      <a:r>
                        <a:rPr lang="en-US" altLang="ko-KR" sz="700" dirty="0"/>
                        <a:t>ATC </a:t>
                      </a:r>
                      <a:r>
                        <a:rPr lang="ko-KR" altLang="en-US" sz="700" dirty="0"/>
                        <a:t>사전 인가 없이 금지</a:t>
                      </a:r>
                      <a:endParaRPr sz="700" dirty="0"/>
                    </a:p>
                  </a:txBody>
                  <a:tcPr marL="91450" marR="91450" marT="45725" marB="45725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4897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700" b="1" dirty="0">
                          <a:solidFill>
                            <a:srgbClr val="0070C0"/>
                          </a:solidFill>
                        </a:rPr>
                        <a:t>반드시 고도 </a:t>
                      </a:r>
                      <a:r>
                        <a:rPr lang="en-US" altLang="ko-KR" sz="700" b="1" dirty="0">
                          <a:solidFill>
                            <a:srgbClr val="0070C0"/>
                          </a:solidFill>
                        </a:rPr>
                        <a:t>–</a:t>
                      </a:r>
                      <a:r>
                        <a:rPr lang="ko-KR" altLang="en-US" sz="700" b="1" dirty="0">
                          <a:solidFill>
                            <a:srgbClr val="0070C0"/>
                          </a:solidFill>
                        </a:rPr>
                        <a:t> </a:t>
                      </a:r>
                      <a:r>
                        <a:rPr lang="en-US" altLang="ko-KR" sz="700" b="1" dirty="0">
                          <a:solidFill>
                            <a:srgbClr val="0070C0"/>
                          </a:solidFill>
                        </a:rPr>
                        <a:t>FE </a:t>
                      </a:r>
                      <a:r>
                        <a:rPr lang="ko-KR" altLang="en-US" sz="700" b="1" dirty="0">
                          <a:solidFill>
                            <a:srgbClr val="0070C0"/>
                          </a:solidFill>
                        </a:rPr>
                        <a:t>후의 고도를 </a:t>
                      </a:r>
                      <a:r>
                        <a:rPr lang="ko-KR" altLang="en-US" sz="700" b="1" dirty="0" err="1">
                          <a:solidFill>
                            <a:srgbClr val="0070C0"/>
                          </a:solidFill>
                        </a:rPr>
                        <a:t>보정해야함</a:t>
                      </a:r>
                      <a:r>
                        <a:rPr lang="en-US" altLang="ko-KR" sz="700" b="1" dirty="0">
                          <a:solidFill>
                            <a:srgbClr val="0070C0"/>
                          </a:solidFill>
                        </a:rPr>
                        <a:t>.</a:t>
                      </a:r>
                      <a:r>
                        <a:rPr lang="ko-KR" altLang="en-US" sz="700" b="1" dirty="0">
                          <a:solidFill>
                            <a:srgbClr val="0070C0"/>
                          </a:solidFill>
                        </a:rPr>
                        <a:t> </a:t>
                      </a:r>
                      <a:endParaRPr lang="en-US" altLang="ko-KR" sz="700" b="1" dirty="0">
                        <a:solidFill>
                          <a:srgbClr val="0070C0"/>
                        </a:solidFill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altLang="ko-KR" sz="700" b="1" dirty="0">
                        <a:solidFill>
                          <a:srgbClr val="0070C0"/>
                        </a:solidFill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b="1" dirty="0">
                          <a:solidFill>
                            <a:srgbClr val="0070C0"/>
                          </a:solidFill>
                        </a:rPr>
                        <a:t>Ex) FE 200</a:t>
                      </a:r>
                      <a:r>
                        <a:rPr lang="en-US" altLang="ko-KR" sz="700" b="1" dirty="0">
                          <a:solidFill>
                            <a:srgbClr val="0070C0"/>
                          </a:solidFill>
                        </a:rPr>
                        <a:t>ft </a:t>
                      </a:r>
                      <a:r>
                        <a:rPr lang="ko-KR" altLang="en-US" sz="700" b="1" dirty="0">
                          <a:solidFill>
                            <a:srgbClr val="0070C0"/>
                          </a:solidFill>
                        </a:rPr>
                        <a:t>공항 </a:t>
                      </a:r>
                      <a:r>
                        <a:rPr lang="en-US" altLang="ko-KR" sz="700" b="1" dirty="0">
                          <a:solidFill>
                            <a:srgbClr val="0070C0"/>
                          </a:solidFill>
                        </a:rPr>
                        <a:t>:</a:t>
                      </a:r>
                      <a:r>
                        <a:rPr lang="ko-KR" altLang="en-US" sz="700" b="1" dirty="0">
                          <a:solidFill>
                            <a:srgbClr val="0070C0"/>
                          </a:solidFill>
                        </a:rPr>
                        <a:t> </a:t>
                      </a:r>
                      <a:r>
                        <a:rPr lang="en-US" altLang="ko-KR" sz="700" b="1" dirty="0">
                          <a:solidFill>
                            <a:srgbClr val="0070C0"/>
                          </a:solidFill>
                        </a:rPr>
                        <a:t>5000ft</a:t>
                      </a:r>
                      <a:r>
                        <a:rPr lang="ko-KR" altLang="en-US" sz="700" b="1" dirty="0">
                          <a:solidFill>
                            <a:srgbClr val="0070C0"/>
                          </a:solidFill>
                        </a:rPr>
                        <a:t>는 </a:t>
                      </a:r>
                      <a:r>
                        <a:rPr lang="en-US" altLang="ko-KR" sz="700" b="1" dirty="0">
                          <a:solidFill>
                            <a:srgbClr val="0070C0"/>
                          </a:solidFill>
                        </a:rPr>
                        <a:t>4800ft</a:t>
                      </a:r>
                      <a:r>
                        <a:rPr lang="ko-KR" altLang="en-US" sz="700" b="1" dirty="0">
                          <a:solidFill>
                            <a:srgbClr val="0070C0"/>
                          </a:solidFill>
                        </a:rPr>
                        <a:t>만 </a:t>
                      </a:r>
                      <a:r>
                        <a:rPr lang="ko-KR" altLang="en-US" sz="700" b="1" dirty="0" err="1">
                          <a:solidFill>
                            <a:srgbClr val="0070C0"/>
                          </a:solidFill>
                        </a:rPr>
                        <a:t>보정해야함</a:t>
                      </a:r>
                      <a:r>
                        <a:rPr lang="en-US" altLang="ko-KR" sz="700" b="1" dirty="0">
                          <a:solidFill>
                            <a:srgbClr val="0070C0"/>
                          </a:solidFill>
                        </a:rPr>
                        <a:t>.</a:t>
                      </a:r>
                      <a:r>
                        <a:rPr lang="ko-KR" altLang="en-US" sz="700" b="1" dirty="0">
                          <a:solidFill>
                            <a:srgbClr val="0070C0"/>
                          </a:solidFill>
                        </a:rPr>
                        <a:t> </a:t>
                      </a:r>
                      <a:endParaRPr sz="700" b="1" dirty="0">
                        <a:solidFill>
                          <a:srgbClr val="0070C0"/>
                        </a:solidFill>
                      </a:endParaRPr>
                    </a:p>
                  </a:txBody>
                  <a:tcPr marL="91450" marR="91450" marT="45725" marB="45725"/>
                </a:tc>
                <a:extLst>
                  <a:ext uri="{0D108BD9-81ED-4DB2-BD59-A6C34878D82A}">
                    <a16:rowId xmlns:a16="http://schemas.microsoft.com/office/drawing/2014/main" val="1226436469"/>
                  </a:ext>
                </a:extLst>
              </a:tr>
            </a:tbl>
          </a:graphicData>
        </a:graphic>
      </p:graphicFrame>
      <p:sp>
        <p:nvSpPr>
          <p:cNvPr id="382" name="Google Shape;382;p28"/>
          <p:cNvSpPr txBox="1"/>
          <p:nvPr/>
        </p:nvSpPr>
        <p:spPr>
          <a:xfrm>
            <a:off x="0" y="5241265"/>
            <a:ext cx="1584088" cy="2538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dirty="0">
                <a:solidFill>
                  <a:srgbClr val="00B050"/>
                </a:solidFill>
                <a:latin typeface="Calibri"/>
                <a:ea typeface="Calibri"/>
                <a:cs typeface="Calibri"/>
                <a:sym typeface="Calibri"/>
              </a:rPr>
              <a:t>GMP, CJU, CJJ next page</a:t>
            </a:r>
            <a:endParaRPr sz="1050" dirty="0">
              <a:solidFill>
                <a:srgbClr val="00B05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06196B91-167A-7407-2A65-8B29A3124F68}"/>
              </a:ext>
            </a:extLst>
          </p:cNvPr>
          <p:cNvSpPr/>
          <p:nvPr/>
        </p:nvSpPr>
        <p:spPr>
          <a:xfrm>
            <a:off x="1545366" y="522213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" action="ppaction://hlinkshowjump?jump=firstslide"/>
              </a:rPr>
              <a:t>Home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graphicFrame>
        <p:nvGraphicFramePr>
          <p:cNvPr id="3" name="Google Shape;377;p28">
            <a:extLst>
              <a:ext uri="{FF2B5EF4-FFF2-40B4-BE49-F238E27FC236}">
                <a16:creationId xmlns:a16="http://schemas.microsoft.com/office/drawing/2014/main" id="{87F6FFF9-91B5-765E-7C49-0198867FA84B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325032359"/>
              </p:ext>
            </p:extLst>
          </p:nvPr>
        </p:nvGraphicFramePr>
        <p:xfrm>
          <a:off x="2356" y="2496279"/>
          <a:ext cx="2328775" cy="135744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332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5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850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850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850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850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8507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850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34574">
                <a:tc gridSpan="8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Height Above FE (Feet) </a:t>
                      </a:r>
                      <a:r>
                        <a:rPr lang="en-US" sz="800" dirty="0">
                          <a:solidFill>
                            <a:srgbClr val="FFC000"/>
                          </a:solidFill>
                        </a:rPr>
                        <a:t>900-5000ft</a:t>
                      </a:r>
                      <a:endParaRPr sz="800" dirty="0">
                        <a:solidFill>
                          <a:srgbClr val="FFC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36613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TEMP</a:t>
                      </a:r>
                      <a:endParaRPr sz="800" b="1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900</a:t>
                      </a:r>
                      <a:endParaRPr sz="800" b="1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1000</a:t>
                      </a:r>
                      <a:endParaRPr sz="800" b="1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1500</a:t>
                      </a:r>
                      <a:endParaRPr sz="800" b="1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2000</a:t>
                      </a:r>
                      <a:endParaRPr sz="800" b="1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3000</a:t>
                      </a:r>
                      <a:endParaRPr sz="800" b="1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4000</a:t>
                      </a:r>
                      <a:endParaRPr sz="800" b="1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5000</a:t>
                      </a:r>
                      <a:endParaRPr sz="800" b="1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36613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0</a:t>
                      </a:r>
                      <a:endParaRPr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50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60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90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120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170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230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280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36613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-5</a:t>
                      </a:r>
                      <a:endParaRPr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70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80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120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160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230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310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390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36613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-10</a:t>
                      </a:r>
                      <a:endParaRPr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90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100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150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200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290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390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490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36613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-15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110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120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180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240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360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480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600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36613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-20</a:t>
                      </a: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130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140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210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280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420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570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710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56798653"/>
                  </a:ext>
                </a:extLst>
              </a:tr>
            </a:tbl>
          </a:graphicData>
        </a:graphic>
      </p:graphicFrame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D66801E4-3ED8-B281-2C8A-63070C97C57C}"/>
              </a:ext>
            </a:extLst>
          </p:cNvPr>
          <p:cNvSpPr/>
          <p:nvPr/>
        </p:nvSpPr>
        <p:spPr>
          <a:xfrm>
            <a:off x="66127" y="4535602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3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5" name="직사각형 4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DE8B52D6-2250-6FEA-FA01-2747CB81C281}"/>
              </a:ext>
            </a:extLst>
          </p:cNvPr>
          <p:cNvSpPr/>
          <p:nvPr/>
        </p:nvSpPr>
        <p:spPr>
          <a:xfrm>
            <a:off x="73208" y="419527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4" action="ppaction://hlinksldjump"/>
              </a:rPr>
              <a:t>Japan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2527F55-1A9F-C247-A6B1-9D9CFFC42267}"/>
              </a:ext>
            </a:extLst>
          </p:cNvPr>
          <p:cNvSpPr txBox="1"/>
          <p:nvPr/>
        </p:nvSpPr>
        <p:spPr>
          <a:xfrm>
            <a:off x="-158860" y="3881406"/>
            <a:ext cx="123270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Domestic</a:t>
            </a:r>
            <a:endParaRPr lang="en-US" altLang="ko-KR" sz="14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300070399"/>
      </p:ext>
    </p:extLst>
  </p:cSld>
  <p:clrMapOvr>
    <a:masterClrMapping/>
  </p:clrMapOvr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77" name="Google Shape;377;p28"/>
          <p:cNvGraphicFramePr/>
          <p:nvPr>
            <p:extLst>
              <p:ext uri="{D42A27DB-BD31-4B8C-83A1-F6EECF244321}">
                <p14:modId xmlns:p14="http://schemas.microsoft.com/office/powerpoint/2010/main" val="1810471796"/>
              </p:ext>
            </p:extLst>
          </p:nvPr>
        </p:nvGraphicFramePr>
        <p:xfrm>
          <a:off x="7" y="550180"/>
          <a:ext cx="2328775" cy="174528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332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5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850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850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850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850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8507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850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01600">
                <a:tc gridSpan="8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GMP 32L (261’) / 32R (262’) / 14R (254’)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32L/R</a:t>
                      </a:r>
                      <a:endParaRPr sz="800" b="1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8000</a:t>
                      </a:r>
                      <a:endParaRPr sz="800" b="1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5500</a:t>
                      </a:r>
                      <a:endParaRPr sz="800" b="1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5300</a:t>
                      </a:r>
                      <a:endParaRPr sz="800" b="1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4000</a:t>
                      </a:r>
                      <a:endParaRPr sz="800" b="1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2800</a:t>
                      </a:r>
                      <a:endParaRPr sz="800" b="1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2300</a:t>
                      </a:r>
                      <a:endParaRPr sz="800" b="1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2000</a:t>
                      </a:r>
                      <a:endParaRPr sz="800" b="1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0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8450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5810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5600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4230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2970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2440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2120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-5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8620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5930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5710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4310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3030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2490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2160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-10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8780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6040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5820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4390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3080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2530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2200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76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R14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4000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2800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1400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FF0000"/>
                          </a:solidFill>
                        </a:rPr>
                        <a:t>4000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76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4230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2970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1490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4230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76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-5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4310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3030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1520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4310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76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-10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4390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3080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1540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4390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graphicFrame>
        <p:nvGraphicFramePr>
          <p:cNvPr id="378" name="Google Shape;378;p28"/>
          <p:cNvGraphicFramePr/>
          <p:nvPr/>
        </p:nvGraphicFramePr>
        <p:xfrm>
          <a:off x="7" y="2364823"/>
          <a:ext cx="2328800" cy="96960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911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11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911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911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911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911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911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911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01600">
                <a:tc gridSpan="8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CJU 07 (307’) / 25 (296’)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4000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2900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1800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07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FF0000"/>
                          </a:solidFill>
                        </a:rPr>
                        <a:t>8000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25</a:t>
                      </a:r>
                      <a:endParaRPr sz="800" b="1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FF0000"/>
                          </a:solidFill>
                        </a:rPr>
                        <a:t>6000</a:t>
                      </a:r>
                      <a:endParaRPr sz="800" b="1">
                        <a:solidFill>
                          <a:srgbClr val="FF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0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4220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3070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1900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8450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6340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-5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4300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3130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1940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8620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6460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-10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4380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3180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1970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8780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6590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379" name="Google Shape;379;p28"/>
          <p:cNvGraphicFramePr/>
          <p:nvPr/>
        </p:nvGraphicFramePr>
        <p:xfrm>
          <a:off x="0" y="3396272"/>
          <a:ext cx="2328800" cy="174528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911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11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911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911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911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911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911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911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01600">
                <a:tc gridSpan="8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CJJ 06L (387’) / 24R (296’)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06L</a:t>
                      </a:r>
                      <a:endParaRPr sz="800" b="1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4400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3900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3000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2100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FF0000"/>
                          </a:solidFill>
                        </a:rPr>
                        <a:t>7000</a:t>
                      </a:r>
                      <a:endParaRPr sz="800" b="1">
                        <a:solidFill>
                          <a:srgbClr val="FF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0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4650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4110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3170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2210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7390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-5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4740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4200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3230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2270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7540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-10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4810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4260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3280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2290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7670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76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24R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6000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3700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2500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2100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FF0000"/>
                          </a:solidFill>
                        </a:rPr>
                        <a:t>6000</a:t>
                      </a:r>
                      <a:endParaRPr sz="800" b="1">
                        <a:solidFill>
                          <a:srgbClr val="FF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76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6330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3900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2640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2210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6330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76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-5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6460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3980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2700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2270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6460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76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-10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6570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4040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2730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2290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6570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graphicFrame>
        <p:nvGraphicFramePr>
          <p:cNvPr id="381" name="Google Shape;381;p28"/>
          <p:cNvGraphicFramePr/>
          <p:nvPr/>
        </p:nvGraphicFramePr>
        <p:xfrm>
          <a:off x="7" y="0"/>
          <a:ext cx="2328850" cy="54866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328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637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dirty="0"/>
                        <a:t>COLD TEMP CORRECTION 1/2</a:t>
                      </a:r>
                      <a:endParaRPr sz="1000" dirty="0"/>
                    </a:p>
                  </a:txBody>
                  <a:tcPr marL="91450" marR="91450" marT="45725" marB="45725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4897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dirty="0"/>
                        <a:t>Min </a:t>
                      </a:r>
                      <a:r>
                        <a:rPr lang="en-US" sz="700" dirty="0" err="1"/>
                        <a:t>은</a:t>
                      </a:r>
                      <a:r>
                        <a:rPr lang="en-US" sz="700" dirty="0"/>
                        <a:t> </a:t>
                      </a:r>
                      <a:r>
                        <a:rPr lang="en-US" sz="700" dirty="0" err="1"/>
                        <a:t>반드시</a:t>
                      </a:r>
                      <a:r>
                        <a:rPr lang="en-US" sz="700" dirty="0"/>
                        <a:t> </a:t>
                      </a:r>
                      <a:r>
                        <a:rPr lang="en-US" sz="700" dirty="0" err="1"/>
                        <a:t>수정</a:t>
                      </a:r>
                      <a:r>
                        <a:rPr lang="en-US" sz="700" dirty="0"/>
                        <a:t> (</a:t>
                      </a:r>
                      <a:r>
                        <a:rPr lang="en-US" sz="700" dirty="0" err="1"/>
                        <a:t>중간</a:t>
                      </a:r>
                      <a:r>
                        <a:rPr lang="en-US" sz="700" dirty="0"/>
                        <a:t> </a:t>
                      </a:r>
                      <a:r>
                        <a:rPr lang="en-US" sz="700" dirty="0" err="1"/>
                        <a:t>고도</a:t>
                      </a:r>
                      <a:r>
                        <a:rPr lang="en-US" sz="700" dirty="0"/>
                        <a:t> </a:t>
                      </a:r>
                      <a:r>
                        <a:rPr lang="en-US" sz="700" dirty="0" err="1"/>
                        <a:t>CORRECTION은</a:t>
                      </a:r>
                      <a:r>
                        <a:rPr lang="en-US" sz="700" dirty="0"/>
                        <a:t> PIC </a:t>
                      </a:r>
                      <a:r>
                        <a:rPr lang="en-US" sz="700" dirty="0" err="1"/>
                        <a:t>결정</a:t>
                      </a:r>
                      <a:r>
                        <a:rPr lang="en-US" sz="700" dirty="0"/>
                        <a:t>)</a:t>
                      </a:r>
                      <a:endParaRPr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dirty="0"/>
                        <a:t>Missed App </a:t>
                      </a:r>
                      <a:r>
                        <a:rPr lang="en-US" sz="700" dirty="0" err="1"/>
                        <a:t>고도는</a:t>
                      </a:r>
                      <a:r>
                        <a:rPr lang="en-US" sz="700" dirty="0"/>
                        <a:t> ATC </a:t>
                      </a:r>
                      <a:r>
                        <a:rPr lang="en-US" sz="700" dirty="0" err="1"/>
                        <a:t>협조</a:t>
                      </a:r>
                      <a:r>
                        <a:rPr lang="en-US" sz="700" dirty="0"/>
                        <a:t> </a:t>
                      </a:r>
                      <a:r>
                        <a:rPr lang="en-US" sz="700" dirty="0" err="1"/>
                        <a:t>필요</a:t>
                      </a:r>
                      <a:endParaRPr sz="700" dirty="0"/>
                    </a:p>
                  </a:txBody>
                  <a:tcPr marL="91450" marR="91450" marT="45725" marB="45725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382" name="Google Shape;382;p28"/>
          <p:cNvSpPr txBox="1"/>
          <p:nvPr/>
        </p:nvSpPr>
        <p:spPr>
          <a:xfrm>
            <a:off x="0" y="5241265"/>
            <a:ext cx="1584088" cy="2616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>
                <a:solidFill>
                  <a:srgbClr val="00B050"/>
                </a:solidFill>
                <a:latin typeface="Calibri"/>
                <a:ea typeface="Calibri"/>
                <a:cs typeface="Calibri"/>
                <a:sym typeface="Calibri"/>
              </a:rPr>
              <a:t>ICN, KWJ, PUS next page</a:t>
            </a:r>
            <a:endParaRPr sz="1050">
              <a:solidFill>
                <a:srgbClr val="00B05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06196B91-167A-7407-2A65-8B29A3124F68}"/>
              </a:ext>
            </a:extLst>
          </p:cNvPr>
          <p:cNvSpPr/>
          <p:nvPr/>
        </p:nvSpPr>
        <p:spPr>
          <a:xfrm>
            <a:off x="1545366" y="522213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" action="ppaction://hlinkshowjump?jump=firstslide"/>
              </a:rPr>
              <a:t>Home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</p:cSld>
  <p:clrMapOvr>
    <a:masterClrMapping/>
  </p:clrMapOvr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87" name="Google Shape;387;p29"/>
          <p:cNvGraphicFramePr/>
          <p:nvPr/>
        </p:nvGraphicFramePr>
        <p:xfrm>
          <a:off x="7" y="255716"/>
          <a:ext cx="2328875" cy="174528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345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49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849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849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849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849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849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849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01600">
                <a:tc gridSpan="8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ALL RWY (243’)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33/34</a:t>
                      </a:r>
                      <a:endParaRPr sz="800" b="1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7000</a:t>
                      </a:r>
                      <a:endParaRPr sz="800" b="1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6000</a:t>
                      </a:r>
                      <a:endParaRPr sz="800" b="1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5000</a:t>
                      </a:r>
                      <a:endParaRPr sz="800" b="1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3600</a:t>
                      </a:r>
                      <a:endParaRPr sz="800" b="1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2600</a:t>
                      </a:r>
                      <a:endParaRPr sz="800" b="1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1600</a:t>
                      </a:r>
                      <a:endParaRPr sz="800" b="1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0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7400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6340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5290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3810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2760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1700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-5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7520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6460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5390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3880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2810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1730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-10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7680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6580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5490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3950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2860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1760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76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15/16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3000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2600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1600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FF0000"/>
                          </a:solidFill>
                        </a:rPr>
                        <a:t>4000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FF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FF0000"/>
                          </a:solidFill>
                        </a:rPr>
                        <a:t>3000</a:t>
                      </a:r>
                      <a:endParaRPr sz="800" b="1">
                        <a:solidFill>
                          <a:srgbClr val="FF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76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3170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2760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1700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4230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3170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76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-5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3230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2810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1730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4310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3230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76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-10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3290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2860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1760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4390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3290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graphicFrame>
        <p:nvGraphicFramePr>
          <p:cNvPr id="388" name="Google Shape;388;p29"/>
          <p:cNvGraphicFramePr/>
          <p:nvPr/>
        </p:nvGraphicFramePr>
        <p:xfrm>
          <a:off x="7" y="2016116"/>
          <a:ext cx="2328775" cy="174528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332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5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850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850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850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850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8507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850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31475">
                <a:tc gridSpan="8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KWJ 04R(266’),04L(610’) / 22L(610’)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314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04L/R</a:t>
                      </a:r>
                      <a:endParaRPr sz="800" b="1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4000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3000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2000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FF0000"/>
                          </a:solidFill>
                        </a:rPr>
                        <a:t>7000</a:t>
                      </a:r>
                      <a:endParaRPr sz="800" b="1">
                        <a:solidFill>
                          <a:srgbClr val="FF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314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0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4230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3170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2120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7500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314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-5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4310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3230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2160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7590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314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-10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4390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3290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2200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7680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314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22L</a:t>
                      </a:r>
                      <a:endParaRPr sz="800" b="1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5000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4100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3500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2900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2200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FF0000"/>
                          </a:solidFill>
                        </a:rPr>
                        <a:t>4000</a:t>
                      </a:r>
                      <a:endParaRPr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314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0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4230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3170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2120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3070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2340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4230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314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-5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4310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3230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2160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3130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2430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4310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314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-10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4390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3290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2200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3190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2420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4390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graphicFrame>
        <p:nvGraphicFramePr>
          <p:cNvPr id="389" name="Google Shape;389;p29"/>
          <p:cNvGraphicFramePr/>
          <p:nvPr/>
        </p:nvGraphicFramePr>
        <p:xfrm>
          <a:off x="0" y="3780351"/>
          <a:ext cx="2328775" cy="174528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332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5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850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850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850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850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8507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850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64650">
                <a:tc gridSpan="8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PUS 36L(233’),36R(228’) / 18L/R (see below)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46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36L/R</a:t>
                      </a:r>
                      <a:endParaRPr sz="800" b="1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6000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5000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3300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2100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FF0000"/>
                          </a:solidFill>
                        </a:rPr>
                        <a:t>6000</a:t>
                      </a:r>
                      <a:endParaRPr sz="800" b="1">
                        <a:solidFill>
                          <a:srgbClr val="FF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46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0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6340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5290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3490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2210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6340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646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-5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6460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5390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3560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2250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6460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646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-10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6580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5490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3620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2290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6580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646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18L/R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6000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5000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4000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2600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1700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FF0000"/>
                          </a:solidFill>
                        </a:rPr>
                        <a:t>6000</a:t>
                      </a:r>
                      <a:endParaRPr sz="800" b="1">
                        <a:solidFill>
                          <a:srgbClr val="FF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646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6340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5290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4230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2760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1800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6340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646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-5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6460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5390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4310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2810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1830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6460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646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-10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6580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5490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4390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2860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1870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6580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graphicFrame>
        <p:nvGraphicFramePr>
          <p:cNvPr id="391" name="Google Shape;391;p29"/>
          <p:cNvGraphicFramePr/>
          <p:nvPr/>
        </p:nvGraphicFramePr>
        <p:xfrm>
          <a:off x="7" y="0"/>
          <a:ext cx="2328850" cy="24385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328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637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/>
                        <a:t>COLD TEMP CORRECTION 2/2</a:t>
                      </a:r>
                      <a:endParaRPr sz="1000"/>
                    </a:p>
                  </a:txBody>
                  <a:tcPr marL="91450" marR="91450" marT="45725" marB="45725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8A9FA331-F385-DAB6-152D-D16ACE7E220C}"/>
              </a:ext>
            </a:extLst>
          </p:cNvPr>
          <p:cNvSpPr/>
          <p:nvPr/>
        </p:nvSpPr>
        <p:spPr>
          <a:xfrm>
            <a:off x="1363204" y="2633293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" action="ppaction://hlinkshowjump?jump=firstslide"/>
              </a:rPr>
              <a:t>Home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</p:cSld>
  <p:clrMapOvr>
    <a:masterClrMapping/>
  </p:clrMapOvr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02" name="Google Shape;402;p31"/>
          <p:cNvGraphicFramePr/>
          <p:nvPr>
            <p:extLst>
              <p:ext uri="{D42A27DB-BD31-4B8C-83A1-F6EECF244321}">
                <p14:modId xmlns:p14="http://schemas.microsoft.com/office/powerpoint/2010/main" val="3834570802"/>
              </p:ext>
            </p:extLst>
          </p:nvPr>
        </p:nvGraphicFramePr>
        <p:xfrm>
          <a:off x="0" y="-1"/>
          <a:ext cx="2328875" cy="522213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3288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31051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dirty="0">
                          <a:latin typeface="+mn-lt"/>
                        </a:rPr>
                        <a:t>COLD </a:t>
                      </a:r>
                      <a:r>
                        <a:rPr lang="en-US" sz="1000" dirty="0" err="1">
                          <a:latin typeface="+mn-lt"/>
                        </a:rPr>
                        <a:t>Wx</a:t>
                      </a:r>
                      <a:r>
                        <a:rPr lang="en-US" sz="1000" dirty="0">
                          <a:latin typeface="+mn-lt"/>
                        </a:rPr>
                        <a:t> Operation 1/2</a:t>
                      </a:r>
                      <a:endParaRPr sz="1000" dirty="0">
                        <a:latin typeface="+mn-lt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01803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OAT (GND) / TAT (TAT) is 10°C (50°F) or below :</a:t>
                      </a:r>
                      <a:endParaRPr dirty="0">
                        <a:latin typeface="+mn-lt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 • visible moisture (clouds, fog with VIS 1SM (1600 m) or rain, snow, sleet, ice crystals...)</a:t>
                      </a:r>
                      <a:endParaRPr dirty="0">
                        <a:latin typeface="+mn-lt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 • ice, snow, slush and standing water is present on the ramps, taxiways, or runways.</a:t>
                      </a:r>
                      <a:endParaRPr dirty="0">
                        <a:latin typeface="+mn-lt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0893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PREFLIGHT</a:t>
                      </a:r>
                      <a:endParaRPr dirty="0">
                        <a:latin typeface="+mn-lt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PROBE HEAT switches 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-------------------------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 ON</a:t>
                      </a:r>
                      <a:endParaRPr dirty="0">
                        <a:solidFill>
                          <a:srgbClr val="0070C0"/>
                        </a:solidFill>
                        <a:latin typeface="+mn-lt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91961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ENGINE START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R" sz="800" b="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NG : OAT -35</a:t>
                      </a:r>
                      <a:r>
                        <a:rPr lang="en-US" altLang="ko-Kore-KR" sz="800" b="0" i="0" u="none" strike="noStrike" cap="none" dirty="0">
                          <a:solidFill>
                            <a:schemeClr val="dk1"/>
                          </a:solidFill>
                          <a:latin typeface="Calibri"/>
                          <a:ea typeface="Helvetica Neue"/>
                          <a:cs typeface="Helvetica Neue"/>
                          <a:sym typeface="Helvetica Neue"/>
                        </a:rPr>
                        <a:t>°C</a:t>
                      </a:r>
                      <a:r>
                        <a:rPr lang="ko-KR" altLang="en-US" sz="800" b="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altLang="ko-KR" sz="800" b="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TH</a:t>
                      </a:r>
                      <a:r>
                        <a:rPr lang="ko-KR" altLang="en-US" sz="800" b="0" dirty="0" err="1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변경전</a:t>
                      </a:r>
                      <a:r>
                        <a:rPr lang="ko-KR" altLang="en-US" sz="800" b="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altLang="ko-KR" sz="800" b="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2</a:t>
                      </a:r>
                      <a:r>
                        <a:rPr lang="ko-KR" altLang="en-US" sz="800" b="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분간 </a:t>
                      </a:r>
                      <a:r>
                        <a:rPr lang="en-US" altLang="ko-KR" sz="800" b="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IDLE, Min Oil Press </a:t>
                      </a:r>
                      <a:r>
                        <a:rPr lang="ko-KR" altLang="en-US" sz="800" b="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까지 </a:t>
                      </a:r>
                      <a:r>
                        <a:rPr lang="en-US" altLang="ko-KR" sz="800" b="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IDLE </a:t>
                      </a:r>
                      <a:r>
                        <a:rPr lang="ko-KR" altLang="en-US" sz="800" b="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수분간 유지</a:t>
                      </a:r>
                      <a:r>
                        <a:rPr lang="en-US" altLang="ko-KR" sz="800" b="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, Oil Temp Nor </a:t>
                      </a:r>
                      <a:r>
                        <a:rPr lang="ko-KR" altLang="en-US" sz="800" b="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후 </a:t>
                      </a:r>
                      <a:r>
                        <a:rPr lang="en-US" altLang="ko-KR" sz="800" b="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Oil Press High</a:t>
                      </a:r>
                      <a:r>
                        <a:rPr lang="ko-KR" altLang="en-US" sz="800" b="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시 </a:t>
                      </a:r>
                      <a:r>
                        <a:rPr lang="en-US" altLang="ko-KR" sz="800" b="0" dirty="0" err="1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ShutDown</a:t>
                      </a:r>
                      <a:endParaRPr lang="en-US" altLang="ko-KR" sz="800" b="0" dirty="0">
                        <a:latin typeface="+mn-lt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1749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ENGINE ANTI-ICE</a:t>
                      </a:r>
                      <a:endParaRPr dirty="0">
                        <a:latin typeface="+mn-lt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ENGINE START switches 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-------------------</a:t>
                      </a:r>
                      <a:r>
                        <a:rPr lang="ko-KR" alt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CONT </a:t>
                      </a:r>
                      <a:endParaRPr dirty="0">
                        <a:solidFill>
                          <a:srgbClr val="0070C0"/>
                        </a:solidFill>
                        <a:latin typeface="+mn-lt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ENGINE ANTI-ICE switches 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-------------------</a:t>
                      </a:r>
                      <a:r>
                        <a:rPr lang="ko-KR" alt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 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ON</a:t>
                      </a:r>
                      <a:endParaRPr dirty="0">
                        <a:solidFill>
                          <a:srgbClr val="0070C0"/>
                        </a:solidFill>
                        <a:latin typeface="+mn-lt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COWL V/V OPEN </a:t>
                      </a:r>
                      <a:r>
                        <a:rPr lang="en-US" sz="800" dirty="0" err="1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지속</a:t>
                      </a:r>
                      <a:r>
                        <a:rPr 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Bright</a:t>
                      </a:r>
                      <a:r>
                        <a:rPr lang="ko-KR" altLang="en-US" sz="800" dirty="0">
                          <a:latin typeface="+mn-lt"/>
                          <a:ea typeface="+mn-ea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altLang="ko-KR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:</a:t>
                      </a:r>
                      <a:r>
                        <a:rPr 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APU Bleed OFF</a:t>
                      </a:r>
                      <a:r>
                        <a:rPr lang="ko-KR" altLang="en-US" sz="800" dirty="0">
                          <a:latin typeface="+mn-lt"/>
                          <a:ea typeface="+mn-ea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altLang="ko-KR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</a:t>
                      </a:r>
                      <a:r>
                        <a:rPr 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ISO V/V  AUTO</a:t>
                      </a:r>
                      <a:r>
                        <a:rPr lang="ko-KR" altLang="en-US" sz="800" dirty="0">
                          <a:latin typeface="+mn-lt"/>
                          <a:ea typeface="+mn-ea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altLang="ko-KR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</a:t>
                      </a:r>
                      <a:r>
                        <a:rPr lang="ko-KR" altLang="en-US" sz="800" dirty="0">
                          <a:latin typeface="+mn-lt"/>
                          <a:ea typeface="+mn-ea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TH </a:t>
                      </a:r>
                      <a:r>
                        <a:rPr lang="en-US" sz="800" dirty="0" err="1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서서히</a:t>
                      </a:r>
                      <a:r>
                        <a:rPr 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ko-KR" altLang="en-US" sz="800" dirty="0">
                          <a:latin typeface="+mn-lt"/>
                          <a:ea typeface="+mn-ea"/>
                          <a:cs typeface="Helvetica Neue"/>
                          <a:sym typeface="Helvetica Neue"/>
                        </a:rPr>
                        <a:t>증가 </a:t>
                      </a:r>
                      <a:r>
                        <a:rPr lang="en-US" altLang="ko-KR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(</a:t>
                      </a:r>
                      <a:r>
                        <a:rPr 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Max 30%</a:t>
                      </a:r>
                      <a:r>
                        <a:rPr lang="en-US" altLang="ko-KR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)</a:t>
                      </a:r>
                      <a:endParaRPr dirty="0">
                        <a:latin typeface="+mn-lt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66427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WING ANTI-ICE</a:t>
                      </a:r>
                      <a:endParaRPr dirty="0">
                        <a:latin typeface="+mn-lt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WING ANTI-ICE switch 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----------------------------</a:t>
                      </a:r>
                      <a:r>
                        <a:rPr lang="ko-KR" alt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ON</a:t>
                      </a:r>
                      <a:endParaRPr dirty="0">
                        <a:solidFill>
                          <a:srgbClr val="0070C0"/>
                        </a:solidFill>
                        <a:latin typeface="+mn-lt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Type II or IV</a:t>
                      </a:r>
                      <a:r>
                        <a:rPr lang="ko-KR" alt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로</a:t>
                      </a:r>
                      <a:r>
                        <a:rPr 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Deicing</a:t>
                      </a:r>
                      <a:r>
                        <a:rPr lang="ko-KR" alt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800" dirty="0" err="1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안할</a:t>
                      </a:r>
                      <a:r>
                        <a:rPr 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800" dirty="0" err="1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거면</a:t>
                      </a:r>
                      <a:r>
                        <a:rPr 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800" dirty="0" err="1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사용하라</a:t>
                      </a:r>
                      <a:endParaRPr dirty="0">
                        <a:latin typeface="+mn-lt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094096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AFTER START</a:t>
                      </a:r>
                      <a:endParaRPr dirty="0">
                        <a:latin typeface="+mn-lt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GENERATOR 1 and 2 switches</a:t>
                      </a:r>
                      <a:r>
                        <a:rPr lang="ko-KR" alt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----------------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ON</a:t>
                      </a:r>
                      <a:endParaRPr dirty="0">
                        <a:solidFill>
                          <a:srgbClr val="0070C0"/>
                        </a:solidFill>
                        <a:latin typeface="+mn-lt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IDG 1분이내 </a:t>
                      </a:r>
                      <a:r>
                        <a:rPr lang="en-US" sz="800" dirty="0" err="1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안정</a:t>
                      </a:r>
                      <a:r>
                        <a:rPr 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, </a:t>
                      </a:r>
                      <a:r>
                        <a:rPr lang="ko-KR" alt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늦어도 </a:t>
                      </a:r>
                      <a:r>
                        <a:rPr 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5분이내 </a:t>
                      </a:r>
                      <a:r>
                        <a:rPr lang="ko-KR" alt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안정된다</a:t>
                      </a:r>
                      <a:r>
                        <a:rPr lang="en-US" altLang="ko-KR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.</a:t>
                      </a:r>
                      <a:r>
                        <a:rPr lang="ko-KR" alt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endParaRPr dirty="0">
                        <a:latin typeface="+mn-lt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FLIGHT controls 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--------------------------------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Check</a:t>
                      </a:r>
                      <a:endParaRPr dirty="0">
                        <a:solidFill>
                          <a:srgbClr val="0070C0"/>
                        </a:solidFill>
                        <a:latin typeface="+mn-lt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AA47F5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Deicing </a:t>
                      </a:r>
                      <a:r>
                        <a:rPr lang="en-US" sz="800" dirty="0" err="1">
                          <a:solidFill>
                            <a:srgbClr val="AA47F5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할거면</a:t>
                      </a:r>
                      <a:r>
                        <a:rPr lang="en-US" sz="800" dirty="0">
                          <a:solidFill>
                            <a:srgbClr val="AA47F5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Deicing </a:t>
                      </a:r>
                      <a:r>
                        <a:rPr lang="en-US" sz="800" dirty="0" err="1">
                          <a:solidFill>
                            <a:srgbClr val="AA47F5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하고</a:t>
                      </a:r>
                      <a:r>
                        <a:rPr lang="en-US" sz="800" dirty="0">
                          <a:solidFill>
                            <a:srgbClr val="AA47F5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800" dirty="0" err="1">
                          <a:solidFill>
                            <a:srgbClr val="AA47F5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한다</a:t>
                      </a:r>
                      <a:r>
                        <a:rPr lang="en-US" sz="800" dirty="0">
                          <a:solidFill>
                            <a:srgbClr val="AA47F5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.</a:t>
                      </a:r>
                      <a:endParaRPr sz="800" dirty="0">
                        <a:solidFill>
                          <a:srgbClr val="AA47F5"/>
                        </a:solidFill>
                        <a:latin typeface="+mn-lt"/>
                        <a:ea typeface="Helvetica Neue"/>
                        <a:cs typeface="Helvetica Neue"/>
                        <a:sym typeface="Helvetica Neue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FLAPS 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----------------------------------------------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Check</a:t>
                      </a:r>
                      <a:endParaRPr dirty="0">
                        <a:solidFill>
                          <a:srgbClr val="0070C0"/>
                        </a:solidFill>
                        <a:latin typeface="+mn-lt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Full Travel UP – 40 – UP </a:t>
                      </a:r>
                      <a:r>
                        <a:rPr lang="en-US" sz="800" dirty="0">
                          <a:solidFill>
                            <a:srgbClr val="AA47F5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(Deicing</a:t>
                      </a:r>
                      <a:r>
                        <a:rPr lang="ko-KR" altLang="en-US" sz="800" dirty="0">
                          <a:solidFill>
                            <a:srgbClr val="AA47F5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시 하고 실시</a:t>
                      </a:r>
                      <a:r>
                        <a:rPr lang="en-US" altLang="ko-KR" sz="800" dirty="0">
                          <a:solidFill>
                            <a:srgbClr val="AA47F5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)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FLAP UP Taxi </a:t>
                      </a:r>
                      <a:r>
                        <a:rPr lang="en-US" sz="800" b="1" dirty="0" err="1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고려</a:t>
                      </a:r>
                      <a:endParaRPr dirty="0">
                        <a:latin typeface="+mn-lt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078404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TAXI OUT</a:t>
                      </a:r>
                      <a:endParaRPr dirty="0">
                        <a:latin typeface="+mn-lt"/>
                      </a:endParaRP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OAT 3</a:t>
                      </a: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°C</a:t>
                      </a:r>
                      <a:r>
                        <a:rPr 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800" dirty="0" err="1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이하</a:t>
                      </a:r>
                      <a:r>
                        <a:rPr 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RUN UP</a:t>
                      </a:r>
                      <a:r>
                        <a:rPr lang="en-US" altLang="ko-KR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,</a:t>
                      </a:r>
                      <a:r>
                        <a:rPr lang="ko-KR" alt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altLang="ko-KR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Ice Shedding</a:t>
                      </a:r>
                      <a:r>
                        <a:rPr 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 RUNUP : Behind CLR, Min 70% 30초, 30분간</a:t>
                      </a:r>
                      <a:r>
                        <a:rPr lang="ko-KR" alt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격   </a:t>
                      </a:r>
                      <a:endParaRPr lang="en-US" altLang="ko-KR" sz="800" dirty="0">
                        <a:latin typeface="+mn-lt"/>
                        <a:ea typeface="Helvetica Neue"/>
                        <a:cs typeface="Helvetica Neue"/>
                        <a:sym typeface="Helvetica Neue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800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 </a:t>
                      </a:r>
                      <a:r>
                        <a:rPr lang="en-US" sz="800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(-8 : 50%-IDLE, 60분 </a:t>
                      </a:r>
                      <a:r>
                        <a:rPr lang="en-US" sz="800" dirty="0" err="1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간격</a:t>
                      </a:r>
                      <a:r>
                        <a:rPr lang="en-US" sz="800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)</a:t>
                      </a:r>
                      <a:r>
                        <a:rPr 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endParaRPr dirty="0">
                        <a:latin typeface="+mn-lt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</a:t>
                      </a:r>
                      <a:r>
                        <a:rPr lang="ko-KR" alt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Ice Shedding (FZRA, FZDZ, FZFG, +SN) : 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 </a:t>
                      </a:r>
                      <a:r>
                        <a:rPr 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Min 70%, 1초, 10분간격 </a:t>
                      </a:r>
                      <a:r>
                        <a:rPr lang="en-US" sz="800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(-8 : </a:t>
                      </a:r>
                      <a:r>
                        <a:rPr lang="en-US" sz="800" dirty="0" err="1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없음</a:t>
                      </a:r>
                      <a:r>
                        <a:rPr lang="en-US" altLang="ko-KR" sz="800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)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800" dirty="0">
                        <a:solidFill>
                          <a:srgbClr val="0070C0"/>
                        </a:solidFill>
                        <a:latin typeface="+mn-lt"/>
                        <a:ea typeface="Helvetica Neue"/>
                        <a:cs typeface="Helvetica Neue"/>
                        <a:sym typeface="Helvetica Neue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TWY </a:t>
                      </a:r>
                      <a:r>
                        <a:rPr lang="ko-KR" altLang="en-US" sz="7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상태 고려 허용되는 만큼 </a:t>
                      </a:r>
                      <a:r>
                        <a:rPr lang="en-US" altLang="ko-KR" sz="7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N1 </a:t>
                      </a:r>
                      <a:r>
                        <a:rPr lang="ko-KR" altLang="en-US" sz="7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사용</a:t>
                      </a:r>
                      <a:endParaRPr lang="en-US" sz="700" b="1" dirty="0">
                        <a:solidFill>
                          <a:srgbClr val="0070C0"/>
                        </a:solidFill>
                        <a:latin typeface="+mn-lt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3" name="직사각형 2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3C10DF26-E717-6E81-27C6-F6B26E149BB6}"/>
              </a:ext>
            </a:extLst>
          </p:cNvPr>
          <p:cNvSpPr/>
          <p:nvPr/>
        </p:nvSpPr>
        <p:spPr>
          <a:xfrm>
            <a:off x="847353" y="522213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" action="ppaction://hlinkshowjump?jump=firstslide"/>
              </a:rPr>
              <a:t>Home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</p:cSld>
  <p:clrMapOvr>
    <a:masterClrMapping/>
  </p:clrMapOvr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08" name="Google Shape;408;p32"/>
          <p:cNvGraphicFramePr/>
          <p:nvPr>
            <p:extLst>
              <p:ext uri="{D42A27DB-BD31-4B8C-83A1-F6EECF244321}">
                <p14:modId xmlns:p14="http://schemas.microsoft.com/office/powerpoint/2010/main" val="2744516737"/>
              </p:ext>
            </p:extLst>
          </p:nvPr>
        </p:nvGraphicFramePr>
        <p:xfrm>
          <a:off x="0" y="0"/>
          <a:ext cx="2328875" cy="5222131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3288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3526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dirty="0">
                          <a:latin typeface="+mn-lt"/>
                        </a:rPr>
                        <a:t>COLD </a:t>
                      </a:r>
                      <a:r>
                        <a:rPr lang="en-US" sz="1000" dirty="0" err="1">
                          <a:latin typeface="+mn-lt"/>
                        </a:rPr>
                        <a:t>Wx</a:t>
                      </a:r>
                      <a:r>
                        <a:rPr lang="en-US" sz="1000" dirty="0">
                          <a:latin typeface="+mn-lt"/>
                        </a:rPr>
                        <a:t> Operation 2/2</a:t>
                      </a:r>
                      <a:endParaRPr sz="1000" dirty="0">
                        <a:latin typeface="+mn-lt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4924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BEFORE T/O </a:t>
                      </a:r>
                      <a:r>
                        <a:rPr lang="en-US" sz="900" b="0" dirty="0">
                          <a:solidFill>
                            <a:srgbClr val="FF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(Takeoff Signal - FLAPS 5)</a:t>
                      </a:r>
                      <a:endParaRPr dirty="0">
                        <a:latin typeface="+mn-lt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FLAPS 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------------------------------------------------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 SET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-8 : Oil Temp 31°C </a:t>
                      </a:r>
                      <a:r>
                        <a:rPr kumimoji="0" lang="en-US" altLang="ko-Kore-KR" sz="800" b="1" i="0" u="none" strike="noStrike" kern="0" cap="none" spc="0" normalizeH="0" baseline="0" noProof="0" dirty="0" err="1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이상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kumimoji="0" lang="ko-KR" altLang="en-US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확인</a:t>
                      </a:r>
                      <a:endParaRPr dirty="0">
                        <a:solidFill>
                          <a:srgbClr val="0070C0"/>
                        </a:solidFill>
                        <a:latin typeface="+mn-lt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4924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rgbClr val="C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Standing</a:t>
                      </a:r>
                      <a:r>
                        <a:rPr lang="en-US" sz="900" b="1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TAKEOFF</a:t>
                      </a:r>
                      <a:endParaRPr sz="800" b="1" dirty="0">
                        <a:solidFill>
                          <a:srgbClr val="0070C0"/>
                        </a:solidFill>
                        <a:latin typeface="+mn-lt"/>
                        <a:ea typeface="Helvetica Neue"/>
                        <a:cs typeface="Helvetica Neue"/>
                        <a:sym typeface="Helvetica Neue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THRUST</a:t>
                      </a:r>
                      <a:r>
                        <a:rPr lang="ko-KR" alt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with EAI  --------------</a:t>
                      </a:r>
                      <a:r>
                        <a:rPr lang="en-US" altLang="ko-Kore-KR" sz="800" b="1" i="0" u="none" strike="noStrike" cap="none" dirty="0">
                          <a:solidFill>
                            <a:schemeClr val="dk1"/>
                          </a:solidFill>
                          <a:latin typeface="Calibri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70%,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-8 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:</a:t>
                      </a:r>
                      <a:r>
                        <a:rPr lang="ko-KR" alt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50%5</a:t>
                      </a:r>
                      <a:r>
                        <a:rPr lang="ko-KR" alt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초</a:t>
                      </a:r>
                      <a:endParaRPr sz="800" b="1" dirty="0">
                        <a:latin typeface="+mn-lt"/>
                        <a:ea typeface="Helvetica Neue"/>
                        <a:cs typeface="Helvetica Neue"/>
                        <a:sym typeface="Helvetica Neue"/>
                      </a:endParaRP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800" dirty="0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RUNUP(OAT 3°C이</a:t>
                      </a:r>
                      <a:r>
                        <a:rPr lang="ko-KR" altLang="en-US" sz="800" dirty="0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하</a:t>
                      </a:r>
                      <a:r>
                        <a:rPr lang="en-US" sz="800" dirty="0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) NG 70%</a:t>
                      </a:r>
                      <a:r>
                        <a:rPr lang="en-US" altLang="ko-KR" sz="800" dirty="0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30</a:t>
                      </a:r>
                      <a:r>
                        <a:rPr lang="ko-KR" altLang="en-US" sz="800" dirty="0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초</a:t>
                      </a:r>
                      <a:r>
                        <a:rPr lang="en-US" sz="800" dirty="0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, </a:t>
                      </a:r>
                      <a:r>
                        <a:rPr lang="en-US" sz="800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-8 : 50% 5초</a:t>
                      </a:r>
                      <a:endParaRPr sz="800" dirty="0">
                        <a:solidFill>
                          <a:srgbClr val="0070C0"/>
                        </a:solidFill>
                        <a:latin typeface="+mn-lt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L="0" marR="0" marT="36000" marB="36000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858386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ENGINE ANTI-ICE</a:t>
                      </a:r>
                      <a:endParaRPr dirty="0">
                        <a:latin typeface="+mn-lt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ENGINE START switches 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--------------------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CONT </a:t>
                      </a:r>
                      <a:endParaRPr dirty="0">
                        <a:solidFill>
                          <a:srgbClr val="0070C0"/>
                        </a:solidFill>
                        <a:latin typeface="+mn-lt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ENGINE ANTI-ICE switches</a:t>
                      </a:r>
                      <a:r>
                        <a:rPr lang="ko-KR" alt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--------------------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ON</a:t>
                      </a:r>
                      <a:endParaRPr dirty="0">
                        <a:solidFill>
                          <a:srgbClr val="0070C0"/>
                        </a:solidFill>
                        <a:latin typeface="+mn-lt"/>
                      </a:endParaRP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Helvetica Neue"/>
                        <a:buNone/>
                        <a:tabLst/>
                        <a:defRPr/>
                      </a:pPr>
                      <a:r>
                        <a:rPr lang="en-US" sz="800" dirty="0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SAT -4</a:t>
                      </a:r>
                      <a:r>
                        <a:rPr lang="en-US" altLang="ko-KR" sz="800" dirty="0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1°C</a:t>
                      </a:r>
                      <a:r>
                        <a:rPr lang="ko-KR" altLang="en-US" sz="800" dirty="0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ko-KR" altLang="en-US" sz="800" dirty="0" err="1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부터</a:t>
                      </a:r>
                      <a:r>
                        <a:rPr lang="ko-KR" altLang="en-US" sz="800" dirty="0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altLang="ko-KR" sz="800" dirty="0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OFF </a:t>
                      </a:r>
                      <a:r>
                        <a:rPr lang="ko-KR" altLang="en-US" sz="800" dirty="0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가능</a:t>
                      </a:r>
                      <a:endParaRPr dirty="0">
                        <a:solidFill>
                          <a:srgbClr val="00B050"/>
                        </a:solidFill>
                        <a:latin typeface="+mn-lt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Helvetica Neue"/>
                        <a:buNone/>
                      </a:pPr>
                      <a:r>
                        <a:rPr 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COWL V/V OPEN </a:t>
                      </a:r>
                      <a:r>
                        <a:rPr lang="en-US" sz="800" dirty="0" err="1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지속</a:t>
                      </a:r>
                      <a:r>
                        <a:rPr 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Bright</a:t>
                      </a:r>
                      <a:r>
                        <a:rPr lang="ko-KR" alt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altLang="ko-KR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:</a:t>
                      </a:r>
                      <a:r>
                        <a:rPr 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APU Bleed OFF, ISO V/V  AUTO, TH </a:t>
                      </a:r>
                      <a:r>
                        <a:rPr lang="en-US" sz="800" dirty="0" err="1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서서히</a:t>
                      </a:r>
                      <a:r>
                        <a:rPr 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ko-KR" alt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증가 </a:t>
                      </a:r>
                      <a:r>
                        <a:rPr lang="en-US" altLang="ko-KR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(</a:t>
                      </a:r>
                      <a:r>
                        <a:rPr 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Max 30%</a:t>
                      </a:r>
                      <a:r>
                        <a:rPr lang="en-US" altLang="ko-KR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)</a:t>
                      </a:r>
                      <a:endParaRPr dirty="0">
                        <a:latin typeface="+mn-lt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241848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FAN ICE REMOVAL </a:t>
                      </a:r>
                      <a:r>
                        <a:rPr kumimoji="0" lang="en-US" altLang="ko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one ENG at a time</a:t>
                      </a:r>
                      <a:endParaRPr dirty="0">
                        <a:solidFill>
                          <a:srgbClr val="00B050"/>
                        </a:solidFill>
                        <a:latin typeface="+mn-lt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Moderate Severe Icing </a:t>
                      </a:r>
                      <a:r>
                        <a:rPr lang="en-US" sz="800" dirty="0" err="1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가능하면</a:t>
                      </a:r>
                      <a:r>
                        <a:rPr lang="en-US" sz="800" dirty="0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800" dirty="0" err="1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회피하라</a:t>
                      </a:r>
                      <a:r>
                        <a:rPr lang="en-US" altLang="ko-KR" sz="800" dirty="0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.</a:t>
                      </a:r>
                      <a:r>
                        <a:rPr lang="ko-KR" altLang="en-US" sz="800" dirty="0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altLang="ko-KR" sz="800" dirty="0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FAN ICE</a:t>
                      </a:r>
                      <a:r>
                        <a:rPr lang="ko-KR" altLang="en-US" sz="800" dirty="0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로 </a:t>
                      </a:r>
                      <a:r>
                        <a:rPr lang="en-US" altLang="ko-KR" sz="800" dirty="0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Vibration </a:t>
                      </a:r>
                      <a:r>
                        <a:rPr lang="ko-KR" altLang="en-US" sz="800" dirty="0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발생 또는 예방을 위한 절차</a:t>
                      </a:r>
                      <a:endParaRPr lang="en-US" altLang="ko-KR" sz="800" dirty="0">
                        <a:solidFill>
                          <a:srgbClr val="000000"/>
                        </a:solidFill>
                        <a:latin typeface="+mn-lt"/>
                        <a:ea typeface="Helvetica Neue"/>
                        <a:cs typeface="Helvetica Neue"/>
                        <a:sym typeface="Helvetica Neue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ENGINE START switches (both) 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-------------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FLT</a:t>
                      </a:r>
                      <a:endParaRPr dirty="0">
                        <a:solidFill>
                          <a:srgbClr val="0070C0"/>
                        </a:solidFill>
                        <a:latin typeface="+mn-lt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 err="1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Autothrottle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(if engaged) 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-------------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Disengage</a:t>
                      </a:r>
                      <a:endParaRPr dirty="0">
                        <a:solidFill>
                          <a:srgbClr val="0070C0"/>
                        </a:solidFill>
                        <a:latin typeface="+mn-lt"/>
                      </a:endParaRP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THRUST</a:t>
                      </a:r>
                      <a:r>
                        <a:rPr lang="ko-KR" altLang="en-US" sz="800" b="1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altLang="ko-KR" sz="800" b="1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Helvetica Neue"/>
                          <a:cs typeface="Helvetica Neue"/>
                          <a:sym typeface="Helvetica Neue"/>
                        </a:rPr>
                        <a:t>------</a:t>
                      </a:r>
                      <a:r>
                        <a:rPr lang="ko-KR" altLang="en-US" sz="800" b="1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Increase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(min 80%, 1초)</a:t>
                      </a:r>
                      <a:r>
                        <a:rPr kumimoji="0" lang="ko-KR" altLang="en-US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kumimoji="0" lang="en-US" altLang="ko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&amp; Adjust</a:t>
                      </a:r>
                      <a:endParaRPr dirty="0">
                        <a:solidFill>
                          <a:srgbClr val="0070C0"/>
                        </a:solidFill>
                        <a:latin typeface="+mn-lt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15초이내 </a:t>
                      </a:r>
                      <a:r>
                        <a:rPr lang="en-US" sz="800" dirty="0" err="1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Vib</a:t>
                      </a:r>
                      <a:r>
                        <a:rPr lang="en-US" sz="800" dirty="0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4.0이하 </a:t>
                      </a:r>
                      <a:r>
                        <a:rPr lang="en-US" sz="800" dirty="0" err="1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안정화</a:t>
                      </a:r>
                      <a:r>
                        <a:rPr lang="en-US" altLang="ko-KR" sz="800" dirty="0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(</a:t>
                      </a:r>
                      <a:r>
                        <a:rPr lang="en-US" sz="800" dirty="0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15분 </a:t>
                      </a:r>
                      <a:r>
                        <a:rPr lang="en-US" sz="800" dirty="0" err="1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간격</a:t>
                      </a:r>
                      <a:r>
                        <a:rPr lang="en-US" sz="800" dirty="0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800" dirty="0" err="1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반</a:t>
                      </a:r>
                      <a:r>
                        <a:rPr lang="ko-KR" altLang="en-US" sz="800" dirty="0" err="1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복가능</a:t>
                      </a:r>
                      <a:r>
                        <a:rPr lang="en-US" altLang="ko-KR" sz="800" dirty="0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)</a:t>
                      </a:r>
                      <a:endParaRPr dirty="0">
                        <a:latin typeface="+mn-lt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 err="1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Autothrottle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(if needed)</a:t>
                      </a:r>
                      <a:r>
                        <a:rPr lang="ko-KR" alt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 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-------------------</a:t>
                      </a:r>
                      <a:r>
                        <a:rPr lang="ko-KR" alt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Engage</a:t>
                      </a:r>
                      <a:endParaRPr sz="800" dirty="0">
                        <a:solidFill>
                          <a:srgbClr val="0070C0"/>
                        </a:solidFill>
                        <a:latin typeface="+mn-lt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FF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4.0보다 </a:t>
                      </a:r>
                      <a:r>
                        <a:rPr lang="en-US" sz="800" dirty="0" err="1">
                          <a:solidFill>
                            <a:srgbClr val="FF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크면</a:t>
                      </a:r>
                      <a:r>
                        <a:rPr lang="en-US" sz="800" dirty="0">
                          <a:solidFill>
                            <a:srgbClr val="FF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Engine High Vibration Check List</a:t>
                      </a:r>
                      <a:endParaRPr dirty="0">
                        <a:solidFill>
                          <a:srgbClr val="FF0000"/>
                        </a:solidFill>
                        <a:latin typeface="+mn-lt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73056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Helvetica Neue"/>
                        <a:buNone/>
                      </a:pPr>
                      <a:r>
                        <a:rPr lang="en-US" sz="9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WING ANTI-ICE</a:t>
                      </a:r>
                      <a:endParaRPr dirty="0">
                        <a:latin typeface="+mn-lt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Helvetica Neue"/>
                        <a:buNone/>
                      </a:pPr>
                      <a:r>
                        <a:rPr lang="en-US" sz="8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Icing </a:t>
                      </a:r>
                      <a:r>
                        <a:rPr lang="en-US" sz="800" b="0" i="0" u="none" strike="noStrike" cap="none" dirty="0" err="1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보이면</a:t>
                      </a:r>
                      <a:r>
                        <a:rPr lang="en-US" sz="8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800" b="0" i="0" u="none" strike="noStrike" cap="none" dirty="0" err="1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Deicer로</a:t>
                      </a:r>
                      <a:r>
                        <a:rPr lang="en-US" sz="8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800" b="0" i="0" u="none" strike="noStrike" cap="none" dirty="0" err="1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사용</a:t>
                      </a:r>
                      <a:r>
                        <a:rPr lang="en-US" altLang="ko-KR" sz="8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(</a:t>
                      </a:r>
                      <a:r>
                        <a:rPr lang="en-US" sz="8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Anti-</a:t>
                      </a:r>
                      <a:r>
                        <a:rPr lang="en-US" sz="800" b="0" i="0" u="none" strike="noStrike" cap="none" dirty="0" err="1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icer도</a:t>
                      </a:r>
                      <a:r>
                        <a:rPr lang="en-US" sz="8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800" b="0" i="0" u="none" strike="noStrike" cap="none" dirty="0" err="1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사용가능</a:t>
                      </a:r>
                      <a:r>
                        <a:rPr lang="en-US" altLang="ko-KR" sz="8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)</a:t>
                      </a:r>
                      <a:endParaRPr dirty="0">
                        <a:latin typeface="+mn-lt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Helvetica Neue"/>
                        <a:buNone/>
                      </a:pPr>
                      <a:r>
                        <a:rPr lang="en-US" sz="800" b="0" i="0" u="none" strike="noStrike" cap="none" dirty="0">
                          <a:solidFill>
                            <a:srgbClr val="FF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FL350이상 </a:t>
                      </a:r>
                      <a:r>
                        <a:rPr lang="en-US" sz="800" b="0" i="0" u="none" strike="noStrike" cap="none" dirty="0" err="1">
                          <a:solidFill>
                            <a:srgbClr val="FF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사용금지</a:t>
                      </a:r>
                      <a:r>
                        <a:rPr lang="en-US" sz="800" b="0" i="0" u="none" strike="noStrike" cap="none" dirty="0">
                          <a:solidFill>
                            <a:srgbClr val="FF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-&gt; Emer Descend</a:t>
                      </a:r>
                      <a:endParaRPr dirty="0">
                        <a:solidFill>
                          <a:srgbClr val="FF0000"/>
                        </a:solidFill>
                        <a:latin typeface="+mn-lt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Helvetica Neue"/>
                        <a:buNone/>
                      </a:pPr>
                      <a:r>
                        <a:rPr lang="en-US" sz="800" b="0" i="0" u="none" strike="noStrike" cap="none" dirty="0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Icing </a:t>
                      </a:r>
                      <a:r>
                        <a:rPr lang="en-US" sz="800" b="0" i="0" u="none" strike="noStrike" cap="none" dirty="0" err="1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지역</a:t>
                      </a:r>
                      <a:r>
                        <a:rPr lang="en-US" sz="800" b="0" i="0" u="none" strike="noStrike" cap="none" dirty="0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Holding – Flap </a:t>
                      </a:r>
                      <a:r>
                        <a:rPr lang="en-US" sz="800" b="0" i="0" u="none" strike="noStrike" cap="none" dirty="0" err="1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사용금지</a:t>
                      </a:r>
                      <a:endParaRPr dirty="0">
                        <a:solidFill>
                          <a:srgbClr val="00B050"/>
                        </a:solidFill>
                        <a:latin typeface="+mn-lt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Helvetica Neue"/>
                        <a:buNone/>
                      </a:pPr>
                      <a:r>
                        <a:rPr lang="en-US" sz="800" b="1" i="0" u="none" strike="noStrike" cap="none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WING ANTI-ICE switch </a:t>
                      </a:r>
                      <a:r>
                        <a:rPr lang="en-US" altLang="ko-KR" sz="800" b="1" i="0" u="none" strike="noStrike" cap="none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---------------------------</a:t>
                      </a:r>
                      <a:r>
                        <a:rPr lang="ko-KR" altLang="en-US" sz="800" b="1" i="0" u="none" strike="noStrike" cap="none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800" b="1" i="0" u="none" strike="noStrike" cap="none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ON</a:t>
                      </a:r>
                      <a:endParaRPr dirty="0">
                        <a:solidFill>
                          <a:srgbClr val="0070C0"/>
                        </a:solidFill>
                        <a:latin typeface="+mn-lt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47838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Helvetica Neue"/>
                        <a:buNone/>
                      </a:pPr>
                      <a:r>
                        <a:rPr lang="en-US" sz="9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APPROACH L/D</a:t>
                      </a:r>
                      <a:endParaRPr dirty="0">
                        <a:latin typeface="+mn-lt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Helvetica Neue"/>
                        <a:buNone/>
                      </a:pPr>
                      <a:r>
                        <a:rPr lang="en-US" sz="800" b="0" i="0" u="none" strike="noStrike" cap="none" dirty="0">
                          <a:solidFill>
                            <a:srgbClr val="FF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FLAP 15 </a:t>
                      </a:r>
                      <a:r>
                        <a:rPr lang="ko-KR" altLang="en-US" sz="800" b="0" i="0" u="none" strike="noStrike" cap="none" dirty="0">
                          <a:solidFill>
                            <a:srgbClr val="FF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사용</a:t>
                      </a:r>
                      <a:r>
                        <a:rPr lang="en-US" sz="800" b="0" i="0" u="none" strike="noStrike" cap="none" dirty="0">
                          <a:solidFill>
                            <a:srgbClr val="FF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800" b="0" i="0" u="none" strike="noStrike" cap="none" dirty="0" err="1">
                          <a:solidFill>
                            <a:srgbClr val="FF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조건일</a:t>
                      </a:r>
                      <a:r>
                        <a:rPr lang="en-US" sz="800" b="0" i="0" u="none" strike="noStrike" cap="none" dirty="0">
                          <a:solidFill>
                            <a:srgbClr val="FF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800" b="0" i="0" u="none" strike="noStrike" cap="none" dirty="0" err="1">
                          <a:solidFill>
                            <a:srgbClr val="FF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경우만</a:t>
                      </a:r>
                      <a:r>
                        <a:rPr lang="en-US" sz="800" b="0" i="0" u="none" strike="noStrike" cap="none" dirty="0">
                          <a:solidFill>
                            <a:srgbClr val="FF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VREF ICE </a:t>
                      </a:r>
                      <a:r>
                        <a:rPr lang="en-US" sz="800" b="0" i="0" u="none" strike="noStrike" cap="none" dirty="0" err="1">
                          <a:solidFill>
                            <a:srgbClr val="FF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사용</a:t>
                      </a:r>
                      <a:endParaRPr dirty="0">
                        <a:solidFill>
                          <a:srgbClr val="FF0000"/>
                        </a:solidFill>
                        <a:latin typeface="+mn-lt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858386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Helvetica Neue"/>
                        <a:buNone/>
                      </a:pPr>
                      <a:r>
                        <a:rPr lang="en-US" sz="9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AFTER L/D, SHUTDOWN</a:t>
                      </a:r>
                      <a:endParaRPr dirty="0">
                        <a:latin typeface="+mn-lt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Helvetica Neue"/>
                        <a:buNone/>
                      </a:pPr>
                      <a:r>
                        <a:rPr lang="en-US" sz="8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TAXI RUNUP, ICE SHEDDING </a:t>
                      </a:r>
                      <a:r>
                        <a:rPr lang="en-US" sz="800" b="0" i="0" u="none" strike="noStrike" cap="none" dirty="0" err="1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절차적용</a:t>
                      </a:r>
                      <a:endParaRPr dirty="0">
                        <a:latin typeface="+mn-lt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Helvetica Neue"/>
                        <a:buNone/>
                      </a:pPr>
                      <a:r>
                        <a:rPr lang="en-US" sz="800" b="1" i="0" u="none" strike="noStrike" cap="none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FLAPS  </a:t>
                      </a:r>
                      <a:r>
                        <a:rPr lang="en-US" altLang="ko-KR" sz="800" b="1" i="0" u="none" strike="noStrike" cap="none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----------------------------------------</a:t>
                      </a:r>
                      <a:r>
                        <a:rPr lang="en-US" sz="800" b="1" i="0" u="none" strike="noStrike" cap="none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15 </a:t>
                      </a:r>
                      <a:r>
                        <a:rPr lang="en-US" sz="800" b="1" i="0" u="none" strike="noStrike" cap="none" dirty="0" err="1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까지만</a:t>
                      </a:r>
                      <a:r>
                        <a:rPr lang="en-US" sz="800" b="1" i="0" u="none" strike="noStrike" cap="none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endParaRPr sz="800" b="1" i="0" u="none" strike="noStrike" cap="none" dirty="0">
                        <a:solidFill>
                          <a:srgbClr val="0070C0"/>
                        </a:solidFill>
                        <a:latin typeface="+mn-lt"/>
                        <a:ea typeface="Helvetica Neue"/>
                        <a:cs typeface="Helvetica Neue"/>
                        <a:sym typeface="Helvetica Neue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Helvetica Neue"/>
                        <a:buNone/>
                      </a:pPr>
                      <a:r>
                        <a:rPr lang="en-US" sz="800" b="1" i="0" u="none" strike="noStrike" cap="none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ENG ANTI-ICE </a:t>
                      </a:r>
                      <a:r>
                        <a:rPr lang="en-US" altLang="ko-KR" sz="800" b="1" i="0" u="none" strike="noStrike" cap="none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-----------</a:t>
                      </a:r>
                      <a:r>
                        <a:rPr lang="en-US" sz="800" b="1" i="0" u="none" strike="noStrike" cap="none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ENG </a:t>
                      </a:r>
                      <a:r>
                        <a:rPr lang="en-US" sz="800" b="1" i="0" u="none" strike="noStrike" cap="none" dirty="0" err="1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ShutDown전</a:t>
                      </a:r>
                      <a:r>
                        <a:rPr lang="en-US" sz="800" b="1" i="0" u="none" strike="noStrike" cap="none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OFF</a:t>
                      </a:r>
                      <a:endParaRPr dirty="0">
                        <a:solidFill>
                          <a:srgbClr val="0070C0"/>
                        </a:solidFill>
                        <a:latin typeface="+mn-lt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Helvetica Neue"/>
                        <a:buNone/>
                      </a:pPr>
                      <a:r>
                        <a:rPr lang="en-US" sz="800" b="1" i="0" u="none" strike="noStrike" cap="none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Stabilizer trim  </a:t>
                      </a:r>
                      <a:r>
                        <a:rPr lang="en-US" altLang="ko-KR" sz="800" b="1" i="0" u="none" strike="noStrike" cap="none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---------------------------</a:t>
                      </a:r>
                      <a:r>
                        <a:rPr lang="en-US" sz="800" b="1" i="0" u="none" strike="noStrike" cap="none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 Set 5 units</a:t>
                      </a:r>
                      <a:endParaRPr dirty="0">
                        <a:solidFill>
                          <a:srgbClr val="0070C0"/>
                        </a:solidFill>
                        <a:latin typeface="+mn-lt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Helvetica Neue"/>
                        <a:buNone/>
                      </a:pPr>
                      <a:r>
                        <a:rPr lang="en-US" sz="800" b="1" i="0" u="none" strike="noStrike" cap="none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ENGINE  </a:t>
                      </a:r>
                      <a:r>
                        <a:rPr lang="en-US" altLang="ko-KR" sz="800" b="1" i="0" u="none" strike="noStrike" cap="none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------------------------------------</a:t>
                      </a:r>
                      <a:r>
                        <a:rPr lang="en-US" sz="800" b="1" i="0" u="none" strike="noStrike" cap="none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 </a:t>
                      </a:r>
                      <a:r>
                        <a:rPr lang="en-US" sz="800" b="1" i="0" u="none" strike="noStrike" cap="none" dirty="0" err="1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ShutDown</a:t>
                      </a:r>
                      <a:endParaRPr sz="800" b="1" i="0" u="none" strike="noStrike" cap="none" dirty="0">
                        <a:solidFill>
                          <a:srgbClr val="0070C0"/>
                        </a:solidFill>
                        <a:latin typeface="+mn-lt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3" name="직사각형 2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A19ACE0E-D4B8-D113-7C2B-F51F440D8340}"/>
              </a:ext>
            </a:extLst>
          </p:cNvPr>
          <p:cNvSpPr/>
          <p:nvPr/>
        </p:nvSpPr>
        <p:spPr>
          <a:xfrm>
            <a:off x="847353" y="522213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" action="ppaction://hlinkshowjump?jump=firstslide"/>
              </a:rPr>
              <a:t>Home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</p:cSld>
  <p:clrMapOvr>
    <a:masterClrMapping/>
  </p:clrMapOvr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14" name="Google Shape;414;p33"/>
          <p:cNvGraphicFramePr/>
          <p:nvPr>
            <p:extLst>
              <p:ext uri="{D42A27DB-BD31-4B8C-83A1-F6EECF244321}">
                <p14:modId xmlns:p14="http://schemas.microsoft.com/office/powerpoint/2010/main" val="4221559759"/>
              </p:ext>
            </p:extLst>
          </p:nvPr>
        </p:nvGraphicFramePr>
        <p:xfrm>
          <a:off x="0" y="7749"/>
          <a:ext cx="2326511" cy="5238693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32651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339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latin typeface="+mn-lt"/>
                        </a:rPr>
                        <a:t>ENG ON Deicing in </a:t>
                      </a:r>
                      <a:r>
                        <a:rPr lang="en-US" sz="1100" dirty="0">
                          <a:solidFill>
                            <a:srgbClr val="00B050"/>
                          </a:solidFill>
                          <a:latin typeface="+mn-lt"/>
                        </a:rPr>
                        <a:t>ICN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FFC000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TOBT- 40min CTC KE ICN (</a:t>
                      </a:r>
                      <a:r>
                        <a:rPr kumimoji="0" lang="ko-KR" altLang="en-US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FFC000"/>
                          </a:solidFill>
                          <a:effectLst/>
                          <a:uLnTx/>
                          <a:uFillTx/>
                          <a:latin typeface="Arial"/>
                          <a:ea typeface="+mn-ea"/>
                          <a:cs typeface="Helvetica Neue"/>
                          <a:sym typeface="Helvetica Neue"/>
                        </a:rPr>
                        <a:t>사전신청</a:t>
                      </a:r>
                      <a:r>
                        <a:rPr kumimoji="0" lang="en-US" altLang="ko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FFC000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,</a:t>
                      </a:r>
                      <a:r>
                        <a:rPr kumimoji="0" lang="ko-KR" altLang="en-US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FFC000"/>
                          </a:solidFill>
                          <a:effectLst/>
                          <a:uLnTx/>
                          <a:uFillTx/>
                          <a:latin typeface="Arial"/>
                          <a:ea typeface="+mn-ea"/>
                          <a:cs typeface="Helvetica Neue"/>
                          <a:sym typeface="Helvetica Neue"/>
                        </a:rPr>
                        <a:t> 결과확인</a:t>
                      </a:r>
                      <a:r>
                        <a:rPr kumimoji="0" lang="en-US" altLang="ko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FFC000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)</a:t>
                      </a:r>
                      <a:endParaRPr kumimoji="0" lang="en-US" altLang="ko-Kore-KR" sz="800" b="1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FFC000"/>
                        </a:solidFill>
                        <a:effectLst/>
                        <a:uLnTx/>
                        <a:uFillTx/>
                        <a:latin typeface="Arial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737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ICN Deicing </a:t>
                      </a:r>
                      <a:r>
                        <a:rPr 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”Deicing Required ENG On Deicing”</a:t>
                      </a:r>
                      <a:endParaRPr dirty="0">
                        <a:latin typeface="+mn-lt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ICN Apron </a:t>
                      </a:r>
                      <a:r>
                        <a:rPr lang="en-US" sz="7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“Req Pushback Deicing Zone xxx” </a:t>
                      </a: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SQ2000 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800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Pad Control </a:t>
                      </a:r>
                      <a:r>
                        <a:rPr kumimoji="0" lang="en-US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Arrange</a:t>
                      </a: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 Deicing Pad No.</a:t>
                      </a:r>
                      <a:endParaRPr lang="en-US" sz="800" dirty="0">
                        <a:solidFill>
                          <a:srgbClr val="0070C0"/>
                        </a:solidFill>
                        <a:latin typeface="+mn-lt"/>
                        <a:ea typeface="Helvetica Neue"/>
                        <a:cs typeface="Helvetica Neue"/>
                        <a:sym typeface="Helvetica Neue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Ice Man</a:t>
                      </a:r>
                      <a:r>
                        <a:rPr 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Manage Deicing Process</a:t>
                      </a:r>
                      <a:endParaRPr dirty="0">
                        <a:latin typeface="+mn-lt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9927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PARKING BRAKE --------------</a:t>
                      </a:r>
                      <a:r>
                        <a:rPr lang="en-US" altLang="ko-KR" sz="900" b="1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---</a:t>
                      </a:r>
                      <a:r>
                        <a:rPr lang="en-US" sz="900" b="1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-------- SET </a:t>
                      </a:r>
                      <a:endParaRPr dirty="0">
                        <a:latin typeface="+mn-lt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Report Parking Brake SET - &gt; Ice Man</a:t>
                      </a:r>
                      <a:endParaRPr dirty="0">
                        <a:latin typeface="+mn-lt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B737-8,900ER BROADBAND s/w ---- OFF</a:t>
                      </a:r>
                      <a:endParaRPr sz="900" b="1" dirty="0">
                        <a:solidFill>
                          <a:srgbClr val="0070C0"/>
                        </a:solidFill>
                        <a:latin typeface="+mn-lt"/>
                        <a:ea typeface="Helvetica Neue"/>
                        <a:cs typeface="Helvetica Neue"/>
                        <a:sym typeface="Helvetica Neue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FLAPS ------------------------------</a:t>
                      </a:r>
                      <a:r>
                        <a:rPr lang="en-US" altLang="ko-KR" sz="9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-----</a:t>
                      </a:r>
                      <a:r>
                        <a:rPr lang="en-US" sz="9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------ UP </a:t>
                      </a:r>
                      <a:endParaRPr dirty="0">
                        <a:solidFill>
                          <a:schemeClr val="tx1"/>
                        </a:solidFill>
                        <a:latin typeface="+mn-lt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THRUST LEVERS ---------------</a:t>
                      </a:r>
                      <a:r>
                        <a:rPr lang="en-US" altLang="ko-KR" sz="900" b="1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---</a:t>
                      </a:r>
                      <a:r>
                        <a:rPr lang="en-US" sz="900" b="1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------</a:t>
                      </a:r>
                      <a:r>
                        <a:rPr lang="ko-KR" altLang="en-US" sz="900" b="1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900" b="1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IDLE </a:t>
                      </a:r>
                      <a:endParaRPr dirty="0">
                        <a:latin typeface="+mn-lt"/>
                      </a:endParaRP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9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STABILIZER TRIM ---------------</a:t>
                      </a:r>
                      <a:r>
                        <a:rPr kumimoji="0" lang="en-US" altLang="ko-KR" sz="9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---</a:t>
                      </a:r>
                      <a:r>
                        <a:rPr kumimoji="0" lang="en-US" altLang="ko-Kore-KR" sz="9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---</a:t>
                      </a:r>
                      <a:r>
                        <a:rPr kumimoji="0" lang="en-US" altLang="ko-KR" sz="9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 CHECK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"/>
                        <a:cs typeface="Calibri"/>
                        <a:sym typeface="Arial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ENGINE BLEED AIR SWITCHES ----- OFF </a:t>
                      </a:r>
                      <a:endParaRPr dirty="0">
                        <a:solidFill>
                          <a:srgbClr val="0070C0"/>
                        </a:solidFill>
                        <a:latin typeface="+mn-lt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APU BLEED air switch ----------</a:t>
                      </a:r>
                      <a:r>
                        <a:rPr lang="en-US" altLang="ko-KR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--</a:t>
                      </a:r>
                      <a:r>
                        <a:rPr 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------ OFF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Report Ready for Deicing - &gt; Ice Man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"/>
                        <a:cs typeface="Calibri"/>
                        <a:sym typeface="Arial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20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START DE/ANTI-ICING  </a:t>
                      </a: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REQ DCL(CTC DEL)</a:t>
                      </a:r>
                      <a:endParaRPr sz="900" b="1" dirty="0">
                        <a:solidFill>
                          <a:srgbClr val="00B050"/>
                        </a:solidFill>
                        <a:latin typeface="+mn-lt"/>
                        <a:ea typeface="Helvetica Neue"/>
                        <a:cs typeface="Helvetica Neue"/>
                        <a:sym typeface="Helvetica Neue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 err="1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항공기이동</a:t>
                      </a:r>
                      <a:r>
                        <a:rPr lang="en-US" sz="800" b="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800" b="0" dirty="0" err="1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및</a:t>
                      </a:r>
                      <a:r>
                        <a:rPr lang="en-US" sz="800" b="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Configuration </a:t>
                      </a:r>
                      <a:r>
                        <a:rPr lang="en-US" sz="800" b="0" dirty="0" err="1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변경</a:t>
                      </a:r>
                      <a:r>
                        <a:rPr lang="en-US" sz="800" b="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800" b="0" dirty="0" err="1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금지</a:t>
                      </a:r>
                      <a:endParaRPr sz="900" b="1" dirty="0">
                        <a:latin typeface="+mn-lt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127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AFTER DE/ANTI-ICING IS COMPLETED</a:t>
                      </a:r>
                      <a:endParaRPr dirty="0">
                        <a:latin typeface="+mn-lt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(TIME CHECK 1분)</a:t>
                      </a:r>
                      <a:endParaRPr dirty="0">
                        <a:latin typeface="+mn-lt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 err="1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용액과</a:t>
                      </a:r>
                      <a:r>
                        <a:rPr lang="en-US" sz="800" b="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800" b="0" dirty="0" err="1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마지막</a:t>
                      </a:r>
                      <a:r>
                        <a:rPr lang="en-US" sz="800" b="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800" b="0" dirty="0" err="1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용액</a:t>
                      </a:r>
                      <a:r>
                        <a:rPr lang="en-US" sz="800" b="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800" b="0" dirty="0" err="1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뿌린</a:t>
                      </a:r>
                      <a:r>
                        <a:rPr lang="en-US" sz="800" b="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800" b="0" dirty="0" err="1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시간</a:t>
                      </a:r>
                      <a:r>
                        <a:rPr lang="en-US" sz="800" b="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800" b="0" dirty="0" err="1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받고</a:t>
                      </a:r>
                      <a:r>
                        <a:rPr lang="en-US" sz="800" b="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800" b="0" dirty="0" err="1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적는다</a:t>
                      </a:r>
                      <a:r>
                        <a:rPr lang="en-US" sz="800" b="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. </a:t>
                      </a:r>
                      <a:endParaRPr dirty="0">
                        <a:latin typeface="+mn-lt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Holdover Time </a:t>
                      </a:r>
                      <a:r>
                        <a:rPr lang="en-US" sz="800" b="0" dirty="0" err="1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결정</a:t>
                      </a:r>
                      <a:r>
                        <a:rPr lang="en-US" sz="800" b="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!!!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9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B737-8,900ER BROADBAND s/w ------ ON 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70C0"/>
                        </a:solidFill>
                        <a:effectLst/>
                        <a:uLnTx/>
                        <a:uFillTx/>
                        <a:latin typeface="Arial"/>
                        <a:cs typeface="Calibri"/>
                        <a:sym typeface="Arial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09690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Helvetica Neue"/>
                        <a:buNone/>
                      </a:pPr>
                      <a:r>
                        <a:rPr lang="en-US" sz="800" b="1" i="0" u="none" strike="noStrike" cap="none" dirty="0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TIME CHECK 1분후 </a:t>
                      </a:r>
                      <a:endParaRPr sz="800" b="1" i="0" u="none" strike="noStrike" cap="none" dirty="0">
                        <a:solidFill>
                          <a:srgbClr val="00B050"/>
                        </a:solidFill>
                        <a:latin typeface="+mn-lt"/>
                        <a:ea typeface="Helvetica Neue"/>
                        <a:cs typeface="Helvetica Neue"/>
                        <a:sym typeface="Helvetica Neue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Helvetica Neue"/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APU BLEED air switch -----</a:t>
                      </a:r>
                      <a:r>
                        <a:rPr lang="en-US" altLang="ko-KR" sz="9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--</a:t>
                      </a:r>
                      <a:r>
                        <a:rPr lang="en-US" sz="9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--- As needed </a:t>
                      </a:r>
                      <a:endParaRPr dirty="0">
                        <a:solidFill>
                          <a:schemeClr val="tx1"/>
                        </a:solidFill>
                        <a:latin typeface="+mn-lt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Helvetica Neue"/>
                        <a:buNone/>
                      </a:pPr>
                      <a:r>
                        <a:rPr 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Engine BLEED air switches -</a:t>
                      </a:r>
                      <a:r>
                        <a:rPr lang="en-US" altLang="ko-KR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--</a:t>
                      </a:r>
                      <a:r>
                        <a:rPr 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---------- ON</a:t>
                      </a: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Helvetica Neue"/>
                        <a:buNone/>
                      </a:pPr>
                      <a:r>
                        <a:rPr 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FLAP LEVER -----</a:t>
                      </a:r>
                      <a:r>
                        <a:rPr lang="en-US" altLang="ko-KR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--</a:t>
                      </a:r>
                      <a:r>
                        <a:rPr 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--  Set for takeoff or UP </a:t>
                      </a:r>
                      <a:endParaRPr dirty="0">
                        <a:solidFill>
                          <a:srgbClr val="0070C0"/>
                        </a:solidFill>
                        <a:latin typeface="+mn-lt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Helvetica Neue"/>
                        <a:buNone/>
                      </a:pPr>
                      <a:r>
                        <a:rPr lang="en-US" sz="800" b="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ice, snow, slush or standing water, </a:t>
                      </a:r>
                      <a:r>
                        <a:rPr lang="en-US" sz="800" b="0" dirty="0" err="1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강수</a:t>
                      </a:r>
                      <a:r>
                        <a:rPr lang="en-US" sz="800" b="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800" b="0" dirty="0" err="1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지속시</a:t>
                      </a:r>
                      <a:r>
                        <a:rPr lang="en-US" sz="800" b="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– </a:t>
                      </a:r>
                      <a:r>
                        <a:rPr lang="en-US" sz="800" b="0" dirty="0">
                          <a:solidFill>
                            <a:srgbClr val="AA47F5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FLAP full travel check </a:t>
                      </a:r>
                      <a:r>
                        <a:rPr lang="en-US" altLang="ko-KR" sz="800" b="0" dirty="0">
                          <a:solidFill>
                            <a:srgbClr val="AA47F5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(FLAP UP TAXI </a:t>
                      </a:r>
                      <a:r>
                        <a:rPr lang="ko-KR" altLang="en-US" sz="800" b="0" dirty="0">
                          <a:solidFill>
                            <a:srgbClr val="AA47F5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고려</a:t>
                      </a:r>
                      <a:r>
                        <a:rPr lang="en-US" altLang="ko-KR" sz="800" b="0" dirty="0">
                          <a:solidFill>
                            <a:srgbClr val="AA47F5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)</a:t>
                      </a:r>
                      <a:endParaRPr sz="800" b="0" dirty="0">
                        <a:solidFill>
                          <a:srgbClr val="AA47F5"/>
                        </a:solidFill>
                        <a:latin typeface="+mn-lt"/>
                        <a:ea typeface="Helvetica Neue"/>
                        <a:cs typeface="Helvetica Neue"/>
                        <a:sym typeface="Helvetica Neue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Helvetica Neue"/>
                        <a:buNone/>
                      </a:pPr>
                      <a:r>
                        <a:rPr 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Flight controls </a:t>
                      </a:r>
                      <a:r>
                        <a:rPr lang="ko-KR" alt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----</a:t>
                      </a:r>
                      <a:r>
                        <a:rPr lang="en-US" altLang="ko-Kore-KR" sz="900" b="1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Helvetica Neue"/>
                          <a:cs typeface="Helvetica Neue"/>
                          <a:sym typeface="Helvetica Neue"/>
                        </a:rPr>
                        <a:t>---</a:t>
                      </a:r>
                      <a:r>
                        <a:rPr lang="en-US" altLang="ko-KR" sz="900" b="1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Helvetica Neue"/>
                          <a:cs typeface="Helvetica Neue"/>
                          <a:sym typeface="Helvetica Neue"/>
                        </a:rPr>
                        <a:t>-</a:t>
                      </a:r>
                      <a:r>
                        <a:rPr lang="en-US" altLang="ko-Kore-KR" sz="900" b="1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Helvetica Neue"/>
                          <a:cs typeface="Helvetica Neue"/>
                          <a:sym typeface="Helvetica Neue"/>
                        </a:rPr>
                        <a:t>---</a:t>
                      </a:r>
                      <a:r>
                        <a:rPr lang="en-US" altLang="ko-KR" sz="900" b="1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Helvetica Neue"/>
                          <a:cs typeface="Helvetica Neue"/>
                          <a:sym typeface="Helvetica Neue"/>
                        </a:rPr>
                        <a:t>-</a:t>
                      </a:r>
                      <a:r>
                        <a:rPr lang="en-US" altLang="ko-Kore-KR" sz="900" b="1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Helvetica Neue"/>
                          <a:cs typeface="Helvetica Neue"/>
                          <a:sym typeface="Helvetica Neue"/>
                        </a:rPr>
                        <a:t>---</a:t>
                      </a:r>
                      <a:r>
                        <a:rPr lang="en-US" altLang="ko-KR" sz="900" b="1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Helvetica Neue"/>
                          <a:cs typeface="Helvetica Neue"/>
                          <a:sym typeface="Helvetica Neue"/>
                        </a:rPr>
                        <a:t>-</a:t>
                      </a:r>
                      <a:r>
                        <a:rPr lang="en-US" altLang="ko-Kore-KR" sz="900" b="1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Helvetica Neue"/>
                          <a:cs typeface="Helvetica Neue"/>
                          <a:sym typeface="Helvetica Neue"/>
                        </a:rPr>
                        <a:t>---</a:t>
                      </a:r>
                      <a:r>
                        <a:rPr lang="en-US" altLang="ko-KR" sz="900" b="1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Helvetica Neue"/>
                          <a:cs typeface="Helvetica Neue"/>
                          <a:sym typeface="Helvetica Neue"/>
                        </a:rPr>
                        <a:t>-</a:t>
                      </a:r>
                      <a:r>
                        <a:rPr lang="en-US" altLang="ko-Kore-KR" sz="900" b="1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Helvetica Neue"/>
                          <a:cs typeface="Helvetica Neue"/>
                          <a:sym typeface="Helvetica Neue"/>
                        </a:rPr>
                        <a:t>---</a:t>
                      </a:r>
                      <a:r>
                        <a:rPr lang="en-US" altLang="ko-KR" sz="900" b="1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Helvetica Neue"/>
                          <a:cs typeface="Helvetica Neue"/>
                          <a:sym typeface="Helvetica Neue"/>
                        </a:rPr>
                        <a:t>-</a:t>
                      </a:r>
                      <a:r>
                        <a:rPr lang="en-US" altLang="ko-KR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</a:t>
                      </a:r>
                      <a:r>
                        <a:rPr 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-- </a:t>
                      </a:r>
                      <a:r>
                        <a:rPr lang="ko-KR" alt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900" b="1" dirty="0">
                          <a:solidFill>
                            <a:srgbClr val="AA47F5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Check</a:t>
                      </a:r>
                      <a:endParaRPr dirty="0">
                        <a:solidFill>
                          <a:srgbClr val="0070C0"/>
                        </a:solidFill>
                        <a:latin typeface="+mn-lt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900"/>
                        <a:buFont typeface="Helvetica Neue"/>
                        <a:buNone/>
                      </a:pPr>
                      <a:r>
                        <a:rPr lang="en-US" sz="900" b="0" dirty="0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After Start </a:t>
                      </a:r>
                      <a:r>
                        <a:rPr lang="en-US" sz="900" b="0" dirty="0" err="1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Cheklist</a:t>
                      </a:r>
                      <a:endParaRPr sz="800" b="0" dirty="0">
                        <a:solidFill>
                          <a:srgbClr val="00B050"/>
                        </a:solidFill>
                        <a:latin typeface="+mn-lt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634643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Helvetica Neue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TAXI, BEFORE T/O, T/O Procedure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"/>
                        <a:cs typeface="Calibri"/>
                        <a:sym typeface="Arial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dirty="0">
                        <a:latin typeface="+mn-lt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1430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9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highlight>
                            <a:srgbClr val="FFFF00"/>
                          </a:highlight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DECISION TREE next page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"/>
                        <a:cs typeface="Calibri"/>
                        <a:sym typeface="Arial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871598603"/>
                  </a:ext>
                </a:extLst>
              </a:tr>
            </a:tbl>
          </a:graphicData>
        </a:graphic>
      </p:graphicFrame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654F4649-BD0D-E760-E72F-6EB5CB4F04CE}"/>
              </a:ext>
            </a:extLst>
          </p:cNvPr>
          <p:cNvSpPr/>
          <p:nvPr/>
        </p:nvSpPr>
        <p:spPr>
          <a:xfrm>
            <a:off x="1608188" y="522213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" action="ppaction://hlinkshowjump?jump=firstslide"/>
              </a:rPr>
              <a:t>Home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5" name="직사각형 4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FE7F3A02-AA51-DBC3-F6F5-0AAFB47EC18F}"/>
              </a:ext>
            </a:extLst>
          </p:cNvPr>
          <p:cNvSpPr/>
          <p:nvPr/>
        </p:nvSpPr>
        <p:spPr>
          <a:xfrm>
            <a:off x="54704" y="4610094"/>
            <a:ext cx="894198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AA47F5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3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Cold Wx</a:t>
            </a:r>
            <a:endParaRPr lang="en-US" altLang="ko-KR" sz="1800" b="1" cap="none" spc="0" dirty="0">
              <a:ln w="0"/>
              <a:solidFill>
                <a:srgbClr val="AA47F5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</p:cSld>
  <p:clrMapOvr>
    <a:masterClrMapping/>
  </p:clrMapOvr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0" name="Google Shape;420;p34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21"/>
              <a:buFont typeface="Calibri"/>
              <a:buNone/>
            </a:pPr>
            <a:endParaRPr/>
          </a:p>
        </p:txBody>
      </p:sp>
      <p:sp>
        <p:nvSpPr>
          <p:cNvPr id="421" name="Google Shape;421;p34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58224" lvl="0" indent="-12948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13"/>
              <a:buNone/>
            </a:pPr>
            <a:endParaRPr/>
          </a:p>
        </p:txBody>
      </p:sp>
      <p:pic>
        <p:nvPicPr>
          <p:cNvPr id="422" name="Google Shape;422;p34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1" y="0"/>
            <a:ext cx="2328863" cy="4848616"/>
          </a:xfrm>
          <a:prstGeom prst="rect">
            <a:avLst/>
          </a:prstGeom>
          <a:noFill/>
          <a:ln>
            <a:noFill/>
          </a:ln>
        </p:spPr>
      </p:pic>
      <p:sp>
        <p:nvSpPr>
          <p:cNvPr id="424" name="Google Shape;424;p34"/>
          <p:cNvSpPr/>
          <p:nvPr/>
        </p:nvSpPr>
        <p:spPr>
          <a:xfrm>
            <a:off x="178231" y="2526223"/>
            <a:ext cx="759416" cy="348713"/>
          </a:xfrm>
          <a:prstGeom prst="frame">
            <a:avLst>
              <a:gd name="adj1" fmla="val 12500"/>
            </a:avLst>
          </a:prstGeom>
          <a:solidFill>
            <a:srgbClr val="00B0F0"/>
          </a:solidFill>
          <a:ln w="12700" cap="flat" cmpd="sng">
            <a:solidFill>
              <a:srgbClr val="00B05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5" name="Google Shape;425;p34"/>
          <p:cNvSpPr/>
          <p:nvPr/>
        </p:nvSpPr>
        <p:spPr>
          <a:xfrm>
            <a:off x="1164430" y="2545838"/>
            <a:ext cx="850349" cy="406589"/>
          </a:xfrm>
          <a:prstGeom prst="frame">
            <a:avLst>
              <a:gd name="adj1" fmla="val 12500"/>
            </a:avLst>
          </a:prstGeom>
          <a:solidFill>
            <a:srgbClr val="00B0F0"/>
          </a:solidFill>
          <a:ln w="12700" cap="flat" cmpd="sng">
            <a:solidFill>
              <a:srgbClr val="00B05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직사각형 2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C997E6E1-18FF-431A-35CB-6F548E671CDF}"/>
              </a:ext>
            </a:extLst>
          </p:cNvPr>
          <p:cNvSpPr/>
          <p:nvPr/>
        </p:nvSpPr>
        <p:spPr>
          <a:xfrm>
            <a:off x="847353" y="522213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" action="ppaction://hlinkshowjump?jump=firstslide"/>
              </a:rPr>
              <a:t>Home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</p:cSld>
  <p:clrMapOvr>
    <a:masterClrMapping/>
  </p:clrMapOvr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430" name="Google Shape;430;p35"/>
              <p:cNvGraphicFramePr/>
              <p:nvPr>
                <p:extLst>
                  <p:ext uri="{D42A27DB-BD31-4B8C-83A1-F6EECF244321}">
                    <p14:modId xmlns:p14="http://schemas.microsoft.com/office/powerpoint/2010/main" val="394993808"/>
                  </p:ext>
                </p:extLst>
              </p:nvPr>
            </p:nvGraphicFramePr>
            <p:xfrm>
              <a:off x="8056" y="-4101"/>
              <a:ext cx="2332393" cy="5560827"/>
            </p:xfrm>
            <a:graphic>
              <a:graphicData uri="http://schemas.openxmlformats.org/drawingml/2006/table">
                <a:tbl>
                  <a:tblPr firstRow="1" bandRow="1">
                    <a:noFill/>
                    <a:tableStyleId>{A521BE36-7E6F-4EC9-8D66-1CF97A6895EC}</a:tableStyleId>
                  </a:tblPr>
                  <a:tblGrid>
                    <a:gridCol w="2332393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</a:tblGrid>
                  <a:tr h="372515">
                    <a:tc>
                      <a:txBody>
                        <a:bodyPr/>
                        <a:lstStyle/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1100" dirty="0">
                              <a:latin typeface="+mn-lt"/>
                            </a:rPr>
                            <a:t>ENG OFF Deicing in </a:t>
                          </a:r>
                          <a:r>
                            <a:rPr lang="en-US" sz="1100" dirty="0">
                              <a:solidFill>
                                <a:srgbClr val="00B050"/>
                              </a:solidFill>
                              <a:latin typeface="+mn-lt"/>
                            </a:rPr>
                            <a:t>GMP...</a:t>
                          </a:r>
                        </a:p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:r>
                            <a:rPr kumimoji="0" lang="en-US" altLang="ko-Kore-KR" sz="800" b="1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FFC000"/>
                              </a:solidFill>
                              <a:effectLst/>
                              <a:uLnTx/>
                              <a:uFillTx/>
                              <a:latin typeface="Arial"/>
                              <a:ea typeface="Helvetica Neue"/>
                              <a:cs typeface="Helvetica Neue"/>
                              <a:sym typeface="Helvetica Neue"/>
                            </a:rPr>
                            <a:t>TOBT- 20min CTC KE GMP (</a:t>
                          </a:r>
                          <a:r>
                            <a:rPr kumimoji="0" lang="en-US" altLang="ko-Kore-KR" sz="800" b="1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FFC000"/>
                              </a:solidFill>
                              <a:effectLst/>
                              <a:uLnTx/>
                              <a:uFillTx/>
                              <a:latin typeface="Arial"/>
                              <a:ea typeface="맑은 고딕" panose="020B0503020000020004" pitchFamily="34" charset="-127"/>
                              <a:cs typeface="Helvetica Neue"/>
                              <a:sym typeface="Helvetica Neue"/>
                            </a:rPr>
                            <a:t>PAD, New TOBT</a:t>
                          </a:r>
                          <a:r>
                            <a:rPr kumimoji="0" lang="en-US" altLang="ko-KR" sz="800" b="1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FFC000"/>
                              </a:solidFill>
                              <a:effectLst/>
                              <a:uLnTx/>
                              <a:uFillTx/>
                              <a:latin typeface="Arial"/>
                              <a:ea typeface="Helvetica Neue"/>
                              <a:cs typeface="Helvetica Neue"/>
                              <a:sym typeface="Helvetica Neue"/>
                            </a:rPr>
                            <a:t>)</a:t>
                          </a:r>
                          <a:endParaRPr kumimoji="0" lang="en-US" altLang="ko-Kore-KR" sz="800" b="1" i="0" u="none" strike="noStrike" kern="0" cap="none" spc="0" normalizeH="0" baseline="0" noProof="0" dirty="0">
                            <a:ln>
                              <a:noFill/>
                            </a:ln>
                            <a:solidFill>
                              <a:srgbClr val="FFC000"/>
                            </a:solidFill>
                            <a:effectLst/>
                            <a:uLnTx/>
                            <a:uFillTx/>
                            <a:latin typeface="Arial"/>
                            <a:ea typeface="Helvetica Neue"/>
                            <a:cs typeface="Helvetica Neue"/>
                            <a:sym typeface="Helvetica Neue"/>
                          </a:endParaRPr>
                        </a:p>
                      </a:txBody>
                      <a:tcPr marL="36000" marR="36000" marT="36000" marB="36000"/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  <a:tr h="451023"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:r>
                            <a:rPr kumimoji="0" lang="en-US" altLang="ko-Kore-KR" sz="800" b="1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B050"/>
                              </a:solidFill>
                              <a:effectLst/>
                              <a:uLnTx/>
                              <a:uFillTx/>
                              <a:latin typeface="Arial"/>
                              <a:ea typeface="Helvetica Neue"/>
                              <a:cs typeface="Helvetica Neue"/>
                              <a:sym typeface="Helvetica Neue"/>
                            </a:rPr>
                            <a:t>REQ DCL</a:t>
                          </a:r>
                        </a:p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:r>
                            <a:rPr kumimoji="0" lang="en-US" altLang="ko-Kore-KR" sz="8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70C0"/>
                              </a:solidFill>
                              <a:effectLst/>
                              <a:uLnTx/>
                              <a:uFillTx/>
                              <a:latin typeface="Arial"/>
                              <a:ea typeface="Helvetica Neue"/>
                              <a:cs typeface="Helvetica Neue"/>
                              <a:sym typeface="Helvetica Neue"/>
                            </a:rPr>
                            <a:t>Deicing </a:t>
                          </a:r>
                          <a:r>
                            <a:rPr kumimoji="0" lang="en-US" altLang="ko-Kore-KR" sz="8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Arial"/>
                              <a:ea typeface="Helvetica Neue"/>
                              <a:cs typeface="Helvetica Neue"/>
                              <a:sym typeface="Helvetica Neue"/>
                            </a:rPr>
                            <a:t>“Deicing Required </a:t>
                          </a:r>
                          <a:r>
                            <a:rPr kumimoji="0" lang="en-US" altLang="ko-Kore-KR" sz="800" b="0" i="0" u="none" strike="noStrike" kern="0" cap="none" spc="0" normalizeH="0" baseline="0" noProof="0" dirty="0" err="1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Arial"/>
                              <a:ea typeface="Helvetica Neue"/>
                              <a:cs typeface="Helvetica Neue"/>
                              <a:sym typeface="Helvetica Neue"/>
                            </a:rPr>
                            <a:t>PADxxx</a:t>
                          </a:r>
                          <a:r>
                            <a:rPr kumimoji="0" lang="en-US" altLang="ko-Kore-KR" sz="8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Arial"/>
                              <a:ea typeface="Helvetica Neue"/>
                              <a:cs typeface="Helvetica Neue"/>
                              <a:sym typeface="Helvetica Neue"/>
                            </a:rPr>
                            <a:t>” </a:t>
                          </a:r>
                          <a14:m>
                            <m:oMath xmlns:m="http://schemas.openxmlformats.org/officeDocument/2006/math">
                              <m:r>
                                <a:rPr kumimoji="0" lang="en-US" altLang="ko-Kore-KR" sz="800" b="0" i="1" u="none" strike="noStrike" kern="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rgbClr val="C00000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Helvetica Neue"/>
                                  <a:sym typeface="Helvetica Neue"/>
                                </a:rPr>
                                <m:t>±</m:t>
                              </m:r>
                            </m:oMath>
                          </a14:m>
                          <a:r>
                            <a:rPr kumimoji="0" lang="en-US" altLang="ko-Kore-KR" sz="7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C00000"/>
                              </a:solidFill>
                              <a:effectLst/>
                              <a:uLnTx/>
                              <a:uFillTx/>
                              <a:latin typeface="Arial"/>
                              <a:ea typeface="Helvetica Neue"/>
                              <a:cs typeface="Helvetica Neue"/>
                              <a:sym typeface="Helvetica Neue"/>
                            </a:rPr>
                            <a:t>5min TOBT</a:t>
                          </a:r>
                          <a:endParaRPr lang="en-US" sz="800" dirty="0">
                            <a:solidFill>
                              <a:srgbClr val="C00000"/>
                            </a:solidFill>
                            <a:latin typeface="+mn-lt"/>
                            <a:ea typeface="Helvetica Neue"/>
                            <a:cs typeface="Helvetica Neue"/>
                            <a:sym typeface="Helvetica Neue"/>
                          </a:endParaRPr>
                        </a:p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800" dirty="0">
                              <a:solidFill>
                                <a:srgbClr val="0070C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Apron</a:t>
                          </a:r>
                          <a:r>
                            <a:rPr lang="en-US" sz="800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 ”Req Pushback Deicing </a:t>
                          </a:r>
                          <a:r>
                            <a:rPr lang="en-US" sz="800" dirty="0" err="1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PADxxx</a:t>
                          </a:r>
                          <a:r>
                            <a:rPr lang="en-US" sz="800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”  </a:t>
                          </a:r>
                          <a:endParaRPr dirty="0">
                            <a:latin typeface="+mn-lt"/>
                          </a:endParaRPr>
                        </a:p>
                      </a:txBody>
                      <a:tcPr marL="36000" marR="36000" marT="36000" marB="36000"/>
                    </a:tc>
                    <a:extLst>
                      <a:ext uri="{0D108BD9-81ED-4DB2-BD59-A6C34878D82A}">
                        <a16:rowId xmlns:a16="http://schemas.microsoft.com/office/drawing/2014/main" val="10001"/>
                      </a:ext>
                    </a:extLst>
                  </a:tr>
                  <a:tr h="1114824">
                    <a:tc>
                      <a:txBody>
                        <a:bodyPr/>
                        <a:lstStyle/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900" b="1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PARKING BRAKE ---------------------- SET </a:t>
                          </a:r>
                          <a:endParaRPr dirty="0">
                            <a:latin typeface="+mn-lt"/>
                          </a:endParaRPr>
                        </a:p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800" b="0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Establish communications with GND personnel.</a:t>
                          </a:r>
                          <a:endParaRPr dirty="0">
                            <a:latin typeface="+mn-lt"/>
                          </a:endParaRPr>
                        </a:p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900" b="1" dirty="0">
                              <a:solidFill>
                                <a:srgbClr val="0070C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B737-8,900ER BROADBAND s/w ---- OFF</a:t>
                          </a:r>
                          <a:endParaRPr sz="900" b="1" dirty="0">
                            <a:solidFill>
                              <a:srgbClr val="0070C0"/>
                            </a:solidFill>
                            <a:latin typeface="+mn-lt"/>
                            <a:ea typeface="Helvetica Neue"/>
                            <a:cs typeface="Helvetica Neue"/>
                            <a:sym typeface="Helvetica Neue"/>
                          </a:endParaRPr>
                        </a:p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900" b="1" dirty="0">
                              <a:solidFill>
                                <a:schemeClr val="tx1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FLAPS ----------------------------</a:t>
                          </a:r>
                          <a:r>
                            <a:rPr lang="en-US" altLang="ko-KR" sz="900" b="1" dirty="0">
                              <a:solidFill>
                                <a:schemeClr val="tx1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-----</a:t>
                          </a:r>
                          <a:r>
                            <a:rPr lang="en-US" sz="900" b="1" dirty="0">
                              <a:solidFill>
                                <a:schemeClr val="tx1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-------- UP </a:t>
                          </a:r>
                          <a:endParaRPr dirty="0">
                            <a:solidFill>
                              <a:schemeClr val="tx1"/>
                            </a:solidFill>
                            <a:latin typeface="+mn-lt"/>
                          </a:endParaRPr>
                        </a:p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900" b="1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THRUST LEVERS ----------------</a:t>
                          </a:r>
                          <a:r>
                            <a:rPr lang="en-US" altLang="ko-KR" sz="900" b="1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---</a:t>
                          </a:r>
                          <a:r>
                            <a:rPr lang="en-US" sz="900" b="1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------IDLE </a:t>
                          </a:r>
                          <a:endParaRPr dirty="0">
                            <a:latin typeface="+mn-lt"/>
                          </a:endParaRPr>
                        </a:p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:r>
                            <a:rPr kumimoji="0" lang="en-US" altLang="ko-Kore-KR" sz="900" b="1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Arial"/>
                              <a:ea typeface="Helvetica Neue"/>
                              <a:cs typeface="Helvetica Neue"/>
                              <a:sym typeface="Helvetica Neue"/>
                            </a:rPr>
                            <a:t>STABILIZER TRIM ---------------</a:t>
                          </a:r>
                          <a:r>
                            <a:rPr kumimoji="0" lang="en-US" altLang="ko-KR" sz="900" b="1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Arial"/>
                              <a:ea typeface="Helvetica Neue"/>
                              <a:cs typeface="Helvetica Neue"/>
                              <a:sym typeface="Helvetica Neue"/>
                            </a:rPr>
                            <a:t>---</a:t>
                          </a:r>
                          <a:r>
                            <a:rPr kumimoji="0" lang="en-US" altLang="ko-Kore-KR" sz="900" b="1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Arial"/>
                              <a:ea typeface="Helvetica Neue"/>
                              <a:cs typeface="Helvetica Neue"/>
                              <a:sym typeface="Helvetica Neue"/>
                            </a:rPr>
                            <a:t>---</a:t>
                          </a:r>
                          <a:r>
                            <a:rPr kumimoji="0" lang="en-US" altLang="ko-KR" sz="900" b="1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Arial"/>
                              <a:ea typeface="Helvetica Neue"/>
                              <a:cs typeface="Helvetica Neue"/>
                              <a:sym typeface="Helvetica Neue"/>
                            </a:rPr>
                            <a:t> CHECK</a:t>
                          </a:r>
                          <a:endParaRPr lang="en-US" sz="900" b="1" dirty="0">
                            <a:solidFill>
                              <a:srgbClr val="0070C0"/>
                            </a:solidFill>
                            <a:latin typeface="+mn-lt"/>
                            <a:ea typeface="Helvetica Neue"/>
                            <a:cs typeface="Helvetica Neue"/>
                            <a:sym typeface="Helvetica Neue"/>
                          </a:endParaRPr>
                        </a:p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900" b="1" dirty="0">
                              <a:solidFill>
                                <a:srgbClr val="0070C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ENGINE BLEED AIR SWITCHES ----- OFF </a:t>
                          </a:r>
                          <a:endParaRPr dirty="0">
                            <a:solidFill>
                              <a:srgbClr val="0070C0"/>
                            </a:solidFill>
                            <a:latin typeface="+mn-lt"/>
                          </a:endParaRPr>
                        </a:p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900" b="1" dirty="0">
                              <a:solidFill>
                                <a:srgbClr val="0070C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APU BLEED air switch -------</a:t>
                          </a:r>
                          <a:r>
                            <a:rPr lang="en-US" altLang="ko-KR" sz="900" b="1" dirty="0">
                              <a:solidFill>
                                <a:srgbClr val="0070C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--</a:t>
                          </a:r>
                          <a:r>
                            <a:rPr lang="en-US" sz="900" b="1" dirty="0">
                              <a:solidFill>
                                <a:srgbClr val="0070C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--------- OFF</a:t>
                          </a:r>
                          <a:endParaRPr sz="800" b="1" dirty="0">
                            <a:solidFill>
                              <a:srgbClr val="0070C0"/>
                            </a:solidFill>
                            <a:latin typeface="+mn-lt"/>
                            <a:ea typeface="Helvetica Neue"/>
                            <a:cs typeface="Helvetica Neue"/>
                            <a:sym typeface="Helvetica Neue"/>
                          </a:endParaRPr>
                        </a:p>
                      </a:txBody>
                      <a:tcPr marL="36000" marR="36000" marT="0" marB="0"/>
                    </a:tc>
                    <a:extLst>
                      <a:ext uri="{0D108BD9-81ED-4DB2-BD59-A6C34878D82A}">
                        <a16:rowId xmlns:a16="http://schemas.microsoft.com/office/drawing/2014/main" val="10002"/>
                      </a:ext>
                    </a:extLst>
                  </a:tr>
                  <a:tr h="690877">
                    <a:tc>
                      <a:txBody>
                        <a:bodyPr/>
                        <a:lstStyle/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900" b="1" dirty="0">
                              <a:solidFill>
                                <a:srgbClr val="0070C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APU ------------------ START</a:t>
                          </a:r>
                          <a:r>
                            <a:rPr lang="en-US" altLang="ko-KR" sz="900" b="1" dirty="0">
                              <a:solidFill>
                                <a:srgbClr val="FF000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(</a:t>
                          </a:r>
                          <a:r>
                            <a:rPr lang="ko-KR" altLang="en-US" sz="900" b="1" dirty="0" err="1">
                              <a:solidFill>
                                <a:srgbClr val="FF000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시동후</a:t>
                          </a:r>
                          <a:r>
                            <a:rPr lang="ko-KR" altLang="en-US" sz="900" b="1" dirty="0">
                              <a:solidFill>
                                <a:srgbClr val="FF000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 </a:t>
                          </a:r>
                          <a:r>
                            <a:rPr lang="en-US" altLang="ko-KR" sz="900" b="1" dirty="0">
                              <a:solidFill>
                                <a:srgbClr val="FF000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ON </a:t>
                          </a:r>
                          <a:r>
                            <a:rPr lang="ko-KR" altLang="en-US" sz="900" b="1" dirty="0">
                              <a:solidFill>
                                <a:srgbClr val="FF000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유지</a:t>
                          </a:r>
                          <a:r>
                            <a:rPr lang="en-US" altLang="ko-KR" sz="900" b="1" dirty="0">
                              <a:solidFill>
                                <a:srgbClr val="FF000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)</a:t>
                          </a:r>
                          <a:r>
                            <a:rPr lang="en-US" sz="900" b="1" dirty="0">
                              <a:solidFill>
                                <a:srgbClr val="FF000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 </a:t>
                          </a:r>
                          <a:endParaRPr dirty="0">
                            <a:solidFill>
                              <a:srgbClr val="FF0000"/>
                            </a:solidFill>
                            <a:latin typeface="+mn-lt"/>
                          </a:endParaRPr>
                        </a:p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900" b="1" dirty="0">
                              <a:solidFill>
                                <a:srgbClr val="0070C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APU GENERATOR bus switches ------ ON </a:t>
                          </a:r>
                          <a:endParaRPr dirty="0">
                            <a:solidFill>
                              <a:srgbClr val="0070C0"/>
                            </a:solidFill>
                            <a:latin typeface="+mn-lt"/>
                          </a:endParaRPr>
                        </a:p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900" b="1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ENGINE ANTI-ICE switches---</a:t>
                          </a:r>
                          <a:r>
                            <a:rPr lang="en-US" altLang="ko-KR" sz="900" b="1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-</a:t>
                          </a:r>
                          <a:r>
                            <a:rPr lang="en-US" sz="900" b="1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-------- OFF </a:t>
                          </a:r>
                          <a:endParaRPr dirty="0">
                            <a:latin typeface="+mn-lt"/>
                          </a:endParaRPr>
                        </a:p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900" b="1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Engine Start levers ----------</a:t>
                          </a:r>
                          <a:r>
                            <a:rPr lang="en-US" altLang="ko-KR" sz="900" b="1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--</a:t>
                          </a:r>
                          <a:r>
                            <a:rPr lang="en-US" sz="900" b="1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----- CUTOFF</a:t>
                          </a:r>
                          <a:endParaRPr dirty="0">
                            <a:latin typeface="+mn-lt"/>
                          </a:endParaRPr>
                        </a:p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800" b="1" dirty="0">
                              <a:solidFill>
                                <a:srgbClr val="00B05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SHUTDOWN CHECKLIST</a:t>
                          </a:r>
                          <a:endParaRPr dirty="0">
                            <a:latin typeface="+mn-lt"/>
                          </a:endParaRPr>
                        </a:p>
                      </a:txBody>
                      <a:tcPr marL="36000" marR="36000" marT="0" marB="0"/>
                    </a:tc>
                    <a:extLst>
                      <a:ext uri="{0D108BD9-81ED-4DB2-BD59-A6C34878D82A}">
                        <a16:rowId xmlns:a16="http://schemas.microsoft.com/office/drawing/2014/main" val="10003"/>
                      </a:ext>
                    </a:extLst>
                  </a:tr>
                  <a:tr h="277994">
                    <a:tc>
                      <a:txBody>
                        <a:bodyPr/>
                        <a:lstStyle/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900" b="1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START DE/ANTI-ICING </a:t>
                          </a:r>
                          <a:endParaRPr sz="900" b="1" dirty="0">
                            <a:solidFill>
                              <a:srgbClr val="00B050"/>
                            </a:solidFill>
                            <a:latin typeface="+mn-lt"/>
                            <a:ea typeface="Helvetica Neue"/>
                            <a:cs typeface="Helvetica Neue"/>
                            <a:sym typeface="Helvetica Neue"/>
                          </a:endParaRPr>
                        </a:p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800" b="0" dirty="0" err="1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항공기이동</a:t>
                          </a:r>
                          <a:r>
                            <a:rPr lang="en-US" sz="800" b="0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 </a:t>
                          </a:r>
                          <a:r>
                            <a:rPr lang="en-US" sz="800" b="0" dirty="0" err="1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및</a:t>
                          </a:r>
                          <a:r>
                            <a:rPr lang="en-US" sz="800" b="0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 Configuration </a:t>
                          </a:r>
                          <a:r>
                            <a:rPr lang="en-US" sz="800" b="0" dirty="0" err="1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변경</a:t>
                          </a:r>
                          <a:r>
                            <a:rPr lang="en-US" sz="800" b="0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 </a:t>
                          </a:r>
                          <a:r>
                            <a:rPr lang="en-US" sz="800" b="0" dirty="0" err="1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금지</a:t>
                          </a:r>
                          <a:endParaRPr sz="900" b="1" dirty="0">
                            <a:latin typeface="+mn-lt"/>
                            <a:ea typeface="Helvetica Neue"/>
                            <a:cs typeface="Helvetica Neue"/>
                            <a:sym typeface="Helvetica Neue"/>
                          </a:endParaRPr>
                        </a:p>
                      </a:txBody>
                      <a:tcPr marL="36000" marR="36000" marT="0" marB="0"/>
                    </a:tc>
                    <a:extLst>
                      <a:ext uri="{0D108BD9-81ED-4DB2-BD59-A6C34878D82A}">
                        <a16:rowId xmlns:a16="http://schemas.microsoft.com/office/drawing/2014/main" val="10004"/>
                      </a:ext>
                    </a:extLst>
                  </a:tr>
                  <a:tr h="659473">
                    <a:tc>
                      <a:txBody>
                        <a:bodyPr/>
                        <a:lstStyle/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900" b="1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AFTER DE/ANTI-ICING IS COMPLETED</a:t>
                          </a:r>
                          <a:endParaRPr dirty="0">
                            <a:latin typeface="+mn-lt"/>
                          </a:endParaRPr>
                        </a:p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800" b="1" dirty="0">
                              <a:solidFill>
                                <a:srgbClr val="00B05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(TIME CHECK 1분)</a:t>
                          </a:r>
                          <a:endParaRPr dirty="0">
                            <a:latin typeface="+mn-lt"/>
                          </a:endParaRPr>
                        </a:p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800" b="0" dirty="0" err="1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용액과</a:t>
                          </a:r>
                          <a:r>
                            <a:rPr lang="en-US" sz="800" b="0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 </a:t>
                          </a:r>
                          <a:r>
                            <a:rPr lang="en-US" sz="800" b="0" dirty="0" err="1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마지막</a:t>
                          </a:r>
                          <a:r>
                            <a:rPr lang="en-US" sz="800" b="0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 </a:t>
                          </a:r>
                          <a:r>
                            <a:rPr lang="en-US" sz="800" b="0" dirty="0" err="1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용액</a:t>
                          </a:r>
                          <a:r>
                            <a:rPr lang="en-US" sz="800" b="0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 </a:t>
                          </a:r>
                          <a:r>
                            <a:rPr lang="en-US" sz="800" b="0" dirty="0" err="1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뿌린</a:t>
                          </a:r>
                          <a:r>
                            <a:rPr lang="en-US" sz="800" b="0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 </a:t>
                          </a:r>
                          <a:r>
                            <a:rPr lang="en-US" sz="800" b="0" dirty="0" err="1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시간</a:t>
                          </a:r>
                          <a:r>
                            <a:rPr lang="en-US" sz="800" b="0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 </a:t>
                          </a:r>
                          <a:r>
                            <a:rPr lang="en-US" sz="800" b="0" dirty="0" err="1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받고</a:t>
                          </a:r>
                          <a:r>
                            <a:rPr lang="en-US" sz="800" b="0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 </a:t>
                          </a:r>
                          <a:r>
                            <a:rPr lang="en-US" sz="800" b="0" dirty="0" err="1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적는다</a:t>
                          </a:r>
                          <a:r>
                            <a:rPr lang="en-US" sz="800" b="0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. </a:t>
                          </a:r>
                          <a:endParaRPr dirty="0">
                            <a:latin typeface="+mn-lt"/>
                          </a:endParaRPr>
                        </a:p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800" b="0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Holdover Time </a:t>
                          </a:r>
                          <a:r>
                            <a:rPr lang="en-US" sz="800" b="0" dirty="0" err="1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결정</a:t>
                          </a:r>
                          <a:r>
                            <a:rPr lang="en-US" sz="800" b="0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!!!</a:t>
                          </a:r>
                        </a:p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:r>
                            <a:rPr kumimoji="0" lang="en-US" altLang="ko-Kore-KR" sz="900" b="1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70C0"/>
                              </a:solidFill>
                              <a:effectLst/>
                              <a:uLnTx/>
                              <a:uFillTx/>
                              <a:latin typeface="Arial"/>
                              <a:ea typeface="Helvetica Neue"/>
                              <a:cs typeface="Helvetica Neue"/>
                              <a:sym typeface="Helvetica Neue"/>
                            </a:rPr>
                            <a:t>B737-8,900ER BROADBAND s/w ----- ON</a:t>
                          </a:r>
                          <a:endParaRPr kumimoji="0" lang="en-US" altLang="ko-Kore-KR" sz="1400" b="0" i="0" u="none" strike="noStrike" kern="0" cap="none" spc="0" normalizeH="0" baseline="0" noProof="0" dirty="0">
                            <a:ln>
                              <a:noFill/>
                            </a:ln>
                            <a:solidFill>
                              <a:srgbClr val="0070C0"/>
                            </a:solidFill>
                            <a:effectLst/>
                            <a:uLnTx/>
                            <a:uFillTx/>
                            <a:latin typeface="Arial"/>
                            <a:cs typeface="Calibri"/>
                            <a:sym typeface="Arial"/>
                          </a:endParaRPr>
                        </a:p>
                      </a:txBody>
                      <a:tcPr marL="36000" marR="36000" marT="0" marB="0"/>
                    </a:tc>
                    <a:extLst>
                      <a:ext uri="{0D108BD9-81ED-4DB2-BD59-A6C34878D82A}">
                        <a16:rowId xmlns:a16="http://schemas.microsoft.com/office/drawing/2014/main" val="10005"/>
                      </a:ext>
                    </a:extLst>
                  </a:tr>
                  <a:tr h="533859">
                    <a:tc>
                      <a:txBody>
                        <a:bodyPr/>
                        <a:lstStyle/>
                        <a:p>
                          <a:pPr marL="0" marR="0" lvl="0" indent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B050"/>
                            </a:buClr>
                            <a:buSzPts val="800"/>
                            <a:buFont typeface="Helvetica Neue"/>
                            <a:buNone/>
                          </a:pPr>
                          <a:r>
                            <a:rPr lang="en-US" sz="800" b="1" i="0" u="none" strike="noStrike" cap="none" dirty="0">
                              <a:solidFill>
                                <a:srgbClr val="00B05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TIME CHECK 1분후 </a:t>
                          </a:r>
                          <a:endParaRPr sz="800" b="1" i="0" u="none" strike="noStrike" cap="none" dirty="0">
                            <a:solidFill>
                              <a:srgbClr val="00B050"/>
                            </a:solidFill>
                            <a:latin typeface="+mn-lt"/>
                            <a:ea typeface="Helvetica Neue"/>
                            <a:cs typeface="Helvetica Neue"/>
                            <a:sym typeface="Helvetica Neue"/>
                          </a:endParaRPr>
                        </a:p>
                        <a:p>
                          <a:pPr marL="0" marR="0" lvl="0" indent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chemeClr val="dk1"/>
                            </a:buClr>
                            <a:buSzPts val="900"/>
                            <a:buFont typeface="Helvetica Neue"/>
                            <a:buNone/>
                          </a:pPr>
                          <a:r>
                            <a:rPr lang="en-US" sz="900" b="1" dirty="0">
                              <a:solidFill>
                                <a:srgbClr val="0070C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APU BLEED air switch ---</a:t>
                          </a:r>
                          <a:r>
                            <a:rPr lang="en-US" altLang="ko-KR" sz="900" b="1" dirty="0">
                              <a:solidFill>
                                <a:srgbClr val="0070C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-</a:t>
                          </a:r>
                          <a:r>
                            <a:rPr lang="en-US" sz="900" b="1" dirty="0">
                              <a:solidFill>
                                <a:srgbClr val="0070C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---</a:t>
                          </a:r>
                          <a:r>
                            <a:rPr lang="en-US" altLang="ko-KR" sz="900" b="1" dirty="0">
                              <a:solidFill>
                                <a:srgbClr val="0070C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-</a:t>
                          </a:r>
                          <a:r>
                            <a:rPr lang="en-US" sz="900" b="1" dirty="0">
                              <a:solidFill>
                                <a:srgbClr val="0070C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----------- ON</a:t>
                          </a:r>
                        </a:p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Pts val="900"/>
                            <a:buFont typeface="Helvetica Neue"/>
                            <a:buNone/>
                            <a:tabLst/>
                            <a:defRPr/>
                          </a:pPr>
                          <a:r>
                            <a:rPr kumimoji="0" lang="en-US" altLang="ko-Kore-KR" sz="900" b="1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70C0"/>
                              </a:solidFill>
                              <a:effectLst/>
                              <a:uLnTx/>
                              <a:uFillTx/>
                              <a:latin typeface="Arial"/>
                              <a:ea typeface="Helvetica Neue"/>
                              <a:cs typeface="Helvetica Neue"/>
                              <a:sym typeface="Helvetica Neue"/>
                            </a:rPr>
                            <a:t>Engine BLEED air switches -----</a:t>
                          </a:r>
                          <a:r>
                            <a:rPr kumimoji="0" lang="en-US" altLang="ko-KR" sz="900" b="1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70C0"/>
                              </a:solidFill>
                              <a:effectLst/>
                              <a:uLnTx/>
                              <a:uFillTx/>
                              <a:latin typeface="Arial"/>
                              <a:ea typeface="Helvetica Neue"/>
                              <a:cs typeface="Helvetica Neue"/>
                              <a:sym typeface="Helvetica Neue"/>
                            </a:rPr>
                            <a:t>-</a:t>
                          </a:r>
                          <a:r>
                            <a:rPr kumimoji="0" lang="en-US" altLang="ko-Kore-KR" sz="900" b="1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70C0"/>
                              </a:solidFill>
                              <a:effectLst/>
                              <a:uLnTx/>
                              <a:uFillTx/>
                              <a:latin typeface="Arial"/>
                              <a:ea typeface="Helvetica Neue"/>
                              <a:cs typeface="Helvetica Neue"/>
                              <a:sym typeface="Helvetica Neue"/>
                            </a:rPr>
                            <a:t>------ ON </a:t>
                          </a:r>
                          <a:r>
                            <a:rPr lang="en-US" sz="900" b="1" dirty="0">
                              <a:solidFill>
                                <a:srgbClr val="0070C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 </a:t>
                          </a:r>
                          <a:endParaRPr dirty="0">
                            <a:solidFill>
                              <a:srgbClr val="0070C0"/>
                            </a:solidFill>
                            <a:latin typeface="+mn-lt"/>
                          </a:endParaRPr>
                        </a:p>
                        <a:p>
                          <a:pPr marL="0" marR="0" lvl="0" indent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B050"/>
                            </a:buClr>
                            <a:buSzPts val="800"/>
                            <a:buFont typeface="Helvetica Neue"/>
                            <a:buNone/>
                          </a:pPr>
                          <a:r>
                            <a:rPr lang="en-US" sz="800" b="1" dirty="0">
                              <a:solidFill>
                                <a:srgbClr val="00B05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PREFLT </a:t>
                          </a:r>
                          <a:r>
                            <a:rPr lang="en-US" sz="800" b="1" dirty="0" err="1">
                              <a:solidFill>
                                <a:srgbClr val="00B05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CHKlist</a:t>
                          </a:r>
                          <a:r>
                            <a:rPr lang="en-US" sz="800" b="1" dirty="0">
                              <a:solidFill>
                                <a:srgbClr val="00B05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 -&gt; Req STARTUP -&gt; </a:t>
                          </a:r>
                          <a:r>
                            <a:rPr lang="en-US" sz="800" b="1" dirty="0" err="1">
                              <a:solidFill>
                                <a:srgbClr val="00B05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CHKlist</a:t>
                          </a:r>
                          <a:endParaRPr sz="800" b="1" dirty="0">
                            <a:solidFill>
                              <a:srgbClr val="00B050"/>
                            </a:solidFill>
                            <a:latin typeface="+mn-lt"/>
                            <a:ea typeface="Helvetica Neue"/>
                            <a:cs typeface="Helvetica Neue"/>
                            <a:sym typeface="Helvetica Neue"/>
                          </a:endParaRPr>
                        </a:p>
                      </a:txBody>
                      <a:tcPr marL="36000" marR="36000" marT="0" marB="0"/>
                    </a:tc>
                    <a:extLst>
                      <a:ext uri="{0D108BD9-81ED-4DB2-BD59-A6C34878D82A}">
                        <a16:rowId xmlns:a16="http://schemas.microsoft.com/office/drawing/2014/main" val="10006"/>
                      </a:ext>
                    </a:extLst>
                  </a:tr>
                  <a:tr h="423947">
                    <a:tc>
                      <a:txBody>
                        <a:bodyPr/>
                        <a:lstStyle/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900" b="1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AFTER BOTH ENGINES ARE STARTED</a:t>
                          </a:r>
                          <a:endParaRPr sz="800" dirty="0">
                            <a:latin typeface="+mn-lt"/>
                            <a:ea typeface="Helvetica Neue"/>
                            <a:cs typeface="Helvetica Neue"/>
                            <a:sym typeface="Helvetica Neue"/>
                          </a:endParaRPr>
                        </a:p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900" b="1" dirty="0">
                              <a:solidFill>
                                <a:srgbClr val="0070C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ENGINE ANTI-ICE switches----As needed </a:t>
                          </a:r>
                          <a:endParaRPr dirty="0">
                            <a:solidFill>
                              <a:srgbClr val="0070C0"/>
                            </a:solidFill>
                            <a:latin typeface="+mn-lt"/>
                          </a:endParaRPr>
                        </a:p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900" b="1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APU----------------------</a:t>
                          </a:r>
                          <a:r>
                            <a:rPr lang="en-US" altLang="ko-KR" sz="900" b="1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------</a:t>
                          </a:r>
                          <a:r>
                            <a:rPr lang="en-US" sz="900" b="1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-------- As needed </a:t>
                          </a:r>
                          <a:endParaRPr dirty="0">
                            <a:latin typeface="+mn-lt"/>
                          </a:endParaRPr>
                        </a:p>
                      </a:txBody>
                      <a:tcPr marL="36000" marR="36000" marT="0" marB="0"/>
                    </a:tc>
                    <a:extLst>
                      <a:ext uri="{0D108BD9-81ED-4DB2-BD59-A6C34878D82A}">
                        <a16:rowId xmlns:a16="http://schemas.microsoft.com/office/drawing/2014/main" val="10007"/>
                      </a:ext>
                    </a:extLst>
                  </a:tr>
                  <a:tr h="659473">
                    <a:tc>
                      <a:txBody>
                        <a:bodyPr/>
                        <a:lstStyle/>
                        <a:p>
                          <a:pPr marL="0" marR="0" lvl="0" indent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Pts val="900"/>
                            <a:buFont typeface="Helvetica Neue"/>
                            <a:buNone/>
                          </a:pPr>
                          <a:r>
                            <a:rPr lang="en-US" sz="900" b="1" i="0" u="none" strike="noStrike" cap="none" dirty="0">
                              <a:solidFill>
                                <a:srgbClr val="0070C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FLAP LEVER -------</a:t>
                          </a:r>
                          <a:r>
                            <a:rPr lang="en-US" altLang="ko-KR" sz="900" b="1" i="0" u="none" strike="noStrike" cap="none" dirty="0">
                              <a:solidFill>
                                <a:srgbClr val="0070C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--</a:t>
                          </a:r>
                          <a:r>
                            <a:rPr lang="en-US" sz="900" b="1" i="0" u="none" strike="noStrike" cap="none" dirty="0">
                              <a:solidFill>
                                <a:srgbClr val="0070C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  Set for takeoff or UP </a:t>
                          </a:r>
                          <a:endParaRPr dirty="0">
                            <a:solidFill>
                              <a:srgbClr val="0070C0"/>
                            </a:solidFill>
                            <a:latin typeface="+mn-lt"/>
                          </a:endParaRPr>
                        </a:p>
                        <a:p>
                          <a:pPr marL="0" marR="0" lvl="0" indent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Pts val="800"/>
                            <a:buFont typeface="Helvetica Neue"/>
                            <a:buNone/>
                          </a:pPr>
                          <a:r>
                            <a:rPr lang="en-US" sz="800" b="0" i="0" u="none" strike="noStrike" cap="none" dirty="0">
                              <a:solidFill>
                                <a:srgbClr val="00000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ice, snow, slush or standing water, </a:t>
                          </a:r>
                          <a:r>
                            <a:rPr lang="en-US" sz="800" b="0" i="0" u="none" strike="noStrike" cap="none" dirty="0" err="1">
                              <a:solidFill>
                                <a:srgbClr val="00000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강수</a:t>
                          </a:r>
                          <a:r>
                            <a:rPr lang="en-US" sz="800" b="0" i="0" u="none" strike="noStrike" cap="none" dirty="0">
                              <a:solidFill>
                                <a:srgbClr val="00000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 </a:t>
                          </a:r>
                          <a:r>
                            <a:rPr lang="en-US" sz="800" b="0" i="0" u="none" strike="noStrike" cap="none" dirty="0" err="1">
                              <a:solidFill>
                                <a:srgbClr val="00000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지속시</a:t>
                          </a:r>
                          <a:r>
                            <a:rPr lang="en-US" sz="800" b="0" i="0" u="none" strike="noStrike" cap="none" dirty="0">
                              <a:solidFill>
                                <a:srgbClr val="00000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 – </a:t>
                          </a:r>
                          <a:r>
                            <a:rPr lang="en-US" sz="800" b="0" i="0" u="none" strike="noStrike" cap="none" dirty="0">
                              <a:solidFill>
                                <a:srgbClr val="AA47F5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FLAP Full travel check</a:t>
                          </a:r>
                          <a:r>
                            <a:rPr lang="en-US" altLang="ko-KR" sz="800" b="0" i="0" u="none" strike="noStrike" cap="none" dirty="0">
                              <a:solidFill>
                                <a:srgbClr val="AA47F5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 (FLAP UP TAXI </a:t>
                          </a:r>
                          <a:r>
                            <a:rPr lang="ko-KR" altLang="en-US" sz="800" b="0" i="0" u="none" strike="noStrike" cap="none" dirty="0">
                              <a:solidFill>
                                <a:srgbClr val="AA47F5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고려</a:t>
                          </a:r>
                          <a:r>
                            <a:rPr lang="en-US" altLang="ko-KR" sz="800" b="0" i="0" u="none" strike="noStrike" cap="none" dirty="0">
                              <a:solidFill>
                                <a:srgbClr val="AA47F5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)</a:t>
                          </a:r>
                          <a:endParaRPr sz="800" b="0" i="0" u="none" strike="noStrike" cap="none" dirty="0">
                            <a:solidFill>
                              <a:srgbClr val="AA47F5"/>
                            </a:solidFill>
                            <a:latin typeface="+mn-lt"/>
                            <a:ea typeface="Helvetica Neue"/>
                            <a:cs typeface="Helvetica Neue"/>
                            <a:sym typeface="Helvetica Neue"/>
                          </a:endParaRPr>
                        </a:p>
                        <a:p>
                          <a:pPr marL="0" marR="0" lvl="0" indent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Pts val="900"/>
                            <a:buFont typeface="Helvetica Neue"/>
                            <a:buNone/>
                          </a:pPr>
                          <a:r>
                            <a:rPr lang="en-US" sz="900" b="1" i="0" u="none" strike="noStrike" cap="none" dirty="0">
                              <a:solidFill>
                                <a:srgbClr val="0070C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Flight controls  ---</a:t>
                          </a:r>
                          <a:r>
                            <a:rPr lang="en-US" altLang="ko-Kore-KR" sz="900" b="1" i="0" u="none" strike="noStrike" cap="none" dirty="0">
                              <a:solidFill>
                                <a:srgbClr val="0070C0"/>
                              </a:solidFill>
                              <a:latin typeface="Calibri"/>
                              <a:ea typeface="Helvetica Neue"/>
                              <a:cs typeface="Helvetica Neue"/>
                              <a:sym typeface="Helvetica Neue"/>
                            </a:rPr>
                            <a:t>--------------------</a:t>
                          </a:r>
                          <a:r>
                            <a:rPr lang="en-US" altLang="ko-KR" sz="900" b="1" i="0" u="none" strike="noStrike" cap="none" dirty="0">
                              <a:solidFill>
                                <a:srgbClr val="0070C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--</a:t>
                          </a:r>
                          <a:r>
                            <a:rPr lang="en-US" sz="900" b="1" i="0" u="none" strike="noStrike" cap="none" dirty="0">
                              <a:solidFill>
                                <a:srgbClr val="0070C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--  </a:t>
                          </a:r>
                          <a:r>
                            <a:rPr lang="en-US" sz="900" b="1" i="0" u="none" strike="noStrike" cap="none" dirty="0">
                              <a:solidFill>
                                <a:srgbClr val="AA47F5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Check</a:t>
                          </a:r>
                          <a:endParaRPr dirty="0">
                            <a:solidFill>
                              <a:srgbClr val="AA47F5"/>
                            </a:solidFill>
                            <a:latin typeface="+mn-lt"/>
                          </a:endParaRPr>
                        </a:p>
                        <a:p>
                          <a:pPr marL="0" marR="0" lvl="0" indent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B050"/>
                            </a:buClr>
                            <a:buSzPts val="800"/>
                            <a:buFont typeface="Helvetica Neue"/>
                            <a:buNone/>
                          </a:pPr>
                          <a:r>
                            <a:rPr lang="en-US" sz="800" b="1" dirty="0">
                              <a:solidFill>
                                <a:srgbClr val="00B05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AFTER START </a:t>
                          </a:r>
                          <a:r>
                            <a:rPr lang="en-US" sz="800" b="1" dirty="0" err="1">
                              <a:solidFill>
                                <a:srgbClr val="00B05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CHKlist</a:t>
                          </a:r>
                          <a:r>
                            <a:rPr lang="en-US" sz="800" b="1" dirty="0">
                              <a:solidFill>
                                <a:srgbClr val="00B05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 </a:t>
                          </a:r>
                          <a:r>
                            <a:rPr lang="en-US" sz="800" b="1" dirty="0">
                              <a:solidFill>
                                <a:srgbClr val="FF000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(ATC CLR Confirm)</a:t>
                          </a:r>
                          <a:endParaRPr dirty="0">
                            <a:latin typeface="+mn-lt"/>
                          </a:endParaRPr>
                        </a:p>
                      </a:txBody>
                      <a:tcPr marL="36000" marR="36000" marT="0" marB="0"/>
                    </a:tc>
                    <a:extLst>
                      <a:ext uri="{0D108BD9-81ED-4DB2-BD59-A6C34878D82A}">
                        <a16:rowId xmlns:a16="http://schemas.microsoft.com/office/drawing/2014/main" val="10008"/>
                      </a:ext>
                    </a:extLst>
                  </a:tr>
                  <a:tr h="376842">
                    <a:tc>
                      <a:txBody>
                        <a:bodyPr/>
                        <a:lstStyle/>
                        <a:p>
                          <a:pPr marL="0" marR="0" lvl="0" indent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chemeClr val="dk1"/>
                            </a:buClr>
                            <a:buSzPts val="800"/>
                            <a:buFont typeface="Helvetica Neue"/>
                            <a:buNone/>
                          </a:pPr>
                          <a:r>
                            <a:rPr lang="en-US" sz="800" b="1" dirty="0">
                              <a:solidFill>
                                <a:schemeClr val="dk1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TAXI, BEFORE T/O, T/O Procedure</a:t>
                          </a:r>
                          <a:endParaRPr dirty="0">
                            <a:latin typeface="+mn-lt"/>
                          </a:endParaRPr>
                        </a:p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chemeClr val="dk1"/>
                            </a:buClr>
                            <a:buSzPts val="800"/>
                            <a:buFont typeface="Helvetica Neue"/>
                            <a:buNone/>
                            <a:tabLst/>
                            <a:defRPr/>
                          </a:pPr>
                          <a:r>
                            <a:rPr lang="en-US" altLang="ko-Kore-KR" sz="800" b="1" i="0" u="none" strike="noStrike" cap="none" dirty="0">
                              <a:solidFill>
                                <a:schemeClr val="dk1"/>
                              </a:solidFill>
                              <a:latin typeface="Calibri"/>
                              <a:ea typeface="Helvetica Neue"/>
                              <a:cs typeface="Helvetica Neue"/>
                              <a:sym typeface="Helvetica Neue"/>
                            </a:rPr>
                            <a:t> </a:t>
                          </a:r>
                          <a:endParaRPr lang="en-US" altLang="ko-Kore-KR" sz="800" b="0" i="0" u="none" strike="noStrike" cap="none" dirty="0">
                            <a:solidFill>
                              <a:schemeClr val="dk1"/>
                            </a:solidFill>
                            <a:latin typeface="Calibri"/>
                            <a:ea typeface="Calibri"/>
                            <a:cs typeface="Calibri"/>
                            <a:sym typeface="Arial"/>
                          </a:endParaRPr>
                        </a:p>
                        <a:p>
                          <a:pPr marL="0" marR="0" lvl="0" indent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chemeClr val="dk1"/>
                            </a:buClr>
                            <a:buSzPts val="800"/>
                            <a:buFont typeface="Helvetica Neue"/>
                            <a:buNone/>
                          </a:pPr>
                          <a:r>
                            <a:rPr lang="en-US" sz="800" b="1" dirty="0">
                              <a:solidFill>
                                <a:schemeClr val="dk1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                                 </a:t>
                          </a:r>
                          <a:r>
                            <a:rPr lang="en-US" sz="800" b="1" dirty="0">
                              <a:solidFill>
                                <a:schemeClr val="dk1"/>
                              </a:solidFill>
                              <a:highlight>
                                <a:srgbClr val="FFFF00"/>
                              </a:highlight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DECISION TREE next page</a:t>
                          </a:r>
                          <a:endParaRPr sz="800" b="1" dirty="0">
                            <a:solidFill>
                              <a:schemeClr val="dk1"/>
                            </a:solidFill>
                            <a:latin typeface="+mn-lt"/>
                            <a:ea typeface="Helvetica Neue"/>
                            <a:cs typeface="Helvetica Neue"/>
                            <a:sym typeface="Helvetica Neue"/>
                          </a:endParaRPr>
                        </a:p>
                      </a:txBody>
                      <a:tcPr marL="36000" marR="36000" marT="0" marB="0"/>
                    </a:tc>
                    <a:extLst>
                      <a:ext uri="{0D108BD9-81ED-4DB2-BD59-A6C34878D82A}">
                        <a16:rowId xmlns:a16="http://schemas.microsoft.com/office/drawing/2014/main" val="10009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430" name="Google Shape;430;p35"/>
              <p:cNvGraphicFramePr/>
              <p:nvPr>
                <p:extLst>
                  <p:ext uri="{D42A27DB-BD31-4B8C-83A1-F6EECF244321}">
                    <p14:modId xmlns:p14="http://schemas.microsoft.com/office/powerpoint/2010/main" val="394993808"/>
                  </p:ext>
                </p:extLst>
              </p:nvPr>
            </p:nvGraphicFramePr>
            <p:xfrm>
              <a:off x="8056" y="-4101"/>
              <a:ext cx="2332393" cy="5560827"/>
            </p:xfrm>
            <a:graphic>
              <a:graphicData uri="http://schemas.openxmlformats.org/drawingml/2006/table">
                <a:tbl>
                  <a:tblPr firstRow="1" bandRow="1">
                    <a:noFill/>
                    <a:tableStyleId>{A521BE36-7E6F-4EC9-8D66-1CF97A6895EC}</a:tableStyleId>
                  </a:tblPr>
                  <a:tblGrid>
                    <a:gridCol w="2332393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</a:tblGrid>
                  <a:tr h="372515">
                    <a:tc>
                      <a:txBody>
                        <a:bodyPr/>
                        <a:lstStyle/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1100" dirty="0">
                              <a:latin typeface="+mn-lt"/>
                            </a:rPr>
                            <a:t>ENG OFF Deicing in </a:t>
                          </a:r>
                          <a:r>
                            <a:rPr lang="en-US" sz="1100" dirty="0">
                              <a:solidFill>
                                <a:srgbClr val="00B050"/>
                              </a:solidFill>
                              <a:latin typeface="+mn-lt"/>
                            </a:rPr>
                            <a:t>GMP...</a:t>
                          </a:r>
                        </a:p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:r>
                            <a:rPr kumimoji="0" lang="en-US" altLang="ko-Kore-KR" sz="800" b="1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FFC000"/>
                              </a:solidFill>
                              <a:effectLst/>
                              <a:uLnTx/>
                              <a:uFillTx/>
                              <a:latin typeface="Arial"/>
                              <a:ea typeface="Helvetica Neue"/>
                              <a:cs typeface="Helvetica Neue"/>
                              <a:sym typeface="Helvetica Neue"/>
                            </a:rPr>
                            <a:t>TOBT- 20min CTC KE GMP (</a:t>
                          </a:r>
                          <a:r>
                            <a:rPr kumimoji="0" lang="en-US" altLang="ko-Kore-KR" sz="800" b="1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FFC000"/>
                              </a:solidFill>
                              <a:effectLst/>
                              <a:uLnTx/>
                              <a:uFillTx/>
                              <a:latin typeface="Arial"/>
                              <a:ea typeface="맑은 고딕" panose="020B0503020000020004" pitchFamily="34" charset="-127"/>
                              <a:cs typeface="Helvetica Neue"/>
                              <a:sym typeface="Helvetica Neue"/>
                            </a:rPr>
                            <a:t>PAD, New TOBT</a:t>
                          </a:r>
                          <a:r>
                            <a:rPr kumimoji="0" lang="en-US" altLang="ko-KR" sz="800" b="1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FFC000"/>
                              </a:solidFill>
                              <a:effectLst/>
                              <a:uLnTx/>
                              <a:uFillTx/>
                              <a:latin typeface="Arial"/>
                              <a:ea typeface="Helvetica Neue"/>
                              <a:cs typeface="Helvetica Neue"/>
                              <a:sym typeface="Helvetica Neue"/>
                            </a:rPr>
                            <a:t>)</a:t>
                          </a:r>
                          <a:endParaRPr kumimoji="0" lang="en-US" altLang="ko-Kore-KR" sz="800" b="1" i="0" u="none" strike="noStrike" kern="0" cap="none" spc="0" normalizeH="0" baseline="0" noProof="0" dirty="0">
                            <a:ln>
                              <a:noFill/>
                            </a:ln>
                            <a:solidFill>
                              <a:srgbClr val="FFC000"/>
                            </a:solidFill>
                            <a:effectLst/>
                            <a:uLnTx/>
                            <a:uFillTx/>
                            <a:latin typeface="Arial"/>
                            <a:ea typeface="Helvetica Neue"/>
                            <a:cs typeface="Helvetica Neue"/>
                            <a:sym typeface="Helvetica Neue"/>
                          </a:endParaRPr>
                        </a:p>
                      </a:txBody>
                      <a:tcPr marL="36000" marR="36000" marT="36000" marB="36000"/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  <a:tr h="451023">
                    <a:tc>
                      <a:txBody>
                        <a:bodyPr/>
                        <a:lstStyle/>
                        <a:p>
                          <a:endParaRPr lang="ko-Kore-KR"/>
                        </a:p>
                      </a:txBody>
                      <a:tcPr marL="36000" marR="36000" marT="36000" marB="36000">
                        <a:blipFill>
                          <a:blip r:embed="rId3"/>
                          <a:stretch>
                            <a:fillRect t="-80556" r="-1081" b="-1052778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1"/>
                      </a:ext>
                    </a:extLst>
                  </a:tr>
                  <a:tr h="1114824">
                    <a:tc>
                      <a:txBody>
                        <a:bodyPr/>
                        <a:lstStyle/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900" b="1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PARKING BRAKE ---------------------- SET </a:t>
                          </a:r>
                          <a:endParaRPr dirty="0">
                            <a:latin typeface="+mn-lt"/>
                          </a:endParaRPr>
                        </a:p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800" b="0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Establish communications with GND personnel.</a:t>
                          </a:r>
                          <a:endParaRPr dirty="0">
                            <a:latin typeface="+mn-lt"/>
                          </a:endParaRPr>
                        </a:p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900" b="1" dirty="0">
                              <a:solidFill>
                                <a:srgbClr val="0070C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B737-8,900ER BROADBAND s/w ---- OFF</a:t>
                          </a:r>
                          <a:endParaRPr sz="900" b="1" dirty="0">
                            <a:solidFill>
                              <a:srgbClr val="0070C0"/>
                            </a:solidFill>
                            <a:latin typeface="+mn-lt"/>
                            <a:ea typeface="Helvetica Neue"/>
                            <a:cs typeface="Helvetica Neue"/>
                            <a:sym typeface="Helvetica Neue"/>
                          </a:endParaRPr>
                        </a:p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900" b="1" dirty="0">
                              <a:solidFill>
                                <a:schemeClr val="tx1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FLAPS ----------------------------</a:t>
                          </a:r>
                          <a:r>
                            <a:rPr lang="en-US" altLang="ko-KR" sz="900" b="1" dirty="0">
                              <a:solidFill>
                                <a:schemeClr val="tx1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-----</a:t>
                          </a:r>
                          <a:r>
                            <a:rPr lang="en-US" sz="900" b="1" dirty="0">
                              <a:solidFill>
                                <a:schemeClr val="tx1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-------- UP </a:t>
                          </a:r>
                          <a:endParaRPr dirty="0">
                            <a:solidFill>
                              <a:schemeClr val="tx1"/>
                            </a:solidFill>
                            <a:latin typeface="+mn-lt"/>
                          </a:endParaRPr>
                        </a:p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900" b="1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THRUST LEVERS ----------------</a:t>
                          </a:r>
                          <a:r>
                            <a:rPr lang="en-US" altLang="ko-KR" sz="900" b="1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---</a:t>
                          </a:r>
                          <a:r>
                            <a:rPr lang="en-US" sz="900" b="1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------IDLE </a:t>
                          </a:r>
                          <a:endParaRPr dirty="0">
                            <a:latin typeface="+mn-lt"/>
                          </a:endParaRPr>
                        </a:p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:r>
                            <a:rPr kumimoji="0" lang="en-US" altLang="ko-Kore-KR" sz="900" b="1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Arial"/>
                              <a:ea typeface="Helvetica Neue"/>
                              <a:cs typeface="Helvetica Neue"/>
                              <a:sym typeface="Helvetica Neue"/>
                            </a:rPr>
                            <a:t>STABILIZER TRIM ---------------</a:t>
                          </a:r>
                          <a:r>
                            <a:rPr kumimoji="0" lang="en-US" altLang="ko-KR" sz="900" b="1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Arial"/>
                              <a:ea typeface="Helvetica Neue"/>
                              <a:cs typeface="Helvetica Neue"/>
                              <a:sym typeface="Helvetica Neue"/>
                            </a:rPr>
                            <a:t>---</a:t>
                          </a:r>
                          <a:r>
                            <a:rPr kumimoji="0" lang="en-US" altLang="ko-Kore-KR" sz="900" b="1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Arial"/>
                              <a:ea typeface="Helvetica Neue"/>
                              <a:cs typeface="Helvetica Neue"/>
                              <a:sym typeface="Helvetica Neue"/>
                            </a:rPr>
                            <a:t>---</a:t>
                          </a:r>
                          <a:r>
                            <a:rPr kumimoji="0" lang="en-US" altLang="ko-KR" sz="900" b="1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Arial"/>
                              <a:ea typeface="Helvetica Neue"/>
                              <a:cs typeface="Helvetica Neue"/>
                              <a:sym typeface="Helvetica Neue"/>
                            </a:rPr>
                            <a:t> CHECK</a:t>
                          </a:r>
                          <a:endParaRPr lang="en-US" sz="900" b="1" dirty="0">
                            <a:solidFill>
                              <a:srgbClr val="0070C0"/>
                            </a:solidFill>
                            <a:latin typeface="+mn-lt"/>
                            <a:ea typeface="Helvetica Neue"/>
                            <a:cs typeface="Helvetica Neue"/>
                            <a:sym typeface="Helvetica Neue"/>
                          </a:endParaRPr>
                        </a:p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900" b="1" dirty="0">
                              <a:solidFill>
                                <a:srgbClr val="0070C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ENGINE BLEED AIR SWITCHES ----- OFF </a:t>
                          </a:r>
                          <a:endParaRPr dirty="0">
                            <a:solidFill>
                              <a:srgbClr val="0070C0"/>
                            </a:solidFill>
                            <a:latin typeface="+mn-lt"/>
                          </a:endParaRPr>
                        </a:p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900" b="1" dirty="0">
                              <a:solidFill>
                                <a:srgbClr val="0070C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APU BLEED air switch -------</a:t>
                          </a:r>
                          <a:r>
                            <a:rPr lang="en-US" altLang="ko-KR" sz="900" b="1" dirty="0">
                              <a:solidFill>
                                <a:srgbClr val="0070C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--</a:t>
                          </a:r>
                          <a:r>
                            <a:rPr lang="en-US" sz="900" b="1" dirty="0">
                              <a:solidFill>
                                <a:srgbClr val="0070C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--------- OFF</a:t>
                          </a:r>
                          <a:endParaRPr sz="800" b="1" dirty="0">
                            <a:solidFill>
                              <a:srgbClr val="0070C0"/>
                            </a:solidFill>
                            <a:latin typeface="+mn-lt"/>
                            <a:ea typeface="Helvetica Neue"/>
                            <a:cs typeface="Helvetica Neue"/>
                            <a:sym typeface="Helvetica Neue"/>
                          </a:endParaRPr>
                        </a:p>
                      </a:txBody>
                      <a:tcPr marL="36000" marR="36000" marT="0" marB="0"/>
                    </a:tc>
                    <a:extLst>
                      <a:ext uri="{0D108BD9-81ED-4DB2-BD59-A6C34878D82A}">
                        <a16:rowId xmlns:a16="http://schemas.microsoft.com/office/drawing/2014/main" val="10002"/>
                      </a:ext>
                    </a:extLst>
                  </a:tr>
                  <a:tr h="690877">
                    <a:tc>
                      <a:txBody>
                        <a:bodyPr/>
                        <a:lstStyle/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900" b="1" dirty="0">
                              <a:solidFill>
                                <a:srgbClr val="0070C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APU ------------------ START</a:t>
                          </a:r>
                          <a:r>
                            <a:rPr lang="en-US" altLang="ko-KR" sz="900" b="1" dirty="0">
                              <a:solidFill>
                                <a:srgbClr val="FF000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(</a:t>
                          </a:r>
                          <a:r>
                            <a:rPr lang="ko-KR" altLang="en-US" sz="900" b="1" dirty="0" err="1">
                              <a:solidFill>
                                <a:srgbClr val="FF000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시동후</a:t>
                          </a:r>
                          <a:r>
                            <a:rPr lang="ko-KR" altLang="en-US" sz="900" b="1" dirty="0">
                              <a:solidFill>
                                <a:srgbClr val="FF000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 </a:t>
                          </a:r>
                          <a:r>
                            <a:rPr lang="en-US" altLang="ko-KR" sz="900" b="1" dirty="0">
                              <a:solidFill>
                                <a:srgbClr val="FF000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ON </a:t>
                          </a:r>
                          <a:r>
                            <a:rPr lang="ko-KR" altLang="en-US" sz="900" b="1" dirty="0">
                              <a:solidFill>
                                <a:srgbClr val="FF000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유지</a:t>
                          </a:r>
                          <a:r>
                            <a:rPr lang="en-US" altLang="ko-KR" sz="900" b="1" dirty="0">
                              <a:solidFill>
                                <a:srgbClr val="FF000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)</a:t>
                          </a:r>
                          <a:r>
                            <a:rPr lang="en-US" sz="900" b="1" dirty="0">
                              <a:solidFill>
                                <a:srgbClr val="FF000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 </a:t>
                          </a:r>
                          <a:endParaRPr dirty="0">
                            <a:solidFill>
                              <a:srgbClr val="FF0000"/>
                            </a:solidFill>
                            <a:latin typeface="+mn-lt"/>
                          </a:endParaRPr>
                        </a:p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900" b="1" dirty="0">
                              <a:solidFill>
                                <a:srgbClr val="0070C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APU GENERATOR bus switches ------ ON </a:t>
                          </a:r>
                          <a:endParaRPr dirty="0">
                            <a:solidFill>
                              <a:srgbClr val="0070C0"/>
                            </a:solidFill>
                            <a:latin typeface="+mn-lt"/>
                          </a:endParaRPr>
                        </a:p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900" b="1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ENGINE ANTI-ICE switches---</a:t>
                          </a:r>
                          <a:r>
                            <a:rPr lang="en-US" altLang="ko-KR" sz="900" b="1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-</a:t>
                          </a:r>
                          <a:r>
                            <a:rPr lang="en-US" sz="900" b="1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-------- OFF </a:t>
                          </a:r>
                          <a:endParaRPr dirty="0">
                            <a:latin typeface="+mn-lt"/>
                          </a:endParaRPr>
                        </a:p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900" b="1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Engine Start levers ----------</a:t>
                          </a:r>
                          <a:r>
                            <a:rPr lang="en-US" altLang="ko-KR" sz="900" b="1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--</a:t>
                          </a:r>
                          <a:r>
                            <a:rPr lang="en-US" sz="900" b="1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----- CUTOFF</a:t>
                          </a:r>
                          <a:endParaRPr dirty="0">
                            <a:latin typeface="+mn-lt"/>
                          </a:endParaRPr>
                        </a:p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800" b="1" dirty="0">
                              <a:solidFill>
                                <a:srgbClr val="00B05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SHUTDOWN CHECKLIST</a:t>
                          </a:r>
                          <a:endParaRPr dirty="0">
                            <a:latin typeface="+mn-lt"/>
                          </a:endParaRPr>
                        </a:p>
                      </a:txBody>
                      <a:tcPr marL="36000" marR="36000" marT="0" marB="0"/>
                    </a:tc>
                    <a:extLst>
                      <a:ext uri="{0D108BD9-81ED-4DB2-BD59-A6C34878D82A}">
                        <a16:rowId xmlns:a16="http://schemas.microsoft.com/office/drawing/2014/main" val="10003"/>
                      </a:ext>
                    </a:extLst>
                  </a:tr>
                  <a:tr h="277994">
                    <a:tc>
                      <a:txBody>
                        <a:bodyPr/>
                        <a:lstStyle/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900" b="1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START DE/ANTI-ICING </a:t>
                          </a:r>
                          <a:endParaRPr sz="900" b="1" dirty="0">
                            <a:solidFill>
                              <a:srgbClr val="00B050"/>
                            </a:solidFill>
                            <a:latin typeface="+mn-lt"/>
                            <a:ea typeface="Helvetica Neue"/>
                            <a:cs typeface="Helvetica Neue"/>
                            <a:sym typeface="Helvetica Neue"/>
                          </a:endParaRPr>
                        </a:p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800" b="0" dirty="0" err="1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항공기이동</a:t>
                          </a:r>
                          <a:r>
                            <a:rPr lang="en-US" sz="800" b="0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 </a:t>
                          </a:r>
                          <a:r>
                            <a:rPr lang="en-US" sz="800" b="0" dirty="0" err="1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및</a:t>
                          </a:r>
                          <a:r>
                            <a:rPr lang="en-US" sz="800" b="0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 Configuration </a:t>
                          </a:r>
                          <a:r>
                            <a:rPr lang="en-US" sz="800" b="0" dirty="0" err="1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변경</a:t>
                          </a:r>
                          <a:r>
                            <a:rPr lang="en-US" sz="800" b="0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 </a:t>
                          </a:r>
                          <a:r>
                            <a:rPr lang="en-US" sz="800" b="0" dirty="0" err="1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금지</a:t>
                          </a:r>
                          <a:endParaRPr sz="900" b="1" dirty="0">
                            <a:latin typeface="+mn-lt"/>
                            <a:ea typeface="Helvetica Neue"/>
                            <a:cs typeface="Helvetica Neue"/>
                            <a:sym typeface="Helvetica Neue"/>
                          </a:endParaRPr>
                        </a:p>
                      </a:txBody>
                      <a:tcPr marL="36000" marR="36000" marT="0" marB="0"/>
                    </a:tc>
                    <a:extLst>
                      <a:ext uri="{0D108BD9-81ED-4DB2-BD59-A6C34878D82A}">
                        <a16:rowId xmlns:a16="http://schemas.microsoft.com/office/drawing/2014/main" val="10004"/>
                      </a:ext>
                    </a:extLst>
                  </a:tr>
                  <a:tr h="659473">
                    <a:tc>
                      <a:txBody>
                        <a:bodyPr/>
                        <a:lstStyle/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900" b="1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AFTER DE/ANTI-ICING IS COMPLETED</a:t>
                          </a:r>
                          <a:endParaRPr dirty="0">
                            <a:latin typeface="+mn-lt"/>
                          </a:endParaRPr>
                        </a:p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800" b="1" dirty="0">
                              <a:solidFill>
                                <a:srgbClr val="00B05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(TIME CHECK 1분)</a:t>
                          </a:r>
                          <a:endParaRPr dirty="0">
                            <a:latin typeface="+mn-lt"/>
                          </a:endParaRPr>
                        </a:p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800" b="0" dirty="0" err="1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용액과</a:t>
                          </a:r>
                          <a:r>
                            <a:rPr lang="en-US" sz="800" b="0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 </a:t>
                          </a:r>
                          <a:r>
                            <a:rPr lang="en-US" sz="800" b="0" dirty="0" err="1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마지막</a:t>
                          </a:r>
                          <a:r>
                            <a:rPr lang="en-US" sz="800" b="0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 </a:t>
                          </a:r>
                          <a:r>
                            <a:rPr lang="en-US" sz="800" b="0" dirty="0" err="1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용액</a:t>
                          </a:r>
                          <a:r>
                            <a:rPr lang="en-US" sz="800" b="0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 </a:t>
                          </a:r>
                          <a:r>
                            <a:rPr lang="en-US" sz="800" b="0" dirty="0" err="1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뿌린</a:t>
                          </a:r>
                          <a:r>
                            <a:rPr lang="en-US" sz="800" b="0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 </a:t>
                          </a:r>
                          <a:r>
                            <a:rPr lang="en-US" sz="800" b="0" dirty="0" err="1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시간</a:t>
                          </a:r>
                          <a:r>
                            <a:rPr lang="en-US" sz="800" b="0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 </a:t>
                          </a:r>
                          <a:r>
                            <a:rPr lang="en-US" sz="800" b="0" dirty="0" err="1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받고</a:t>
                          </a:r>
                          <a:r>
                            <a:rPr lang="en-US" sz="800" b="0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 </a:t>
                          </a:r>
                          <a:r>
                            <a:rPr lang="en-US" sz="800" b="0" dirty="0" err="1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적는다</a:t>
                          </a:r>
                          <a:r>
                            <a:rPr lang="en-US" sz="800" b="0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. </a:t>
                          </a:r>
                          <a:endParaRPr dirty="0">
                            <a:latin typeface="+mn-lt"/>
                          </a:endParaRPr>
                        </a:p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800" b="0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Holdover Time </a:t>
                          </a:r>
                          <a:r>
                            <a:rPr lang="en-US" sz="800" b="0" dirty="0" err="1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결정</a:t>
                          </a:r>
                          <a:r>
                            <a:rPr lang="en-US" sz="800" b="0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!!!</a:t>
                          </a:r>
                        </a:p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:r>
                            <a:rPr kumimoji="0" lang="en-US" altLang="ko-Kore-KR" sz="900" b="1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70C0"/>
                              </a:solidFill>
                              <a:effectLst/>
                              <a:uLnTx/>
                              <a:uFillTx/>
                              <a:latin typeface="Arial"/>
                              <a:ea typeface="Helvetica Neue"/>
                              <a:cs typeface="Helvetica Neue"/>
                              <a:sym typeface="Helvetica Neue"/>
                            </a:rPr>
                            <a:t>B737-8,900ER BROADBAND s/w ----- ON</a:t>
                          </a:r>
                          <a:endParaRPr kumimoji="0" lang="en-US" altLang="ko-Kore-KR" sz="1400" b="0" i="0" u="none" strike="noStrike" kern="0" cap="none" spc="0" normalizeH="0" baseline="0" noProof="0" dirty="0">
                            <a:ln>
                              <a:noFill/>
                            </a:ln>
                            <a:solidFill>
                              <a:srgbClr val="0070C0"/>
                            </a:solidFill>
                            <a:effectLst/>
                            <a:uLnTx/>
                            <a:uFillTx/>
                            <a:latin typeface="Arial"/>
                            <a:cs typeface="Calibri"/>
                            <a:sym typeface="Arial"/>
                          </a:endParaRPr>
                        </a:p>
                      </a:txBody>
                      <a:tcPr marL="36000" marR="36000" marT="0" marB="0"/>
                    </a:tc>
                    <a:extLst>
                      <a:ext uri="{0D108BD9-81ED-4DB2-BD59-A6C34878D82A}">
                        <a16:rowId xmlns:a16="http://schemas.microsoft.com/office/drawing/2014/main" val="10005"/>
                      </a:ext>
                    </a:extLst>
                  </a:tr>
                  <a:tr h="533859">
                    <a:tc>
                      <a:txBody>
                        <a:bodyPr/>
                        <a:lstStyle/>
                        <a:p>
                          <a:pPr marL="0" marR="0" lvl="0" indent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B050"/>
                            </a:buClr>
                            <a:buSzPts val="800"/>
                            <a:buFont typeface="Helvetica Neue"/>
                            <a:buNone/>
                          </a:pPr>
                          <a:r>
                            <a:rPr lang="en-US" sz="800" b="1" i="0" u="none" strike="noStrike" cap="none" dirty="0">
                              <a:solidFill>
                                <a:srgbClr val="00B05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TIME CHECK 1분후 </a:t>
                          </a:r>
                          <a:endParaRPr sz="800" b="1" i="0" u="none" strike="noStrike" cap="none" dirty="0">
                            <a:solidFill>
                              <a:srgbClr val="00B050"/>
                            </a:solidFill>
                            <a:latin typeface="+mn-lt"/>
                            <a:ea typeface="Helvetica Neue"/>
                            <a:cs typeface="Helvetica Neue"/>
                            <a:sym typeface="Helvetica Neue"/>
                          </a:endParaRPr>
                        </a:p>
                        <a:p>
                          <a:pPr marL="0" marR="0" lvl="0" indent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chemeClr val="dk1"/>
                            </a:buClr>
                            <a:buSzPts val="900"/>
                            <a:buFont typeface="Helvetica Neue"/>
                            <a:buNone/>
                          </a:pPr>
                          <a:r>
                            <a:rPr lang="en-US" sz="900" b="1" dirty="0">
                              <a:solidFill>
                                <a:srgbClr val="0070C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APU BLEED air switch ---</a:t>
                          </a:r>
                          <a:r>
                            <a:rPr lang="en-US" altLang="ko-KR" sz="900" b="1" dirty="0">
                              <a:solidFill>
                                <a:srgbClr val="0070C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-</a:t>
                          </a:r>
                          <a:r>
                            <a:rPr lang="en-US" sz="900" b="1" dirty="0">
                              <a:solidFill>
                                <a:srgbClr val="0070C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---</a:t>
                          </a:r>
                          <a:r>
                            <a:rPr lang="en-US" altLang="ko-KR" sz="900" b="1" dirty="0">
                              <a:solidFill>
                                <a:srgbClr val="0070C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-</a:t>
                          </a:r>
                          <a:r>
                            <a:rPr lang="en-US" sz="900" b="1" dirty="0">
                              <a:solidFill>
                                <a:srgbClr val="0070C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----------- ON</a:t>
                          </a:r>
                        </a:p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Pts val="900"/>
                            <a:buFont typeface="Helvetica Neue"/>
                            <a:buNone/>
                            <a:tabLst/>
                            <a:defRPr/>
                          </a:pPr>
                          <a:r>
                            <a:rPr kumimoji="0" lang="en-US" altLang="ko-Kore-KR" sz="900" b="1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70C0"/>
                              </a:solidFill>
                              <a:effectLst/>
                              <a:uLnTx/>
                              <a:uFillTx/>
                              <a:latin typeface="Arial"/>
                              <a:ea typeface="Helvetica Neue"/>
                              <a:cs typeface="Helvetica Neue"/>
                              <a:sym typeface="Helvetica Neue"/>
                            </a:rPr>
                            <a:t>Engine BLEED air switches -----</a:t>
                          </a:r>
                          <a:r>
                            <a:rPr kumimoji="0" lang="en-US" altLang="ko-KR" sz="900" b="1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70C0"/>
                              </a:solidFill>
                              <a:effectLst/>
                              <a:uLnTx/>
                              <a:uFillTx/>
                              <a:latin typeface="Arial"/>
                              <a:ea typeface="Helvetica Neue"/>
                              <a:cs typeface="Helvetica Neue"/>
                              <a:sym typeface="Helvetica Neue"/>
                            </a:rPr>
                            <a:t>-</a:t>
                          </a:r>
                          <a:r>
                            <a:rPr kumimoji="0" lang="en-US" altLang="ko-Kore-KR" sz="900" b="1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70C0"/>
                              </a:solidFill>
                              <a:effectLst/>
                              <a:uLnTx/>
                              <a:uFillTx/>
                              <a:latin typeface="Arial"/>
                              <a:ea typeface="Helvetica Neue"/>
                              <a:cs typeface="Helvetica Neue"/>
                              <a:sym typeface="Helvetica Neue"/>
                            </a:rPr>
                            <a:t>------ ON </a:t>
                          </a:r>
                          <a:r>
                            <a:rPr lang="en-US" sz="900" b="1" dirty="0">
                              <a:solidFill>
                                <a:srgbClr val="0070C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 </a:t>
                          </a:r>
                          <a:endParaRPr dirty="0">
                            <a:solidFill>
                              <a:srgbClr val="0070C0"/>
                            </a:solidFill>
                            <a:latin typeface="+mn-lt"/>
                          </a:endParaRPr>
                        </a:p>
                        <a:p>
                          <a:pPr marL="0" marR="0" lvl="0" indent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B050"/>
                            </a:buClr>
                            <a:buSzPts val="800"/>
                            <a:buFont typeface="Helvetica Neue"/>
                            <a:buNone/>
                          </a:pPr>
                          <a:r>
                            <a:rPr lang="en-US" sz="800" b="1" dirty="0">
                              <a:solidFill>
                                <a:srgbClr val="00B05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PREFLT </a:t>
                          </a:r>
                          <a:r>
                            <a:rPr lang="en-US" sz="800" b="1" dirty="0" err="1">
                              <a:solidFill>
                                <a:srgbClr val="00B05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CHKlist</a:t>
                          </a:r>
                          <a:r>
                            <a:rPr lang="en-US" sz="800" b="1" dirty="0">
                              <a:solidFill>
                                <a:srgbClr val="00B05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 -&gt; Req STARTUP -&gt; </a:t>
                          </a:r>
                          <a:r>
                            <a:rPr lang="en-US" sz="800" b="1" dirty="0" err="1">
                              <a:solidFill>
                                <a:srgbClr val="00B05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CHKlist</a:t>
                          </a:r>
                          <a:endParaRPr sz="800" b="1" dirty="0">
                            <a:solidFill>
                              <a:srgbClr val="00B050"/>
                            </a:solidFill>
                            <a:latin typeface="+mn-lt"/>
                            <a:ea typeface="Helvetica Neue"/>
                            <a:cs typeface="Helvetica Neue"/>
                            <a:sym typeface="Helvetica Neue"/>
                          </a:endParaRPr>
                        </a:p>
                      </a:txBody>
                      <a:tcPr marL="36000" marR="36000" marT="0" marB="0"/>
                    </a:tc>
                    <a:extLst>
                      <a:ext uri="{0D108BD9-81ED-4DB2-BD59-A6C34878D82A}">
                        <a16:rowId xmlns:a16="http://schemas.microsoft.com/office/drawing/2014/main" val="10006"/>
                      </a:ext>
                    </a:extLst>
                  </a:tr>
                  <a:tr h="423947">
                    <a:tc>
                      <a:txBody>
                        <a:bodyPr/>
                        <a:lstStyle/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900" b="1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AFTER BOTH ENGINES ARE STARTED</a:t>
                          </a:r>
                          <a:endParaRPr sz="800" dirty="0">
                            <a:latin typeface="+mn-lt"/>
                            <a:ea typeface="Helvetica Neue"/>
                            <a:cs typeface="Helvetica Neue"/>
                            <a:sym typeface="Helvetica Neue"/>
                          </a:endParaRPr>
                        </a:p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900" b="1" dirty="0">
                              <a:solidFill>
                                <a:srgbClr val="0070C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ENGINE ANTI-ICE switches----As needed </a:t>
                          </a:r>
                          <a:endParaRPr dirty="0">
                            <a:solidFill>
                              <a:srgbClr val="0070C0"/>
                            </a:solidFill>
                            <a:latin typeface="+mn-lt"/>
                          </a:endParaRPr>
                        </a:p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900" b="1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APU----------------------</a:t>
                          </a:r>
                          <a:r>
                            <a:rPr lang="en-US" altLang="ko-KR" sz="900" b="1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------</a:t>
                          </a:r>
                          <a:r>
                            <a:rPr lang="en-US" sz="900" b="1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-------- As needed </a:t>
                          </a:r>
                          <a:endParaRPr dirty="0">
                            <a:latin typeface="+mn-lt"/>
                          </a:endParaRPr>
                        </a:p>
                      </a:txBody>
                      <a:tcPr marL="36000" marR="36000" marT="0" marB="0"/>
                    </a:tc>
                    <a:extLst>
                      <a:ext uri="{0D108BD9-81ED-4DB2-BD59-A6C34878D82A}">
                        <a16:rowId xmlns:a16="http://schemas.microsoft.com/office/drawing/2014/main" val="10007"/>
                      </a:ext>
                    </a:extLst>
                  </a:tr>
                  <a:tr h="659473">
                    <a:tc>
                      <a:txBody>
                        <a:bodyPr/>
                        <a:lstStyle/>
                        <a:p>
                          <a:pPr marL="0" marR="0" lvl="0" indent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Pts val="900"/>
                            <a:buFont typeface="Helvetica Neue"/>
                            <a:buNone/>
                          </a:pPr>
                          <a:r>
                            <a:rPr lang="en-US" sz="900" b="1" i="0" u="none" strike="noStrike" cap="none" dirty="0">
                              <a:solidFill>
                                <a:srgbClr val="0070C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FLAP LEVER -------</a:t>
                          </a:r>
                          <a:r>
                            <a:rPr lang="en-US" altLang="ko-KR" sz="900" b="1" i="0" u="none" strike="noStrike" cap="none" dirty="0">
                              <a:solidFill>
                                <a:srgbClr val="0070C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--</a:t>
                          </a:r>
                          <a:r>
                            <a:rPr lang="en-US" sz="900" b="1" i="0" u="none" strike="noStrike" cap="none" dirty="0">
                              <a:solidFill>
                                <a:srgbClr val="0070C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  Set for takeoff or UP </a:t>
                          </a:r>
                          <a:endParaRPr dirty="0">
                            <a:solidFill>
                              <a:srgbClr val="0070C0"/>
                            </a:solidFill>
                            <a:latin typeface="+mn-lt"/>
                          </a:endParaRPr>
                        </a:p>
                        <a:p>
                          <a:pPr marL="0" marR="0" lvl="0" indent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Pts val="800"/>
                            <a:buFont typeface="Helvetica Neue"/>
                            <a:buNone/>
                          </a:pPr>
                          <a:r>
                            <a:rPr lang="en-US" sz="800" b="0" i="0" u="none" strike="noStrike" cap="none" dirty="0">
                              <a:solidFill>
                                <a:srgbClr val="00000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ice, snow, slush or standing water, </a:t>
                          </a:r>
                          <a:r>
                            <a:rPr lang="en-US" sz="800" b="0" i="0" u="none" strike="noStrike" cap="none" dirty="0" err="1">
                              <a:solidFill>
                                <a:srgbClr val="00000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강수</a:t>
                          </a:r>
                          <a:r>
                            <a:rPr lang="en-US" sz="800" b="0" i="0" u="none" strike="noStrike" cap="none" dirty="0">
                              <a:solidFill>
                                <a:srgbClr val="00000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 </a:t>
                          </a:r>
                          <a:r>
                            <a:rPr lang="en-US" sz="800" b="0" i="0" u="none" strike="noStrike" cap="none" dirty="0" err="1">
                              <a:solidFill>
                                <a:srgbClr val="00000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지속시</a:t>
                          </a:r>
                          <a:r>
                            <a:rPr lang="en-US" sz="800" b="0" i="0" u="none" strike="noStrike" cap="none" dirty="0">
                              <a:solidFill>
                                <a:srgbClr val="00000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 – </a:t>
                          </a:r>
                          <a:r>
                            <a:rPr lang="en-US" sz="800" b="0" i="0" u="none" strike="noStrike" cap="none" dirty="0">
                              <a:solidFill>
                                <a:srgbClr val="AA47F5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FLAP Full travel check</a:t>
                          </a:r>
                          <a:r>
                            <a:rPr lang="en-US" altLang="ko-KR" sz="800" b="0" i="0" u="none" strike="noStrike" cap="none" dirty="0">
                              <a:solidFill>
                                <a:srgbClr val="AA47F5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 (FLAP UP TAXI </a:t>
                          </a:r>
                          <a:r>
                            <a:rPr lang="ko-KR" altLang="en-US" sz="800" b="0" i="0" u="none" strike="noStrike" cap="none" dirty="0">
                              <a:solidFill>
                                <a:srgbClr val="AA47F5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고려</a:t>
                          </a:r>
                          <a:r>
                            <a:rPr lang="en-US" altLang="ko-KR" sz="800" b="0" i="0" u="none" strike="noStrike" cap="none" dirty="0">
                              <a:solidFill>
                                <a:srgbClr val="AA47F5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)</a:t>
                          </a:r>
                          <a:endParaRPr sz="800" b="0" i="0" u="none" strike="noStrike" cap="none" dirty="0">
                            <a:solidFill>
                              <a:srgbClr val="AA47F5"/>
                            </a:solidFill>
                            <a:latin typeface="+mn-lt"/>
                            <a:ea typeface="Helvetica Neue"/>
                            <a:cs typeface="Helvetica Neue"/>
                            <a:sym typeface="Helvetica Neue"/>
                          </a:endParaRPr>
                        </a:p>
                        <a:p>
                          <a:pPr marL="0" marR="0" lvl="0" indent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Pts val="900"/>
                            <a:buFont typeface="Helvetica Neue"/>
                            <a:buNone/>
                          </a:pPr>
                          <a:r>
                            <a:rPr lang="en-US" sz="900" b="1" i="0" u="none" strike="noStrike" cap="none" dirty="0">
                              <a:solidFill>
                                <a:srgbClr val="0070C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Flight controls  ---</a:t>
                          </a:r>
                          <a:r>
                            <a:rPr lang="en-US" altLang="ko-Kore-KR" sz="900" b="1" i="0" u="none" strike="noStrike" cap="none" dirty="0">
                              <a:solidFill>
                                <a:srgbClr val="0070C0"/>
                              </a:solidFill>
                              <a:latin typeface="Calibri"/>
                              <a:ea typeface="Helvetica Neue"/>
                              <a:cs typeface="Helvetica Neue"/>
                              <a:sym typeface="Helvetica Neue"/>
                            </a:rPr>
                            <a:t>--------------------</a:t>
                          </a:r>
                          <a:r>
                            <a:rPr lang="en-US" altLang="ko-KR" sz="900" b="1" i="0" u="none" strike="noStrike" cap="none" dirty="0">
                              <a:solidFill>
                                <a:srgbClr val="0070C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--</a:t>
                          </a:r>
                          <a:r>
                            <a:rPr lang="en-US" sz="900" b="1" i="0" u="none" strike="noStrike" cap="none" dirty="0">
                              <a:solidFill>
                                <a:srgbClr val="0070C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--  </a:t>
                          </a:r>
                          <a:r>
                            <a:rPr lang="en-US" sz="900" b="1" i="0" u="none" strike="noStrike" cap="none" dirty="0">
                              <a:solidFill>
                                <a:srgbClr val="AA47F5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Check</a:t>
                          </a:r>
                          <a:endParaRPr dirty="0">
                            <a:solidFill>
                              <a:srgbClr val="AA47F5"/>
                            </a:solidFill>
                            <a:latin typeface="+mn-lt"/>
                          </a:endParaRPr>
                        </a:p>
                        <a:p>
                          <a:pPr marL="0" marR="0" lvl="0" indent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B050"/>
                            </a:buClr>
                            <a:buSzPts val="800"/>
                            <a:buFont typeface="Helvetica Neue"/>
                            <a:buNone/>
                          </a:pPr>
                          <a:r>
                            <a:rPr lang="en-US" sz="800" b="1" dirty="0">
                              <a:solidFill>
                                <a:srgbClr val="00B05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AFTER START </a:t>
                          </a:r>
                          <a:r>
                            <a:rPr lang="en-US" sz="800" b="1" dirty="0" err="1">
                              <a:solidFill>
                                <a:srgbClr val="00B05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CHKlist</a:t>
                          </a:r>
                          <a:r>
                            <a:rPr lang="en-US" sz="800" b="1" dirty="0">
                              <a:solidFill>
                                <a:srgbClr val="00B05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 </a:t>
                          </a:r>
                          <a:r>
                            <a:rPr lang="en-US" sz="800" b="1" dirty="0">
                              <a:solidFill>
                                <a:srgbClr val="FF000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(ATC CLR Confirm)</a:t>
                          </a:r>
                          <a:endParaRPr dirty="0">
                            <a:latin typeface="+mn-lt"/>
                          </a:endParaRPr>
                        </a:p>
                      </a:txBody>
                      <a:tcPr marL="36000" marR="36000" marT="0" marB="0"/>
                    </a:tc>
                    <a:extLst>
                      <a:ext uri="{0D108BD9-81ED-4DB2-BD59-A6C34878D82A}">
                        <a16:rowId xmlns:a16="http://schemas.microsoft.com/office/drawing/2014/main" val="10008"/>
                      </a:ext>
                    </a:extLst>
                  </a:tr>
                  <a:tr h="376842">
                    <a:tc>
                      <a:txBody>
                        <a:bodyPr/>
                        <a:lstStyle/>
                        <a:p>
                          <a:pPr marL="0" marR="0" lvl="0" indent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chemeClr val="dk1"/>
                            </a:buClr>
                            <a:buSzPts val="800"/>
                            <a:buFont typeface="Helvetica Neue"/>
                            <a:buNone/>
                          </a:pPr>
                          <a:r>
                            <a:rPr lang="en-US" sz="800" b="1" dirty="0">
                              <a:solidFill>
                                <a:schemeClr val="dk1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TAXI, BEFORE T/O, T/O Procedure</a:t>
                          </a:r>
                          <a:endParaRPr dirty="0">
                            <a:latin typeface="+mn-lt"/>
                          </a:endParaRPr>
                        </a:p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chemeClr val="dk1"/>
                            </a:buClr>
                            <a:buSzPts val="800"/>
                            <a:buFont typeface="Helvetica Neue"/>
                            <a:buNone/>
                            <a:tabLst/>
                            <a:defRPr/>
                          </a:pPr>
                          <a:r>
                            <a:rPr lang="en-US" altLang="ko-Kore-KR" sz="800" b="1" i="0" u="none" strike="noStrike" cap="none" dirty="0">
                              <a:solidFill>
                                <a:schemeClr val="dk1"/>
                              </a:solidFill>
                              <a:latin typeface="Calibri"/>
                              <a:ea typeface="Helvetica Neue"/>
                              <a:cs typeface="Helvetica Neue"/>
                              <a:sym typeface="Helvetica Neue"/>
                            </a:rPr>
                            <a:t> </a:t>
                          </a:r>
                          <a:endParaRPr lang="en-US" altLang="ko-Kore-KR" sz="800" b="0" i="0" u="none" strike="noStrike" cap="none" dirty="0">
                            <a:solidFill>
                              <a:schemeClr val="dk1"/>
                            </a:solidFill>
                            <a:latin typeface="Calibri"/>
                            <a:ea typeface="Calibri"/>
                            <a:cs typeface="Calibri"/>
                            <a:sym typeface="Arial"/>
                          </a:endParaRPr>
                        </a:p>
                        <a:p>
                          <a:pPr marL="0" marR="0" lvl="0" indent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chemeClr val="dk1"/>
                            </a:buClr>
                            <a:buSzPts val="800"/>
                            <a:buFont typeface="Helvetica Neue"/>
                            <a:buNone/>
                          </a:pPr>
                          <a:r>
                            <a:rPr lang="en-US" sz="800" b="1" dirty="0">
                              <a:solidFill>
                                <a:schemeClr val="dk1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                                 </a:t>
                          </a:r>
                          <a:r>
                            <a:rPr lang="en-US" sz="800" b="1" dirty="0">
                              <a:solidFill>
                                <a:schemeClr val="dk1"/>
                              </a:solidFill>
                              <a:highlight>
                                <a:srgbClr val="FFFF00"/>
                              </a:highlight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DECISION TREE next page</a:t>
                          </a:r>
                          <a:endParaRPr sz="800" b="1" dirty="0">
                            <a:solidFill>
                              <a:schemeClr val="dk1"/>
                            </a:solidFill>
                            <a:latin typeface="+mn-lt"/>
                            <a:ea typeface="Helvetica Neue"/>
                            <a:cs typeface="Helvetica Neue"/>
                            <a:sym typeface="Helvetica Neue"/>
                          </a:endParaRPr>
                        </a:p>
                      </a:txBody>
                      <a:tcPr marL="36000" marR="36000" marT="0" marB="0"/>
                    </a:tc>
                    <a:extLst>
                      <a:ext uri="{0D108BD9-81ED-4DB2-BD59-A6C34878D82A}">
                        <a16:rowId xmlns:a16="http://schemas.microsoft.com/office/drawing/2014/main" val="10009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B03DDE63-4142-5292-5212-CBAA9E926A97}"/>
              </a:ext>
            </a:extLst>
          </p:cNvPr>
          <p:cNvSpPr/>
          <p:nvPr/>
        </p:nvSpPr>
        <p:spPr>
          <a:xfrm>
            <a:off x="1637957" y="2461687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" action="ppaction://hlinkshowjump?jump=firstslide"/>
              </a:rPr>
              <a:t>Home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3" name="직사각형 2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FBAAC3CB-C309-1E4C-1777-F739C1CDA2CB}"/>
              </a:ext>
            </a:extLst>
          </p:cNvPr>
          <p:cNvSpPr/>
          <p:nvPr/>
        </p:nvSpPr>
        <p:spPr>
          <a:xfrm>
            <a:off x="42407" y="5279729"/>
            <a:ext cx="894198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AA47F5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Cold Wx</a:t>
            </a:r>
            <a:endParaRPr lang="en-US" altLang="ko-KR" sz="1800" b="1" cap="none" spc="0" dirty="0">
              <a:ln w="0"/>
              <a:solidFill>
                <a:srgbClr val="AA47F5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</p:cSld>
  <p:clrMapOvr>
    <a:masterClrMapping/>
  </p:clrMapOvr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6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21"/>
              <a:buFont typeface="Calibri"/>
              <a:buNone/>
            </a:pPr>
            <a:endParaRPr/>
          </a:p>
        </p:txBody>
      </p:sp>
      <p:sp>
        <p:nvSpPr>
          <p:cNvPr id="437" name="Google Shape;437;p36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58224" lvl="0" indent="-12948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13"/>
              <a:buNone/>
            </a:pPr>
            <a:endParaRPr/>
          </a:p>
        </p:txBody>
      </p:sp>
      <p:pic>
        <p:nvPicPr>
          <p:cNvPr id="438" name="Google Shape;438;p3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1" y="0"/>
            <a:ext cx="2328863" cy="4848616"/>
          </a:xfrm>
          <a:prstGeom prst="rect">
            <a:avLst/>
          </a:prstGeom>
          <a:noFill/>
          <a:ln>
            <a:noFill/>
          </a:ln>
        </p:spPr>
      </p:pic>
      <p:sp>
        <p:nvSpPr>
          <p:cNvPr id="440" name="Google Shape;440;p36"/>
          <p:cNvSpPr/>
          <p:nvPr/>
        </p:nvSpPr>
        <p:spPr>
          <a:xfrm>
            <a:off x="178231" y="2526223"/>
            <a:ext cx="759416" cy="348713"/>
          </a:xfrm>
          <a:prstGeom prst="frame">
            <a:avLst>
              <a:gd name="adj1" fmla="val 12500"/>
            </a:avLst>
          </a:prstGeom>
          <a:solidFill>
            <a:srgbClr val="00B0F0"/>
          </a:solidFill>
          <a:ln w="12700" cap="flat" cmpd="sng">
            <a:solidFill>
              <a:srgbClr val="00B05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1" name="Google Shape;441;p36"/>
          <p:cNvSpPr/>
          <p:nvPr/>
        </p:nvSpPr>
        <p:spPr>
          <a:xfrm>
            <a:off x="1164430" y="2545838"/>
            <a:ext cx="850349" cy="406589"/>
          </a:xfrm>
          <a:prstGeom prst="frame">
            <a:avLst>
              <a:gd name="adj1" fmla="val 12500"/>
            </a:avLst>
          </a:prstGeom>
          <a:solidFill>
            <a:srgbClr val="00B0F0"/>
          </a:solidFill>
          <a:ln w="12700" cap="flat" cmpd="sng">
            <a:solidFill>
              <a:srgbClr val="00B05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EE2B9E81-8C15-BCB6-ACE9-2C1298DF2B3C}"/>
              </a:ext>
            </a:extLst>
          </p:cNvPr>
          <p:cNvSpPr/>
          <p:nvPr/>
        </p:nvSpPr>
        <p:spPr>
          <a:xfrm>
            <a:off x="847353" y="522213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" action="ppaction://hlinkshowjump?jump=firstslide"/>
              </a:rPr>
              <a:t>Home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</p:cSld>
  <p:clrMapOvr>
    <a:masterClrMapping/>
  </p:clrMapOvr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38" name="Google Shape;138;p4"/>
          <p:cNvGraphicFramePr/>
          <p:nvPr>
            <p:extLst>
              <p:ext uri="{D42A27DB-BD31-4B8C-83A1-F6EECF244321}">
                <p14:modId xmlns:p14="http://schemas.microsoft.com/office/powerpoint/2010/main" val="3662325515"/>
              </p:ext>
            </p:extLst>
          </p:nvPr>
        </p:nvGraphicFramePr>
        <p:xfrm>
          <a:off x="0" y="0"/>
          <a:ext cx="2328850" cy="96696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1628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12569">
                  <a:extLst>
                    <a:ext uri="{9D8B030D-6E8A-4147-A177-3AD203B41FA5}">
                      <a16:colId xmlns:a16="http://schemas.microsoft.com/office/drawing/2014/main" val="3596387649"/>
                    </a:ext>
                  </a:extLst>
                </a:gridCol>
              </a:tblGrid>
              <a:tr h="202565"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/>
                        <a:t>PUS VOR 18L/R </a:t>
                      </a:r>
                      <a:endParaRPr lang="en-US" sz="1100" dirty="0">
                        <a:solidFill>
                          <a:srgbClr val="FFC000"/>
                        </a:solidFill>
                      </a:endParaRPr>
                    </a:p>
                  </a:txBody>
                  <a:tcPr marL="91450" marR="9145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98856"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1000" dirty="0"/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dirty="0"/>
                        <a:t>STARS                    RUNWAYS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900" b="1" dirty="0">
                          <a:solidFill>
                            <a:schemeClr val="accent1"/>
                          </a:solidFill>
                        </a:rPr>
                        <a:t>VOR18L/R              18L/R    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dirty="0"/>
                        <a:t>TRANS.   </a:t>
                      </a:r>
                      <a:r>
                        <a:rPr lang="en-US" altLang="ko-Kore-KR" sz="800" b="1" dirty="0">
                          <a:solidFill>
                            <a:srgbClr val="C00000"/>
                          </a:solidFill>
                        </a:rPr>
                        <a:t>KMH22 </a:t>
                      </a:r>
                      <a:r>
                        <a:rPr lang="en-US" altLang="ko-Kore-KR" sz="800" b="1" dirty="0" err="1">
                          <a:solidFill>
                            <a:srgbClr val="C00000"/>
                          </a:solidFill>
                        </a:rPr>
                        <a:t>Vref+wind</a:t>
                      </a:r>
                      <a:endParaRPr lang="en-US" altLang="ko-Kore-KR" sz="800"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900" b="1" dirty="0">
                          <a:solidFill>
                            <a:schemeClr val="accent1"/>
                          </a:solidFill>
                        </a:rPr>
                        <a:t>GAYHA</a:t>
                      </a:r>
                      <a:r>
                        <a:rPr lang="ko-KR" altLang="en-US" sz="900" b="1" dirty="0">
                          <a:solidFill>
                            <a:schemeClr val="accent1"/>
                          </a:solidFill>
                        </a:rPr>
                        <a:t> </a:t>
                      </a:r>
                      <a:r>
                        <a:rPr lang="en-US" altLang="ko-KR" sz="800" b="1" dirty="0">
                          <a:solidFill>
                            <a:srgbClr val="00B050"/>
                          </a:solidFill>
                        </a:rPr>
                        <a:t>(Modify Required)</a:t>
                      </a:r>
                      <a:endParaRPr lang="en-US" altLang="ko-Kore-KR" sz="9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15940"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rgbClr val="0070C0"/>
                          </a:solidFill>
                        </a:rPr>
                        <a:t>FIX : KMH 280(Base Turn), 284(Missed App)</a:t>
                      </a:r>
                    </a:p>
                  </a:txBody>
                  <a:tcPr marL="90000" marR="91450" marT="0" marB="0" anchor="ctr"/>
                </a:tc>
                <a:tc hMerge="1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altLang="ko-Kore-KR" sz="900" b="1" dirty="0">
                        <a:solidFill>
                          <a:schemeClr val="accent1"/>
                        </a:solidFill>
                      </a:endParaRPr>
                    </a:p>
                  </a:txBody>
                  <a:tcPr marL="91450" marR="91450" marT="0" marB="0" anchor="ctr"/>
                </a:tc>
                <a:extLst>
                  <a:ext uri="{0D108BD9-81ED-4DB2-BD59-A6C34878D82A}">
                    <a16:rowId xmlns:a16="http://schemas.microsoft.com/office/drawing/2014/main" val="2408181646"/>
                  </a:ext>
                </a:extLst>
              </a:tr>
            </a:tbl>
          </a:graphicData>
        </a:graphic>
      </p:graphicFrame>
      <p:pic>
        <p:nvPicPr>
          <p:cNvPr id="5" name="그림 4" descr="텍스트, 야외, 장치, 계량기이(가) 표시된 사진&#10;&#10;자동 생성된 설명">
            <a:extLst>
              <a:ext uri="{FF2B5EF4-FFF2-40B4-BE49-F238E27FC236}">
                <a16:creationId xmlns:a16="http://schemas.microsoft.com/office/drawing/2014/main" id="{19EEF72C-78E5-61F3-2B86-EF01369AFBE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371" y="248016"/>
            <a:ext cx="1080097" cy="573801"/>
          </a:xfrm>
          <a:prstGeom prst="rect">
            <a:avLst/>
          </a:prstGeom>
        </p:spPr>
      </p:pic>
      <p:graphicFrame>
        <p:nvGraphicFramePr>
          <p:cNvPr id="145" name="Google Shape;138;p4">
            <a:extLst>
              <a:ext uri="{FF2B5EF4-FFF2-40B4-BE49-F238E27FC236}">
                <a16:creationId xmlns:a16="http://schemas.microsoft.com/office/drawing/2014/main" id="{2DD2492E-25C7-6F3E-A765-74CDA0855231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413902082"/>
              </p:ext>
            </p:extLst>
          </p:nvPr>
        </p:nvGraphicFramePr>
        <p:xfrm>
          <a:off x="-4122" y="4139510"/>
          <a:ext cx="2328850" cy="106944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328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52551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/>
                        <a:t>Missed App</a:t>
                      </a: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0461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900" dirty="0"/>
                        <a:t>Base Turn </a:t>
                      </a:r>
                      <a:r>
                        <a:rPr lang="ko-KR" altLang="en-US" sz="900" dirty="0"/>
                        <a:t>이전 </a:t>
                      </a:r>
                      <a:r>
                        <a:rPr lang="en-US" altLang="ko-KR" sz="900" dirty="0"/>
                        <a:t>:</a:t>
                      </a:r>
                      <a:r>
                        <a:rPr lang="ko-KR" altLang="en-US" sz="900" dirty="0"/>
                        <a:t> </a:t>
                      </a:r>
                      <a:r>
                        <a:rPr lang="en-US" altLang="ko-KR" sz="900" dirty="0"/>
                        <a:t>L/H Turn </a:t>
                      </a:r>
                      <a:r>
                        <a:rPr lang="en-US" altLang="ko-KR" sz="900" b="1" dirty="0">
                          <a:solidFill>
                            <a:srgbClr val="C00000"/>
                          </a:solidFill>
                        </a:rPr>
                        <a:t>KMH 284 </a:t>
                      </a:r>
                      <a:r>
                        <a:rPr lang="en-US" altLang="ko-KR" sz="900" dirty="0"/>
                        <a:t>OUTBD 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900" dirty="0"/>
                        <a:t>(SEL HDG SEL – INT H/D - VOR/LOC</a:t>
                      </a:r>
                      <a:r>
                        <a:rPr lang="ko-KR" altLang="en-US" sz="900" dirty="0"/>
                        <a:t> </a:t>
                      </a:r>
                      <a:r>
                        <a:rPr lang="en-US" altLang="ko-KR" sz="900" dirty="0"/>
                        <a:t>Engage)</a:t>
                      </a: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777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R" sz="900" dirty="0"/>
                        <a:t>Base Turn </a:t>
                      </a:r>
                      <a:r>
                        <a:rPr lang="ko-KR" altLang="en-US" sz="900" dirty="0"/>
                        <a:t>이후 </a:t>
                      </a:r>
                      <a:r>
                        <a:rPr lang="en-US" altLang="ko-KR" sz="900" dirty="0"/>
                        <a:t>:</a:t>
                      </a:r>
                      <a:r>
                        <a:rPr lang="ko-KR" altLang="en-US" sz="900" dirty="0"/>
                        <a:t> </a:t>
                      </a:r>
                      <a:r>
                        <a:rPr lang="en-US" altLang="ko-KR" sz="900" dirty="0"/>
                        <a:t>Continue R/H Turn </a:t>
                      </a:r>
                      <a:r>
                        <a:rPr lang="en-US" altLang="ko-KR" sz="900" b="1" dirty="0">
                          <a:solidFill>
                            <a:srgbClr val="C00000"/>
                          </a:solidFill>
                        </a:rPr>
                        <a:t>KMH 284 </a:t>
                      </a:r>
                      <a:r>
                        <a:rPr lang="en-US" altLang="ko-KR" sz="900" dirty="0"/>
                        <a:t>OUTBD 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R" sz="900" dirty="0"/>
                        <a:t>(SEL HDG SEL – INT H/D - VOR/LOC Engage)</a:t>
                      </a: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3324277550"/>
                  </a:ext>
                </a:extLst>
              </a:tr>
            </a:tbl>
          </a:graphicData>
        </a:graphic>
      </p:graphicFrame>
      <p:grpSp>
        <p:nvGrpSpPr>
          <p:cNvPr id="152" name="그룹 151">
            <a:extLst>
              <a:ext uri="{FF2B5EF4-FFF2-40B4-BE49-F238E27FC236}">
                <a16:creationId xmlns:a16="http://schemas.microsoft.com/office/drawing/2014/main" id="{4BE8B393-F758-B69E-C71F-41B24ABD3B39}"/>
              </a:ext>
            </a:extLst>
          </p:cNvPr>
          <p:cNvGrpSpPr/>
          <p:nvPr/>
        </p:nvGrpSpPr>
        <p:grpSpPr>
          <a:xfrm>
            <a:off x="-48346" y="955136"/>
            <a:ext cx="2394309" cy="3138086"/>
            <a:chOff x="-48346" y="990763"/>
            <a:chExt cx="2394309" cy="3138086"/>
          </a:xfrm>
        </p:grpSpPr>
        <p:pic>
          <p:nvPicPr>
            <p:cNvPr id="12" name="그림 11" descr="나무, 식물이(가) 표시된 사진&#10;&#10;자동 생성된 설명">
              <a:extLst>
                <a:ext uri="{FF2B5EF4-FFF2-40B4-BE49-F238E27FC236}">
                  <a16:creationId xmlns:a16="http://schemas.microsoft.com/office/drawing/2014/main" id="{CDDBC3DB-6733-2907-F7DB-E2FDA5AE9F63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/>
            <a:stretch/>
          </p:blipFill>
          <p:spPr>
            <a:xfrm>
              <a:off x="-361" y="1021136"/>
              <a:ext cx="2346324" cy="3107713"/>
            </a:xfrm>
            <a:prstGeom prst="rect">
              <a:avLst/>
            </a:prstGeom>
          </p:spPr>
        </p:pic>
        <p:cxnSp>
          <p:nvCxnSpPr>
            <p:cNvPr id="27" name="직선 연결선[R] 26">
              <a:extLst>
                <a:ext uri="{FF2B5EF4-FFF2-40B4-BE49-F238E27FC236}">
                  <a16:creationId xmlns:a16="http://schemas.microsoft.com/office/drawing/2014/main" id="{A447B34E-85E3-7041-0027-4D72BCEB8F48}"/>
                </a:ext>
              </a:extLst>
            </p:cNvPr>
            <p:cNvCxnSpPr>
              <a:cxnSpLocks/>
              <a:endCxn id="29" idx="0"/>
            </p:cNvCxnSpPr>
            <p:nvPr/>
          </p:nvCxnSpPr>
          <p:spPr>
            <a:xfrm flipH="1" flipV="1">
              <a:off x="647706" y="1548692"/>
              <a:ext cx="35808" cy="1196606"/>
            </a:xfrm>
            <a:prstGeom prst="line">
              <a:avLst/>
            </a:prstGeom>
            <a:ln w="28575">
              <a:solidFill>
                <a:srgbClr val="AA47F5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직선 연결선[R] 40">
              <a:extLst>
                <a:ext uri="{FF2B5EF4-FFF2-40B4-BE49-F238E27FC236}">
                  <a16:creationId xmlns:a16="http://schemas.microsoft.com/office/drawing/2014/main" id="{AF422B5F-7DE7-D8E9-59E5-31D47952B5A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31437" y="2745299"/>
              <a:ext cx="354533" cy="488137"/>
            </a:xfrm>
            <a:prstGeom prst="line">
              <a:avLst/>
            </a:prstGeom>
            <a:ln w="28575">
              <a:solidFill>
                <a:srgbClr val="AA47F5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3" name="포인트가 4개인 별 22">
              <a:extLst>
                <a:ext uri="{FF2B5EF4-FFF2-40B4-BE49-F238E27FC236}">
                  <a16:creationId xmlns:a16="http://schemas.microsoft.com/office/drawing/2014/main" id="{34EBE2B8-A456-4BC0-19B9-499481DE4E5C}"/>
                </a:ext>
              </a:extLst>
            </p:cNvPr>
            <p:cNvSpPr/>
            <p:nvPr/>
          </p:nvSpPr>
          <p:spPr>
            <a:xfrm>
              <a:off x="590749" y="2639281"/>
              <a:ext cx="185531" cy="212035"/>
            </a:xfrm>
            <a:prstGeom prst="star4">
              <a:avLst>
                <a:gd name="adj" fmla="val 18750"/>
              </a:avLst>
            </a:prstGeom>
            <a:solidFill>
              <a:srgbClr val="FFFF00"/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  <p:sp>
          <p:nvSpPr>
            <p:cNvPr id="29" name="호 28">
              <a:extLst>
                <a:ext uri="{FF2B5EF4-FFF2-40B4-BE49-F238E27FC236}">
                  <a16:creationId xmlns:a16="http://schemas.microsoft.com/office/drawing/2014/main" id="{0EDEDCBE-E5F5-DEFE-E89D-A65BA4BB793D}"/>
                </a:ext>
              </a:extLst>
            </p:cNvPr>
            <p:cNvSpPr/>
            <p:nvPr/>
          </p:nvSpPr>
          <p:spPr>
            <a:xfrm>
              <a:off x="647194" y="1114257"/>
              <a:ext cx="956185" cy="911025"/>
            </a:xfrm>
            <a:prstGeom prst="arc">
              <a:avLst>
                <a:gd name="adj1" fmla="val 10951624"/>
                <a:gd name="adj2" fmla="val 61662"/>
              </a:avLst>
            </a:prstGeom>
            <a:ln w="28575">
              <a:solidFill>
                <a:srgbClr val="AA47F5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  <p:sp>
          <p:nvSpPr>
            <p:cNvPr id="31" name="포인트가 4개인 별 30">
              <a:extLst>
                <a:ext uri="{FF2B5EF4-FFF2-40B4-BE49-F238E27FC236}">
                  <a16:creationId xmlns:a16="http://schemas.microsoft.com/office/drawing/2014/main" id="{58BD0D03-CFFD-7313-7A4A-408AE9CE381A}"/>
                </a:ext>
              </a:extLst>
            </p:cNvPr>
            <p:cNvSpPr/>
            <p:nvPr/>
          </p:nvSpPr>
          <p:spPr>
            <a:xfrm>
              <a:off x="573819" y="1967600"/>
              <a:ext cx="185531" cy="212035"/>
            </a:xfrm>
            <a:prstGeom prst="star4">
              <a:avLst>
                <a:gd name="adj" fmla="val 18750"/>
              </a:avLst>
            </a:prstGeom>
            <a:solidFill>
              <a:srgbClr val="FFFF00"/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  <p:sp>
          <p:nvSpPr>
            <p:cNvPr id="35" name="호 34">
              <a:extLst>
                <a:ext uri="{FF2B5EF4-FFF2-40B4-BE49-F238E27FC236}">
                  <a16:creationId xmlns:a16="http://schemas.microsoft.com/office/drawing/2014/main" id="{930CEE6A-5EFE-59E6-5594-85206F09186A}"/>
                </a:ext>
              </a:extLst>
            </p:cNvPr>
            <p:cNvSpPr/>
            <p:nvPr/>
          </p:nvSpPr>
          <p:spPr>
            <a:xfrm>
              <a:off x="686711" y="1114708"/>
              <a:ext cx="973831" cy="1004707"/>
            </a:xfrm>
            <a:prstGeom prst="arc">
              <a:avLst>
                <a:gd name="adj1" fmla="val 16012884"/>
                <a:gd name="adj2" fmla="val 21134675"/>
              </a:avLst>
            </a:prstGeom>
            <a:ln w="28575">
              <a:solidFill>
                <a:srgbClr val="92D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  <p:sp>
          <p:nvSpPr>
            <p:cNvPr id="38" name="포인트가 4개인 별 37">
              <a:extLst>
                <a:ext uri="{FF2B5EF4-FFF2-40B4-BE49-F238E27FC236}">
                  <a16:creationId xmlns:a16="http://schemas.microsoft.com/office/drawing/2014/main" id="{7EB48E4E-D41B-9BE2-A6CB-DE56A1828C44}"/>
                </a:ext>
              </a:extLst>
            </p:cNvPr>
            <p:cNvSpPr/>
            <p:nvPr/>
          </p:nvSpPr>
          <p:spPr>
            <a:xfrm>
              <a:off x="539954" y="1019339"/>
              <a:ext cx="185531" cy="212035"/>
            </a:xfrm>
            <a:prstGeom prst="star4">
              <a:avLst>
                <a:gd name="adj" fmla="val 18750"/>
              </a:avLst>
            </a:prstGeom>
            <a:solidFill>
              <a:srgbClr val="FFFF00"/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  <p:sp>
          <p:nvSpPr>
            <p:cNvPr id="39" name="포인트가 4개인 별 38">
              <a:extLst>
                <a:ext uri="{FF2B5EF4-FFF2-40B4-BE49-F238E27FC236}">
                  <a16:creationId xmlns:a16="http://schemas.microsoft.com/office/drawing/2014/main" id="{4623912B-268E-11E3-0FE7-B2FCDA90C0C0}"/>
                </a:ext>
              </a:extLst>
            </p:cNvPr>
            <p:cNvSpPr/>
            <p:nvPr/>
          </p:nvSpPr>
          <p:spPr>
            <a:xfrm>
              <a:off x="1431776" y="996764"/>
              <a:ext cx="185531" cy="212035"/>
            </a:xfrm>
            <a:prstGeom prst="star4">
              <a:avLst>
                <a:gd name="adj" fmla="val 18750"/>
              </a:avLst>
            </a:prstGeom>
            <a:solidFill>
              <a:srgbClr val="AA47F5"/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  <p:sp>
          <p:nvSpPr>
            <p:cNvPr id="40" name="포인트가 4개인 별 39">
              <a:extLst>
                <a:ext uri="{FF2B5EF4-FFF2-40B4-BE49-F238E27FC236}">
                  <a16:creationId xmlns:a16="http://schemas.microsoft.com/office/drawing/2014/main" id="{00C949CF-AF86-BF74-7612-33AF2285DACA}"/>
                </a:ext>
              </a:extLst>
            </p:cNvPr>
            <p:cNvSpPr/>
            <p:nvPr/>
          </p:nvSpPr>
          <p:spPr>
            <a:xfrm>
              <a:off x="1539024" y="991120"/>
              <a:ext cx="185531" cy="212035"/>
            </a:xfrm>
            <a:prstGeom prst="star4">
              <a:avLst>
                <a:gd name="adj" fmla="val 18750"/>
              </a:avLst>
            </a:prstGeom>
            <a:solidFill>
              <a:srgbClr val="92D050"/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  <p:cxnSp>
          <p:nvCxnSpPr>
            <p:cNvPr id="44" name="직선 연결선[R] 43">
              <a:extLst>
                <a:ext uri="{FF2B5EF4-FFF2-40B4-BE49-F238E27FC236}">
                  <a16:creationId xmlns:a16="http://schemas.microsoft.com/office/drawing/2014/main" id="{868CF2DE-D380-1488-974D-31BDE8684A05}"/>
                </a:ext>
              </a:extLst>
            </p:cNvPr>
            <p:cNvCxnSpPr>
              <a:cxnSpLocks/>
              <a:endCxn id="29" idx="2"/>
            </p:cNvCxnSpPr>
            <p:nvPr/>
          </p:nvCxnSpPr>
          <p:spPr>
            <a:xfrm flipH="1" flipV="1">
              <a:off x="1603294" y="1578344"/>
              <a:ext cx="22873" cy="389256"/>
            </a:xfrm>
            <a:prstGeom prst="line">
              <a:avLst/>
            </a:prstGeom>
            <a:ln w="28575">
              <a:solidFill>
                <a:srgbClr val="AA47F5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직선 연결선[R] 48">
              <a:extLst>
                <a:ext uri="{FF2B5EF4-FFF2-40B4-BE49-F238E27FC236}">
                  <a16:creationId xmlns:a16="http://schemas.microsoft.com/office/drawing/2014/main" id="{66964C75-BD54-9870-DA4E-4CA275254DF7}"/>
                </a:ext>
              </a:extLst>
            </p:cNvPr>
            <p:cNvCxnSpPr>
              <a:cxnSpLocks/>
              <a:endCxn id="35" idx="2"/>
            </p:cNvCxnSpPr>
            <p:nvPr/>
          </p:nvCxnSpPr>
          <p:spPr>
            <a:xfrm flipH="1" flipV="1">
              <a:off x="1656354" y="1551319"/>
              <a:ext cx="22321" cy="421925"/>
            </a:xfrm>
            <a:prstGeom prst="line">
              <a:avLst/>
            </a:prstGeom>
            <a:ln w="28575">
              <a:solidFill>
                <a:srgbClr val="92D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직선 연결선[R] 53">
              <a:extLst>
                <a:ext uri="{FF2B5EF4-FFF2-40B4-BE49-F238E27FC236}">
                  <a16:creationId xmlns:a16="http://schemas.microsoft.com/office/drawing/2014/main" id="{DA8E6069-ABB3-A90D-9CB2-412A7718E23F}"/>
                </a:ext>
              </a:extLst>
            </p:cNvPr>
            <p:cNvCxnSpPr>
              <a:cxnSpLocks/>
            </p:cNvCxnSpPr>
            <p:nvPr/>
          </p:nvCxnSpPr>
          <p:spPr>
            <a:xfrm>
              <a:off x="79022" y="1374350"/>
              <a:ext cx="1538285" cy="603307"/>
            </a:xfrm>
            <a:prstGeom prst="line">
              <a:avLst/>
            </a:prstGeom>
            <a:ln w="19050">
              <a:solidFill>
                <a:srgbClr val="FFC000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0" name="TextBox 59">
              <a:extLst>
                <a:ext uri="{FF2B5EF4-FFF2-40B4-BE49-F238E27FC236}">
                  <a16:creationId xmlns:a16="http://schemas.microsoft.com/office/drawing/2014/main" id="{4E0B4524-D5ED-0F82-3605-CE03D6D8F41C}"/>
                </a:ext>
              </a:extLst>
            </p:cNvPr>
            <p:cNvSpPr txBox="1"/>
            <p:nvPr/>
          </p:nvSpPr>
          <p:spPr>
            <a:xfrm>
              <a:off x="1670760" y="990763"/>
              <a:ext cx="527709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kumimoji="1" lang="en-US" altLang="ko-Kore-KR" sz="800" dirty="0">
                  <a:solidFill>
                    <a:srgbClr val="92D050"/>
                  </a:solidFill>
                </a:rPr>
                <a:t>KMH35</a:t>
              </a:r>
            </a:p>
            <a:p>
              <a:pPr algn="ctr"/>
              <a:r>
                <a:rPr kumimoji="1" lang="en-US" altLang="ko-Kore-KR" sz="800" dirty="0">
                  <a:solidFill>
                    <a:srgbClr val="92D050"/>
                  </a:solidFill>
                </a:rPr>
                <a:t>(18L)</a:t>
              </a:r>
              <a:endParaRPr kumimoji="1" lang="ko-Kore-KR" altLang="en-US" sz="800" dirty="0">
                <a:solidFill>
                  <a:srgbClr val="92D050"/>
                </a:solidFill>
              </a:endParaRPr>
            </a:p>
          </p:txBody>
        </p:sp>
        <p:sp>
          <p:nvSpPr>
            <p:cNvPr id="61" name="TextBox 60">
              <a:extLst>
                <a:ext uri="{FF2B5EF4-FFF2-40B4-BE49-F238E27FC236}">
                  <a16:creationId xmlns:a16="http://schemas.microsoft.com/office/drawing/2014/main" id="{C03758C5-ABCE-E358-B805-F5F84F53890B}"/>
                </a:ext>
              </a:extLst>
            </p:cNvPr>
            <p:cNvSpPr txBox="1"/>
            <p:nvPr/>
          </p:nvSpPr>
          <p:spPr>
            <a:xfrm>
              <a:off x="984588" y="1165881"/>
              <a:ext cx="527709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kumimoji="1" lang="en-US" altLang="ko-Kore-KR" sz="800" dirty="0">
                  <a:solidFill>
                    <a:schemeClr val="bg1"/>
                  </a:solidFill>
                </a:rPr>
                <a:t>KMH34</a:t>
              </a:r>
            </a:p>
            <a:p>
              <a:pPr algn="ctr"/>
              <a:r>
                <a:rPr kumimoji="1" lang="en-US" altLang="ko-Kore-KR" sz="800" dirty="0">
                  <a:solidFill>
                    <a:schemeClr val="bg1"/>
                  </a:solidFill>
                </a:rPr>
                <a:t>(18R)</a:t>
              </a:r>
              <a:endParaRPr kumimoji="1" lang="ko-Kore-KR" altLang="en-US" sz="800" dirty="0">
                <a:solidFill>
                  <a:schemeClr val="bg1"/>
                </a:solidFill>
              </a:endParaRPr>
            </a:p>
          </p:txBody>
        </p:sp>
        <p:sp>
          <p:nvSpPr>
            <p:cNvPr id="62" name="TextBox 61">
              <a:extLst>
                <a:ext uri="{FF2B5EF4-FFF2-40B4-BE49-F238E27FC236}">
                  <a16:creationId xmlns:a16="http://schemas.microsoft.com/office/drawing/2014/main" id="{BAB56EBB-C6CC-544B-6B1B-7AD74DDE9799}"/>
                </a:ext>
              </a:extLst>
            </p:cNvPr>
            <p:cNvSpPr txBox="1"/>
            <p:nvPr/>
          </p:nvSpPr>
          <p:spPr>
            <a:xfrm>
              <a:off x="70193" y="1013484"/>
              <a:ext cx="527709" cy="21544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ko-Kore-KR" sz="800" dirty="0">
                  <a:solidFill>
                    <a:schemeClr val="bg1"/>
                  </a:solidFill>
                </a:rPr>
                <a:t>KMH32</a:t>
              </a:r>
              <a:endParaRPr kumimoji="1" lang="ko-Kore-KR" altLang="en-US" sz="800" dirty="0">
                <a:solidFill>
                  <a:schemeClr val="bg1"/>
                </a:solidFill>
              </a:endParaRPr>
            </a:p>
          </p:txBody>
        </p:sp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F26F0C7B-7DBA-0E46-EAB1-02BB391E9101}"/>
                </a:ext>
              </a:extLst>
            </p:cNvPr>
            <p:cNvSpPr txBox="1"/>
            <p:nvPr/>
          </p:nvSpPr>
          <p:spPr>
            <a:xfrm>
              <a:off x="104058" y="1956094"/>
              <a:ext cx="527709" cy="21544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ko-Kore-KR" sz="800" dirty="0">
                  <a:solidFill>
                    <a:schemeClr val="bg1"/>
                  </a:solidFill>
                </a:rPr>
                <a:t>KMH30</a:t>
              </a:r>
              <a:endParaRPr kumimoji="1" lang="ko-Kore-KR" altLang="en-US" sz="800" dirty="0">
                <a:solidFill>
                  <a:schemeClr val="bg1"/>
                </a:solidFill>
              </a:endParaRPr>
            </a:p>
          </p:txBody>
        </p:sp>
        <p:sp>
          <p:nvSpPr>
            <p:cNvPr id="128" name="TextBox 127">
              <a:extLst>
                <a:ext uri="{FF2B5EF4-FFF2-40B4-BE49-F238E27FC236}">
                  <a16:creationId xmlns:a16="http://schemas.microsoft.com/office/drawing/2014/main" id="{246E7BA4-156E-250A-F438-49FB015FCB5C}"/>
                </a:ext>
              </a:extLst>
            </p:cNvPr>
            <p:cNvSpPr txBox="1"/>
            <p:nvPr/>
          </p:nvSpPr>
          <p:spPr>
            <a:xfrm>
              <a:off x="87128" y="2599564"/>
              <a:ext cx="579005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kumimoji="1" lang="en-US" altLang="ko-Kore-KR" sz="800" dirty="0">
                  <a:solidFill>
                    <a:schemeClr val="bg1"/>
                  </a:solidFill>
                </a:rPr>
                <a:t>KMH22</a:t>
              </a:r>
            </a:p>
            <a:p>
              <a:pPr algn="ctr"/>
              <a:r>
                <a:rPr kumimoji="1" lang="en-US" altLang="ko-Kore-KR" sz="800" dirty="0">
                  <a:solidFill>
                    <a:schemeClr val="bg1"/>
                  </a:solidFill>
                </a:rPr>
                <a:t>(MA046)</a:t>
              </a:r>
              <a:endParaRPr kumimoji="1" lang="ko-Kore-KR" altLang="en-US" sz="800" dirty="0">
                <a:solidFill>
                  <a:schemeClr val="bg1"/>
                </a:solidFill>
              </a:endParaRPr>
            </a:p>
          </p:txBody>
        </p:sp>
        <p:cxnSp>
          <p:nvCxnSpPr>
            <p:cNvPr id="130" name="구부러진 연결선[U] 129">
              <a:extLst>
                <a:ext uri="{FF2B5EF4-FFF2-40B4-BE49-F238E27FC236}">
                  <a16:creationId xmlns:a16="http://schemas.microsoft.com/office/drawing/2014/main" id="{CF940597-B6DB-F9E0-2BFE-9248A4AEFCD5}"/>
                </a:ext>
              </a:extLst>
            </p:cNvPr>
            <p:cNvCxnSpPr/>
            <p:nvPr/>
          </p:nvCxnSpPr>
          <p:spPr>
            <a:xfrm>
              <a:off x="191911" y="3164206"/>
              <a:ext cx="279053" cy="138461"/>
            </a:xfrm>
            <a:prstGeom prst="curvedConnector3">
              <a:avLst/>
            </a:prstGeom>
            <a:ln w="28575">
              <a:solidFill>
                <a:srgbClr val="AA47F5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2" name="구부러진 연결선[U] 131">
              <a:extLst>
                <a:ext uri="{FF2B5EF4-FFF2-40B4-BE49-F238E27FC236}">
                  <a16:creationId xmlns:a16="http://schemas.microsoft.com/office/drawing/2014/main" id="{414C5854-DCF3-751F-4CA3-DD8A308A66C6}"/>
                </a:ext>
              </a:extLst>
            </p:cNvPr>
            <p:cNvCxnSpPr/>
            <p:nvPr/>
          </p:nvCxnSpPr>
          <p:spPr>
            <a:xfrm>
              <a:off x="152401" y="3226298"/>
              <a:ext cx="279053" cy="138461"/>
            </a:xfrm>
            <a:prstGeom prst="curvedConnector3">
              <a:avLst/>
            </a:prstGeom>
            <a:ln w="28575">
              <a:solidFill>
                <a:srgbClr val="AA47F5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3" name="직선 연결선[R] 132">
              <a:extLst>
                <a:ext uri="{FF2B5EF4-FFF2-40B4-BE49-F238E27FC236}">
                  <a16:creationId xmlns:a16="http://schemas.microsoft.com/office/drawing/2014/main" id="{CBE8342F-5466-CF7A-EF58-F1468E9658D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0" y="3298447"/>
              <a:ext cx="302153" cy="381645"/>
            </a:xfrm>
            <a:prstGeom prst="line">
              <a:avLst/>
            </a:prstGeom>
            <a:ln w="28575">
              <a:solidFill>
                <a:srgbClr val="AA47F5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2" name="포인트가 4개인 별 141">
              <a:extLst>
                <a:ext uri="{FF2B5EF4-FFF2-40B4-BE49-F238E27FC236}">
                  <a16:creationId xmlns:a16="http://schemas.microsoft.com/office/drawing/2014/main" id="{A338195F-D345-F96E-91F4-57F2A830C58D}"/>
                </a:ext>
              </a:extLst>
            </p:cNvPr>
            <p:cNvSpPr/>
            <p:nvPr/>
          </p:nvSpPr>
          <p:spPr>
            <a:xfrm>
              <a:off x="54533" y="3395637"/>
              <a:ext cx="185531" cy="212035"/>
            </a:xfrm>
            <a:prstGeom prst="star4">
              <a:avLst>
                <a:gd name="adj" fmla="val 18750"/>
              </a:avLst>
            </a:prstGeom>
            <a:solidFill>
              <a:srgbClr val="FFFF00"/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  <p:sp>
          <p:nvSpPr>
            <p:cNvPr id="146" name="사각형 설명선[R] 145">
              <a:extLst>
                <a:ext uri="{FF2B5EF4-FFF2-40B4-BE49-F238E27FC236}">
                  <a16:creationId xmlns:a16="http://schemas.microsoft.com/office/drawing/2014/main" id="{CFB9E6EC-B866-FE82-A5A6-F4E244DD87CD}"/>
                </a:ext>
              </a:extLst>
            </p:cNvPr>
            <p:cNvSpPr/>
            <p:nvPr/>
          </p:nvSpPr>
          <p:spPr>
            <a:xfrm>
              <a:off x="596770" y="3621224"/>
              <a:ext cx="836148" cy="465790"/>
            </a:xfrm>
            <a:prstGeom prst="wedgeRectCallout">
              <a:avLst>
                <a:gd name="adj1" fmla="val -118823"/>
                <a:gd name="adj2" fmla="val -33003"/>
              </a:avLst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r>
                <a:rPr kumimoji="1" lang="en-US" altLang="ko-Kore-KR" sz="800" dirty="0"/>
                <a:t>Before L/D CHK Complete</a:t>
              </a:r>
            </a:p>
            <a:p>
              <a:r>
                <a:rPr kumimoji="1" lang="en-US" altLang="ko-Kore-KR" sz="800" dirty="0"/>
                <a:t>NEXT 1700ft</a:t>
              </a:r>
              <a:endParaRPr kumimoji="1" lang="ko-Kore-KR" altLang="en-US" sz="800" dirty="0"/>
            </a:p>
          </p:txBody>
        </p:sp>
        <p:sp>
          <p:nvSpPr>
            <p:cNvPr id="143" name="TextBox 142">
              <a:extLst>
                <a:ext uri="{FF2B5EF4-FFF2-40B4-BE49-F238E27FC236}">
                  <a16:creationId xmlns:a16="http://schemas.microsoft.com/office/drawing/2014/main" id="{E7A4A2FD-4EC4-596A-9970-F3E9CA163536}"/>
                </a:ext>
              </a:extLst>
            </p:cNvPr>
            <p:cNvSpPr txBox="1"/>
            <p:nvPr/>
          </p:nvSpPr>
          <p:spPr>
            <a:xfrm>
              <a:off x="28182" y="3553474"/>
              <a:ext cx="550151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kumimoji="1" lang="en-US" altLang="ko-Kore-KR" sz="800" dirty="0">
                  <a:solidFill>
                    <a:schemeClr val="bg1"/>
                  </a:solidFill>
                </a:rPr>
                <a:t>FAF</a:t>
              </a:r>
            </a:p>
            <a:p>
              <a:pPr algn="ctr"/>
              <a:r>
                <a:rPr kumimoji="1" lang="en-US" altLang="ko-Kore-KR" sz="800" dirty="0">
                  <a:solidFill>
                    <a:schemeClr val="bg1"/>
                  </a:solidFill>
                </a:rPr>
                <a:t>(FF046)</a:t>
              </a:r>
            </a:p>
          </p:txBody>
        </p:sp>
        <p:sp>
          <p:nvSpPr>
            <p:cNvPr id="147" name="사각형 설명선[R] 146">
              <a:extLst>
                <a:ext uri="{FF2B5EF4-FFF2-40B4-BE49-F238E27FC236}">
                  <a16:creationId xmlns:a16="http://schemas.microsoft.com/office/drawing/2014/main" id="{AE343AE0-07BA-1600-95F8-3A2E7E340B60}"/>
                </a:ext>
              </a:extLst>
            </p:cNvPr>
            <p:cNvSpPr/>
            <p:nvPr/>
          </p:nvSpPr>
          <p:spPr>
            <a:xfrm>
              <a:off x="907947" y="3061301"/>
              <a:ext cx="629556" cy="465790"/>
            </a:xfrm>
            <a:prstGeom prst="wedgeRectCallout">
              <a:avLst>
                <a:gd name="adj1" fmla="val -109055"/>
                <a:gd name="adj2" fmla="val -66606"/>
              </a:avLst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r>
                <a:rPr kumimoji="1" lang="en-US" altLang="ko-Kore-KR" sz="800" dirty="0"/>
                <a:t>1700ft L/O 6000ft SET</a:t>
              </a:r>
            </a:p>
            <a:p>
              <a:r>
                <a:rPr kumimoji="1" lang="en-US" altLang="ko-Kore-KR" sz="800" dirty="0"/>
                <a:t>CRS 284 </a:t>
              </a:r>
              <a:endParaRPr kumimoji="1" lang="ko-Kore-KR" altLang="en-US" sz="800" dirty="0"/>
            </a:p>
          </p:txBody>
        </p:sp>
        <p:sp>
          <p:nvSpPr>
            <p:cNvPr id="148" name="사각형 설명선[R] 147">
              <a:extLst>
                <a:ext uri="{FF2B5EF4-FFF2-40B4-BE49-F238E27FC236}">
                  <a16:creationId xmlns:a16="http://schemas.microsoft.com/office/drawing/2014/main" id="{E871E623-1836-7590-4F6F-CB1F7591C0E6}"/>
                </a:ext>
              </a:extLst>
            </p:cNvPr>
            <p:cNvSpPr/>
            <p:nvPr/>
          </p:nvSpPr>
          <p:spPr>
            <a:xfrm>
              <a:off x="828719" y="2258171"/>
              <a:ext cx="708292" cy="465790"/>
            </a:xfrm>
            <a:prstGeom prst="wedgeRectCallout">
              <a:avLst>
                <a:gd name="adj1" fmla="val -69799"/>
                <a:gd name="adj2" fmla="val -47152"/>
              </a:avLst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r>
                <a:rPr kumimoji="1" lang="en-US" altLang="ko-Kore-KR" sz="800" dirty="0"/>
                <a:t> H/D110</a:t>
              </a:r>
            </a:p>
            <a:p>
              <a:r>
                <a:rPr kumimoji="1" lang="en-US" altLang="ko-Kore-KR" sz="800" b="1" dirty="0">
                  <a:solidFill>
                    <a:srgbClr val="FFC000"/>
                  </a:solidFill>
                </a:rPr>
                <a:t> KMH30-1NM</a:t>
              </a:r>
            </a:p>
            <a:p>
              <a:r>
                <a:rPr kumimoji="1" lang="en-US" altLang="ko-Kore-KR" sz="800" dirty="0"/>
                <a:t> Start Des</a:t>
              </a:r>
            </a:p>
          </p:txBody>
        </p:sp>
        <p:sp>
          <p:nvSpPr>
            <p:cNvPr id="149" name="TextBox 148">
              <a:extLst>
                <a:ext uri="{FF2B5EF4-FFF2-40B4-BE49-F238E27FC236}">
                  <a16:creationId xmlns:a16="http://schemas.microsoft.com/office/drawing/2014/main" id="{C0E1023B-1541-46CF-70D1-CCD44038861A}"/>
                </a:ext>
              </a:extLst>
            </p:cNvPr>
            <p:cNvSpPr txBox="1"/>
            <p:nvPr/>
          </p:nvSpPr>
          <p:spPr>
            <a:xfrm>
              <a:off x="-48346" y="1507131"/>
              <a:ext cx="688009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ko-Kore-KR" sz="800" b="1" dirty="0">
                  <a:solidFill>
                    <a:srgbClr val="FFC000"/>
                  </a:solidFill>
                </a:rPr>
                <a:t>KMH R280</a:t>
              </a:r>
            </a:p>
            <a:p>
              <a:r>
                <a:rPr kumimoji="1" lang="en-US" altLang="ko-Kore-KR" sz="800" b="1" dirty="0">
                  <a:solidFill>
                    <a:srgbClr val="FFC000"/>
                  </a:solidFill>
                </a:rPr>
                <a:t>Start Turn</a:t>
              </a:r>
              <a:endParaRPr kumimoji="1" lang="ko-Kore-KR" altLang="en-US" sz="800" b="1" dirty="0">
                <a:solidFill>
                  <a:srgbClr val="FFC000"/>
                </a:solidFill>
              </a:endParaRPr>
            </a:p>
          </p:txBody>
        </p:sp>
        <p:sp>
          <p:nvSpPr>
            <p:cNvPr id="150" name="사각형 설명선[R] 149">
              <a:extLst>
                <a:ext uri="{FF2B5EF4-FFF2-40B4-BE49-F238E27FC236}">
                  <a16:creationId xmlns:a16="http://schemas.microsoft.com/office/drawing/2014/main" id="{FD89808B-5034-A5A3-931F-51E835F84D56}"/>
                </a:ext>
              </a:extLst>
            </p:cNvPr>
            <p:cNvSpPr/>
            <p:nvPr/>
          </p:nvSpPr>
          <p:spPr>
            <a:xfrm>
              <a:off x="931503" y="1488263"/>
              <a:ext cx="605516" cy="353512"/>
            </a:xfrm>
            <a:prstGeom prst="wedgeRectCallout">
              <a:avLst>
                <a:gd name="adj1" fmla="val -86957"/>
                <a:gd name="adj2" fmla="val -77947"/>
              </a:avLst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r>
                <a:rPr kumimoji="1" lang="en-US" altLang="ko-Kore-KR" sz="800" dirty="0"/>
                <a:t>  H/D 182</a:t>
              </a:r>
            </a:p>
            <a:p>
              <a:r>
                <a:rPr kumimoji="1" lang="en-US" altLang="ko-Kore-KR" sz="800" b="1" dirty="0">
                  <a:solidFill>
                    <a:srgbClr val="FFC000"/>
                  </a:solidFill>
                </a:rPr>
                <a:t>  090-1000ft</a:t>
              </a:r>
            </a:p>
            <a:p>
              <a:r>
                <a:rPr kumimoji="1" lang="en-US" altLang="ko-Kore-KR" sz="800" b="1" dirty="0">
                  <a:solidFill>
                    <a:srgbClr val="FFC000"/>
                  </a:solidFill>
                </a:rPr>
                <a:t> </a:t>
              </a:r>
              <a:r>
                <a:rPr kumimoji="1" lang="en-US" altLang="ko-Kore-KR" sz="800" b="1" dirty="0">
                  <a:solidFill>
                    <a:srgbClr val="92D050"/>
                  </a:solidFill>
                </a:rPr>
                <a:t>(900ft)</a:t>
              </a:r>
            </a:p>
          </p:txBody>
        </p:sp>
        <p:sp>
          <p:nvSpPr>
            <p:cNvPr id="151" name="사각형 설명선[R] 150">
              <a:extLst>
                <a:ext uri="{FF2B5EF4-FFF2-40B4-BE49-F238E27FC236}">
                  <a16:creationId xmlns:a16="http://schemas.microsoft.com/office/drawing/2014/main" id="{976C1F7A-E636-B87D-52FD-AEB37F9F32B9}"/>
                </a:ext>
              </a:extLst>
            </p:cNvPr>
            <p:cNvSpPr/>
            <p:nvPr/>
          </p:nvSpPr>
          <p:spPr>
            <a:xfrm>
              <a:off x="1848171" y="1477339"/>
              <a:ext cx="418277" cy="547943"/>
            </a:xfrm>
            <a:prstGeom prst="wedgeRectCallout">
              <a:avLst>
                <a:gd name="adj1" fmla="val -90896"/>
                <a:gd name="adj2" fmla="val -29838"/>
              </a:avLst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r>
                <a:rPr kumimoji="1" lang="en-US" altLang="ko-Kore-KR" sz="800" dirty="0"/>
                <a:t> 500</a:t>
              </a:r>
              <a:r>
                <a:rPr kumimoji="1" lang="en-US" altLang="ko-KR" sz="800" dirty="0"/>
                <a:t>’</a:t>
              </a:r>
              <a:r>
                <a:rPr kumimoji="1" lang="ko-KR" altLang="en-US" sz="800" dirty="0"/>
                <a:t>전</a:t>
              </a:r>
              <a:endParaRPr kumimoji="1" lang="en-US" altLang="ko-KR" sz="800" dirty="0"/>
            </a:p>
            <a:p>
              <a:r>
                <a:rPr kumimoji="1" lang="en-US" altLang="ko-Kore-KR" sz="800" dirty="0"/>
                <a:t> A/P Off  </a:t>
              </a:r>
            </a:p>
            <a:p>
              <a:r>
                <a:rPr kumimoji="1" lang="ko-KR" altLang="en-US" sz="800" dirty="0"/>
                <a:t> </a:t>
              </a:r>
              <a:r>
                <a:rPr kumimoji="1" lang="en-US" altLang="ko-Kore-KR" sz="800" dirty="0"/>
                <a:t>FD Off - </a:t>
              </a:r>
              <a:r>
                <a:rPr kumimoji="1" lang="ko-KR" altLang="en-US" sz="800" dirty="0"/>
                <a:t> </a:t>
              </a:r>
              <a:endParaRPr kumimoji="1" lang="en-US" altLang="ko-KR" sz="800" dirty="0"/>
            </a:p>
            <a:p>
              <a:r>
                <a:rPr kumimoji="1" lang="ko-KR" altLang="en-US" sz="800" dirty="0"/>
                <a:t> </a:t>
              </a:r>
              <a:r>
                <a:rPr kumimoji="1" lang="en-US" altLang="ko-Kore-KR" sz="800" dirty="0"/>
                <a:t>On</a:t>
              </a:r>
            </a:p>
          </p:txBody>
        </p:sp>
      </p:grpSp>
      <p:sp>
        <p:nvSpPr>
          <p:cNvPr id="153" name="TextBox 152">
            <a:extLst>
              <a:ext uri="{FF2B5EF4-FFF2-40B4-BE49-F238E27FC236}">
                <a16:creationId xmlns:a16="http://schemas.microsoft.com/office/drawing/2014/main" id="{97F6DB83-E6BE-C7AD-44FF-AB2D0BD878C7}"/>
              </a:ext>
            </a:extLst>
          </p:cNvPr>
          <p:cNvSpPr txBox="1"/>
          <p:nvPr/>
        </p:nvSpPr>
        <p:spPr>
          <a:xfrm>
            <a:off x="1427395" y="5172015"/>
            <a:ext cx="97334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000" b="1" dirty="0">
                <a:solidFill>
                  <a:srgbClr val="C0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LOC 36 Circling</a:t>
            </a:r>
          </a:p>
          <a:p>
            <a:r>
              <a:rPr kumimoji="1" lang="en-US" altLang="ko-Kore-KR" sz="1000" b="1" dirty="0">
                <a:solidFill>
                  <a:srgbClr val="C0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Next Page</a:t>
            </a:r>
            <a:endParaRPr kumimoji="1" lang="ko-Kore-KR" altLang="en-US" sz="1000" b="1" dirty="0">
              <a:solidFill>
                <a:srgbClr val="C00000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49E31F1-F9F0-C78C-4D15-80D409335936}"/>
              </a:ext>
            </a:extLst>
          </p:cNvPr>
          <p:cNvSpPr txBox="1"/>
          <p:nvPr/>
        </p:nvSpPr>
        <p:spPr>
          <a:xfrm>
            <a:off x="515207" y="5165987"/>
            <a:ext cx="123270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Domestic</a:t>
            </a:r>
            <a:endParaRPr lang="en-US" altLang="ko-KR" sz="14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745139595"/>
      </p:ext>
    </p:extLst>
  </p:cSld>
  <p:clrMapOvr>
    <a:masterClrMapping/>
  </p:clrMapOvr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38" name="Google Shape;138;p4"/>
          <p:cNvGraphicFramePr/>
          <p:nvPr>
            <p:extLst>
              <p:ext uri="{D42A27DB-BD31-4B8C-83A1-F6EECF244321}">
                <p14:modId xmlns:p14="http://schemas.microsoft.com/office/powerpoint/2010/main" val="2375068743"/>
              </p:ext>
            </p:extLst>
          </p:nvPr>
        </p:nvGraphicFramePr>
        <p:xfrm>
          <a:off x="0" y="0"/>
          <a:ext cx="2328850" cy="110412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1628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12569">
                  <a:extLst>
                    <a:ext uri="{9D8B030D-6E8A-4147-A177-3AD203B41FA5}">
                      <a16:colId xmlns:a16="http://schemas.microsoft.com/office/drawing/2014/main" val="3596387649"/>
                    </a:ext>
                  </a:extLst>
                </a:gridCol>
              </a:tblGrid>
              <a:tr h="202565"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/>
                        <a:t>PUS LOC 36L/R Circling 18L/R</a:t>
                      </a:r>
                    </a:p>
                  </a:txBody>
                  <a:tcPr marL="91450" marR="9145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98856"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1000" dirty="0"/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dirty="0"/>
                        <a:t>STARS                    RUNWAYS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900" b="1" dirty="0">
                          <a:solidFill>
                            <a:schemeClr val="accent1"/>
                          </a:solidFill>
                        </a:rPr>
                        <a:t>36L18L/R              18L/R    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dirty="0"/>
                        <a:t>TRANS.   </a:t>
                      </a:r>
                      <a:r>
                        <a:rPr lang="en-US" altLang="ko-Kore-KR" sz="800" b="1" dirty="0">
                          <a:solidFill>
                            <a:srgbClr val="C00000"/>
                          </a:solidFill>
                        </a:rPr>
                        <a:t>KMH22 </a:t>
                      </a:r>
                      <a:r>
                        <a:rPr lang="en-US" altLang="ko-Kore-KR" sz="800" b="1" dirty="0" err="1">
                          <a:solidFill>
                            <a:srgbClr val="C00000"/>
                          </a:solidFill>
                        </a:rPr>
                        <a:t>Vref+wind</a:t>
                      </a:r>
                      <a:endParaRPr lang="en-US" altLang="ko-Kore-KR" sz="800"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900" b="1" dirty="0">
                          <a:solidFill>
                            <a:schemeClr val="accent1"/>
                          </a:solidFill>
                        </a:rPr>
                        <a:t>GEOJE </a:t>
                      </a:r>
                      <a:r>
                        <a:rPr lang="en-US" altLang="ko-KR" sz="800" b="1" dirty="0">
                          <a:solidFill>
                            <a:srgbClr val="00B050"/>
                          </a:solidFill>
                        </a:rPr>
                        <a:t>(Modify Required)</a:t>
                      </a:r>
                      <a:endParaRPr lang="en-US" altLang="ko-Kore-KR" sz="9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15940"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rgbClr val="FF0000"/>
                          </a:solidFill>
                        </a:rPr>
                        <a:t>CI36L(CF36R) 3500 FI36L(FF36R) 2100</a:t>
                      </a:r>
                    </a:p>
                  </a:txBody>
                  <a:tcPr marL="90000" marR="91450" marT="0" marB="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29884486"/>
                  </a:ext>
                </a:extLst>
              </a:tr>
              <a:tr h="115940"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rgbClr val="0070C0"/>
                          </a:solidFill>
                        </a:rPr>
                        <a:t>FIX : KMH 280(Base Turn), 310(Missed App)</a:t>
                      </a:r>
                    </a:p>
                  </a:txBody>
                  <a:tcPr marL="90000" marR="91450" marT="0" marB="0" anchor="ctr"/>
                </a:tc>
                <a:tc hMerge="1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altLang="ko-Kore-KR" sz="900" b="1" dirty="0">
                        <a:solidFill>
                          <a:schemeClr val="accent1"/>
                        </a:solidFill>
                      </a:endParaRPr>
                    </a:p>
                  </a:txBody>
                  <a:tcPr marL="91450" marR="91450" marT="0" marB="0" anchor="ctr"/>
                </a:tc>
                <a:extLst>
                  <a:ext uri="{0D108BD9-81ED-4DB2-BD59-A6C34878D82A}">
                    <a16:rowId xmlns:a16="http://schemas.microsoft.com/office/drawing/2014/main" val="2408181646"/>
                  </a:ext>
                </a:extLst>
              </a:tr>
            </a:tbl>
          </a:graphicData>
        </a:graphic>
      </p:graphicFrame>
      <p:pic>
        <p:nvPicPr>
          <p:cNvPr id="3" name="그림 2" descr="텍스트이(가) 표시된 사진&#10;&#10;자동 생성된 설명">
            <a:extLst>
              <a:ext uri="{FF2B5EF4-FFF2-40B4-BE49-F238E27FC236}">
                <a16:creationId xmlns:a16="http://schemas.microsoft.com/office/drawing/2014/main" id="{5021DF9B-6AB4-7517-602B-0CD3A9E0735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794" y="243355"/>
            <a:ext cx="1066737" cy="566704"/>
          </a:xfrm>
          <a:prstGeom prst="rect">
            <a:avLst/>
          </a:prstGeom>
        </p:spPr>
      </p:pic>
      <p:graphicFrame>
        <p:nvGraphicFramePr>
          <p:cNvPr id="145" name="Google Shape;138;p4">
            <a:extLst>
              <a:ext uri="{FF2B5EF4-FFF2-40B4-BE49-F238E27FC236}">
                <a16:creationId xmlns:a16="http://schemas.microsoft.com/office/drawing/2014/main" id="{2DD2492E-25C7-6F3E-A765-74CDA0855231}"/>
              </a:ext>
            </a:extLst>
          </p:cNvPr>
          <p:cNvGraphicFramePr/>
          <p:nvPr/>
        </p:nvGraphicFramePr>
        <p:xfrm>
          <a:off x="-4122" y="4192952"/>
          <a:ext cx="2328850" cy="106944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328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52551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/>
                        <a:t>Missed App</a:t>
                      </a: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0461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900" dirty="0"/>
                        <a:t>Base Turn </a:t>
                      </a:r>
                      <a:r>
                        <a:rPr lang="ko-KR" altLang="en-US" sz="900" dirty="0"/>
                        <a:t>이전 </a:t>
                      </a:r>
                      <a:r>
                        <a:rPr lang="en-US" altLang="ko-KR" sz="900" dirty="0"/>
                        <a:t>:</a:t>
                      </a:r>
                      <a:r>
                        <a:rPr lang="ko-KR" altLang="en-US" sz="900" dirty="0"/>
                        <a:t> </a:t>
                      </a:r>
                      <a:r>
                        <a:rPr lang="en-US" altLang="ko-KR" sz="900" dirty="0"/>
                        <a:t>L/H Turn </a:t>
                      </a:r>
                      <a:r>
                        <a:rPr lang="en-US" altLang="ko-KR" sz="900" b="1" dirty="0">
                          <a:solidFill>
                            <a:srgbClr val="C00000"/>
                          </a:solidFill>
                        </a:rPr>
                        <a:t>KMH 310 </a:t>
                      </a:r>
                      <a:r>
                        <a:rPr lang="en-US" altLang="ko-KR" sz="900" dirty="0"/>
                        <a:t>OUTBD 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900" dirty="0"/>
                        <a:t>(SEL HDG SEL – INT H/D - VOR/LOC</a:t>
                      </a:r>
                      <a:r>
                        <a:rPr lang="ko-KR" altLang="en-US" sz="900" dirty="0"/>
                        <a:t> </a:t>
                      </a:r>
                      <a:r>
                        <a:rPr lang="en-US" altLang="ko-KR" sz="900" dirty="0"/>
                        <a:t>Engage)</a:t>
                      </a: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777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R" sz="900" dirty="0"/>
                        <a:t>Base Turn </a:t>
                      </a:r>
                      <a:r>
                        <a:rPr lang="ko-KR" altLang="en-US" sz="900" dirty="0"/>
                        <a:t>이후 </a:t>
                      </a:r>
                      <a:r>
                        <a:rPr lang="en-US" altLang="ko-KR" sz="900" dirty="0"/>
                        <a:t>:</a:t>
                      </a:r>
                      <a:r>
                        <a:rPr lang="ko-KR" altLang="en-US" sz="900" dirty="0"/>
                        <a:t> </a:t>
                      </a:r>
                      <a:r>
                        <a:rPr lang="en-US" altLang="ko-KR" sz="900" dirty="0"/>
                        <a:t>Continue R/H Turn </a:t>
                      </a:r>
                      <a:r>
                        <a:rPr lang="en-US" altLang="ko-KR" sz="900" b="1" dirty="0">
                          <a:solidFill>
                            <a:srgbClr val="C00000"/>
                          </a:solidFill>
                        </a:rPr>
                        <a:t>KMH 310 </a:t>
                      </a:r>
                      <a:r>
                        <a:rPr lang="en-US" altLang="ko-KR" sz="900" dirty="0"/>
                        <a:t>OUTBD 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R" sz="900" dirty="0"/>
                        <a:t>(SEL HDG SEL – INT H/D - VOR/LOC Engage)</a:t>
                      </a: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3324277550"/>
                  </a:ext>
                </a:extLst>
              </a:tr>
            </a:tbl>
          </a:graphicData>
        </a:graphic>
      </p:graphicFrame>
      <p:grpSp>
        <p:nvGrpSpPr>
          <p:cNvPr id="15" name="그룹 14">
            <a:extLst>
              <a:ext uri="{FF2B5EF4-FFF2-40B4-BE49-F238E27FC236}">
                <a16:creationId xmlns:a16="http://schemas.microsoft.com/office/drawing/2014/main" id="{EA4E3C12-23F7-925D-4989-9A1D08C75E1F}"/>
              </a:ext>
            </a:extLst>
          </p:cNvPr>
          <p:cNvGrpSpPr/>
          <p:nvPr/>
        </p:nvGrpSpPr>
        <p:grpSpPr>
          <a:xfrm>
            <a:off x="-48346" y="1067956"/>
            <a:ext cx="2394309" cy="3138086"/>
            <a:chOff x="-48346" y="1067956"/>
            <a:chExt cx="2394309" cy="3138086"/>
          </a:xfrm>
        </p:grpSpPr>
        <p:pic>
          <p:nvPicPr>
            <p:cNvPr id="12" name="그림 11" descr="나무, 식물이(가) 표시된 사진&#10;&#10;자동 생성된 설명">
              <a:extLst>
                <a:ext uri="{FF2B5EF4-FFF2-40B4-BE49-F238E27FC236}">
                  <a16:creationId xmlns:a16="http://schemas.microsoft.com/office/drawing/2014/main" id="{CDDBC3DB-6733-2907-F7DB-E2FDA5AE9F63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/>
            <a:stretch/>
          </p:blipFill>
          <p:spPr>
            <a:xfrm>
              <a:off x="-361" y="1098329"/>
              <a:ext cx="2346324" cy="3107713"/>
            </a:xfrm>
            <a:prstGeom prst="rect">
              <a:avLst/>
            </a:prstGeom>
          </p:spPr>
        </p:pic>
        <p:cxnSp>
          <p:nvCxnSpPr>
            <p:cNvPr id="27" name="직선 연결선[R] 26">
              <a:extLst>
                <a:ext uri="{FF2B5EF4-FFF2-40B4-BE49-F238E27FC236}">
                  <a16:creationId xmlns:a16="http://schemas.microsoft.com/office/drawing/2014/main" id="{A447B34E-85E3-7041-0027-4D72BCEB8F48}"/>
                </a:ext>
              </a:extLst>
            </p:cNvPr>
            <p:cNvCxnSpPr>
              <a:cxnSpLocks/>
              <a:endCxn id="29" idx="0"/>
            </p:cNvCxnSpPr>
            <p:nvPr/>
          </p:nvCxnSpPr>
          <p:spPr>
            <a:xfrm flipH="1" flipV="1">
              <a:off x="647706" y="1625885"/>
              <a:ext cx="35808" cy="1196606"/>
            </a:xfrm>
            <a:prstGeom prst="line">
              <a:avLst/>
            </a:prstGeom>
            <a:ln w="28575">
              <a:solidFill>
                <a:srgbClr val="AA47F5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직선 연결선[R] 40">
              <a:extLst>
                <a:ext uri="{FF2B5EF4-FFF2-40B4-BE49-F238E27FC236}">
                  <a16:creationId xmlns:a16="http://schemas.microsoft.com/office/drawing/2014/main" id="{AF422B5F-7DE7-D8E9-59E5-31D47952B5A3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85970" y="2822492"/>
              <a:ext cx="1038585" cy="862373"/>
            </a:xfrm>
            <a:prstGeom prst="line">
              <a:avLst/>
            </a:prstGeom>
            <a:ln w="28575">
              <a:solidFill>
                <a:srgbClr val="AA47F5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3" name="포인트가 4개인 별 22">
              <a:extLst>
                <a:ext uri="{FF2B5EF4-FFF2-40B4-BE49-F238E27FC236}">
                  <a16:creationId xmlns:a16="http://schemas.microsoft.com/office/drawing/2014/main" id="{34EBE2B8-A456-4BC0-19B9-499481DE4E5C}"/>
                </a:ext>
              </a:extLst>
            </p:cNvPr>
            <p:cNvSpPr/>
            <p:nvPr/>
          </p:nvSpPr>
          <p:spPr>
            <a:xfrm>
              <a:off x="590749" y="2716474"/>
              <a:ext cx="185531" cy="212035"/>
            </a:xfrm>
            <a:prstGeom prst="star4">
              <a:avLst>
                <a:gd name="adj" fmla="val 18750"/>
              </a:avLst>
            </a:prstGeom>
            <a:solidFill>
              <a:srgbClr val="FFFF00"/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  <p:sp>
          <p:nvSpPr>
            <p:cNvPr id="29" name="호 28">
              <a:extLst>
                <a:ext uri="{FF2B5EF4-FFF2-40B4-BE49-F238E27FC236}">
                  <a16:creationId xmlns:a16="http://schemas.microsoft.com/office/drawing/2014/main" id="{0EDEDCBE-E5F5-DEFE-E89D-A65BA4BB793D}"/>
                </a:ext>
              </a:extLst>
            </p:cNvPr>
            <p:cNvSpPr/>
            <p:nvPr/>
          </p:nvSpPr>
          <p:spPr>
            <a:xfrm>
              <a:off x="647194" y="1191450"/>
              <a:ext cx="956185" cy="911025"/>
            </a:xfrm>
            <a:prstGeom prst="arc">
              <a:avLst>
                <a:gd name="adj1" fmla="val 10951624"/>
                <a:gd name="adj2" fmla="val 61662"/>
              </a:avLst>
            </a:prstGeom>
            <a:ln w="28575">
              <a:solidFill>
                <a:srgbClr val="AA47F5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  <p:sp>
          <p:nvSpPr>
            <p:cNvPr id="31" name="포인트가 4개인 별 30">
              <a:extLst>
                <a:ext uri="{FF2B5EF4-FFF2-40B4-BE49-F238E27FC236}">
                  <a16:creationId xmlns:a16="http://schemas.microsoft.com/office/drawing/2014/main" id="{58BD0D03-CFFD-7313-7A4A-408AE9CE381A}"/>
                </a:ext>
              </a:extLst>
            </p:cNvPr>
            <p:cNvSpPr/>
            <p:nvPr/>
          </p:nvSpPr>
          <p:spPr>
            <a:xfrm>
              <a:off x="573819" y="2044793"/>
              <a:ext cx="185531" cy="212035"/>
            </a:xfrm>
            <a:prstGeom prst="star4">
              <a:avLst>
                <a:gd name="adj" fmla="val 18750"/>
              </a:avLst>
            </a:prstGeom>
            <a:solidFill>
              <a:srgbClr val="FFFF00"/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  <p:sp>
          <p:nvSpPr>
            <p:cNvPr id="35" name="호 34">
              <a:extLst>
                <a:ext uri="{FF2B5EF4-FFF2-40B4-BE49-F238E27FC236}">
                  <a16:creationId xmlns:a16="http://schemas.microsoft.com/office/drawing/2014/main" id="{930CEE6A-5EFE-59E6-5594-85206F09186A}"/>
                </a:ext>
              </a:extLst>
            </p:cNvPr>
            <p:cNvSpPr/>
            <p:nvPr/>
          </p:nvSpPr>
          <p:spPr>
            <a:xfrm>
              <a:off x="686711" y="1191901"/>
              <a:ext cx="973831" cy="1004707"/>
            </a:xfrm>
            <a:prstGeom prst="arc">
              <a:avLst>
                <a:gd name="adj1" fmla="val 16012884"/>
                <a:gd name="adj2" fmla="val 21134675"/>
              </a:avLst>
            </a:prstGeom>
            <a:ln w="28575">
              <a:solidFill>
                <a:srgbClr val="92D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  <p:sp>
          <p:nvSpPr>
            <p:cNvPr id="38" name="포인트가 4개인 별 37">
              <a:extLst>
                <a:ext uri="{FF2B5EF4-FFF2-40B4-BE49-F238E27FC236}">
                  <a16:creationId xmlns:a16="http://schemas.microsoft.com/office/drawing/2014/main" id="{7EB48E4E-D41B-9BE2-A6CB-DE56A1828C44}"/>
                </a:ext>
              </a:extLst>
            </p:cNvPr>
            <p:cNvSpPr/>
            <p:nvPr/>
          </p:nvSpPr>
          <p:spPr>
            <a:xfrm>
              <a:off x="539954" y="1096532"/>
              <a:ext cx="185531" cy="212035"/>
            </a:xfrm>
            <a:prstGeom prst="star4">
              <a:avLst>
                <a:gd name="adj" fmla="val 18750"/>
              </a:avLst>
            </a:prstGeom>
            <a:solidFill>
              <a:srgbClr val="FFFF00"/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  <p:sp>
          <p:nvSpPr>
            <p:cNvPr id="39" name="포인트가 4개인 별 38">
              <a:extLst>
                <a:ext uri="{FF2B5EF4-FFF2-40B4-BE49-F238E27FC236}">
                  <a16:creationId xmlns:a16="http://schemas.microsoft.com/office/drawing/2014/main" id="{4623912B-268E-11E3-0FE7-B2FCDA90C0C0}"/>
                </a:ext>
              </a:extLst>
            </p:cNvPr>
            <p:cNvSpPr/>
            <p:nvPr/>
          </p:nvSpPr>
          <p:spPr>
            <a:xfrm>
              <a:off x="1431776" y="1073957"/>
              <a:ext cx="185531" cy="212035"/>
            </a:xfrm>
            <a:prstGeom prst="star4">
              <a:avLst>
                <a:gd name="adj" fmla="val 18750"/>
              </a:avLst>
            </a:prstGeom>
            <a:solidFill>
              <a:srgbClr val="AA47F5"/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  <p:sp>
          <p:nvSpPr>
            <p:cNvPr id="40" name="포인트가 4개인 별 39">
              <a:extLst>
                <a:ext uri="{FF2B5EF4-FFF2-40B4-BE49-F238E27FC236}">
                  <a16:creationId xmlns:a16="http://schemas.microsoft.com/office/drawing/2014/main" id="{00C949CF-AF86-BF74-7612-33AF2285DACA}"/>
                </a:ext>
              </a:extLst>
            </p:cNvPr>
            <p:cNvSpPr/>
            <p:nvPr/>
          </p:nvSpPr>
          <p:spPr>
            <a:xfrm>
              <a:off x="1539024" y="1068313"/>
              <a:ext cx="185531" cy="212035"/>
            </a:xfrm>
            <a:prstGeom prst="star4">
              <a:avLst>
                <a:gd name="adj" fmla="val 18750"/>
              </a:avLst>
            </a:prstGeom>
            <a:solidFill>
              <a:srgbClr val="92D050"/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  <p:cxnSp>
          <p:nvCxnSpPr>
            <p:cNvPr id="44" name="직선 연결선[R] 43">
              <a:extLst>
                <a:ext uri="{FF2B5EF4-FFF2-40B4-BE49-F238E27FC236}">
                  <a16:creationId xmlns:a16="http://schemas.microsoft.com/office/drawing/2014/main" id="{868CF2DE-D380-1488-974D-31BDE8684A05}"/>
                </a:ext>
              </a:extLst>
            </p:cNvPr>
            <p:cNvCxnSpPr>
              <a:cxnSpLocks/>
              <a:endCxn id="29" idx="2"/>
            </p:cNvCxnSpPr>
            <p:nvPr/>
          </p:nvCxnSpPr>
          <p:spPr>
            <a:xfrm flipH="1" flipV="1">
              <a:off x="1603294" y="1655537"/>
              <a:ext cx="22873" cy="389256"/>
            </a:xfrm>
            <a:prstGeom prst="line">
              <a:avLst/>
            </a:prstGeom>
            <a:ln w="28575">
              <a:solidFill>
                <a:srgbClr val="AA47F5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직선 연결선[R] 48">
              <a:extLst>
                <a:ext uri="{FF2B5EF4-FFF2-40B4-BE49-F238E27FC236}">
                  <a16:creationId xmlns:a16="http://schemas.microsoft.com/office/drawing/2014/main" id="{66964C75-BD54-9870-DA4E-4CA275254DF7}"/>
                </a:ext>
              </a:extLst>
            </p:cNvPr>
            <p:cNvCxnSpPr>
              <a:cxnSpLocks/>
              <a:endCxn id="35" idx="2"/>
            </p:cNvCxnSpPr>
            <p:nvPr/>
          </p:nvCxnSpPr>
          <p:spPr>
            <a:xfrm flipH="1" flipV="1">
              <a:off x="1656354" y="1628512"/>
              <a:ext cx="22321" cy="421925"/>
            </a:xfrm>
            <a:prstGeom prst="line">
              <a:avLst/>
            </a:prstGeom>
            <a:ln w="28575">
              <a:solidFill>
                <a:srgbClr val="92D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직선 연결선[R] 53">
              <a:extLst>
                <a:ext uri="{FF2B5EF4-FFF2-40B4-BE49-F238E27FC236}">
                  <a16:creationId xmlns:a16="http://schemas.microsoft.com/office/drawing/2014/main" id="{DA8E6069-ABB3-A90D-9CB2-412A7718E23F}"/>
                </a:ext>
              </a:extLst>
            </p:cNvPr>
            <p:cNvCxnSpPr>
              <a:cxnSpLocks/>
            </p:cNvCxnSpPr>
            <p:nvPr/>
          </p:nvCxnSpPr>
          <p:spPr>
            <a:xfrm>
              <a:off x="79022" y="1451543"/>
              <a:ext cx="1538285" cy="603307"/>
            </a:xfrm>
            <a:prstGeom prst="line">
              <a:avLst/>
            </a:prstGeom>
            <a:ln w="19050">
              <a:solidFill>
                <a:srgbClr val="FFC000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0" name="TextBox 59">
              <a:extLst>
                <a:ext uri="{FF2B5EF4-FFF2-40B4-BE49-F238E27FC236}">
                  <a16:creationId xmlns:a16="http://schemas.microsoft.com/office/drawing/2014/main" id="{4E0B4524-D5ED-0F82-3605-CE03D6D8F41C}"/>
                </a:ext>
              </a:extLst>
            </p:cNvPr>
            <p:cNvSpPr txBox="1"/>
            <p:nvPr/>
          </p:nvSpPr>
          <p:spPr>
            <a:xfrm>
              <a:off x="1670760" y="1067956"/>
              <a:ext cx="527709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kumimoji="1" lang="en-US" altLang="ko-Kore-KR" sz="800" dirty="0">
                  <a:solidFill>
                    <a:srgbClr val="92D050"/>
                  </a:solidFill>
                </a:rPr>
                <a:t>KMH35</a:t>
              </a:r>
            </a:p>
            <a:p>
              <a:pPr algn="ctr"/>
              <a:r>
                <a:rPr kumimoji="1" lang="en-US" altLang="ko-Kore-KR" sz="800" dirty="0">
                  <a:solidFill>
                    <a:srgbClr val="92D050"/>
                  </a:solidFill>
                </a:rPr>
                <a:t>(18L)</a:t>
              </a:r>
              <a:endParaRPr kumimoji="1" lang="ko-Kore-KR" altLang="en-US" sz="800" dirty="0">
                <a:solidFill>
                  <a:srgbClr val="92D050"/>
                </a:solidFill>
              </a:endParaRPr>
            </a:p>
          </p:txBody>
        </p:sp>
        <p:sp>
          <p:nvSpPr>
            <p:cNvPr id="61" name="TextBox 60">
              <a:extLst>
                <a:ext uri="{FF2B5EF4-FFF2-40B4-BE49-F238E27FC236}">
                  <a16:creationId xmlns:a16="http://schemas.microsoft.com/office/drawing/2014/main" id="{C03758C5-ABCE-E358-B805-F5F84F53890B}"/>
                </a:ext>
              </a:extLst>
            </p:cNvPr>
            <p:cNvSpPr txBox="1"/>
            <p:nvPr/>
          </p:nvSpPr>
          <p:spPr>
            <a:xfrm>
              <a:off x="984588" y="1243074"/>
              <a:ext cx="527709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kumimoji="1" lang="en-US" altLang="ko-Kore-KR" sz="800" dirty="0">
                  <a:solidFill>
                    <a:schemeClr val="bg1"/>
                  </a:solidFill>
                </a:rPr>
                <a:t>KMH34</a:t>
              </a:r>
            </a:p>
            <a:p>
              <a:pPr algn="ctr"/>
              <a:r>
                <a:rPr kumimoji="1" lang="en-US" altLang="ko-Kore-KR" sz="800" dirty="0">
                  <a:solidFill>
                    <a:schemeClr val="bg1"/>
                  </a:solidFill>
                </a:rPr>
                <a:t>(18R)</a:t>
              </a:r>
              <a:endParaRPr kumimoji="1" lang="ko-Kore-KR" altLang="en-US" sz="800" dirty="0">
                <a:solidFill>
                  <a:schemeClr val="bg1"/>
                </a:solidFill>
              </a:endParaRPr>
            </a:p>
          </p:txBody>
        </p:sp>
        <p:sp>
          <p:nvSpPr>
            <p:cNvPr id="62" name="TextBox 61">
              <a:extLst>
                <a:ext uri="{FF2B5EF4-FFF2-40B4-BE49-F238E27FC236}">
                  <a16:creationId xmlns:a16="http://schemas.microsoft.com/office/drawing/2014/main" id="{BAB56EBB-C6CC-544B-6B1B-7AD74DDE9799}"/>
                </a:ext>
              </a:extLst>
            </p:cNvPr>
            <p:cNvSpPr txBox="1"/>
            <p:nvPr/>
          </p:nvSpPr>
          <p:spPr>
            <a:xfrm>
              <a:off x="70193" y="1090677"/>
              <a:ext cx="527709" cy="21544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ko-Kore-KR" sz="800" dirty="0">
                  <a:solidFill>
                    <a:schemeClr val="bg1"/>
                  </a:solidFill>
                </a:rPr>
                <a:t>KMH32</a:t>
              </a:r>
              <a:endParaRPr kumimoji="1" lang="ko-Kore-KR" altLang="en-US" sz="800" dirty="0">
                <a:solidFill>
                  <a:schemeClr val="bg1"/>
                </a:solidFill>
              </a:endParaRPr>
            </a:p>
          </p:txBody>
        </p:sp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F26F0C7B-7DBA-0E46-EAB1-02BB391E9101}"/>
                </a:ext>
              </a:extLst>
            </p:cNvPr>
            <p:cNvSpPr txBox="1"/>
            <p:nvPr/>
          </p:nvSpPr>
          <p:spPr>
            <a:xfrm>
              <a:off x="104058" y="2033287"/>
              <a:ext cx="527709" cy="21544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ko-Kore-KR" sz="800" dirty="0">
                  <a:solidFill>
                    <a:schemeClr val="bg1"/>
                  </a:solidFill>
                </a:rPr>
                <a:t>KMH30</a:t>
              </a:r>
              <a:endParaRPr kumimoji="1" lang="ko-Kore-KR" altLang="en-US" sz="800" dirty="0">
                <a:solidFill>
                  <a:schemeClr val="bg1"/>
                </a:solidFill>
              </a:endParaRPr>
            </a:p>
          </p:txBody>
        </p:sp>
        <p:sp>
          <p:nvSpPr>
            <p:cNvPr id="128" name="TextBox 127">
              <a:extLst>
                <a:ext uri="{FF2B5EF4-FFF2-40B4-BE49-F238E27FC236}">
                  <a16:creationId xmlns:a16="http://schemas.microsoft.com/office/drawing/2014/main" id="{246E7BA4-156E-250A-F438-49FB015FCB5C}"/>
                </a:ext>
              </a:extLst>
            </p:cNvPr>
            <p:cNvSpPr txBox="1"/>
            <p:nvPr/>
          </p:nvSpPr>
          <p:spPr>
            <a:xfrm>
              <a:off x="103959" y="2676757"/>
              <a:ext cx="54534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kumimoji="1" lang="en-US" altLang="ko-Kore-KR" sz="800" dirty="0">
                  <a:solidFill>
                    <a:schemeClr val="bg1"/>
                  </a:solidFill>
                </a:rPr>
                <a:t>KMH22</a:t>
              </a:r>
            </a:p>
            <a:p>
              <a:pPr algn="ctr"/>
              <a:endParaRPr kumimoji="1" lang="ko-Kore-KR" altLang="en-US" sz="800" dirty="0">
                <a:solidFill>
                  <a:schemeClr val="bg1"/>
                </a:solidFill>
              </a:endParaRPr>
            </a:p>
          </p:txBody>
        </p:sp>
        <p:cxnSp>
          <p:nvCxnSpPr>
            <p:cNvPr id="130" name="구부러진 연결선[U] 129">
              <a:extLst>
                <a:ext uri="{FF2B5EF4-FFF2-40B4-BE49-F238E27FC236}">
                  <a16:creationId xmlns:a16="http://schemas.microsoft.com/office/drawing/2014/main" id="{CF940597-B6DB-F9E0-2BFE-9248A4AEFCD5}"/>
                </a:ext>
              </a:extLst>
            </p:cNvPr>
            <p:cNvCxnSpPr>
              <a:cxnSpLocks/>
            </p:cNvCxnSpPr>
            <p:nvPr/>
          </p:nvCxnSpPr>
          <p:spPr>
            <a:xfrm>
              <a:off x="1610387" y="3841126"/>
              <a:ext cx="324227" cy="49428"/>
            </a:xfrm>
            <a:prstGeom prst="curvedConnector3">
              <a:avLst>
                <a:gd name="adj1" fmla="val 44506"/>
              </a:avLst>
            </a:prstGeom>
            <a:ln w="28575">
              <a:solidFill>
                <a:srgbClr val="AA47F5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3" name="직선 연결선[R] 132">
              <a:extLst>
                <a:ext uri="{FF2B5EF4-FFF2-40B4-BE49-F238E27FC236}">
                  <a16:creationId xmlns:a16="http://schemas.microsoft.com/office/drawing/2014/main" id="{CBE8342F-5466-CF7A-EF58-F1468E9658D9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768383" y="3786668"/>
              <a:ext cx="4117" cy="397222"/>
            </a:xfrm>
            <a:prstGeom prst="line">
              <a:avLst/>
            </a:prstGeom>
            <a:ln w="28575">
              <a:solidFill>
                <a:srgbClr val="AA47F5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2" name="포인트가 4개인 별 141">
              <a:extLst>
                <a:ext uri="{FF2B5EF4-FFF2-40B4-BE49-F238E27FC236}">
                  <a16:creationId xmlns:a16="http://schemas.microsoft.com/office/drawing/2014/main" id="{A338195F-D345-F96E-91F4-57F2A830C58D}"/>
                </a:ext>
              </a:extLst>
            </p:cNvPr>
            <p:cNvSpPr/>
            <p:nvPr/>
          </p:nvSpPr>
          <p:spPr>
            <a:xfrm>
              <a:off x="1679774" y="3607592"/>
              <a:ext cx="185531" cy="212035"/>
            </a:xfrm>
            <a:prstGeom prst="star4">
              <a:avLst>
                <a:gd name="adj" fmla="val 18750"/>
              </a:avLst>
            </a:prstGeom>
            <a:solidFill>
              <a:srgbClr val="FFFF00"/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  <p:sp>
          <p:nvSpPr>
            <p:cNvPr id="146" name="사각형 설명선[R] 145">
              <a:extLst>
                <a:ext uri="{FF2B5EF4-FFF2-40B4-BE49-F238E27FC236}">
                  <a16:creationId xmlns:a16="http://schemas.microsoft.com/office/drawing/2014/main" id="{CFB9E6EC-B866-FE82-A5A6-F4E244DD87CD}"/>
                </a:ext>
              </a:extLst>
            </p:cNvPr>
            <p:cNvSpPr/>
            <p:nvPr/>
          </p:nvSpPr>
          <p:spPr>
            <a:xfrm>
              <a:off x="596770" y="3653893"/>
              <a:ext cx="836148" cy="510314"/>
            </a:xfrm>
            <a:prstGeom prst="wedgeRectCallout">
              <a:avLst>
                <a:gd name="adj1" fmla="val 84272"/>
                <a:gd name="adj2" fmla="val 16712"/>
              </a:avLst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r>
                <a:rPr kumimoji="1" lang="en-US" altLang="ko-Kore-KR" sz="800" dirty="0"/>
                <a:t>Before FAF L/G DN FLAP15</a:t>
              </a:r>
            </a:p>
            <a:p>
              <a:r>
                <a:rPr kumimoji="1" lang="en-US" altLang="ko-Kore-KR" sz="800" dirty="0"/>
                <a:t>1700ft L/O</a:t>
              </a:r>
            </a:p>
            <a:p>
              <a:r>
                <a:rPr kumimoji="1" lang="en-US" altLang="ko-Kore-KR" sz="800" dirty="0"/>
                <a:t>6000ft SET</a:t>
              </a:r>
            </a:p>
          </p:txBody>
        </p:sp>
        <p:sp>
          <p:nvSpPr>
            <p:cNvPr id="143" name="TextBox 142">
              <a:extLst>
                <a:ext uri="{FF2B5EF4-FFF2-40B4-BE49-F238E27FC236}">
                  <a16:creationId xmlns:a16="http://schemas.microsoft.com/office/drawing/2014/main" id="{E7A4A2FD-4EC4-596A-9970-F3E9CA163536}"/>
                </a:ext>
              </a:extLst>
            </p:cNvPr>
            <p:cNvSpPr txBox="1"/>
            <p:nvPr/>
          </p:nvSpPr>
          <p:spPr>
            <a:xfrm>
              <a:off x="1711414" y="3383086"/>
              <a:ext cx="527709" cy="21544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kumimoji="1" lang="en-US" altLang="ko-Kore-KR" sz="800" dirty="0">
                  <a:solidFill>
                    <a:schemeClr val="bg1"/>
                  </a:solidFill>
                </a:rPr>
                <a:t>KMH18</a:t>
              </a:r>
            </a:p>
          </p:txBody>
        </p:sp>
        <p:sp>
          <p:nvSpPr>
            <p:cNvPr id="147" name="사각형 설명선[R] 146">
              <a:extLst>
                <a:ext uri="{FF2B5EF4-FFF2-40B4-BE49-F238E27FC236}">
                  <a16:creationId xmlns:a16="http://schemas.microsoft.com/office/drawing/2014/main" id="{AE343AE0-07BA-1600-95F8-3A2E7E340B60}"/>
                </a:ext>
              </a:extLst>
            </p:cNvPr>
            <p:cNvSpPr/>
            <p:nvPr/>
          </p:nvSpPr>
          <p:spPr>
            <a:xfrm>
              <a:off x="25794" y="3080133"/>
              <a:ext cx="1032571" cy="531481"/>
            </a:xfrm>
            <a:prstGeom prst="wedgeRectCallout">
              <a:avLst>
                <a:gd name="adj1" fmla="val 94487"/>
                <a:gd name="adj2" fmla="val 37595"/>
              </a:avLst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r>
                <a:rPr kumimoji="1" lang="en-US" altLang="ko-Kore-KR" sz="800" dirty="0"/>
                <a:t>VOR SET CRS 310</a:t>
              </a:r>
            </a:p>
            <a:p>
              <a:r>
                <a:rPr kumimoji="1" lang="en-US" altLang="ko-Kore-KR" sz="800" dirty="0"/>
                <a:t>L/D FLAP</a:t>
              </a:r>
            </a:p>
            <a:p>
              <a:r>
                <a:rPr kumimoji="1" lang="en-US" altLang="ko-Kore-KR" sz="800" dirty="0"/>
                <a:t>Before L/D CHK Complete</a:t>
              </a:r>
            </a:p>
          </p:txBody>
        </p:sp>
        <p:sp>
          <p:nvSpPr>
            <p:cNvPr id="148" name="사각형 설명선[R] 147">
              <a:extLst>
                <a:ext uri="{FF2B5EF4-FFF2-40B4-BE49-F238E27FC236}">
                  <a16:creationId xmlns:a16="http://schemas.microsoft.com/office/drawing/2014/main" id="{E871E623-1836-7590-4F6F-CB1F7591C0E6}"/>
                </a:ext>
              </a:extLst>
            </p:cNvPr>
            <p:cNvSpPr/>
            <p:nvPr/>
          </p:nvSpPr>
          <p:spPr>
            <a:xfrm>
              <a:off x="828719" y="2335364"/>
              <a:ext cx="708292" cy="465790"/>
            </a:xfrm>
            <a:prstGeom prst="wedgeRectCallout">
              <a:avLst>
                <a:gd name="adj1" fmla="val -69799"/>
                <a:gd name="adj2" fmla="val -47152"/>
              </a:avLst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r>
                <a:rPr kumimoji="1" lang="en-US" altLang="ko-Kore-KR" sz="800" dirty="0"/>
                <a:t> H/D110</a:t>
              </a:r>
            </a:p>
            <a:p>
              <a:r>
                <a:rPr kumimoji="1" lang="en-US" altLang="ko-Kore-KR" sz="800" b="1" dirty="0">
                  <a:solidFill>
                    <a:srgbClr val="FFC000"/>
                  </a:solidFill>
                </a:rPr>
                <a:t> KMH30-1NM</a:t>
              </a:r>
            </a:p>
            <a:p>
              <a:r>
                <a:rPr kumimoji="1" lang="en-US" altLang="ko-Kore-KR" sz="800" dirty="0"/>
                <a:t> Start Des</a:t>
              </a:r>
            </a:p>
          </p:txBody>
        </p:sp>
        <p:sp>
          <p:nvSpPr>
            <p:cNvPr id="149" name="TextBox 148">
              <a:extLst>
                <a:ext uri="{FF2B5EF4-FFF2-40B4-BE49-F238E27FC236}">
                  <a16:creationId xmlns:a16="http://schemas.microsoft.com/office/drawing/2014/main" id="{C0E1023B-1541-46CF-70D1-CCD44038861A}"/>
                </a:ext>
              </a:extLst>
            </p:cNvPr>
            <p:cNvSpPr txBox="1"/>
            <p:nvPr/>
          </p:nvSpPr>
          <p:spPr>
            <a:xfrm>
              <a:off x="-48346" y="1584324"/>
              <a:ext cx="688009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ko-Kore-KR" sz="800" b="1" dirty="0">
                  <a:solidFill>
                    <a:srgbClr val="FFC000"/>
                  </a:solidFill>
                </a:rPr>
                <a:t>KMH R280</a:t>
              </a:r>
            </a:p>
            <a:p>
              <a:r>
                <a:rPr kumimoji="1" lang="en-US" altLang="ko-Kore-KR" sz="800" b="1" dirty="0">
                  <a:solidFill>
                    <a:srgbClr val="FFC000"/>
                  </a:solidFill>
                </a:rPr>
                <a:t>Start Turn</a:t>
              </a:r>
              <a:endParaRPr kumimoji="1" lang="ko-Kore-KR" altLang="en-US" sz="800" b="1" dirty="0">
                <a:solidFill>
                  <a:srgbClr val="FFC000"/>
                </a:solidFill>
              </a:endParaRPr>
            </a:p>
          </p:txBody>
        </p:sp>
        <p:sp>
          <p:nvSpPr>
            <p:cNvPr id="150" name="사각형 설명선[R] 149">
              <a:extLst>
                <a:ext uri="{FF2B5EF4-FFF2-40B4-BE49-F238E27FC236}">
                  <a16:creationId xmlns:a16="http://schemas.microsoft.com/office/drawing/2014/main" id="{FD89808B-5034-A5A3-931F-51E835F84D56}"/>
                </a:ext>
              </a:extLst>
            </p:cNvPr>
            <p:cNvSpPr/>
            <p:nvPr/>
          </p:nvSpPr>
          <p:spPr>
            <a:xfrm>
              <a:off x="931503" y="1565456"/>
              <a:ext cx="605516" cy="353512"/>
            </a:xfrm>
            <a:prstGeom prst="wedgeRectCallout">
              <a:avLst>
                <a:gd name="adj1" fmla="val -86957"/>
                <a:gd name="adj2" fmla="val -77947"/>
              </a:avLst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r>
                <a:rPr kumimoji="1" lang="en-US" altLang="ko-Kore-KR" sz="800" dirty="0"/>
                <a:t>  H/D 182</a:t>
              </a:r>
            </a:p>
            <a:p>
              <a:r>
                <a:rPr kumimoji="1" lang="en-US" altLang="ko-Kore-KR" sz="800" b="1" dirty="0">
                  <a:solidFill>
                    <a:srgbClr val="FFC000"/>
                  </a:solidFill>
                </a:rPr>
                <a:t>  090-1000ft</a:t>
              </a:r>
            </a:p>
            <a:p>
              <a:r>
                <a:rPr kumimoji="1" lang="en-US" altLang="ko-Kore-KR" sz="800" b="1" dirty="0">
                  <a:solidFill>
                    <a:srgbClr val="FFC000"/>
                  </a:solidFill>
                </a:rPr>
                <a:t> </a:t>
              </a:r>
              <a:r>
                <a:rPr kumimoji="1" lang="en-US" altLang="ko-Kore-KR" sz="800" b="1" dirty="0">
                  <a:solidFill>
                    <a:srgbClr val="92D050"/>
                  </a:solidFill>
                </a:rPr>
                <a:t>(900ft)</a:t>
              </a:r>
            </a:p>
          </p:txBody>
        </p:sp>
        <p:sp>
          <p:nvSpPr>
            <p:cNvPr id="151" name="사각형 설명선[R] 150">
              <a:extLst>
                <a:ext uri="{FF2B5EF4-FFF2-40B4-BE49-F238E27FC236}">
                  <a16:creationId xmlns:a16="http://schemas.microsoft.com/office/drawing/2014/main" id="{976C1F7A-E636-B87D-52FD-AEB37F9F32B9}"/>
                </a:ext>
              </a:extLst>
            </p:cNvPr>
            <p:cNvSpPr/>
            <p:nvPr/>
          </p:nvSpPr>
          <p:spPr>
            <a:xfrm>
              <a:off x="1848171" y="1554532"/>
              <a:ext cx="418277" cy="547943"/>
            </a:xfrm>
            <a:prstGeom prst="wedgeRectCallout">
              <a:avLst>
                <a:gd name="adj1" fmla="val -90896"/>
                <a:gd name="adj2" fmla="val -29838"/>
              </a:avLst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r>
                <a:rPr kumimoji="1" lang="en-US" altLang="ko-Kore-KR" sz="800" dirty="0"/>
                <a:t> 500</a:t>
              </a:r>
              <a:r>
                <a:rPr kumimoji="1" lang="en-US" altLang="ko-KR" sz="800" dirty="0"/>
                <a:t>’</a:t>
              </a:r>
              <a:r>
                <a:rPr kumimoji="1" lang="ko-KR" altLang="en-US" sz="800" dirty="0"/>
                <a:t>전</a:t>
              </a:r>
              <a:endParaRPr kumimoji="1" lang="en-US" altLang="ko-KR" sz="800" dirty="0"/>
            </a:p>
            <a:p>
              <a:r>
                <a:rPr kumimoji="1" lang="en-US" altLang="ko-Kore-KR" sz="800" dirty="0"/>
                <a:t> A/P Off  </a:t>
              </a:r>
            </a:p>
            <a:p>
              <a:r>
                <a:rPr kumimoji="1" lang="ko-KR" altLang="en-US" sz="800" dirty="0"/>
                <a:t> </a:t>
              </a:r>
              <a:r>
                <a:rPr kumimoji="1" lang="en-US" altLang="ko-Kore-KR" sz="800" dirty="0"/>
                <a:t>FD Off - </a:t>
              </a:r>
              <a:r>
                <a:rPr kumimoji="1" lang="ko-KR" altLang="en-US" sz="800" dirty="0"/>
                <a:t> </a:t>
              </a:r>
              <a:endParaRPr kumimoji="1" lang="en-US" altLang="ko-KR" sz="800" dirty="0"/>
            </a:p>
            <a:p>
              <a:r>
                <a:rPr kumimoji="1" lang="ko-KR" altLang="en-US" sz="800" dirty="0"/>
                <a:t> </a:t>
              </a:r>
              <a:r>
                <a:rPr kumimoji="1" lang="en-US" altLang="ko-Kore-KR" sz="800" dirty="0"/>
                <a:t>On</a:t>
              </a:r>
            </a:p>
          </p:txBody>
        </p:sp>
        <p:cxnSp>
          <p:nvCxnSpPr>
            <p:cNvPr id="13" name="구부러진 연결선[U] 12">
              <a:extLst>
                <a:ext uri="{FF2B5EF4-FFF2-40B4-BE49-F238E27FC236}">
                  <a16:creationId xmlns:a16="http://schemas.microsoft.com/office/drawing/2014/main" id="{3FA0277A-46F3-9B10-43A1-F9FC3A7CADA4}"/>
                </a:ext>
              </a:extLst>
            </p:cNvPr>
            <p:cNvCxnSpPr>
              <a:cxnSpLocks/>
            </p:cNvCxnSpPr>
            <p:nvPr/>
          </p:nvCxnSpPr>
          <p:spPr>
            <a:xfrm>
              <a:off x="1603294" y="3938785"/>
              <a:ext cx="324227" cy="49428"/>
            </a:xfrm>
            <a:prstGeom prst="curvedConnector3">
              <a:avLst>
                <a:gd name="adj1" fmla="val 44506"/>
              </a:avLst>
            </a:prstGeom>
            <a:ln w="28575">
              <a:solidFill>
                <a:srgbClr val="AA47F5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" name="TextBox 3">
            <a:extLst>
              <a:ext uri="{FF2B5EF4-FFF2-40B4-BE49-F238E27FC236}">
                <a16:creationId xmlns:a16="http://schemas.microsoft.com/office/drawing/2014/main" id="{4BD0B5CA-87B6-4833-6589-576CFFE0A29B}"/>
              </a:ext>
            </a:extLst>
          </p:cNvPr>
          <p:cNvSpPr txBox="1"/>
          <p:nvPr/>
        </p:nvSpPr>
        <p:spPr>
          <a:xfrm>
            <a:off x="515207" y="5165987"/>
            <a:ext cx="123270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Domestic</a:t>
            </a:r>
            <a:endParaRPr lang="en-US" altLang="ko-KR" sz="14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113898710"/>
      </p:ext>
    </p:extLst>
  </p:cSld>
  <p:clrMapOvr>
    <a:masterClrMapping/>
  </p:clrMapOvr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65" name="Google Shape;365;p26"/>
          <p:cNvGraphicFramePr/>
          <p:nvPr/>
        </p:nvGraphicFramePr>
        <p:xfrm>
          <a:off x="388143" y="11369"/>
          <a:ext cx="1552575" cy="519322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5175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175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75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945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GS KTS</a:t>
                      </a:r>
                      <a:endParaRPr sz="800"/>
                    </a:p>
                  </a:txBody>
                  <a:tcPr marL="72000" marR="72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KM</a:t>
                      </a:r>
                      <a:endParaRPr sz="800"/>
                    </a:p>
                  </a:txBody>
                  <a:tcPr marL="72000" marR="72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MILES</a:t>
                      </a:r>
                      <a:endParaRPr sz="800"/>
                    </a:p>
                  </a:txBody>
                  <a:tcPr marL="72000" marR="7200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02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300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310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320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330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340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350</a:t>
                      </a:r>
                      <a:endParaRPr sz="800" b="1">
                        <a:solidFill>
                          <a:schemeClr val="dk1"/>
                        </a:solidFill>
                      </a:endParaRPr>
                    </a:p>
                  </a:txBody>
                  <a:tcPr marL="72000" marR="72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560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570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590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610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630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650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72000" marR="72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350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360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370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380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390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400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72000" marR="72000" marT="0" marB="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72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360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370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380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390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400</a:t>
                      </a:r>
                      <a:endParaRPr sz="800" b="1">
                        <a:solidFill>
                          <a:schemeClr val="dk1"/>
                        </a:solidFill>
                      </a:endParaRPr>
                    </a:p>
                  </a:txBody>
                  <a:tcPr marL="72000" marR="72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670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690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710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720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740</a:t>
                      </a:r>
                      <a:endParaRPr/>
                    </a:p>
                  </a:txBody>
                  <a:tcPr marL="72000" marR="72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410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430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440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450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460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72000" marR="72000" marT="0" marB="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72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410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420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430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440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450</a:t>
                      </a:r>
                      <a:endParaRPr/>
                    </a:p>
                  </a:txBody>
                  <a:tcPr marL="72000" marR="72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760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780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800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820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830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72000" marR="72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470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480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500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510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520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72000" marR="72000" marT="0" marB="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772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460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470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480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490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500</a:t>
                      </a:r>
                      <a:endParaRPr sz="800" b="1">
                        <a:solidFill>
                          <a:schemeClr val="dk1"/>
                        </a:solidFill>
                      </a:endParaRPr>
                    </a:p>
                  </a:txBody>
                  <a:tcPr marL="72000" marR="72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850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870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890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910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930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72000" marR="72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530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540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550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560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580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72000" marR="72000" marT="0" marB="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772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510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520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530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540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550</a:t>
                      </a:r>
                      <a:endParaRPr/>
                    </a:p>
                  </a:txBody>
                  <a:tcPr marL="72000" marR="72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950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960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980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1000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1020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72000" marR="72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590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600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610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620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630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72000" marR="72000" marT="0" marB="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772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560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570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580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590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600</a:t>
                      </a:r>
                      <a:endParaRPr sz="800" b="1">
                        <a:solidFill>
                          <a:schemeClr val="dk1"/>
                        </a:solidFill>
                      </a:endParaRPr>
                    </a:p>
                  </a:txBody>
                  <a:tcPr marL="72000" marR="72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1040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1060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1070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1090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1110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72000" marR="72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650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660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670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680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690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72000" marR="72000" marT="0" marB="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772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610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620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630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640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650</a:t>
                      </a:r>
                      <a:endParaRPr/>
                    </a:p>
                  </a:txBody>
                  <a:tcPr marL="72000" marR="72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1130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1150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1170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1190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1200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72000" marR="72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700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710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730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740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750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72000" marR="72000" marT="0" marB="0" anchor="ctr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772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660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670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680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690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700</a:t>
                      </a:r>
                      <a:endParaRPr/>
                    </a:p>
                  </a:txBody>
                  <a:tcPr marL="72000" marR="72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1220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1240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1260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1280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1300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72000" marR="72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760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770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780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800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810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72000" marR="72000" marT="0" marB="0" anchor="ctr"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1B02B414-F437-EC29-A025-C000B0E23D64}"/>
              </a:ext>
            </a:extLst>
          </p:cNvPr>
          <p:cNvSpPr/>
          <p:nvPr/>
        </p:nvSpPr>
        <p:spPr>
          <a:xfrm>
            <a:off x="847353" y="522213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" action="ppaction://hlinkshowjump?jump=firstslide"/>
              </a:rPr>
              <a:t>Home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1642348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 테마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 rtlCol="0" anchor="ctr"/>
      <a:lstStyle>
        <a:defPPr algn="ctr">
          <a:defRPr kumimoji="1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45247</TotalTime>
  <Words>31721</Words>
  <Application>Microsoft Macintosh PowerPoint</Application>
  <PresentationFormat>사용자 지정</PresentationFormat>
  <Paragraphs>8553</Paragraphs>
  <Slides>154</Slides>
  <Notes>152</Notes>
  <HiddenSlides>0</HiddenSlides>
  <MMClips>0</MMClips>
  <ScaleCrop>false</ScaleCrop>
  <HeadingPairs>
    <vt:vector size="6" baseType="variant">
      <vt:variant>
        <vt:lpstr>사용한 글꼴</vt:lpstr>
      </vt:variant>
      <vt:variant>
        <vt:i4>8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154</vt:i4>
      </vt:variant>
    </vt:vector>
  </HeadingPairs>
  <TitlesOfParts>
    <vt:vector size="163" baseType="lpstr">
      <vt:lpstr>Gulim</vt:lpstr>
      <vt:lpstr>Arial</vt:lpstr>
      <vt:lpstr>Lato</vt:lpstr>
      <vt:lpstr>Helvetica Neue</vt:lpstr>
      <vt:lpstr>Calibri</vt:lpstr>
      <vt:lpstr>Cambria Math</vt:lpstr>
      <vt:lpstr>Britannic Bold</vt:lpstr>
      <vt:lpstr>Wingdings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cho deukhyeon</dc:creator>
  <cp:lastModifiedBy>deukhyeon cho</cp:lastModifiedBy>
  <cp:revision>353</cp:revision>
  <dcterms:created xsi:type="dcterms:W3CDTF">2022-05-17T08:00:10Z</dcterms:created>
  <dcterms:modified xsi:type="dcterms:W3CDTF">2024-11-17T17:06:23Z</dcterms:modified>
</cp:coreProperties>
</file>