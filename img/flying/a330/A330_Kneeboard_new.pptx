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78" r:id="rId1"/>
  </p:sldMasterIdLst>
  <p:notesMasterIdLst>
    <p:notesMasterId r:id="rId142"/>
  </p:notesMasterIdLst>
  <p:sldIdLst>
    <p:sldId id="292" r:id="rId2"/>
    <p:sldId id="422" r:id="rId3"/>
    <p:sldId id="345" r:id="rId4"/>
    <p:sldId id="349" r:id="rId5"/>
    <p:sldId id="367" r:id="rId6"/>
    <p:sldId id="346" r:id="rId7"/>
    <p:sldId id="350" r:id="rId8"/>
    <p:sldId id="347" r:id="rId9"/>
    <p:sldId id="351" r:id="rId10"/>
    <p:sldId id="348" r:id="rId11"/>
    <p:sldId id="282" r:id="rId12"/>
    <p:sldId id="333" r:id="rId13"/>
    <p:sldId id="257" r:id="rId14"/>
    <p:sldId id="258" r:id="rId15"/>
    <p:sldId id="259" r:id="rId16"/>
    <p:sldId id="260" r:id="rId17"/>
    <p:sldId id="267" r:id="rId18"/>
    <p:sldId id="268" r:id="rId19"/>
    <p:sldId id="355" r:id="rId20"/>
    <p:sldId id="356" r:id="rId21"/>
    <p:sldId id="273" r:id="rId22"/>
    <p:sldId id="274" r:id="rId23"/>
    <p:sldId id="275" r:id="rId24"/>
    <p:sldId id="276" r:id="rId25"/>
    <p:sldId id="277" r:id="rId26"/>
    <p:sldId id="278" r:id="rId27"/>
    <p:sldId id="279" r:id="rId28"/>
    <p:sldId id="280" r:id="rId29"/>
    <p:sldId id="295" r:id="rId30"/>
    <p:sldId id="296" r:id="rId31"/>
    <p:sldId id="340" r:id="rId32"/>
    <p:sldId id="341" r:id="rId33"/>
    <p:sldId id="382" r:id="rId34"/>
    <p:sldId id="383" r:id="rId35"/>
    <p:sldId id="405" r:id="rId36"/>
    <p:sldId id="406" r:id="rId37"/>
    <p:sldId id="399" r:id="rId38"/>
    <p:sldId id="400" r:id="rId39"/>
    <p:sldId id="293" r:id="rId40"/>
    <p:sldId id="310" r:id="rId41"/>
    <p:sldId id="294" r:id="rId42"/>
    <p:sldId id="352" r:id="rId43"/>
    <p:sldId id="353" r:id="rId44"/>
    <p:sldId id="354" r:id="rId45"/>
    <p:sldId id="297" r:id="rId46"/>
    <p:sldId id="298" r:id="rId47"/>
    <p:sldId id="306" r:id="rId48"/>
    <p:sldId id="311" r:id="rId49"/>
    <p:sldId id="307" r:id="rId50"/>
    <p:sldId id="368" r:id="rId51"/>
    <p:sldId id="369" r:id="rId52"/>
    <p:sldId id="370" r:id="rId53"/>
    <p:sldId id="300" r:id="rId54"/>
    <p:sldId id="312" r:id="rId55"/>
    <p:sldId id="301" r:id="rId56"/>
    <p:sldId id="304" r:id="rId57"/>
    <p:sldId id="313" r:id="rId58"/>
    <p:sldId id="305" r:id="rId59"/>
    <p:sldId id="308" r:id="rId60"/>
    <p:sldId id="314" r:id="rId61"/>
    <p:sldId id="309" r:id="rId62"/>
    <p:sldId id="315" r:id="rId63"/>
    <p:sldId id="316" r:id="rId64"/>
    <p:sldId id="317" r:id="rId65"/>
    <p:sldId id="318" r:id="rId66"/>
    <p:sldId id="319" r:id="rId67"/>
    <p:sldId id="320" r:id="rId68"/>
    <p:sldId id="321" r:id="rId69"/>
    <p:sldId id="322" r:id="rId70"/>
    <p:sldId id="324" r:id="rId71"/>
    <p:sldId id="325" r:id="rId72"/>
    <p:sldId id="328" r:id="rId73"/>
    <p:sldId id="329" r:id="rId74"/>
    <p:sldId id="330" r:id="rId75"/>
    <p:sldId id="334" r:id="rId76"/>
    <p:sldId id="335" r:id="rId77"/>
    <p:sldId id="336" r:id="rId78"/>
    <p:sldId id="337" r:id="rId79"/>
    <p:sldId id="342" r:id="rId80"/>
    <p:sldId id="343" r:id="rId81"/>
    <p:sldId id="344" r:id="rId82"/>
    <p:sldId id="371" r:id="rId83"/>
    <p:sldId id="372" r:id="rId84"/>
    <p:sldId id="373" r:id="rId85"/>
    <p:sldId id="377" r:id="rId86"/>
    <p:sldId id="379" r:id="rId87"/>
    <p:sldId id="386" r:id="rId88"/>
    <p:sldId id="387" r:id="rId89"/>
    <p:sldId id="388" r:id="rId90"/>
    <p:sldId id="391" r:id="rId91"/>
    <p:sldId id="392" r:id="rId92"/>
    <p:sldId id="393" r:id="rId93"/>
    <p:sldId id="394" r:id="rId94"/>
    <p:sldId id="395" r:id="rId95"/>
    <p:sldId id="396" r:id="rId96"/>
    <p:sldId id="407" r:id="rId97"/>
    <p:sldId id="411" r:id="rId98"/>
    <p:sldId id="410" r:id="rId99"/>
    <p:sldId id="412" r:id="rId100"/>
    <p:sldId id="413" r:id="rId101"/>
    <p:sldId id="414" r:id="rId102"/>
    <p:sldId id="415" r:id="rId103"/>
    <p:sldId id="416" r:id="rId104"/>
    <p:sldId id="417" r:id="rId105"/>
    <p:sldId id="419" r:id="rId106"/>
    <p:sldId id="421" r:id="rId107"/>
    <p:sldId id="420" r:id="rId108"/>
    <p:sldId id="326" r:id="rId109"/>
    <p:sldId id="327" r:id="rId110"/>
    <p:sldId id="331" r:id="rId111"/>
    <p:sldId id="332" r:id="rId112"/>
    <p:sldId id="359" r:id="rId113"/>
    <p:sldId id="360" r:id="rId114"/>
    <p:sldId id="361" r:id="rId115"/>
    <p:sldId id="362" r:id="rId116"/>
    <p:sldId id="397" r:id="rId117"/>
    <p:sldId id="398" r:id="rId118"/>
    <p:sldId id="374" r:id="rId119"/>
    <p:sldId id="375" r:id="rId120"/>
    <p:sldId id="338" r:id="rId121"/>
    <p:sldId id="376" r:id="rId122"/>
    <p:sldId id="339" r:id="rId123"/>
    <p:sldId id="380" r:id="rId124"/>
    <p:sldId id="381" r:id="rId125"/>
    <p:sldId id="389" r:id="rId126"/>
    <p:sldId id="390" r:id="rId127"/>
    <p:sldId id="385" r:id="rId128"/>
    <p:sldId id="365" r:id="rId129"/>
    <p:sldId id="366" r:id="rId130"/>
    <p:sldId id="423" r:id="rId131"/>
    <p:sldId id="384" r:id="rId132"/>
    <p:sldId id="283" r:id="rId133"/>
    <p:sldId id="286" r:id="rId134"/>
    <p:sldId id="288" r:id="rId135"/>
    <p:sldId id="289" r:id="rId136"/>
    <p:sldId id="290" r:id="rId137"/>
    <p:sldId id="424" r:id="rId138"/>
    <p:sldId id="302" r:id="rId139"/>
    <p:sldId id="303" r:id="rId140"/>
    <p:sldId id="281" r:id="rId141"/>
  </p:sldIdLst>
  <p:sldSz cx="2328863" cy="5572125"/>
  <p:notesSz cx="6858000" cy="9144000"/>
  <p:embeddedFontLst>
    <p:embeddedFont>
      <p:font typeface="Cambria Math" panose="02040503050406030204" pitchFamily="18" charset="0"/>
      <p:regular r:id="rId143"/>
    </p:embeddedFont>
    <p:embeddedFont>
      <p:font typeface="Century Gothic" panose="020B0502020202020204" pitchFamily="34" charset="0"/>
      <p:regular r:id="rId144"/>
      <p:bold r:id="rId145"/>
      <p:italic r:id="rId146"/>
      <p:boldItalic r:id="rId147"/>
    </p:embeddedFont>
    <p:embeddedFont>
      <p:font typeface="Helvetica Neue" panose="02000503000000020004" pitchFamily="2" charset="0"/>
      <p:regular r:id="rId148"/>
      <p:bold r:id="rId149"/>
      <p:italic r:id="rId150"/>
      <p:boldItalic r:id="rId151"/>
    </p:embeddedFont>
    <p:embeddedFont>
      <p:font typeface="Lato" panose="020F0502020204030203" pitchFamily="34" charset="0"/>
      <p:regular r:id="rId152"/>
      <p:bold r:id="rId153"/>
      <p:italic r:id="rId154"/>
      <p:boldItalic r:id="rId1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55" userDrawn="1">
          <p15:clr>
            <a:srgbClr val="A4A3A4"/>
          </p15:clr>
        </p15:guide>
        <p15:guide id="2" pos="733"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74" roundtripDataSignature="AMtx7mhbwbpmZl6Umln1q/ckcX3dt/NVN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CFC"/>
    <a:srgbClr val="AA47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21BE36-7E6F-4EC9-8D66-1CF97A6895EC}">
  <a:tblStyle styleId="{A521BE36-7E6F-4EC9-8D66-1CF97A6895E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a:tcStyle>
        <a:tcBdr/>
        <a:fill>
          <a:solidFill>
            <a:srgbClr val="CDD4EA"/>
          </a:solidFill>
        </a:fill>
      </a:tcStyle>
    </a:band1H>
    <a:band2H>
      <a:tcTxStyle/>
      <a:tcStyle>
        <a:tcBdr/>
      </a:tcStyle>
    </a:band2H>
    <a:band1V>
      <a:tcTxStyle/>
      <a:tcStyle>
        <a:tcBdr/>
        <a:fill>
          <a:solidFill>
            <a:srgbClr val="CDD4EA"/>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3C2FFA5D-87B4-456A-9821-1D502468CF0F}" styleName="테마 스타일 1 - 강조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테마 스타일 1 - 강조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테마 스타일 1 - 강조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테마 스타일 1 - 강조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밝은 스타일 2 - 강조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891"/>
    <p:restoredTop sz="94607"/>
  </p:normalViewPr>
  <p:slideViewPr>
    <p:cSldViewPr snapToGrid="0" showGuides="1">
      <p:cViewPr>
        <p:scale>
          <a:sx n="229" d="100"/>
          <a:sy n="229" d="100"/>
        </p:scale>
        <p:origin x="1160" y="184"/>
      </p:cViewPr>
      <p:guideLst>
        <p:guide orient="horz" pos="1755"/>
        <p:guide pos="733"/>
      </p:guideLst>
    </p:cSldViewPr>
  </p:slideViewPr>
  <p:notesTextViewPr>
    <p:cViewPr>
      <p:scale>
        <a:sx n="1" d="1"/>
        <a:sy n="1" d="1"/>
      </p:scale>
      <p:origin x="0" y="0"/>
    </p:cViewPr>
  </p:notesTextViewPr>
  <p:sorterViewPr>
    <p:cViewPr>
      <p:scale>
        <a:sx n="60" d="100"/>
        <a:sy n="6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7.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8.fntdata"/><Relationship Id="rId155" Type="http://schemas.openxmlformats.org/officeDocument/2006/relationships/font" Target="fonts/font13.fntdata"/><Relationship Id="rId176"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font" Target="fonts/font9.fntdata"/><Relationship Id="rId177"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78"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font" Target="fonts/font11.fntdata"/><Relationship Id="rId174" Type="http://customschemas.google.com/relationships/presentationmetadata" Target="meta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fntdata"/><Relationship Id="rId148"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font" Target="fonts/font12.fntdata"/><Relationship Id="rId175"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2.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ko-KR" dirty="0"/>
              <a:t>Kneeboard</a:t>
            </a:r>
          </a:p>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264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210354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Dometic</a:t>
            </a:r>
            <a:endParaRPr dirty="0"/>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61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Domestic PA</a:t>
            </a:r>
            <a:endParaRPr dirty="0"/>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173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0922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2038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48737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670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98269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6789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9588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8" name="Google Shape;368;p2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86977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1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5919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8203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2" name="Google Shape;342;p2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240847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1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125595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11046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52628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038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53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2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203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2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685082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6" name="Google Shape;306;p2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26155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5" name="Google Shape;315;p2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1504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38648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4879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314170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051454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38394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8963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946905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2210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52197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61932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9: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55405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199117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91936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73018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9107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52725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840488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52814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344968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114391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5001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22408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397897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531296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474063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3714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406046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42284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5434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4998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585699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57898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772440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97918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255911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4615444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757136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98707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908419"/>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28296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50548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6570062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798435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753614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32047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03180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3227430"/>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780407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982605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950254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432947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112390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1300198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49417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42462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28F04BC2-995A-883D-1F9C-8B964E3AB041}"/>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9F159807-29A1-B76D-C4F7-3843C57BB3C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15EC3C7A-8250-B15C-56AD-35D23DB6B41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927115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ABBAF33E-327A-3B8B-7BBD-71BD5BC6A7F0}"/>
            </a:ext>
          </a:extLst>
        </p:cNvPr>
        <p:cNvGrpSpPr/>
        <p:nvPr/>
      </p:nvGrpSpPr>
      <p:grpSpPr>
        <a:xfrm>
          <a:off x="0" y="0"/>
          <a:ext cx="0" cy="0"/>
          <a:chOff x="0" y="0"/>
          <a:chExt cx="0" cy="0"/>
        </a:xfrm>
      </p:grpSpPr>
      <p:sp>
        <p:nvSpPr>
          <p:cNvPr id="393" name="Google Shape;393;p30:notes">
            <a:extLst>
              <a:ext uri="{FF2B5EF4-FFF2-40B4-BE49-F238E27FC236}">
                <a16:creationId xmlns:a16="http://schemas.microsoft.com/office/drawing/2014/main" id="{F5845856-0077-4466-289C-63A064B3AA1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a:extLst>
              <a:ext uri="{FF2B5EF4-FFF2-40B4-BE49-F238E27FC236}">
                <a16:creationId xmlns:a16="http://schemas.microsoft.com/office/drawing/2014/main" id="{747D5D3A-1071-4ADF-FE14-273E008A54FA}"/>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364097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D0D68442-E925-0F27-93A9-B596FA1AF514}"/>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33A5AF1F-D01F-A2BC-D51E-225431B0623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91A86C6C-3B36-A104-8EE4-55FFB2569237}"/>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1318186"/>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CBA007F9-A3EF-503B-612C-932CF5540DA7}"/>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492A2DDB-E43F-A118-7076-4FFB3401D1A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6A75F646-7847-9AF5-2252-35AE8899C0FC}"/>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430315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17CF2D6D-B49F-DD01-1168-1C2FF64EE164}"/>
            </a:ext>
          </a:extLst>
        </p:cNvPr>
        <p:cNvGrpSpPr/>
        <p:nvPr/>
      </p:nvGrpSpPr>
      <p:grpSpPr>
        <a:xfrm>
          <a:off x="0" y="0"/>
          <a:ext cx="0" cy="0"/>
          <a:chOff x="0" y="0"/>
          <a:chExt cx="0" cy="0"/>
        </a:xfrm>
      </p:grpSpPr>
      <p:sp>
        <p:nvSpPr>
          <p:cNvPr id="393" name="Google Shape;393;p30:notes">
            <a:extLst>
              <a:ext uri="{FF2B5EF4-FFF2-40B4-BE49-F238E27FC236}">
                <a16:creationId xmlns:a16="http://schemas.microsoft.com/office/drawing/2014/main" id="{FEAEC217-200D-8DAB-1AEC-38EF35CB208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a:extLst>
              <a:ext uri="{FF2B5EF4-FFF2-40B4-BE49-F238E27FC236}">
                <a16:creationId xmlns:a16="http://schemas.microsoft.com/office/drawing/2014/main" id="{16A325AA-530A-6502-93D9-02A5672BC0B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63567780"/>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6EDB6F10-8EA4-E8E3-5121-2259ABE2AA3A}"/>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18419798-DFA3-502A-7854-681732BF80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9E650C63-B66F-5140-BDD9-48A098E39E6C}"/>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360596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C8B52D91-7381-F071-5762-EC9E8E029150}"/>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6BA88C35-4299-26A4-9FB4-F5EC93F1D8D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C35EE470-E9F0-B858-708E-D1F4B276F473}"/>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3900140"/>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1D2D883D-114D-4AC7-AC11-BBA06E25D582}"/>
            </a:ext>
          </a:extLst>
        </p:cNvPr>
        <p:cNvGrpSpPr/>
        <p:nvPr/>
      </p:nvGrpSpPr>
      <p:grpSpPr>
        <a:xfrm>
          <a:off x="0" y="0"/>
          <a:ext cx="0" cy="0"/>
          <a:chOff x="0" y="0"/>
          <a:chExt cx="0" cy="0"/>
        </a:xfrm>
      </p:grpSpPr>
      <p:sp>
        <p:nvSpPr>
          <p:cNvPr id="393" name="Google Shape;393;p30:notes">
            <a:extLst>
              <a:ext uri="{FF2B5EF4-FFF2-40B4-BE49-F238E27FC236}">
                <a16:creationId xmlns:a16="http://schemas.microsoft.com/office/drawing/2014/main" id="{C7AEA3F3-61D3-AD3E-3686-76D6832CDC4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a:extLst>
              <a:ext uri="{FF2B5EF4-FFF2-40B4-BE49-F238E27FC236}">
                <a16:creationId xmlns:a16="http://schemas.microsoft.com/office/drawing/2014/main" id="{D08848B9-99DF-48DB-3F53-624D782A8CF8}"/>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105968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BF77A258-E153-13BA-241A-10CFF6B7B6F8}"/>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6AE2D417-9A59-CC2C-0E93-328401EEC15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8E88688E-F8CF-67CB-F382-F094A7D1665B}"/>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868306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4236683A-D5AD-6AC4-4975-AAD29AF32086}"/>
            </a:ext>
          </a:extLst>
        </p:cNvPr>
        <p:cNvGrpSpPr/>
        <p:nvPr/>
      </p:nvGrpSpPr>
      <p:grpSpPr>
        <a:xfrm>
          <a:off x="0" y="0"/>
          <a:ext cx="0" cy="0"/>
          <a:chOff x="0" y="0"/>
          <a:chExt cx="0" cy="0"/>
        </a:xfrm>
      </p:grpSpPr>
      <p:sp>
        <p:nvSpPr>
          <p:cNvPr id="287" name="Google Shape;287;p18:notes">
            <a:extLst>
              <a:ext uri="{FF2B5EF4-FFF2-40B4-BE49-F238E27FC236}">
                <a16:creationId xmlns:a16="http://schemas.microsoft.com/office/drawing/2014/main" id="{187040F6-6DC7-E938-FDEA-8379143951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a:extLst>
              <a:ext uri="{FF2B5EF4-FFF2-40B4-BE49-F238E27FC236}">
                <a16:creationId xmlns:a16="http://schemas.microsoft.com/office/drawing/2014/main" id="{4DD61375-6C01-F34E-2837-482BFBA2C4F0}"/>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3550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a:extLst>
            <a:ext uri="{FF2B5EF4-FFF2-40B4-BE49-F238E27FC236}">
              <a16:creationId xmlns:a16="http://schemas.microsoft.com/office/drawing/2014/main" id="{4FD1C760-C7DB-8C8D-FF37-EA1746F9555F}"/>
            </a:ext>
          </a:extLst>
        </p:cNvPr>
        <p:cNvGrpSpPr/>
        <p:nvPr/>
      </p:nvGrpSpPr>
      <p:grpSpPr>
        <a:xfrm>
          <a:off x="0" y="0"/>
          <a:ext cx="0" cy="0"/>
          <a:chOff x="0" y="0"/>
          <a:chExt cx="0" cy="0"/>
        </a:xfrm>
      </p:grpSpPr>
      <p:sp>
        <p:nvSpPr>
          <p:cNvPr id="393" name="Google Shape;393;p30:notes">
            <a:extLst>
              <a:ext uri="{FF2B5EF4-FFF2-40B4-BE49-F238E27FC236}">
                <a16:creationId xmlns:a16="http://schemas.microsoft.com/office/drawing/2014/main" id="{CBEB4F4E-E41F-8BC6-C592-4F036D2DDBC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30:notes">
            <a:extLst>
              <a:ext uri="{FF2B5EF4-FFF2-40B4-BE49-F238E27FC236}">
                <a16:creationId xmlns:a16="http://schemas.microsoft.com/office/drawing/2014/main" id="{65FBAB2D-0449-4513-696D-4D3BF311D0EF}"/>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557558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a:extLst>
            <a:ext uri="{FF2B5EF4-FFF2-40B4-BE49-F238E27FC236}">
              <a16:creationId xmlns:a16="http://schemas.microsoft.com/office/drawing/2014/main" id="{5D628CC1-30A6-4CD0-F61B-7DCBF76DD07C}"/>
            </a:ext>
          </a:extLst>
        </p:cNvPr>
        <p:cNvGrpSpPr/>
        <p:nvPr/>
      </p:nvGrpSpPr>
      <p:grpSpPr>
        <a:xfrm>
          <a:off x="0" y="0"/>
          <a:ext cx="0" cy="0"/>
          <a:chOff x="0" y="0"/>
          <a:chExt cx="0" cy="0"/>
        </a:xfrm>
      </p:grpSpPr>
      <p:sp>
        <p:nvSpPr>
          <p:cNvPr id="113" name="Google Shape;113;p3:notes">
            <a:extLst>
              <a:ext uri="{FF2B5EF4-FFF2-40B4-BE49-F238E27FC236}">
                <a16:creationId xmlns:a16="http://schemas.microsoft.com/office/drawing/2014/main" id="{BC59C445-D267-9F9B-1551-5645A75276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a:extLst>
              <a:ext uri="{FF2B5EF4-FFF2-40B4-BE49-F238E27FC236}">
                <a16:creationId xmlns:a16="http://schemas.microsoft.com/office/drawing/2014/main" id="{DFA8E44C-EBB9-D35D-6112-18B445F93231}"/>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229698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23544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795562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915895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396476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94335809"/>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5349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65088383"/>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543181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096645"/>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820482"/>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9254069"/>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1253552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940014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1040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7: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6030226"/>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449556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4391033"/>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1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4413914"/>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3685713"/>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6377673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9633618"/>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1630487"/>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1195189"/>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p28: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1: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2" name="Google Shape;412;p33: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8" name="Google Shape;428;p35: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a:extLst>
            <a:ext uri="{FF2B5EF4-FFF2-40B4-BE49-F238E27FC236}">
              <a16:creationId xmlns:a16="http://schemas.microsoft.com/office/drawing/2014/main" id="{B0633215-9475-5E5A-E5F6-5C8B42322BCD}"/>
            </a:ext>
          </a:extLst>
        </p:cNvPr>
        <p:cNvGrpSpPr/>
        <p:nvPr/>
      </p:nvGrpSpPr>
      <p:grpSpPr>
        <a:xfrm>
          <a:off x="0" y="0"/>
          <a:ext cx="0" cy="0"/>
          <a:chOff x="0" y="0"/>
          <a:chExt cx="0" cy="0"/>
        </a:xfrm>
      </p:grpSpPr>
      <p:sp>
        <p:nvSpPr>
          <p:cNvPr id="417" name="Google Shape;417;p34:notes">
            <a:extLst>
              <a:ext uri="{FF2B5EF4-FFF2-40B4-BE49-F238E27FC236}">
                <a16:creationId xmlns:a16="http://schemas.microsoft.com/office/drawing/2014/main" id="{065A1C4F-930B-E622-60E5-598B0DE9A64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34:notes">
            <a:extLst>
              <a:ext uri="{FF2B5EF4-FFF2-40B4-BE49-F238E27FC236}">
                <a16:creationId xmlns:a16="http://schemas.microsoft.com/office/drawing/2014/main" id="{5E918B6A-0126-21A5-43ED-AC9E74291BD9}"/>
              </a:ext>
            </a:extLst>
          </p:cNvPr>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988209"/>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812614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4: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429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p26:notes"/>
          <p:cNvSpPr>
            <a:spLocks noGrp="1" noRot="1" noChangeAspect="1"/>
          </p:cNvSpPr>
          <p:nvPr>
            <p:ph type="sldImg" idx="2"/>
          </p:nvPr>
        </p:nvSpPr>
        <p:spPr>
          <a:xfrm>
            <a:off x="2784475" y="1143000"/>
            <a:ext cx="12890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1" name="Google Shape;361;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140</a:t>
            </a:fld>
            <a:endParaRPr/>
          </a:p>
        </p:txBody>
      </p:sp>
    </p:spTree>
    <p:extLst>
      <p:ext uri="{BB962C8B-B14F-4D97-AF65-F5344CB8AC3E}">
        <p14:creationId xmlns:p14="http://schemas.microsoft.com/office/powerpoint/2010/main" val="2402202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208669" y="484266"/>
            <a:ext cx="1912832" cy="2611360"/>
          </a:xfrm>
        </p:spPr>
        <p:txBody>
          <a:bodyPr anchor="b">
            <a:normAutofit/>
          </a:bodyPr>
          <a:lstStyle>
            <a:lvl1pPr algn="ctr">
              <a:defRPr sz="1019">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ko-KR" altLang="en-US"/>
              <a:t>마스터 제목 스타일 편집</a:t>
            </a:r>
            <a:endParaRPr lang="en-US" dirty="0"/>
          </a:p>
        </p:txBody>
      </p:sp>
      <p:sp>
        <p:nvSpPr>
          <p:cNvPr id="3" name="Subtitle 2"/>
          <p:cNvSpPr>
            <a:spLocks noGrp="1"/>
          </p:cNvSpPr>
          <p:nvPr>
            <p:ph type="subTitle" idx="1"/>
          </p:nvPr>
        </p:nvSpPr>
        <p:spPr>
          <a:xfrm>
            <a:off x="208669" y="3157538"/>
            <a:ext cx="1912832" cy="1803025"/>
          </a:xfrm>
        </p:spPr>
        <p:txBody>
          <a:bodyPr anchor="t">
            <a:normAutofit/>
          </a:bodyPr>
          <a:lstStyle>
            <a:lvl1pPr marL="0" indent="0" algn="ctr">
              <a:buNone/>
              <a:defRPr sz="458">
                <a:gradFill flip="none" rotWithShape="1">
                  <a:gsLst>
                    <a:gs pos="0">
                      <a:schemeClr val="tx1"/>
                    </a:gs>
                    <a:gs pos="100000">
                      <a:schemeClr val="tx1">
                        <a:lumMod val="75000"/>
                      </a:schemeClr>
                    </a:gs>
                  </a:gsLst>
                  <a:lin ang="0" scaled="1"/>
                  <a:tileRect/>
                </a:gradFill>
              </a:defRPr>
            </a:lvl1pPr>
            <a:lvl2pPr marL="116449" indent="0" algn="ctr">
              <a:buNone/>
              <a:defRPr>
                <a:solidFill>
                  <a:schemeClr val="tx1">
                    <a:tint val="75000"/>
                  </a:schemeClr>
                </a:solidFill>
              </a:defRPr>
            </a:lvl2pPr>
            <a:lvl3pPr marL="232898" indent="0" algn="ctr">
              <a:buNone/>
              <a:defRPr>
                <a:solidFill>
                  <a:schemeClr val="tx1">
                    <a:tint val="75000"/>
                  </a:schemeClr>
                </a:solidFill>
              </a:defRPr>
            </a:lvl3pPr>
            <a:lvl4pPr marL="349347" indent="0" algn="ctr">
              <a:buNone/>
              <a:defRPr>
                <a:solidFill>
                  <a:schemeClr val="tx1">
                    <a:tint val="75000"/>
                  </a:schemeClr>
                </a:solidFill>
              </a:defRPr>
            </a:lvl4pPr>
            <a:lvl5pPr marL="465795" indent="0" algn="ctr">
              <a:buNone/>
              <a:defRPr>
                <a:solidFill>
                  <a:schemeClr val="tx1">
                    <a:tint val="75000"/>
                  </a:schemeClr>
                </a:solidFill>
              </a:defRPr>
            </a:lvl5pPr>
            <a:lvl6pPr marL="582244" indent="0" algn="ctr">
              <a:buNone/>
              <a:defRPr>
                <a:solidFill>
                  <a:schemeClr val="tx1">
                    <a:tint val="75000"/>
                  </a:schemeClr>
                </a:solidFill>
              </a:defRPr>
            </a:lvl6pPr>
            <a:lvl7pPr marL="698693" indent="0" algn="ctr">
              <a:buNone/>
              <a:defRPr>
                <a:solidFill>
                  <a:schemeClr val="tx1">
                    <a:tint val="75000"/>
                  </a:schemeClr>
                </a:solidFill>
              </a:defRPr>
            </a:lvl7pPr>
            <a:lvl8pPr marL="815142" indent="0" algn="ctr">
              <a:buNone/>
              <a:defRPr>
                <a:solidFill>
                  <a:schemeClr val="tx1">
                    <a:tint val="75000"/>
                  </a:schemeClr>
                </a:solidFill>
              </a:defRPr>
            </a:lvl8pPr>
            <a:lvl9pPr marL="931591" indent="0" algn="ctr">
              <a:buNone/>
              <a:defRPr>
                <a:solidFill>
                  <a:schemeClr val="tx1">
                    <a:tint val="75000"/>
                  </a:schemeClr>
                </a:solidFill>
              </a:defRPr>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201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nchor="ct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30921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208669" y="2657443"/>
            <a:ext cx="1912832" cy="1481435"/>
          </a:xfrm>
        </p:spPr>
        <p:txBody>
          <a:bodyPr anchor="b">
            <a:normAutofit/>
          </a:bodyPr>
          <a:lstStyle>
            <a:lvl1pPr algn="r">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669" y="4146846"/>
            <a:ext cx="1912832" cy="811078"/>
          </a:xfrm>
        </p:spPr>
        <p:txBody>
          <a:bodyPr anchor="t">
            <a:normAutofit/>
          </a:bodyPr>
          <a:lstStyle>
            <a:lvl1pPr marL="0" indent="0" algn="r">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879269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208423" y="1674480"/>
            <a:ext cx="938542"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1181898" y="1674479"/>
            <a:ext cx="939603" cy="3275456"/>
          </a:xfrm>
        </p:spPr>
        <p:txBody>
          <a:bodyPr>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56696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ko-KR" altLang="en-US"/>
              <a:t>마스터 제목 스타일 편집</a:t>
            </a:r>
            <a:endParaRPr lang="en-US" dirty="0"/>
          </a:p>
        </p:txBody>
      </p:sp>
      <p:sp>
        <p:nvSpPr>
          <p:cNvPr id="3" name="Text Placeholder 2"/>
          <p:cNvSpPr>
            <a:spLocks noGrp="1"/>
          </p:cNvSpPr>
          <p:nvPr>
            <p:ph type="body" idx="1"/>
          </p:nvPr>
        </p:nvSpPr>
        <p:spPr>
          <a:xfrm>
            <a:off x="281763" y="1674480"/>
            <a:ext cx="865202" cy="59604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208423" y="2263647"/>
            <a:ext cx="938542"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1250554" y="1674480"/>
            <a:ext cx="870947" cy="589167"/>
          </a:xfrm>
        </p:spPr>
        <p:txBody>
          <a:bodyPr anchor="b">
            <a:noAutofit/>
          </a:bodyPr>
          <a:lstStyle>
            <a:lvl1pPr marL="0" indent="0">
              <a:buNone/>
              <a:defRPr sz="560" b="0"/>
            </a:lvl1pPr>
            <a:lvl2pPr marL="116449" indent="0">
              <a:buNone/>
              <a:defRPr sz="509" b="1"/>
            </a:lvl2pPr>
            <a:lvl3pPr marL="232898" indent="0">
              <a:buNone/>
              <a:defRPr sz="458" b="1"/>
            </a:lvl3pPr>
            <a:lvl4pPr marL="349347" indent="0">
              <a:buNone/>
              <a:defRPr sz="408" b="1"/>
            </a:lvl4pPr>
            <a:lvl5pPr marL="465795" indent="0">
              <a:buNone/>
              <a:defRPr sz="408" b="1"/>
            </a:lvl5pPr>
            <a:lvl6pPr marL="582244" indent="0">
              <a:buNone/>
              <a:defRPr sz="408" b="1"/>
            </a:lvl6pPr>
            <a:lvl7pPr marL="698693" indent="0">
              <a:buNone/>
              <a:defRPr sz="408" b="1"/>
            </a:lvl7pPr>
            <a:lvl8pPr marL="815142" indent="0">
              <a:buNone/>
              <a:defRPr sz="408" b="1"/>
            </a:lvl8pPr>
            <a:lvl9pPr marL="931591" indent="0">
              <a:buNone/>
              <a:defRPr sz="408"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1178991" y="2263647"/>
            <a:ext cx="942731" cy="2694277"/>
          </a:xfrm>
        </p:spPr>
        <p:txBody>
          <a:bodyPr anchor="t">
            <a:normAutofit/>
          </a:bodyPr>
          <a:lstStyle>
            <a:lvl1pPr>
              <a:defRPr sz="408"/>
            </a:lvl1pPr>
            <a:lvl2pPr>
              <a:defRPr sz="357"/>
            </a:lvl2pPr>
            <a:lvl3pPr>
              <a:defRPr sz="306"/>
            </a:lvl3pPr>
            <a:lvl4pPr>
              <a:defRPr sz="280"/>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endParaRPr lang="ko-Kore-KR" altLang="en-US"/>
          </a:p>
        </p:txBody>
      </p:sp>
      <p:sp>
        <p:nvSpPr>
          <p:cNvPr id="8" name="Footer Placeholder 7"/>
          <p:cNvSpPr>
            <a:spLocks noGrp="1"/>
          </p:cNvSpPr>
          <p:nvPr>
            <p:ph type="ftr" sz="quarter" idx="11"/>
          </p:nvPr>
        </p:nvSpPr>
        <p:spPr/>
        <p:txBody>
          <a:bodyPr/>
          <a:lstStyle/>
          <a:p>
            <a:endParaRPr lang="ko-Kore-KR" alt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2193917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662"/>
            </a:lvl1p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endParaRPr lang="ko-Kore-KR" altLang="en-US"/>
          </a:p>
        </p:txBody>
      </p:sp>
      <p:sp>
        <p:nvSpPr>
          <p:cNvPr id="4" name="Footer Placeholder 3"/>
          <p:cNvSpPr>
            <a:spLocks noGrp="1"/>
          </p:cNvSpPr>
          <p:nvPr>
            <p:ph type="ftr" sz="quarter" idx="11"/>
          </p:nvPr>
        </p:nvSpPr>
        <p:spPr/>
        <p:txBody>
          <a:bodyPr/>
          <a:lstStyle/>
          <a:p>
            <a:endParaRPr lang="ko-Kore-KR" alt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3132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ko-Kore-KR" altLang="en-US"/>
          </a:p>
        </p:txBody>
      </p:sp>
      <p:sp>
        <p:nvSpPr>
          <p:cNvPr id="3" name="Footer Placeholder 2"/>
          <p:cNvSpPr>
            <a:spLocks noGrp="1"/>
          </p:cNvSpPr>
          <p:nvPr>
            <p:ph type="ftr" sz="quarter" idx="11"/>
          </p:nvPr>
        </p:nvSpPr>
        <p:spPr/>
        <p:txBody>
          <a:bodyPr/>
          <a:lstStyle/>
          <a:p>
            <a:endParaRPr lang="ko-Kore-KR" alt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688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208423" y="1425879"/>
            <a:ext cx="695176" cy="1114425"/>
          </a:xfrm>
        </p:spPr>
        <p:txBody>
          <a:bodyPr anchor="b">
            <a:normAutofit/>
          </a:bodyPr>
          <a:lstStyle>
            <a:lvl1pPr algn="l">
              <a:defRPr sz="560" b="0"/>
            </a:lvl1pPr>
          </a:lstStyle>
          <a:p>
            <a:r>
              <a:rPr lang="ko-KR" altLang="en-US"/>
              <a:t>마스터 제목 스타일 편집</a:t>
            </a:r>
            <a:endParaRPr lang="en-US" dirty="0"/>
          </a:p>
        </p:txBody>
      </p:sp>
      <p:sp>
        <p:nvSpPr>
          <p:cNvPr id="3" name="Content Placeholder 2"/>
          <p:cNvSpPr>
            <a:spLocks noGrp="1"/>
          </p:cNvSpPr>
          <p:nvPr>
            <p:ph idx="1"/>
          </p:nvPr>
        </p:nvSpPr>
        <p:spPr>
          <a:xfrm>
            <a:off x="975162" y="484265"/>
            <a:ext cx="1146340" cy="4473658"/>
          </a:xfrm>
        </p:spPr>
        <p:txBody>
          <a:bodyPr anchor="ctr">
            <a:normAutofit/>
          </a:bodyPr>
          <a:lstStyle>
            <a:lvl1pPr>
              <a:defRPr sz="458"/>
            </a:lvl1pPr>
            <a:lvl2pPr>
              <a:defRPr sz="408"/>
            </a:lvl2pPr>
            <a:lvl3pPr>
              <a:defRPr sz="357"/>
            </a:lvl3pPr>
            <a:lvl4pPr>
              <a:defRPr sz="306"/>
            </a:lvl4pPr>
            <a:lvl5pPr>
              <a:defRPr sz="280"/>
            </a:lvl5pPr>
            <a:lvl6pPr>
              <a:defRPr sz="280"/>
            </a:lvl6pPr>
            <a:lvl7pPr>
              <a:defRPr sz="280"/>
            </a:lvl7pPr>
            <a:lvl8pPr>
              <a:defRPr sz="280"/>
            </a:lvl8pPr>
            <a:lvl9pPr>
              <a:defRPr sz="28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208423" y="2540304"/>
            <a:ext cx="695176"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2816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208423" y="1542344"/>
            <a:ext cx="1126688" cy="1114425"/>
          </a:xfrm>
        </p:spPr>
        <p:txBody>
          <a:bodyPr anchor="b">
            <a:normAutofit/>
          </a:bodyPr>
          <a:lstStyle>
            <a:lvl1pPr algn="l">
              <a:defRPr sz="611" b="0"/>
            </a:lvl1pPr>
          </a:lstStyle>
          <a:p>
            <a:r>
              <a:rPr lang="ko-KR" altLang="en-US"/>
              <a:t>마스터 제목 스타일 편집</a:t>
            </a:r>
            <a:endParaRPr lang="en-US" dirty="0"/>
          </a:p>
        </p:txBody>
      </p:sp>
      <p:sp>
        <p:nvSpPr>
          <p:cNvPr id="14" name="Picture Placeholder 2"/>
          <p:cNvSpPr>
            <a:spLocks noGrp="1" noChangeAspect="1"/>
          </p:cNvSpPr>
          <p:nvPr>
            <p:ph type="pic" idx="1"/>
          </p:nvPr>
        </p:nvSpPr>
        <p:spPr>
          <a:xfrm>
            <a:off x="1404714" y="-14859"/>
            <a:ext cx="636735" cy="5609273"/>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08161" y="2656769"/>
            <a:ext cx="1126688" cy="1485900"/>
          </a:xfrm>
        </p:spPr>
        <p:txBody>
          <a:bodyPr>
            <a:normAutofit/>
          </a:bodyPr>
          <a:lstStyle>
            <a:lvl1pPr marL="0" indent="0">
              <a:buNone/>
              <a:defRPr sz="408"/>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a:xfrm>
            <a:off x="1152117" y="5022342"/>
            <a:ext cx="182994" cy="296664"/>
          </a:xfrm>
        </p:spPr>
        <p:txBody>
          <a:bodyPr/>
          <a:lstStyle/>
          <a:p>
            <a:endParaRPr lang="ko-Kore-KR" altLang="en-US"/>
          </a:p>
        </p:txBody>
      </p:sp>
      <p:sp>
        <p:nvSpPr>
          <p:cNvPr id="6" name="Footer Placeholder 5"/>
          <p:cNvSpPr>
            <a:spLocks noGrp="1"/>
          </p:cNvSpPr>
          <p:nvPr>
            <p:ph type="ftr" sz="quarter" idx="11"/>
          </p:nvPr>
        </p:nvSpPr>
        <p:spPr>
          <a:xfrm>
            <a:off x="208423" y="5022342"/>
            <a:ext cx="943694" cy="296664"/>
          </a:xfrm>
        </p:spPr>
        <p:txBody>
          <a:bodyPr/>
          <a:lstStyle/>
          <a:p>
            <a:endParaRPr lang="ko-Kore-KR" altLang="en-US"/>
          </a:p>
        </p:txBody>
      </p:sp>
      <p:sp>
        <p:nvSpPr>
          <p:cNvPr id="7" name="Slide Number Placeholder 6"/>
          <p:cNvSpPr>
            <a:spLocks noGrp="1"/>
          </p:cNvSpPr>
          <p:nvPr>
            <p:ph type="sldNum" sz="quarter" idx="12"/>
          </p:nvPr>
        </p:nvSpPr>
        <p:spPr>
          <a:xfrm>
            <a:off x="2043680" y="5022342"/>
            <a:ext cx="77727" cy="267516"/>
          </a:xfr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247032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캡션 있는 파노라마 그림">
    <p:spTree>
      <p:nvGrpSpPr>
        <p:cNvPr id="1" name=""/>
        <p:cNvGrpSpPr/>
        <p:nvPr/>
      </p:nvGrpSpPr>
      <p:grpSpPr>
        <a:xfrm>
          <a:off x="0" y="0"/>
          <a:ext cx="0" cy="0"/>
          <a:chOff x="0" y="0"/>
          <a:chExt cx="0" cy="0"/>
        </a:xfrm>
      </p:grpSpPr>
      <p:sp>
        <p:nvSpPr>
          <p:cNvPr id="2" name="Title 1"/>
          <p:cNvSpPr>
            <a:spLocks noGrp="1"/>
          </p:cNvSpPr>
          <p:nvPr>
            <p:ph type="title"/>
          </p:nvPr>
        </p:nvSpPr>
        <p:spPr>
          <a:xfrm>
            <a:off x="233721" y="3556707"/>
            <a:ext cx="1888001" cy="737348"/>
          </a:xfrm>
        </p:spPr>
        <p:txBody>
          <a:bodyPr anchor="b">
            <a:normAutofit/>
          </a:bodyPr>
          <a:lstStyle>
            <a:lvl1pPr algn="l">
              <a:defRPr sz="509" b="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33721" y="809403"/>
            <a:ext cx="1859583" cy="2422165"/>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408"/>
            </a:lvl1pPr>
            <a:lvl2pPr marL="116449" indent="0">
              <a:buNone/>
              <a:defRPr sz="408"/>
            </a:lvl2pPr>
            <a:lvl3pPr marL="232898" indent="0">
              <a:buNone/>
              <a:defRPr sz="408"/>
            </a:lvl3pPr>
            <a:lvl4pPr marL="349347" indent="0">
              <a:buNone/>
              <a:defRPr sz="408"/>
            </a:lvl4pPr>
            <a:lvl5pPr marL="465795" indent="0">
              <a:buNone/>
              <a:defRPr sz="408"/>
            </a:lvl5pPr>
            <a:lvl6pPr marL="582244" indent="0">
              <a:buNone/>
              <a:defRPr sz="408"/>
            </a:lvl6pPr>
            <a:lvl7pPr marL="698693" indent="0">
              <a:buNone/>
              <a:defRPr sz="408"/>
            </a:lvl7pPr>
            <a:lvl8pPr marL="815142" indent="0">
              <a:buNone/>
              <a:defRPr sz="408"/>
            </a:lvl8pPr>
            <a:lvl9pPr marL="931591" indent="0">
              <a:buNone/>
              <a:defRPr sz="408"/>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233721" y="4294055"/>
            <a:ext cx="1888001" cy="663869"/>
          </a:xfrm>
        </p:spPr>
        <p:txBody>
          <a:bodyPr>
            <a:normAutofit/>
          </a:bodyPr>
          <a:lstStyle>
            <a:lvl1pPr marL="0" indent="0">
              <a:buNone/>
              <a:defRPr sz="357"/>
            </a:lvl1pPr>
            <a:lvl2pPr marL="116449" indent="0">
              <a:buNone/>
              <a:defRPr sz="306"/>
            </a:lvl2pPr>
            <a:lvl3pPr marL="232898" indent="0">
              <a:buNone/>
              <a:defRPr sz="255"/>
            </a:lvl3pPr>
            <a:lvl4pPr marL="349347" indent="0">
              <a:buNone/>
              <a:defRPr sz="229"/>
            </a:lvl4pPr>
            <a:lvl5pPr marL="465795" indent="0">
              <a:buNone/>
              <a:defRPr sz="229"/>
            </a:lvl5pPr>
            <a:lvl6pPr marL="582244" indent="0">
              <a:buNone/>
              <a:defRPr sz="229"/>
            </a:lvl6pPr>
            <a:lvl7pPr marL="698693" indent="0">
              <a:buNone/>
              <a:defRPr sz="229"/>
            </a:lvl7pPr>
            <a:lvl8pPr marL="815142" indent="0">
              <a:buNone/>
              <a:defRPr sz="229"/>
            </a:lvl8pPr>
            <a:lvl9pPr marL="931591" indent="0">
              <a:buNone/>
              <a:defRPr sz="229"/>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endParaRPr lang="ko-Kore-KR" altLang="en-US"/>
          </a:p>
        </p:txBody>
      </p:sp>
      <p:sp>
        <p:nvSpPr>
          <p:cNvPr id="6" name="Footer Placeholder 5"/>
          <p:cNvSpPr>
            <a:spLocks noGrp="1"/>
          </p:cNvSpPr>
          <p:nvPr>
            <p:ph type="ftr" sz="quarter" idx="11"/>
          </p:nvPr>
        </p:nvSpPr>
        <p:spPr>
          <a:xfrm>
            <a:off x="233721" y="5022342"/>
            <a:ext cx="1359338" cy="296664"/>
          </a:xfrm>
        </p:spPr>
        <p:txBody>
          <a:bodyPr/>
          <a:lstStyle/>
          <a:p>
            <a:endParaRPr lang="ko-Kore-KR" alt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6063889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제목 및 캡션">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549448"/>
          </a:xfrm>
        </p:spPr>
        <p:txBody>
          <a:bodyPr anchor="ctr">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8423" y="3529013"/>
            <a:ext cx="1913079" cy="1428911"/>
          </a:xfrm>
        </p:spPr>
        <p:txBody>
          <a:bodyPr anchor="ctr">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635327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캡션 있는 인용문">
    <p:spTree>
      <p:nvGrpSpPr>
        <p:cNvPr id="1" name=""/>
        <p:cNvGrpSpPr/>
        <p:nvPr/>
      </p:nvGrpSpPr>
      <p:grpSpPr>
        <a:xfrm>
          <a:off x="0" y="0"/>
          <a:ext cx="0" cy="0"/>
          <a:chOff x="0" y="0"/>
          <a:chExt cx="0" cy="0"/>
        </a:xfrm>
      </p:grpSpPr>
      <p:sp>
        <p:nvSpPr>
          <p:cNvPr id="14" name="TextBox 13"/>
          <p:cNvSpPr txBox="1"/>
          <p:nvPr/>
        </p:nvSpPr>
        <p:spPr>
          <a:xfrm>
            <a:off x="148692" y="69897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5" name="TextBox 14"/>
          <p:cNvSpPr txBox="1"/>
          <p:nvPr/>
        </p:nvSpPr>
        <p:spPr>
          <a:xfrm>
            <a:off x="2009185" y="242606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473314"/>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319999" y="2966117"/>
            <a:ext cx="1688866" cy="309563"/>
          </a:xfrm>
        </p:spPr>
        <p:txBody>
          <a:bodyPr anchor="ctr">
            <a:normAutofit/>
          </a:bodyPr>
          <a:lstStyle>
            <a:lvl1pPr marL="0" indent="0">
              <a:buFontTx/>
              <a:buNone/>
              <a:defRPr sz="357"/>
            </a:lvl1pPr>
            <a:lvl2pPr marL="116449" indent="0">
              <a:buFontTx/>
              <a:buNone/>
              <a:defRPr/>
            </a:lvl2pPr>
            <a:lvl3pPr marL="232898" indent="0">
              <a:buFontTx/>
              <a:buNone/>
              <a:defRPr/>
            </a:lvl3pPr>
            <a:lvl4pPr marL="349347" indent="0">
              <a:buFontTx/>
              <a:buNone/>
              <a:defRPr/>
            </a:lvl4pPr>
            <a:lvl5pPr marL="465795" indent="0">
              <a:buFontTx/>
              <a:buNone/>
              <a:defRPr/>
            </a:lvl5pPr>
          </a:lstStyle>
          <a:p>
            <a:pPr lvl="0"/>
            <a:r>
              <a:rPr lang="ko-KR" altLang="en-US"/>
              <a:t>마스터 텍스트 스타일을 편집하려면 클릭</a:t>
            </a:r>
          </a:p>
        </p:txBody>
      </p:sp>
      <p:sp>
        <p:nvSpPr>
          <p:cNvPr id="3" name="Text Placeholder 2"/>
          <p:cNvSpPr>
            <a:spLocks noGrp="1"/>
          </p:cNvSpPr>
          <p:nvPr>
            <p:ph type="body" idx="1"/>
          </p:nvPr>
        </p:nvSpPr>
        <p:spPr>
          <a:xfrm>
            <a:off x="208423" y="3770980"/>
            <a:ext cx="1913079" cy="1176338"/>
          </a:xfrm>
        </p:spPr>
        <p:txBody>
          <a:bodyPr anchor="ctr">
            <a:normAutofit/>
          </a:bodyPr>
          <a:lstStyle>
            <a:lvl1pPr marL="0" indent="0" algn="l">
              <a:buNone/>
              <a:defRPr sz="458">
                <a:gradFill flip="none" rotWithShape="1">
                  <a:gsLst>
                    <a:gs pos="0">
                      <a:schemeClr val="tx1"/>
                    </a:gs>
                    <a:gs pos="100000">
                      <a:schemeClr val="tx1">
                        <a:lumMod val="75000"/>
                      </a:schemeClr>
                    </a:gs>
                  </a:gsLst>
                  <a:lin ang="0" scaled="1"/>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6568024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명함">
    <p:spTree>
      <p:nvGrpSpPr>
        <p:cNvPr id="1" name=""/>
        <p:cNvGrpSpPr/>
        <p:nvPr/>
      </p:nvGrpSpPr>
      <p:grpSpPr>
        <a:xfrm>
          <a:off x="0" y="0"/>
          <a:ext cx="0" cy="0"/>
          <a:chOff x="0" y="0"/>
          <a:chExt cx="0" cy="0"/>
        </a:xfrm>
      </p:grpSpPr>
      <p:sp>
        <p:nvSpPr>
          <p:cNvPr id="2" name="Title 1"/>
          <p:cNvSpPr>
            <a:spLocks noGrp="1"/>
          </p:cNvSpPr>
          <p:nvPr>
            <p:ph type="title"/>
          </p:nvPr>
        </p:nvSpPr>
        <p:spPr>
          <a:xfrm>
            <a:off x="208423" y="2927897"/>
            <a:ext cx="1913299" cy="1193400"/>
          </a:xfrm>
        </p:spPr>
        <p:txBody>
          <a:bodyPr anchor="b">
            <a:normAutofit/>
          </a:bodyPr>
          <a:lstStyle>
            <a:lvl1pPr algn="l">
              <a:defRPr sz="713" b="0" cap="all"/>
            </a:lvl1pPr>
          </a:lstStyle>
          <a:p>
            <a:r>
              <a:rPr lang="ko-KR" altLang="en-US"/>
              <a:t>마스터 제목 스타일 편집</a:t>
            </a:r>
            <a:endParaRPr lang="en-US" dirty="0"/>
          </a:p>
        </p:txBody>
      </p:sp>
      <p:sp>
        <p:nvSpPr>
          <p:cNvPr id="3" name="Text Placeholder 2"/>
          <p:cNvSpPr>
            <a:spLocks noGrp="1"/>
          </p:cNvSpPr>
          <p:nvPr>
            <p:ph type="body" idx="1"/>
          </p:nvPr>
        </p:nvSpPr>
        <p:spPr>
          <a:xfrm>
            <a:off x="209103" y="4121298"/>
            <a:ext cx="1913299" cy="836626"/>
          </a:xfrm>
        </p:spPr>
        <p:txBody>
          <a:bodyPr anchor="t">
            <a:normAutofit/>
          </a:bodyPr>
          <a:lstStyle>
            <a:lvl1pPr marL="0" indent="0" algn="l">
              <a:buNone/>
              <a:defRPr sz="458">
                <a:gradFill flip="none" rotWithShape="1">
                  <a:gsLst>
                    <a:gs pos="0">
                      <a:schemeClr val="tx1"/>
                    </a:gs>
                    <a:gs pos="100000">
                      <a:schemeClr val="tx1">
                        <a:lumMod val="75000"/>
                      </a:schemeClr>
                    </a:gs>
                  </a:gsLst>
                  <a:lin ang="5400000" scaled="0"/>
                  <a:tileRect/>
                </a:gradFill>
              </a:defRPr>
            </a:lvl1pPr>
            <a:lvl2pPr marL="116449" indent="0">
              <a:buNone/>
              <a:defRPr sz="45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6821430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인용문 있는 명함">
    <p:spTree>
      <p:nvGrpSpPr>
        <p:cNvPr id="1" name=""/>
        <p:cNvGrpSpPr/>
        <p:nvPr/>
      </p:nvGrpSpPr>
      <p:grpSpPr>
        <a:xfrm>
          <a:off x="0" y="0"/>
          <a:ext cx="0" cy="0"/>
          <a:chOff x="0" y="0"/>
          <a:chExt cx="0" cy="0"/>
        </a:xfrm>
      </p:grpSpPr>
      <p:sp>
        <p:nvSpPr>
          <p:cNvPr id="13" name="TextBox 12"/>
          <p:cNvSpPr txBox="1"/>
          <p:nvPr/>
        </p:nvSpPr>
        <p:spPr>
          <a:xfrm>
            <a:off x="148692" y="612504"/>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2038" dirty="0">
                <a:solidFill>
                  <a:schemeClr val="accent1"/>
                </a:solidFill>
              </a:rPr>
              <a:t>“</a:t>
            </a:r>
          </a:p>
        </p:txBody>
      </p:sp>
      <p:sp>
        <p:nvSpPr>
          <p:cNvPr id="16" name="TextBox 15"/>
          <p:cNvSpPr txBox="1"/>
          <p:nvPr/>
        </p:nvSpPr>
        <p:spPr>
          <a:xfrm>
            <a:off x="2008863" y="2339592"/>
            <a:ext cx="116473" cy="475131"/>
          </a:xfrm>
          <a:prstGeom prst="rect">
            <a:avLst/>
          </a:prstGeom>
        </p:spPr>
        <p:txBody>
          <a:bodyPr vert="horz" lIns="23289" tIns="11644" rIns="23289" bIns="1164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2038" dirty="0">
                <a:solidFill>
                  <a:schemeClr val="accent1"/>
                </a:solidFill>
              </a:rPr>
              <a:t>”</a:t>
            </a:r>
          </a:p>
        </p:txBody>
      </p:sp>
      <p:sp>
        <p:nvSpPr>
          <p:cNvPr id="2" name="Title 1"/>
          <p:cNvSpPr>
            <a:spLocks noGrp="1"/>
          </p:cNvSpPr>
          <p:nvPr>
            <p:ph type="title"/>
          </p:nvPr>
        </p:nvSpPr>
        <p:spPr>
          <a:xfrm>
            <a:off x="276322" y="484265"/>
            <a:ext cx="1776220" cy="2311050"/>
          </a:xfrm>
        </p:spPr>
        <p:txBody>
          <a:bodyPr anchor="ctr">
            <a:normAutofit/>
          </a:bodyPr>
          <a:lstStyle>
            <a:lvl1pPr algn="l">
              <a:defRPr sz="713" b="0" cap="all">
                <a:gradFill flip="none" rotWithShape="1">
                  <a:gsLst>
                    <a:gs pos="0">
                      <a:schemeClr val="tx1"/>
                    </a:gs>
                    <a:gs pos="100000">
                      <a:schemeClr val="tx1">
                        <a:lumMod val="75000"/>
                      </a:schemeClr>
                    </a:gs>
                  </a:gsLst>
                  <a:lin ang="5400000" scaled="0"/>
                  <a:tileRect/>
                </a:gradFill>
              </a:defRPr>
            </a:lvl1pPr>
          </a:lstStyle>
          <a:p>
            <a:r>
              <a:rPr lang="ko-KR" altLang="en-US"/>
              <a:t>마스터 제목 스타일 편집</a:t>
            </a:r>
            <a:endParaRPr lang="en-US" dirty="0"/>
          </a:p>
        </p:txBody>
      </p:sp>
      <p:sp>
        <p:nvSpPr>
          <p:cNvPr id="10" name="Text Placeholder 9"/>
          <p:cNvSpPr>
            <a:spLocks noGrp="1"/>
          </p:cNvSpPr>
          <p:nvPr>
            <p:ph type="body" sz="quarter" idx="13"/>
          </p:nvPr>
        </p:nvSpPr>
        <p:spPr>
          <a:xfrm>
            <a:off x="208423" y="3157538"/>
            <a:ext cx="1913299" cy="856100"/>
          </a:xfrm>
        </p:spPr>
        <p:txBody>
          <a:bodyPr vert="horz" lIns="91440" tIns="45720" rIns="91440" bIns="45720" rtlCol="0" anchor="b">
            <a:normAutofit/>
          </a:bodyPr>
          <a:lstStyle>
            <a:lvl1pPr>
              <a:buNone/>
              <a:defRPr lang="en-US" sz="509"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4013638"/>
            <a:ext cx="1913299" cy="944286"/>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864333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참 또는 거짓">
    <p:spTree>
      <p:nvGrpSpPr>
        <p:cNvPr id="1" name=""/>
        <p:cNvGrpSpPr/>
        <p:nvPr/>
      </p:nvGrpSpPr>
      <p:grpSpPr>
        <a:xfrm>
          <a:off x="0" y="0"/>
          <a:ext cx="0" cy="0"/>
          <a:chOff x="0" y="0"/>
          <a:chExt cx="0" cy="0"/>
        </a:xfrm>
      </p:grpSpPr>
      <p:sp>
        <p:nvSpPr>
          <p:cNvPr id="2" name="Title 1"/>
          <p:cNvSpPr>
            <a:spLocks noGrp="1"/>
          </p:cNvSpPr>
          <p:nvPr>
            <p:ph type="title"/>
          </p:nvPr>
        </p:nvSpPr>
        <p:spPr>
          <a:xfrm>
            <a:off x="208423" y="484265"/>
            <a:ext cx="1913079" cy="2239886"/>
          </a:xfrm>
        </p:spPr>
        <p:txBody>
          <a:bodyPr vert="horz" lIns="91440" tIns="45720" rIns="91440" bIns="45720" rtlCol="0" anchor="ctr">
            <a:normAutofit/>
          </a:bodyPr>
          <a:lstStyle>
            <a:lvl1pPr>
              <a:defRPr lang="en-US" sz="713" b="0" dirty="0"/>
            </a:lvl1pPr>
          </a:lstStyle>
          <a:p>
            <a:pPr marL="0" lvl="0"/>
            <a:r>
              <a:rPr lang="ko-KR" altLang="en-US"/>
              <a:t>마스터 제목 스타일 편집</a:t>
            </a:r>
            <a:endParaRPr lang="en-US" dirty="0"/>
          </a:p>
        </p:txBody>
      </p:sp>
      <p:sp>
        <p:nvSpPr>
          <p:cNvPr id="10" name="Text Placeholder 9"/>
          <p:cNvSpPr>
            <a:spLocks noGrp="1"/>
          </p:cNvSpPr>
          <p:nvPr>
            <p:ph type="body" sz="quarter" idx="13"/>
          </p:nvPr>
        </p:nvSpPr>
        <p:spPr>
          <a:xfrm>
            <a:off x="208423" y="2992390"/>
            <a:ext cx="1913079" cy="852542"/>
          </a:xfrm>
        </p:spPr>
        <p:txBody>
          <a:bodyPr vert="horz" lIns="91440" tIns="45720" rIns="91440" bIns="45720" rtlCol="0" anchor="b">
            <a:normAutofit/>
          </a:bodyPr>
          <a:lstStyle>
            <a:lvl1pPr>
              <a:buNone/>
              <a:defRPr lang="en-US" sz="611"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ko-KR" altLang="en-US"/>
              <a:t>마스터 텍스트 스타일을 편집하려면 클릭</a:t>
            </a:r>
          </a:p>
        </p:txBody>
      </p:sp>
      <p:sp>
        <p:nvSpPr>
          <p:cNvPr id="3" name="Text Placeholder 2"/>
          <p:cNvSpPr>
            <a:spLocks noGrp="1"/>
          </p:cNvSpPr>
          <p:nvPr>
            <p:ph type="body" idx="1"/>
          </p:nvPr>
        </p:nvSpPr>
        <p:spPr>
          <a:xfrm>
            <a:off x="208423" y="3844932"/>
            <a:ext cx="1913078" cy="1112992"/>
          </a:xfrm>
        </p:spPr>
        <p:txBody>
          <a:bodyPr anchor="t">
            <a:normAutofit/>
          </a:bodyPr>
          <a:lstStyle>
            <a:lvl1pPr marL="0" indent="0" algn="l">
              <a:buNone/>
              <a:defRPr sz="408">
                <a:gradFill flip="none" rotWithShape="1">
                  <a:gsLst>
                    <a:gs pos="0">
                      <a:schemeClr val="tx1"/>
                    </a:gs>
                    <a:gs pos="100000">
                      <a:schemeClr val="tx1">
                        <a:lumMod val="75000"/>
                      </a:schemeClr>
                    </a:gs>
                  </a:gsLst>
                  <a:lin ang="5400000" scaled="0"/>
                  <a:tileRect/>
                </a:gradFill>
              </a:defRPr>
            </a:lvl1pPr>
            <a:lvl2pPr marL="116449" indent="0">
              <a:buNone/>
              <a:defRPr sz="408">
                <a:solidFill>
                  <a:schemeClr val="tx1">
                    <a:tint val="75000"/>
                  </a:schemeClr>
                </a:solidFill>
              </a:defRPr>
            </a:lvl2pPr>
            <a:lvl3pPr marL="232898" indent="0">
              <a:buNone/>
              <a:defRPr sz="408">
                <a:solidFill>
                  <a:schemeClr val="tx1">
                    <a:tint val="75000"/>
                  </a:schemeClr>
                </a:solidFill>
              </a:defRPr>
            </a:lvl3pPr>
            <a:lvl4pPr marL="349347" indent="0">
              <a:buNone/>
              <a:defRPr sz="357">
                <a:solidFill>
                  <a:schemeClr val="tx1">
                    <a:tint val="75000"/>
                  </a:schemeClr>
                </a:solidFill>
              </a:defRPr>
            </a:lvl4pPr>
            <a:lvl5pPr marL="465795" indent="0">
              <a:buNone/>
              <a:defRPr sz="357">
                <a:solidFill>
                  <a:schemeClr val="tx1">
                    <a:tint val="75000"/>
                  </a:schemeClr>
                </a:solidFill>
              </a:defRPr>
            </a:lvl5pPr>
            <a:lvl6pPr marL="582244" indent="0">
              <a:buNone/>
              <a:defRPr sz="357">
                <a:solidFill>
                  <a:schemeClr val="tx1">
                    <a:tint val="75000"/>
                  </a:schemeClr>
                </a:solidFill>
              </a:defRPr>
            </a:lvl6pPr>
            <a:lvl7pPr marL="698693" indent="0">
              <a:buNone/>
              <a:defRPr sz="357">
                <a:solidFill>
                  <a:schemeClr val="tx1">
                    <a:tint val="75000"/>
                  </a:schemeClr>
                </a:solidFill>
              </a:defRPr>
            </a:lvl7pPr>
            <a:lvl8pPr marL="815142" indent="0">
              <a:buNone/>
              <a:defRPr sz="357">
                <a:solidFill>
                  <a:schemeClr val="tx1">
                    <a:tint val="75000"/>
                  </a:schemeClr>
                </a:solidFill>
              </a:defRPr>
            </a:lvl8pPr>
            <a:lvl9pPr marL="931591" indent="0">
              <a:buNone/>
              <a:defRPr sz="357">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0403594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7" name="Title 1"/>
          <p:cNvSpPr>
            <a:spLocks noGrp="1"/>
          </p:cNvSpPr>
          <p:nvPr>
            <p:ph type="title"/>
          </p:nvPr>
        </p:nvSpPr>
        <p:spPr>
          <a:xfrm>
            <a:off x="208423" y="484265"/>
            <a:ext cx="1913079" cy="1066390"/>
          </a:xfrm>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29636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668638" y="484265"/>
            <a:ext cx="452863" cy="4473659"/>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208423" y="484265"/>
            <a:ext cx="1432398" cy="4473659"/>
          </a:xfrm>
        </p:spPr>
        <p:txBody>
          <a:bodyPr vert="eaVert" ancho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endParaRPr lang="ko-Kore-KR" altLang="en-US"/>
          </a:p>
        </p:txBody>
      </p:sp>
      <p:sp>
        <p:nvSpPr>
          <p:cNvPr id="5" name="Footer Placeholder 4"/>
          <p:cNvSpPr>
            <a:spLocks noGrp="1"/>
          </p:cNvSpPr>
          <p:nvPr>
            <p:ph type="ftr" sz="quarter" idx="11"/>
          </p:nvPr>
        </p:nvSpPr>
        <p:spPr/>
        <p:txBody>
          <a:bodyPr/>
          <a:lstStyle/>
          <a:p>
            <a:endParaRPr lang="ko-Kore-KR" alt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75734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423" y="484265"/>
            <a:ext cx="1913079" cy="1066390"/>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208423" y="1674480"/>
            <a:ext cx="1913078" cy="3283444"/>
          </a:xfrm>
          <a:prstGeom prst="rect">
            <a:avLst/>
          </a:prstGeom>
        </p:spPr>
        <p:txBody>
          <a:bodyPr vert="horz" lIns="91440" tIns="45720" rIns="91440" bIns="45720" rtlCol="0" anchor="ctr">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2"/>
          </p:nvPr>
        </p:nvSpPr>
        <p:spPr>
          <a:xfrm>
            <a:off x="1668639" y="5019837"/>
            <a:ext cx="327901"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5" name="Footer Placeholder 4"/>
          <p:cNvSpPr>
            <a:spLocks noGrp="1"/>
          </p:cNvSpPr>
          <p:nvPr>
            <p:ph type="ftr" sz="quarter" idx="3"/>
          </p:nvPr>
        </p:nvSpPr>
        <p:spPr>
          <a:xfrm>
            <a:off x="208423" y="5019837"/>
            <a:ext cx="1432398" cy="296664"/>
          </a:xfrm>
          <a:prstGeom prst="rect">
            <a:avLst/>
          </a:prstGeom>
        </p:spPr>
        <p:txBody>
          <a:bodyPr vert="horz" lIns="91440" tIns="45720" rIns="91440" bIns="45720" rtlCol="0" anchor="ctr"/>
          <a:lstStyle>
            <a:lvl1pPr algn="l">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ko-Kore-KR" altLang="en-US"/>
          </a:p>
        </p:txBody>
      </p:sp>
      <p:sp>
        <p:nvSpPr>
          <p:cNvPr id="6" name="Slide Number Placeholder 5"/>
          <p:cNvSpPr>
            <a:spLocks noGrp="1"/>
          </p:cNvSpPr>
          <p:nvPr>
            <p:ph type="sldNum" sz="quarter" idx="4"/>
          </p:nvPr>
        </p:nvSpPr>
        <p:spPr>
          <a:xfrm>
            <a:off x="2016413" y="5019837"/>
            <a:ext cx="105309" cy="296664"/>
          </a:xfrm>
          <a:prstGeom prst="rect">
            <a:avLst/>
          </a:prstGeom>
        </p:spPr>
        <p:txBody>
          <a:bodyPr vert="horz" lIns="91440" tIns="45720" rIns="91440" bIns="45720" rtlCol="0" anchor="ctr"/>
          <a:lstStyle>
            <a:lvl1pPr algn="r">
              <a:defRPr sz="204" b="1" i="0">
                <a:solidFill>
                  <a:schemeClr val="tx1">
                    <a:lumMod val="75000"/>
                  </a:schemeClr>
                </a:solidFill>
                <a:effectLst>
                  <a:outerShdw blurRad="50800" dist="38100" dir="2700000" algn="tl" rotWithShape="0">
                    <a:srgbClr val="000000">
                      <a:alpha val="43000"/>
                    </a:srgbClr>
                  </a:outerShdw>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40670511"/>
      </p:ext>
    </p:extLst>
  </p:cSld>
  <p:clrMap bg1="dk1" tx1="lt1" bg2="dk2" tx2="lt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 id="2147483988" r:id="rId10"/>
    <p:sldLayoutId id="2147483989" r:id="rId11"/>
    <p:sldLayoutId id="2147483990" r:id="rId12"/>
    <p:sldLayoutId id="2147483991" r:id="rId13"/>
    <p:sldLayoutId id="2147483992" r:id="rId14"/>
    <p:sldLayoutId id="2147483993" r:id="rId15"/>
    <p:sldLayoutId id="2147483994" r:id="rId16"/>
    <p:sldLayoutId id="2147483995" r:id="rId17"/>
  </p:sldLayoutIdLst>
  <p:hf sldNum="0" hdr="0" ftr="0" dt="0"/>
  <p:txStyles>
    <p:titleStyle>
      <a:lvl1pPr algn="l" defTabSz="116449" rtl="0" eaLnBrk="1" latinLnBrk="0" hangingPunct="1">
        <a:spcBef>
          <a:spcPct val="0"/>
        </a:spcBef>
        <a:buNone/>
        <a:defRPr sz="713"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72781" indent="-72781" algn="l" defTabSz="116449" rtl="0" eaLnBrk="1" latinLnBrk="0" hangingPunct="1">
        <a:spcBef>
          <a:spcPct val="20000"/>
        </a:spcBef>
        <a:spcAft>
          <a:spcPts val="153"/>
        </a:spcAft>
        <a:buClr>
          <a:schemeClr val="tx1"/>
        </a:buClr>
        <a:buSzPct val="130000"/>
        <a:buFont typeface="Arial"/>
        <a:buChar char="•"/>
        <a:defRPr sz="45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189229" indent="-72781" algn="l" defTabSz="116449" rtl="0" eaLnBrk="1" latinLnBrk="0" hangingPunct="1">
        <a:spcBef>
          <a:spcPct val="20000"/>
        </a:spcBef>
        <a:spcAft>
          <a:spcPts val="153"/>
        </a:spcAft>
        <a:buClr>
          <a:schemeClr val="tx1"/>
        </a:buClr>
        <a:buSzPct val="130000"/>
        <a:buFont typeface="Arial"/>
        <a:buChar char="•"/>
        <a:defRPr sz="408"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305678" indent="-72781"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393015" indent="-43668" algn="l" defTabSz="116449" rtl="0" eaLnBrk="1" latinLnBrk="0" hangingPunct="1">
        <a:spcBef>
          <a:spcPct val="20000"/>
        </a:spcBef>
        <a:spcAft>
          <a:spcPts val="153"/>
        </a:spcAft>
        <a:buClr>
          <a:schemeClr val="tx1"/>
        </a:buClr>
        <a:buSzPct val="130000"/>
        <a:buFont typeface="Arial"/>
        <a:buChar char="•"/>
        <a:defRPr sz="357"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509464" indent="-43668" algn="l" defTabSz="116449" rtl="0" eaLnBrk="1" latinLnBrk="0" hangingPunct="1">
        <a:spcBef>
          <a:spcPct val="20000"/>
        </a:spcBef>
        <a:spcAft>
          <a:spcPts val="153"/>
        </a:spcAft>
        <a:buClr>
          <a:schemeClr val="tx1"/>
        </a:buClr>
        <a:buSzPct val="130000"/>
        <a:buFont typeface="Arial"/>
        <a:buChar char="•"/>
        <a:defRPr sz="306"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640469"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756917"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873366" indent="-58224" algn="l" defTabSz="116449" rtl="0" eaLnBrk="1" latinLnBrk="0" hangingPunct="1">
        <a:spcBef>
          <a:spcPct val="20000"/>
        </a:spcBef>
        <a:spcAft>
          <a:spcPts val="153"/>
        </a:spcAft>
        <a:buClr>
          <a:schemeClr val="tx1"/>
        </a:buClr>
        <a:buSzPct val="13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989815" indent="-58224" algn="l" defTabSz="116449" rtl="0" eaLnBrk="1" latinLnBrk="0" hangingPunct="1">
        <a:spcBef>
          <a:spcPct val="20000"/>
        </a:spcBef>
        <a:spcAft>
          <a:spcPts val="153"/>
        </a:spcAft>
        <a:buClr>
          <a:schemeClr val="tx1"/>
        </a:buClr>
        <a:buSzPct val="100000"/>
        <a:buFont typeface="Arial"/>
        <a:buChar char="•"/>
        <a:defRPr sz="28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116449" rtl="0" eaLnBrk="1" latinLnBrk="0" hangingPunct="1">
        <a:defRPr sz="458" kern="1200">
          <a:solidFill>
            <a:schemeClr val="tx1"/>
          </a:solidFill>
          <a:latin typeface="+mn-lt"/>
          <a:ea typeface="+mn-ea"/>
          <a:cs typeface="+mn-cs"/>
        </a:defRPr>
      </a:lvl1pPr>
      <a:lvl2pPr marL="116449" algn="l" defTabSz="116449" rtl="0" eaLnBrk="1" latinLnBrk="0" hangingPunct="1">
        <a:defRPr sz="458" kern="1200">
          <a:solidFill>
            <a:schemeClr val="tx1"/>
          </a:solidFill>
          <a:latin typeface="+mn-lt"/>
          <a:ea typeface="+mn-ea"/>
          <a:cs typeface="+mn-cs"/>
        </a:defRPr>
      </a:lvl2pPr>
      <a:lvl3pPr marL="232898" algn="l" defTabSz="116449" rtl="0" eaLnBrk="1" latinLnBrk="0" hangingPunct="1">
        <a:defRPr sz="458" kern="1200">
          <a:solidFill>
            <a:schemeClr val="tx1"/>
          </a:solidFill>
          <a:latin typeface="+mn-lt"/>
          <a:ea typeface="+mn-ea"/>
          <a:cs typeface="+mn-cs"/>
        </a:defRPr>
      </a:lvl3pPr>
      <a:lvl4pPr marL="349347" algn="l" defTabSz="116449" rtl="0" eaLnBrk="1" latinLnBrk="0" hangingPunct="1">
        <a:defRPr sz="458" kern="1200">
          <a:solidFill>
            <a:schemeClr val="tx1"/>
          </a:solidFill>
          <a:latin typeface="+mn-lt"/>
          <a:ea typeface="+mn-ea"/>
          <a:cs typeface="+mn-cs"/>
        </a:defRPr>
      </a:lvl4pPr>
      <a:lvl5pPr marL="465795" algn="l" defTabSz="116449" rtl="0" eaLnBrk="1" latinLnBrk="0" hangingPunct="1">
        <a:defRPr sz="458" kern="1200">
          <a:solidFill>
            <a:schemeClr val="tx1"/>
          </a:solidFill>
          <a:latin typeface="+mn-lt"/>
          <a:ea typeface="+mn-ea"/>
          <a:cs typeface="+mn-cs"/>
        </a:defRPr>
      </a:lvl5pPr>
      <a:lvl6pPr marL="582244" algn="l" defTabSz="116449" rtl="0" eaLnBrk="1" latinLnBrk="0" hangingPunct="1">
        <a:defRPr sz="458" kern="1200">
          <a:solidFill>
            <a:schemeClr val="tx1"/>
          </a:solidFill>
          <a:latin typeface="+mn-lt"/>
          <a:ea typeface="+mn-ea"/>
          <a:cs typeface="+mn-cs"/>
        </a:defRPr>
      </a:lvl6pPr>
      <a:lvl7pPr marL="698693" algn="l" defTabSz="116449" rtl="0" eaLnBrk="1" latinLnBrk="0" hangingPunct="1">
        <a:defRPr sz="458" kern="1200">
          <a:solidFill>
            <a:schemeClr val="tx1"/>
          </a:solidFill>
          <a:latin typeface="+mn-lt"/>
          <a:ea typeface="+mn-ea"/>
          <a:cs typeface="+mn-cs"/>
        </a:defRPr>
      </a:lvl7pPr>
      <a:lvl8pPr marL="815142" algn="l" defTabSz="116449" rtl="0" eaLnBrk="1" latinLnBrk="0" hangingPunct="1">
        <a:defRPr sz="458" kern="1200">
          <a:solidFill>
            <a:schemeClr val="tx1"/>
          </a:solidFill>
          <a:latin typeface="+mn-lt"/>
          <a:ea typeface="+mn-ea"/>
          <a:cs typeface="+mn-cs"/>
        </a:defRPr>
      </a:lvl8pPr>
      <a:lvl9pPr marL="931591" algn="l" defTabSz="116449" rtl="0" eaLnBrk="1" latinLnBrk="0" hangingPunct="1">
        <a:defRPr sz="45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flyingdeuk.github.io/posts/A330-kneeboard/" TargetMode="External"/><Relationship Id="rId13" Type="http://schemas.openxmlformats.org/officeDocument/2006/relationships/slide" Target="slide134.xml"/><Relationship Id="rId3" Type="http://schemas.openxmlformats.org/officeDocument/2006/relationships/slide" Target="slide3.xml"/><Relationship Id="rId7" Type="http://schemas.openxmlformats.org/officeDocument/2006/relationships/hyperlink" Target="https://flyingdeuk.github.io/posts/B737-kneeboard/" TargetMode="External"/><Relationship Id="rId12" Type="http://schemas.openxmlformats.org/officeDocument/2006/relationships/slide" Target="slide133.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10.xml"/><Relationship Id="rId11" Type="http://schemas.openxmlformats.org/officeDocument/2006/relationships/slide" Target="slide131.xml"/><Relationship Id="rId5" Type="http://schemas.openxmlformats.org/officeDocument/2006/relationships/slide" Target="slide8.xml"/><Relationship Id="rId10" Type="http://schemas.openxmlformats.org/officeDocument/2006/relationships/slide" Target="slide128.xml"/><Relationship Id="rId4" Type="http://schemas.openxmlformats.org/officeDocument/2006/relationships/slide" Target="slide6.xml"/><Relationship Id="rId9" Type="http://schemas.openxmlformats.org/officeDocument/2006/relationships/slide" Target="slide127.xml"/><Relationship Id="rId14" Type="http://schemas.openxmlformats.org/officeDocument/2006/relationships/slide" Target="slide13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slide" Target="slide13.xml"/><Relationship Id="rId7" Type="http://schemas.openxmlformats.org/officeDocument/2006/relationships/slide" Target="slide17.xm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slide" Target="slide16.xml"/><Relationship Id="rId5" Type="http://schemas.openxmlformats.org/officeDocument/2006/relationships/slide" Target="slide15.xml"/><Relationship Id="rId10" Type="http://schemas.openxmlformats.org/officeDocument/2006/relationships/slide" Target="slide20.xml"/><Relationship Id="rId4" Type="http://schemas.openxmlformats.org/officeDocument/2006/relationships/slide" Target="slide14.xml"/><Relationship Id="rId9" Type="http://schemas.openxmlformats.org/officeDocument/2006/relationships/slide" Target="slide19.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slide" Target="slide24.xml"/><Relationship Id="rId13" Type="http://schemas.openxmlformats.org/officeDocument/2006/relationships/slide" Target="slide29.xml"/><Relationship Id="rId18" Type="http://schemas.openxmlformats.org/officeDocument/2006/relationships/slide" Target="slide34.xml"/><Relationship Id="rId3" Type="http://schemas.openxmlformats.org/officeDocument/2006/relationships/slide" Target="slide45.xml"/><Relationship Id="rId21" Type="http://schemas.openxmlformats.org/officeDocument/2006/relationships/slide" Target="slide37.xml"/><Relationship Id="rId7" Type="http://schemas.openxmlformats.org/officeDocument/2006/relationships/slide" Target="slide23.xml"/><Relationship Id="rId12" Type="http://schemas.openxmlformats.org/officeDocument/2006/relationships/slide" Target="slide28.xml"/><Relationship Id="rId17" Type="http://schemas.openxmlformats.org/officeDocument/2006/relationships/slide" Target="slide33.xml"/><Relationship Id="rId2" Type="http://schemas.openxmlformats.org/officeDocument/2006/relationships/notesSlide" Target="../notesSlides/notesSlide6.xml"/><Relationship Id="rId16" Type="http://schemas.openxmlformats.org/officeDocument/2006/relationships/slide" Target="slide32.xml"/><Relationship Id="rId20" Type="http://schemas.openxmlformats.org/officeDocument/2006/relationships/slide" Target="slide36.xml"/><Relationship Id="rId1" Type="http://schemas.openxmlformats.org/officeDocument/2006/relationships/slideLayout" Target="../slideLayouts/slideLayout1.xml"/><Relationship Id="rId6" Type="http://schemas.openxmlformats.org/officeDocument/2006/relationships/slide" Target="slide22.xml"/><Relationship Id="rId11" Type="http://schemas.openxmlformats.org/officeDocument/2006/relationships/slide" Target="slide27.xml"/><Relationship Id="rId5" Type="http://schemas.openxmlformats.org/officeDocument/2006/relationships/slide" Target="slide21.xml"/><Relationship Id="rId15" Type="http://schemas.openxmlformats.org/officeDocument/2006/relationships/slide" Target="slide31.xml"/><Relationship Id="rId10" Type="http://schemas.openxmlformats.org/officeDocument/2006/relationships/slide" Target="slide26.xml"/><Relationship Id="rId19" Type="http://schemas.openxmlformats.org/officeDocument/2006/relationships/slide" Target="slide35.xml"/><Relationship Id="rId4" Type="http://schemas.openxmlformats.org/officeDocument/2006/relationships/slide" Target="slide46.xml"/><Relationship Id="rId9" Type="http://schemas.openxmlformats.org/officeDocument/2006/relationships/slide" Target="slide25.xml"/><Relationship Id="rId14" Type="http://schemas.openxmlformats.org/officeDocument/2006/relationships/slide" Target="slide30.xml"/><Relationship Id="rId22" Type="http://schemas.openxmlformats.org/officeDocument/2006/relationships/slide" Target="slide38.xml"/></Relationships>
</file>

<file path=ppt/slides/_rels/slide7.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3" Type="http://schemas.openxmlformats.org/officeDocument/2006/relationships/slide" Target="slide56.xml"/><Relationship Id="rId18" Type="http://schemas.openxmlformats.org/officeDocument/2006/relationships/slide" Target="slide64.xml"/><Relationship Id="rId26" Type="http://schemas.openxmlformats.org/officeDocument/2006/relationships/slide" Target="slide78.xml"/><Relationship Id="rId39" Type="http://schemas.openxmlformats.org/officeDocument/2006/relationships/slide" Target="slide96.xml"/><Relationship Id="rId21" Type="http://schemas.openxmlformats.org/officeDocument/2006/relationships/slide" Target="slide68.xml"/><Relationship Id="rId34" Type="http://schemas.openxmlformats.org/officeDocument/2006/relationships/slide" Target="slide89.xml"/><Relationship Id="rId42" Type="http://schemas.openxmlformats.org/officeDocument/2006/relationships/slide" Target="slide101.xml"/><Relationship Id="rId7" Type="http://schemas.openxmlformats.org/officeDocument/2006/relationships/slide" Target="slide47.xml"/><Relationship Id="rId2" Type="http://schemas.openxmlformats.org/officeDocument/2006/relationships/notesSlide" Target="../notesSlides/notesSlide8.xml"/><Relationship Id="rId16" Type="http://schemas.openxmlformats.org/officeDocument/2006/relationships/slide" Target="slide61.xml"/><Relationship Id="rId29" Type="http://schemas.openxmlformats.org/officeDocument/2006/relationships/slide" Target="slide82.xml"/><Relationship Id="rId1" Type="http://schemas.openxmlformats.org/officeDocument/2006/relationships/slideLayout" Target="../slideLayouts/slideLayout1.xml"/><Relationship Id="rId6" Type="http://schemas.openxmlformats.org/officeDocument/2006/relationships/slide" Target="slide44.xml"/><Relationship Id="rId11" Type="http://schemas.openxmlformats.org/officeDocument/2006/relationships/slide" Target="slide53.xml"/><Relationship Id="rId24" Type="http://schemas.openxmlformats.org/officeDocument/2006/relationships/slide" Target="slide74.xml"/><Relationship Id="rId32" Type="http://schemas.openxmlformats.org/officeDocument/2006/relationships/slide" Target="slide86.xml"/><Relationship Id="rId37" Type="http://schemas.openxmlformats.org/officeDocument/2006/relationships/slide" Target="slide93.xml"/><Relationship Id="rId40" Type="http://schemas.openxmlformats.org/officeDocument/2006/relationships/slide" Target="slide98.xml"/><Relationship Id="rId45" Type="http://schemas.openxmlformats.org/officeDocument/2006/relationships/slide" Target="slide105.xml"/><Relationship Id="rId5" Type="http://schemas.openxmlformats.org/officeDocument/2006/relationships/slide" Target="slide42.xml"/><Relationship Id="rId15" Type="http://schemas.openxmlformats.org/officeDocument/2006/relationships/slide" Target="slide59.xml"/><Relationship Id="rId23" Type="http://schemas.openxmlformats.org/officeDocument/2006/relationships/slide" Target="slide72.xml"/><Relationship Id="rId28" Type="http://schemas.openxmlformats.org/officeDocument/2006/relationships/slide" Target="slide81.xml"/><Relationship Id="rId36" Type="http://schemas.openxmlformats.org/officeDocument/2006/relationships/slide" Target="slide92.xml"/><Relationship Id="rId10" Type="http://schemas.openxmlformats.org/officeDocument/2006/relationships/slide" Target="slide52.xml"/><Relationship Id="rId19" Type="http://schemas.openxmlformats.org/officeDocument/2006/relationships/slide" Target="slide65.xml"/><Relationship Id="rId31" Type="http://schemas.openxmlformats.org/officeDocument/2006/relationships/slide" Target="slide85.xml"/><Relationship Id="rId44" Type="http://schemas.openxmlformats.org/officeDocument/2006/relationships/slide" Target="slide104.xml"/><Relationship Id="rId4" Type="http://schemas.openxmlformats.org/officeDocument/2006/relationships/slide" Target="slide41.xml"/><Relationship Id="rId9" Type="http://schemas.openxmlformats.org/officeDocument/2006/relationships/slide" Target="slide50.xml"/><Relationship Id="rId14" Type="http://schemas.openxmlformats.org/officeDocument/2006/relationships/slide" Target="slide58.xml"/><Relationship Id="rId22" Type="http://schemas.openxmlformats.org/officeDocument/2006/relationships/slide" Target="slide71.xml"/><Relationship Id="rId27" Type="http://schemas.openxmlformats.org/officeDocument/2006/relationships/slide" Target="slide79.xml"/><Relationship Id="rId30" Type="http://schemas.openxmlformats.org/officeDocument/2006/relationships/slide" Target="slide84.xml"/><Relationship Id="rId35" Type="http://schemas.openxmlformats.org/officeDocument/2006/relationships/slide" Target="slide90.xml"/><Relationship Id="rId43" Type="http://schemas.openxmlformats.org/officeDocument/2006/relationships/slide" Target="slide102.xml"/><Relationship Id="rId8" Type="http://schemas.openxmlformats.org/officeDocument/2006/relationships/slide" Target="slide49.xml"/><Relationship Id="rId3" Type="http://schemas.openxmlformats.org/officeDocument/2006/relationships/slide" Target="slide39.xml"/><Relationship Id="rId12" Type="http://schemas.openxmlformats.org/officeDocument/2006/relationships/slide" Target="slide55.xml"/><Relationship Id="rId17" Type="http://schemas.openxmlformats.org/officeDocument/2006/relationships/slide" Target="slide62.xml"/><Relationship Id="rId25" Type="http://schemas.openxmlformats.org/officeDocument/2006/relationships/slide" Target="slide75.xml"/><Relationship Id="rId33" Type="http://schemas.openxmlformats.org/officeDocument/2006/relationships/slide" Target="slide87.xml"/><Relationship Id="rId38" Type="http://schemas.openxmlformats.org/officeDocument/2006/relationships/slide" Target="slide95.xml"/><Relationship Id="rId46" Type="http://schemas.openxmlformats.org/officeDocument/2006/relationships/slide" Target="slide107.xml"/><Relationship Id="rId20" Type="http://schemas.openxmlformats.org/officeDocument/2006/relationships/slide" Target="slide67.xml"/><Relationship Id="rId41" Type="http://schemas.openxmlformats.org/officeDocument/2006/relationships/slide" Target="slide99.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slide" Target="slide113.xml"/><Relationship Id="rId13" Type="http://schemas.openxmlformats.org/officeDocument/2006/relationships/slide" Target="slide118.xml"/><Relationship Id="rId18" Type="http://schemas.openxmlformats.org/officeDocument/2006/relationships/slide" Target="slide122.xml"/><Relationship Id="rId3" Type="http://schemas.openxmlformats.org/officeDocument/2006/relationships/slide" Target="slide108.xml"/><Relationship Id="rId7" Type="http://schemas.openxmlformats.org/officeDocument/2006/relationships/slide" Target="slide112.xml"/><Relationship Id="rId12" Type="http://schemas.openxmlformats.org/officeDocument/2006/relationships/slide" Target="slide117.xml"/><Relationship Id="rId17" Type="http://schemas.openxmlformats.org/officeDocument/2006/relationships/slide" Target="slide120.xml"/><Relationship Id="rId2" Type="http://schemas.openxmlformats.org/officeDocument/2006/relationships/notesSlide" Target="../notesSlides/notesSlide10.xml"/><Relationship Id="rId16" Type="http://schemas.openxmlformats.org/officeDocument/2006/relationships/slide" Target="slide124.xml"/><Relationship Id="rId20" Type="http://schemas.openxmlformats.org/officeDocument/2006/relationships/slide" Target="slide126.xml"/><Relationship Id="rId1" Type="http://schemas.openxmlformats.org/officeDocument/2006/relationships/slideLayout" Target="../slideLayouts/slideLayout1.xml"/><Relationship Id="rId6" Type="http://schemas.openxmlformats.org/officeDocument/2006/relationships/slide" Target="slide111.xml"/><Relationship Id="rId11" Type="http://schemas.openxmlformats.org/officeDocument/2006/relationships/slide" Target="slide116.xml"/><Relationship Id="rId5" Type="http://schemas.openxmlformats.org/officeDocument/2006/relationships/slide" Target="slide110.xml"/><Relationship Id="rId15" Type="http://schemas.openxmlformats.org/officeDocument/2006/relationships/slide" Target="slide123.xml"/><Relationship Id="rId10" Type="http://schemas.openxmlformats.org/officeDocument/2006/relationships/slide" Target="slide115.xml"/><Relationship Id="rId19" Type="http://schemas.openxmlformats.org/officeDocument/2006/relationships/slide" Target="slide125.xml"/><Relationship Id="rId4" Type="http://schemas.openxmlformats.org/officeDocument/2006/relationships/slide" Target="slide109.xml"/><Relationship Id="rId9" Type="http://schemas.openxmlformats.org/officeDocument/2006/relationships/slide" Target="slide114.xml"/><Relationship Id="rId14" Type="http://schemas.openxmlformats.org/officeDocument/2006/relationships/slide" Target="slide119.xml"/></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hyperlink" Target="https://flyingdeuk.github.io/posts/RKSS-GMP/" TargetMode="External"/><Relationship Id="rId7" Type="http://schemas.openxmlformats.org/officeDocument/2006/relationships/slide" Target="slide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hyperlink" Target="https://flyingdeuk.github.io/posts/RKPC-CJU/" TargetMode="External"/></Relationships>
</file>

<file path=ppt/slides/_rels/slide14.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jpg"/><Relationship Id="rId4" Type="http://schemas.openxmlformats.org/officeDocument/2006/relationships/hyperlink" Target="https://flyingdeuk.github.io/posts/RKSS-GMP/" TargetMode="External"/></Relationships>
</file>

<file path=ppt/slides/_rels/slide15.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image" Target="../media/image4.jp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flyingdeuk.github.io/posts/RKPK-PUS/" TargetMode="External"/><Relationship Id="rId5" Type="http://schemas.openxmlformats.org/officeDocument/2006/relationships/hyperlink" Target="https://flyingdeuk.github.io/posts/RKSS-GMP/" TargetMode="External"/><Relationship Id="rId4" Type="http://schemas.openxmlformats.org/officeDocument/2006/relationships/slide" Target="slide138.xml"/><Relationship Id="rId9" Type="http://schemas.openxmlformats.org/officeDocument/2006/relationships/slide" Target="slide4.xml"/></Relationships>
</file>

<file path=ppt/slides/_rels/slide16.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hyperlink" Target="https://flyingdeuk.github.io/posts/RKPK-PUS/" TargetMode="External"/><Relationship Id="rId7" Type="http://schemas.openxmlformats.org/officeDocument/2006/relationships/slide" Target="slide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7.jpg"/><Relationship Id="rId4" Type="http://schemas.openxmlformats.org/officeDocument/2006/relationships/hyperlink" Target="https://flyingdeuk.github.io/posts/RKSS-GMP/" TargetMode="External"/></Relationships>
</file>

<file path=ppt/slides/_rels/slide17.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hyperlink" Target="https://flyingdeuk.github.io/posts/RKPC-CJU/" TargetMode="External"/><Relationship Id="rId7" Type="http://schemas.openxmlformats.org/officeDocument/2006/relationships/slide" Target="slide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slide" Target="slide138.xml"/><Relationship Id="rId5" Type="http://schemas.openxmlformats.org/officeDocument/2006/relationships/image" Target="../media/image8.jpg"/><Relationship Id="rId4" Type="http://schemas.openxmlformats.org/officeDocument/2006/relationships/hyperlink" Target="https://flyingdeuk.github.io/posts/RKPK-PUS/"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flyingdeuk.github.io/posts/RKPK-PUS/" TargetMode="External"/><Relationship Id="rId7" Type="http://schemas.openxmlformats.org/officeDocument/2006/relationships/slide" Target="slide4.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image" Target="../media/image9.jpg"/><Relationship Id="rId4" Type="http://schemas.openxmlformats.org/officeDocument/2006/relationships/hyperlink" Target="https://flyingdeuk.github.io/posts/RKPC-CJU/" TargetMode="External"/></Relationships>
</file>

<file path=ppt/slides/_rels/slide19.xml.rels><?xml version="1.0" encoding="UTF-8" standalone="yes"?>
<Relationships xmlns="http://schemas.openxmlformats.org/package/2006/relationships"><Relationship Id="rId3" Type="http://schemas.openxmlformats.org/officeDocument/2006/relationships/slide" Target="slide138.xml"/><Relationship Id="rId7" Type="http://schemas.openxmlformats.org/officeDocument/2006/relationships/slide" Target="slide4.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slide" Target="slide3.xml"/><Relationship Id="rId5" Type="http://schemas.openxmlformats.org/officeDocument/2006/relationships/hyperlink" Target="https://flyingdeuk.github.io/posts/RKPK-PUS/" TargetMode="External"/><Relationship Id="rId4" Type="http://schemas.openxmlformats.org/officeDocument/2006/relationships/hyperlink" Target="https://flyingdeuk.github.io/posts/RKSI-ICN/" TargetMode="External"/></Relationships>
</file>

<file path=ppt/slides/_rels/slide20.xml.rels><?xml version="1.0" encoding="UTF-8" standalone="yes"?>
<Relationships xmlns="http://schemas.openxmlformats.org/package/2006/relationships"><Relationship Id="rId3" Type="http://schemas.openxmlformats.org/officeDocument/2006/relationships/hyperlink" Target="https://flyingdeuk.github.io/posts/RKPK-PUS/" TargetMode="External"/><Relationship Id="rId7" Type="http://schemas.openxmlformats.org/officeDocument/2006/relationships/image" Target="../media/image9.jp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3.xml"/><Relationship Id="rId4" Type="http://schemas.openxmlformats.org/officeDocument/2006/relationships/hyperlink" Target="https://flyingdeuk.github.io/posts/RKSI-ICN/"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BB-KIX/"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flyingdeuk.github.io/posts/RJBB-KIX/"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slide" Target="slide4.xml"/><Relationship Id="rId4" Type="http://schemas.openxmlformats.org/officeDocument/2006/relationships/hyperlink" Target="https://flyingdeuk.github.io/posts/RKSI-ICN/"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24.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CC-CTS/"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flyingdeuk.github.io/posts/RJCC-CTS/"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TT-HND/"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flyingdeuk.github.io/posts/RJTT-HND/" TargetMode="External"/><Relationship Id="rId7" Type="http://schemas.openxmlformats.org/officeDocument/2006/relationships/slide" Target="slide4.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image" Target="../media/image10.png"/><Relationship Id="rId4" Type="http://schemas.openxmlformats.org/officeDocument/2006/relationships/hyperlink" Target="https://flyingdeuk.github.io/posts/RKSI-ICN/"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GG-NGO/"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flyingdeuk.github.io/posts/RJGG-NGO/"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FF-FUK/"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flyingdeuk.github.io/posts/RJFF-FUK/" TargetMode="External"/><Relationship Id="rId7" Type="http://schemas.openxmlformats.org/officeDocument/2006/relationships/image" Target="../media/image11.jpe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SA-AOJ/"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flyingdeuk.github.io/posts/RJSA-AOJ/" TargetMode="External"/><Relationship Id="rId7"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SN-KIJ/"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flyingdeuk.github.io/posts/RJSN-KIJ/" TargetMode="External"/><Relationship Id="rId7" Type="http://schemas.openxmlformats.org/officeDocument/2006/relationships/image" Target="../media/image13.jpe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SI-ICN/" TargetMode="External"/></Relationships>
</file>

<file path=ppt/slides/_rels/slide37.xml.rels><?xml version="1.0" encoding="UTF-8" standalone="yes"?>
<Relationships xmlns="http://schemas.openxmlformats.org/package/2006/relationships"><Relationship Id="rId3" Type="http://schemas.openxmlformats.org/officeDocument/2006/relationships/hyperlink" Target="https://flyingdeuk.github.io/posts/RKPC-CJU/" TargetMode="External"/><Relationship Id="rId7" Type="http://schemas.openxmlformats.org/officeDocument/2006/relationships/image" Target="../media/image8.jp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7.xml"/><Relationship Id="rId5" Type="http://schemas.openxmlformats.org/officeDocument/2006/relationships/slide" Target="slide6.xml"/><Relationship Id="rId4" Type="http://schemas.openxmlformats.org/officeDocument/2006/relationships/hyperlink" Target="https://flyingdeuk.github.io/posts/RJAA-NRT/"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flyingdeuk.github.io/posts/RJAA-NRT/"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6.xml"/><Relationship Id="rId4" Type="http://schemas.openxmlformats.org/officeDocument/2006/relationships/hyperlink" Target="https://flyingdeuk.github.io/posts/RKPC-CJU/" TargetMode="External"/></Relationships>
</file>

<file path=ppt/slides/_rels/slide39.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jpg"/><Relationship Id="rId7" Type="http://schemas.openxmlformats.org/officeDocument/2006/relationships/slide" Target="slide8.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flyingdeuk.github.io/posts/ZSSS-SHA/" TargetMode="External"/><Relationship Id="rId4" Type="http://schemas.openxmlformats.org/officeDocument/2006/relationships/hyperlink" Target="https://flyingdeuk.github.io/posts/RKSS-GMP/"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41.xml.rels><?xml version="1.0" encoding="UTF-8" standalone="yes"?>
<Relationships xmlns="http://schemas.openxmlformats.org/package/2006/relationships"><Relationship Id="rId3" Type="http://schemas.openxmlformats.org/officeDocument/2006/relationships/hyperlink" Target="https://flyingdeuk.github.io/posts/ZSSS-SHA/" TargetMode="External"/><Relationship Id="rId7" Type="http://schemas.openxmlformats.org/officeDocument/2006/relationships/slide" Target="slide4.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6.png"/><Relationship Id="rId4" Type="http://schemas.openxmlformats.org/officeDocument/2006/relationships/hyperlink" Target="https://flyingdeuk.github.io/posts/RKSS-GMP/" TargetMode="External"/></Relationships>
</file>

<file path=ppt/slides/_rels/slide4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image" Target="../media/image4.jpg"/><Relationship Id="rId7" Type="http://schemas.openxmlformats.org/officeDocument/2006/relationships/slide" Target="slide8.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flyingdeuk.github.io/posts/ZBAA-PEK/" TargetMode="External"/><Relationship Id="rId4" Type="http://schemas.openxmlformats.org/officeDocument/2006/relationships/hyperlink" Target="https://flyingdeuk.github.io/posts/RKSS-GMP/" TargetMode="Externa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44.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hyperlink" Target="https://flyingdeuk.github.io/posts/ZBAA-PEK/" TargetMode="External"/><Relationship Id="rId7"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15.jpeg"/><Relationship Id="rId5" Type="http://schemas.openxmlformats.org/officeDocument/2006/relationships/slide" Target="slide8.xml"/><Relationship Id="rId4" Type="http://schemas.openxmlformats.org/officeDocument/2006/relationships/hyperlink" Target="https://flyingdeuk.github.io/posts/RKSS-GMP/" TargetMode="External"/></Relationships>
</file>

<file path=ppt/slides/_rels/slide45.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hyperlink" Target="https://flyingdeuk.github.io/posts/RKSS-GMP/" TargetMode="External"/><Relationship Id="rId7" Type="http://schemas.openxmlformats.org/officeDocument/2006/relationships/slide" Target="slide6.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hyperlink" Target="https://flyingdeuk.github.io/posts/RJBB-KIX/"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flyingdeuk.github.io/posts/RJBB-KIX/" TargetMode="External"/><Relationship Id="rId7" Type="http://schemas.openxmlformats.org/officeDocument/2006/relationships/slide" Target="slide4.xml"/><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slide" Target="slide6.xml"/><Relationship Id="rId5" Type="http://schemas.openxmlformats.org/officeDocument/2006/relationships/image" Target="../media/image6.png"/><Relationship Id="rId4" Type="http://schemas.openxmlformats.org/officeDocument/2006/relationships/hyperlink" Target="https://flyingdeuk.github.io/posts/RKSS-GMP/"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flyingdeuk.github.io/posts/RKPC-CJU/" TargetMode="External"/><Relationship Id="rId7" Type="http://schemas.openxmlformats.org/officeDocument/2006/relationships/slide" Target="slide9.xm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8.jpg"/><Relationship Id="rId4" Type="http://schemas.openxmlformats.org/officeDocument/2006/relationships/hyperlink" Target="https://flyingdeuk.github.io/posts/ZBAA-PEK/"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49.xml.rels><?xml version="1.0" encoding="UTF-8" standalone="yes"?>
<Relationships xmlns="http://schemas.openxmlformats.org/package/2006/relationships"><Relationship Id="rId3" Type="http://schemas.openxmlformats.org/officeDocument/2006/relationships/hyperlink" Target="https://flyingdeuk.github.io/posts/ZBAA-PEK/" TargetMode="External"/><Relationship Id="rId7" Type="http://schemas.openxmlformats.org/officeDocument/2006/relationships/slide" Target="slide4.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15.jpeg"/><Relationship Id="rId4" Type="http://schemas.openxmlformats.org/officeDocument/2006/relationships/hyperlink" Target="https://flyingdeuk.github.io/posts/RKSI-ICN/"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flyingdeuk.github.io/posts/RKPK-PUS/" TargetMode="External"/><Relationship Id="rId7" Type="http://schemas.openxmlformats.org/officeDocument/2006/relationships/image" Target="../media/image9.jp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PD-PVG/" TargetMode="External"/></Relationships>
</file>

<file path=ppt/slides/_rels/slide5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52.xml.rels><?xml version="1.0" encoding="UTF-8" standalone="yes"?>
<Relationships xmlns="http://schemas.openxmlformats.org/package/2006/relationships"><Relationship Id="rId3" Type="http://schemas.openxmlformats.org/officeDocument/2006/relationships/hyperlink" Target="https://flyingdeuk.github.io/posts/ZSPD-PVG/" TargetMode="External"/><Relationship Id="rId7" Type="http://schemas.openxmlformats.org/officeDocument/2006/relationships/slide" Target="slide138.xml"/><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PK-PUS/"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NJ-NKG/"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55.xml.rels><?xml version="1.0" encoding="UTF-8" standalone="yes"?>
<Relationships xmlns="http://schemas.openxmlformats.org/package/2006/relationships"><Relationship Id="rId3" Type="http://schemas.openxmlformats.org/officeDocument/2006/relationships/hyperlink" Target="https://flyingdeuk.github.io/posts/ZSNJ-NKG/" TargetMode="External"/><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QD-TAO/"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58.xml.rels><?xml version="1.0" encoding="UTF-8" standalone="yes"?>
<Relationships xmlns="http://schemas.openxmlformats.org/package/2006/relationships"><Relationship Id="rId3" Type="http://schemas.openxmlformats.org/officeDocument/2006/relationships/hyperlink" Target="https://flyingdeuk.github.io/posts/ZSQD-TAO/" TargetMode="External"/><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5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BAA-PEK/" TargetMode="External"/></Relationships>
</file>

<file path=ppt/slides/_rels/slide6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61.xml.rels><?xml version="1.0" encoding="UTF-8" standalone="yes"?>
<Relationships xmlns="http://schemas.openxmlformats.org/package/2006/relationships"><Relationship Id="rId3" Type="http://schemas.openxmlformats.org/officeDocument/2006/relationships/hyperlink" Target="https://flyingdeuk.github.io/posts/ZBAA-PEK/" TargetMode="External"/><Relationship Id="rId7" Type="http://schemas.openxmlformats.org/officeDocument/2006/relationships/slide" Target="slide4.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15.jpeg"/><Relationship Id="rId4" Type="http://schemas.openxmlformats.org/officeDocument/2006/relationships/hyperlink" Target="https://flyingdeuk.github.io/posts/RKSI-ICN/" TargetMode="External"/></Relationships>
</file>

<file path=ppt/slides/_rels/slide6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YTX-SHE/" TargetMode="Externa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64.xml.rels><?xml version="1.0" encoding="UTF-8" standalone="yes"?>
<Relationships xmlns="http://schemas.openxmlformats.org/package/2006/relationships"><Relationship Id="rId3" Type="http://schemas.openxmlformats.org/officeDocument/2006/relationships/hyperlink" Target="https://flyingdeuk.github.io/posts/ZYTX-SHE/" TargetMode="Externa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6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PD-PVG/" TargetMode="External"/></Relationships>
</file>

<file path=ppt/slides/_rels/slide6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67.xml.rels><?xml version="1.0" encoding="UTF-8" standalone="yes"?>
<Relationships xmlns="http://schemas.openxmlformats.org/package/2006/relationships"><Relationship Id="rId3" Type="http://schemas.openxmlformats.org/officeDocument/2006/relationships/hyperlink" Target="https://flyingdeuk.github.io/posts/ZSPD-PVG/" TargetMode="External"/><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YYJ-YNJ/"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flyingdeuk.github.io/posts/ZYYJ-YNJ/" TargetMode="External"/><Relationship Id="rId7" Type="http://schemas.openxmlformats.org/officeDocument/2006/relationships/slide" Target="slide4.xml"/><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image" Target="../media/image16.jpeg"/><Relationship Id="rId4" Type="http://schemas.openxmlformats.org/officeDocument/2006/relationships/hyperlink" Target="https://flyingdeuk.github.io/posts/RKSI-ICN/" TargetMode="External"/></Relationships>
</file>

<file path=ppt/slides/_rels/slide7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HC-HGH/" TargetMode="External"/></Relationships>
</file>

<file path=ppt/slides/_rels/slide7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7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slide" Target="slide4.xml"/><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hyperlink" Target="https://flyingdeuk.github.io/posts/RKSI-ICN/" TargetMode="External"/><Relationship Id="rId4" Type="http://schemas.openxmlformats.org/officeDocument/2006/relationships/hyperlink" Target="https://flyingdeuk.github.io/posts/ZSHC-HGH/" TargetMode="External"/></Relationships>
</file>

<file path=ppt/slides/_rels/slide7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WH-WEH/" TargetMode="External"/></Relationships>
</file>

<file path=ppt/slides/_rels/slide7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hyperlink" Target="https://flyingdeuk.github.io/posts/ZSWH-WEH/" TargetMode="External"/><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7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LXY-XIY/" TargetMode="External"/></Relationships>
</file>

<file path=ppt/slides/_rels/slide8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81.xml.rels><?xml version="1.0" encoding="UTF-8" standalone="yes"?>
<Relationships xmlns="http://schemas.openxmlformats.org/package/2006/relationships"><Relationship Id="rId3" Type="http://schemas.openxmlformats.org/officeDocument/2006/relationships/image" Target="../media/image18.jpeg"/><Relationship Id="rId7" Type="http://schemas.openxmlformats.org/officeDocument/2006/relationships/slide" Target="slide4.xml"/><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hyperlink" Target="https://flyingdeuk.github.io/posts/RKSI-ICN/" TargetMode="External"/><Relationship Id="rId4" Type="http://schemas.openxmlformats.org/officeDocument/2006/relationships/hyperlink" Target="https://flyingdeuk.github.io/posts/ZLXY-XIY/"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GHA-CSX/" TargetMode="External"/></Relationships>
</file>

<file path=ppt/slides/_rels/slide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84.xml.rels><?xml version="1.0" encoding="UTF-8" standalone="yes"?>
<Relationships xmlns="http://schemas.openxmlformats.org/package/2006/relationships"><Relationship Id="rId3" Type="http://schemas.openxmlformats.org/officeDocument/2006/relationships/hyperlink" Target="https://flyingdeuk.github.io/posts/ZGHA-CSX/" TargetMode="External"/><Relationship Id="rId7" Type="http://schemas.openxmlformats.org/officeDocument/2006/relationships/image" Target="../media/image19.pn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8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VHHH-HKG/"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slide" Target="slide4.xml"/><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slide" Target="slide8.xml"/><Relationship Id="rId5" Type="http://schemas.openxmlformats.org/officeDocument/2006/relationships/hyperlink" Target="https://flyingdeuk.github.io/posts/RKSI-ICN/" TargetMode="External"/><Relationship Id="rId4" Type="http://schemas.openxmlformats.org/officeDocument/2006/relationships/hyperlink" Target="https://flyingdeuk.github.io/posts/VHHH-HKG/" TargetMode="External"/></Relationships>
</file>

<file path=ppt/slides/_rels/slide87.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BTJ-TSN/" TargetMode="External"/></Relationships>
</file>

<file path=ppt/slides/_rels/slide8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89.xml.rels><?xml version="1.0" encoding="UTF-8" standalone="yes"?>
<Relationships xmlns="http://schemas.openxmlformats.org/package/2006/relationships"><Relationship Id="rId3" Type="http://schemas.openxmlformats.org/officeDocument/2006/relationships/hyperlink" Target="https://flyingdeuk.github.io/posts/ZBTJ-TSN/"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9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HCC-CGO/" TargetMode="External"/></Relationships>
</file>

<file path=ppt/slides/_rels/slide9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92.xml.rels><?xml version="1.0" encoding="UTF-8" standalone="yes"?>
<Relationships xmlns="http://schemas.openxmlformats.org/package/2006/relationships"><Relationship Id="rId3" Type="http://schemas.openxmlformats.org/officeDocument/2006/relationships/hyperlink" Target="https://flyingdeuk.github.io/posts/ZHCC-CGO/" TargetMode="External"/><Relationship Id="rId7" Type="http://schemas.openxmlformats.org/officeDocument/2006/relationships/image" Target="../media/image21.jpeg"/><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93.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GDY-DYG/" TargetMode="External"/></Relationships>
</file>

<file path=ppt/slides/_rels/slide9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95.xml.rels><?xml version="1.0" encoding="UTF-8" standalone="yes"?>
<Relationships xmlns="http://schemas.openxmlformats.org/package/2006/relationships"><Relationship Id="rId3" Type="http://schemas.openxmlformats.org/officeDocument/2006/relationships/hyperlink" Target="https://flyingdeuk.github.io/posts/ZGDY-DYG/" TargetMode="External"/><Relationship Id="rId7" Type="http://schemas.openxmlformats.org/officeDocument/2006/relationships/image" Target="../media/image22.jpe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9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94.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YTL-DLC/" TargetMode="External"/></Relationships>
</file>

<file path=ppt/slides/_rels/slide9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98.xml.rels><?xml version="1.0" encoding="UTF-8" standalone="yes"?>
<Relationships xmlns="http://schemas.openxmlformats.org/package/2006/relationships"><Relationship Id="rId3" Type="http://schemas.openxmlformats.org/officeDocument/2006/relationships/hyperlink" Target="https://flyingdeuk.github.io/posts/ZYTL-DLC/" TargetMode="External"/><Relationship Id="rId7" Type="http://schemas.openxmlformats.org/officeDocument/2006/relationships/image" Target="../media/image23.jpe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99.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ZSOF-HFE/" TargetMode="External"/></Relationships>
</file>

<file path=ppt/slides/_rels/slide10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8.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01.xml.rels><?xml version="1.0" encoding="UTF-8" standalone="yes"?>
<Relationships xmlns="http://schemas.openxmlformats.org/package/2006/relationships"><Relationship Id="rId3" Type="http://schemas.openxmlformats.org/officeDocument/2006/relationships/hyperlink" Target="https://flyingdeuk.github.io/posts/ZSOF-HFE/" TargetMode="External"/><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10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129.xml"/><Relationship Id="rId7" Type="http://schemas.openxmlformats.org/officeDocument/2006/relationships/slide" Target="slide8.xml"/><Relationship Id="rId2" Type="http://schemas.openxmlformats.org/officeDocument/2006/relationships/notesSlide" Target="../notesSlides/notesSlide100.xml"/><Relationship Id="rId1" Type="http://schemas.openxmlformats.org/officeDocument/2006/relationships/slideLayout" Target="../slideLayouts/slideLayout2.xml"/><Relationship Id="rId6" Type="http://schemas.openxmlformats.org/officeDocument/2006/relationships/hyperlink" Target="https://flyingdeuk.github.io/posts/ZPPP-KMG/" TargetMode="External"/><Relationship Id="rId5" Type="http://schemas.openxmlformats.org/officeDocument/2006/relationships/hyperlink" Target="https://flyingdeuk.github.io/posts/RKSI-ICN/" TargetMode="External"/><Relationship Id="rId4" Type="http://schemas.openxmlformats.org/officeDocument/2006/relationships/slide" Target="slide130.xml"/></Relationships>
</file>

<file path=ppt/slides/_rels/slide10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04.xml.rels><?xml version="1.0" encoding="UTF-8" standalone="yes"?>
<Relationships xmlns="http://schemas.openxmlformats.org/package/2006/relationships"><Relationship Id="rId3" Type="http://schemas.openxmlformats.org/officeDocument/2006/relationships/hyperlink" Target="https://flyingdeuk.github.io/posts/ZPPP-KMG/" TargetMode="External"/><Relationship Id="rId2" Type="http://schemas.openxmlformats.org/officeDocument/2006/relationships/notesSlide" Target="../notesSlides/notesSlide10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105.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03.xml"/><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8.xml"/><Relationship Id="rId4" Type="http://schemas.openxmlformats.org/officeDocument/2006/relationships/hyperlink" Target="https://flyingdeuk.github.io/posts/VMMC-MFM/" TargetMode="External"/></Relationships>
</file>

<file path=ppt/slides/_rels/slide10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107.xml.rels><?xml version="1.0" encoding="UTF-8" standalone="yes"?>
<Relationships xmlns="http://schemas.openxmlformats.org/package/2006/relationships"><Relationship Id="rId3" Type="http://schemas.openxmlformats.org/officeDocument/2006/relationships/hyperlink" Target="https://flyingdeuk.github.io/posts/VMMC-MFM/" TargetMode="External"/><Relationship Id="rId7" Type="http://schemas.openxmlformats.org/officeDocument/2006/relationships/image" Target="../media/image24.jpeg"/><Relationship Id="rId2" Type="http://schemas.openxmlformats.org/officeDocument/2006/relationships/notesSlide" Target="../notesSlides/notesSlide105.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8.xml"/><Relationship Id="rId4" Type="http://schemas.openxmlformats.org/officeDocument/2006/relationships/hyperlink" Target="https://flyingdeuk.github.io/posts/RKSI-ICN/" TargetMode="External"/></Relationships>
</file>

<file path=ppt/slides/_rels/slide10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VVCR-CXR/" TargetMode="External"/></Relationships>
</file>

<file path=ppt/slides/_rels/slide109.xml.rels><?xml version="1.0" encoding="UTF-8" standalone="yes"?>
<Relationships xmlns="http://schemas.openxmlformats.org/package/2006/relationships"><Relationship Id="rId3" Type="http://schemas.openxmlformats.org/officeDocument/2006/relationships/hyperlink" Target="https://flyingdeuk.github.io/posts/VVCR-CXR/" TargetMode="External"/><Relationship Id="rId7" Type="http://schemas.openxmlformats.org/officeDocument/2006/relationships/slide" Target="slide4.xml"/><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25.jpeg"/><Relationship Id="rId4" Type="http://schemas.openxmlformats.org/officeDocument/2006/relationships/hyperlink" Target="https://flyingdeuk.github.io/posts/RKSI-ICN/" TargetMode="External"/></Relationships>
</file>

<file path=ppt/slides/_rels/slide11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08.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VVTS-SGN/" TargetMode="External"/></Relationships>
</file>

<file path=ppt/slides/_rels/slide111.xml.rels><?xml version="1.0" encoding="UTF-8" standalone="yes"?>
<Relationships xmlns="http://schemas.openxmlformats.org/package/2006/relationships"><Relationship Id="rId3" Type="http://schemas.openxmlformats.org/officeDocument/2006/relationships/hyperlink" Target="https://flyingdeuk.github.io/posts/VVTS-SGN/" TargetMode="External"/><Relationship Id="rId2" Type="http://schemas.openxmlformats.org/officeDocument/2006/relationships/notesSlide" Target="../notesSlides/notesSlide109.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10.xml"/><Relationship Id="rId4" Type="http://schemas.openxmlformats.org/officeDocument/2006/relationships/hyperlink" Target="https://flyingdeuk.github.io/posts/RKSI-ICN/" TargetMode="External"/></Relationships>
</file>

<file path=ppt/slides/_rels/slide112.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VDPP-PNH/" TargetMode="External"/></Relationships>
</file>

<file path=ppt/slides/_rels/slide113.xml.rels><?xml version="1.0" encoding="UTF-8" standalone="yes"?>
<Relationships xmlns="http://schemas.openxmlformats.org/package/2006/relationships"><Relationship Id="rId3" Type="http://schemas.openxmlformats.org/officeDocument/2006/relationships/hyperlink" Target="https://flyingdeuk.github.io/posts/VDPP-PNH/" TargetMode="External"/><Relationship Id="rId7" Type="http://schemas.openxmlformats.org/officeDocument/2006/relationships/slide" Target="slide4.xml"/><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slide" Target="slide10.xml"/><Relationship Id="rId4" Type="http://schemas.openxmlformats.org/officeDocument/2006/relationships/hyperlink" Target="https://flyingdeuk.github.io/posts/RKSI-ICN/" TargetMode="External"/></Relationships>
</file>

<file path=ppt/slides/_rels/slide114.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RPLL-MNL/" TargetMode="External"/></Relationships>
</file>

<file path=ppt/slides/_rels/slide115.xml.rels><?xml version="1.0" encoding="UTF-8" standalone="yes"?>
<Relationships xmlns="http://schemas.openxmlformats.org/package/2006/relationships"><Relationship Id="rId3" Type="http://schemas.openxmlformats.org/officeDocument/2006/relationships/hyperlink" Target="https://flyingdeuk.github.io/posts/RPLL-MNL/" TargetMode="External"/><Relationship Id="rId7" Type="http://schemas.openxmlformats.org/officeDocument/2006/relationships/slide" Target="slide4.xml"/><Relationship Id="rId2" Type="http://schemas.openxmlformats.org/officeDocument/2006/relationships/notesSlide" Target="../notesSlides/notesSlide113.xml"/><Relationship Id="rId1" Type="http://schemas.openxmlformats.org/officeDocument/2006/relationships/slideLayout" Target="../slideLayouts/slideLayout2.xml"/><Relationship Id="rId6" Type="http://schemas.openxmlformats.org/officeDocument/2006/relationships/image" Target="../media/image27.jpeg"/><Relationship Id="rId5" Type="http://schemas.openxmlformats.org/officeDocument/2006/relationships/slide" Target="slide10.xml"/><Relationship Id="rId4" Type="http://schemas.openxmlformats.org/officeDocument/2006/relationships/hyperlink" Target="https://flyingdeuk.github.io/posts/RKSI-ICN/" TargetMode="External"/></Relationships>
</file>

<file path=ppt/slides/_rels/slide116.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14.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RCMQ-RMQ/" TargetMode="External"/></Relationships>
</file>

<file path=ppt/slides/_rels/slide117.xml.rels><?xml version="1.0" encoding="UTF-8" standalone="yes"?>
<Relationships xmlns="http://schemas.openxmlformats.org/package/2006/relationships"><Relationship Id="rId3" Type="http://schemas.openxmlformats.org/officeDocument/2006/relationships/hyperlink" Target="https://flyingdeuk.github.io/posts/RCMQ-RMQ/" TargetMode="External"/><Relationship Id="rId7" Type="http://schemas.openxmlformats.org/officeDocument/2006/relationships/image" Target="../media/image28.PNG"/><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10.xml"/><Relationship Id="rId4" Type="http://schemas.openxmlformats.org/officeDocument/2006/relationships/hyperlink" Target="https://flyingdeuk.github.io/posts/RKSI-ICN/" TargetMode="External"/></Relationships>
</file>

<file path=ppt/slides/_rels/slide118.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7" Type="http://schemas.openxmlformats.org/officeDocument/2006/relationships/image" Target="../media/image29.jpg"/><Relationship Id="rId2" Type="http://schemas.openxmlformats.org/officeDocument/2006/relationships/notesSlide" Target="../notesSlides/notesSlide116.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RCTP-TPE/" TargetMode="External"/></Relationships>
</file>

<file path=ppt/slides/_rels/slide119.xml.rels><?xml version="1.0" encoding="UTF-8" standalone="yes"?>
<Relationships xmlns="http://schemas.openxmlformats.org/package/2006/relationships"><Relationship Id="rId3" Type="http://schemas.openxmlformats.org/officeDocument/2006/relationships/hyperlink" Target="https://flyingdeuk.github.io/posts/RCTP-TPE/" TargetMode="External"/><Relationship Id="rId2" Type="http://schemas.openxmlformats.org/officeDocument/2006/relationships/notesSlide" Target="../notesSlides/notesSlide117.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10.xml"/><Relationship Id="rId4" Type="http://schemas.openxmlformats.org/officeDocument/2006/relationships/hyperlink" Target="https://flyingdeuk.github.io/posts/RKSI-ICN/" TargetMode="External"/></Relationships>
</file>

<file path=ppt/slides/_rels/slide120.xml.rels><?xml version="1.0" encoding="UTF-8" standalone="yes"?>
<Relationships xmlns="http://schemas.openxmlformats.org/package/2006/relationships"><Relationship Id="rId3" Type="http://schemas.openxmlformats.org/officeDocument/2006/relationships/hyperlink" Target="https://flyingdeuk.github.io/posts/RKSI-ICN/" TargetMode="External"/><Relationship Id="rId2" Type="http://schemas.openxmlformats.org/officeDocument/2006/relationships/notesSlide" Target="../notesSlides/notesSlide118.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PGUM-GUM/" TargetMode="Externa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hyperlink" Target="https://flyingdeuk.github.io/posts/PGUM-GUM/" TargetMode="External"/><Relationship Id="rId7" Type="http://schemas.openxmlformats.org/officeDocument/2006/relationships/slide" Target="slide4.xml"/><Relationship Id="rId2" Type="http://schemas.openxmlformats.org/officeDocument/2006/relationships/notesSlide" Target="../notesSlides/notesSlide120.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30.jpeg"/><Relationship Id="rId4" Type="http://schemas.openxmlformats.org/officeDocument/2006/relationships/hyperlink" Target="https://flyingdeuk.github.io/posts/RKSI-ICN/" TargetMode="External"/></Relationships>
</file>

<file path=ppt/slides/_rels/slide123.xml.rels><?xml version="1.0" encoding="UTF-8" standalone="yes"?>
<Relationships xmlns="http://schemas.openxmlformats.org/package/2006/relationships"><Relationship Id="rId8" Type="http://schemas.openxmlformats.org/officeDocument/2006/relationships/image" Target="../media/image29.jpg"/><Relationship Id="rId3" Type="http://schemas.openxmlformats.org/officeDocument/2006/relationships/hyperlink" Target="https://flyingdeuk.github.io/posts/RKPK-PUS/" TargetMode="External"/><Relationship Id="rId7" Type="http://schemas.openxmlformats.org/officeDocument/2006/relationships/image" Target="../media/image9.jpg"/><Relationship Id="rId2" Type="http://schemas.openxmlformats.org/officeDocument/2006/relationships/notesSlide" Target="../notesSlides/notesSlide121.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RCTP-TPE/" TargetMode="External"/></Relationships>
</file>

<file path=ppt/slides/_rels/slide124.xml.rels><?xml version="1.0" encoding="UTF-8" standalone="yes"?>
<Relationships xmlns="http://schemas.openxmlformats.org/package/2006/relationships"><Relationship Id="rId3" Type="http://schemas.openxmlformats.org/officeDocument/2006/relationships/hyperlink" Target="https://flyingdeuk.github.io/posts/RCTP-TPE/" TargetMode="External"/><Relationship Id="rId7" Type="http://schemas.openxmlformats.org/officeDocument/2006/relationships/slide" Target="slide138.xml"/><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10.xml"/><Relationship Id="rId4" Type="http://schemas.openxmlformats.org/officeDocument/2006/relationships/hyperlink" Target="https://flyingdeuk.github.io/posts/RKPK-PUS/" TargetMode="External"/></Relationships>
</file>

<file path=ppt/slides/_rels/slide125.xml.rels><?xml version="1.0" encoding="UTF-8" standalone="yes"?>
<Relationships xmlns="http://schemas.openxmlformats.org/package/2006/relationships"><Relationship Id="rId3" Type="http://schemas.openxmlformats.org/officeDocument/2006/relationships/hyperlink" Target="https://flyingdeuk.github.io/posts/RKPK-PUS/" TargetMode="External"/><Relationship Id="rId7" Type="http://schemas.openxmlformats.org/officeDocument/2006/relationships/image" Target="../media/image9.jpg"/><Relationship Id="rId2" Type="http://schemas.openxmlformats.org/officeDocument/2006/relationships/notesSlide" Target="../notesSlides/notesSlide123.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slide" Target="slide10.xml"/><Relationship Id="rId4" Type="http://schemas.openxmlformats.org/officeDocument/2006/relationships/hyperlink" Target="https://flyingdeuk.github.io/posts/VTBS-BKK/" TargetMode="External"/></Relationships>
</file>

<file path=ppt/slides/_rels/slide126.xml.rels><?xml version="1.0" encoding="UTF-8" standalone="yes"?>
<Relationships xmlns="http://schemas.openxmlformats.org/package/2006/relationships"><Relationship Id="rId3" Type="http://schemas.openxmlformats.org/officeDocument/2006/relationships/hyperlink" Target="https://flyingdeuk.github.io/posts/VTBS-BKK/" TargetMode="External"/><Relationship Id="rId7" Type="http://schemas.openxmlformats.org/officeDocument/2006/relationships/slide" Target="slide138.xml"/><Relationship Id="rId2" Type="http://schemas.openxmlformats.org/officeDocument/2006/relationships/notesSlide" Target="../notesSlides/notesSlide124.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slide" Target="slide10.xml"/><Relationship Id="rId4" Type="http://schemas.openxmlformats.org/officeDocument/2006/relationships/hyperlink" Target="https://flyingdeuk.github.io/posts/RKPK-PUS/" TargetMode="Externa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128.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slide" Target="slide6.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slide" Target="slide133.xml"/><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133.xml"/><Relationship Id="rId1" Type="http://schemas.openxmlformats.org/officeDocument/2006/relationships/slideLayout" Target="../slideLayouts/slideLayout2.xml"/><Relationship Id="rId4" Type="http://schemas.openxmlformats.org/officeDocument/2006/relationships/slide" Target="slide133.xml"/></Relationships>
</file>

<file path=ppt/slides/_rels/slide1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5.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3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slide" Target="slide3.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692784493"/>
              </p:ext>
            </p:extLst>
          </p:nvPr>
        </p:nvGraphicFramePr>
        <p:xfrm>
          <a:off x="98101" y="1122494"/>
          <a:ext cx="2132650" cy="1973732"/>
        </p:xfrm>
        <a:graphic>
          <a:graphicData uri="http://schemas.openxmlformats.org/drawingml/2006/table">
            <a:tbl>
              <a:tblPr firstRow="1" bandRow="1">
                <a:noFill/>
                <a:tableStyleId>{A521BE36-7E6F-4EC9-8D66-1CF97A6895EC}</a:tableStyleId>
              </a:tblPr>
              <a:tblGrid>
                <a:gridCol w="2132650">
                  <a:extLst>
                    <a:ext uri="{9D8B030D-6E8A-4147-A177-3AD203B41FA5}">
                      <a16:colId xmlns:a16="http://schemas.microsoft.com/office/drawing/2014/main" val="20000"/>
                    </a:ext>
                  </a:extLst>
                </a:gridCol>
              </a:tblGrid>
              <a:tr h="493433">
                <a:tc>
                  <a:txBody>
                    <a:bodyPr/>
                    <a:lstStyle/>
                    <a:p>
                      <a:pPr marL="0" marR="0" lvl="0" indent="0" algn="ctr" rtl="0">
                        <a:spcBef>
                          <a:spcPts val="0"/>
                        </a:spcBef>
                        <a:spcAft>
                          <a:spcPts val="0"/>
                        </a:spcAft>
                        <a:buNone/>
                      </a:pPr>
                      <a:r>
                        <a:rPr lang="en-US" sz="2400" b="1" u="none" strike="noStrike" cap="none" dirty="0">
                          <a:solidFill>
                            <a:schemeClr val="bg1"/>
                          </a:solidFill>
                          <a:latin typeface="Calibri"/>
                          <a:cs typeface="Calibri"/>
                          <a:sym typeface="Calibri"/>
                          <a:hlinkClick r:id="rId3" action="ppaction://hlinksldjump">
                            <a:extLst>
                              <a:ext uri="{A12FA001-AC4F-418D-AE19-62706E023703}">
                                <ahyp:hlinkClr xmlns:ahyp="http://schemas.microsoft.com/office/drawing/2018/hyperlinkcolor" val="tx"/>
                              </a:ext>
                            </a:extLst>
                          </a:hlinkClick>
                        </a:rPr>
                        <a:t>Domestic</a:t>
                      </a:r>
                      <a:endParaRPr sz="2400" b="1" u="none" strike="noStrike" cap="none" dirty="0">
                        <a:solidFill>
                          <a:schemeClr val="bg1"/>
                        </a:solidFill>
                        <a:latin typeface="Calibri"/>
                        <a:cs typeface="Calibri"/>
                        <a:sym typeface="Calibri"/>
                      </a:endParaRPr>
                    </a:p>
                  </a:txBody>
                  <a:tcPr marL="0" marR="0" marT="0" marB="0" anchor="ctr"/>
                </a:tc>
                <a:extLst>
                  <a:ext uri="{0D108BD9-81ED-4DB2-BD59-A6C34878D82A}">
                    <a16:rowId xmlns:a16="http://schemas.microsoft.com/office/drawing/2014/main" val="10000"/>
                  </a:ext>
                </a:extLst>
              </a:tr>
              <a:tr h="493433">
                <a:tc>
                  <a:txBody>
                    <a:bodyPr/>
                    <a:lstStyle/>
                    <a:p>
                      <a:pPr marL="0" marR="0" lvl="0" indent="0" algn="ctr" rtl="0">
                        <a:spcBef>
                          <a:spcPts val="0"/>
                        </a:spcBef>
                        <a:spcAft>
                          <a:spcPts val="0"/>
                        </a:spcAft>
                        <a:buNone/>
                      </a:pPr>
                      <a:r>
                        <a:rPr lang="en-US" sz="2400" b="1" u="none" strike="noStrike" cap="none" dirty="0">
                          <a:solidFill>
                            <a:srgbClr val="0070C0"/>
                          </a:solidFill>
                          <a:latin typeface="Calibri"/>
                          <a:ea typeface="Calibri"/>
                          <a:cs typeface="Calibri"/>
                          <a:sym typeface="Calibri"/>
                          <a:hlinkClick r:id="rId4" action="ppaction://hlinksldjump">
                            <a:extLst>
                              <a:ext uri="{A12FA001-AC4F-418D-AE19-62706E023703}">
                                <ahyp:hlinkClr xmlns:ahyp="http://schemas.microsoft.com/office/drawing/2018/hyperlinkcolor" val="tx"/>
                              </a:ext>
                            </a:extLst>
                          </a:hlinkClick>
                        </a:rPr>
                        <a:t>Japan</a:t>
                      </a:r>
                      <a:endParaRPr sz="2400" b="1" u="none" strike="noStrike" cap="none" dirty="0">
                        <a:solidFill>
                          <a:srgbClr val="0070C0"/>
                        </a:solidFill>
                        <a:latin typeface="Calibri"/>
                        <a:cs typeface="Calibri"/>
                        <a:sym typeface="Calibri"/>
                      </a:endParaRPr>
                    </a:p>
                  </a:txBody>
                  <a:tcPr marL="0" marR="0" marT="0" marB="0" anchor="ctr"/>
                </a:tc>
                <a:extLst>
                  <a:ext uri="{0D108BD9-81ED-4DB2-BD59-A6C34878D82A}">
                    <a16:rowId xmlns:a16="http://schemas.microsoft.com/office/drawing/2014/main" val="10001"/>
                  </a:ext>
                </a:extLst>
              </a:tr>
              <a:tr h="493433">
                <a:tc>
                  <a:txBody>
                    <a:bodyPr/>
                    <a:lstStyle/>
                    <a:p>
                      <a:pPr marL="0" marR="0" lvl="0" indent="0" algn="ctr" rtl="0">
                        <a:spcBef>
                          <a:spcPts val="0"/>
                        </a:spcBef>
                        <a:spcAft>
                          <a:spcPts val="0"/>
                        </a:spcAft>
                        <a:buNone/>
                      </a:pPr>
                      <a:r>
                        <a:rPr lang="en-US" sz="2400" b="1" u="none" strike="noStrike" cap="none" dirty="0">
                          <a:solidFill>
                            <a:srgbClr val="00B050"/>
                          </a:solidFill>
                          <a:latin typeface="Calibri"/>
                          <a:ea typeface="Calibri"/>
                          <a:cs typeface="Calibri"/>
                          <a:sym typeface="Calibri"/>
                          <a:hlinkClick r:id="rId5" action="ppaction://hlinksldjump">
                            <a:extLst>
                              <a:ext uri="{A12FA001-AC4F-418D-AE19-62706E023703}">
                                <ahyp:hlinkClr xmlns:ahyp="http://schemas.microsoft.com/office/drawing/2018/hyperlinkcolor" val="tx"/>
                              </a:ext>
                            </a:extLst>
                          </a:hlinkClick>
                        </a:rPr>
                        <a:t>China</a:t>
                      </a:r>
                      <a:endParaRPr lang="en-US" altLang="ko-Kore-KR" sz="2400" b="1" u="none" strike="noStrike" cap="none" dirty="0">
                        <a:solidFill>
                          <a:srgbClr val="00B050"/>
                        </a:solidFill>
                        <a:latin typeface="Calibri"/>
                        <a:cs typeface="Calibri"/>
                        <a:sym typeface="Calibri"/>
                      </a:endParaRPr>
                    </a:p>
                  </a:txBody>
                  <a:tcPr marL="0" marR="0" marT="0" marB="0" anchor="ctr"/>
                </a:tc>
                <a:extLst>
                  <a:ext uri="{0D108BD9-81ED-4DB2-BD59-A6C34878D82A}">
                    <a16:rowId xmlns:a16="http://schemas.microsoft.com/office/drawing/2014/main" val="10002"/>
                  </a:ext>
                </a:extLst>
              </a:tr>
              <a:tr h="493433">
                <a:tc>
                  <a:txBody>
                    <a:bodyPr/>
                    <a:lstStyle/>
                    <a:p>
                      <a:pPr marL="0" marR="0" lvl="0" indent="0" algn="ctr" rtl="0">
                        <a:spcBef>
                          <a:spcPts val="0"/>
                        </a:spcBef>
                        <a:spcAft>
                          <a:spcPts val="0"/>
                        </a:spcAft>
                        <a:buNone/>
                      </a:pPr>
                      <a:r>
                        <a:rPr lang="en-US" sz="2400" b="1" u="none" strike="noStrike" cap="none" dirty="0">
                          <a:solidFill>
                            <a:srgbClr val="AA47F5"/>
                          </a:solidFill>
                          <a:latin typeface="Calibri"/>
                          <a:ea typeface="Calibri"/>
                          <a:cs typeface="Calibri"/>
                          <a:sym typeface="Calibri"/>
                          <a:hlinkClick r:id="rId6" action="ppaction://hlinksldjump">
                            <a:extLst>
                              <a:ext uri="{A12FA001-AC4F-418D-AE19-62706E023703}">
                                <ahyp:hlinkClr xmlns:ahyp="http://schemas.microsoft.com/office/drawing/2018/hyperlinkcolor" val="tx"/>
                              </a:ext>
                            </a:extLst>
                          </a:hlinkClick>
                        </a:rPr>
                        <a:t>S.E Asia(GUM)</a:t>
                      </a:r>
                      <a:endParaRPr lang="en-US" altLang="ko-Kore-KR" sz="2400" b="1" u="none" strike="noStrike" cap="none" dirty="0">
                        <a:solidFill>
                          <a:srgbClr val="AA47F5"/>
                        </a:solidFill>
                        <a:latin typeface="Calibri"/>
                        <a:cs typeface="Calibri"/>
                        <a:sym typeface="Calibri"/>
                      </a:endParaRPr>
                    </a:p>
                  </a:txBody>
                  <a:tcPr marL="0" marR="0" marT="0" marB="0" anchor="ctr"/>
                </a:tc>
                <a:extLst>
                  <a:ext uri="{0D108BD9-81ED-4DB2-BD59-A6C34878D82A}">
                    <a16:rowId xmlns:a16="http://schemas.microsoft.com/office/drawing/2014/main" val="10003"/>
                  </a:ext>
                </a:extLst>
              </a:tr>
            </a:tbl>
          </a:graphicData>
        </a:graphic>
      </p:graphicFrame>
      <p:sp>
        <p:nvSpPr>
          <p:cNvPr id="89" name="Google Shape;89;p1">
            <a:hlinkClick r:id="rId7"/>
          </p:cNvPr>
          <p:cNvSpPr/>
          <p:nvPr/>
        </p:nvSpPr>
        <p:spPr>
          <a:xfrm>
            <a:off x="11947" y="-38794"/>
            <a:ext cx="2332054" cy="861734"/>
          </a:xfrm>
          <a:prstGeom prst="rect">
            <a:avLst/>
          </a:prstGeom>
          <a:noFill/>
          <a:ln>
            <a:noFill/>
          </a:ln>
        </p:spPr>
        <p:txBody>
          <a:bodyPr spcFirstLastPara="1" wrap="square" lIns="36000" tIns="45700" rIns="36000" bIns="45700" anchor="ctr" anchorCtr="0">
            <a:spAutoFit/>
          </a:bodyPr>
          <a:lstStyle/>
          <a:p>
            <a:pPr marL="0" marR="0" lvl="0" indent="0" rtl="0">
              <a:spcBef>
                <a:spcPts val="0"/>
              </a:spcBef>
              <a:spcAft>
                <a:spcPts val="0"/>
              </a:spcAft>
              <a:buNone/>
            </a:pPr>
            <a:r>
              <a:rPr lang="en-US"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hlinkClick r:id="rId8"/>
              </a:rPr>
              <a:t>A330</a:t>
            </a:r>
          </a:p>
          <a:p>
            <a:pPr marL="0" marR="0" lvl="0" indent="0" algn="ctr" rtl="0">
              <a:spcBef>
                <a:spcPts val="0"/>
              </a:spcBef>
              <a:spcAft>
                <a:spcPts val="0"/>
              </a:spcAft>
              <a:buNone/>
            </a:pPr>
            <a:r>
              <a:rPr lang="en-US"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hlinkClick r:id="rId8"/>
              </a:rPr>
              <a:t>KneeBoard</a:t>
            </a:r>
            <a:endParaRPr sz="3200" b="1" i="0" u="none" strike="noStrike" dirty="0">
              <a:ln w="9525">
                <a:solidFill>
                  <a:schemeClr val="bg1"/>
                </a:solidFill>
                <a:prstDash val="solid"/>
              </a:ln>
              <a:solidFill>
                <a:schemeClr val="tx1"/>
              </a:solidFill>
              <a:effectLst>
                <a:outerShdw blurRad="50800" dist="38100" algn="l" rotWithShape="0">
                  <a:prstClr val="black">
                    <a:alpha val="40000"/>
                  </a:prstClr>
                </a:outerShdw>
                <a:reflection blurRad="6350" stA="55000" endA="300" endPos="45500" dir="5400000" sy="-100000" algn="bl" rotWithShape="0"/>
              </a:effectLst>
              <a:latin typeface="+mj-lt"/>
              <a:ea typeface="BM DoHyeon OTF" panose="020B0600000101010101" pitchFamily="34" charset="-127"/>
              <a:cs typeface="Calibri"/>
              <a:sym typeface="Calibri"/>
            </a:endParaRPr>
          </a:p>
        </p:txBody>
      </p:sp>
      <p:graphicFrame>
        <p:nvGraphicFramePr>
          <p:cNvPr id="90" name="Google Shape;90;p1"/>
          <p:cNvGraphicFramePr/>
          <p:nvPr>
            <p:extLst>
              <p:ext uri="{D42A27DB-BD31-4B8C-83A1-F6EECF244321}">
                <p14:modId xmlns:p14="http://schemas.microsoft.com/office/powerpoint/2010/main" val="3276498700"/>
              </p:ext>
            </p:extLst>
          </p:nvPr>
        </p:nvGraphicFramePr>
        <p:xfrm>
          <a:off x="185895" y="3288168"/>
          <a:ext cx="1969476" cy="1977948"/>
        </p:xfrm>
        <a:graphic>
          <a:graphicData uri="http://schemas.openxmlformats.org/drawingml/2006/table">
            <a:tbl>
              <a:tblPr firstRow="1" bandRow="1">
                <a:noFill/>
                <a:tableStyleId>{A521BE36-7E6F-4EC9-8D66-1CF97A6895EC}</a:tableStyleId>
              </a:tblPr>
              <a:tblGrid>
                <a:gridCol w="984738">
                  <a:extLst>
                    <a:ext uri="{9D8B030D-6E8A-4147-A177-3AD203B41FA5}">
                      <a16:colId xmlns:a16="http://schemas.microsoft.com/office/drawing/2014/main" val="20000"/>
                    </a:ext>
                  </a:extLst>
                </a:gridCol>
                <a:gridCol w="984738">
                  <a:extLst>
                    <a:ext uri="{9D8B030D-6E8A-4147-A177-3AD203B41FA5}">
                      <a16:colId xmlns:a16="http://schemas.microsoft.com/office/drawing/2014/main" val="20001"/>
                    </a:ext>
                  </a:extLst>
                </a:gridCol>
              </a:tblGrid>
              <a:tr h="329658">
                <a:tc gridSpan="2">
                  <a:txBody>
                    <a:bodyPr/>
                    <a:lstStyle/>
                    <a:p>
                      <a:pPr marL="0" marR="0" lvl="0" indent="0" algn="ctr" rtl="0">
                        <a:spcBef>
                          <a:spcPts val="0"/>
                        </a:spcBef>
                        <a:spcAft>
                          <a:spcPts val="0"/>
                        </a:spcAft>
                        <a:buNone/>
                      </a:pPr>
                      <a:r>
                        <a:rPr lang="en-US" sz="1400" b="1" u="none" strike="noStrike" cap="none" dirty="0">
                          <a:solidFill>
                            <a:schemeClr val="bg1"/>
                          </a:solidFill>
                          <a:latin typeface="Calibri"/>
                          <a:ea typeface="Calibri"/>
                          <a:cs typeface="Calibri"/>
                          <a:sym typeface="Calibri"/>
                        </a:rPr>
                        <a:t>Supplement</a:t>
                      </a:r>
                      <a:endParaRPr sz="1400" b="1" u="none" strike="noStrike" cap="none" dirty="0">
                        <a:solidFill>
                          <a:schemeClr val="bg1"/>
                        </a:solidFill>
                        <a:latin typeface="Calibri"/>
                        <a:ea typeface="Calibri"/>
                        <a:cs typeface="Calibri"/>
                        <a:sym typeface="Calibri"/>
                      </a:endParaRPr>
                    </a:p>
                  </a:txBody>
                  <a:tcPr marL="91450" marR="91450" marT="0" marB="0" anchor="ctr"/>
                </a:tc>
                <a:tc hMerge="1">
                  <a:txBody>
                    <a:bodyPr/>
                    <a:lstStyle/>
                    <a:p>
                      <a:endParaRPr lang="ko-Kore-KR"/>
                    </a:p>
                  </a:txBody>
                  <a:tcPr/>
                </a:tc>
                <a:extLst>
                  <a:ext uri="{0D108BD9-81ED-4DB2-BD59-A6C34878D82A}">
                    <a16:rowId xmlns:a16="http://schemas.microsoft.com/office/drawing/2014/main" val="10000"/>
                  </a:ext>
                </a:extLst>
              </a:tr>
              <a:tr h="329658">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chemeClr val="bg1">
                              <a:lumMod val="50000"/>
                              <a:lumOff val="50000"/>
                            </a:schemeClr>
                          </a:solidFill>
                          <a:latin typeface="Calibri"/>
                          <a:ea typeface="Calibri"/>
                          <a:cs typeface="Calibri"/>
                          <a:sym typeface="Calibri"/>
                          <a:hlinkClick r:id="rId9" action="ppaction://hlinksldjump">
                            <a:extLst>
                              <a:ext uri="{A12FA001-AC4F-418D-AE19-62706E023703}">
                                <ahyp:hlinkClr xmlns:ahyp="http://schemas.microsoft.com/office/drawing/2018/hyperlinkcolor" val="tx"/>
                              </a:ext>
                            </a:extLst>
                          </a:hlinkClick>
                        </a:rPr>
                        <a:t>FUEL Consumption</a:t>
                      </a:r>
                      <a:endParaRPr lang="en-US" altLang="ko-Kore-KR" sz="1400" b="1" u="none" strike="noStrike" cap="none" dirty="0">
                        <a:solidFill>
                          <a:schemeClr val="bg1">
                            <a:lumMod val="50000"/>
                            <a:lumOff val="50000"/>
                          </a:schemeClr>
                        </a:solidFill>
                        <a:latin typeface="Calibri"/>
                        <a:ea typeface="Calibri"/>
                        <a:cs typeface="Calibri"/>
                        <a:sym typeface="Calibri"/>
                      </a:endParaRPr>
                    </a:p>
                  </a:txBody>
                  <a:tcPr marL="91450" marR="91450" marT="0" marB="0" anchor="ctr"/>
                </a:tc>
                <a:tc hMerge="1">
                  <a:txBody>
                    <a:bodyPr/>
                    <a:lstStyle/>
                    <a:p>
                      <a:endParaRPr lang="ko-Kore-KR" altLang="en-US"/>
                    </a:p>
                  </a:txBody>
                  <a:tcPr/>
                </a:tc>
                <a:extLst>
                  <a:ext uri="{0D108BD9-81ED-4DB2-BD59-A6C34878D82A}">
                    <a16:rowId xmlns:a16="http://schemas.microsoft.com/office/drawing/2014/main" val="966151611"/>
                  </a:ext>
                </a:extLst>
              </a:tr>
              <a:tr h="329658">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chemeClr val="bg1">
                              <a:lumMod val="50000"/>
                              <a:lumOff val="50000"/>
                            </a:schemeClr>
                          </a:solidFill>
                          <a:latin typeface="Calibri"/>
                          <a:ea typeface="Calibri"/>
                          <a:cs typeface="Calibri"/>
                          <a:sym typeface="Calibri"/>
                          <a:hlinkClick r:id="rId10" action="ppaction://hlinksldjump">
                            <a:extLst>
                              <a:ext uri="{A12FA001-AC4F-418D-AE19-62706E023703}">
                                <ahyp:hlinkClr xmlns:ahyp="http://schemas.microsoft.com/office/drawing/2018/hyperlinkcolor" val="tx"/>
                              </a:ext>
                            </a:extLst>
                          </a:hlinkClick>
                        </a:rPr>
                        <a:t>LP Aircon/ HP StartUnit</a:t>
                      </a:r>
                      <a:r>
                        <a:rPr lang="en-US" altLang="ko-Kore-KR" sz="1400" b="1" u="none" strike="noStrike" cap="none" dirty="0">
                          <a:solidFill>
                            <a:schemeClr val="bg1">
                              <a:lumMod val="50000"/>
                              <a:lumOff val="50000"/>
                            </a:schemeClr>
                          </a:solidFill>
                          <a:latin typeface="Calibri"/>
                          <a:ea typeface="Calibri"/>
                          <a:cs typeface="Calibri"/>
                          <a:sym typeface="Calibri"/>
                        </a:rPr>
                        <a:t> </a:t>
                      </a:r>
                    </a:p>
                  </a:txBody>
                  <a:tcPr marL="91450" marR="91450" marT="0" marB="0" anchor="ctr"/>
                </a:tc>
                <a:tc hMerge="1">
                  <a:txBody>
                    <a:bodyPr/>
                    <a:lstStyle/>
                    <a:p>
                      <a:endParaRPr lang="ko-Kore-KR" altLang="en-US"/>
                    </a:p>
                  </a:txBody>
                  <a:tcPr/>
                </a:tc>
                <a:extLst>
                  <a:ext uri="{0D108BD9-81ED-4DB2-BD59-A6C34878D82A}">
                    <a16:rowId xmlns:a16="http://schemas.microsoft.com/office/drawing/2014/main" val="211395324"/>
                  </a:ext>
                </a:extLst>
              </a:tr>
              <a:tr h="329658">
                <a:tc gridSpan="2">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1" u="none" strike="noStrike" cap="none" dirty="0">
                          <a:solidFill>
                            <a:schemeClr val="bg1">
                              <a:lumMod val="50000"/>
                              <a:lumOff val="50000"/>
                            </a:schemeClr>
                          </a:solidFill>
                          <a:latin typeface="Calibri"/>
                          <a:ea typeface="Calibri"/>
                          <a:cs typeface="Calibri"/>
                          <a:sym typeface="Calibri"/>
                          <a:hlinkClick r:id="rId11" action="ppaction://hlinksldjump">
                            <a:extLst>
                              <a:ext uri="{A12FA001-AC4F-418D-AE19-62706E023703}">
                                <ahyp:hlinkClr xmlns:ahyp="http://schemas.microsoft.com/office/drawing/2018/hyperlinkcolor" val="tx"/>
                              </a:ext>
                            </a:extLst>
                          </a:hlinkClick>
                        </a:rPr>
                        <a:t>Cold Temp Correction</a:t>
                      </a:r>
                      <a:endParaRPr lang="en-US" altLang="ko-Kore-KR" sz="1400" b="1" u="none" strike="noStrike" cap="none" dirty="0">
                        <a:solidFill>
                          <a:schemeClr val="bg1">
                            <a:lumMod val="50000"/>
                            <a:lumOff val="50000"/>
                          </a:schemeClr>
                        </a:solidFill>
                        <a:latin typeface="Calibri"/>
                        <a:ea typeface="Calibri"/>
                        <a:cs typeface="Calibri"/>
                        <a:sym typeface="Calibri"/>
                      </a:endParaRPr>
                    </a:p>
                  </a:txBody>
                  <a:tcPr marL="91450" marR="91450" marT="0" marB="0" anchor="ctr"/>
                </a:tc>
                <a:tc hMerge="1">
                  <a:txBody>
                    <a:bodyPr/>
                    <a:lstStyle/>
                    <a:p>
                      <a:endParaRPr lang="ko-Kore-KR"/>
                    </a:p>
                  </a:txBody>
                  <a:tcPr/>
                </a:tc>
                <a:extLst>
                  <a:ext uri="{0D108BD9-81ED-4DB2-BD59-A6C34878D82A}">
                    <a16:rowId xmlns:a16="http://schemas.microsoft.com/office/drawing/2014/main" val="10002"/>
                  </a:ext>
                </a:extLst>
              </a:tr>
              <a:tr h="329658">
                <a:tc gridSpan="2">
                  <a:txBody>
                    <a:bodyPr/>
                    <a:lstStyle/>
                    <a:p>
                      <a:pPr marL="0" marR="0" lvl="0" indent="0" algn="ctr" rtl="0">
                        <a:spcBef>
                          <a:spcPts val="0"/>
                        </a:spcBef>
                        <a:spcAft>
                          <a:spcPts val="0"/>
                        </a:spcAft>
                        <a:buNone/>
                      </a:pPr>
                      <a:r>
                        <a:rPr lang="en-US" sz="1400" b="1" u="none" strike="noStrike" cap="none" dirty="0">
                          <a:solidFill>
                            <a:schemeClr val="bg1">
                              <a:lumMod val="50000"/>
                              <a:lumOff val="50000"/>
                            </a:schemeClr>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Cold </a:t>
                      </a:r>
                      <a:r>
                        <a:rPr lang="en-US" sz="1400" b="1" u="none" strike="noStrike" cap="none" dirty="0" err="1">
                          <a:solidFill>
                            <a:schemeClr val="bg1">
                              <a:lumMod val="50000"/>
                              <a:lumOff val="50000"/>
                            </a:schemeClr>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Wx</a:t>
                      </a:r>
                      <a:r>
                        <a:rPr lang="en-US" sz="1400" b="1" u="none" strike="noStrike" cap="none" dirty="0">
                          <a:solidFill>
                            <a:schemeClr val="bg1">
                              <a:lumMod val="50000"/>
                              <a:lumOff val="50000"/>
                            </a:schemeClr>
                          </a:solidFill>
                          <a:latin typeface="Calibri"/>
                          <a:ea typeface="Calibri"/>
                          <a:cs typeface="Calibri"/>
                          <a:sym typeface="Calibri"/>
                          <a:hlinkClick r:id="rId12" action="ppaction://hlinksldjump">
                            <a:extLst>
                              <a:ext uri="{A12FA001-AC4F-418D-AE19-62706E023703}">
                                <ahyp:hlinkClr xmlns:ahyp="http://schemas.microsoft.com/office/drawing/2018/hyperlinkcolor" val="tx"/>
                              </a:ext>
                            </a:extLst>
                          </a:hlinkClick>
                        </a:rPr>
                        <a:t> Operation</a:t>
                      </a:r>
                      <a:endParaRPr sz="1400" b="1" u="none" strike="noStrike" cap="none" dirty="0">
                        <a:solidFill>
                          <a:schemeClr val="bg1">
                            <a:lumMod val="50000"/>
                            <a:lumOff val="50000"/>
                          </a:schemeClr>
                        </a:solidFill>
                        <a:latin typeface="Calibri"/>
                        <a:ea typeface="Calibri"/>
                        <a:cs typeface="Calibri"/>
                        <a:sym typeface="Calibri"/>
                      </a:endParaRPr>
                    </a:p>
                  </a:txBody>
                  <a:tcPr marL="91450" marR="91450" marT="0" marB="0" anchor="ctr"/>
                </a:tc>
                <a:tc hMerge="1">
                  <a:txBody>
                    <a:bodyPr/>
                    <a:lstStyle/>
                    <a:p>
                      <a:endParaRPr lang="ko-Kore-KR"/>
                    </a:p>
                  </a:txBody>
                  <a:tcPr/>
                </a:tc>
                <a:extLst>
                  <a:ext uri="{0D108BD9-81ED-4DB2-BD59-A6C34878D82A}">
                    <a16:rowId xmlns:a16="http://schemas.microsoft.com/office/drawing/2014/main" val="10003"/>
                  </a:ext>
                </a:extLst>
              </a:tr>
              <a:tr h="329658">
                <a:tc>
                  <a:txBody>
                    <a:bodyPr/>
                    <a:lstStyle/>
                    <a:p>
                      <a:pPr marL="0" marR="0" lvl="0" indent="0" algn="ctr" rtl="0">
                        <a:spcBef>
                          <a:spcPts val="0"/>
                        </a:spcBef>
                        <a:spcAft>
                          <a:spcPts val="0"/>
                        </a:spcAft>
                        <a:buNone/>
                      </a:pPr>
                      <a:r>
                        <a:rPr lang="en-US" sz="1200" b="1" u="none" strike="noStrike" cap="none" dirty="0">
                          <a:solidFill>
                            <a:schemeClr val="bg1">
                              <a:lumMod val="50000"/>
                              <a:lumOff val="50000"/>
                            </a:schemeClr>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ENG ON </a:t>
                      </a:r>
                      <a:r>
                        <a:rPr lang="en-US" sz="900" b="1" u="none" strike="noStrike" cap="none" dirty="0">
                          <a:solidFill>
                            <a:schemeClr val="bg1">
                              <a:lumMod val="50000"/>
                              <a:lumOff val="50000"/>
                            </a:schemeClr>
                          </a:solidFill>
                          <a:latin typeface="Calibri"/>
                          <a:ea typeface="Calibri"/>
                          <a:cs typeface="Calibri"/>
                          <a:sym typeface="Calibri"/>
                          <a:hlinkClick r:id="rId13" action="ppaction://hlinksldjump">
                            <a:extLst>
                              <a:ext uri="{A12FA001-AC4F-418D-AE19-62706E023703}">
                                <ahyp:hlinkClr xmlns:ahyp="http://schemas.microsoft.com/office/drawing/2018/hyperlinkcolor" val="tx"/>
                              </a:ext>
                            </a:extLst>
                          </a:hlinkClick>
                        </a:rPr>
                        <a:t>Deicing</a:t>
                      </a:r>
                      <a:endParaRPr sz="1200" b="1" u="none" strike="noStrike" cap="none" dirty="0">
                        <a:solidFill>
                          <a:schemeClr val="bg1">
                            <a:lumMod val="50000"/>
                            <a:lumOff val="50000"/>
                          </a:schemeClr>
                        </a:solidFill>
                        <a:latin typeface="Calibri"/>
                        <a:ea typeface="Calibri"/>
                        <a:cs typeface="Calibri"/>
                        <a:sym typeface="Calibri"/>
                      </a:endParaRPr>
                    </a:p>
                  </a:txBody>
                  <a:tcPr marL="36000" marR="36000" marT="0" marB="0" anchor="ctr"/>
                </a:tc>
                <a:tc>
                  <a:txBody>
                    <a:bodyPr/>
                    <a:lstStyle/>
                    <a:p>
                      <a:pPr marL="0" marR="0" lvl="0" indent="0" algn="ctr" rtl="0">
                        <a:spcBef>
                          <a:spcPts val="0"/>
                        </a:spcBef>
                        <a:spcAft>
                          <a:spcPts val="0"/>
                        </a:spcAft>
                        <a:buNone/>
                      </a:pPr>
                      <a:r>
                        <a:rPr lang="en-US" sz="1200" b="1" u="none" strike="noStrike" cap="none" dirty="0">
                          <a:solidFill>
                            <a:schemeClr val="bg1">
                              <a:lumMod val="50000"/>
                              <a:lumOff val="50000"/>
                            </a:schemeClr>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ENG OFF</a:t>
                      </a:r>
                      <a:r>
                        <a:rPr lang="en-US" sz="900" b="1" u="none" strike="noStrike" cap="none" dirty="0">
                          <a:solidFill>
                            <a:schemeClr val="bg1">
                              <a:lumMod val="50000"/>
                              <a:lumOff val="50000"/>
                            </a:schemeClr>
                          </a:solidFill>
                          <a:latin typeface="Calibri"/>
                          <a:ea typeface="Calibri"/>
                          <a:cs typeface="Calibri"/>
                          <a:sym typeface="Calibri"/>
                          <a:hlinkClick r:id="rId14" action="ppaction://hlinksldjump">
                            <a:extLst>
                              <a:ext uri="{A12FA001-AC4F-418D-AE19-62706E023703}">
                                <ahyp:hlinkClr xmlns:ahyp="http://schemas.microsoft.com/office/drawing/2018/hyperlinkcolor" val="tx"/>
                              </a:ext>
                            </a:extLst>
                          </a:hlinkClick>
                        </a:rPr>
                        <a:t>Deicing</a:t>
                      </a:r>
                      <a:endParaRPr sz="1200" b="1" u="none" strike="noStrike" cap="none" dirty="0">
                        <a:solidFill>
                          <a:schemeClr val="bg1">
                            <a:lumMod val="50000"/>
                            <a:lumOff val="50000"/>
                          </a:schemeClr>
                        </a:solidFill>
                        <a:latin typeface="Calibri"/>
                        <a:ea typeface="Calibri"/>
                        <a:cs typeface="Calibri"/>
                        <a:sym typeface="Calibri"/>
                      </a:endParaRPr>
                    </a:p>
                  </a:txBody>
                  <a:tcPr marL="36000" marR="36000" marT="0" marB="0" anchor="ctr"/>
                </a:tc>
                <a:extLst>
                  <a:ext uri="{0D108BD9-81ED-4DB2-BD59-A6C34878D82A}">
                    <a16:rowId xmlns:a16="http://schemas.microsoft.com/office/drawing/2014/main" val="10004"/>
                  </a:ext>
                </a:extLst>
              </a:tr>
            </a:tbl>
          </a:graphicData>
        </a:graphic>
      </p:graphicFrame>
      <p:sp>
        <p:nvSpPr>
          <p:cNvPr id="91" name="Google Shape;91;p1"/>
          <p:cNvSpPr txBox="1"/>
          <p:nvPr/>
        </p:nvSpPr>
        <p:spPr>
          <a:xfrm>
            <a:off x="1384420" y="818320"/>
            <a:ext cx="920606"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dirty="0">
                <a:solidFill>
                  <a:schemeClr val="dk1"/>
                </a:solidFill>
                <a:latin typeface="Calibri"/>
                <a:ea typeface="Calibri"/>
                <a:cs typeface="Calibri"/>
                <a:sym typeface="Calibri"/>
              </a:rPr>
              <a:t>by </a:t>
            </a:r>
            <a:r>
              <a:rPr lang="en-US" sz="1000" b="1" i="0" u="none" strike="noStrike" cap="none" dirty="0" err="1">
                <a:solidFill>
                  <a:schemeClr val="dk1"/>
                </a:solidFill>
                <a:latin typeface="Calibri"/>
                <a:ea typeface="Calibri"/>
                <a:cs typeface="Calibri"/>
                <a:sym typeface="Calibri"/>
              </a:rPr>
              <a:t>Flyingdeuk</a:t>
            </a:r>
            <a:endParaRPr sz="1000" b="1" dirty="0">
              <a:solidFill>
                <a:schemeClr val="dk1"/>
              </a:solidFill>
              <a:latin typeface="Calibri"/>
              <a:ea typeface="Calibri"/>
              <a:cs typeface="Calibri"/>
              <a:sym typeface="Calibri"/>
            </a:endParaRPr>
          </a:p>
        </p:txBody>
      </p:sp>
      <p:sp>
        <p:nvSpPr>
          <p:cNvPr id="92" name="Google Shape;92;p1"/>
          <p:cNvSpPr txBox="1"/>
          <p:nvPr/>
        </p:nvSpPr>
        <p:spPr>
          <a:xfrm>
            <a:off x="1298961" y="58256"/>
            <a:ext cx="1025795" cy="24618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dirty="0">
                <a:solidFill>
                  <a:srgbClr val="0070C0"/>
                </a:solidFill>
                <a:latin typeface="Calibri"/>
                <a:ea typeface="Calibri"/>
                <a:cs typeface="Calibri"/>
                <a:sym typeface="Calibri"/>
              </a:rPr>
              <a:t>VER. 25.1.15</a:t>
            </a:r>
            <a:endParaRPr sz="1000" b="1" dirty="0">
              <a:solidFill>
                <a:srgbClr val="0070C0"/>
              </a:solidFill>
              <a:latin typeface="Calibri"/>
              <a:ea typeface="Calibri"/>
              <a:cs typeface="Calibri"/>
              <a:sym typeface="Calibri"/>
            </a:endParaRPr>
          </a:p>
        </p:txBody>
      </p:sp>
      <p:sp>
        <p:nvSpPr>
          <p:cNvPr id="2" name="TextBox 1">
            <a:extLst>
              <a:ext uri="{FF2B5EF4-FFF2-40B4-BE49-F238E27FC236}">
                <a16:creationId xmlns:a16="http://schemas.microsoft.com/office/drawing/2014/main" id="{0057724C-88B0-A932-6665-9CCC34DC2660}"/>
              </a:ext>
            </a:extLst>
          </p:cNvPr>
          <p:cNvSpPr txBox="1"/>
          <p:nvPr/>
        </p:nvSpPr>
        <p:spPr>
          <a:xfrm>
            <a:off x="84097" y="808050"/>
            <a:ext cx="1393563" cy="246221"/>
          </a:xfrm>
          <a:prstGeom prst="rect">
            <a:avLst/>
          </a:prstGeom>
          <a:noFill/>
        </p:spPr>
        <p:txBody>
          <a:bodyPr wrap="square" rtlCol="0">
            <a:spAutoFit/>
          </a:bodyPr>
          <a:lstStyle/>
          <a:p>
            <a:r>
              <a:rPr lang="en-US" altLang="ko-Kore-KR" sz="1000" u="none" strike="noStrike" cap="none" dirty="0">
                <a:latin typeface="Calibri"/>
                <a:ea typeface="Calibri"/>
                <a:cs typeface="Calibri"/>
                <a:sym typeface="Calibri"/>
              </a:rPr>
              <a:t>☝️ </a:t>
            </a:r>
            <a:r>
              <a:rPr kumimoji="1" lang="en-US" altLang="ko-Kore-KR" sz="900" b="1" u="sng" dirty="0">
                <a:solidFill>
                  <a:schemeClr val="accent1"/>
                </a:solidFill>
              </a:rPr>
              <a:t>Click for Update</a:t>
            </a:r>
            <a:endParaRPr kumimoji="1" lang="ko-Kore-KR" altLang="en-US" sz="900" b="1" u="sng" dirty="0">
              <a:solidFill>
                <a:schemeClr val="accent1"/>
              </a:solidFill>
            </a:endParaRPr>
          </a:p>
        </p:txBody>
      </p:sp>
    </p:spTree>
    <p:extLst>
      <p:ext uri="{BB962C8B-B14F-4D97-AF65-F5344CB8AC3E}">
        <p14:creationId xmlns:p14="http://schemas.microsoft.com/office/powerpoint/2010/main" val="1783952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371;p27">
            <a:extLst>
              <a:ext uri="{FF2B5EF4-FFF2-40B4-BE49-F238E27FC236}">
                <a16:creationId xmlns:a16="http://schemas.microsoft.com/office/drawing/2014/main" id="{4D02F53F-7837-826A-0E25-CAC7064CE638}"/>
              </a:ext>
            </a:extLst>
          </p:cNvPr>
          <p:cNvGraphicFramePr/>
          <p:nvPr>
            <p:extLst>
              <p:ext uri="{D42A27DB-BD31-4B8C-83A1-F6EECF244321}">
                <p14:modId xmlns:p14="http://schemas.microsoft.com/office/powerpoint/2010/main" val="3431025797"/>
              </p:ext>
            </p:extLst>
          </p:nvPr>
        </p:nvGraphicFramePr>
        <p:xfrm>
          <a:off x="3659" y="55636"/>
          <a:ext cx="2306998" cy="1770040"/>
        </p:xfrm>
        <a:graphic>
          <a:graphicData uri="http://schemas.openxmlformats.org/drawingml/2006/table">
            <a:tbl>
              <a:tblPr firstRow="1" bandRow="1">
                <a:tableStyleId>{A521BE36-7E6F-4EC9-8D66-1CF97A6895EC}</a:tableStyleId>
              </a:tblPr>
              <a:tblGrid>
                <a:gridCol w="566738">
                  <a:extLst>
                    <a:ext uri="{9D8B030D-6E8A-4147-A177-3AD203B41FA5}">
                      <a16:colId xmlns:a16="http://schemas.microsoft.com/office/drawing/2014/main" val="20000"/>
                    </a:ext>
                  </a:extLst>
                </a:gridCol>
                <a:gridCol w="298336">
                  <a:extLst>
                    <a:ext uri="{9D8B030D-6E8A-4147-A177-3AD203B41FA5}">
                      <a16:colId xmlns:a16="http://schemas.microsoft.com/office/drawing/2014/main" val="20001"/>
                    </a:ext>
                  </a:extLst>
                </a:gridCol>
                <a:gridCol w="738188">
                  <a:extLst>
                    <a:ext uri="{9D8B030D-6E8A-4147-A177-3AD203B41FA5}">
                      <a16:colId xmlns:a16="http://schemas.microsoft.com/office/drawing/2014/main" val="197832846"/>
                    </a:ext>
                  </a:extLst>
                </a:gridCol>
                <a:gridCol w="703736">
                  <a:extLst>
                    <a:ext uri="{9D8B030D-6E8A-4147-A177-3AD203B41FA5}">
                      <a16:colId xmlns:a16="http://schemas.microsoft.com/office/drawing/2014/main" val="2845834582"/>
                    </a:ext>
                  </a:extLst>
                </a:gridCol>
              </a:tblGrid>
              <a:tr h="238275">
                <a:tc gridSpan="4">
                  <a:txBody>
                    <a:bodyPr/>
                    <a:lstStyle/>
                    <a:p>
                      <a:pPr marL="0" marR="0" lvl="0" indent="0" algn="ctr" rtl="0">
                        <a:spcBef>
                          <a:spcPts val="0"/>
                        </a:spcBef>
                        <a:spcAft>
                          <a:spcPts val="0"/>
                        </a:spcAft>
                        <a:buNone/>
                      </a:pPr>
                      <a:r>
                        <a:rPr lang="en-US" sz="1400" b="1" dirty="0"/>
                        <a:t>Differences</a:t>
                      </a:r>
                      <a:r>
                        <a:rPr lang="ko-KR" altLang="en-US" sz="1400" b="1" dirty="0"/>
                        <a:t> </a:t>
                      </a:r>
                      <a:r>
                        <a:rPr lang="en-US" altLang="ko-KR" sz="1100" b="1" dirty="0">
                          <a:solidFill>
                            <a:srgbClr val="FFC000"/>
                          </a:solidFill>
                        </a:rPr>
                        <a:t>(ATS</a:t>
                      </a:r>
                      <a:r>
                        <a:rPr lang="ko-KR" altLang="en-US" sz="1100" b="1" dirty="0">
                          <a:solidFill>
                            <a:srgbClr val="FFC000"/>
                          </a:solidFill>
                        </a:rPr>
                        <a:t> </a:t>
                      </a:r>
                      <a:r>
                        <a:rPr lang="en-US" altLang="ko-KR" sz="1100" b="1" dirty="0">
                          <a:solidFill>
                            <a:srgbClr val="FFC000"/>
                          </a:solidFill>
                        </a:rPr>
                        <a:t>A333)</a:t>
                      </a:r>
                      <a:endParaRPr sz="1200" b="1" dirty="0">
                        <a:solidFill>
                          <a:srgbClr val="FFC000"/>
                        </a:solidFill>
                      </a:endParaRPr>
                    </a:p>
                  </a:txBody>
                  <a:tcPr marL="0" marR="0" marT="0" marB="0"/>
                </a:tc>
                <a:tc hMerge="1">
                  <a:txBody>
                    <a:bodyPr/>
                    <a:lstStyle/>
                    <a:p>
                      <a:pPr marL="0" marR="0" lvl="0" indent="0" algn="ctr" rtl="0">
                        <a:spcBef>
                          <a:spcPts val="0"/>
                        </a:spcBef>
                        <a:spcAft>
                          <a:spcPts val="0"/>
                        </a:spcAft>
                        <a:buNone/>
                      </a:pPr>
                      <a:endParaRPr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tc hMerge="1">
                  <a:txBody>
                    <a:bodyPr/>
                    <a:lstStyle/>
                    <a:p>
                      <a:pPr marL="0" marR="0" lvl="0" indent="0" algn="ctr" rtl="0">
                        <a:spcBef>
                          <a:spcPts val="0"/>
                        </a:spcBef>
                        <a:spcAft>
                          <a:spcPts val="0"/>
                        </a:spcAft>
                        <a:buNone/>
                      </a:pPr>
                      <a:endParaRPr sz="1400" b="0" dirty="0"/>
                    </a:p>
                  </a:txBody>
                  <a:tcPr marL="0" marR="0" marT="0" marB="0"/>
                </a:tc>
                <a:extLst>
                  <a:ext uri="{0D108BD9-81ED-4DB2-BD59-A6C34878D82A}">
                    <a16:rowId xmlns:a16="http://schemas.microsoft.com/office/drawing/2014/main" val="1412390786"/>
                  </a:ext>
                </a:extLst>
              </a:tr>
              <a:tr h="306353">
                <a:tc>
                  <a:txBody>
                    <a:bodyPr/>
                    <a:lstStyle/>
                    <a:p>
                      <a:pPr marL="0" marR="0" lvl="0" indent="0" algn="ctr" rtl="0">
                        <a:spcBef>
                          <a:spcPts val="0"/>
                        </a:spcBef>
                        <a:spcAft>
                          <a:spcPts val="0"/>
                        </a:spcAft>
                        <a:buNone/>
                      </a:pPr>
                      <a:r>
                        <a:rPr lang="en-US" sz="1000" b="1" dirty="0"/>
                        <a:t>A322(5)</a:t>
                      </a:r>
                      <a:endParaRPr lang="en-US" sz="800" b="0" dirty="0"/>
                    </a:p>
                    <a:p>
                      <a:pPr marL="0" marR="0" lvl="0" indent="0" algn="ctr" rtl="0">
                        <a:spcBef>
                          <a:spcPts val="0"/>
                        </a:spcBef>
                        <a:spcAft>
                          <a:spcPts val="0"/>
                        </a:spcAft>
                        <a:buNone/>
                      </a:pPr>
                      <a:r>
                        <a:rPr lang="en-US" sz="800" b="0" dirty="0"/>
                        <a:t>HL7524-7551</a:t>
                      </a:r>
                      <a:endParaRPr sz="800" b="0" dirty="0"/>
                    </a:p>
                  </a:txBody>
                  <a:tcPr marL="0" marR="0" marT="0" marB="0" anchor="ctr"/>
                </a:tc>
                <a:tc rowSpan="2">
                  <a:txBody>
                    <a:bodyPr/>
                    <a:lstStyle/>
                    <a:p>
                      <a:pPr marL="0" marR="0" lvl="0" indent="0" algn="ctr" rtl="0">
                        <a:spcBef>
                          <a:spcPts val="0"/>
                        </a:spcBef>
                        <a:spcAft>
                          <a:spcPts val="0"/>
                        </a:spcAft>
                        <a:buNone/>
                      </a:pPr>
                      <a:r>
                        <a:rPr lang="en-US" sz="800" b="1" dirty="0">
                          <a:solidFill>
                            <a:srgbClr val="0070C0"/>
                          </a:solidFill>
                        </a:rPr>
                        <a:t>APMS</a:t>
                      </a:r>
                      <a:endParaRPr sz="800" b="1" dirty="0">
                        <a:solidFill>
                          <a:srgbClr val="0070C0"/>
                        </a:solidFill>
                      </a:endParaRPr>
                    </a:p>
                  </a:txBody>
                  <a:tcPr marL="0" marR="0" marT="0" marB="0" anchor="ctr"/>
                </a:tc>
                <a:tc rowSpan="2">
                  <a:txBody>
                    <a:bodyPr/>
                    <a:lstStyle/>
                    <a:p>
                      <a:pPr marL="0" marR="0" lvl="0" indent="0" algn="ctr" rtl="0">
                        <a:spcBef>
                          <a:spcPts val="0"/>
                        </a:spcBef>
                        <a:spcAft>
                          <a:spcPts val="0"/>
                        </a:spcAft>
                        <a:buNone/>
                      </a:pPr>
                      <a:r>
                        <a:rPr lang="en-US" sz="900" b="1" dirty="0"/>
                        <a:t>EY 252 (</a:t>
                      </a:r>
                      <a:r>
                        <a:rPr lang="en-US" sz="900" b="1" dirty="0">
                          <a:solidFill>
                            <a:srgbClr val="00B050"/>
                          </a:solidFill>
                        </a:rPr>
                        <a:t>151</a:t>
                      </a:r>
                      <a:r>
                        <a:rPr lang="en-US" sz="900" b="1" dirty="0"/>
                        <a:t>)</a:t>
                      </a:r>
                    </a:p>
                    <a:p>
                      <a:pPr marL="0" marR="0" lvl="0" indent="0" algn="ctr" rtl="0">
                        <a:spcBef>
                          <a:spcPts val="0"/>
                        </a:spcBef>
                        <a:spcAft>
                          <a:spcPts val="0"/>
                        </a:spcAft>
                        <a:buNone/>
                      </a:pPr>
                      <a:r>
                        <a:rPr lang="en-US" sz="900" b="1" dirty="0"/>
                        <a:t>EY 260 (</a:t>
                      </a:r>
                      <a:r>
                        <a:rPr lang="en-US" sz="900" b="1" dirty="0">
                          <a:solidFill>
                            <a:srgbClr val="00B050"/>
                          </a:solidFill>
                        </a:rPr>
                        <a:t>156</a:t>
                      </a:r>
                      <a:r>
                        <a:rPr lang="en-US" sz="900" b="1" dirty="0"/>
                        <a:t>)</a:t>
                      </a:r>
                      <a:endParaRPr lang="en-US" sz="900" b="1" dirty="0">
                        <a:solidFill>
                          <a:srgbClr val="0070C0"/>
                        </a:solidFill>
                      </a:endParaRPr>
                    </a:p>
                  </a:txBody>
                  <a:tcPr marL="0" marR="0" marT="0" marB="0" anchor="ctr"/>
                </a:tc>
                <a:tc rowSpan="4">
                  <a:txBody>
                    <a:bodyPr/>
                    <a:lstStyle/>
                    <a:p>
                      <a:pPr marL="0" marR="0" lvl="0" indent="0" algn="ctr" rtl="0">
                        <a:spcBef>
                          <a:spcPts val="0"/>
                        </a:spcBef>
                        <a:spcAft>
                          <a:spcPts val="0"/>
                        </a:spcAft>
                        <a:buNone/>
                      </a:pPr>
                      <a:r>
                        <a:rPr lang="en-US" sz="800" b="1" dirty="0">
                          <a:solidFill>
                            <a:srgbClr val="0070C0"/>
                          </a:solidFill>
                        </a:rPr>
                        <a:t>Total </a:t>
                      </a:r>
                    </a:p>
                    <a:p>
                      <a:pPr marL="0" marR="0" lvl="0" indent="0" algn="ctr" rtl="0">
                        <a:spcBef>
                          <a:spcPts val="0"/>
                        </a:spcBef>
                        <a:spcAft>
                          <a:spcPts val="0"/>
                        </a:spcAft>
                        <a:buNone/>
                      </a:pPr>
                      <a:r>
                        <a:rPr lang="en-US" sz="800" b="1" dirty="0">
                          <a:solidFill>
                            <a:srgbClr val="0070C0"/>
                          </a:solidFill>
                        </a:rPr>
                        <a:t>PAX 200 NOR</a:t>
                      </a:r>
                    </a:p>
                    <a:p>
                      <a:pPr marL="0" marR="0" lvl="0" indent="0" algn="ctr" rtl="0">
                        <a:spcBef>
                          <a:spcPts val="0"/>
                        </a:spcBef>
                        <a:spcAft>
                          <a:spcPts val="0"/>
                        </a:spcAft>
                        <a:buNone/>
                      </a:pPr>
                      <a:endParaRPr lang="en-US" sz="800" b="1" dirty="0">
                        <a:solidFill>
                          <a:srgbClr val="0070C0"/>
                        </a:solidFill>
                      </a:endParaRPr>
                    </a:p>
                    <a:p>
                      <a:pPr marL="0" marR="0" lvl="0" indent="0" algn="ctr" rtl="0">
                        <a:spcBef>
                          <a:spcPts val="0"/>
                        </a:spcBef>
                        <a:spcAft>
                          <a:spcPts val="0"/>
                        </a:spcAft>
                        <a:buNone/>
                      </a:pPr>
                      <a:r>
                        <a:rPr lang="en-US" sz="700" b="1" dirty="0">
                          <a:solidFill>
                            <a:schemeClr val="bg1"/>
                          </a:solidFill>
                        </a:rPr>
                        <a:t>CHK OFP PAX No</a:t>
                      </a:r>
                    </a:p>
                    <a:p>
                      <a:pPr marL="0" marR="0" lvl="0" indent="0" algn="ctr" rtl="0">
                        <a:spcBef>
                          <a:spcPts val="0"/>
                        </a:spcBef>
                        <a:spcAft>
                          <a:spcPts val="0"/>
                        </a:spcAft>
                        <a:buNone/>
                      </a:pPr>
                      <a:endParaRPr lang="en-US" sz="700" b="1" dirty="0">
                        <a:solidFill>
                          <a:schemeClr val="bg1"/>
                        </a:solidFill>
                      </a:endParaRPr>
                    </a:p>
                    <a:p>
                      <a:pPr marL="0" marR="0" lvl="0" indent="0" algn="ctr" rtl="0">
                        <a:spcBef>
                          <a:spcPts val="0"/>
                        </a:spcBef>
                        <a:spcAft>
                          <a:spcPts val="0"/>
                        </a:spcAft>
                        <a:buNone/>
                      </a:pPr>
                      <a:r>
                        <a:rPr lang="en-US" sz="700" b="1" dirty="0">
                          <a:solidFill>
                            <a:srgbClr val="00B050"/>
                          </a:solidFill>
                        </a:rPr>
                        <a:t>HL 8026, 8027 </a:t>
                      </a:r>
                    </a:p>
                    <a:p>
                      <a:pPr marL="0" marR="0" lvl="0" indent="0" algn="ctr" rtl="0">
                        <a:spcBef>
                          <a:spcPts val="0"/>
                        </a:spcBef>
                        <a:spcAft>
                          <a:spcPts val="0"/>
                        </a:spcAft>
                        <a:buNone/>
                      </a:pPr>
                      <a:r>
                        <a:rPr lang="en-US" sz="700" b="1" dirty="0">
                          <a:solidFill>
                            <a:srgbClr val="00B050"/>
                          </a:solidFill>
                        </a:rPr>
                        <a:t>PAX AUTO</a:t>
                      </a:r>
                      <a:endParaRPr sz="700" b="1" dirty="0">
                        <a:solidFill>
                          <a:srgbClr val="00B050"/>
                        </a:solidFill>
                      </a:endParaRPr>
                    </a:p>
                  </a:txBody>
                  <a:tcPr marL="0" marR="0" marT="0" marB="0" anchor="ctr"/>
                </a:tc>
                <a:extLst>
                  <a:ext uri="{0D108BD9-81ED-4DB2-BD59-A6C34878D82A}">
                    <a16:rowId xmlns:a16="http://schemas.microsoft.com/office/drawing/2014/main" val="10000"/>
                  </a:ext>
                </a:extLst>
              </a:tr>
              <a:tr h="306353">
                <a:tc>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1000" b="1" i="0" u="none" strike="noStrike" kern="1200" cap="none" spc="0" normalizeH="0" baseline="0" noProof="0" dirty="0">
                          <a:ln>
                            <a:noFill/>
                          </a:ln>
                          <a:solidFill>
                            <a:prstClr val="black"/>
                          </a:solidFill>
                          <a:effectLst/>
                          <a:uLnTx/>
                          <a:uFillTx/>
                          <a:latin typeface="Calibri"/>
                          <a:cs typeface="Calibri"/>
                        </a:rPr>
                        <a:t>A323(11)</a:t>
                      </a:r>
                      <a:endParaRPr kumimoji="0" lang="en-US" altLang="ko-Kore-KR" sz="800"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HL7553-7720</a:t>
                      </a:r>
                    </a:p>
                  </a:txBody>
                  <a:tcPr marL="0" marR="0" marT="0" marB="0" anchor="ctr"/>
                </a:tc>
                <a:tc v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vMerge="1">
                  <a:txBody>
                    <a:bodyPr/>
                    <a:lstStyle/>
                    <a:p>
                      <a:pPr marL="0" marR="0" lvl="0" indent="0" algn="ctr" rtl="0">
                        <a:spcBef>
                          <a:spcPts val="0"/>
                        </a:spcBef>
                        <a:spcAft>
                          <a:spcPts val="0"/>
                        </a:spcAft>
                        <a:buNone/>
                      </a:pPr>
                      <a:endParaRPr lang="en-US" sz="800" b="0" dirty="0">
                        <a:solidFill>
                          <a:srgbClr val="0070C0"/>
                        </a:solidFill>
                      </a:endParaRPr>
                    </a:p>
                  </a:txBody>
                  <a:tcPr marL="0" marR="0" marT="0" marB="0" anchor="ctr"/>
                </a:tc>
                <a:tc vMerge="1">
                  <a:txBody>
                    <a:bodyPr/>
                    <a:lstStyle/>
                    <a:p>
                      <a:endParaRPr lang="ko-Kore-KR" altLang="en-US"/>
                    </a:p>
                  </a:txBody>
                  <a:tcPr/>
                </a:tc>
                <a:extLst>
                  <a:ext uri="{0D108BD9-81ED-4DB2-BD59-A6C34878D82A}">
                    <a16:rowId xmlns:a16="http://schemas.microsoft.com/office/drawing/2014/main" val="3285894375"/>
                  </a:ext>
                </a:extLst>
              </a:tr>
              <a:tr h="306353">
                <a:tc>
                  <a:txBody>
                    <a:bodyPr/>
                    <a:lstStyle/>
                    <a:p>
                      <a:pPr marL="0" marR="0" lvl="0" indent="0" algn="ctr" rtl="0">
                        <a:spcBef>
                          <a:spcPts val="0"/>
                        </a:spcBef>
                        <a:spcAft>
                          <a:spcPts val="0"/>
                        </a:spcAft>
                        <a:buNone/>
                      </a:pPr>
                      <a:r>
                        <a:rPr lang="en-US" sz="1000" b="1" dirty="0"/>
                        <a:t>A223E(3)</a:t>
                      </a:r>
                    </a:p>
                    <a:p>
                      <a:pPr marL="0" marR="0" lvl="0" indent="0" algn="ctr" rtl="0">
                        <a:spcBef>
                          <a:spcPts val="0"/>
                        </a:spcBef>
                        <a:spcAft>
                          <a:spcPts val="0"/>
                        </a:spcAft>
                        <a:buNone/>
                      </a:pPr>
                      <a:r>
                        <a:rPr lang="en-US" sz="800" dirty="0"/>
                        <a:t>HL82xx</a:t>
                      </a:r>
                      <a:endParaRPr sz="800" dirty="0"/>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-2.5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EY 188 (</a:t>
                      </a:r>
                      <a:r>
                        <a:rPr lang="en-US" sz="900" b="1" dirty="0">
                          <a:solidFill>
                            <a:srgbClr val="00B050"/>
                          </a:solidFill>
                        </a:rPr>
                        <a:t>112</a:t>
                      </a:r>
                      <a:r>
                        <a:rPr lang="en-US" sz="900" b="1" dirty="0"/>
                        <a:t>)</a:t>
                      </a:r>
                    </a:p>
                  </a:txBody>
                  <a:tcPr marL="0" marR="0" marT="0" marB="0" anchor="ctr"/>
                </a:tc>
                <a:tc vMerge="1">
                  <a:txBody>
                    <a:bodyPr/>
                    <a:lstStyle/>
                    <a:p>
                      <a:pPr marL="0" marR="0" lvl="0" indent="0" algn="ctr" rtl="0">
                        <a:spcBef>
                          <a:spcPts val="0"/>
                        </a:spcBef>
                        <a:spcAft>
                          <a:spcPts val="0"/>
                        </a:spcAft>
                        <a:buNone/>
                      </a:pPr>
                      <a:endParaRPr lang="en-US" sz="900" dirty="0"/>
                    </a:p>
                  </a:txBody>
                  <a:tcPr marL="0" marR="0" marT="0" marB="0" anchor="ctr"/>
                </a:tc>
                <a:extLst>
                  <a:ext uri="{0D108BD9-81ED-4DB2-BD59-A6C34878D82A}">
                    <a16:rowId xmlns:a16="http://schemas.microsoft.com/office/drawing/2014/main" val="10001"/>
                  </a:ext>
                </a:extLst>
              </a:tr>
              <a:tr h="306353">
                <a:tc>
                  <a:txBody>
                    <a:bodyPr/>
                    <a:lstStyle/>
                    <a:p>
                      <a:pPr marL="0" marR="0" lvl="0" indent="0" algn="ctr" rtl="0">
                        <a:spcBef>
                          <a:spcPts val="0"/>
                        </a:spcBef>
                        <a:spcAft>
                          <a:spcPts val="0"/>
                        </a:spcAft>
                        <a:buNone/>
                      </a:pPr>
                      <a:r>
                        <a:rPr lang="en-US" sz="1000" b="1" dirty="0"/>
                        <a:t>A323E(6)</a:t>
                      </a:r>
                    </a:p>
                    <a:p>
                      <a:pPr marL="0" marR="0" lvl="0" indent="0" algn="ctr" rtl="0">
                        <a:spcBef>
                          <a:spcPts val="0"/>
                        </a:spcBef>
                        <a:spcAft>
                          <a:spcPts val="0"/>
                        </a:spcAft>
                        <a:buNone/>
                      </a:pPr>
                      <a:r>
                        <a:rPr lang="en-US" sz="800" dirty="0"/>
                        <a:t>HL80xx</a:t>
                      </a:r>
                    </a:p>
                  </a:txBody>
                  <a:tcPr marL="0" marR="0" marT="0" marB="0" anchor="ctr"/>
                </a:tc>
                <a:tc>
                  <a:txBody>
                    <a:bodyPr/>
                    <a:lstStyle/>
                    <a:p>
                      <a:pPr marL="0" marR="0" lvl="0" indent="0" algn="ctr" rtl="0">
                        <a:spcBef>
                          <a:spcPts val="0"/>
                        </a:spcBef>
                        <a:spcAft>
                          <a:spcPts val="0"/>
                        </a:spcAft>
                        <a:buNone/>
                      </a:pPr>
                      <a:r>
                        <a:rPr lang="en-US" sz="800" b="1" dirty="0">
                          <a:solidFill>
                            <a:srgbClr val="0070C0"/>
                          </a:solidFill>
                        </a:rPr>
                        <a:t>APMS</a:t>
                      </a:r>
                    </a:p>
                    <a:p>
                      <a:pPr marL="0" marR="0" lvl="0" indent="0" algn="ctr" rtl="0">
                        <a:spcBef>
                          <a:spcPts val="0"/>
                        </a:spcBef>
                        <a:spcAft>
                          <a:spcPts val="0"/>
                        </a:spcAft>
                        <a:buNone/>
                      </a:pPr>
                      <a:r>
                        <a:rPr lang="en-US" sz="800" b="1" dirty="0">
                          <a:solidFill>
                            <a:srgbClr val="0070C0"/>
                          </a:solidFill>
                        </a:rPr>
                        <a:t>-1.5</a:t>
                      </a: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900" b="1" dirty="0">
                          <a:solidFill>
                            <a:schemeClr val="bg1"/>
                          </a:solidFill>
                        </a:rPr>
                        <a:t>EY 248 (</a:t>
                      </a:r>
                      <a:r>
                        <a:rPr lang="en-US" altLang="ko-Kore-KR" sz="900" b="1" dirty="0">
                          <a:solidFill>
                            <a:srgbClr val="00B050"/>
                          </a:solidFill>
                        </a:rPr>
                        <a:t>148</a:t>
                      </a:r>
                      <a:r>
                        <a:rPr lang="en-US" altLang="ko-Kore-KR" sz="900" b="1" dirty="0">
                          <a:solidFill>
                            <a:schemeClr val="bg1"/>
                          </a:solidFill>
                        </a:rPr>
                        <a:t>)</a:t>
                      </a:r>
                    </a:p>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srgbClr val="C00000"/>
                          </a:solidFill>
                          <a:effectLst/>
                          <a:uLnTx/>
                          <a:uFillTx/>
                          <a:latin typeface="Calibri"/>
                          <a:cs typeface="Calibri"/>
                        </a:rPr>
                        <a:t>HL8001 RNP AR</a:t>
                      </a:r>
                      <a:r>
                        <a:rPr kumimoji="0" lang="ko-KR" altLang="en-US" sz="800" b="0" i="0" u="none" strike="noStrike" kern="1200" cap="none" spc="0" normalizeH="0" baseline="0" noProof="0" dirty="0">
                          <a:ln>
                            <a:noFill/>
                          </a:ln>
                          <a:solidFill>
                            <a:srgbClr val="C00000"/>
                          </a:solidFill>
                          <a:effectLst/>
                          <a:uLnTx/>
                          <a:uFillTx/>
                          <a:latin typeface="Calibri"/>
                          <a:cs typeface="Calibri"/>
                        </a:rPr>
                        <a:t> </a:t>
                      </a:r>
                      <a:r>
                        <a:rPr kumimoji="0" lang="en-US" altLang="ko-KR" sz="800" b="0" i="0" u="none" strike="noStrike" kern="1200" cap="none" spc="0" normalizeH="0" baseline="0" noProof="0" dirty="0">
                          <a:ln>
                            <a:noFill/>
                          </a:ln>
                          <a:solidFill>
                            <a:srgbClr val="C00000"/>
                          </a:solidFill>
                          <a:effectLst/>
                          <a:uLnTx/>
                          <a:uFillTx/>
                          <a:latin typeface="Calibri"/>
                          <a:cs typeface="Calibri"/>
                        </a:rPr>
                        <a:t>X</a:t>
                      </a:r>
                      <a:endParaRPr kumimoji="0" lang="en-US" altLang="ko-Kore-KR" sz="800" b="0" i="0" u="none" strike="noStrike" kern="1200" cap="none" spc="0" normalizeH="0" baseline="0" noProof="0" dirty="0">
                        <a:ln>
                          <a:noFill/>
                        </a:ln>
                        <a:solidFill>
                          <a:srgbClr val="C00000"/>
                        </a:solidFill>
                        <a:effectLst/>
                        <a:uLnTx/>
                        <a:uFillTx/>
                        <a:latin typeface="Calibri"/>
                        <a:cs typeface="Calibri"/>
                      </a:endParaRPr>
                    </a:p>
                  </a:txBody>
                  <a:tcPr marL="0" marR="0" marT="0" marB="0" anchor="ctr"/>
                </a:tc>
                <a:tc vMerge="1">
                  <a:txBody>
                    <a:bodyPr/>
                    <a:lstStyle/>
                    <a:p>
                      <a:pPr marL="0" marR="0" lvl="0" indent="0" algn="ctr" rtl="0">
                        <a:spcBef>
                          <a:spcPts val="0"/>
                        </a:spcBef>
                        <a:spcAft>
                          <a:spcPts val="0"/>
                        </a:spcAft>
                        <a:buNone/>
                      </a:pPr>
                      <a:endParaRPr lang="en-US" altLang="ko-Kore-KR" sz="800" dirty="0">
                        <a:solidFill>
                          <a:srgbClr val="0070C0"/>
                        </a:solidFill>
                      </a:endParaRPr>
                    </a:p>
                  </a:txBody>
                  <a:tcPr marL="0" marR="0" marT="0" marB="0" anchor="ctr"/>
                </a:tc>
                <a:extLst>
                  <a:ext uri="{0D108BD9-81ED-4DB2-BD59-A6C34878D82A}">
                    <a16:rowId xmlns:a16="http://schemas.microsoft.com/office/drawing/2014/main" val="1495032429"/>
                  </a:ext>
                </a:extLst>
              </a:tr>
              <a:tr h="306353">
                <a:tc gridSpan="2">
                  <a:txBody>
                    <a:bodyPr/>
                    <a:lstStyle/>
                    <a:p>
                      <a:pPr marL="0" marR="0" lvl="0" indent="0" algn="ctr" rtl="0">
                        <a:spcBef>
                          <a:spcPts val="0"/>
                        </a:spcBef>
                        <a:spcAft>
                          <a:spcPts val="0"/>
                        </a:spcAft>
                        <a:buNone/>
                      </a:pPr>
                      <a:r>
                        <a:rPr lang="en-US" sz="800" b="1" dirty="0">
                          <a:solidFill>
                            <a:schemeClr val="tx1"/>
                          </a:solidFill>
                        </a:rPr>
                        <a:t>ENG START</a:t>
                      </a:r>
                      <a:endParaRPr sz="800" b="1" dirty="0">
                        <a:solidFill>
                          <a:schemeClr val="tx1"/>
                        </a:solidFill>
                      </a:endParaRPr>
                    </a:p>
                  </a:txBody>
                  <a:tcPr marL="0" marR="0" marT="0" marB="0" anchor="ctr">
                    <a:solidFill>
                      <a:schemeClr val="accent1"/>
                    </a:solidFill>
                  </a:tcPr>
                </a:tc>
                <a:tc hMerge="1">
                  <a:txBody>
                    <a:bodyPr/>
                    <a:lstStyle/>
                    <a:p>
                      <a:pPr marL="0" marR="0" lvl="0" indent="0" algn="ctr" rtl="0">
                        <a:spcBef>
                          <a:spcPts val="0"/>
                        </a:spcBef>
                        <a:spcAft>
                          <a:spcPts val="0"/>
                        </a:spcAft>
                        <a:buNone/>
                      </a:pPr>
                      <a:endParaRPr sz="8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altLang="ko-Kore-KR" sz="800" b="1" dirty="0">
                          <a:solidFill>
                            <a:schemeClr val="bg1"/>
                          </a:solidFill>
                        </a:rPr>
                        <a:t>HL7xxx 43-48%</a:t>
                      </a:r>
                    </a:p>
                  </a:txBody>
                  <a:tcPr marL="0" marR="0" marT="0" marB="0" anchor="ctr"/>
                </a:tc>
                <a:tc>
                  <a:txBody>
                    <a:bodyPr/>
                    <a:lstStyle/>
                    <a:p>
                      <a:pPr marL="0" marR="0" lvl="0" indent="0" algn="ctr" rtl="0">
                        <a:spcBef>
                          <a:spcPts val="0"/>
                        </a:spcBef>
                        <a:spcAft>
                          <a:spcPts val="0"/>
                        </a:spcAft>
                        <a:buNone/>
                      </a:pPr>
                      <a:r>
                        <a:rPr lang="en-US" sz="800" b="1" dirty="0">
                          <a:solidFill>
                            <a:schemeClr val="bg1"/>
                          </a:solidFill>
                        </a:rPr>
                        <a:t>HL8xxx 52-54%</a:t>
                      </a:r>
                      <a:endParaRPr sz="800" b="1" dirty="0">
                        <a:solidFill>
                          <a:schemeClr val="bg1"/>
                        </a:solidFill>
                      </a:endParaRPr>
                    </a:p>
                  </a:txBody>
                  <a:tcPr marL="0" marR="0" marT="0" marB="0" anchor="ctr"/>
                </a:tc>
                <a:extLst>
                  <a:ext uri="{0D108BD9-81ED-4DB2-BD59-A6C34878D82A}">
                    <a16:rowId xmlns:a16="http://schemas.microsoft.com/office/drawing/2014/main" val="1204448837"/>
                  </a:ext>
                </a:extLst>
              </a:tr>
            </a:tbl>
          </a:graphicData>
        </a:graphic>
      </p:graphicFrame>
      <p:sp>
        <p:nvSpPr>
          <p:cNvPr id="18" name="직사각형 17">
            <a:hlinkClick r:id="" action="ppaction://hlinkshowjump?jump=firstslide"/>
            <a:extLst>
              <a:ext uri="{FF2B5EF4-FFF2-40B4-BE49-F238E27FC236}">
                <a16:creationId xmlns:a16="http://schemas.microsoft.com/office/drawing/2014/main" id="{B3112A3B-610B-125E-A8F9-BF40AA4D19D0}"/>
              </a:ext>
            </a:extLst>
          </p:cNvPr>
          <p:cNvSpPr/>
          <p:nvPr/>
        </p:nvSpPr>
        <p:spPr>
          <a:xfrm>
            <a:off x="847353" y="522010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pSp>
        <p:nvGrpSpPr>
          <p:cNvPr id="6" name="그룹 5">
            <a:extLst>
              <a:ext uri="{FF2B5EF4-FFF2-40B4-BE49-F238E27FC236}">
                <a16:creationId xmlns:a16="http://schemas.microsoft.com/office/drawing/2014/main" id="{E6E774DD-7707-C18D-7D47-F7C6304A48E6}"/>
              </a:ext>
            </a:extLst>
          </p:cNvPr>
          <p:cNvGrpSpPr/>
          <p:nvPr/>
        </p:nvGrpSpPr>
        <p:grpSpPr>
          <a:xfrm>
            <a:off x="0" y="1862173"/>
            <a:ext cx="2328863" cy="1190611"/>
            <a:chOff x="0" y="1862173"/>
            <a:chExt cx="2328863" cy="1190611"/>
          </a:xfrm>
        </p:grpSpPr>
        <p:grpSp>
          <p:nvGrpSpPr>
            <p:cNvPr id="3" name="그룹 2">
              <a:extLst>
                <a:ext uri="{FF2B5EF4-FFF2-40B4-BE49-F238E27FC236}">
                  <a16:creationId xmlns:a16="http://schemas.microsoft.com/office/drawing/2014/main" id="{3BE6A6AA-987E-10E1-F9A8-89FCBA32AFA9}"/>
                </a:ext>
              </a:extLst>
            </p:cNvPr>
            <p:cNvGrpSpPr/>
            <p:nvPr/>
          </p:nvGrpSpPr>
          <p:grpSpPr>
            <a:xfrm>
              <a:off x="0" y="1862173"/>
              <a:ext cx="2328863" cy="1190611"/>
              <a:chOff x="0" y="1772965"/>
              <a:chExt cx="2328863" cy="1190611"/>
            </a:xfrm>
          </p:grpSpPr>
          <p:pic>
            <p:nvPicPr>
              <p:cNvPr id="1026" name="Picture 2" descr="AIRCRAFT DIFFERENCES &#10;PRINCIPAL DIMENSION &#10;A330-3001300E &#10;63.69 m &#10;208.92 ft &#10;60.30 m &#10;197.83 ft &#10;16.83 m &#10;55.25 ft &#10;25.37 m &#10;83.25 ft &#10;10.68 m &#10;35.08 ft &#10;A330-200 1 200E &#10;LENGTH &#10;WING SPAN &#10;HEIGHT &#10;WHEEL BASE &#10;WHEEL TREAD &#10;58.37 m &#10;60.30 m &#10;17.80 m / &#10;17.30 m &#10;22.18 m &#10;10.68 m &#10;191.25 ft &#10;197.83 ft &#10;58.42 ft/ &#10;56.67 ft &#10;72.75 ft &#10;35.08 ft &#10;Refer to FCOM DSC-20-20 Principal Dimensions ">
                <a:extLst>
                  <a:ext uri="{FF2B5EF4-FFF2-40B4-BE49-F238E27FC236}">
                    <a16:creationId xmlns:a16="http://schemas.microsoft.com/office/drawing/2014/main" id="{F259DAB8-9767-8A55-9C6D-43D00F9887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3113"/>
              <a:stretch/>
            </p:blipFill>
            <p:spPr bwMode="auto">
              <a:xfrm>
                <a:off x="0" y="1793903"/>
                <a:ext cx="2328863" cy="11696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78F22F8-477B-8EEA-D382-745299F020BE}"/>
                  </a:ext>
                </a:extLst>
              </p:cNvPr>
              <p:cNvSpPr txBox="1"/>
              <p:nvPr/>
            </p:nvSpPr>
            <p:spPr>
              <a:xfrm>
                <a:off x="1123799" y="1772965"/>
                <a:ext cx="1043876" cy="246221"/>
              </a:xfrm>
              <a:prstGeom prst="rect">
                <a:avLst/>
              </a:prstGeom>
              <a:noFill/>
            </p:spPr>
            <p:txBody>
              <a:bodyPr wrap="none" rtlCol="0">
                <a:spAutoFit/>
              </a:bodyPr>
              <a:lstStyle/>
              <a:p>
                <a:r>
                  <a:rPr kumimoji="1" lang="en-US" altLang="ko-Kore-KR" sz="500" b="1" dirty="0">
                    <a:solidFill>
                      <a:srgbClr val="0070C0"/>
                    </a:solidFill>
                    <a:latin typeface="Arial" panose="020B0604020202020204" pitchFamily="34" charset="0"/>
                    <a:cs typeface="Arial" panose="020B0604020202020204" pitchFamily="34" charset="0"/>
                  </a:rPr>
                  <a:t>WINGSPAN : ICAO E, FAA V</a:t>
                </a:r>
              </a:p>
              <a:p>
                <a:r>
                  <a:rPr kumimoji="1" lang="en-US" altLang="ko-Kore-KR" sz="500" b="1" dirty="0">
                    <a:solidFill>
                      <a:srgbClr val="0070C0"/>
                    </a:solidFill>
                    <a:latin typeface="Arial" panose="020B0604020202020204" pitchFamily="34" charset="0"/>
                    <a:cs typeface="Arial" panose="020B0604020202020204" pitchFamily="34" charset="0"/>
                  </a:rPr>
                  <a:t>Weight CAT : Heavy</a:t>
                </a:r>
                <a:endParaRPr kumimoji="1" lang="ko-Kore-KR" altLang="en-US" sz="500" b="1" dirty="0">
                  <a:solidFill>
                    <a:srgbClr val="0070C0"/>
                  </a:solidFill>
                  <a:latin typeface="Arial" panose="020B0604020202020204" pitchFamily="34" charset="0"/>
                  <a:cs typeface="Arial" panose="020B0604020202020204" pitchFamily="34" charset="0"/>
                </a:endParaRPr>
              </a:p>
            </p:txBody>
          </p:sp>
        </p:grpSp>
        <p:sp>
          <p:nvSpPr>
            <p:cNvPr id="5" name="TextBox 4">
              <a:extLst>
                <a:ext uri="{FF2B5EF4-FFF2-40B4-BE49-F238E27FC236}">
                  <a16:creationId xmlns:a16="http://schemas.microsoft.com/office/drawing/2014/main" id="{D511136D-3120-4FDA-C601-570D4D0BA4A0}"/>
                </a:ext>
              </a:extLst>
            </p:cNvPr>
            <p:cNvSpPr txBox="1"/>
            <p:nvPr/>
          </p:nvSpPr>
          <p:spPr>
            <a:xfrm>
              <a:off x="1433334" y="2939345"/>
              <a:ext cx="853366" cy="76944"/>
            </a:xfrm>
            <a:prstGeom prst="rect">
              <a:avLst/>
            </a:prstGeom>
            <a:solidFill>
              <a:srgbClr val="FCFCFC"/>
            </a:solidFill>
          </p:spPr>
          <p:txBody>
            <a:bodyPr wrap="none" lIns="36000" tIns="0" rIns="36000" bIns="0" rtlCol="0">
              <a:spAutoFit/>
            </a:bodyPr>
            <a:lstStyle/>
            <a:p>
              <a:r>
                <a:rPr kumimoji="1" lang="en-US" altLang="ko-Kore-KR" sz="500" b="1" dirty="0">
                  <a:solidFill>
                    <a:srgbClr val="C00000"/>
                  </a:solidFill>
                  <a:latin typeface="Arial" panose="020B0604020202020204" pitchFamily="34" charset="0"/>
                  <a:cs typeface="Arial" panose="020B0604020202020204" pitchFamily="34" charset="0"/>
                </a:rPr>
                <a:t>180 Back 72</a:t>
              </a:r>
              <a:r>
                <a:rPr kumimoji="1" lang="ko-KR" altLang="en-US" sz="500" b="1" dirty="0">
                  <a:solidFill>
                    <a:srgbClr val="C00000"/>
                  </a:solidFill>
                  <a:latin typeface="Arial" panose="020B0604020202020204" pitchFamily="34" charset="0"/>
                  <a:cs typeface="Arial" panose="020B0604020202020204" pitchFamily="34" charset="0"/>
                </a:rPr>
                <a:t>도 </a:t>
              </a:r>
              <a:r>
                <a:rPr kumimoji="1" lang="en-US" altLang="ko-KR" sz="500" b="1" dirty="0">
                  <a:solidFill>
                    <a:srgbClr val="C00000"/>
                  </a:solidFill>
                  <a:latin typeface="Arial" panose="020B0604020202020204" pitchFamily="34" charset="0"/>
                  <a:cs typeface="Arial" panose="020B0604020202020204" pitchFamily="34" charset="0"/>
                </a:rPr>
                <a:t>48m/(157ft)</a:t>
              </a:r>
              <a:endParaRPr kumimoji="1" lang="en-US" altLang="ko-Kore-KR" sz="500" b="1" dirty="0">
                <a:solidFill>
                  <a:srgbClr val="C00000"/>
                </a:solidFill>
                <a:latin typeface="Arial" panose="020B0604020202020204" pitchFamily="34" charset="0"/>
                <a:cs typeface="Arial" panose="020B0604020202020204" pitchFamily="34" charset="0"/>
              </a:endParaRPr>
            </a:p>
          </p:txBody>
        </p:sp>
      </p:grpSp>
      <p:sp>
        <p:nvSpPr>
          <p:cNvPr id="7" name="액자 6">
            <a:extLst>
              <a:ext uri="{FF2B5EF4-FFF2-40B4-BE49-F238E27FC236}">
                <a16:creationId xmlns:a16="http://schemas.microsoft.com/office/drawing/2014/main" id="{32867CEA-17FF-A75A-0FF2-280EF11D0E9E}"/>
              </a:ext>
            </a:extLst>
          </p:cNvPr>
          <p:cNvSpPr/>
          <p:nvPr/>
        </p:nvSpPr>
        <p:spPr>
          <a:xfrm>
            <a:off x="621612" y="2324288"/>
            <a:ext cx="1665088" cy="144142"/>
          </a:xfrm>
          <a:prstGeom prst="frame">
            <a:avLst/>
          </a:prstGeom>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chemeClr val="tx1"/>
              </a:solidFill>
            </a:endParaRPr>
          </a:p>
        </p:txBody>
      </p:sp>
      <p:graphicFrame>
        <p:nvGraphicFramePr>
          <p:cNvPr id="8" name="Google Shape;371;p27">
            <a:extLst>
              <a:ext uri="{FF2B5EF4-FFF2-40B4-BE49-F238E27FC236}">
                <a16:creationId xmlns:a16="http://schemas.microsoft.com/office/drawing/2014/main" id="{968524BE-DACB-3A48-27BF-61446DA252B6}"/>
              </a:ext>
            </a:extLst>
          </p:cNvPr>
          <p:cNvGraphicFramePr/>
          <p:nvPr>
            <p:extLst>
              <p:ext uri="{D42A27DB-BD31-4B8C-83A1-F6EECF244321}">
                <p14:modId xmlns:p14="http://schemas.microsoft.com/office/powerpoint/2010/main" val="194349698"/>
              </p:ext>
            </p:extLst>
          </p:nvPr>
        </p:nvGraphicFramePr>
        <p:xfrm>
          <a:off x="10990" y="3109515"/>
          <a:ext cx="2317874" cy="782704"/>
        </p:xfrm>
        <a:graphic>
          <a:graphicData uri="http://schemas.openxmlformats.org/drawingml/2006/table">
            <a:tbl>
              <a:tblPr firstRow="1" bandRow="1">
                <a:tableStyleId>{A521BE36-7E6F-4EC9-8D66-1CF97A6895EC}</a:tableStyleId>
              </a:tblPr>
              <a:tblGrid>
                <a:gridCol w="478536">
                  <a:extLst>
                    <a:ext uri="{9D8B030D-6E8A-4147-A177-3AD203B41FA5}">
                      <a16:colId xmlns:a16="http://schemas.microsoft.com/office/drawing/2014/main" val="20000"/>
                    </a:ext>
                  </a:extLst>
                </a:gridCol>
                <a:gridCol w="682964">
                  <a:extLst>
                    <a:ext uri="{9D8B030D-6E8A-4147-A177-3AD203B41FA5}">
                      <a16:colId xmlns:a16="http://schemas.microsoft.com/office/drawing/2014/main" val="1710634008"/>
                    </a:ext>
                  </a:extLst>
                </a:gridCol>
                <a:gridCol w="430009">
                  <a:extLst>
                    <a:ext uri="{9D8B030D-6E8A-4147-A177-3AD203B41FA5}">
                      <a16:colId xmlns:a16="http://schemas.microsoft.com/office/drawing/2014/main" val="237343090"/>
                    </a:ext>
                  </a:extLst>
                </a:gridCol>
                <a:gridCol w="726365">
                  <a:extLst>
                    <a:ext uri="{9D8B030D-6E8A-4147-A177-3AD203B41FA5}">
                      <a16:colId xmlns:a16="http://schemas.microsoft.com/office/drawing/2014/main" val="3123104972"/>
                    </a:ext>
                  </a:extLst>
                </a:gridCol>
              </a:tblGrid>
              <a:tr h="257703">
                <a:tc gridSpan="4">
                  <a:txBody>
                    <a:bodyPr/>
                    <a:lstStyle/>
                    <a:p>
                      <a:pPr marL="0" marR="0" lvl="0" indent="0" algn="ctr" rtl="0">
                        <a:spcBef>
                          <a:spcPts val="0"/>
                        </a:spcBef>
                        <a:spcAft>
                          <a:spcPts val="0"/>
                        </a:spcAft>
                        <a:buNone/>
                      </a:pPr>
                      <a:r>
                        <a:rPr lang="en-US" altLang="ko-KR" sz="1100" b="1" dirty="0"/>
                        <a:t>MTOW</a:t>
                      </a:r>
                      <a:endParaRPr sz="1100" b="1" dirty="0"/>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412390786"/>
                  </a:ext>
                </a:extLst>
              </a:tr>
              <a:tr h="193667">
                <a:tc>
                  <a:txBody>
                    <a:bodyPr/>
                    <a:lstStyle/>
                    <a:p>
                      <a:pPr marL="0" marR="0" lvl="0" indent="0" algn="ctr" rtl="0">
                        <a:spcBef>
                          <a:spcPts val="0"/>
                        </a:spcBef>
                        <a:spcAft>
                          <a:spcPts val="0"/>
                        </a:spcAft>
                        <a:buNone/>
                      </a:pPr>
                      <a:r>
                        <a:rPr lang="en-US" altLang="ko-KR" sz="900" b="1" dirty="0">
                          <a:solidFill>
                            <a:srgbClr val="0070C0"/>
                          </a:solidFill>
                        </a:rPr>
                        <a:t>238T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524,700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230T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507,063 </a:t>
                      </a:r>
                      <a:r>
                        <a:rPr lang="en-US" sz="900" b="1" dirty="0" err="1"/>
                        <a:t>lbs</a:t>
                      </a:r>
                      <a:endParaRPr sz="900" b="1" dirty="0"/>
                    </a:p>
                  </a:txBody>
                  <a:tcPr marL="0" marR="0" marT="0" marB="0" anchor="ctr"/>
                </a:tc>
                <a:extLst>
                  <a:ext uri="{0D108BD9-81ED-4DB2-BD59-A6C34878D82A}">
                    <a16:rowId xmlns:a16="http://schemas.microsoft.com/office/drawing/2014/main" val="707937932"/>
                  </a:ext>
                </a:extLst>
              </a:tr>
              <a:tr h="165667">
                <a:tc>
                  <a:txBody>
                    <a:bodyPr/>
                    <a:lstStyle/>
                    <a:p>
                      <a:pPr marL="0" marR="0" lvl="0" indent="0" algn="ctr" rtl="0">
                        <a:spcBef>
                          <a:spcPts val="0"/>
                        </a:spcBef>
                        <a:spcAft>
                          <a:spcPts val="0"/>
                        </a:spcAft>
                        <a:buNone/>
                      </a:pPr>
                      <a:r>
                        <a:rPr lang="en-US" sz="900" b="1" dirty="0">
                          <a:solidFill>
                            <a:srgbClr val="0070C0"/>
                          </a:solidFill>
                        </a:rPr>
                        <a:t>217T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468,402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r>
                        <a:rPr lang="en-US" sz="900" b="1" dirty="0">
                          <a:solidFill>
                            <a:srgbClr val="0070C0"/>
                          </a:solidFill>
                        </a:rPr>
                        <a:t>198T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436,515 </a:t>
                      </a:r>
                      <a:r>
                        <a:rPr lang="en-US" sz="900" b="1" dirty="0" err="1"/>
                        <a:t>lbs</a:t>
                      </a:r>
                      <a:endParaRPr sz="900" b="1" dirty="0"/>
                    </a:p>
                  </a:txBody>
                  <a:tcPr marL="0" marR="0" marT="0" marB="0" anchor="ctr"/>
                </a:tc>
                <a:extLst>
                  <a:ext uri="{0D108BD9-81ED-4DB2-BD59-A6C34878D82A}">
                    <a16:rowId xmlns:a16="http://schemas.microsoft.com/office/drawing/2014/main" val="896249924"/>
                  </a:ext>
                </a:extLst>
              </a:tr>
              <a:tr h="165667">
                <a:tc>
                  <a:txBody>
                    <a:bodyPr/>
                    <a:lstStyle/>
                    <a:p>
                      <a:pPr marL="0" marR="0" lvl="0" indent="0" algn="ctr" rtl="0">
                        <a:spcBef>
                          <a:spcPts val="0"/>
                        </a:spcBef>
                        <a:spcAft>
                          <a:spcPts val="0"/>
                        </a:spcAft>
                        <a:buNone/>
                      </a:pPr>
                      <a:r>
                        <a:rPr lang="en-US" sz="900" b="1" dirty="0">
                          <a:solidFill>
                            <a:srgbClr val="0070C0"/>
                          </a:solidFill>
                        </a:rPr>
                        <a:t>192T</a:t>
                      </a: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1" dirty="0"/>
                        <a:t>423,287 </a:t>
                      </a:r>
                      <a:r>
                        <a:rPr lang="en-US" sz="900" b="1" dirty="0" err="1"/>
                        <a:t>lbs</a:t>
                      </a:r>
                      <a:endParaRPr sz="900" b="1" dirty="0"/>
                    </a:p>
                  </a:txBody>
                  <a:tcPr marL="0" marR="0" marT="0" marB="0" anchor="ctr"/>
                </a:tc>
                <a:tc>
                  <a:txBody>
                    <a:bodyPr/>
                    <a:lstStyle/>
                    <a:p>
                      <a:pPr marL="0" marR="0" lvl="0" indent="0" algn="ctr" rtl="0">
                        <a:spcBef>
                          <a:spcPts val="0"/>
                        </a:spcBef>
                        <a:spcAft>
                          <a:spcPts val="0"/>
                        </a:spcAft>
                        <a:buNone/>
                      </a:pPr>
                      <a:endParaRPr sz="900" b="1" dirty="0">
                        <a:solidFill>
                          <a:srgbClr val="0070C0"/>
                        </a:solidFill>
                      </a:endParaRPr>
                    </a:p>
                  </a:txBody>
                  <a:tcPr marL="0" marR="0" marT="0" marB="0" anchor="ctr"/>
                </a:tc>
                <a:tc>
                  <a:txBody>
                    <a:bodyPr/>
                    <a:lstStyle/>
                    <a:p>
                      <a:pPr marL="0" marR="0" lvl="0" indent="0" algn="ctr" rtl="0">
                        <a:spcBef>
                          <a:spcPts val="0"/>
                        </a:spcBef>
                        <a:spcAft>
                          <a:spcPts val="0"/>
                        </a:spcAft>
                        <a:buNone/>
                      </a:pPr>
                      <a:endParaRPr sz="900" b="1" dirty="0"/>
                    </a:p>
                  </a:txBody>
                  <a:tcPr marL="0" marR="0" marT="0" marB="0" anchor="ctr"/>
                </a:tc>
                <a:extLst>
                  <a:ext uri="{0D108BD9-81ED-4DB2-BD59-A6C34878D82A}">
                    <a16:rowId xmlns:a16="http://schemas.microsoft.com/office/drawing/2014/main" val="902440045"/>
                  </a:ext>
                </a:extLst>
              </a:tr>
            </a:tbl>
          </a:graphicData>
        </a:graphic>
      </p:graphicFrame>
    </p:spTree>
    <p:extLst>
      <p:ext uri="{BB962C8B-B14F-4D97-AF65-F5344CB8AC3E}">
        <p14:creationId xmlns:p14="http://schemas.microsoft.com/office/powerpoint/2010/main" val="2209153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2145460809"/>
              </p:ext>
            </p:extLst>
          </p:nvPr>
        </p:nvGraphicFramePr>
        <p:xfrm>
          <a:off x="98101" y="132865"/>
          <a:ext cx="2132650" cy="1989962"/>
        </p:xfrm>
        <a:graphic>
          <a:graphicData uri="http://schemas.openxmlformats.org/drawingml/2006/table">
            <a:tbl>
              <a:tblPr firstRow="1" bandRow="1">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972615961"/>
                    </a:ext>
                  </a:extLst>
                </a:gridCol>
              </a:tblGrid>
              <a:tr h="460602">
                <a:tc gridSpan="2">
                  <a:txBody>
                    <a:bodyPr/>
                    <a:lstStyle/>
                    <a:p>
                      <a:pPr marL="0" marR="0" lvl="0" indent="0" algn="ctr" rtl="0">
                        <a:spcBef>
                          <a:spcPts val="0"/>
                        </a:spcBef>
                        <a:spcAft>
                          <a:spcPts val="0"/>
                        </a:spcAft>
                        <a:buNone/>
                      </a:pPr>
                      <a:r>
                        <a:rPr lang="en-US" sz="2800" b="1" u="none" strike="noStrike" cap="none" dirty="0">
                          <a:solidFill>
                            <a:schemeClr val="bg1"/>
                          </a:solidFill>
                          <a:sym typeface="Calibri"/>
                        </a:rPr>
                        <a:t>Domestic</a:t>
                      </a:r>
                      <a:endParaRPr sz="28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82340">
                <a:tc>
                  <a:txBody>
                    <a:bodyPr/>
                    <a:lstStyle/>
                    <a:p>
                      <a:pPr marL="0" marR="0" lvl="0" indent="0" algn="ctr" rtl="0">
                        <a:spcBef>
                          <a:spcPts val="0"/>
                        </a:spcBef>
                        <a:spcAft>
                          <a:spcPts val="0"/>
                        </a:spcAft>
                        <a:buNone/>
                      </a:pPr>
                      <a:r>
                        <a:rPr lang="en-US" sz="2000" b="1" i="0" u="none" strike="noStrike" cap="none" dirty="0">
                          <a:solidFill>
                            <a:schemeClr val="bg1"/>
                          </a:solidFill>
                          <a:latin typeface="Calibri" panose="020F0502020204030204" pitchFamily="34" charset="0"/>
                          <a:ea typeface="+mj-ea"/>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sz="2000" b="1" i="0" u="none" strike="noStrike" cap="none" dirty="0">
                        <a:solidFill>
                          <a:schemeClr val="bg1"/>
                        </a:solidFill>
                        <a:latin typeface="Calibri" panose="020F0502020204030204" pitchFamily="34" charset="0"/>
                        <a:ea typeface="+mj-ea"/>
                        <a:cs typeface="Calibri" panose="020F0502020204030204" pitchFamily="34" charset="0"/>
                        <a:sym typeface="Calibri"/>
                      </a:endParaRPr>
                    </a:p>
                  </a:txBody>
                  <a:tcPr marL="0" marR="0" marT="0" marB="0" anchor="ctr"/>
                </a:tc>
                <a:tc>
                  <a:txBody>
                    <a:bodyPr/>
                    <a:lstStyle/>
                    <a:p>
                      <a:pPr marL="0" marR="0" lvl="0" indent="0" algn="ctr" rtl="0">
                        <a:spcBef>
                          <a:spcPts val="0"/>
                        </a:spcBef>
                        <a:spcAft>
                          <a:spcPts val="0"/>
                        </a:spcAft>
                        <a:buNone/>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0"/>
                  </a:ext>
                </a:extLst>
              </a:tr>
              <a:tr h="382340">
                <a:tc>
                  <a:txBody>
                    <a:bodyPr/>
                    <a:lstStyle/>
                    <a:p>
                      <a:pPr marL="0" marR="0" lvl="0" indent="0" algn="ctr" rtl="0">
                        <a:spcBef>
                          <a:spcPts val="0"/>
                        </a:spcBef>
                        <a:spcAft>
                          <a:spcPts val="0"/>
                        </a:spcAft>
                        <a:buNone/>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1"/>
                  </a:ext>
                </a:extLst>
              </a:tr>
              <a:tr h="3823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5"/>
                  </a:ext>
                </a:extLst>
              </a:tr>
              <a:tr h="3823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chemeClr val="bg1"/>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7"/>
                  </a:ext>
                </a:extLst>
              </a:tr>
            </a:tbl>
          </a:graphicData>
        </a:graphic>
      </p:graphicFrame>
      <p:graphicFrame>
        <p:nvGraphicFramePr>
          <p:cNvPr id="90" name="Google Shape;90;p1"/>
          <p:cNvGraphicFramePr/>
          <p:nvPr>
            <p:extLst>
              <p:ext uri="{D42A27DB-BD31-4B8C-83A1-F6EECF244321}">
                <p14:modId xmlns:p14="http://schemas.microsoft.com/office/powerpoint/2010/main" val="3099304272"/>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bg1"/>
                          </a:solidFill>
                          <a:latin typeface="Calibri"/>
                          <a:ea typeface="Calibri"/>
                          <a:cs typeface="Calibri"/>
                          <a:sym typeface="Calibri"/>
                        </a:rPr>
                        <a:t>Welcome PA</a:t>
                      </a:r>
                      <a:endParaRPr sz="1400" b="1" u="none" strike="noStrike" cap="none" dirty="0">
                        <a:solidFill>
                          <a:schemeClr val="bg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tx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sp>
        <p:nvSpPr>
          <p:cNvPr id="3" name="직사각형 2">
            <a:hlinkClick r:id="" action="ppaction://hlinkshowjump?jump=firstslide"/>
            <a:extLst>
              <a:ext uri="{FF2B5EF4-FFF2-40B4-BE49-F238E27FC236}">
                <a16:creationId xmlns:a16="http://schemas.microsoft.com/office/drawing/2014/main" id="{166FA5EE-DE6A-B27F-96EF-30D8A6622BEF}"/>
              </a:ext>
            </a:extLst>
          </p:cNvPr>
          <p:cNvSpPr/>
          <p:nvPr/>
        </p:nvSpPr>
        <p:spPr>
          <a:xfrm>
            <a:off x="847353" y="522010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826172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1830274576"/>
              </p:ext>
            </p:extLst>
          </p:nvPr>
        </p:nvGraphicFramePr>
        <p:xfrm>
          <a:off x="0" y="-1"/>
          <a:ext cx="2328875" cy="376285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50342">
                <a:tc>
                  <a:txBody>
                    <a:bodyPr/>
                    <a:lstStyle/>
                    <a:p>
                      <a:pPr marL="0" marR="0" lvl="0" indent="0" algn="l" rtl="0">
                        <a:spcBef>
                          <a:spcPts val="0"/>
                        </a:spcBef>
                        <a:spcAft>
                          <a:spcPts val="0"/>
                        </a:spcAft>
                        <a:buNone/>
                      </a:pPr>
                      <a:r>
                        <a:rPr lang="en-US" sz="1100" b="1" dirty="0">
                          <a:latin typeface="Calibri"/>
                          <a:ea typeface="Calibri"/>
                          <a:cs typeface="Calibri"/>
                          <a:sym typeface="Calibri"/>
                        </a:rPr>
                        <a:t>WELCOME PA</a:t>
                      </a:r>
                      <a:endParaRPr sz="11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622843">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1622843">
                <a:tc>
                  <a:txBody>
                    <a:bodyPr/>
                    <a:lstStyle/>
                    <a:p>
                      <a:pPr marL="0" marR="0" lvl="0" indent="0" algn="l" rtl="0">
                        <a:lnSpc>
                          <a:spcPct val="100000"/>
                        </a:lnSpc>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Welcome aboard Korean Air.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lnSpc>
                          <a:spcPct val="100000"/>
                        </a:lnSpc>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lnSpc>
                          <a:spcPct val="100000"/>
                        </a:lnSpc>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3487273803"/>
              </p:ext>
            </p:extLst>
          </p:nvPr>
        </p:nvGraphicFramePr>
        <p:xfrm>
          <a:off x="109959" y="3860577"/>
          <a:ext cx="2112380" cy="861672"/>
        </p:xfrm>
        <a:graphic>
          <a:graphicData uri="http://schemas.openxmlformats.org/drawingml/2006/table">
            <a:tbl>
              <a:tblPr firstRow="1" bandRow="1">
                <a:noFill/>
                <a:tableStyleId>{A521BE36-7E6F-4EC9-8D66-1CF97A6895EC}</a:tableStyleId>
              </a:tblPr>
              <a:tblGrid>
                <a:gridCol w="447464">
                  <a:extLst>
                    <a:ext uri="{9D8B030D-6E8A-4147-A177-3AD203B41FA5}">
                      <a16:colId xmlns:a16="http://schemas.microsoft.com/office/drawing/2014/main" val="20000"/>
                    </a:ext>
                  </a:extLst>
                </a:gridCol>
                <a:gridCol w="1664916">
                  <a:extLst>
                    <a:ext uri="{9D8B030D-6E8A-4147-A177-3AD203B41FA5}">
                      <a16:colId xmlns:a16="http://schemas.microsoft.com/office/drawing/2014/main" val="20001"/>
                    </a:ext>
                  </a:extLst>
                </a:gridCol>
              </a:tblGrid>
              <a:tr h="184386">
                <a:tc gridSpan="2">
                  <a:txBody>
                    <a:bodyPr/>
                    <a:lstStyle/>
                    <a:p>
                      <a:pPr marL="0" marR="0" lvl="0" indent="0" algn="ctr" rtl="0">
                        <a:spcBef>
                          <a:spcPts val="0"/>
                        </a:spcBef>
                        <a:spcAft>
                          <a:spcPts val="0"/>
                        </a:spcAft>
                        <a:buNone/>
                      </a:pPr>
                      <a:r>
                        <a:rPr lang="en-US" sz="1400" b="0" dirty="0"/>
                        <a:t>Domestic</a:t>
                      </a:r>
                      <a:endParaRPr sz="1400" b="0" dirty="0"/>
                    </a:p>
                  </a:txBody>
                  <a:tcPr marL="0" marR="0" marT="0" marB="0"/>
                </a:tc>
                <a:tc hMerge="1">
                  <a:txBody>
                    <a:bodyPr/>
                    <a:lstStyle/>
                    <a:p>
                      <a:pPr marL="0" marR="0" lvl="0" indent="0" algn="ctr" rtl="0">
                        <a:spcBef>
                          <a:spcPts val="0"/>
                        </a:spcBef>
                        <a:spcAft>
                          <a:spcPts val="0"/>
                        </a:spcAft>
                        <a:buNone/>
                      </a:pPr>
                      <a:endParaRPr b="0" dirty="0"/>
                    </a:p>
                  </a:txBody>
                  <a:tcPr marL="0" marR="0" marT="0" marB="0"/>
                </a:tc>
                <a:extLst>
                  <a:ext uri="{0D108BD9-81ED-4DB2-BD59-A6C34878D82A}">
                    <a16:rowId xmlns:a16="http://schemas.microsoft.com/office/drawing/2014/main" val="1412390786"/>
                  </a:ext>
                </a:extLst>
              </a:tr>
              <a:tr h="162078">
                <a:tc>
                  <a:txBody>
                    <a:bodyPr/>
                    <a:lstStyle/>
                    <a:p>
                      <a:pPr marL="0" marR="0" lvl="0" indent="0" algn="ctr" rtl="0">
                        <a:spcBef>
                          <a:spcPts val="0"/>
                        </a:spcBef>
                        <a:spcAft>
                          <a:spcPts val="0"/>
                        </a:spcAft>
                        <a:buNone/>
                      </a:pPr>
                      <a:r>
                        <a:rPr lang="en-US" sz="900" b="0" dirty="0"/>
                        <a:t>GMP</a:t>
                      </a:r>
                      <a:endParaRPr sz="900" b="0" dirty="0"/>
                    </a:p>
                  </a:txBody>
                  <a:tcPr marL="0" marR="0" marT="0" marB="0"/>
                </a:tc>
                <a:tc>
                  <a:txBody>
                    <a:bodyPr/>
                    <a:lstStyle/>
                    <a:p>
                      <a:pPr marL="0" marR="0" lvl="0" indent="0" algn="ctr" rtl="0">
                        <a:spcBef>
                          <a:spcPts val="0"/>
                        </a:spcBef>
                        <a:spcAft>
                          <a:spcPts val="0"/>
                        </a:spcAft>
                        <a:buNone/>
                      </a:pPr>
                      <a:r>
                        <a:rPr lang="en-US" sz="900" b="0" dirty="0" err="1"/>
                        <a:t>서울</a:t>
                      </a:r>
                      <a:r>
                        <a:rPr lang="en-US" sz="900" b="0" dirty="0"/>
                        <a:t>/</a:t>
                      </a:r>
                      <a:r>
                        <a:rPr lang="en-US" sz="900" b="0" dirty="0" err="1"/>
                        <a:t>김포국제</a:t>
                      </a:r>
                      <a:endParaRPr sz="1600" b="0" dirty="0"/>
                    </a:p>
                  </a:txBody>
                  <a:tcPr marL="0" marR="0" marT="0" marB="0"/>
                </a:tc>
                <a:extLst>
                  <a:ext uri="{0D108BD9-81ED-4DB2-BD59-A6C34878D82A}">
                    <a16:rowId xmlns:a16="http://schemas.microsoft.com/office/drawing/2014/main" val="10000"/>
                  </a:ext>
                </a:extLst>
              </a:tr>
              <a:tr h="162078">
                <a:tc>
                  <a:txBody>
                    <a:bodyPr/>
                    <a:lstStyle/>
                    <a:p>
                      <a:pPr marL="0" marR="0" lvl="0" indent="0" algn="ctr" rtl="0">
                        <a:spcBef>
                          <a:spcPts val="0"/>
                        </a:spcBef>
                        <a:spcAft>
                          <a:spcPts val="0"/>
                        </a:spcAft>
                        <a:buNone/>
                      </a:pPr>
                      <a:r>
                        <a:rPr lang="en-US" sz="900" dirty="0"/>
                        <a:t>ICN</a:t>
                      </a:r>
                      <a:endParaRPr sz="900" dirty="0"/>
                    </a:p>
                  </a:txBody>
                  <a:tcPr marL="0" marR="0" marT="0" marB="0"/>
                </a:tc>
                <a:tc>
                  <a:txBody>
                    <a:bodyPr/>
                    <a:lstStyle/>
                    <a:p>
                      <a:pPr marL="0" marR="0" lvl="0" indent="0" algn="ctr" rtl="0">
                        <a:spcBef>
                          <a:spcPts val="0"/>
                        </a:spcBef>
                        <a:spcAft>
                          <a:spcPts val="0"/>
                        </a:spcAft>
                        <a:buNone/>
                      </a:pPr>
                      <a:r>
                        <a:rPr lang="en-US" sz="900" dirty="0" err="1"/>
                        <a:t>서울</a:t>
                      </a:r>
                      <a:r>
                        <a:rPr lang="en-US" sz="900" dirty="0"/>
                        <a:t>/</a:t>
                      </a:r>
                      <a:r>
                        <a:rPr lang="en-US" sz="900" dirty="0" err="1"/>
                        <a:t>인천국제</a:t>
                      </a:r>
                      <a:endParaRPr sz="1600" dirty="0"/>
                    </a:p>
                  </a:txBody>
                  <a:tcPr marL="0" marR="0" marT="0" marB="0"/>
                </a:tc>
                <a:extLst>
                  <a:ext uri="{0D108BD9-81ED-4DB2-BD59-A6C34878D82A}">
                    <a16:rowId xmlns:a16="http://schemas.microsoft.com/office/drawing/2014/main" val="10001"/>
                  </a:ext>
                </a:extLst>
              </a:tr>
              <a:tr h="162078">
                <a:tc>
                  <a:txBody>
                    <a:bodyPr/>
                    <a:lstStyle/>
                    <a:p>
                      <a:pPr marL="0" marR="0" lvl="0" indent="0" algn="ctr" rtl="0">
                        <a:spcBef>
                          <a:spcPts val="0"/>
                        </a:spcBef>
                        <a:spcAft>
                          <a:spcPts val="0"/>
                        </a:spcAft>
                        <a:buNone/>
                      </a:pPr>
                      <a:r>
                        <a:rPr lang="en-US" sz="900" dirty="0"/>
                        <a:t>CJU</a:t>
                      </a:r>
                      <a:endParaRPr sz="900" dirty="0"/>
                    </a:p>
                  </a:txBody>
                  <a:tcPr marL="0" marR="0" marT="0" marB="0"/>
                </a:tc>
                <a:tc>
                  <a:txBody>
                    <a:bodyPr/>
                    <a:lstStyle/>
                    <a:p>
                      <a:pPr marL="0" marR="0" lvl="0" indent="0" algn="ctr" rtl="0">
                        <a:spcBef>
                          <a:spcPts val="0"/>
                        </a:spcBef>
                        <a:spcAft>
                          <a:spcPts val="0"/>
                        </a:spcAft>
                        <a:buNone/>
                      </a:pPr>
                      <a:r>
                        <a:rPr lang="en-US" sz="900" dirty="0" err="1"/>
                        <a:t>제주국제</a:t>
                      </a:r>
                      <a:endParaRPr sz="1600" dirty="0"/>
                    </a:p>
                  </a:txBody>
                  <a:tcPr marL="0" marR="0" marT="0" marB="0"/>
                </a:tc>
                <a:extLst>
                  <a:ext uri="{0D108BD9-81ED-4DB2-BD59-A6C34878D82A}">
                    <a16:rowId xmlns:a16="http://schemas.microsoft.com/office/drawing/2014/main" val="10002"/>
                  </a:ext>
                </a:extLst>
              </a:tr>
              <a:tr h="162078">
                <a:tc>
                  <a:txBody>
                    <a:bodyPr/>
                    <a:lstStyle/>
                    <a:p>
                      <a:pPr marL="0" marR="0" lvl="0" indent="0" algn="ctr" rtl="0">
                        <a:spcBef>
                          <a:spcPts val="0"/>
                        </a:spcBef>
                        <a:spcAft>
                          <a:spcPts val="0"/>
                        </a:spcAft>
                        <a:buNone/>
                      </a:pPr>
                      <a:r>
                        <a:rPr lang="en-US" sz="900" dirty="0"/>
                        <a:t>PUS</a:t>
                      </a:r>
                      <a:endParaRPr sz="900" dirty="0"/>
                    </a:p>
                  </a:txBody>
                  <a:tcPr marL="0" marR="0" marT="0" marB="0"/>
                </a:tc>
                <a:tc>
                  <a:txBody>
                    <a:bodyPr/>
                    <a:lstStyle/>
                    <a:p>
                      <a:pPr marL="0" marR="0" lvl="0" indent="0" algn="ctr" rtl="0">
                        <a:spcBef>
                          <a:spcPts val="0"/>
                        </a:spcBef>
                        <a:spcAft>
                          <a:spcPts val="0"/>
                        </a:spcAft>
                        <a:buNone/>
                      </a:pPr>
                      <a:r>
                        <a:rPr lang="en-US" sz="900" dirty="0" err="1"/>
                        <a:t>부산</a:t>
                      </a:r>
                      <a:r>
                        <a:rPr lang="en-US" sz="900" dirty="0"/>
                        <a:t>/</a:t>
                      </a:r>
                      <a:r>
                        <a:rPr lang="en-US" sz="900" dirty="0" err="1"/>
                        <a:t>김해국제</a:t>
                      </a:r>
                      <a:endParaRPr sz="900" dirty="0"/>
                    </a:p>
                  </a:txBody>
                  <a:tcPr marL="0" marR="0" marT="0" marB="0"/>
                </a:tc>
                <a:extLst>
                  <a:ext uri="{0D108BD9-81ED-4DB2-BD59-A6C34878D82A}">
                    <a16:rowId xmlns:a16="http://schemas.microsoft.com/office/drawing/2014/main" val="10003"/>
                  </a:ext>
                </a:extLst>
              </a:tr>
            </a:tbl>
          </a:graphicData>
        </a:graphic>
      </p:graphicFrame>
      <p:sp>
        <p:nvSpPr>
          <p:cNvPr id="3" name="직사각형 2">
            <a:hlinkClick r:id="" action="ppaction://hlinkshowjump?jump=firstslide"/>
            <a:extLst>
              <a:ext uri="{FF2B5EF4-FFF2-40B4-BE49-F238E27FC236}">
                <a16:creationId xmlns:a16="http://schemas.microsoft.com/office/drawing/2014/main" id="{F54BE12C-20D3-D21D-7388-B79C76711DD9}"/>
              </a:ext>
            </a:extLst>
          </p:cNvPr>
          <p:cNvSpPr/>
          <p:nvPr/>
        </p:nvSpPr>
        <p:spPr>
          <a:xfrm>
            <a:off x="702671" y="5194211"/>
            <a:ext cx="1085619"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Domestic</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TextBox 1">
            <a:extLst>
              <a:ext uri="{FF2B5EF4-FFF2-40B4-BE49-F238E27FC236}">
                <a16:creationId xmlns:a16="http://schemas.microsoft.com/office/drawing/2014/main" id="{88375B34-8C64-6DD0-9FBE-ACB2C6F75CC8}"/>
              </a:ext>
            </a:extLst>
          </p:cNvPr>
          <p:cNvSpPr txBox="1"/>
          <p:nvPr/>
        </p:nvSpPr>
        <p:spPr>
          <a:xfrm>
            <a:off x="1708763" y="5146017"/>
            <a:ext cx="722812" cy="338554"/>
          </a:xfrm>
          <a:prstGeom prst="rect">
            <a:avLst/>
          </a:prstGeom>
          <a:noFill/>
        </p:spPr>
        <p:txBody>
          <a:bodyPr wrap="square" rtlCol="0">
            <a:spAutoFit/>
          </a:bodyPr>
          <a:lstStyle/>
          <a:p>
            <a:r>
              <a:rPr kumimoji="1" lang="ko-Kore-KR" altLang="en-US" sz="800" b="1" dirty="0">
                <a:solidFill>
                  <a:srgbClr val="FF0000"/>
                </a:solidFill>
              </a:rPr>
              <a:t>도착</a:t>
            </a:r>
            <a:r>
              <a:rPr kumimoji="1" lang="ko-KR" altLang="en-US" sz="800" b="1" dirty="0">
                <a:solidFill>
                  <a:srgbClr val="FF0000"/>
                </a:solidFill>
              </a:rPr>
              <a:t> 방송 </a:t>
            </a:r>
            <a:r>
              <a:rPr kumimoji="1" lang="en-US" altLang="ko-KR" sz="800" b="1" dirty="0">
                <a:solidFill>
                  <a:srgbClr val="FF0000"/>
                </a:solidFill>
              </a:rPr>
              <a:t>Next Page</a:t>
            </a:r>
            <a:endParaRPr kumimoji="1" lang="ko-Kore-KR" altLang="en-US" sz="800" b="1" dirty="0">
              <a:solidFill>
                <a:srgbClr val="FF0000"/>
              </a:solidFill>
            </a:endParaRPr>
          </a:p>
        </p:txBody>
      </p:sp>
      <p:sp>
        <p:nvSpPr>
          <p:cNvPr id="4" name="직사각형 3">
            <a:hlinkClick r:id="" action="ppaction://hlinkshowjump?jump=firstslide"/>
            <a:extLst>
              <a:ext uri="{FF2B5EF4-FFF2-40B4-BE49-F238E27FC236}">
                <a16:creationId xmlns:a16="http://schemas.microsoft.com/office/drawing/2014/main" id="{CCDF1224-C7E5-5FD7-658D-99524AF467D7}"/>
              </a:ext>
            </a:extLst>
          </p:cNvPr>
          <p:cNvSpPr/>
          <p:nvPr/>
        </p:nvSpPr>
        <p:spPr>
          <a:xfrm>
            <a:off x="59469" y="518234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936750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1763560716"/>
              </p:ext>
            </p:extLst>
          </p:nvPr>
        </p:nvGraphicFramePr>
        <p:xfrm>
          <a:off x="0" y="0"/>
          <a:ext cx="2328876" cy="4921399"/>
        </p:xfrm>
        <a:graphic>
          <a:graphicData uri="http://schemas.openxmlformats.org/drawingml/2006/table">
            <a:tbl>
              <a:tblPr firstRow="1" bandRow="1">
                <a:noFill/>
                <a:tableStyleId>{A521BE36-7E6F-4EC9-8D66-1CF97A6895EC}</a:tableStyleId>
              </a:tblPr>
              <a:tblGrid>
                <a:gridCol w="1164438">
                  <a:extLst>
                    <a:ext uri="{9D8B030D-6E8A-4147-A177-3AD203B41FA5}">
                      <a16:colId xmlns:a16="http://schemas.microsoft.com/office/drawing/2014/main" val="20000"/>
                    </a:ext>
                  </a:extLst>
                </a:gridCol>
                <a:gridCol w="272476">
                  <a:extLst>
                    <a:ext uri="{9D8B030D-6E8A-4147-A177-3AD203B41FA5}">
                      <a16:colId xmlns:a16="http://schemas.microsoft.com/office/drawing/2014/main" val="2595559527"/>
                    </a:ext>
                  </a:extLst>
                </a:gridCol>
                <a:gridCol w="891962">
                  <a:extLst>
                    <a:ext uri="{9D8B030D-6E8A-4147-A177-3AD203B41FA5}">
                      <a16:colId xmlns:a16="http://schemas.microsoft.com/office/drawing/2014/main" val="1608007032"/>
                    </a:ext>
                  </a:extLst>
                </a:gridCol>
              </a:tblGrid>
              <a:tr h="0">
                <a:tc gridSpan="3">
                  <a:txBody>
                    <a:bodyPr/>
                    <a:lstStyle/>
                    <a:p>
                      <a:pPr marL="0" marR="0" lvl="0" indent="0" algn="l" rtl="0">
                        <a:spcBef>
                          <a:spcPts val="0"/>
                        </a:spcBef>
                        <a:spcAft>
                          <a:spcPts val="0"/>
                        </a:spcAft>
                        <a:buNone/>
                      </a:pPr>
                      <a:r>
                        <a:rPr lang="ko-KR" altLang="en-US" sz="1000" b="1" dirty="0">
                          <a:latin typeface="Calibri"/>
                          <a:ea typeface="Calibri"/>
                          <a:cs typeface="Calibri"/>
                          <a:sym typeface="Calibri"/>
                        </a:rPr>
                        <a:t>도착</a:t>
                      </a:r>
                      <a:r>
                        <a:rPr lang="en-US" sz="1000" b="1" dirty="0">
                          <a:latin typeface="Calibri"/>
                          <a:ea typeface="Calibri"/>
                          <a:cs typeface="Calibri"/>
                          <a:sym typeface="Calibri"/>
                        </a:rPr>
                        <a:t> </a:t>
                      </a:r>
                      <a:r>
                        <a:rPr lang="ko-KR" altLang="en-US" sz="1000" b="1" dirty="0">
                          <a:latin typeface="Calibri"/>
                          <a:ea typeface="Calibri"/>
                          <a:cs typeface="Calibri"/>
                          <a:sym typeface="Calibri"/>
                        </a:rPr>
                        <a:t>방송 </a:t>
                      </a:r>
                      <a:r>
                        <a:rPr lang="en-US" altLang="ko-KR" sz="1000" b="1" dirty="0">
                          <a:latin typeface="Calibri"/>
                          <a:ea typeface="Calibri"/>
                          <a:cs typeface="Calibri"/>
                          <a:sym typeface="Calibri"/>
                        </a:rPr>
                        <a:t>(5</a:t>
                      </a:r>
                      <a:r>
                        <a:rPr lang="ko-KR" altLang="en-US" sz="1000" b="1" dirty="0">
                          <a:latin typeface="Calibri"/>
                          <a:ea typeface="Calibri"/>
                          <a:cs typeface="Calibri"/>
                          <a:sym typeface="Calibri"/>
                        </a:rPr>
                        <a:t>시간이상</a:t>
                      </a:r>
                      <a:r>
                        <a:rPr lang="en-US" altLang="ko-KR" sz="1000" b="1" dirty="0">
                          <a:latin typeface="Calibri"/>
                          <a:ea typeface="Calibri"/>
                          <a:cs typeface="Calibri"/>
                          <a:sym typeface="Calibri"/>
                        </a:rPr>
                        <a:t>,</a:t>
                      </a:r>
                      <a:r>
                        <a:rPr lang="ko-KR" altLang="en-US" sz="1000" b="1" dirty="0">
                          <a:latin typeface="Calibri"/>
                          <a:ea typeface="Calibri"/>
                          <a:cs typeface="Calibri"/>
                          <a:sym typeface="Calibri"/>
                        </a:rPr>
                        <a:t> </a:t>
                      </a:r>
                      <a:r>
                        <a:rPr lang="en-US" altLang="ko-KR" sz="1000" b="1" dirty="0">
                          <a:latin typeface="Calibri"/>
                          <a:ea typeface="Calibri"/>
                          <a:cs typeface="Calibri"/>
                          <a:sym typeface="Calibri"/>
                        </a:rPr>
                        <a:t>40</a:t>
                      </a:r>
                      <a:r>
                        <a:rPr lang="ko-KR" altLang="en-US" sz="1000" b="1" dirty="0">
                          <a:latin typeface="Calibri"/>
                          <a:ea typeface="Calibri"/>
                          <a:cs typeface="Calibri"/>
                          <a:sym typeface="Calibri"/>
                        </a:rPr>
                        <a:t>분전</a:t>
                      </a:r>
                      <a:r>
                        <a:rPr lang="en-US" altLang="ko-KR" sz="1000" b="1" dirty="0">
                          <a:latin typeface="Calibri"/>
                          <a:ea typeface="Calibri"/>
                          <a:cs typeface="Calibri"/>
                          <a:sym typeface="Calibri"/>
                        </a:rPr>
                        <a:t>)</a:t>
                      </a:r>
                    </a:p>
                    <a:p>
                      <a:pPr marL="0" marR="0" lvl="0" indent="0" algn="l" rtl="0">
                        <a:spcBef>
                          <a:spcPts val="0"/>
                        </a:spcBef>
                        <a:spcAft>
                          <a:spcPts val="0"/>
                        </a:spcAft>
                        <a:buNone/>
                      </a:pPr>
                      <a:r>
                        <a:rPr lang="ko-KR" altLang="en-US" sz="1000" b="0" dirty="0">
                          <a:solidFill>
                            <a:srgbClr val="FFC000"/>
                          </a:solidFill>
                          <a:latin typeface="Calibri"/>
                          <a:ea typeface="Calibri"/>
                          <a:cs typeface="Calibri"/>
                          <a:sym typeface="Calibri"/>
                        </a:rPr>
                        <a:t>출발지 기준 </a:t>
                      </a:r>
                      <a:r>
                        <a:rPr lang="en-US" altLang="ko-KR" sz="1000" b="0" dirty="0">
                          <a:solidFill>
                            <a:srgbClr val="FFC000"/>
                          </a:solidFill>
                          <a:latin typeface="Calibri"/>
                          <a:ea typeface="Calibri"/>
                          <a:cs typeface="Calibri"/>
                          <a:sym typeface="Calibri"/>
                        </a:rPr>
                        <a:t>2200-0800</a:t>
                      </a:r>
                      <a:r>
                        <a:rPr lang="ko-KR" altLang="en-US" sz="1000" b="0" dirty="0">
                          <a:solidFill>
                            <a:srgbClr val="FFC000"/>
                          </a:solidFill>
                          <a:latin typeface="Calibri"/>
                          <a:ea typeface="Calibri"/>
                          <a:cs typeface="Calibri"/>
                          <a:sym typeface="Calibri"/>
                        </a:rPr>
                        <a:t> </a:t>
                      </a:r>
                      <a:r>
                        <a:rPr lang="en-US" altLang="ko-KR" sz="1000" b="0" dirty="0">
                          <a:solidFill>
                            <a:srgbClr val="FFC000"/>
                          </a:solidFill>
                          <a:latin typeface="Calibri"/>
                          <a:ea typeface="Calibri"/>
                          <a:cs typeface="Calibri"/>
                          <a:sym typeface="Calibri"/>
                        </a:rPr>
                        <a:t>Quiet Hour</a:t>
                      </a:r>
                      <a:r>
                        <a:rPr lang="ko-KR" altLang="en-US" sz="1000" b="0" dirty="0">
                          <a:solidFill>
                            <a:srgbClr val="FFC000"/>
                          </a:solidFill>
                          <a:latin typeface="Calibri"/>
                          <a:ea typeface="Calibri"/>
                          <a:cs typeface="Calibri"/>
                          <a:sym typeface="Calibri"/>
                        </a:rPr>
                        <a:t> </a:t>
                      </a:r>
                      <a:endParaRPr sz="1000" b="0" dirty="0">
                        <a:solidFill>
                          <a:srgbClr val="FFC000"/>
                        </a:solidFill>
                        <a:latin typeface="Calibri"/>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574756">
                <a:tc gridSpan="3">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ko-KR" altLang="en-US" sz="800" b="1" dirty="0">
                          <a:latin typeface="Calibri"/>
                          <a:ea typeface="Calibri"/>
                          <a:cs typeface="Calibri"/>
                          <a:sym typeface="Calibri"/>
                        </a:rPr>
                        <a:t>저는 기장입니다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우리 비행기는 앞으로 약 </a:t>
                      </a:r>
                      <a:r>
                        <a:rPr lang="en-US" altLang="ko-KR" sz="800" b="1" dirty="0">
                          <a:latin typeface="Calibri"/>
                          <a:ea typeface="Calibri"/>
                          <a:cs typeface="Calibri"/>
                          <a:sym typeface="Calibri"/>
                        </a:rPr>
                        <a:t>(40)</a:t>
                      </a:r>
                      <a:r>
                        <a:rPr lang="ko-KR" altLang="en-US" sz="800" b="1" dirty="0">
                          <a:latin typeface="Calibri"/>
                          <a:ea typeface="Calibri"/>
                          <a:cs typeface="Calibri"/>
                          <a:sym typeface="Calibri"/>
                        </a:rPr>
                        <a:t>분 후에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국제공항에 착륙 예정입니다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현재 공항의 날씨는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 기온은 섭씨 </a:t>
                      </a:r>
                      <a:r>
                        <a:rPr lang="en-US" altLang="ko-KR" sz="800" b="1" dirty="0">
                          <a:latin typeface="Calibri"/>
                          <a:ea typeface="Calibri"/>
                          <a:cs typeface="Calibri"/>
                          <a:sym typeface="Calibri"/>
                        </a:rPr>
                        <a:t>__</a:t>
                      </a:r>
                      <a:r>
                        <a:rPr lang="ko-KR" altLang="en-US" sz="800" b="1" dirty="0">
                          <a:latin typeface="Calibri"/>
                          <a:ea typeface="Calibri"/>
                          <a:cs typeface="Calibri"/>
                          <a:sym typeface="Calibri"/>
                        </a:rPr>
                        <a:t>도 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en-US" altLang="ko-KR" sz="800" b="1" dirty="0">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323911">
                <a:tc gridSpan="2">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맑으며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다소</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흐리며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이슬</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비가 내리며</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소나기가 내리며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바람이 불고 있으며</a:t>
                      </a:r>
                      <a:endParaRPr lang="en-US" altLang="ko-KR" sz="600" b="1" dirty="0">
                        <a:latin typeface="Calibri"/>
                        <a:ea typeface="Calibri"/>
                        <a:cs typeface="Calibri"/>
                        <a:sym typeface="Calibri"/>
                      </a:endParaRPr>
                    </a:p>
                  </a:txBody>
                  <a:tcPr marL="36000" marR="36000" marT="36000" marB="36000"/>
                </a:tc>
                <a:tc hMerge="1">
                  <a:txBody>
                    <a:bodyPr/>
                    <a:lstStyle/>
                    <a:p>
                      <a:endParaRPr lang="ko-Kore-KR" altLang="en-US"/>
                    </a:p>
                  </a:txBody>
                  <a:tcPr/>
                </a:tc>
                <a:tc>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눈이 오고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안개가 끼어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황사가 있으며</a:t>
                      </a:r>
                      <a:endParaRPr lang="en-US" altLang="ko-KR" sz="6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3804322827"/>
                  </a:ext>
                </a:extLst>
              </a:tr>
              <a:tr h="356733">
                <a:tc gridSpan="3">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지금 이곳의 시각은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월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일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요일</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오전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오후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시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분 입니다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고맙습니다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591553393"/>
                  </a:ext>
                </a:extLst>
              </a:tr>
              <a:tr h="280822">
                <a:tc gridSpan="3">
                  <a:txBody>
                    <a:bodyPr/>
                    <a:lstStyle/>
                    <a:p>
                      <a:pPr marL="0" marR="0" lvl="0" indent="0" algn="l" rtl="0">
                        <a:lnSpc>
                          <a:spcPct val="150000"/>
                        </a:lnSpc>
                        <a:spcBef>
                          <a:spcPts val="0"/>
                        </a:spcBef>
                        <a:spcAft>
                          <a:spcPts val="0"/>
                        </a:spcAft>
                        <a:buNone/>
                      </a:pPr>
                      <a:r>
                        <a:rPr lang="en-US" altLang="ko-KR" sz="800" b="1" dirty="0">
                          <a:latin typeface="Calibri"/>
                          <a:ea typeface="Calibri"/>
                          <a:cs typeface="Calibri"/>
                          <a:sym typeface="Calibri"/>
                        </a:rPr>
                        <a:t>L</a:t>
                      </a:r>
                      <a:r>
                        <a:rPr lang="en-US" sz="800" b="1" dirty="0">
                          <a:latin typeface="Calibri"/>
                          <a:ea typeface="Calibri"/>
                          <a:cs typeface="Calibri"/>
                          <a:sym typeface="Calibri"/>
                        </a:rPr>
                        <a:t>adies and gentlemen</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R" sz="800" b="1" dirty="0">
                          <a:latin typeface="Calibri"/>
                          <a:ea typeface="Calibri"/>
                          <a:cs typeface="Calibri"/>
                          <a:sym typeface="Calibri"/>
                        </a:rPr>
                        <a:t>t</a:t>
                      </a:r>
                      <a:r>
                        <a:rPr lang="en-US" sz="800" b="1" dirty="0">
                          <a:latin typeface="Calibri"/>
                          <a:ea typeface="Calibri"/>
                          <a:cs typeface="Calibri"/>
                          <a:sym typeface="Calibri"/>
                        </a:rPr>
                        <a:t>his is </a:t>
                      </a:r>
                      <a:r>
                        <a:rPr lang="en-US" altLang="ko-KR" sz="800" b="1" u="sng" dirty="0">
                          <a:latin typeface="Calibri"/>
                          <a:ea typeface="Calibri"/>
                          <a:cs typeface="Calibri"/>
                          <a:sym typeface="Calibri"/>
                        </a:rPr>
                        <a:t>the</a:t>
                      </a:r>
                      <a:r>
                        <a:rPr lang="ko-KR" altLang="en-US" sz="800" b="1" dirty="0">
                          <a:latin typeface="Calibri"/>
                          <a:ea typeface="Calibri"/>
                          <a:cs typeface="Calibri"/>
                          <a:sym typeface="Calibri"/>
                        </a:rPr>
                        <a:t> </a:t>
                      </a:r>
                      <a:r>
                        <a:rPr lang="en-US" sz="800" b="1" dirty="0">
                          <a:latin typeface="Calibri"/>
                          <a:ea typeface="Calibri"/>
                          <a:cs typeface="Calibri"/>
                          <a:sym typeface="Calibri"/>
                        </a:rPr>
                        <a:t>captain</a:t>
                      </a:r>
                      <a:r>
                        <a:rPr lang="ko-KR" altLang="en-US" sz="800" b="1" dirty="0">
                          <a:latin typeface="Calibri"/>
                          <a:ea typeface="Calibri"/>
                          <a:cs typeface="Calibri"/>
                          <a:sym typeface="Calibri"/>
                        </a:rPr>
                        <a:t> </a:t>
                      </a:r>
                      <a:r>
                        <a:rPr lang="en-US" sz="800" b="1" dirty="0">
                          <a:latin typeface="Calibri"/>
                          <a:ea typeface="Calibri"/>
                          <a:cs typeface="Calibri"/>
                          <a:sym typeface="Calibri"/>
                        </a:rPr>
                        <a:t>speaking. </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We expect to land at __ international airport in about (40) minutes.</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temperature at ___ is __ degrees Celsius, or __ degrees Fahrenheit </a:t>
                      </a:r>
                      <a:r>
                        <a:rPr lang="en-US" altLang="ko-KR" sz="700" b="0" dirty="0">
                          <a:solidFill>
                            <a:srgbClr val="00B050"/>
                          </a:solidFill>
                          <a:latin typeface="Calibri"/>
                          <a:ea typeface="Calibri"/>
                          <a:cs typeface="Calibri"/>
                          <a:sym typeface="Calibri"/>
                        </a:rPr>
                        <a:t>(NAVBLUE </a:t>
                      </a:r>
                      <a:r>
                        <a:rPr lang="ko-KR" altLang="en-US" sz="700" b="0" dirty="0">
                          <a:solidFill>
                            <a:srgbClr val="00B050"/>
                          </a:solidFill>
                          <a:latin typeface="Calibri"/>
                          <a:ea typeface="Calibri"/>
                          <a:cs typeface="Calibri"/>
                          <a:sym typeface="Calibri"/>
                        </a:rPr>
                        <a:t>참조</a:t>
                      </a:r>
                      <a:r>
                        <a:rPr lang="en-US" altLang="ko-KR" sz="700" b="0" dirty="0">
                          <a:solidFill>
                            <a:srgbClr val="00B050"/>
                          </a:solidFill>
                          <a:latin typeface="Calibri"/>
                          <a:ea typeface="Calibri"/>
                          <a:cs typeface="Calibri"/>
                          <a:sym typeface="Calibri"/>
                        </a:rPr>
                        <a:t>)</a:t>
                      </a:r>
                      <a:endParaRPr lang="en-US" altLang="ko-Kore-KR" sz="700" b="0" dirty="0">
                        <a:solidFill>
                          <a:srgbClr val="00B050"/>
                        </a:solidFill>
                        <a:latin typeface="Calibri"/>
                        <a:ea typeface="Calibri"/>
                        <a:cs typeface="Calibri"/>
                        <a:sym typeface="Calibri"/>
                      </a:endParaRP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and it is </a:t>
                      </a: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___. </a:t>
                      </a: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13012">
                <a:tc>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(mostly) clear</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(partly) cloudy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drizzling / raining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windy</a:t>
                      </a:r>
                      <a:endParaRPr lang="ko-Kore-KR" altLang="en-US" sz="800" b="1" dirty="0">
                        <a:latin typeface="Calibri"/>
                        <a:ea typeface="Calibri"/>
                        <a:cs typeface="Calibri"/>
                        <a:sym typeface="Calibri"/>
                      </a:endParaRPr>
                    </a:p>
                  </a:txBody>
                  <a:tcPr marL="36000" marR="36000" marT="36000" marB="36000"/>
                </a:tc>
                <a:tc gridSpan="2">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snowing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foggy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hazy or smoggy</a:t>
                      </a:r>
                    </a:p>
                  </a:txBody>
                  <a:tcPr marL="36000" marR="36000" marT="36000" marB="36000"/>
                </a:tc>
                <a:tc hMerge="1">
                  <a:txBody>
                    <a:bodyPr/>
                    <a:lstStyle/>
                    <a:p>
                      <a:endParaRPr lang="ko-Kore-KR" altLang="en-US"/>
                    </a:p>
                  </a:txBody>
                  <a:tcPr/>
                </a:tc>
                <a:extLst>
                  <a:ext uri="{0D108BD9-81ED-4DB2-BD59-A6C34878D82A}">
                    <a16:rowId xmlns:a16="http://schemas.microsoft.com/office/drawing/2014/main" val="4104669382"/>
                  </a:ext>
                </a:extLst>
              </a:tr>
              <a:tr h="500625">
                <a:tc gridSpan="3">
                  <a:txBody>
                    <a:bodyPr/>
                    <a:lstStyle/>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time is __ : __ </a:t>
                      </a:r>
                      <a:r>
                        <a:rPr lang="en-US" altLang="ko-Kore-KR" sz="800" b="1" dirty="0" err="1">
                          <a:latin typeface="Calibri"/>
                          <a:ea typeface="Calibri"/>
                          <a:cs typeface="Calibri"/>
                          <a:sym typeface="Calibri"/>
                        </a:rPr>
                        <a:t>a.m</a:t>
                      </a:r>
                      <a:r>
                        <a:rPr lang="en-US" altLang="ko-Kore-KR" sz="800" b="1" dirty="0">
                          <a:latin typeface="Calibri"/>
                          <a:ea typeface="Calibri"/>
                          <a:cs typeface="Calibri"/>
                          <a:sym typeface="Calibri"/>
                        </a:rPr>
                        <a:t>(</a:t>
                      </a:r>
                      <a:r>
                        <a:rPr lang="en-US" altLang="ko-Kore-KR" sz="800" b="1" dirty="0" err="1">
                          <a:latin typeface="Calibri"/>
                          <a:ea typeface="Calibri"/>
                          <a:cs typeface="Calibri"/>
                          <a:sym typeface="Calibri"/>
                        </a:rPr>
                        <a:t>p.m</a:t>
                      </a:r>
                      <a:r>
                        <a:rPr lang="en-US" altLang="ko-Kore-KR" sz="800" b="1" dirty="0">
                          <a:latin typeface="Calibri"/>
                          <a:ea typeface="Calibri"/>
                          <a:cs typeface="Calibri"/>
                          <a:sym typeface="Calibri"/>
                        </a:rPr>
                        <a:t>), on (day-of-the-week), (month)(date).</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Thank you for flying with us today.</a:t>
                      </a:r>
                      <a:endParaRPr lang="ko-Kore-KR" altLang="en-US" sz="800" b="1" dirty="0">
                        <a:latin typeface="Calibri"/>
                        <a:ea typeface="Calibri"/>
                        <a:cs typeface="Calibri"/>
                        <a:sym typeface="Calibri"/>
                      </a:endParaRPr>
                    </a:p>
                  </a:txBody>
                  <a:tcPr marL="36000" marR="36000" marT="36000" marB="36000"/>
                </a:tc>
                <a:tc hMerge="1">
                  <a:txBody>
                    <a:bodyPr/>
                    <a:lstStyle/>
                    <a:p>
                      <a:pPr marL="0" marR="0" lvl="0" indent="0" algn="l" rtl="0">
                        <a:spcBef>
                          <a:spcPts val="0"/>
                        </a:spcBef>
                        <a:spcAft>
                          <a:spcPts val="0"/>
                        </a:spcAft>
                        <a:buNone/>
                      </a:pPr>
                      <a:endParaRPr lang="ko-Kore-KR" altLang="en-US" sz="800" b="1" dirty="0">
                        <a:latin typeface="Calibri"/>
                        <a:ea typeface="Calibri"/>
                        <a:cs typeface="Calibri"/>
                        <a:sym typeface="Calibri"/>
                      </a:endParaRPr>
                    </a:p>
                  </a:txBody>
                  <a:tcPr marL="36000" marR="36000" marT="36000" marB="36000"/>
                </a:tc>
                <a:tc hMerge="1">
                  <a:txBody>
                    <a:bodyPr/>
                    <a:lstStyle/>
                    <a:p>
                      <a:endParaRPr lang="ko-Kore-KR" altLang="en-US"/>
                    </a:p>
                  </a:txBody>
                  <a:tcPr/>
                </a:tc>
                <a:extLst>
                  <a:ext uri="{0D108BD9-81ED-4DB2-BD59-A6C34878D82A}">
                    <a16:rowId xmlns:a16="http://schemas.microsoft.com/office/drawing/2014/main" val="2371547286"/>
                  </a:ext>
                </a:extLst>
              </a:tr>
            </a:tbl>
          </a:graphicData>
        </a:graphic>
      </p:graphicFrame>
      <p:sp>
        <p:nvSpPr>
          <p:cNvPr id="2" name="직사각형 1">
            <a:hlinkClick r:id="" action="ppaction://hlinkshowjump?jump=firstslide"/>
            <a:extLst>
              <a:ext uri="{FF2B5EF4-FFF2-40B4-BE49-F238E27FC236}">
                <a16:creationId xmlns:a16="http://schemas.microsoft.com/office/drawing/2014/main" id="{2A58EF91-7A59-ED4B-8C85-329D79A12166}"/>
              </a:ext>
            </a:extLst>
          </p:cNvPr>
          <p:cNvSpPr/>
          <p:nvPr/>
        </p:nvSpPr>
        <p:spPr>
          <a:xfrm>
            <a:off x="702671" y="5277971"/>
            <a:ext cx="1085619"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Domestic</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82770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1668347208"/>
              </p:ext>
            </p:extLst>
          </p:nvPr>
        </p:nvGraphicFramePr>
        <p:xfrm>
          <a:off x="98101" y="132867"/>
          <a:ext cx="2132650" cy="3708108"/>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400549661"/>
                    </a:ext>
                  </a:extLst>
                </a:gridCol>
              </a:tblGrid>
              <a:tr h="397298">
                <a:tc gridSpan="2">
                  <a:txBody>
                    <a:bodyPr/>
                    <a:lstStyle/>
                    <a:p>
                      <a:pPr marL="0" marR="0" lvl="0" indent="0" algn="ctr" rtl="0">
                        <a:spcBef>
                          <a:spcPts val="0"/>
                        </a:spcBef>
                        <a:spcAft>
                          <a:spcPts val="0"/>
                        </a:spcAft>
                        <a:buNone/>
                      </a:pPr>
                      <a:r>
                        <a:rPr lang="en-US" sz="2400" b="1" u="none" strike="noStrike" cap="none" dirty="0">
                          <a:solidFill>
                            <a:schemeClr val="bg1"/>
                          </a:solidFill>
                          <a:latin typeface="Calibri"/>
                          <a:ea typeface="Calibri"/>
                          <a:cs typeface="Calibri"/>
                          <a:sym typeface="Calibri"/>
                        </a:rPr>
                        <a:t>Japan</a:t>
                      </a:r>
                      <a:endParaRPr sz="24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3108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KIX</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1"/>
                  </a:ext>
                </a:extLst>
              </a:tr>
              <a:tr h="33108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KIX</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8"/>
                  </a:ext>
                </a:extLst>
              </a:tr>
              <a:tr h="33108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9"/>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CTS</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0"/>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HND</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63828124"/>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NGO</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1"/>
                  </a:ext>
                </a:extLst>
              </a:tr>
              <a:tr h="331081">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FUK</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8" action="ppaction://hlinksldjump">
                            <a:extLst>
                              <a:ext uri="{A12FA001-AC4F-418D-AE19-62706E023703}">
                                <ahyp:hlinkClr xmlns:ahyp="http://schemas.microsoft.com/office/drawing/2018/hyperlinkcolor" val="tx"/>
                              </a:ext>
                            </a:extLst>
                          </a:hlinkClick>
                        </a:rPr>
                        <a:t>AOJ</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138432142"/>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1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20" action="ppaction://hlinksldjump">
                            <a:extLst>
                              <a:ext uri="{A12FA001-AC4F-418D-AE19-62706E023703}">
                                <ahyp:hlinkClr xmlns:ahyp="http://schemas.microsoft.com/office/drawing/2018/hyperlinkcolor" val="tx"/>
                              </a:ext>
                            </a:extLst>
                          </a:hlinkClick>
                        </a:rPr>
                        <a:t>KIJ</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1894762"/>
                  </a:ext>
                </a:extLst>
              </a:tr>
              <a:tr h="331081">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21" action="ppaction://hlinksldjump">
                            <a:extLst>
                              <a:ext uri="{A12FA001-AC4F-418D-AE19-62706E023703}">
                                <ahyp:hlinkClr xmlns:ahyp="http://schemas.microsoft.com/office/drawing/2018/hyperlinkcolor" val="tx"/>
                              </a:ext>
                            </a:extLst>
                          </a:hlinkClick>
                        </a:rPr>
                        <a:t>CJU</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hlinkClick r:id="rId22" action="ppaction://hlinksldjump">
                            <a:extLst>
                              <a:ext uri="{A12FA001-AC4F-418D-AE19-62706E023703}">
                                <ahyp:hlinkClr xmlns:ahyp="http://schemas.microsoft.com/office/drawing/2018/hyperlinkcolor" val="tx"/>
                              </a:ext>
                            </a:extLst>
                          </a:hlinkClick>
                        </a:rPr>
                        <a:t>NRT</a:t>
                      </a:r>
                      <a:endParaRPr lang="en-US" altLang="ko-Kore-KR" sz="2000" b="1" i="0" u="none" strike="noStrike" cap="none" dirty="0">
                        <a:solidFill>
                          <a:srgbClr val="0070C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397213989"/>
                  </a:ext>
                </a:extLst>
              </a:tr>
            </a:tbl>
          </a:graphicData>
        </a:graphic>
      </p:graphicFrame>
      <p:sp>
        <p:nvSpPr>
          <p:cNvPr id="3" name="직사각형 2">
            <a:hlinkClick r:id="" action="ppaction://hlinkshowjump?jump=firstslide"/>
            <a:extLst>
              <a:ext uri="{FF2B5EF4-FFF2-40B4-BE49-F238E27FC236}">
                <a16:creationId xmlns:a16="http://schemas.microsoft.com/office/drawing/2014/main" id="{FF3491A8-D925-6BB2-F309-8A3F0C288540}"/>
              </a:ext>
            </a:extLst>
          </p:cNvPr>
          <p:cNvSpPr/>
          <p:nvPr/>
        </p:nvSpPr>
        <p:spPr>
          <a:xfrm>
            <a:off x="847353" y="522010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168900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3333811122"/>
              </p:ext>
            </p:extLst>
          </p:nvPr>
        </p:nvGraphicFramePr>
        <p:xfrm>
          <a:off x="0" y="0"/>
          <a:ext cx="2328875" cy="37360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200" b="1" dirty="0">
                          <a:latin typeface="Calibri"/>
                          <a:ea typeface="Calibri"/>
                          <a:cs typeface="Calibri"/>
                          <a:sym typeface="Calibri"/>
                        </a:rPr>
                        <a:t>WELCOME PA</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877125">
                <a:tc>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5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2992022177"/>
              </p:ext>
            </p:extLst>
          </p:nvPr>
        </p:nvGraphicFramePr>
        <p:xfrm>
          <a:off x="81023" y="3711435"/>
          <a:ext cx="2129742" cy="1566534"/>
        </p:xfrm>
        <a:graphic>
          <a:graphicData uri="http://schemas.openxmlformats.org/drawingml/2006/table">
            <a:tbl>
              <a:tblPr firstRow="1" bandRow="1">
                <a:noFill/>
                <a:tableStyleId>{A521BE36-7E6F-4EC9-8D66-1CF97A6895EC}</a:tableStyleId>
              </a:tblPr>
              <a:tblGrid>
                <a:gridCol w="451142">
                  <a:extLst>
                    <a:ext uri="{9D8B030D-6E8A-4147-A177-3AD203B41FA5}">
                      <a16:colId xmlns:a16="http://schemas.microsoft.com/office/drawing/2014/main" val="20000"/>
                    </a:ext>
                  </a:extLst>
                </a:gridCol>
                <a:gridCol w="1678600">
                  <a:extLst>
                    <a:ext uri="{9D8B030D-6E8A-4147-A177-3AD203B41FA5}">
                      <a16:colId xmlns:a16="http://schemas.microsoft.com/office/drawing/2014/main" val="20001"/>
                    </a:ext>
                  </a:extLst>
                </a:gridCol>
              </a:tblGrid>
              <a:tr h="180558">
                <a:tc gridSpan="2">
                  <a:txBody>
                    <a:bodyPr/>
                    <a:lstStyle/>
                    <a:p>
                      <a:pPr marL="0" marR="0" lvl="0" indent="0" algn="ctr" rtl="0">
                        <a:spcBef>
                          <a:spcPts val="0"/>
                        </a:spcBef>
                        <a:spcAft>
                          <a:spcPts val="0"/>
                        </a:spcAft>
                        <a:buNone/>
                      </a:pPr>
                      <a:r>
                        <a:rPr lang="en-US" sz="1100" b="0" dirty="0">
                          <a:solidFill>
                            <a:schemeClr val="bg1"/>
                          </a:solidFill>
                        </a:rPr>
                        <a:t>Japan</a:t>
                      </a:r>
                      <a:endParaRPr sz="1100" b="0" dirty="0">
                        <a:solidFill>
                          <a:schemeClr val="bg1"/>
                        </a:solidFill>
                      </a:endParaRPr>
                    </a:p>
                  </a:txBody>
                  <a:tcPr marL="0" marR="0" marT="0" marB="0" anchor="ctr"/>
                </a:tc>
                <a:tc hMerge="1">
                  <a:txBody>
                    <a:bodyPr/>
                    <a:lstStyle/>
                    <a:p>
                      <a:pPr marL="0" marR="0" lvl="0" indent="0" algn="ctr" rtl="0">
                        <a:spcBef>
                          <a:spcPts val="0"/>
                        </a:spcBef>
                        <a:spcAft>
                          <a:spcPts val="0"/>
                        </a:spcAft>
                        <a:buNone/>
                      </a:pPr>
                      <a:endParaRPr sz="800" b="0" dirty="0">
                        <a:solidFill>
                          <a:srgbClr val="0070C0"/>
                        </a:solidFill>
                      </a:endParaRPr>
                    </a:p>
                  </a:txBody>
                  <a:tcPr marL="0" marR="0" marT="0" marB="0"/>
                </a:tc>
                <a:extLst>
                  <a:ext uri="{0D108BD9-81ED-4DB2-BD59-A6C34878D82A}">
                    <a16:rowId xmlns:a16="http://schemas.microsoft.com/office/drawing/2014/main" val="4210945862"/>
                  </a:ext>
                </a:extLst>
              </a:tr>
              <a:tr h="173247">
                <a:tc>
                  <a:txBody>
                    <a:bodyPr/>
                    <a:lstStyle/>
                    <a:p>
                      <a:pPr marL="0" marR="0" lvl="0" indent="0" algn="ctr" rtl="0">
                        <a:spcBef>
                          <a:spcPts val="0"/>
                        </a:spcBef>
                        <a:spcAft>
                          <a:spcPts val="0"/>
                        </a:spcAft>
                        <a:buNone/>
                      </a:pPr>
                      <a:r>
                        <a:rPr lang="en-US" sz="900" b="0" dirty="0">
                          <a:solidFill>
                            <a:srgbClr val="0070C0"/>
                          </a:solidFill>
                        </a:rPr>
                        <a:t>KIX</a:t>
                      </a:r>
                      <a:endParaRPr sz="900" b="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오사카</a:t>
                      </a:r>
                      <a:r>
                        <a:rPr lang="en-US" sz="900" b="0" dirty="0">
                          <a:solidFill>
                            <a:srgbClr val="0070C0"/>
                          </a:solidFill>
                        </a:rPr>
                        <a:t>/</a:t>
                      </a:r>
                      <a:r>
                        <a:rPr lang="en-US" sz="900" b="0" dirty="0" err="1">
                          <a:solidFill>
                            <a:srgbClr val="0070C0"/>
                          </a:solidFill>
                        </a:rPr>
                        <a:t>간사이</a:t>
                      </a:r>
                      <a:endParaRPr sz="900" b="0" dirty="0">
                        <a:solidFill>
                          <a:srgbClr val="0070C0"/>
                        </a:solidFill>
                      </a:endParaRPr>
                    </a:p>
                  </a:txBody>
                  <a:tcPr marL="0" marR="0" marT="0" marB="0" anchor="ctr"/>
                </a:tc>
                <a:extLst>
                  <a:ext uri="{0D108BD9-81ED-4DB2-BD59-A6C34878D82A}">
                    <a16:rowId xmlns:a16="http://schemas.microsoft.com/office/drawing/2014/main" val="10007"/>
                  </a:ext>
                </a:extLst>
              </a:tr>
              <a:tr h="173247">
                <a:tc>
                  <a:txBody>
                    <a:bodyPr/>
                    <a:lstStyle/>
                    <a:p>
                      <a:pPr marL="0" marR="0" lvl="0" indent="0" algn="ctr" rtl="0">
                        <a:spcBef>
                          <a:spcPts val="0"/>
                        </a:spcBef>
                        <a:spcAft>
                          <a:spcPts val="0"/>
                        </a:spcAft>
                        <a:buNone/>
                      </a:pPr>
                      <a:r>
                        <a:rPr lang="en-US" sz="900" dirty="0">
                          <a:solidFill>
                            <a:srgbClr val="0070C0"/>
                          </a:solidFill>
                        </a:rPr>
                        <a:t>HND</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하네다</a:t>
                      </a:r>
                      <a:endParaRPr sz="900" b="0" dirty="0">
                        <a:solidFill>
                          <a:srgbClr val="0070C0"/>
                        </a:solidFill>
                      </a:endParaRPr>
                    </a:p>
                  </a:txBody>
                  <a:tcPr marL="0" marR="0" marT="0" marB="0" anchor="ctr"/>
                </a:tc>
                <a:extLst>
                  <a:ext uri="{0D108BD9-81ED-4DB2-BD59-A6C34878D82A}">
                    <a16:rowId xmlns:a16="http://schemas.microsoft.com/office/drawing/2014/main" val="1188143320"/>
                  </a:ext>
                </a:extLst>
              </a:tr>
              <a:tr h="173247">
                <a:tc>
                  <a:txBody>
                    <a:bodyPr/>
                    <a:lstStyle/>
                    <a:p>
                      <a:pPr marL="0" marR="0" lvl="0" indent="0" algn="ctr" rtl="0">
                        <a:spcBef>
                          <a:spcPts val="0"/>
                        </a:spcBef>
                        <a:spcAft>
                          <a:spcPts val="0"/>
                        </a:spcAft>
                        <a:buNone/>
                      </a:pPr>
                      <a:r>
                        <a:rPr lang="en-US" sz="900" dirty="0">
                          <a:solidFill>
                            <a:srgbClr val="0070C0"/>
                          </a:solidFill>
                        </a:rPr>
                        <a:t>NRT</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도쿄</a:t>
                      </a:r>
                      <a:r>
                        <a:rPr lang="en-US" sz="900" b="0" dirty="0">
                          <a:solidFill>
                            <a:srgbClr val="0070C0"/>
                          </a:solidFill>
                        </a:rPr>
                        <a:t>/</a:t>
                      </a:r>
                      <a:r>
                        <a:rPr lang="en-US" sz="900" b="0" dirty="0" err="1">
                          <a:solidFill>
                            <a:srgbClr val="0070C0"/>
                          </a:solidFill>
                        </a:rPr>
                        <a:t>나리타</a:t>
                      </a:r>
                      <a:endParaRPr sz="900" b="0" dirty="0">
                        <a:solidFill>
                          <a:srgbClr val="0070C0"/>
                        </a:solidFill>
                      </a:endParaRPr>
                    </a:p>
                  </a:txBody>
                  <a:tcPr marL="0" marR="0" marT="0" marB="0" anchor="ctr"/>
                </a:tc>
                <a:extLst>
                  <a:ext uri="{0D108BD9-81ED-4DB2-BD59-A6C34878D82A}">
                    <a16:rowId xmlns:a16="http://schemas.microsoft.com/office/drawing/2014/main" val="3275921985"/>
                  </a:ext>
                </a:extLst>
              </a:tr>
              <a:tr h="173247">
                <a:tc>
                  <a:txBody>
                    <a:bodyPr/>
                    <a:lstStyle/>
                    <a:p>
                      <a:pPr marL="0" marR="0" lvl="0" indent="0" algn="ctr" rtl="0">
                        <a:spcBef>
                          <a:spcPts val="0"/>
                        </a:spcBef>
                        <a:spcAft>
                          <a:spcPts val="0"/>
                        </a:spcAft>
                        <a:buNone/>
                      </a:pPr>
                      <a:r>
                        <a:rPr lang="en-US" sz="900" dirty="0">
                          <a:solidFill>
                            <a:srgbClr val="0070C0"/>
                          </a:solidFill>
                        </a:rPr>
                        <a:t>CTS</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900" b="0" dirty="0" err="1">
                          <a:solidFill>
                            <a:srgbClr val="0070C0"/>
                          </a:solidFill>
                        </a:rPr>
                        <a:t>삿포로</a:t>
                      </a:r>
                      <a:r>
                        <a:rPr lang="en-US" sz="900" b="0" dirty="0">
                          <a:solidFill>
                            <a:srgbClr val="0070C0"/>
                          </a:solidFill>
                        </a:rPr>
                        <a:t>/</a:t>
                      </a:r>
                      <a:r>
                        <a:rPr lang="en-US" sz="900" b="0" dirty="0" err="1">
                          <a:solidFill>
                            <a:srgbClr val="0070C0"/>
                          </a:solidFill>
                        </a:rPr>
                        <a:t>신</a:t>
                      </a:r>
                      <a:r>
                        <a:rPr lang="en-US" sz="900" b="0" dirty="0">
                          <a:solidFill>
                            <a:srgbClr val="0070C0"/>
                          </a:solidFill>
                        </a:rPr>
                        <a:t>(New) </a:t>
                      </a:r>
                      <a:r>
                        <a:rPr lang="en-US" sz="900" b="0" dirty="0" err="1">
                          <a:solidFill>
                            <a:srgbClr val="0070C0"/>
                          </a:solidFill>
                        </a:rPr>
                        <a:t>치토세</a:t>
                      </a:r>
                      <a:endParaRPr sz="900" b="0" dirty="0">
                        <a:solidFill>
                          <a:srgbClr val="0070C0"/>
                        </a:solidFill>
                      </a:endParaRPr>
                    </a:p>
                  </a:txBody>
                  <a:tcPr marL="0" marR="0" marT="0" marB="0" anchor="ctr"/>
                </a:tc>
                <a:extLst>
                  <a:ext uri="{0D108BD9-81ED-4DB2-BD59-A6C34878D82A}">
                    <a16:rowId xmlns:a16="http://schemas.microsoft.com/office/drawing/2014/main" val="2751862034"/>
                  </a:ext>
                </a:extLst>
              </a:tr>
              <a:tr h="173247">
                <a:tc>
                  <a:txBody>
                    <a:bodyPr/>
                    <a:lstStyle/>
                    <a:p>
                      <a:pPr marL="0" marR="0" lvl="0" indent="0" algn="ctr" rtl="0">
                        <a:spcBef>
                          <a:spcPts val="0"/>
                        </a:spcBef>
                        <a:spcAft>
                          <a:spcPts val="0"/>
                        </a:spcAft>
                        <a:buNone/>
                      </a:pPr>
                      <a:r>
                        <a:rPr lang="en-US" sz="900" dirty="0">
                          <a:solidFill>
                            <a:srgbClr val="0070C0"/>
                          </a:solidFill>
                        </a:rPr>
                        <a:t>NGO</a:t>
                      </a:r>
                      <a:endParaRPr sz="900" dirty="0">
                        <a:solidFill>
                          <a:srgbClr val="0070C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0070C0"/>
                          </a:solidFill>
                        </a:rPr>
                        <a:t>나고야</a:t>
                      </a:r>
                      <a:r>
                        <a:rPr lang="en-US" altLang="ko-KR" sz="900" b="0" dirty="0">
                          <a:solidFill>
                            <a:srgbClr val="0070C0"/>
                          </a:solidFill>
                        </a:rPr>
                        <a:t>/</a:t>
                      </a:r>
                      <a:r>
                        <a:rPr lang="ko-KR" altLang="en-US" sz="900" b="0" dirty="0">
                          <a:solidFill>
                            <a:srgbClr val="0070C0"/>
                          </a:solidFill>
                        </a:rPr>
                        <a:t>주부</a:t>
                      </a:r>
                      <a:r>
                        <a:rPr lang="en-US" altLang="ko-KR" sz="900" b="0" dirty="0">
                          <a:solidFill>
                            <a:srgbClr val="0070C0"/>
                          </a:solidFill>
                        </a:rPr>
                        <a:t>(Chubu </a:t>
                      </a:r>
                      <a:r>
                        <a:rPr lang="en-US" altLang="ko-KR" sz="900" b="0" dirty="0" err="1">
                          <a:solidFill>
                            <a:srgbClr val="0070C0"/>
                          </a:solidFill>
                        </a:rPr>
                        <a:t>Centrair</a:t>
                      </a:r>
                      <a:r>
                        <a:rPr lang="en-US" altLang="ko-KR" sz="900" b="0" dirty="0">
                          <a:solidFill>
                            <a:srgbClr val="0070C0"/>
                          </a:solidFill>
                        </a:rPr>
                        <a:t>)</a:t>
                      </a:r>
                      <a:endParaRPr sz="900" b="0" dirty="0">
                        <a:solidFill>
                          <a:srgbClr val="0070C0"/>
                        </a:solidFill>
                      </a:endParaRPr>
                    </a:p>
                  </a:txBody>
                  <a:tcPr marL="0" marR="0" marT="0" marB="0" anchor="ctr"/>
                </a:tc>
                <a:extLst>
                  <a:ext uri="{0D108BD9-81ED-4DB2-BD59-A6C34878D82A}">
                    <a16:rowId xmlns:a16="http://schemas.microsoft.com/office/drawing/2014/main" val="2116662300"/>
                  </a:ext>
                </a:extLst>
              </a:tr>
              <a:tr h="173247">
                <a:tc>
                  <a:txBody>
                    <a:bodyPr/>
                    <a:lstStyle/>
                    <a:p>
                      <a:pPr marL="0" marR="0" lvl="0" indent="0" algn="ctr" rtl="0">
                        <a:spcBef>
                          <a:spcPts val="0"/>
                        </a:spcBef>
                        <a:spcAft>
                          <a:spcPts val="0"/>
                        </a:spcAft>
                        <a:buNone/>
                      </a:pPr>
                      <a:r>
                        <a:rPr lang="en-US" sz="900" dirty="0">
                          <a:solidFill>
                            <a:srgbClr val="0070C0"/>
                          </a:solidFill>
                        </a:rPr>
                        <a:t>FUK</a:t>
                      </a:r>
                      <a:endParaRPr sz="900" dirty="0"/>
                    </a:p>
                  </a:txBody>
                  <a:tcPr marL="0" marR="0" marT="0" marB="0" anchor="ctr"/>
                </a:tc>
                <a:tc>
                  <a:txBody>
                    <a:bodyPr/>
                    <a:lstStyle/>
                    <a:p>
                      <a:pPr marL="0" marR="0" lvl="0" indent="0" algn="ctr" rtl="0">
                        <a:spcBef>
                          <a:spcPts val="0"/>
                        </a:spcBef>
                        <a:spcAft>
                          <a:spcPts val="0"/>
                        </a:spcAft>
                        <a:buNone/>
                      </a:pPr>
                      <a:r>
                        <a:rPr lang="ko-KR" altLang="en-US" sz="900" dirty="0">
                          <a:solidFill>
                            <a:srgbClr val="0070C0"/>
                          </a:solidFill>
                        </a:rPr>
                        <a:t>후쿠오카</a:t>
                      </a:r>
                      <a:endParaRPr sz="900" dirty="0"/>
                    </a:p>
                  </a:txBody>
                  <a:tcPr marL="0" marR="0" marT="0" marB="0" anchor="ctr"/>
                </a:tc>
                <a:extLst>
                  <a:ext uri="{0D108BD9-81ED-4DB2-BD59-A6C34878D82A}">
                    <a16:rowId xmlns:a16="http://schemas.microsoft.com/office/drawing/2014/main" val="132924141"/>
                  </a:ext>
                </a:extLst>
              </a:tr>
              <a:tr h="173247">
                <a:tc>
                  <a:txBody>
                    <a:bodyPr/>
                    <a:lstStyle/>
                    <a:p>
                      <a:pPr marL="0" marR="0" lvl="0" indent="0" algn="ctr" rtl="0">
                        <a:spcBef>
                          <a:spcPts val="0"/>
                        </a:spcBef>
                        <a:spcAft>
                          <a:spcPts val="0"/>
                        </a:spcAft>
                        <a:buNone/>
                      </a:pPr>
                      <a:r>
                        <a:rPr lang="en-US" altLang="ko-Kore-KR" sz="900" dirty="0">
                          <a:solidFill>
                            <a:srgbClr val="0070C0"/>
                          </a:solidFill>
                        </a:rPr>
                        <a:t>AOJ</a:t>
                      </a:r>
                      <a:endParaRPr sz="900"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70C0"/>
                          </a:solidFill>
                        </a:rPr>
                        <a:t>아오모리</a:t>
                      </a:r>
                      <a:endParaRPr lang="ko-KR" altLang="en-US" sz="900" dirty="0"/>
                    </a:p>
                  </a:txBody>
                  <a:tcPr marL="0" marR="0" marT="0" marB="0" anchor="ctr"/>
                </a:tc>
                <a:extLst>
                  <a:ext uri="{0D108BD9-81ED-4DB2-BD59-A6C34878D82A}">
                    <a16:rowId xmlns:a16="http://schemas.microsoft.com/office/drawing/2014/main" val="3288258191"/>
                  </a:ext>
                </a:extLst>
              </a:tr>
              <a:tr h="173247">
                <a:tc>
                  <a:txBody>
                    <a:bodyPr/>
                    <a:lstStyle/>
                    <a:p>
                      <a:pPr marL="0" marR="0" lvl="0" indent="0" algn="ctr" rtl="0">
                        <a:spcBef>
                          <a:spcPts val="0"/>
                        </a:spcBef>
                        <a:spcAft>
                          <a:spcPts val="0"/>
                        </a:spcAft>
                        <a:buNone/>
                      </a:pPr>
                      <a:r>
                        <a:rPr lang="en-US" altLang="ko-Kore-KR" sz="900" dirty="0">
                          <a:solidFill>
                            <a:srgbClr val="0070C0"/>
                          </a:solidFill>
                        </a:rPr>
                        <a:t>KIJ</a:t>
                      </a:r>
                      <a:endParaRPr lang="en-US" altLang="ko-Kore-KR" sz="900"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70C0"/>
                          </a:solidFill>
                        </a:rPr>
                        <a:t>니가타</a:t>
                      </a:r>
                      <a:endParaRPr lang="ko-KR" altLang="en-US" sz="900" dirty="0"/>
                    </a:p>
                  </a:txBody>
                  <a:tcPr marL="0" marR="0" marT="0" marB="0" anchor="ctr"/>
                </a:tc>
                <a:extLst>
                  <a:ext uri="{0D108BD9-81ED-4DB2-BD59-A6C34878D82A}">
                    <a16:rowId xmlns:a16="http://schemas.microsoft.com/office/drawing/2014/main" val="3717996534"/>
                  </a:ext>
                </a:extLst>
              </a:tr>
            </a:tbl>
          </a:graphicData>
        </a:graphic>
      </p:graphicFrame>
      <p:sp>
        <p:nvSpPr>
          <p:cNvPr id="3" name="직사각형 2">
            <a:hlinkClick r:id="" action="ppaction://hlinkshowjump?jump=firstslide"/>
            <a:extLst>
              <a:ext uri="{FF2B5EF4-FFF2-40B4-BE49-F238E27FC236}">
                <a16:creationId xmlns:a16="http://schemas.microsoft.com/office/drawing/2014/main" id="{F54BE12C-20D3-D21D-7388-B79C76711DD9}"/>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38239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3469401366"/>
              </p:ext>
            </p:extLst>
          </p:nvPr>
        </p:nvGraphicFramePr>
        <p:xfrm>
          <a:off x="55371" y="3173"/>
          <a:ext cx="1874000" cy="5547360"/>
        </p:xfrm>
        <a:graphic>
          <a:graphicData uri="http://schemas.openxmlformats.org/drawingml/2006/table">
            <a:tbl>
              <a:tblPr firstRow="1" bandRow="1">
                <a:noFill/>
                <a:tableStyleId>{A521BE36-7E6F-4EC9-8D66-1CF97A6895EC}</a:tableStyleId>
              </a:tblPr>
              <a:tblGrid>
                <a:gridCol w="937000">
                  <a:extLst>
                    <a:ext uri="{9D8B030D-6E8A-4147-A177-3AD203B41FA5}">
                      <a16:colId xmlns:a16="http://schemas.microsoft.com/office/drawing/2014/main" val="20000"/>
                    </a:ext>
                  </a:extLst>
                </a:gridCol>
                <a:gridCol w="937000">
                  <a:extLst>
                    <a:ext uri="{9D8B030D-6E8A-4147-A177-3AD203B41FA5}">
                      <a16:colId xmlns:a16="http://schemas.microsoft.com/office/drawing/2014/main" val="2763461019"/>
                    </a:ext>
                  </a:extLst>
                </a:gridCol>
              </a:tblGrid>
              <a:tr h="176667">
                <a:tc gridSpan="2">
                  <a:txBody>
                    <a:bodyPr/>
                    <a:lstStyle/>
                    <a:p>
                      <a:pPr marL="0" marR="0" lvl="0" indent="0" algn="ctr" rtl="0">
                        <a:spcBef>
                          <a:spcPts val="0"/>
                        </a:spcBef>
                        <a:spcAft>
                          <a:spcPts val="0"/>
                        </a:spcAft>
                        <a:buNone/>
                      </a:pPr>
                      <a:r>
                        <a:rPr lang="en-US" sz="1200" b="1" u="none" strike="noStrike" cap="none" dirty="0">
                          <a:solidFill>
                            <a:schemeClr val="bg1"/>
                          </a:solidFill>
                          <a:latin typeface="Calibri"/>
                          <a:ea typeface="Calibri"/>
                          <a:cs typeface="Calibri"/>
                          <a:sym typeface="Calibri"/>
                        </a:rPr>
                        <a:t>China </a:t>
                      </a:r>
                      <a:endParaRPr sz="12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GMP</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SHA</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0"/>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GMP</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PEK</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2"/>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FF000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CJU</a:t>
                      </a:r>
                      <a:endParaRPr lang="en-US" altLang="ko-Kore-KR" sz="1600" b="1" i="0" u="none" strike="noStrike" cap="none" dirty="0">
                        <a:solidFill>
                          <a:srgbClr val="FF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PEK</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3"/>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FF000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PUS</a:t>
                      </a:r>
                      <a:endParaRPr lang="en-US" altLang="ko-Kore-KR" sz="1600" b="1" i="0" u="none" strike="noStrike" cap="none" dirty="0">
                        <a:solidFill>
                          <a:srgbClr val="FF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PVG</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251775616"/>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NKG</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4"/>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TAO</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5"/>
                  </a:ext>
                </a:extLst>
              </a:tr>
              <a:tr h="22761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PEK</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6"/>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8" action="ppaction://hlinksldjump">
                            <a:extLst>
                              <a:ext uri="{A12FA001-AC4F-418D-AE19-62706E023703}">
                                <ahyp:hlinkClr xmlns:ahyp="http://schemas.microsoft.com/office/drawing/2018/hyperlinkcolor" val="tx"/>
                              </a:ext>
                            </a:extLst>
                          </a:hlinkClick>
                        </a:rPr>
                        <a:t>SHE</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7"/>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19"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0" action="ppaction://hlinksldjump">
                            <a:extLst>
                              <a:ext uri="{A12FA001-AC4F-418D-AE19-62706E023703}">
                                <ahyp:hlinkClr xmlns:ahyp="http://schemas.microsoft.com/office/drawing/2018/hyperlinkcolor" val="tx"/>
                              </a:ext>
                            </a:extLst>
                          </a:hlinkClick>
                        </a:rPr>
                        <a:t>PVG</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8"/>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22" action="ppaction://hlinksldjump">
                            <a:extLst>
                              <a:ext uri="{A12FA001-AC4F-418D-AE19-62706E023703}">
                                <ahyp:hlinkClr xmlns:ahyp="http://schemas.microsoft.com/office/drawing/2018/hyperlinkcolor" val="tx"/>
                              </a:ext>
                            </a:extLst>
                          </a:hlinkClick>
                        </a:rPr>
                        <a:t>YNJ</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09"/>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3" action="ppaction://hlinksldjump">
                            <a:extLst>
                              <a:ext uri="{A12FA001-AC4F-418D-AE19-62706E023703}">
                                <ahyp:hlinkClr xmlns:ahyp="http://schemas.microsoft.com/office/drawing/2018/hyperlinkcolor" val="tx"/>
                              </a:ext>
                            </a:extLst>
                          </a:hlinkClick>
                        </a:rPr>
                        <a:t>ICN</a:t>
                      </a:r>
                      <a:r>
                        <a:rPr lang="en-US" altLang="ko-Kore-KR" sz="1600" b="0" u="none" strike="noStrike" cap="none" dirty="0">
                          <a:solidFill>
                            <a:srgbClr val="00B050"/>
                          </a:solidFill>
                          <a:latin typeface="Calibri"/>
                          <a:cs typeface="Calibri"/>
                          <a:sym typeface="Calibri"/>
                          <a:hlinkClick r:id="rId23" action="ppaction://hlinksldjump">
                            <a:extLst>
                              <a:ext uri="{A12FA001-AC4F-418D-AE19-62706E023703}">
                                <ahyp:hlinkClr xmlns:ahyp="http://schemas.microsoft.com/office/drawing/2018/hyperlinkcolor" val="tx"/>
                              </a:ext>
                            </a:extLst>
                          </a:hlinkClick>
                        </a:rPr>
                        <a:t> </a:t>
                      </a:r>
                      <a:endParaRPr lang="en-US" altLang="ko-Kore-KR" sz="1600" b="0" u="none" strike="noStrike" cap="none" dirty="0">
                        <a:solidFill>
                          <a:srgbClr val="00B05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4" action="ppaction://hlinksldjump">
                            <a:extLst>
                              <a:ext uri="{A12FA001-AC4F-418D-AE19-62706E023703}">
                                <ahyp:hlinkClr xmlns:ahyp="http://schemas.microsoft.com/office/drawing/2018/hyperlinkcolor" val="tx"/>
                              </a:ext>
                            </a:extLst>
                          </a:hlinkClick>
                        </a:rPr>
                        <a:t>HGH</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0"/>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6" action="ppaction://hlinksldjump">
                            <a:extLst>
                              <a:ext uri="{A12FA001-AC4F-418D-AE19-62706E023703}">
                                <ahyp:hlinkClr xmlns:ahyp="http://schemas.microsoft.com/office/drawing/2018/hyperlinkcolor" val="tx"/>
                              </a:ext>
                            </a:extLst>
                          </a:hlinkClick>
                        </a:rPr>
                        <a:t>WHE</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963828124"/>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8" action="ppaction://hlinksldjump">
                            <a:extLst>
                              <a:ext uri="{A12FA001-AC4F-418D-AE19-62706E023703}">
                                <ahyp:hlinkClr xmlns:ahyp="http://schemas.microsoft.com/office/drawing/2018/hyperlinkcolor" val="tx"/>
                              </a:ext>
                            </a:extLst>
                          </a:hlinkClick>
                        </a:rPr>
                        <a:t>XIY</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527194592"/>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29"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0" action="ppaction://hlinksldjump">
                            <a:extLst>
                              <a:ext uri="{A12FA001-AC4F-418D-AE19-62706E023703}">
                                <ahyp:hlinkClr xmlns:ahyp="http://schemas.microsoft.com/office/drawing/2018/hyperlinkcolor" val="tx"/>
                              </a:ext>
                            </a:extLst>
                          </a:hlinkClick>
                        </a:rPr>
                        <a:t>CSX</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333127348"/>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32" action="ppaction://hlinksldjump">
                            <a:extLst>
                              <a:ext uri="{A12FA001-AC4F-418D-AE19-62706E023703}">
                                <ahyp:hlinkClr xmlns:ahyp="http://schemas.microsoft.com/office/drawing/2018/hyperlinkcolor" val="tx"/>
                              </a:ext>
                            </a:extLst>
                          </a:hlinkClick>
                        </a:rPr>
                        <a:t>HKG</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9315092"/>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4" action="ppaction://hlinksldjump">
                            <a:extLst>
                              <a:ext uri="{A12FA001-AC4F-418D-AE19-62706E023703}">
                                <ahyp:hlinkClr xmlns:ahyp="http://schemas.microsoft.com/office/drawing/2018/hyperlinkcolor" val="tx"/>
                              </a:ext>
                            </a:extLst>
                          </a:hlinkClick>
                        </a:rPr>
                        <a:t>TSN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6937921"/>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6" action="ppaction://hlinksldjump">
                            <a:extLst>
                              <a:ext uri="{A12FA001-AC4F-418D-AE19-62706E023703}">
                                <ahyp:hlinkClr xmlns:ahyp="http://schemas.microsoft.com/office/drawing/2018/hyperlinkcolor" val="tx"/>
                              </a:ext>
                            </a:extLst>
                          </a:hlinkClick>
                        </a:rPr>
                        <a:t>CGO</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46554646"/>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7"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38" action="ppaction://hlinksldjump">
                            <a:extLst>
                              <a:ext uri="{A12FA001-AC4F-418D-AE19-62706E023703}">
                                <ahyp:hlinkClr xmlns:ahyp="http://schemas.microsoft.com/office/drawing/2018/hyperlinkcolor" val="tx"/>
                              </a:ext>
                            </a:extLst>
                          </a:hlinkClick>
                        </a:rPr>
                        <a:t>DYG</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669722112"/>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39"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0" action="ppaction://hlinksldjump">
                            <a:extLst>
                              <a:ext uri="{A12FA001-AC4F-418D-AE19-62706E023703}">
                                <ahyp:hlinkClr xmlns:ahyp="http://schemas.microsoft.com/office/drawing/2018/hyperlinkcolor" val="tx"/>
                              </a:ext>
                            </a:extLst>
                          </a:hlinkClick>
                        </a:rPr>
                        <a:t>DLC</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252244187"/>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41"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42" action="ppaction://hlinksldjump">
                            <a:extLst>
                              <a:ext uri="{A12FA001-AC4F-418D-AE19-62706E023703}">
                                <ahyp:hlinkClr xmlns:ahyp="http://schemas.microsoft.com/office/drawing/2018/hyperlinkcolor" val="tx"/>
                              </a:ext>
                            </a:extLst>
                          </a:hlinkClick>
                        </a:rPr>
                        <a:t>HFE</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88364482"/>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43"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4" action="ppaction://hlinksldjump">
                            <a:extLst>
                              <a:ext uri="{A12FA001-AC4F-418D-AE19-62706E023703}">
                                <ahyp:hlinkClr xmlns:ahyp="http://schemas.microsoft.com/office/drawing/2018/hyperlinkcolor" val="tx"/>
                              </a:ext>
                            </a:extLst>
                          </a:hlinkClick>
                        </a:rPr>
                        <a:t>KMG</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830567129"/>
                  </a:ext>
                </a:extLst>
              </a:tr>
              <a:tr h="227612">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hlinkClick r:id="rId45" action="ppaction://hlinksldjump">
                            <a:extLst>
                              <a:ext uri="{A12FA001-AC4F-418D-AE19-62706E023703}">
                                <ahyp:hlinkClr xmlns:ahyp="http://schemas.microsoft.com/office/drawing/2018/hyperlinkcolor" val="tx"/>
                              </a:ext>
                            </a:extLst>
                          </a:hlinkClick>
                        </a:rPr>
                        <a:t>ICN</a:t>
                      </a:r>
                      <a:endParaRPr lang="en-US" altLang="ko-Kore-KR" sz="1600" b="1" i="0" u="none" strike="noStrike" cap="none" dirty="0">
                        <a:solidFill>
                          <a:srgbClr val="00B05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46" action="ppaction://hlinksldjump">
                            <a:extLst>
                              <a:ext uri="{A12FA001-AC4F-418D-AE19-62706E023703}">
                                <ahyp:hlinkClr xmlns:ahyp="http://schemas.microsoft.com/office/drawing/2018/hyperlinkcolor" val="tx"/>
                              </a:ext>
                            </a:extLst>
                          </a:hlinkClick>
                        </a:rPr>
                        <a:t>MFM</a:t>
                      </a:r>
                      <a:endParaRPr lang="en-US" altLang="ko-Kore-KR" sz="16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124054371"/>
                  </a:ext>
                </a:extLst>
              </a:tr>
            </a:tbl>
          </a:graphicData>
        </a:graphic>
      </p:graphicFrame>
      <p:sp>
        <p:nvSpPr>
          <p:cNvPr id="4" name="직사각형 3">
            <a:hlinkClick r:id="" action="ppaction://hlinkshowjump?jump=firstslide"/>
            <a:extLst>
              <a:ext uri="{FF2B5EF4-FFF2-40B4-BE49-F238E27FC236}">
                <a16:creationId xmlns:a16="http://schemas.microsoft.com/office/drawing/2014/main" id="{1A5500FA-F79C-DB43-B11F-C2A523428F55}"/>
              </a:ext>
            </a:extLst>
          </p:cNvPr>
          <p:cNvSpPr/>
          <p:nvPr/>
        </p:nvSpPr>
        <p:spPr>
          <a:xfrm>
            <a:off x="1807162" y="2015807"/>
            <a:ext cx="644531" cy="1384995"/>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a:t>
            </a:r>
          </a:p>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O</a:t>
            </a:r>
          </a:p>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M</a:t>
            </a:r>
          </a:p>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E</a:t>
            </a:r>
          </a:p>
          <a:p>
            <a:pPr algn="ct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98369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1" name="Google Shape;371;p27"/>
          <p:cNvGraphicFramePr/>
          <p:nvPr>
            <p:extLst>
              <p:ext uri="{D42A27DB-BD31-4B8C-83A1-F6EECF244321}">
                <p14:modId xmlns:p14="http://schemas.microsoft.com/office/powerpoint/2010/main" val="2514459259"/>
              </p:ext>
            </p:extLst>
          </p:nvPr>
        </p:nvGraphicFramePr>
        <p:xfrm>
          <a:off x="66044" y="2829146"/>
          <a:ext cx="1878761" cy="2736769"/>
        </p:xfrm>
        <a:graphic>
          <a:graphicData uri="http://schemas.openxmlformats.org/drawingml/2006/table">
            <a:tbl>
              <a:tblPr firstRow="1" bandRow="1">
                <a:noFill/>
                <a:tableStyleId>{A521BE36-7E6F-4EC9-8D66-1CF97A6895EC}</a:tableStyleId>
              </a:tblPr>
              <a:tblGrid>
                <a:gridCol w="472773">
                  <a:extLst>
                    <a:ext uri="{9D8B030D-6E8A-4147-A177-3AD203B41FA5}">
                      <a16:colId xmlns:a16="http://schemas.microsoft.com/office/drawing/2014/main" val="20002"/>
                    </a:ext>
                  </a:extLst>
                </a:gridCol>
                <a:gridCol w="1405988">
                  <a:extLst>
                    <a:ext uri="{9D8B030D-6E8A-4147-A177-3AD203B41FA5}">
                      <a16:colId xmlns:a16="http://schemas.microsoft.com/office/drawing/2014/main" val="20003"/>
                    </a:ext>
                  </a:extLst>
                </a:gridCol>
              </a:tblGrid>
              <a:tr h="130729">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solidFill>
                            <a:schemeClr val="bg1"/>
                          </a:solidFill>
                        </a:rPr>
                        <a:t>China</a:t>
                      </a:r>
                    </a:p>
                  </a:txBody>
                  <a:tcPr marL="0" marR="0" marT="0" marB="0"/>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b="0" dirty="0">
                          <a:solidFill>
                            <a:schemeClr val="bg1"/>
                          </a:solidFill>
                        </a:rPr>
                        <a:t>China</a:t>
                      </a:r>
                    </a:p>
                  </a:txBody>
                  <a:tcPr marL="0" marR="0" marT="0" marB="0"/>
                </a:tc>
                <a:extLst>
                  <a:ext uri="{0D108BD9-81ED-4DB2-BD59-A6C34878D82A}">
                    <a16:rowId xmlns:a16="http://schemas.microsoft.com/office/drawing/2014/main" val="2912171646"/>
                  </a:ext>
                </a:extLst>
              </a:tr>
              <a:tr h="130729">
                <a:tc>
                  <a:txBody>
                    <a:bodyPr/>
                    <a:lstStyle/>
                    <a:p>
                      <a:pPr marL="0" marR="0" lvl="0" indent="0" algn="ctr" rtl="0">
                        <a:spcBef>
                          <a:spcPts val="0"/>
                        </a:spcBef>
                        <a:spcAft>
                          <a:spcPts val="0"/>
                        </a:spcAft>
                        <a:buNone/>
                      </a:pPr>
                      <a:r>
                        <a:rPr lang="en-US" sz="900" dirty="0">
                          <a:solidFill>
                            <a:srgbClr val="00B050"/>
                          </a:solidFill>
                        </a:rPr>
                        <a:t>SHA</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상하이</a:t>
                      </a:r>
                      <a:r>
                        <a:rPr lang="en-US" altLang="ko-KR" sz="900" b="0" dirty="0">
                          <a:solidFill>
                            <a:srgbClr val="00B050"/>
                          </a:solidFill>
                        </a:rPr>
                        <a:t>/</a:t>
                      </a:r>
                      <a:r>
                        <a:rPr lang="ko-KR" altLang="en-US" sz="900" b="0" dirty="0" err="1">
                          <a:solidFill>
                            <a:srgbClr val="00B050"/>
                          </a:solidFill>
                        </a:rPr>
                        <a:t>홍차오</a:t>
                      </a:r>
                      <a:endParaRPr sz="900" b="0" dirty="0">
                        <a:solidFill>
                          <a:srgbClr val="00B050"/>
                        </a:solidFill>
                      </a:endParaRPr>
                    </a:p>
                  </a:txBody>
                  <a:tcPr marL="0" marR="0" marT="0" marB="0"/>
                </a:tc>
                <a:extLst>
                  <a:ext uri="{0D108BD9-81ED-4DB2-BD59-A6C34878D82A}">
                    <a16:rowId xmlns:a16="http://schemas.microsoft.com/office/drawing/2014/main" val="10000"/>
                  </a:ext>
                </a:extLst>
              </a:tr>
              <a:tr h="130729">
                <a:tc>
                  <a:txBody>
                    <a:bodyPr/>
                    <a:lstStyle/>
                    <a:p>
                      <a:pPr marL="0" marR="0" lvl="0" indent="0" algn="ctr" rtl="0">
                        <a:spcBef>
                          <a:spcPts val="0"/>
                        </a:spcBef>
                        <a:spcAft>
                          <a:spcPts val="0"/>
                        </a:spcAft>
                        <a:buNone/>
                      </a:pPr>
                      <a:r>
                        <a:rPr lang="en-US" sz="900" dirty="0">
                          <a:solidFill>
                            <a:srgbClr val="00B050"/>
                          </a:solidFill>
                        </a:rPr>
                        <a:t>NKG</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난징</a:t>
                      </a:r>
                      <a:r>
                        <a:rPr lang="en-US" altLang="ko-KR" sz="900" b="0" dirty="0">
                          <a:solidFill>
                            <a:srgbClr val="00B050"/>
                          </a:solidFill>
                        </a:rPr>
                        <a:t>/</a:t>
                      </a:r>
                      <a:r>
                        <a:rPr lang="ko-KR" altLang="en-US" sz="900" b="0" dirty="0" err="1">
                          <a:solidFill>
                            <a:srgbClr val="00B050"/>
                          </a:solidFill>
                        </a:rPr>
                        <a:t>루커우</a:t>
                      </a:r>
                      <a:endParaRPr sz="900" b="0" dirty="0">
                        <a:solidFill>
                          <a:srgbClr val="00B050"/>
                        </a:solidFill>
                      </a:endParaRPr>
                    </a:p>
                  </a:txBody>
                  <a:tcPr marL="0" marR="0" marT="0" marB="0"/>
                </a:tc>
                <a:extLst>
                  <a:ext uri="{0D108BD9-81ED-4DB2-BD59-A6C34878D82A}">
                    <a16:rowId xmlns:a16="http://schemas.microsoft.com/office/drawing/2014/main" val="10001"/>
                  </a:ext>
                </a:extLst>
              </a:tr>
              <a:tr h="130729">
                <a:tc>
                  <a:txBody>
                    <a:bodyPr/>
                    <a:lstStyle/>
                    <a:p>
                      <a:pPr marL="0" marR="0" lvl="0" indent="0" algn="ctr" rtl="0">
                        <a:spcBef>
                          <a:spcPts val="0"/>
                        </a:spcBef>
                        <a:spcAft>
                          <a:spcPts val="0"/>
                        </a:spcAft>
                        <a:buNone/>
                      </a:pPr>
                      <a:r>
                        <a:rPr lang="en-US" sz="900" dirty="0">
                          <a:solidFill>
                            <a:srgbClr val="00B050"/>
                          </a:solidFill>
                        </a:rPr>
                        <a:t>TAO</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칭다오</a:t>
                      </a:r>
                      <a:r>
                        <a:rPr lang="en-US" altLang="ko-KR" sz="900" b="0" dirty="0">
                          <a:solidFill>
                            <a:srgbClr val="00B050"/>
                          </a:solidFill>
                        </a:rPr>
                        <a:t>/</a:t>
                      </a:r>
                      <a:r>
                        <a:rPr lang="ko-KR" altLang="en-US" sz="900" b="0" dirty="0" err="1">
                          <a:solidFill>
                            <a:srgbClr val="00B050"/>
                          </a:solidFill>
                        </a:rPr>
                        <a:t>자오동</a:t>
                      </a:r>
                      <a:endParaRPr sz="900" b="0" dirty="0">
                        <a:solidFill>
                          <a:srgbClr val="00B050"/>
                        </a:solidFill>
                      </a:endParaRPr>
                    </a:p>
                  </a:txBody>
                  <a:tcPr marL="0" marR="0" marT="0" marB="0"/>
                </a:tc>
                <a:extLst>
                  <a:ext uri="{0D108BD9-81ED-4DB2-BD59-A6C34878D82A}">
                    <a16:rowId xmlns:a16="http://schemas.microsoft.com/office/drawing/2014/main" val="10002"/>
                  </a:ext>
                </a:extLst>
              </a:tr>
              <a:tr h="130729">
                <a:tc>
                  <a:txBody>
                    <a:bodyPr/>
                    <a:lstStyle/>
                    <a:p>
                      <a:pPr marL="0" marR="0" lvl="0" indent="0" algn="ctr" rtl="0">
                        <a:spcBef>
                          <a:spcPts val="0"/>
                        </a:spcBef>
                        <a:spcAft>
                          <a:spcPts val="0"/>
                        </a:spcAft>
                        <a:buNone/>
                      </a:pPr>
                      <a:r>
                        <a:rPr lang="en-US" sz="900" dirty="0">
                          <a:solidFill>
                            <a:srgbClr val="00B050"/>
                          </a:solidFill>
                        </a:rPr>
                        <a:t>PEK</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베이징</a:t>
                      </a:r>
                      <a:r>
                        <a:rPr lang="en-US" altLang="ko-KR" sz="900" b="0" dirty="0">
                          <a:solidFill>
                            <a:srgbClr val="00B050"/>
                          </a:solidFill>
                        </a:rPr>
                        <a:t>/</a:t>
                      </a:r>
                      <a:r>
                        <a:rPr lang="ko-KR" altLang="en-US" sz="900" b="0" dirty="0" err="1">
                          <a:solidFill>
                            <a:srgbClr val="00B050"/>
                          </a:solidFill>
                        </a:rPr>
                        <a:t>소우뚜</a:t>
                      </a:r>
                      <a:r>
                        <a:rPr lang="en-US" altLang="ko-KR" sz="900" b="0" dirty="0">
                          <a:solidFill>
                            <a:srgbClr val="00B050"/>
                          </a:solidFill>
                        </a:rPr>
                        <a:t>(Capital)</a:t>
                      </a:r>
                      <a:endParaRPr sz="900" b="0" dirty="0">
                        <a:solidFill>
                          <a:srgbClr val="00B050"/>
                        </a:solidFill>
                      </a:endParaRPr>
                    </a:p>
                  </a:txBody>
                  <a:tcPr marL="0" marR="0" marT="0" marB="0" anchor="ctr"/>
                </a:tc>
                <a:extLst>
                  <a:ext uri="{0D108BD9-81ED-4DB2-BD59-A6C34878D82A}">
                    <a16:rowId xmlns:a16="http://schemas.microsoft.com/office/drawing/2014/main" val="10003"/>
                  </a:ext>
                </a:extLst>
              </a:tr>
              <a:tr h="130729">
                <a:tc>
                  <a:txBody>
                    <a:bodyPr/>
                    <a:lstStyle/>
                    <a:p>
                      <a:pPr marL="0" marR="0" lvl="0" indent="0" algn="ctr" rtl="0">
                        <a:spcBef>
                          <a:spcPts val="0"/>
                        </a:spcBef>
                        <a:spcAft>
                          <a:spcPts val="0"/>
                        </a:spcAft>
                        <a:buNone/>
                      </a:pPr>
                      <a:r>
                        <a:rPr lang="en-US" sz="900" dirty="0">
                          <a:solidFill>
                            <a:srgbClr val="00B050"/>
                          </a:solidFill>
                        </a:rPr>
                        <a:t>SHE</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선양</a:t>
                      </a:r>
                      <a:r>
                        <a:rPr lang="en-US" altLang="ko-KR" sz="900" b="0" dirty="0">
                          <a:solidFill>
                            <a:srgbClr val="00B050"/>
                          </a:solidFill>
                        </a:rPr>
                        <a:t>/</a:t>
                      </a:r>
                      <a:r>
                        <a:rPr lang="ko-KR" altLang="en-US" sz="900" b="0" dirty="0" err="1">
                          <a:solidFill>
                            <a:srgbClr val="00B050"/>
                          </a:solidFill>
                        </a:rPr>
                        <a:t>탸오쎈</a:t>
                      </a:r>
                      <a:endParaRPr sz="900" b="0" dirty="0">
                        <a:solidFill>
                          <a:srgbClr val="00B050"/>
                        </a:solidFill>
                      </a:endParaRPr>
                    </a:p>
                  </a:txBody>
                  <a:tcPr marL="0" marR="0" marT="0" marB="0" anchor="ctr"/>
                </a:tc>
                <a:extLst>
                  <a:ext uri="{0D108BD9-81ED-4DB2-BD59-A6C34878D82A}">
                    <a16:rowId xmlns:a16="http://schemas.microsoft.com/office/drawing/2014/main" val="10004"/>
                  </a:ext>
                </a:extLst>
              </a:tr>
              <a:tr h="130729">
                <a:tc>
                  <a:txBody>
                    <a:bodyPr/>
                    <a:lstStyle/>
                    <a:p>
                      <a:pPr marL="0" marR="0" lvl="0" indent="0" algn="ctr" rtl="0">
                        <a:spcBef>
                          <a:spcPts val="0"/>
                        </a:spcBef>
                        <a:spcAft>
                          <a:spcPts val="0"/>
                        </a:spcAft>
                        <a:buNone/>
                      </a:pPr>
                      <a:r>
                        <a:rPr lang="en-US" sz="900" dirty="0">
                          <a:solidFill>
                            <a:srgbClr val="00B050"/>
                          </a:solidFill>
                        </a:rPr>
                        <a:t>PVG</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상하이</a:t>
                      </a:r>
                      <a:r>
                        <a:rPr lang="en-US" altLang="ko-KR" sz="900" b="0" dirty="0">
                          <a:solidFill>
                            <a:srgbClr val="00B050"/>
                          </a:solidFill>
                        </a:rPr>
                        <a:t>/</a:t>
                      </a:r>
                      <a:r>
                        <a:rPr lang="ko-KR" altLang="en-US" sz="900" b="0" dirty="0" err="1">
                          <a:solidFill>
                            <a:srgbClr val="00B050"/>
                          </a:solidFill>
                        </a:rPr>
                        <a:t>푸동</a:t>
                      </a:r>
                      <a:endParaRPr sz="900" b="0" dirty="0">
                        <a:solidFill>
                          <a:srgbClr val="00B050"/>
                        </a:solidFill>
                      </a:endParaRPr>
                    </a:p>
                  </a:txBody>
                  <a:tcPr marL="0" marR="0" marT="0" marB="0" anchor="ctr"/>
                </a:tc>
                <a:extLst>
                  <a:ext uri="{0D108BD9-81ED-4DB2-BD59-A6C34878D82A}">
                    <a16:rowId xmlns:a16="http://schemas.microsoft.com/office/drawing/2014/main" val="10005"/>
                  </a:ext>
                </a:extLst>
              </a:tr>
              <a:tr h="130729">
                <a:tc>
                  <a:txBody>
                    <a:bodyPr/>
                    <a:lstStyle/>
                    <a:p>
                      <a:pPr marL="0" marR="0" lvl="0" indent="0" algn="ctr" rtl="0">
                        <a:spcBef>
                          <a:spcPts val="0"/>
                        </a:spcBef>
                        <a:spcAft>
                          <a:spcPts val="0"/>
                        </a:spcAft>
                        <a:buNone/>
                      </a:pPr>
                      <a:r>
                        <a:rPr lang="en-US" sz="900" dirty="0">
                          <a:solidFill>
                            <a:srgbClr val="00B050"/>
                          </a:solidFill>
                        </a:rPr>
                        <a:t>YNJ</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a:solidFill>
                            <a:srgbClr val="00B050"/>
                          </a:solidFill>
                        </a:rPr>
                        <a:t>옌지</a:t>
                      </a:r>
                      <a:endParaRPr sz="900" b="0" dirty="0">
                        <a:solidFill>
                          <a:srgbClr val="00B050"/>
                        </a:solidFill>
                      </a:endParaRPr>
                    </a:p>
                  </a:txBody>
                  <a:tcPr marL="0" marR="0" marT="0" marB="0" anchor="ctr"/>
                </a:tc>
                <a:extLst>
                  <a:ext uri="{0D108BD9-81ED-4DB2-BD59-A6C34878D82A}">
                    <a16:rowId xmlns:a16="http://schemas.microsoft.com/office/drawing/2014/main" val="10006"/>
                  </a:ext>
                </a:extLst>
              </a:tr>
              <a:tr h="130729">
                <a:tc>
                  <a:txBody>
                    <a:bodyPr/>
                    <a:lstStyle/>
                    <a:p>
                      <a:pPr marL="0" marR="0" lvl="0" indent="0" algn="ctr" rtl="0">
                        <a:spcBef>
                          <a:spcPts val="0"/>
                        </a:spcBef>
                        <a:spcAft>
                          <a:spcPts val="0"/>
                        </a:spcAft>
                        <a:buNone/>
                      </a:pPr>
                      <a:r>
                        <a:rPr lang="en-US" sz="900" dirty="0">
                          <a:solidFill>
                            <a:srgbClr val="00B050"/>
                          </a:solidFill>
                        </a:rPr>
                        <a:t>HGH</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err="1">
                          <a:solidFill>
                            <a:srgbClr val="00B050"/>
                          </a:solidFill>
                        </a:rPr>
                        <a:t>황저우</a:t>
                      </a:r>
                      <a:r>
                        <a:rPr lang="en-US" altLang="ko-KR" sz="900" b="0" dirty="0">
                          <a:solidFill>
                            <a:srgbClr val="00B050"/>
                          </a:solidFill>
                        </a:rPr>
                        <a:t>/</a:t>
                      </a:r>
                      <a:r>
                        <a:rPr lang="ko-KR" altLang="en-US" sz="900" b="0" dirty="0">
                          <a:solidFill>
                            <a:srgbClr val="00B050"/>
                          </a:solidFill>
                        </a:rPr>
                        <a:t>샤오산</a:t>
                      </a:r>
                      <a:endParaRPr sz="900" b="0" dirty="0">
                        <a:solidFill>
                          <a:srgbClr val="00B050"/>
                        </a:solidFill>
                      </a:endParaRPr>
                    </a:p>
                  </a:txBody>
                  <a:tcPr marL="0" marR="0" marT="0" marB="0" anchor="ctr"/>
                </a:tc>
                <a:extLst>
                  <a:ext uri="{0D108BD9-81ED-4DB2-BD59-A6C34878D82A}">
                    <a16:rowId xmlns:a16="http://schemas.microsoft.com/office/drawing/2014/main" val="10007"/>
                  </a:ext>
                </a:extLst>
              </a:tr>
              <a:tr h="130729">
                <a:tc>
                  <a:txBody>
                    <a:bodyPr/>
                    <a:lstStyle/>
                    <a:p>
                      <a:pPr marL="0" marR="0" lvl="0" indent="0" algn="ctr" rtl="0">
                        <a:spcBef>
                          <a:spcPts val="0"/>
                        </a:spcBef>
                        <a:spcAft>
                          <a:spcPts val="0"/>
                        </a:spcAft>
                        <a:buNone/>
                      </a:pPr>
                      <a:r>
                        <a:rPr lang="en-US" sz="900" dirty="0">
                          <a:solidFill>
                            <a:srgbClr val="00B050"/>
                          </a:solidFill>
                        </a:rPr>
                        <a:t>WHE</a:t>
                      </a:r>
                      <a:endParaRPr sz="900" dirty="0">
                        <a:solidFill>
                          <a:srgbClr val="00B050"/>
                        </a:solidFill>
                      </a:endParaRPr>
                    </a:p>
                  </a:txBody>
                  <a:tcPr marL="0" marR="0" marT="0" marB="0"/>
                </a:tc>
                <a:tc>
                  <a:txBody>
                    <a:bodyPr/>
                    <a:lstStyle/>
                    <a:p>
                      <a:pPr marL="0" marR="0" lvl="0" indent="0" algn="ctr" rtl="0">
                        <a:spcBef>
                          <a:spcPts val="0"/>
                        </a:spcBef>
                        <a:spcAft>
                          <a:spcPts val="0"/>
                        </a:spcAft>
                        <a:buNone/>
                      </a:pPr>
                      <a:r>
                        <a:rPr lang="ko-KR" altLang="en-US" sz="900" b="0" dirty="0" err="1">
                          <a:solidFill>
                            <a:srgbClr val="00B050"/>
                          </a:solidFill>
                        </a:rPr>
                        <a:t>웨이하이</a:t>
                      </a:r>
                      <a:r>
                        <a:rPr lang="en-US" altLang="ko-KR" sz="900" b="0" dirty="0">
                          <a:solidFill>
                            <a:srgbClr val="00B050"/>
                          </a:solidFill>
                        </a:rPr>
                        <a:t>/</a:t>
                      </a:r>
                      <a:r>
                        <a:rPr lang="ko-KR" altLang="en-US" sz="900" b="0" dirty="0" err="1">
                          <a:solidFill>
                            <a:srgbClr val="00B050"/>
                          </a:solidFill>
                        </a:rPr>
                        <a:t>따쉐이푸오</a:t>
                      </a:r>
                      <a:endParaRPr sz="900" b="0" dirty="0">
                        <a:solidFill>
                          <a:srgbClr val="00B050"/>
                        </a:solidFill>
                      </a:endParaRPr>
                    </a:p>
                  </a:txBody>
                  <a:tcPr marL="0" marR="0" marT="0" marB="0" anchor="ctr"/>
                </a:tc>
                <a:extLst>
                  <a:ext uri="{0D108BD9-81ED-4DB2-BD59-A6C34878D82A}">
                    <a16:rowId xmlns:a16="http://schemas.microsoft.com/office/drawing/2014/main" val="1188143320"/>
                  </a:ext>
                </a:extLst>
              </a:tr>
              <a:tr h="130729">
                <a:tc>
                  <a:txBody>
                    <a:bodyPr/>
                    <a:lstStyle/>
                    <a:p>
                      <a:pPr marL="0" marR="0" lvl="0" indent="0" algn="ctr" rtl="0">
                        <a:spcBef>
                          <a:spcPts val="0"/>
                        </a:spcBef>
                        <a:spcAft>
                          <a:spcPts val="0"/>
                        </a:spcAft>
                        <a:buNone/>
                      </a:pPr>
                      <a:r>
                        <a:rPr lang="en-US" sz="900" dirty="0">
                          <a:solidFill>
                            <a:srgbClr val="00B050"/>
                          </a:solidFill>
                        </a:rPr>
                        <a:t>XIY</a:t>
                      </a:r>
                      <a:endParaRPr sz="900" dirty="0">
                        <a:solidFill>
                          <a:srgbClr val="AA47F5"/>
                        </a:solidFill>
                      </a:endParaRPr>
                    </a:p>
                  </a:txBody>
                  <a:tcPr marL="0" marR="0" marT="0" marB="0"/>
                </a:tc>
                <a:tc>
                  <a:txBody>
                    <a:bodyPr/>
                    <a:lstStyle/>
                    <a:p>
                      <a:pPr marL="0" marR="0" lvl="0" indent="0" algn="ctr" rtl="0">
                        <a:spcBef>
                          <a:spcPts val="0"/>
                        </a:spcBef>
                        <a:spcAft>
                          <a:spcPts val="0"/>
                        </a:spcAft>
                        <a:buNone/>
                      </a:pPr>
                      <a:r>
                        <a:rPr lang="ko-Kore-KR" altLang="en-US" sz="900" dirty="0">
                          <a:solidFill>
                            <a:srgbClr val="00B050"/>
                          </a:solidFill>
                        </a:rPr>
                        <a:t>시안</a:t>
                      </a:r>
                      <a:r>
                        <a:rPr lang="en-US" altLang="ko-Kore-KR" sz="900" dirty="0">
                          <a:solidFill>
                            <a:srgbClr val="00B050"/>
                          </a:solidFill>
                        </a:rPr>
                        <a:t>/</a:t>
                      </a:r>
                      <a:r>
                        <a:rPr lang="ko-KR" altLang="en-US" sz="900" dirty="0" err="1">
                          <a:solidFill>
                            <a:srgbClr val="00B050"/>
                          </a:solidFill>
                        </a:rPr>
                        <a:t>시엔양</a:t>
                      </a:r>
                      <a:endParaRPr sz="900" b="0" dirty="0">
                        <a:solidFill>
                          <a:srgbClr val="AA47F5"/>
                        </a:solidFill>
                      </a:endParaRPr>
                    </a:p>
                  </a:txBody>
                  <a:tcPr marL="0" marR="0" marT="0" marB="0" anchor="ctr"/>
                </a:tc>
                <a:extLst>
                  <a:ext uri="{0D108BD9-81ED-4DB2-BD59-A6C34878D82A}">
                    <a16:rowId xmlns:a16="http://schemas.microsoft.com/office/drawing/2014/main" val="3275921985"/>
                  </a:ext>
                </a:extLst>
              </a:tr>
              <a:tr h="130729">
                <a:tc>
                  <a:txBody>
                    <a:bodyPr/>
                    <a:lstStyle/>
                    <a:p>
                      <a:pPr marL="0" marR="0" lvl="0" indent="0" algn="ctr" rtl="0">
                        <a:spcBef>
                          <a:spcPts val="0"/>
                        </a:spcBef>
                        <a:spcAft>
                          <a:spcPts val="0"/>
                        </a:spcAft>
                        <a:buNone/>
                      </a:pPr>
                      <a:r>
                        <a:rPr lang="en-US" sz="900" dirty="0">
                          <a:solidFill>
                            <a:srgbClr val="00B050"/>
                          </a:solidFill>
                        </a:rPr>
                        <a:t>CSX</a:t>
                      </a:r>
                      <a:endParaRPr sz="900" dirty="0">
                        <a:solidFill>
                          <a:srgbClr val="AA47F5"/>
                        </a:solidFill>
                      </a:endParaRPr>
                    </a:p>
                  </a:txBody>
                  <a:tcPr marL="0" marR="0" marT="0" marB="0"/>
                </a:tc>
                <a:tc>
                  <a:txBody>
                    <a:bodyPr/>
                    <a:lstStyle/>
                    <a:p>
                      <a:pPr marL="0" marR="0" lvl="0" indent="0" algn="ctr" rtl="0">
                        <a:spcBef>
                          <a:spcPts val="0"/>
                        </a:spcBef>
                        <a:spcAft>
                          <a:spcPts val="0"/>
                        </a:spcAft>
                        <a:buNone/>
                      </a:pPr>
                      <a:r>
                        <a:rPr lang="ko-KR" altLang="en-US" sz="900" dirty="0">
                          <a:solidFill>
                            <a:srgbClr val="00B050"/>
                          </a:solidFill>
                        </a:rPr>
                        <a:t>창사</a:t>
                      </a:r>
                      <a:r>
                        <a:rPr lang="en-US" altLang="ko-Kore-KR" sz="900" dirty="0">
                          <a:solidFill>
                            <a:srgbClr val="00B050"/>
                          </a:solidFill>
                        </a:rPr>
                        <a:t>/</a:t>
                      </a:r>
                      <a:r>
                        <a:rPr lang="ko-KR" altLang="en-US" sz="900" dirty="0" err="1">
                          <a:solidFill>
                            <a:srgbClr val="00B050"/>
                          </a:solidFill>
                        </a:rPr>
                        <a:t>후앙후아</a:t>
                      </a:r>
                      <a:endParaRPr sz="900" b="0" dirty="0">
                        <a:solidFill>
                          <a:srgbClr val="AA47F5"/>
                        </a:solidFill>
                      </a:endParaRPr>
                    </a:p>
                  </a:txBody>
                  <a:tcPr marL="0" marR="0" marT="0" marB="0" anchor="ctr"/>
                </a:tc>
                <a:extLst>
                  <a:ext uri="{0D108BD9-81ED-4DB2-BD59-A6C34878D82A}">
                    <a16:rowId xmlns:a16="http://schemas.microsoft.com/office/drawing/2014/main" val="491409112"/>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HKG</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홍콩</a:t>
                      </a:r>
                      <a:endParaRPr lang="en-US" altLang="ko-Kore-KR" sz="900" dirty="0">
                        <a:solidFill>
                          <a:srgbClr val="AA47F5"/>
                        </a:solidFill>
                      </a:endParaRPr>
                    </a:p>
                  </a:txBody>
                  <a:tcPr marL="0" marR="0" marT="0" marB="0" anchor="ctr"/>
                </a:tc>
                <a:extLst>
                  <a:ext uri="{0D108BD9-81ED-4DB2-BD59-A6C34878D82A}">
                    <a16:rowId xmlns:a16="http://schemas.microsoft.com/office/drawing/2014/main" val="3246085828"/>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TSN</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톈진</a:t>
                      </a:r>
                      <a:r>
                        <a:rPr lang="en-US" altLang="ko-KR" sz="900" dirty="0">
                          <a:solidFill>
                            <a:srgbClr val="00B050"/>
                          </a:solidFill>
                        </a:rPr>
                        <a:t>/</a:t>
                      </a:r>
                      <a:r>
                        <a:rPr lang="ko-KR" altLang="en-US" sz="900" dirty="0" err="1">
                          <a:solidFill>
                            <a:srgbClr val="00B050"/>
                          </a:solidFill>
                        </a:rPr>
                        <a:t>빈하이</a:t>
                      </a:r>
                      <a:endParaRPr lang="en-US" altLang="ko-Kore-KR" sz="900" dirty="0">
                        <a:solidFill>
                          <a:srgbClr val="AA47F5"/>
                        </a:solidFill>
                      </a:endParaRPr>
                    </a:p>
                  </a:txBody>
                  <a:tcPr marL="0" marR="0" marT="0" marB="0" anchor="ctr"/>
                </a:tc>
                <a:extLst>
                  <a:ext uri="{0D108BD9-81ED-4DB2-BD59-A6C34878D82A}">
                    <a16:rowId xmlns:a16="http://schemas.microsoft.com/office/drawing/2014/main" val="2322049173"/>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CGO</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err="1">
                          <a:solidFill>
                            <a:srgbClr val="00B050"/>
                          </a:solidFill>
                        </a:rPr>
                        <a:t>정저우</a:t>
                      </a:r>
                      <a:endParaRPr lang="en-US" altLang="ko-Kore-KR" sz="900" dirty="0">
                        <a:solidFill>
                          <a:srgbClr val="AA47F5"/>
                        </a:solidFill>
                      </a:endParaRPr>
                    </a:p>
                  </a:txBody>
                  <a:tcPr marL="0" marR="0" marT="0" marB="0" anchor="ctr"/>
                </a:tc>
                <a:extLst>
                  <a:ext uri="{0D108BD9-81ED-4DB2-BD59-A6C34878D82A}">
                    <a16:rowId xmlns:a16="http://schemas.microsoft.com/office/drawing/2014/main" val="2459961862"/>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DYG</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err="1">
                          <a:solidFill>
                            <a:srgbClr val="00B050"/>
                          </a:solidFill>
                        </a:rPr>
                        <a:t>장자제</a:t>
                      </a:r>
                      <a:r>
                        <a:rPr lang="en-US" altLang="ko-KR" sz="900" dirty="0">
                          <a:solidFill>
                            <a:srgbClr val="00B050"/>
                          </a:solidFill>
                        </a:rPr>
                        <a:t>/</a:t>
                      </a:r>
                      <a:r>
                        <a:rPr lang="ko-KR" altLang="en-US" sz="900" dirty="0">
                          <a:solidFill>
                            <a:srgbClr val="00B050"/>
                          </a:solidFill>
                        </a:rPr>
                        <a:t>허화</a:t>
                      </a:r>
                      <a:endParaRPr lang="en-US" altLang="ko-Kore-KR" sz="900" dirty="0">
                        <a:solidFill>
                          <a:srgbClr val="AA47F5"/>
                        </a:solidFill>
                      </a:endParaRPr>
                    </a:p>
                  </a:txBody>
                  <a:tcPr marL="0" marR="0" marT="0" marB="0" anchor="ctr"/>
                </a:tc>
                <a:extLst>
                  <a:ext uri="{0D108BD9-81ED-4DB2-BD59-A6C34878D82A}">
                    <a16:rowId xmlns:a16="http://schemas.microsoft.com/office/drawing/2014/main" val="46132794"/>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DLC</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다롄</a:t>
                      </a:r>
                      <a:r>
                        <a:rPr lang="en-US" altLang="ko-KR" sz="900" dirty="0">
                          <a:solidFill>
                            <a:srgbClr val="00B050"/>
                          </a:solidFill>
                        </a:rPr>
                        <a:t>/</a:t>
                      </a:r>
                      <a:r>
                        <a:rPr lang="ko-KR" altLang="en-US" sz="900" dirty="0" err="1">
                          <a:solidFill>
                            <a:srgbClr val="00B050"/>
                          </a:solidFill>
                        </a:rPr>
                        <a:t>쪼우쑤이쯔</a:t>
                      </a:r>
                      <a:endParaRPr lang="en-US" altLang="ko-Kore-KR" sz="900" dirty="0">
                        <a:solidFill>
                          <a:srgbClr val="AA47F5"/>
                        </a:solidFill>
                      </a:endParaRPr>
                    </a:p>
                  </a:txBody>
                  <a:tcPr marL="0" marR="0" marT="0" marB="0" anchor="ctr"/>
                </a:tc>
                <a:extLst>
                  <a:ext uri="{0D108BD9-81ED-4DB2-BD59-A6C34878D82A}">
                    <a16:rowId xmlns:a16="http://schemas.microsoft.com/office/drawing/2014/main" val="1944538903"/>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HFE</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허페이</a:t>
                      </a:r>
                      <a:r>
                        <a:rPr lang="en-US" altLang="ko-KR" sz="900" dirty="0">
                          <a:solidFill>
                            <a:srgbClr val="00B050"/>
                          </a:solidFill>
                        </a:rPr>
                        <a:t>/</a:t>
                      </a:r>
                      <a:r>
                        <a:rPr lang="ko-KR" altLang="en-US" sz="900" dirty="0" err="1">
                          <a:solidFill>
                            <a:srgbClr val="00B050"/>
                          </a:solidFill>
                        </a:rPr>
                        <a:t>신치아오</a:t>
                      </a:r>
                      <a:endParaRPr lang="en-US" altLang="ko-Kore-KR" sz="900" dirty="0">
                        <a:solidFill>
                          <a:srgbClr val="AA47F5"/>
                        </a:solidFill>
                      </a:endParaRPr>
                    </a:p>
                  </a:txBody>
                  <a:tcPr marL="0" marR="0" marT="0" marB="0" anchor="ctr"/>
                </a:tc>
                <a:extLst>
                  <a:ext uri="{0D108BD9-81ED-4DB2-BD59-A6C34878D82A}">
                    <a16:rowId xmlns:a16="http://schemas.microsoft.com/office/drawing/2014/main" val="1128517652"/>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KMG</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쿤밍</a:t>
                      </a:r>
                      <a:r>
                        <a:rPr lang="en-US" altLang="ko-KR" sz="900" dirty="0">
                          <a:solidFill>
                            <a:srgbClr val="00B050"/>
                          </a:solidFill>
                        </a:rPr>
                        <a:t>/</a:t>
                      </a:r>
                      <a:r>
                        <a:rPr lang="ko-KR" altLang="en-US" sz="900" dirty="0" err="1">
                          <a:solidFill>
                            <a:srgbClr val="00B050"/>
                          </a:solidFill>
                        </a:rPr>
                        <a:t>창쉐이</a:t>
                      </a:r>
                      <a:endParaRPr lang="en-US" altLang="ko-Kore-KR" sz="900" dirty="0">
                        <a:solidFill>
                          <a:srgbClr val="AA47F5"/>
                        </a:solidFill>
                      </a:endParaRPr>
                    </a:p>
                  </a:txBody>
                  <a:tcPr marL="0" marR="0" marT="0" marB="0" anchor="ctr"/>
                </a:tc>
                <a:extLst>
                  <a:ext uri="{0D108BD9-81ED-4DB2-BD59-A6C34878D82A}">
                    <a16:rowId xmlns:a16="http://schemas.microsoft.com/office/drawing/2014/main" val="1191254911"/>
                  </a:ext>
                </a:extLst>
              </a:tr>
              <a:tr h="130729">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solidFill>
                            <a:srgbClr val="00B050"/>
                          </a:solidFill>
                        </a:rPr>
                        <a:t>MFM</a:t>
                      </a:r>
                      <a:endParaRPr lang="en-US" altLang="ko-Kore-KR" sz="900" dirty="0">
                        <a:solidFill>
                          <a:srgbClr val="AA47F5"/>
                        </a:solidFill>
                      </a:endParaRPr>
                    </a:p>
                  </a:txBody>
                  <a:tcPr marL="0" marR="0" marT="0" marB="0"/>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dirty="0">
                          <a:solidFill>
                            <a:srgbClr val="00B050"/>
                          </a:solidFill>
                        </a:rPr>
                        <a:t>마카오</a:t>
                      </a:r>
                      <a:endParaRPr lang="en-US" altLang="ko-Kore-KR" sz="900" dirty="0">
                        <a:solidFill>
                          <a:srgbClr val="AA47F5"/>
                        </a:solidFill>
                      </a:endParaRPr>
                    </a:p>
                  </a:txBody>
                  <a:tcPr marL="0" marR="0" marT="0" marB="0" anchor="ctr"/>
                </a:tc>
                <a:extLst>
                  <a:ext uri="{0D108BD9-81ED-4DB2-BD59-A6C34878D82A}">
                    <a16:rowId xmlns:a16="http://schemas.microsoft.com/office/drawing/2014/main" val="3358851044"/>
                  </a:ext>
                </a:extLst>
              </a:tr>
            </a:tbl>
          </a:graphicData>
        </a:graphic>
      </p:graphicFrame>
      <p:graphicFrame>
        <p:nvGraphicFramePr>
          <p:cNvPr id="370" name="Google Shape;370;p27"/>
          <p:cNvGraphicFramePr/>
          <p:nvPr>
            <p:extLst>
              <p:ext uri="{D42A27DB-BD31-4B8C-83A1-F6EECF244321}">
                <p14:modId xmlns:p14="http://schemas.microsoft.com/office/powerpoint/2010/main" val="3485572267"/>
              </p:ext>
            </p:extLst>
          </p:nvPr>
        </p:nvGraphicFramePr>
        <p:xfrm>
          <a:off x="0" y="0"/>
          <a:ext cx="2328875" cy="284989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100" b="1" dirty="0">
                          <a:latin typeface="Calibri"/>
                          <a:ea typeface="Calibri"/>
                          <a:cs typeface="Calibri"/>
                          <a:sym typeface="Calibri"/>
                        </a:rPr>
                        <a:t>WELCOME PA </a:t>
                      </a:r>
                      <a:endParaRPr sz="1100" b="1" dirty="0">
                        <a:solidFill>
                          <a:srgbClr val="FFC000"/>
                        </a:solidFill>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202038">
                <a:tc>
                  <a:txBody>
                    <a:bodyPr/>
                    <a:lstStyle/>
                    <a:p>
                      <a:pPr marL="0" marR="0" lvl="0" indent="0" algn="l" rtl="0">
                        <a:lnSpc>
                          <a:spcPct val="10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a:t>
                      </a:r>
                      <a:endParaRPr lang="ko-Kore-KR" altLang="en-US" sz="800" dirty="0"/>
                    </a:p>
                    <a:p>
                      <a:pPr marL="0" marR="0" lvl="0" indent="0" algn="l" rtl="0">
                        <a:lnSpc>
                          <a:spcPct val="10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0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0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0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sz="800" b="1" dirty="0">
                          <a:latin typeface="Calibri"/>
                          <a:ea typeface="Calibri"/>
                          <a:cs typeface="Calibri"/>
                          <a:sym typeface="Calibri"/>
                        </a:rPr>
                        <a:t> (</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0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sz="800" b="1" dirty="0">
                        <a:latin typeface="Calibri"/>
                        <a:ea typeface="Calibri"/>
                        <a:cs typeface="Calibri"/>
                        <a:sym typeface="Calibri"/>
                      </a:endParaRPr>
                    </a:p>
                  </a:txBody>
                  <a:tcPr marL="0" marR="0" marT="0" marB="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0" marR="0" marT="0" marB="0"/>
                </a:tc>
                <a:extLst>
                  <a:ext uri="{0D108BD9-81ED-4DB2-BD59-A6C34878D82A}">
                    <a16:rowId xmlns:a16="http://schemas.microsoft.com/office/drawing/2014/main" val="10002"/>
                  </a:ext>
                </a:extLst>
              </a:tr>
            </a:tbl>
          </a:graphicData>
        </a:graphic>
      </p:graphicFrame>
      <p:sp>
        <p:nvSpPr>
          <p:cNvPr id="3" name="직사각형 2">
            <a:hlinkClick r:id="" action="ppaction://hlinkshowjump?jump=firstslide"/>
            <a:extLst>
              <a:ext uri="{FF2B5EF4-FFF2-40B4-BE49-F238E27FC236}">
                <a16:creationId xmlns:a16="http://schemas.microsoft.com/office/drawing/2014/main" id="{F54BE12C-20D3-D21D-7388-B79C76711DD9}"/>
              </a:ext>
            </a:extLst>
          </p:cNvPr>
          <p:cNvSpPr/>
          <p:nvPr/>
        </p:nvSpPr>
        <p:spPr>
          <a:xfrm>
            <a:off x="1829993" y="3464323"/>
            <a:ext cx="644531" cy="1384995"/>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C</a:t>
            </a:r>
          </a:p>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H</a:t>
            </a:r>
          </a:p>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I</a:t>
            </a:r>
          </a:p>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N</a:t>
            </a:r>
          </a:p>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A</a:t>
            </a:r>
          </a:p>
        </p:txBody>
      </p:sp>
    </p:spTree>
    <p:extLst>
      <p:ext uri="{BB962C8B-B14F-4D97-AF65-F5344CB8AC3E}">
        <p14:creationId xmlns:p14="http://schemas.microsoft.com/office/powerpoint/2010/main" val="26405856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graphicFrame>
        <p:nvGraphicFramePr>
          <p:cNvPr id="88" name="Google Shape;88;p1"/>
          <p:cNvGraphicFramePr/>
          <p:nvPr>
            <p:extLst>
              <p:ext uri="{D42A27DB-BD31-4B8C-83A1-F6EECF244321}">
                <p14:modId xmlns:p14="http://schemas.microsoft.com/office/powerpoint/2010/main" val="4119683204"/>
              </p:ext>
            </p:extLst>
          </p:nvPr>
        </p:nvGraphicFramePr>
        <p:xfrm>
          <a:off x="98101" y="184953"/>
          <a:ext cx="2132650" cy="3851663"/>
        </p:xfrm>
        <a:graphic>
          <a:graphicData uri="http://schemas.openxmlformats.org/drawingml/2006/table">
            <a:tbl>
              <a:tblPr firstRow="1" bandRow="1">
                <a:noFill/>
                <a:tableStyleId>{A521BE36-7E6F-4EC9-8D66-1CF97A6895EC}</a:tableStyleId>
              </a:tblPr>
              <a:tblGrid>
                <a:gridCol w="1066325">
                  <a:extLst>
                    <a:ext uri="{9D8B030D-6E8A-4147-A177-3AD203B41FA5}">
                      <a16:colId xmlns:a16="http://schemas.microsoft.com/office/drawing/2014/main" val="20000"/>
                    </a:ext>
                  </a:extLst>
                </a:gridCol>
                <a:gridCol w="1066325">
                  <a:extLst>
                    <a:ext uri="{9D8B030D-6E8A-4147-A177-3AD203B41FA5}">
                      <a16:colId xmlns:a16="http://schemas.microsoft.com/office/drawing/2014/main" val="2055015791"/>
                    </a:ext>
                  </a:extLst>
                </a:gridCol>
              </a:tblGrid>
              <a:tr h="453137">
                <a:tc gridSpan="2">
                  <a:txBody>
                    <a:bodyPr/>
                    <a:lstStyle/>
                    <a:p>
                      <a:pPr marL="0" marR="0" lvl="0" indent="0" algn="ctr" rtl="0">
                        <a:spcBef>
                          <a:spcPts val="0"/>
                        </a:spcBef>
                        <a:spcAft>
                          <a:spcPts val="0"/>
                        </a:spcAft>
                        <a:buNone/>
                      </a:pPr>
                      <a:r>
                        <a:rPr lang="en-US" sz="2400" b="1" u="none" strike="noStrike" cap="none" dirty="0">
                          <a:solidFill>
                            <a:schemeClr val="bg1"/>
                          </a:solidFill>
                          <a:latin typeface="Calibri"/>
                          <a:ea typeface="Calibri"/>
                          <a:cs typeface="Calibri"/>
                          <a:sym typeface="Calibri"/>
                        </a:rPr>
                        <a:t>S.E Asia</a:t>
                      </a:r>
                      <a:endParaRPr sz="2400" b="1" u="none" strike="noStrike" cap="none" dirty="0">
                        <a:solidFill>
                          <a:schemeClr val="bg1"/>
                        </a:solidFill>
                        <a:latin typeface="Calibri"/>
                        <a:ea typeface="Calibri"/>
                        <a:cs typeface="Calibri"/>
                        <a:sym typeface="Calibri"/>
                      </a:endParaRPr>
                    </a:p>
                  </a:txBody>
                  <a:tcPr marL="0" marR="0" marT="0" marB="0" anchor="ctr"/>
                </a:tc>
                <a:tc hMerge="1">
                  <a:txBody>
                    <a:bodyPr/>
                    <a:lstStyle/>
                    <a:p>
                      <a:endParaRPr lang="ko-Kore-KR" altLang="en-US"/>
                    </a:p>
                  </a:txBody>
                  <a:tcPr/>
                </a:tc>
                <a:extLst>
                  <a:ext uri="{0D108BD9-81ED-4DB2-BD59-A6C34878D82A}">
                    <a16:rowId xmlns:a16="http://schemas.microsoft.com/office/drawing/2014/main" val="1473297171"/>
                  </a:ext>
                </a:extLst>
              </a:tr>
              <a:tr h="377614">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3"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4" action="ppaction://hlinksldjump">
                            <a:extLst>
                              <a:ext uri="{A12FA001-AC4F-418D-AE19-62706E023703}">
                                <ahyp:hlinkClr xmlns:ahyp="http://schemas.microsoft.com/office/drawing/2018/hyperlinkcolor" val="tx"/>
                              </a:ext>
                            </a:extLst>
                          </a:hlinkClick>
                        </a:rPr>
                        <a:t>CXR</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10011"/>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5"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6" action="ppaction://hlinksldjump">
                            <a:extLst>
                              <a:ext uri="{A12FA001-AC4F-418D-AE19-62706E023703}">
                                <ahyp:hlinkClr xmlns:ahyp="http://schemas.microsoft.com/office/drawing/2018/hyperlinkcolor" val="tx"/>
                              </a:ext>
                            </a:extLst>
                          </a:hlinkClick>
                        </a:rPr>
                        <a:t>SGN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823778637"/>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8" action="ppaction://hlinksldjump">
                            <a:extLst>
                              <a:ext uri="{A12FA001-AC4F-418D-AE19-62706E023703}">
                                <ahyp:hlinkClr xmlns:ahyp="http://schemas.microsoft.com/office/drawing/2018/hyperlinkcolor" val="tx"/>
                              </a:ext>
                            </a:extLst>
                          </a:hlinkClick>
                        </a:rPr>
                        <a:t>PNH</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0645477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9"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0" action="ppaction://hlinksldjump">
                            <a:extLst>
                              <a:ext uri="{A12FA001-AC4F-418D-AE19-62706E023703}">
                                <ahyp:hlinkClr xmlns:ahyp="http://schemas.microsoft.com/office/drawing/2018/hyperlinkcolor" val="tx"/>
                              </a:ext>
                            </a:extLst>
                          </a:hlinkClick>
                        </a:rPr>
                        <a:t>MNL</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931868389"/>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1" action="ppaction://hlinksldjump">
                            <a:extLst>
                              <a:ext uri="{A12FA001-AC4F-418D-AE19-62706E023703}">
                                <ahyp:hlinkClr xmlns:ahyp="http://schemas.microsoft.com/office/drawing/2018/hyperlinkcolor" val="tx"/>
                              </a:ext>
                            </a:extLst>
                          </a:hlinkClick>
                        </a:rPr>
                        <a:t>ICN</a:t>
                      </a:r>
                      <a:r>
                        <a:rPr lang="en-US" altLang="ko-Kore-KR" sz="2000" b="0" u="none" strike="noStrike" cap="none" dirty="0">
                          <a:solidFill>
                            <a:srgbClr val="7030A0"/>
                          </a:solidFill>
                          <a:latin typeface="Calibri"/>
                          <a:cs typeface="Calibri"/>
                          <a:sym typeface="Calibri"/>
                          <a:hlinkClick r:id="rId11" action="ppaction://hlinksldjump">
                            <a:extLst>
                              <a:ext uri="{A12FA001-AC4F-418D-AE19-62706E023703}">
                                <ahyp:hlinkClr xmlns:ahyp="http://schemas.microsoft.com/office/drawing/2018/hyperlinkcolor" val="tx"/>
                              </a:ext>
                            </a:extLst>
                          </a:hlinkClick>
                        </a:rPr>
                        <a:t> </a:t>
                      </a: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2" action="ppaction://hlinksldjump">
                            <a:extLst>
                              <a:ext uri="{A12FA001-AC4F-418D-AE19-62706E023703}">
                                <ahyp:hlinkClr xmlns:ahyp="http://schemas.microsoft.com/office/drawing/2018/hyperlinkcolor" val="tx"/>
                              </a:ext>
                            </a:extLst>
                          </a:hlinkClick>
                        </a:rPr>
                        <a:t>RMQ</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209742540"/>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3" action="ppaction://hlinksldjump">
                            <a:extLst>
                              <a:ext uri="{A12FA001-AC4F-418D-AE19-62706E023703}">
                                <ahyp:hlinkClr xmlns:ahyp="http://schemas.microsoft.com/office/drawing/2018/hyperlinkcolor" val="tx"/>
                              </a:ext>
                            </a:extLst>
                          </a:hlinkClick>
                        </a:rPr>
                        <a:t>ICN</a:t>
                      </a:r>
                      <a:r>
                        <a:rPr lang="en-US" altLang="ko-Kore-KR" sz="2000" b="0" u="none" strike="noStrike" cap="none" dirty="0">
                          <a:solidFill>
                            <a:srgbClr val="7030A0"/>
                          </a:solidFill>
                          <a:latin typeface="Calibri"/>
                          <a:cs typeface="Calibri"/>
                          <a:sym typeface="Calibri"/>
                          <a:hlinkClick r:id="rId13" action="ppaction://hlinksldjump">
                            <a:extLst>
                              <a:ext uri="{A12FA001-AC4F-418D-AE19-62706E023703}">
                                <ahyp:hlinkClr xmlns:ahyp="http://schemas.microsoft.com/office/drawing/2018/hyperlinkcolor" val="tx"/>
                              </a:ext>
                            </a:extLst>
                          </a:hlinkClick>
                        </a:rPr>
                        <a:t> </a:t>
                      </a:r>
                      <a:endParaRPr lang="en-US" altLang="ko-Kore-KR" sz="2000" b="0" u="none" strike="noStrike" cap="none" dirty="0">
                        <a:solidFill>
                          <a:srgbClr val="7030A0"/>
                        </a:solidFill>
                        <a:latin typeface="Calibri"/>
                        <a:cs typeface="Calibri"/>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4" action="ppaction://hlinksldjump">
                            <a:extLst>
                              <a:ext uri="{A12FA001-AC4F-418D-AE19-62706E023703}">
                                <ahyp:hlinkClr xmlns:ahyp="http://schemas.microsoft.com/office/drawing/2018/hyperlinkcolor" val="tx"/>
                              </a:ext>
                            </a:extLst>
                          </a:hlinkClick>
                        </a:rPr>
                        <a:t>TPE</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4171315063"/>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5"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16" action="ppaction://hlinksldjump">
                            <a:extLst>
                              <a:ext uri="{A12FA001-AC4F-418D-AE19-62706E023703}">
                                <ahyp:hlinkClr xmlns:ahyp="http://schemas.microsoft.com/office/drawing/2018/hyperlinkcolor" val="tx"/>
                              </a:ext>
                            </a:extLst>
                          </a:hlinkClick>
                        </a:rPr>
                        <a:t>TPE</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211506459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hlinkClick r:id="rId17" action="ppaction://hlinksldjump">
                            <a:extLst>
                              <a:ext uri="{A12FA001-AC4F-418D-AE19-62706E023703}">
                                <ahyp:hlinkClr xmlns:ahyp="http://schemas.microsoft.com/office/drawing/2018/hyperlinkcolor" val="tx"/>
                              </a:ext>
                            </a:extLst>
                          </a:hlinkClick>
                        </a:rPr>
                        <a:t>ICN</a:t>
                      </a: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hlinkClick r:id="rId18" action="ppaction://hlinksldjump">
                            <a:extLst>
                              <a:ext uri="{A12FA001-AC4F-418D-AE19-62706E023703}">
                                <ahyp:hlinkClr xmlns:ahyp="http://schemas.microsoft.com/office/drawing/2018/hyperlinkcolor" val="tx"/>
                              </a:ext>
                            </a:extLst>
                          </a:hlinkClick>
                        </a:rPr>
                        <a:t>GUM</a:t>
                      </a:r>
                      <a:endParaRPr lang="en-US" altLang="ko-Kore-KR" sz="2000" b="1" i="0" u="none" strike="noStrike" cap="none" dirty="0">
                        <a:solidFill>
                          <a:srgbClr val="FFFF0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061931844"/>
                  </a:ext>
                </a:extLst>
              </a:tr>
              <a:tr h="377614">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hlinkClick r:id="rId19" action="ppaction://hlinksldjump">
                            <a:extLst>
                              <a:ext uri="{A12FA001-AC4F-418D-AE19-62706E023703}">
                                <ahyp:hlinkClr xmlns:ahyp="http://schemas.microsoft.com/office/drawing/2018/hyperlinkcolor" val="tx"/>
                              </a:ext>
                            </a:extLst>
                          </a:hlinkClick>
                        </a:rPr>
                        <a:t>PUS</a:t>
                      </a:r>
                      <a:endParaRPr lang="en-US" altLang="ko-Kore-KR" sz="2000" b="1" i="0" u="none" strike="noStrike" cap="none" dirty="0">
                        <a:solidFill>
                          <a:srgbClr val="C00000"/>
                        </a:solidFill>
                        <a:latin typeface="Calibri" panose="020F0502020204030204" pitchFamily="34" charset="0"/>
                        <a:ea typeface="Calibri"/>
                        <a:cs typeface="Calibri" panose="020F0502020204030204" pitchFamily="34" charset="0"/>
                        <a:sym typeface="Calibri"/>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hlinkClick r:id="rId20" action="ppaction://hlinksldjump">
                            <a:extLst>
                              <a:ext uri="{A12FA001-AC4F-418D-AE19-62706E023703}">
                                <ahyp:hlinkClr xmlns:ahyp="http://schemas.microsoft.com/office/drawing/2018/hyperlinkcolor" val="tx"/>
                              </a:ext>
                            </a:extLst>
                          </a:hlinkClick>
                        </a:rPr>
                        <a:t>BKK</a:t>
                      </a:r>
                      <a:endParaRPr lang="en-US" altLang="ko-Kore-KR" sz="2000" b="1" i="0" u="none" strike="noStrike" cap="none" dirty="0">
                        <a:solidFill>
                          <a:srgbClr val="7030A0"/>
                        </a:solidFill>
                        <a:latin typeface="Calibri" panose="020F0502020204030204" pitchFamily="34" charset="0"/>
                        <a:ea typeface="Calibri"/>
                        <a:cs typeface="Calibri" panose="020F0502020204030204" pitchFamily="34" charset="0"/>
                        <a:sym typeface="Calibri"/>
                      </a:endParaRPr>
                    </a:p>
                  </a:txBody>
                  <a:tcPr marL="0" marR="0" marT="0" marB="0" anchor="ctr"/>
                </a:tc>
                <a:extLst>
                  <a:ext uri="{0D108BD9-81ED-4DB2-BD59-A6C34878D82A}">
                    <a16:rowId xmlns:a16="http://schemas.microsoft.com/office/drawing/2014/main" val="3261878942"/>
                  </a:ext>
                </a:extLst>
              </a:tr>
            </a:tbl>
          </a:graphicData>
        </a:graphic>
      </p:graphicFrame>
      <p:graphicFrame>
        <p:nvGraphicFramePr>
          <p:cNvPr id="2" name="Google Shape;90;p1">
            <a:extLst>
              <a:ext uri="{FF2B5EF4-FFF2-40B4-BE49-F238E27FC236}">
                <a16:creationId xmlns:a16="http://schemas.microsoft.com/office/drawing/2014/main" id="{420D4B99-E8E2-695D-C567-AA64CB4A507C}"/>
              </a:ext>
            </a:extLst>
          </p:cNvPr>
          <p:cNvGraphicFramePr/>
          <p:nvPr>
            <p:extLst>
              <p:ext uri="{D42A27DB-BD31-4B8C-83A1-F6EECF244321}">
                <p14:modId xmlns:p14="http://schemas.microsoft.com/office/powerpoint/2010/main" val="2695471260"/>
              </p:ext>
            </p:extLst>
          </p:nvPr>
        </p:nvGraphicFramePr>
        <p:xfrm>
          <a:off x="185895" y="4446365"/>
          <a:ext cx="1969476" cy="556300"/>
        </p:xfrm>
        <a:graphic>
          <a:graphicData uri="http://schemas.openxmlformats.org/drawingml/2006/table">
            <a:tbl>
              <a:tblPr firstRow="1" bandRow="1">
                <a:noFill/>
                <a:tableStyleId>{A521BE36-7E6F-4EC9-8D66-1CF97A6895EC}</a:tableStyleId>
              </a:tblPr>
              <a:tblGrid>
                <a:gridCol w="1969476">
                  <a:extLst>
                    <a:ext uri="{9D8B030D-6E8A-4147-A177-3AD203B41FA5}">
                      <a16:colId xmlns:a16="http://schemas.microsoft.com/office/drawing/2014/main" val="20000"/>
                    </a:ext>
                  </a:extLst>
                </a:gridCol>
              </a:tblGrid>
              <a:tr h="278150">
                <a:tc>
                  <a:txBody>
                    <a:bodyPr/>
                    <a:lstStyle/>
                    <a:p>
                      <a:pPr marL="0" marR="0" lvl="0" indent="0" algn="ctr" rtl="0">
                        <a:spcBef>
                          <a:spcPts val="0"/>
                        </a:spcBef>
                        <a:spcAft>
                          <a:spcPts val="0"/>
                        </a:spcAft>
                        <a:buNone/>
                      </a:pPr>
                      <a:r>
                        <a:rPr lang="en-US" sz="1400" b="1" u="none" strike="noStrike" cap="none" dirty="0">
                          <a:solidFill>
                            <a:schemeClr val="bg1"/>
                          </a:solidFill>
                          <a:latin typeface="Calibri"/>
                          <a:ea typeface="Calibri"/>
                          <a:cs typeface="Calibri"/>
                          <a:sym typeface="Calibri"/>
                        </a:rPr>
                        <a:t>Welcome PA</a:t>
                      </a:r>
                      <a:endParaRPr sz="1400" b="1" u="none" strike="noStrike" cap="none" dirty="0">
                        <a:solidFill>
                          <a:schemeClr val="bg1"/>
                        </a:solidFill>
                        <a:latin typeface="Calibri"/>
                        <a:ea typeface="Calibri"/>
                        <a:cs typeface="Calibri"/>
                        <a:sym typeface="Calibri"/>
                      </a:endParaRPr>
                    </a:p>
                  </a:txBody>
                  <a:tcPr marL="91450" marR="91450" marT="0" marB="0" anchor="ctr"/>
                </a:tc>
                <a:extLst>
                  <a:ext uri="{0D108BD9-81ED-4DB2-BD59-A6C34878D82A}">
                    <a16:rowId xmlns:a16="http://schemas.microsoft.com/office/drawing/2014/main" val="10000"/>
                  </a:ext>
                </a:extLst>
              </a:tr>
              <a:tr h="278150">
                <a:tc>
                  <a:txBody>
                    <a:bodyPr/>
                    <a:lstStyle/>
                    <a:p>
                      <a:pPr marL="0" marR="0" lvl="0" indent="0" algn="ctr" defTabSz="914400" rtl="0" eaLnBrk="1" fontAlgn="auto" latinLnBrk="0" hangingPunct="1">
                        <a:lnSpc>
                          <a:spcPct val="100000"/>
                        </a:lnSpc>
                        <a:spcBef>
                          <a:spcPts val="0"/>
                        </a:spcBef>
                        <a:spcAft>
                          <a:spcPts val="0"/>
                        </a:spcAft>
                        <a:buClr>
                          <a:schemeClr val="dk1"/>
                        </a:buClr>
                        <a:buSzPts val="1200"/>
                        <a:buFont typeface="Calibri"/>
                        <a:buNone/>
                        <a:tabLst/>
                        <a:defRPr/>
                      </a:pPr>
                      <a:r>
                        <a:rPr lang="en-US" altLang="ko-Kore-KR" sz="1400" b="0" u="none" strike="noStrike" cap="none" dirty="0">
                          <a:solidFill>
                            <a:schemeClr val="tx1"/>
                          </a:solidFill>
                          <a:latin typeface="Calibri"/>
                          <a:ea typeface="Calibri"/>
                          <a:cs typeface="Calibri"/>
                          <a:sym typeface="Calibri"/>
                        </a:rPr>
                        <a:t>Next Page</a:t>
                      </a:r>
                    </a:p>
                  </a:txBody>
                  <a:tcPr marL="91450" marR="91450" marT="0" marB="0" anchor="ctr"/>
                </a:tc>
                <a:extLst>
                  <a:ext uri="{0D108BD9-81ED-4DB2-BD59-A6C34878D82A}">
                    <a16:rowId xmlns:a16="http://schemas.microsoft.com/office/drawing/2014/main" val="10002"/>
                  </a:ext>
                </a:extLst>
              </a:tr>
            </a:tbl>
          </a:graphicData>
        </a:graphic>
      </p:graphicFrame>
      <p:sp>
        <p:nvSpPr>
          <p:cNvPr id="3" name="직사각형 2">
            <a:hlinkClick r:id="" action="ppaction://hlinkshowjump?jump=firstslide"/>
            <a:extLst>
              <a:ext uri="{FF2B5EF4-FFF2-40B4-BE49-F238E27FC236}">
                <a16:creationId xmlns:a16="http://schemas.microsoft.com/office/drawing/2014/main" id="{F67BBAE9-B926-F113-1CFE-703A0FA7B23A}"/>
              </a:ext>
            </a:extLst>
          </p:cNvPr>
          <p:cNvSpPr/>
          <p:nvPr/>
        </p:nvSpPr>
        <p:spPr>
          <a:xfrm>
            <a:off x="847353" y="522010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0911654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271327333"/>
              </p:ext>
            </p:extLst>
          </p:nvPr>
        </p:nvGraphicFramePr>
        <p:xfrm>
          <a:off x="0" y="0"/>
          <a:ext cx="2328875" cy="314629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0">
                <a:tc>
                  <a:txBody>
                    <a:bodyPr/>
                    <a:lstStyle/>
                    <a:p>
                      <a:pPr marL="0" marR="0" lvl="0" indent="0" algn="l" rtl="0">
                        <a:spcBef>
                          <a:spcPts val="0"/>
                        </a:spcBef>
                        <a:spcAft>
                          <a:spcPts val="0"/>
                        </a:spcAft>
                        <a:buNone/>
                      </a:pPr>
                      <a:r>
                        <a:rPr lang="en-US" sz="1200" b="1" dirty="0">
                          <a:latin typeface="Calibri"/>
                          <a:ea typeface="Calibri"/>
                          <a:cs typeface="Calibri"/>
                          <a:sym typeface="Calibri"/>
                        </a:rPr>
                        <a:t>WELCOME PA</a:t>
                      </a:r>
                      <a:endParaRPr sz="1200" b="1" dirty="0">
                        <a:latin typeface="Calibri"/>
                        <a:ea typeface="Calibri"/>
                        <a:cs typeface="Calibri"/>
                        <a:sym typeface="Calibri"/>
                      </a:endParaRPr>
                    </a:p>
                  </a:txBody>
                  <a:tcPr marL="91450" marR="91450" marT="45725" marB="45725"/>
                </a:tc>
                <a:extLst>
                  <a:ext uri="{0D108BD9-81ED-4DB2-BD59-A6C34878D82A}">
                    <a16:rowId xmlns:a16="http://schemas.microsoft.com/office/drawing/2014/main" val="10000"/>
                  </a:ext>
                </a:extLst>
              </a:tr>
              <a:tr h="1203249">
                <a:tc>
                  <a:txBody>
                    <a:bodyPr/>
                    <a:lstStyle/>
                    <a:p>
                      <a:pPr marL="0" marR="0" lvl="0" indent="0" algn="l" rtl="0">
                        <a:lnSpc>
                          <a:spcPct val="10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en-US" sz="800" b="1" dirty="0" err="1">
                          <a:latin typeface="Calibri"/>
                          <a:ea typeface="Calibri"/>
                          <a:cs typeface="Calibri"/>
                          <a:sym typeface="Calibri"/>
                        </a:rPr>
                        <a:t>안녕하십니까</a:t>
                      </a:r>
                      <a:r>
                        <a:rPr lang="en-US" sz="800" b="1" dirty="0">
                          <a:latin typeface="Calibri"/>
                          <a:ea typeface="Calibri"/>
                          <a:cs typeface="Calibri"/>
                          <a:sym typeface="Calibri"/>
                        </a:rPr>
                        <a:t>? </a:t>
                      </a:r>
                      <a:endParaRPr lang="ko-Kore-KR" altLang="en-US" sz="800" dirty="0"/>
                    </a:p>
                    <a:p>
                      <a:pPr marL="0" marR="0" lvl="0" indent="0" algn="l" rtl="0">
                        <a:lnSpc>
                          <a:spcPct val="100000"/>
                        </a:lnSpc>
                        <a:spcBef>
                          <a:spcPts val="0"/>
                        </a:spcBef>
                        <a:spcAft>
                          <a:spcPts val="0"/>
                        </a:spcAft>
                        <a:buNone/>
                      </a:pPr>
                      <a:r>
                        <a:rPr lang="en-US" sz="800" b="1" dirty="0" err="1">
                          <a:latin typeface="Calibri"/>
                          <a:ea typeface="Calibri"/>
                          <a:cs typeface="Calibri"/>
                          <a:sym typeface="Calibri"/>
                        </a:rPr>
                        <a:t>저는</a:t>
                      </a:r>
                      <a:r>
                        <a:rPr lang="en-US" sz="800" b="1" dirty="0">
                          <a:latin typeface="Calibri"/>
                          <a:ea typeface="Calibri"/>
                          <a:cs typeface="Calibri"/>
                          <a:sym typeface="Calibri"/>
                        </a:rPr>
                        <a:t> </a:t>
                      </a:r>
                      <a:r>
                        <a:rPr lang="ko-KR" altLang="en-US" sz="800" b="1" dirty="0">
                          <a:latin typeface="Calibri"/>
                          <a:ea typeface="Calibri"/>
                          <a:cs typeface="Calibri"/>
                          <a:sym typeface="Calibri"/>
                        </a:rPr>
                        <a:t>여러분을 모시고 가는 </a:t>
                      </a:r>
                      <a:r>
                        <a:rPr lang="en-US" sz="800" b="1" dirty="0" err="1">
                          <a:latin typeface="Calibri"/>
                          <a:ea typeface="Calibri"/>
                          <a:cs typeface="Calibri"/>
                          <a:sym typeface="Calibri"/>
                        </a:rPr>
                        <a:t>기장</a:t>
                      </a:r>
                      <a:r>
                        <a:rPr lang="en-US" sz="800" b="1" dirty="0">
                          <a:latin typeface="Calibri"/>
                          <a:ea typeface="Calibri"/>
                          <a:cs typeface="Calibri"/>
                          <a:sym typeface="Calibri"/>
                        </a:rPr>
                        <a:t> ___</a:t>
                      </a:r>
                      <a:r>
                        <a:rPr lang="en-US" sz="800" b="1" dirty="0" err="1">
                          <a:latin typeface="Calibri"/>
                          <a:ea typeface="Calibri"/>
                          <a:cs typeface="Calibri"/>
                          <a:sym typeface="Calibri"/>
                        </a:rPr>
                        <a:t>입니다</a:t>
                      </a:r>
                      <a:r>
                        <a:rPr lang="en-US" sz="800" b="1" dirty="0">
                          <a:latin typeface="Calibri"/>
                          <a:ea typeface="Calibri"/>
                          <a:cs typeface="Calibri"/>
                          <a:sym typeface="Calibri"/>
                        </a:rPr>
                        <a:t>.</a:t>
                      </a:r>
                      <a:endParaRPr lang="ko-Kore-KR" altLang="en-US" sz="800" dirty="0"/>
                    </a:p>
                    <a:p>
                      <a:pPr marL="0" marR="0" lvl="0" indent="0" algn="l" rtl="0">
                        <a:lnSpc>
                          <a:spcPct val="100000"/>
                        </a:lnSpc>
                        <a:spcBef>
                          <a:spcPts val="0"/>
                        </a:spcBef>
                        <a:spcAft>
                          <a:spcPts val="0"/>
                        </a:spcAft>
                        <a:buNone/>
                      </a:pPr>
                      <a:r>
                        <a:rPr lang="en-US" sz="800" b="1" dirty="0" err="1">
                          <a:latin typeface="Calibri"/>
                          <a:ea typeface="Calibri"/>
                          <a:cs typeface="Calibri"/>
                          <a:sym typeface="Calibri"/>
                        </a:rPr>
                        <a:t>저희</a:t>
                      </a:r>
                      <a:r>
                        <a:rPr lang="en-US" sz="800" b="1" dirty="0">
                          <a:latin typeface="Calibri"/>
                          <a:ea typeface="Calibri"/>
                          <a:cs typeface="Calibri"/>
                          <a:sym typeface="Calibri"/>
                        </a:rPr>
                        <a:t> </a:t>
                      </a:r>
                      <a:r>
                        <a:rPr lang="en-US" sz="800" b="1" dirty="0" err="1">
                          <a:latin typeface="Calibri"/>
                          <a:ea typeface="Calibri"/>
                          <a:cs typeface="Calibri"/>
                          <a:sym typeface="Calibri"/>
                        </a:rPr>
                        <a:t>대한항공을</a:t>
                      </a:r>
                      <a:r>
                        <a:rPr lang="en-US" sz="800" b="1" dirty="0">
                          <a:latin typeface="Calibri"/>
                          <a:ea typeface="Calibri"/>
                          <a:cs typeface="Calibri"/>
                          <a:sym typeface="Calibri"/>
                        </a:rPr>
                        <a:t> </a:t>
                      </a:r>
                      <a:r>
                        <a:rPr lang="en-US" sz="800" b="1" dirty="0" err="1">
                          <a:latin typeface="Calibri"/>
                          <a:ea typeface="Calibri"/>
                          <a:cs typeface="Calibri"/>
                          <a:sym typeface="Calibri"/>
                        </a:rPr>
                        <a:t>이용해</a:t>
                      </a:r>
                      <a:r>
                        <a:rPr lang="en-US" sz="800" b="1" dirty="0">
                          <a:latin typeface="Calibri"/>
                          <a:ea typeface="Calibri"/>
                          <a:cs typeface="Calibri"/>
                          <a:sym typeface="Calibri"/>
                        </a:rPr>
                        <a:t> </a:t>
                      </a:r>
                      <a:r>
                        <a:rPr lang="en-US" sz="800" b="1" dirty="0" err="1">
                          <a:latin typeface="Calibri"/>
                          <a:ea typeface="Calibri"/>
                          <a:cs typeface="Calibri"/>
                          <a:sym typeface="Calibri"/>
                        </a:rPr>
                        <a:t>주셔서</a:t>
                      </a:r>
                      <a:r>
                        <a:rPr lang="en-US" sz="800" b="1" dirty="0">
                          <a:latin typeface="Calibri"/>
                          <a:ea typeface="Calibri"/>
                          <a:cs typeface="Calibri"/>
                          <a:sym typeface="Calibri"/>
                        </a:rPr>
                        <a:t> </a:t>
                      </a:r>
                      <a:r>
                        <a:rPr lang="en-US" sz="800" b="1" dirty="0" err="1">
                          <a:latin typeface="Calibri"/>
                          <a:ea typeface="Calibri"/>
                          <a:cs typeface="Calibri"/>
                          <a:sym typeface="Calibri"/>
                        </a:rPr>
                        <a:t>대단히</a:t>
                      </a:r>
                      <a:r>
                        <a:rPr lang="en-US" sz="800" b="1" dirty="0">
                          <a:latin typeface="Calibri"/>
                          <a:ea typeface="Calibri"/>
                          <a:cs typeface="Calibri"/>
                          <a:sym typeface="Calibri"/>
                        </a:rPr>
                        <a:t> </a:t>
                      </a:r>
                      <a:r>
                        <a:rPr lang="ko-KR" altLang="en-US" sz="800" b="1" dirty="0">
                          <a:latin typeface="Calibri"/>
                          <a:ea typeface="Calibri"/>
                          <a:cs typeface="Calibri"/>
                          <a:sym typeface="Calibri"/>
                        </a:rPr>
                        <a:t>고맙습니다</a:t>
                      </a:r>
                      <a:r>
                        <a:rPr lang="en-US" altLang="ko-KR" sz="800" b="1" dirty="0">
                          <a:latin typeface="Calibri"/>
                          <a:ea typeface="Calibri"/>
                          <a:cs typeface="Calibri"/>
                          <a:sym typeface="Calibri"/>
                        </a:rPr>
                        <a:t>.</a:t>
                      </a:r>
                      <a:endParaRPr lang="ko-Kore-KR" altLang="en-US" sz="800" dirty="0"/>
                    </a:p>
                    <a:p>
                      <a:pPr marL="0" marR="0" lvl="0" indent="0" algn="l" rtl="0">
                        <a:lnSpc>
                          <a:spcPct val="100000"/>
                        </a:lnSpc>
                        <a:spcBef>
                          <a:spcPts val="0"/>
                        </a:spcBef>
                        <a:spcAft>
                          <a:spcPts val="0"/>
                        </a:spcAft>
                        <a:buNone/>
                      </a:pPr>
                      <a:r>
                        <a:rPr lang="en-US" sz="800" b="1" dirty="0">
                          <a:latin typeface="Calibri"/>
                          <a:ea typeface="Calibri"/>
                          <a:cs typeface="Calibri"/>
                          <a:sym typeface="Calibri"/>
                        </a:rPr>
                        <a:t>___ (</a:t>
                      </a:r>
                      <a:r>
                        <a:rPr lang="en-US" sz="800" b="1" dirty="0" err="1">
                          <a:latin typeface="Calibri"/>
                          <a:ea typeface="Calibri"/>
                          <a:cs typeface="Calibri"/>
                          <a:sym typeface="Calibri"/>
                        </a:rPr>
                        <a:t>국제</a:t>
                      </a:r>
                      <a:r>
                        <a:rPr lang="en-US" sz="800" b="1" dirty="0">
                          <a:latin typeface="Calibri"/>
                          <a:ea typeface="Calibri"/>
                          <a:cs typeface="Calibri"/>
                          <a:sym typeface="Calibri"/>
                        </a:rPr>
                        <a:t>)</a:t>
                      </a:r>
                      <a:r>
                        <a:rPr lang="en-US" sz="800" b="1" dirty="0" err="1">
                          <a:latin typeface="Calibri"/>
                          <a:ea typeface="Calibri"/>
                          <a:cs typeface="Calibri"/>
                          <a:sym typeface="Calibri"/>
                        </a:rPr>
                        <a:t>공항까지</a:t>
                      </a:r>
                      <a:r>
                        <a:rPr lang="en-US" sz="800" b="1" dirty="0">
                          <a:latin typeface="Calibri"/>
                          <a:ea typeface="Calibri"/>
                          <a:cs typeface="Calibri"/>
                          <a:sym typeface="Calibri"/>
                        </a:rPr>
                        <a:t> </a:t>
                      </a:r>
                      <a:r>
                        <a:rPr lang="ko-KR" altLang="en-US" sz="800" b="1" dirty="0">
                          <a:latin typeface="Calibri"/>
                          <a:ea typeface="Calibri"/>
                          <a:cs typeface="Calibri"/>
                          <a:sym typeface="Calibri"/>
                        </a:rPr>
                        <a:t>비행시간은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시간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분 </a:t>
                      </a:r>
                      <a:r>
                        <a:rPr lang="ko-KR" altLang="en-US" sz="800" b="1" dirty="0" err="1">
                          <a:latin typeface="Calibri"/>
                          <a:ea typeface="Calibri"/>
                          <a:cs typeface="Calibri"/>
                          <a:sym typeface="Calibri"/>
                        </a:rPr>
                        <a:t>으로</a:t>
                      </a:r>
                      <a:r>
                        <a:rPr lang="ko-KR" altLang="en-US" sz="800" b="1" dirty="0">
                          <a:latin typeface="Calibri"/>
                          <a:ea typeface="Calibri"/>
                          <a:cs typeface="Calibri"/>
                          <a:sym typeface="Calibri"/>
                        </a:rPr>
                        <a:t> 예상됩니다</a:t>
                      </a:r>
                      <a:r>
                        <a:rPr lang="en-US" altLang="ko-KR" sz="800" b="1" dirty="0">
                          <a:latin typeface="Calibri"/>
                          <a:ea typeface="Calibri"/>
                          <a:cs typeface="Calibri"/>
                          <a:sym typeface="Calibri"/>
                        </a:rPr>
                        <a:t>.</a:t>
                      </a:r>
                    </a:p>
                    <a:p>
                      <a:pPr marL="0" marR="0" lvl="0" indent="0" algn="l" rtl="0">
                        <a:lnSpc>
                          <a:spcPct val="100000"/>
                        </a:lnSpc>
                        <a:spcBef>
                          <a:spcPts val="0"/>
                        </a:spcBef>
                        <a:spcAft>
                          <a:spcPts val="0"/>
                        </a:spcAft>
                        <a:buNone/>
                      </a:pPr>
                      <a:r>
                        <a:rPr lang="ko-KR" altLang="en-US" sz="800" b="1" dirty="0">
                          <a:latin typeface="Calibri"/>
                          <a:ea typeface="Calibri"/>
                          <a:cs typeface="Calibri"/>
                          <a:sym typeface="Calibri"/>
                        </a:rPr>
                        <a:t>비행 중에는 항공기가 갑자기 흔들릴 수도 있으니</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자리에 않아 계실 때에는 항상 좌석벨트를 매주시기 바랍니다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ore-KR" sz="800" b="1" dirty="0">
                          <a:latin typeface="Calibri"/>
                          <a:ea typeface="Calibri"/>
                          <a:cs typeface="Calibri"/>
                          <a:sym typeface="Calibri"/>
                        </a:rPr>
                        <a:t>(</a:t>
                      </a:r>
                      <a:r>
                        <a:rPr lang="ko-KR" altLang="en-US" sz="800" b="1" dirty="0">
                          <a:latin typeface="Calibri"/>
                          <a:ea typeface="Calibri"/>
                          <a:cs typeface="Calibri"/>
                          <a:sym typeface="Calibri"/>
                        </a:rPr>
                        <a:t>저희 승무원 모두는</a:t>
                      </a:r>
                      <a:r>
                        <a:rPr lang="en-US" altLang="ko-KR" sz="800" b="1" dirty="0">
                          <a:latin typeface="Calibri"/>
                          <a:ea typeface="Calibri"/>
                          <a:cs typeface="Calibri"/>
                          <a:sym typeface="Calibri"/>
                        </a:rPr>
                        <a:t>)</a:t>
                      </a:r>
                      <a:endParaRPr sz="800" b="1" dirty="0">
                        <a:latin typeface="Calibri"/>
                        <a:ea typeface="Calibri"/>
                        <a:cs typeface="Calibri"/>
                        <a:sym typeface="Calibri"/>
                      </a:endParaRPr>
                    </a:p>
                    <a:p>
                      <a:pPr marL="0" marR="0" lvl="0" indent="0" algn="l" rtl="0">
                        <a:lnSpc>
                          <a:spcPct val="100000"/>
                        </a:lnSpc>
                        <a:spcBef>
                          <a:spcPts val="0"/>
                        </a:spcBef>
                        <a:spcAft>
                          <a:spcPts val="0"/>
                        </a:spcAft>
                        <a:buNone/>
                      </a:pPr>
                      <a:r>
                        <a:rPr lang="ko-KR" altLang="en-US" sz="800" b="1" dirty="0">
                          <a:latin typeface="Calibri"/>
                          <a:ea typeface="Calibri"/>
                          <a:cs typeface="Calibri"/>
                          <a:sym typeface="Calibri"/>
                        </a:rPr>
                        <a:t>저는 여러분을 안전하게 모시기 위해 최선을 다하겠습니다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고맙습니다</a:t>
                      </a:r>
                      <a:r>
                        <a:rPr lang="en-US" sz="800" b="1" dirty="0">
                          <a:latin typeface="Calibri"/>
                          <a:ea typeface="Calibri"/>
                          <a:cs typeface="Calibri"/>
                          <a:sym typeface="Calibri"/>
                        </a:rPr>
                        <a:t>.</a:t>
                      </a:r>
                      <a:endParaRPr sz="8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1"/>
                  </a:ext>
                </a:extLst>
              </a:tr>
              <a:tr h="500625">
                <a:tc>
                  <a:txBody>
                    <a:bodyPr/>
                    <a:lstStyle/>
                    <a:p>
                      <a:pPr marL="0" marR="0" lvl="0" indent="0" algn="l" rtl="0">
                        <a:spcBef>
                          <a:spcPts val="0"/>
                        </a:spcBef>
                        <a:spcAft>
                          <a:spcPts val="0"/>
                        </a:spcAft>
                        <a:buNone/>
                      </a:pPr>
                      <a:r>
                        <a:rPr lang="en-US" sz="900" b="1" dirty="0">
                          <a:latin typeface="Calibri"/>
                          <a:ea typeface="Calibri"/>
                          <a:cs typeface="Calibri"/>
                          <a:sym typeface="Calibri"/>
                        </a:rPr>
                        <a:t>Good morning (afternoon /evening), ladies and gentlemen.</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This is captain </a:t>
                      </a:r>
                      <a:r>
                        <a:rPr lang="en-US" sz="900" b="1" u="sng" dirty="0">
                          <a:latin typeface="Calibri"/>
                          <a:ea typeface="Calibri"/>
                          <a:cs typeface="Calibri"/>
                          <a:sym typeface="Calibri"/>
                        </a:rPr>
                        <a:t>last name</a:t>
                      </a:r>
                      <a:r>
                        <a:rPr lang="en-US" sz="900" b="1" dirty="0">
                          <a:latin typeface="Calibri"/>
                          <a:ea typeface="Calibri"/>
                          <a:cs typeface="Calibri"/>
                          <a:sym typeface="Calibri"/>
                        </a:rPr>
                        <a:t> speaking.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Welcome aboard Korean Air. </a:t>
                      </a:r>
                    </a:p>
                    <a:p>
                      <a:pPr marL="0" marR="0" lvl="0" indent="0" algn="l" rtl="0">
                        <a:spcBef>
                          <a:spcPts val="0"/>
                        </a:spcBef>
                        <a:spcAft>
                          <a:spcPts val="0"/>
                        </a:spcAft>
                        <a:buNone/>
                      </a:pPr>
                      <a:r>
                        <a:rPr lang="en-US" sz="900" b="1" dirty="0">
                          <a:latin typeface="Calibri"/>
                          <a:ea typeface="Calibri"/>
                          <a:cs typeface="Calibri"/>
                          <a:sym typeface="Calibri"/>
                        </a:rPr>
                        <a:t>This flight is bound for ___(international) airport</a:t>
                      </a:r>
                      <a:r>
                        <a:rPr lang="ko-KR" altLang="en-US" sz="900" b="1" dirty="0">
                          <a:latin typeface="Calibri"/>
                          <a:ea typeface="Calibri"/>
                          <a:cs typeface="Calibri"/>
                          <a:sym typeface="Calibri"/>
                        </a:rPr>
                        <a:t> </a:t>
                      </a:r>
                      <a:r>
                        <a:rPr lang="en-US" altLang="ko-KR" sz="900" b="1" dirty="0">
                          <a:latin typeface="Calibri"/>
                          <a:ea typeface="Calibri"/>
                          <a:cs typeface="Calibri"/>
                          <a:sym typeface="Calibri"/>
                        </a:rPr>
                        <a:t>and our flight time is ___ hours(s) and minutes.</a:t>
                      </a:r>
                      <a:r>
                        <a:rPr lang="en-US" sz="900" b="1" dirty="0">
                          <a:latin typeface="Calibri"/>
                          <a:ea typeface="Calibri"/>
                          <a:cs typeface="Calibri"/>
                          <a:sym typeface="Calibri"/>
                        </a:rPr>
                        <a:t> </a:t>
                      </a:r>
                      <a:endParaRPr lang="ko-Kore-KR" altLang="en-US" sz="900" b="1" dirty="0">
                        <a:latin typeface="Calibri"/>
                        <a:ea typeface="Calibri"/>
                        <a:cs typeface="Calibri"/>
                        <a:sym typeface="Calibri"/>
                      </a:endParaRPr>
                    </a:p>
                    <a:p>
                      <a:pPr marL="0" marR="0" lvl="0" indent="0" algn="l" rtl="0">
                        <a:spcBef>
                          <a:spcPts val="0"/>
                        </a:spcBef>
                        <a:spcAft>
                          <a:spcPts val="0"/>
                        </a:spcAft>
                        <a:buNone/>
                      </a:pPr>
                      <a:r>
                        <a:rPr lang="en-US" sz="900" b="1" dirty="0">
                          <a:latin typeface="Calibri"/>
                          <a:ea typeface="Calibri"/>
                          <a:cs typeface="Calibri"/>
                          <a:sym typeface="Calibri"/>
                        </a:rPr>
                        <a:t>For your safety, keep your seatbelts fastened while you are seated. </a:t>
                      </a:r>
                    </a:p>
                    <a:p>
                      <a:pPr marL="0" marR="0" lvl="0" indent="0" algn="l" rtl="0">
                        <a:spcBef>
                          <a:spcPts val="0"/>
                        </a:spcBef>
                        <a:spcAft>
                          <a:spcPts val="0"/>
                        </a:spcAft>
                        <a:buNone/>
                      </a:pPr>
                      <a:r>
                        <a:rPr lang="en-US" sz="900" b="1" dirty="0">
                          <a:latin typeface="Calibri"/>
                          <a:ea typeface="Calibri"/>
                          <a:cs typeface="Calibri"/>
                          <a:sym typeface="Calibri"/>
                        </a:rPr>
                        <a:t>Thank you for choosing </a:t>
                      </a:r>
                      <a:r>
                        <a:rPr lang="en-US" sz="900" b="1" dirty="0" err="1">
                          <a:latin typeface="Calibri"/>
                          <a:ea typeface="Calibri"/>
                          <a:cs typeface="Calibri"/>
                          <a:sym typeface="Calibri"/>
                        </a:rPr>
                        <a:t>Koreanair</a:t>
                      </a:r>
                      <a:r>
                        <a:rPr lang="en-US" sz="900" b="1" dirty="0">
                          <a:latin typeface="Calibri"/>
                          <a:ea typeface="Calibri"/>
                          <a:cs typeface="Calibri"/>
                          <a:sym typeface="Calibri"/>
                        </a:rPr>
                        <a:t>. </a:t>
                      </a:r>
                    </a:p>
                    <a:p>
                      <a:pPr marL="0" marR="0" lvl="0" indent="0" algn="l" rtl="0">
                        <a:spcBef>
                          <a:spcPts val="0"/>
                        </a:spcBef>
                        <a:spcAft>
                          <a:spcPts val="0"/>
                        </a:spcAft>
                        <a:buNone/>
                      </a:pPr>
                      <a:r>
                        <a:rPr lang="en-US" sz="900" b="1" dirty="0">
                          <a:latin typeface="Calibri"/>
                          <a:ea typeface="Calibri"/>
                          <a:cs typeface="Calibri"/>
                          <a:sym typeface="Calibri"/>
                        </a:rPr>
                        <a:t>Please enjoy your flight. </a:t>
                      </a:r>
                      <a:endParaRPr sz="9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10002"/>
                  </a:ext>
                </a:extLst>
              </a:tr>
            </a:tbl>
          </a:graphicData>
        </a:graphic>
      </p:graphicFrame>
      <p:graphicFrame>
        <p:nvGraphicFramePr>
          <p:cNvPr id="371" name="Google Shape;371;p27"/>
          <p:cNvGraphicFramePr/>
          <p:nvPr>
            <p:extLst>
              <p:ext uri="{D42A27DB-BD31-4B8C-83A1-F6EECF244321}">
                <p14:modId xmlns:p14="http://schemas.microsoft.com/office/powerpoint/2010/main" val="4049633542"/>
              </p:ext>
            </p:extLst>
          </p:nvPr>
        </p:nvGraphicFramePr>
        <p:xfrm>
          <a:off x="114028" y="3146290"/>
          <a:ext cx="2100805" cy="1685375"/>
        </p:xfrm>
        <a:graphic>
          <a:graphicData uri="http://schemas.openxmlformats.org/drawingml/2006/table">
            <a:tbl>
              <a:tblPr firstRow="1" bandRow="1">
                <a:noFill/>
                <a:tableStyleId>{A521BE36-7E6F-4EC9-8D66-1CF97A6895EC}</a:tableStyleId>
              </a:tblPr>
              <a:tblGrid>
                <a:gridCol w="528649">
                  <a:extLst>
                    <a:ext uri="{9D8B030D-6E8A-4147-A177-3AD203B41FA5}">
                      <a16:colId xmlns:a16="http://schemas.microsoft.com/office/drawing/2014/main" val="20002"/>
                    </a:ext>
                  </a:extLst>
                </a:gridCol>
                <a:gridCol w="1572156">
                  <a:extLst>
                    <a:ext uri="{9D8B030D-6E8A-4147-A177-3AD203B41FA5}">
                      <a16:colId xmlns:a16="http://schemas.microsoft.com/office/drawing/2014/main" val="20003"/>
                    </a:ext>
                  </a:extLst>
                </a:gridCol>
              </a:tblGrid>
              <a:tr h="194255">
                <a:tc gridSpan="2">
                  <a:txBody>
                    <a:bodyPr/>
                    <a:lstStyle/>
                    <a:p>
                      <a:pPr marL="0" marR="0" lvl="0" indent="0" algn="ctr" rtl="0">
                        <a:spcBef>
                          <a:spcPts val="0"/>
                        </a:spcBef>
                        <a:spcAft>
                          <a:spcPts val="0"/>
                        </a:spcAft>
                        <a:buNone/>
                      </a:pPr>
                      <a:r>
                        <a:rPr lang="en-US" sz="1100" dirty="0">
                          <a:solidFill>
                            <a:schemeClr val="bg1"/>
                          </a:solidFill>
                        </a:rPr>
                        <a:t>S.E Asia</a:t>
                      </a:r>
                      <a:endParaRPr sz="1100" b="0" dirty="0">
                        <a:solidFill>
                          <a:schemeClr val="bg1"/>
                        </a:solidFill>
                      </a:endParaRPr>
                    </a:p>
                  </a:txBody>
                  <a:tcPr marL="0" marR="0" marT="0" marB="0"/>
                </a:tc>
                <a:tc hMerge="1">
                  <a:txBody>
                    <a:bodyPr/>
                    <a:lstStyle/>
                    <a:p>
                      <a:pPr marL="0" marR="0" lvl="0" indent="0" algn="ctr" rtl="0">
                        <a:spcBef>
                          <a:spcPts val="0"/>
                        </a:spcBef>
                        <a:spcAft>
                          <a:spcPts val="0"/>
                        </a:spcAft>
                        <a:buNone/>
                      </a:pPr>
                      <a:r>
                        <a:rPr lang="ko-KR" altLang="en-US" sz="800" b="0" dirty="0">
                          <a:solidFill>
                            <a:srgbClr val="00B050"/>
                          </a:solidFill>
                        </a:rPr>
                        <a:t>상하이</a:t>
                      </a:r>
                      <a:r>
                        <a:rPr lang="en-US" altLang="ko-KR" sz="800" b="0" dirty="0">
                          <a:solidFill>
                            <a:srgbClr val="00B050"/>
                          </a:solidFill>
                        </a:rPr>
                        <a:t>/</a:t>
                      </a:r>
                      <a:r>
                        <a:rPr lang="ko-KR" altLang="en-US" sz="800" b="0" dirty="0" err="1">
                          <a:solidFill>
                            <a:srgbClr val="00B050"/>
                          </a:solidFill>
                        </a:rPr>
                        <a:t>홍차오</a:t>
                      </a:r>
                      <a:endParaRPr sz="800" b="0" dirty="0">
                        <a:solidFill>
                          <a:srgbClr val="00B050"/>
                        </a:solidFill>
                      </a:endParaRPr>
                    </a:p>
                  </a:txBody>
                  <a:tcPr marL="0" marR="0" marT="0" marB="0"/>
                </a:tc>
                <a:extLst>
                  <a:ext uri="{0D108BD9-81ED-4DB2-BD59-A6C34878D82A}">
                    <a16:rowId xmlns:a16="http://schemas.microsoft.com/office/drawing/2014/main" val="10000"/>
                  </a:ext>
                </a:extLst>
              </a:tr>
              <a:tr h="186390">
                <a:tc>
                  <a:txBody>
                    <a:bodyPr/>
                    <a:lstStyle/>
                    <a:p>
                      <a:pPr marL="0" marR="0" lvl="0" indent="0" algn="ctr" rtl="0">
                        <a:spcBef>
                          <a:spcPts val="0"/>
                        </a:spcBef>
                        <a:spcAft>
                          <a:spcPts val="0"/>
                        </a:spcAft>
                        <a:buNone/>
                      </a:pPr>
                      <a:r>
                        <a:rPr lang="en-US" sz="900" dirty="0">
                          <a:solidFill>
                            <a:srgbClr val="7030A0"/>
                          </a:solidFill>
                        </a:rPr>
                        <a:t>CXR</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베트남 </a:t>
                      </a:r>
                      <a:r>
                        <a:rPr lang="ko-KR" altLang="en-US" sz="900" b="0" dirty="0" err="1">
                          <a:solidFill>
                            <a:srgbClr val="7030A0"/>
                          </a:solidFill>
                        </a:rPr>
                        <a:t>나짱</a:t>
                      </a:r>
                      <a:r>
                        <a:rPr lang="en-US" altLang="ko-KR" sz="900" b="0" dirty="0">
                          <a:solidFill>
                            <a:srgbClr val="7030A0"/>
                          </a:solidFill>
                        </a:rPr>
                        <a:t>(</a:t>
                      </a:r>
                      <a:r>
                        <a:rPr lang="en-US" altLang="ko-KR" sz="900" b="0" dirty="0" err="1">
                          <a:solidFill>
                            <a:srgbClr val="7030A0"/>
                          </a:solidFill>
                        </a:rPr>
                        <a:t>Nha</a:t>
                      </a:r>
                      <a:r>
                        <a:rPr lang="en-US" altLang="ko-KR" sz="900" b="0" dirty="0">
                          <a:solidFill>
                            <a:srgbClr val="7030A0"/>
                          </a:solidFill>
                        </a:rPr>
                        <a:t> Trang)/</a:t>
                      </a:r>
                      <a:r>
                        <a:rPr lang="ko-KR" altLang="en-US" sz="900" b="0" dirty="0" err="1">
                          <a:solidFill>
                            <a:srgbClr val="7030A0"/>
                          </a:solidFill>
                        </a:rPr>
                        <a:t>깜라인</a:t>
                      </a:r>
                      <a:endParaRPr sz="900" b="0" dirty="0">
                        <a:solidFill>
                          <a:srgbClr val="7030A0"/>
                        </a:solidFill>
                      </a:endParaRPr>
                    </a:p>
                  </a:txBody>
                  <a:tcPr marL="0" marR="0" marT="0" marB="0" anchor="ctr"/>
                </a:tc>
                <a:extLst>
                  <a:ext uri="{0D108BD9-81ED-4DB2-BD59-A6C34878D82A}">
                    <a16:rowId xmlns:a16="http://schemas.microsoft.com/office/drawing/2014/main" val="2751862034"/>
                  </a:ext>
                </a:extLst>
              </a:tr>
              <a:tr h="186390">
                <a:tc>
                  <a:txBody>
                    <a:bodyPr/>
                    <a:lstStyle/>
                    <a:p>
                      <a:pPr marL="0" marR="0" lvl="0" indent="0" algn="ctr" rtl="0">
                        <a:spcBef>
                          <a:spcPts val="0"/>
                        </a:spcBef>
                        <a:spcAft>
                          <a:spcPts val="0"/>
                        </a:spcAft>
                        <a:buNone/>
                      </a:pPr>
                      <a:r>
                        <a:rPr lang="en-US" sz="900" dirty="0">
                          <a:solidFill>
                            <a:srgbClr val="7030A0"/>
                          </a:solidFill>
                        </a:rPr>
                        <a:t>SGN</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베트남 호찌민</a:t>
                      </a:r>
                      <a:r>
                        <a:rPr lang="en-US" altLang="ko-KR" sz="900" b="0" dirty="0">
                          <a:solidFill>
                            <a:srgbClr val="7030A0"/>
                          </a:solidFill>
                        </a:rPr>
                        <a:t>/</a:t>
                      </a:r>
                      <a:r>
                        <a:rPr lang="ko-KR" altLang="en-US" sz="900" b="0" dirty="0" err="1">
                          <a:solidFill>
                            <a:srgbClr val="7030A0"/>
                          </a:solidFill>
                        </a:rPr>
                        <a:t>탄소넛</a:t>
                      </a:r>
                      <a:endParaRPr sz="900" b="0" dirty="0">
                        <a:solidFill>
                          <a:srgbClr val="7030A0"/>
                        </a:solidFill>
                      </a:endParaRPr>
                    </a:p>
                  </a:txBody>
                  <a:tcPr marL="0" marR="0" marT="0" marB="0" anchor="ctr"/>
                </a:tc>
                <a:extLst>
                  <a:ext uri="{0D108BD9-81ED-4DB2-BD59-A6C34878D82A}">
                    <a16:rowId xmlns:a16="http://schemas.microsoft.com/office/drawing/2014/main" val="2116662300"/>
                  </a:ext>
                </a:extLst>
              </a:tr>
              <a:tr h="186390">
                <a:tc>
                  <a:txBody>
                    <a:bodyPr/>
                    <a:lstStyle/>
                    <a:p>
                      <a:pPr marL="0" marR="0" lvl="0" indent="0" algn="ctr" rtl="0">
                        <a:spcBef>
                          <a:spcPts val="0"/>
                        </a:spcBef>
                        <a:spcAft>
                          <a:spcPts val="0"/>
                        </a:spcAft>
                        <a:buNone/>
                      </a:pPr>
                      <a:r>
                        <a:rPr lang="en-US" sz="900" dirty="0">
                          <a:solidFill>
                            <a:srgbClr val="7030A0"/>
                          </a:solidFill>
                        </a:rPr>
                        <a:t>PNH</a:t>
                      </a:r>
                      <a:endParaRPr sz="900" dirty="0">
                        <a:solidFill>
                          <a:srgbClr val="7030A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7030A0"/>
                          </a:solidFill>
                        </a:rPr>
                        <a:t>캄보디아 프놈펜</a:t>
                      </a:r>
                      <a:endParaRPr sz="900" b="0" dirty="0">
                        <a:solidFill>
                          <a:srgbClr val="7030A0"/>
                        </a:solidFill>
                      </a:endParaRPr>
                    </a:p>
                  </a:txBody>
                  <a:tcPr marL="0" marR="0" marT="0" marB="0" anchor="ctr"/>
                </a:tc>
                <a:extLst>
                  <a:ext uri="{0D108BD9-81ED-4DB2-BD59-A6C34878D82A}">
                    <a16:rowId xmlns:a16="http://schemas.microsoft.com/office/drawing/2014/main" val="2526617030"/>
                  </a:ext>
                </a:extLst>
              </a:tr>
              <a:tr h="186390">
                <a:tc>
                  <a:txBody>
                    <a:bodyPr/>
                    <a:lstStyle/>
                    <a:p>
                      <a:pPr marL="0" marR="0" lvl="0" indent="0" algn="ctr" rtl="0">
                        <a:spcBef>
                          <a:spcPts val="0"/>
                        </a:spcBef>
                        <a:spcAft>
                          <a:spcPts val="0"/>
                        </a:spcAft>
                        <a:buNone/>
                      </a:pPr>
                      <a:r>
                        <a:rPr lang="en-US" sz="900" dirty="0">
                          <a:solidFill>
                            <a:srgbClr val="7030A0"/>
                          </a:solidFill>
                        </a:rPr>
                        <a:t>MNL</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필리핀 마닐라</a:t>
                      </a:r>
                      <a:r>
                        <a:rPr lang="en-US" altLang="ko-KR" sz="900" b="0" dirty="0">
                          <a:solidFill>
                            <a:srgbClr val="7030A0"/>
                          </a:solidFill>
                        </a:rPr>
                        <a:t>/</a:t>
                      </a:r>
                      <a:r>
                        <a:rPr lang="ko-KR" altLang="en-US" sz="900" b="0" dirty="0" err="1">
                          <a:solidFill>
                            <a:srgbClr val="7030A0"/>
                          </a:solidFill>
                        </a:rPr>
                        <a:t>니노이</a:t>
                      </a:r>
                      <a:r>
                        <a:rPr lang="ko-KR" altLang="en-US" sz="900" b="0" dirty="0">
                          <a:solidFill>
                            <a:srgbClr val="7030A0"/>
                          </a:solidFill>
                        </a:rPr>
                        <a:t> </a:t>
                      </a:r>
                      <a:r>
                        <a:rPr lang="ko-KR" altLang="en-US" sz="900" b="0" dirty="0" err="1">
                          <a:solidFill>
                            <a:srgbClr val="7030A0"/>
                          </a:solidFill>
                        </a:rPr>
                        <a:t>아키노</a:t>
                      </a:r>
                      <a:endParaRPr lang="ko-KR" altLang="en-US" sz="900" b="0" dirty="0">
                        <a:solidFill>
                          <a:srgbClr val="7030A0"/>
                        </a:solidFill>
                      </a:endParaRPr>
                    </a:p>
                  </a:txBody>
                  <a:tcPr marL="0" marR="0" marT="0" marB="0" anchor="ctr"/>
                </a:tc>
                <a:extLst>
                  <a:ext uri="{0D108BD9-81ED-4DB2-BD59-A6C34878D82A}">
                    <a16:rowId xmlns:a16="http://schemas.microsoft.com/office/drawing/2014/main" val="2194080171"/>
                  </a:ext>
                </a:extLst>
              </a:tr>
              <a:tr h="186390">
                <a:tc>
                  <a:txBody>
                    <a:bodyPr/>
                    <a:lstStyle/>
                    <a:p>
                      <a:pPr marL="0" marR="0" lvl="0" indent="0" algn="ctr" rtl="0">
                        <a:spcBef>
                          <a:spcPts val="0"/>
                        </a:spcBef>
                        <a:spcAft>
                          <a:spcPts val="0"/>
                        </a:spcAft>
                        <a:buNone/>
                      </a:pPr>
                      <a:r>
                        <a:rPr lang="en-US" sz="900" dirty="0">
                          <a:solidFill>
                            <a:srgbClr val="7030A0"/>
                          </a:solidFill>
                        </a:rPr>
                        <a:t>TPE</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타이완</a:t>
                      </a:r>
                      <a:r>
                        <a:rPr lang="en-US" altLang="ko-KR" sz="900" b="0" dirty="0">
                          <a:solidFill>
                            <a:srgbClr val="7030A0"/>
                          </a:solidFill>
                        </a:rPr>
                        <a:t>/</a:t>
                      </a:r>
                      <a:r>
                        <a:rPr lang="ko-KR" altLang="en-US" sz="900" b="0" dirty="0">
                          <a:solidFill>
                            <a:srgbClr val="7030A0"/>
                          </a:solidFill>
                        </a:rPr>
                        <a:t>타이페이 </a:t>
                      </a:r>
                      <a:r>
                        <a:rPr lang="ko-KR" altLang="en-US" sz="900" b="0" dirty="0" err="1">
                          <a:solidFill>
                            <a:srgbClr val="7030A0"/>
                          </a:solidFill>
                        </a:rPr>
                        <a:t>타오유엔</a:t>
                      </a:r>
                      <a:endParaRPr lang="ko-KR" altLang="en-US" sz="900" b="0" dirty="0">
                        <a:solidFill>
                          <a:srgbClr val="7030A0"/>
                        </a:solidFill>
                      </a:endParaRPr>
                    </a:p>
                  </a:txBody>
                  <a:tcPr marL="0" marR="0" marT="0" marB="0" anchor="ctr"/>
                </a:tc>
                <a:extLst>
                  <a:ext uri="{0D108BD9-81ED-4DB2-BD59-A6C34878D82A}">
                    <a16:rowId xmlns:a16="http://schemas.microsoft.com/office/drawing/2014/main" val="3544170142"/>
                  </a:ext>
                </a:extLst>
              </a:tr>
              <a:tr h="186390">
                <a:tc>
                  <a:txBody>
                    <a:bodyPr/>
                    <a:lstStyle/>
                    <a:p>
                      <a:pPr marL="0" marR="0" lvl="0" indent="0" algn="ctr" rtl="0">
                        <a:spcBef>
                          <a:spcPts val="0"/>
                        </a:spcBef>
                        <a:spcAft>
                          <a:spcPts val="0"/>
                        </a:spcAft>
                        <a:buNone/>
                      </a:pPr>
                      <a:r>
                        <a:rPr lang="en-US" sz="900" dirty="0">
                          <a:solidFill>
                            <a:srgbClr val="7030A0"/>
                          </a:solidFill>
                        </a:rPr>
                        <a:t>RMQ</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타이완</a:t>
                      </a:r>
                      <a:r>
                        <a:rPr lang="en-US" altLang="ko-KR" sz="900" b="0" dirty="0">
                          <a:solidFill>
                            <a:srgbClr val="7030A0"/>
                          </a:solidFill>
                        </a:rPr>
                        <a:t>/</a:t>
                      </a:r>
                      <a:r>
                        <a:rPr lang="ko-KR" altLang="en-US" sz="900" b="0" dirty="0">
                          <a:solidFill>
                            <a:srgbClr val="7030A0"/>
                          </a:solidFill>
                        </a:rPr>
                        <a:t>타이중 </a:t>
                      </a:r>
                      <a:r>
                        <a:rPr lang="ko-KR" altLang="en-US" sz="900" b="0" dirty="0" err="1">
                          <a:solidFill>
                            <a:srgbClr val="7030A0"/>
                          </a:solidFill>
                        </a:rPr>
                        <a:t>칭찬강</a:t>
                      </a:r>
                      <a:endParaRPr lang="ko-KR" altLang="en-US" sz="900" b="0" dirty="0">
                        <a:solidFill>
                          <a:srgbClr val="7030A0"/>
                        </a:solidFill>
                      </a:endParaRPr>
                    </a:p>
                  </a:txBody>
                  <a:tcPr marL="0" marR="0" marT="0" marB="0" anchor="ctr"/>
                </a:tc>
                <a:extLst>
                  <a:ext uri="{0D108BD9-81ED-4DB2-BD59-A6C34878D82A}">
                    <a16:rowId xmlns:a16="http://schemas.microsoft.com/office/drawing/2014/main" val="3792024321"/>
                  </a:ext>
                </a:extLst>
              </a:tr>
              <a:tr h="186390">
                <a:tc>
                  <a:txBody>
                    <a:bodyPr/>
                    <a:lstStyle/>
                    <a:p>
                      <a:pPr marL="0" marR="0" lvl="0" indent="0" algn="ctr" rtl="0">
                        <a:spcBef>
                          <a:spcPts val="0"/>
                        </a:spcBef>
                        <a:spcAft>
                          <a:spcPts val="0"/>
                        </a:spcAft>
                        <a:buNone/>
                      </a:pPr>
                      <a:r>
                        <a:rPr lang="en-US" sz="900" dirty="0">
                          <a:solidFill>
                            <a:srgbClr val="FFFF00"/>
                          </a:solidFill>
                        </a:rPr>
                        <a:t>PGUM</a:t>
                      </a:r>
                      <a:endParaRPr sz="900" dirty="0">
                        <a:solidFill>
                          <a:srgbClr val="FFFF00"/>
                        </a:solidFill>
                      </a:endParaRPr>
                    </a:p>
                  </a:txBody>
                  <a:tcPr marL="0" marR="0" marT="0" marB="0" anchor="ctr"/>
                </a:tc>
                <a:tc>
                  <a:txBody>
                    <a:bodyPr/>
                    <a:lstStyle/>
                    <a:p>
                      <a:pPr marL="0" marR="0" lvl="0" indent="0" algn="ctr" rtl="0">
                        <a:spcBef>
                          <a:spcPts val="0"/>
                        </a:spcBef>
                        <a:spcAft>
                          <a:spcPts val="0"/>
                        </a:spcAft>
                        <a:buNone/>
                      </a:pPr>
                      <a:r>
                        <a:rPr lang="ko-KR" altLang="en-US" sz="900" b="0" dirty="0">
                          <a:solidFill>
                            <a:srgbClr val="FFFF00"/>
                          </a:solidFill>
                        </a:rPr>
                        <a:t>괌</a:t>
                      </a:r>
                      <a:endParaRPr sz="900" b="0" dirty="0">
                        <a:solidFill>
                          <a:srgbClr val="FFFF00"/>
                        </a:solidFill>
                      </a:endParaRPr>
                    </a:p>
                  </a:txBody>
                  <a:tcPr marL="0" marR="0" marT="0" marB="0" anchor="ctr"/>
                </a:tc>
                <a:extLst>
                  <a:ext uri="{0D108BD9-81ED-4DB2-BD59-A6C34878D82A}">
                    <a16:rowId xmlns:a16="http://schemas.microsoft.com/office/drawing/2014/main" val="132924141"/>
                  </a:ext>
                </a:extLst>
              </a:tr>
              <a:tr h="186390">
                <a:tc>
                  <a:txBody>
                    <a:bodyPr/>
                    <a:lstStyle/>
                    <a:p>
                      <a:pPr marL="0" marR="0" lvl="0" indent="0" algn="ctr" rtl="0">
                        <a:spcBef>
                          <a:spcPts val="0"/>
                        </a:spcBef>
                        <a:spcAft>
                          <a:spcPts val="0"/>
                        </a:spcAft>
                        <a:buNone/>
                      </a:pPr>
                      <a:r>
                        <a:rPr lang="en-US" sz="900" dirty="0">
                          <a:solidFill>
                            <a:srgbClr val="7030A0"/>
                          </a:solidFill>
                        </a:rPr>
                        <a:t>BKK</a:t>
                      </a:r>
                      <a:endParaRPr sz="900" dirty="0">
                        <a:solidFill>
                          <a:srgbClr val="7030A0"/>
                        </a:solidFil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900" b="0" dirty="0">
                          <a:solidFill>
                            <a:srgbClr val="7030A0"/>
                          </a:solidFill>
                        </a:rPr>
                        <a:t>방콕</a:t>
                      </a:r>
                      <a:r>
                        <a:rPr lang="en-US" altLang="ko-KR" sz="900" b="0" dirty="0">
                          <a:solidFill>
                            <a:srgbClr val="7030A0"/>
                          </a:solidFill>
                        </a:rPr>
                        <a:t>/</a:t>
                      </a:r>
                      <a:r>
                        <a:rPr lang="ko-KR" altLang="en-US" sz="900" b="0" dirty="0" err="1">
                          <a:solidFill>
                            <a:srgbClr val="7030A0"/>
                          </a:solidFill>
                        </a:rPr>
                        <a:t>수완나폼</a:t>
                      </a:r>
                      <a:endParaRPr lang="ko-KR" altLang="en-US" sz="900" b="0" dirty="0">
                        <a:solidFill>
                          <a:srgbClr val="7030A0"/>
                        </a:solidFill>
                      </a:endParaRPr>
                    </a:p>
                  </a:txBody>
                  <a:tcPr marL="0" marR="0" marT="0" marB="0" anchor="ctr"/>
                </a:tc>
                <a:extLst>
                  <a:ext uri="{0D108BD9-81ED-4DB2-BD59-A6C34878D82A}">
                    <a16:rowId xmlns:a16="http://schemas.microsoft.com/office/drawing/2014/main" val="2783088539"/>
                  </a:ext>
                </a:extLst>
              </a:tr>
            </a:tbl>
          </a:graphicData>
        </a:graphic>
      </p:graphicFrame>
      <p:sp>
        <p:nvSpPr>
          <p:cNvPr id="3" name="직사각형 2">
            <a:hlinkClick r:id="" action="ppaction://hlinkshowjump?jump=firstslide"/>
            <a:extLst>
              <a:ext uri="{FF2B5EF4-FFF2-40B4-BE49-F238E27FC236}">
                <a16:creationId xmlns:a16="http://schemas.microsoft.com/office/drawing/2014/main" id="{F54BE12C-20D3-D21D-7388-B79C76711DD9}"/>
              </a:ext>
            </a:extLst>
          </p:cNvPr>
          <p:cNvSpPr/>
          <p:nvPr/>
        </p:nvSpPr>
        <p:spPr>
          <a:xfrm>
            <a:off x="723414" y="527797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TextBox 1">
            <a:extLst>
              <a:ext uri="{FF2B5EF4-FFF2-40B4-BE49-F238E27FC236}">
                <a16:creationId xmlns:a16="http://schemas.microsoft.com/office/drawing/2014/main" id="{9A2AD511-3D77-5056-7372-44C616778F18}"/>
              </a:ext>
            </a:extLst>
          </p:cNvPr>
          <p:cNvSpPr txBox="1"/>
          <p:nvPr/>
        </p:nvSpPr>
        <p:spPr>
          <a:xfrm>
            <a:off x="1637044" y="5229777"/>
            <a:ext cx="722812" cy="338554"/>
          </a:xfrm>
          <a:prstGeom prst="rect">
            <a:avLst/>
          </a:prstGeom>
          <a:noFill/>
        </p:spPr>
        <p:txBody>
          <a:bodyPr wrap="square" rtlCol="0">
            <a:spAutoFit/>
          </a:bodyPr>
          <a:lstStyle/>
          <a:p>
            <a:r>
              <a:rPr kumimoji="1" lang="ko-Kore-KR" altLang="en-US" sz="800" b="1" dirty="0">
                <a:solidFill>
                  <a:srgbClr val="FF0000"/>
                </a:solidFill>
              </a:rPr>
              <a:t>도착</a:t>
            </a:r>
            <a:r>
              <a:rPr kumimoji="1" lang="ko-KR" altLang="en-US" sz="800" b="1" dirty="0">
                <a:solidFill>
                  <a:srgbClr val="FF0000"/>
                </a:solidFill>
              </a:rPr>
              <a:t> 방송 </a:t>
            </a:r>
            <a:r>
              <a:rPr kumimoji="1" lang="en-US" altLang="ko-KR" sz="800" b="1" dirty="0">
                <a:solidFill>
                  <a:srgbClr val="FF0000"/>
                </a:solidFill>
              </a:rPr>
              <a:t>Next Page</a:t>
            </a:r>
            <a:endParaRPr kumimoji="1" lang="ko-Kore-KR" altLang="en-US" sz="800" b="1" dirty="0">
              <a:solidFill>
                <a:srgbClr val="FF0000"/>
              </a:solidFill>
            </a:endParaRPr>
          </a:p>
        </p:txBody>
      </p:sp>
    </p:spTree>
    <p:extLst>
      <p:ext uri="{BB962C8B-B14F-4D97-AF65-F5344CB8AC3E}">
        <p14:creationId xmlns:p14="http://schemas.microsoft.com/office/powerpoint/2010/main" val="118775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aphicFrame>
        <p:nvGraphicFramePr>
          <p:cNvPr id="370" name="Google Shape;370;p27"/>
          <p:cNvGraphicFramePr/>
          <p:nvPr>
            <p:extLst>
              <p:ext uri="{D42A27DB-BD31-4B8C-83A1-F6EECF244321}">
                <p14:modId xmlns:p14="http://schemas.microsoft.com/office/powerpoint/2010/main" val="2608306669"/>
              </p:ext>
            </p:extLst>
          </p:nvPr>
        </p:nvGraphicFramePr>
        <p:xfrm>
          <a:off x="0" y="0"/>
          <a:ext cx="2328876" cy="4921399"/>
        </p:xfrm>
        <a:graphic>
          <a:graphicData uri="http://schemas.openxmlformats.org/drawingml/2006/table">
            <a:tbl>
              <a:tblPr firstRow="1" bandRow="1">
                <a:noFill/>
                <a:tableStyleId>{A521BE36-7E6F-4EC9-8D66-1CF97A6895EC}</a:tableStyleId>
              </a:tblPr>
              <a:tblGrid>
                <a:gridCol w="1164438">
                  <a:extLst>
                    <a:ext uri="{9D8B030D-6E8A-4147-A177-3AD203B41FA5}">
                      <a16:colId xmlns:a16="http://schemas.microsoft.com/office/drawing/2014/main" val="20000"/>
                    </a:ext>
                  </a:extLst>
                </a:gridCol>
                <a:gridCol w="272476">
                  <a:extLst>
                    <a:ext uri="{9D8B030D-6E8A-4147-A177-3AD203B41FA5}">
                      <a16:colId xmlns:a16="http://schemas.microsoft.com/office/drawing/2014/main" val="2595559527"/>
                    </a:ext>
                  </a:extLst>
                </a:gridCol>
                <a:gridCol w="891962">
                  <a:extLst>
                    <a:ext uri="{9D8B030D-6E8A-4147-A177-3AD203B41FA5}">
                      <a16:colId xmlns:a16="http://schemas.microsoft.com/office/drawing/2014/main" val="1608007032"/>
                    </a:ext>
                  </a:extLst>
                </a:gridCol>
              </a:tblGrid>
              <a:tr h="0">
                <a:tc gridSpan="3">
                  <a:txBody>
                    <a:bodyPr/>
                    <a:lstStyle/>
                    <a:p>
                      <a:pPr marL="0" marR="0" lvl="0" indent="0" algn="l" rtl="0">
                        <a:spcBef>
                          <a:spcPts val="0"/>
                        </a:spcBef>
                        <a:spcAft>
                          <a:spcPts val="0"/>
                        </a:spcAft>
                        <a:buNone/>
                      </a:pPr>
                      <a:r>
                        <a:rPr lang="ko-KR" altLang="en-US" sz="1000" b="1" dirty="0">
                          <a:latin typeface="Calibri"/>
                          <a:ea typeface="Calibri"/>
                          <a:cs typeface="Calibri"/>
                          <a:sym typeface="Calibri"/>
                        </a:rPr>
                        <a:t>도착</a:t>
                      </a:r>
                      <a:r>
                        <a:rPr lang="en-US" sz="1000" b="1" dirty="0">
                          <a:latin typeface="Calibri"/>
                          <a:ea typeface="Calibri"/>
                          <a:cs typeface="Calibri"/>
                          <a:sym typeface="Calibri"/>
                        </a:rPr>
                        <a:t> </a:t>
                      </a:r>
                      <a:r>
                        <a:rPr lang="ko-KR" altLang="en-US" sz="1000" b="1" dirty="0">
                          <a:latin typeface="Calibri"/>
                          <a:ea typeface="Calibri"/>
                          <a:cs typeface="Calibri"/>
                          <a:sym typeface="Calibri"/>
                        </a:rPr>
                        <a:t>방송 </a:t>
                      </a:r>
                      <a:r>
                        <a:rPr lang="en-US" altLang="ko-KR" sz="1000" b="1" dirty="0">
                          <a:latin typeface="Calibri"/>
                          <a:ea typeface="Calibri"/>
                          <a:cs typeface="Calibri"/>
                          <a:sym typeface="Calibri"/>
                        </a:rPr>
                        <a:t>(5</a:t>
                      </a:r>
                      <a:r>
                        <a:rPr lang="ko-KR" altLang="en-US" sz="1000" b="1" dirty="0">
                          <a:latin typeface="Calibri"/>
                          <a:ea typeface="Calibri"/>
                          <a:cs typeface="Calibri"/>
                          <a:sym typeface="Calibri"/>
                        </a:rPr>
                        <a:t>시간이상</a:t>
                      </a:r>
                      <a:r>
                        <a:rPr lang="en-US" altLang="ko-KR" sz="1000" b="1" dirty="0">
                          <a:latin typeface="Calibri"/>
                          <a:ea typeface="Calibri"/>
                          <a:cs typeface="Calibri"/>
                          <a:sym typeface="Calibri"/>
                        </a:rPr>
                        <a:t>,</a:t>
                      </a:r>
                      <a:r>
                        <a:rPr lang="ko-KR" altLang="en-US" sz="1000" b="1" dirty="0">
                          <a:latin typeface="Calibri"/>
                          <a:ea typeface="Calibri"/>
                          <a:cs typeface="Calibri"/>
                          <a:sym typeface="Calibri"/>
                        </a:rPr>
                        <a:t> </a:t>
                      </a:r>
                      <a:r>
                        <a:rPr lang="en-US" altLang="ko-KR" sz="1000" b="1" dirty="0">
                          <a:latin typeface="Calibri"/>
                          <a:ea typeface="Calibri"/>
                          <a:cs typeface="Calibri"/>
                          <a:sym typeface="Calibri"/>
                        </a:rPr>
                        <a:t>40</a:t>
                      </a:r>
                      <a:r>
                        <a:rPr lang="ko-KR" altLang="en-US" sz="1000" b="1" dirty="0">
                          <a:latin typeface="Calibri"/>
                          <a:ea typeface="Calibri"/>
                          <a:cs typeface="Calibri"/>
                          <a:sym typeface="Calibri"/>
                        </a:rPr>
                        <a:t>분전</a:t>
                      </a:r>
                      <a:r>
                        <a:rPr lang="en-US" altLang="ko-KR" sz="1000" b="1" dirty="0">
                          <a:latin typeface="Calibri"/>
                          <a:ea typeface="Calibri"/>
                          <a:cs typeface="Calibri"/>
                          <a:sym typeface="Calibri"/>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ko-KR" altLang="en-US" sz="1000" b="0" dirty="0">
                          <a:solidFill>
                            <a:srgbClr val="FFC000"/>
                          </a:solidFill>
                          <a:latin typeface="Calibri"/>
                          <a:ea typeface="Calibri"/>
                          <a:cs typeface="Calibri"/>
                          <a:sym typeface="Calibri"/>
                        </a:rPr>
                        <a:t>출발지 기준 </a:t>
                      </a:r>
                      <a:r>
                        <a:rPr lang="en-US" altLang="ko-KR" sz="1000" b="0" dirty="0">
                          <a:solidFill>
                            <a:srgbClr val="FFC000"/>
                          </a:solidFill>
                          <a:latin typeface="Calibri"/>
                          <a:ea typeface="Calibri"/>
                          <a:cs typeface="Calibri"/>
                          <a:sym typeface="Calibri"/>
                        </a:rPr>
                        <a:t>2200-0800</a:t>
                      </a:r>
                      <a:r>
                        <a:rPr lang="ko-KR" altLang="en-US" sz="1000" b="0" dirty="0">
                          <a:solidFill>
                            <a:srgbClr val="FFC000"/>
                          </a:solidFill>
                          <a:latin typeface="Calibri"/>
                          <a:ea typeface="Calibri"/>
                          <a:cs typeface="Calibri"/>
                          <a:sym typeface="Calibri"/>
                        </a:rPr>
                        <a:t> </a:t>
                      </a:r>
                      <a:r>
                        <a:rPr lang="en-US" altLang="ko-KR" sz="1000" b="0" dirty="0">
                          <a:solidFill>
                            <a:srgbClr val="FFC000"/>
                          </a:solidFill>
                          <a:latin typeface="Calibri"/>
                          <a:ea typeface="Calibri"/>
                          <a:cs typeface="Calibri"/>
                          <a:sym typeface="Calibri"/>
                        </a:rPr>
                        <a:t>Quiet Hour </a:t>
                      </a:r>
                      <a:endParaRPr lang="en-US" altLang="ko-Kore-KR" sz="1000" b="0" dirty="0">
                        <a:solidFill>
                          <a:srgbClr val="FFC000"/>
                        </a:solidFill>
                        <a:latin typeface="Calibri"/>
                        <a:ea typeface="Calibri"/>
                        <a:cs typeface="Calibri"/>
                        <a:sym typeface="Calibri"/>
                      </a:endParaRPr>
                    </a:p>
                  </a:txBody>
                  <a:tcPr marL="91450" marR="91450" marT="45725" marB="45725"/>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574756">
                <a:tc gridSpan="3">
                  <a:txBody>
                    <a:bodyPr/>
                    <a:lstStyle/>
                    <a:p>
                      <a:pPr marL="0" marR="0" lvl="0" indent="0" algn="l" rtl="0">
                        <a:lnSpc>
                          <a:spcPct val="150000"/>
                        </a:lnSpc>
                        <a:spcBef>
                          <a:spcPts val="0"/>
                        </a:spcBef>
                        <a:spcAft>
                          <a:spcPts val="0"/>
                        </a:spcAft>
                        <a:buNone/>
                      </a:pPr>
                      <a:r>
                        <a:rPr lang="en-US" sz="800" b="1" dirty="0" err="1">
                          <a:latin typeface="Calibri"/>
                          <a:ea typeface="Calibri"/>
                          <a:cs typeface="Calibri"/>
                          <a:sym typeface="Calibri"/>
                        </a:rPr>
                        <a:t>손님</a:t>
                      </a:r>
                      <a:r>
                        <a:rPr lang="en-US" sz="800" b="1" dirty="0">
                          <a:latin typeface="Calibri"/>
                          <a:ea typeface="Calibri"/>
                          <a:cs typeface="Calibri"/>
                          <a:sym typeface="Calibri"/>
                        </a:rPr>
                        <a:t> </a:t>
                      </a:r>
                      <a:r>
                        <a:rPr lang="en-US" sz="800" b="1" dirty="0" err="1">
                          <a:latin typeface="Calibri"/>
                          <a:ea typeface="Calibri"/>
                          <a:cs typeface="Calibri"/>
                          <a:sym typeface="Calibri"/>
                        </a:rPr>
                        <a:t>여러분</a:t>
                      </a:r>
                      <a:r>
                        <a:rPr lang="en-US" sz="800" b="1" dirty="0">
                          <a:latin typeface="Calibri"/>
                          <a:ea typeface="Calibri"/>
                          <a:cs typeface="Calibri"/>
                          <a:sym typeface="Calibri"/>
                        </a:rPr>
                        <a:t>, </a:t>
                      </a:r>
                      <a:r>
                        <a:rPr lang="ko-KR" altLang="en-US" sz="800" b="1" dirty="0">
                          <a:latin typeface="Calibri"/>
                          <a:ea typeface="Calibri"/>
                          <a:cs typeface="Calibri"/>
                          <a:sym typeface="Calibri"/>
                        </a:rPr>
                        <a:t>저는 기장입니다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우리 비행기는 앞으로 약 </a:t>
                      </a:r>
                      <a:r>
                        <a:rPr lang="en-US" altLang="ko-KR" sz="800" b="1" dirty="0">
                          <a:latin typeface="Calibri"/>
                          <a:ea typeface="Calibri"/>
                          <a:cs typeface="Calibri"/>
                          <a:sym typeface="Calibri"/>
                        </a:rPr>
                        <a:t>(40)</a:t>
                      </a:r>
                      <a:r>
                        <a:rPr lang="ko-KR" altLang="en-US" sz="800" b="1" dirty="0">
                          <a:latin typeface="Calibri"/>
                          <a:ea typeface="Calibri"/>
                          <a:cs typeface="Calibri"/>
                          <a:sym typeface="Calibri"/>
                        </a:rPr>
                        <a:t>분 후에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국제공항에 착륙 예정입니다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ko-Kore-KR" altLang="en-US" sz="800" dirty="0"/>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현재 공항의 날씨는 ◐</a:t>
                      </a:r>
                      <a:r>
                        <a:rPr lang="en-US" altLang="ko-KR" sz="800" b="1" dirty="0">
                          <a:latin typeface="Calibri"/>
                          <a:ea typeface="Calibri"/>
                          <a:cs typeface="Calibri"/>
                          <a:sym typeface="Calibri"/>
                        </a:rPr>
                        <a:t>___,</a:t>
                      </a:r>
                      <a:r>
                        <a:rPr lang="ko-KR" altLang="en-US" sz="800" b="1" dirty="0">
                          <a:latin typeface="Calibri"/>
                          <a:ea typeface="Calibri"/>
                          <a:cs typeface="Calibri"/>
                          <a:sym typeface="Calibri"/>
                        </a:rPr>
                        <a:t> 기온은 섭씨 </a:t>
                      </a:r>
                      <a:r>
                        <a:rPr lang="en-US" altLang="ko-KR" sz="800" b="1" dirty="0">
                          <a:latin typeface="Calibri"/>
                          <a:ea typeface="Calibri"/>
                          <a:cs typeface="Calibri"/>
                          <a:sym typeface="Calibri"/>
                        </a:rPr>
                        <a:t>__</a:t>
                      </a:r>
                      <a:r>
                        <a:rPr lang="ko-KR" altLang="en-US" sz="800" b="1" dirty="0">
                          <a:latin typeface="Calibri"/>
                          <a:ea typeface="Calibri"/>
                          <a:cs typeface="Calibri"/>
                          <a:sym typeface="Calibri"/>
                        </a:rPr>
                        <a:t>도 입니다</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endParaRPr lang="en-US" altLang="ko-KR" sz="800" b="1" dirty="0">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1"/>
                  </a:ext>
                </a:extLst>
              </a:tr>
              <a:tr h="323911">
                <a:tc gridSpan="2">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맑으며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다소</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흐리며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이슬</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비가 내리며</a:t>
                      </a: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소나기가 내리며 </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바람이 불고 있으며</a:t>
                      </a:r>
                      <a:endParaRPr lang="en-US" altLang="ko-KR" sz="600" b="1" dirty="0">
                        <a:latin typeface="Calibri"/>
                        <a:ea typeface="Calibri"/>
                        <a:cs typeface="Calibri"/>
                        <a:sym typeface="Calibri"/>
                      </a:endParaRPr>
                    </a:p>
                  </a:txBody>
                  <a:tcPr marL="36000" marR="36000" marT="36000" marB="36000"/>
                </a:tc>
                <a:tc hMerge="1">
                  <a:txBody>
                    <a:bodyPr/>
                    <a:lstStyle/>
                    <a:p>
                      <a:endParaRPr lang="ko-Kore-KR" altLang="en-US"/>
                    </a:p>
                  </a:txBody>
                  <a:tcPr/>
                </a:tc>
                <a:tc>
                  <a:txBody>
                    <a:bodyPr/>
                    <a:lstStyle/>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눈이 오고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en-US" altLang="ko-KR" sz="600" b="1" dirty="0">
                          <a:latin typeface="Calibri"/>
                          <a:ea typeface="Calibri"/>
                          <a:cs typeface="Calibri"/>
                          <a:sym typeface="Calibri"/>
                        </a:rPr>
                        <a:t>◐</a:t>
                      </a:r>
                      <a:r>
                        <a:rPr lang="ko-KR" altLang="en-US" sz="600" b="1" dirty="0">
                          <a:latin typeface="Calibri"/>
                          <a:ea typeface="Calibri"/>
                          <a:cs typeface="Calibri"/>
                          <a:sym typeface="Calibri"/>
                        </a:rPr>
                        <a:t> 안개가 끼어 있으며</a:t>
                      </a:r>
                      <a:endParaRPr lang="en-US" altLang="ko-KR" sz="600" b="1" dirty="0">
                        <a:latin typeface="Calibri"/>
                        <a:ea typeface="Calibri"/>
                        <a:cs typeface="Calibri"/>
                        <a:sym typeface="Calibri"/>
                      </a:endParaRPr>
                    </a:p>
                    <a:p>
                      <a:pPr marL="0" marR="0" lvl="0" indent="0" algn="l" rtl="0">
                        <a:lnSpc>
                          <a:spcPct val="150000"/>
                        </a:lnSpc>
                        <a:spcBef>
                          <a:spcPts val="0"/>
                        </a:spcBef>
                        <a:spcAft>
                          <a:spcPts val="0"/>
                        </a:spcAft>
                        <a:buNone/>
                      </a:pPr>
                      <a:r>
                        <a:rPr lang="ko-KR" altLang="en-US" sz="600" b="1" dirty="0">
                          <a:latin typeface="Calibri"/>
                          <a:ea typeface="Calibri"/>
                          <a:cs typeface="Calibri"/>
                          <a:sym typeface="Calibri"/>
                        </a:rPr>
                        <a:t>◐ 황사가 있으며</a:t>
                      </a:r>
                      <a:endParaRPr lang="en-US" altLang="ko-KR" sz="600" b="1" dirty="0">
                        <a:latin typeface="Calibri"/>
                        <a:ea typeface="Calibri"/>
                        <a:cs typeface="Calibri"/>
                        <a:sym typeface="Calibri"/>
                      </a:endParaRPr>
                    </a:p>
                  </a:txBody>
                  <a:tcPr marL="36000" marR="36000" marT="36000" marB="36000"/>
                </a:tc>
                <a:extLst>
                  <a:ext uri="{0D108BD9-81ED-4DB2-BD59-A6C34878D82A}">
                    <a16:rowId xmlns:a16="http://schemas.microsoft.com/office/drawing/2014/main" val="3804322827"/>
                  </a:ext>
                </a:extLst>
              </a:tr>
              <a:tr h="356733">
                <a:tc gridSpan="3">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지금 이곳의 시각은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월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일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요일</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오전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오후</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시 </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__</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분 입니다</a:t>
                      </a:r>
                      <a:r>
                        <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1" i="0" u="none" strike="noStrike" kern="0" cap="none" spc="0" normalizeH="0" baseline="0" noProof="0">
                          <a:ln>
                            <a:noFill/>
                          </a:ln>
                          <a:solidFill>
                            <a:srgbClr val="000000"/>
                          </a:solidFill>
                          <a:effectLst/>
                          <a:uLnTx/>
                          <a:uFillTx/>
                          <a:latin typeface="Calibri"/>
                          <a:ea typeface="Calibri"/>
                          <a:cs typeface="Calibri"/>
                          <a:sym typeface="Calibri"/>
                        </a:rPr>
                        <a:t>고맙습니다</a:t>
                      </a:r>
                      <a:r>
                        <a:rPr kumimoji="0" lang="en-US" altLang="ko-KR" sz="800" b="1" i="0" u="none" strike="noStrike" kern="0" cap="none" spc="0" normalizeH="0" baseline="0" noProof="0">
                          <a:ln>
                            <a:noFill/>
                          </a:ln>
                          <a:solidFill>
                            <a:srgbClr val="000000"/>
                          </a:solidFill>
                          <a:effectLst/>
                          <a:uLnTx/>
                          <a:uFillTx/>
                          <a:latin typeface="Calibri"/>
                          <a:ea typeface="Calibri"/>
                          <a:cs typeface="Calibri"/>
                          <a:sym typeface="Calibri"/>
                        </a:rPr>
                        <a:t>.</a:t>
                      </a:r>
                      <a:r>
                        <a:rPr kumimoji="0" lang="ko-KR" altLang="en-US" sz="800" b="1" i="0" u="none" strike="noStrike" kern="0" cap="none" spc="0" normalizeH="0" baseline="0" noProof="0" dirty="0">
                          <a:ln>
                            <a:noFill/>
                          </a:ln>
                          <a:solidFill>
                            <a:srgbClr val="000000"/>
                          </a:solidFill>
                          <a:effectLst/>
                          <a:uLnTx/>
                          <a:uFillTx/>
                          <a:latin typeface="Calibri"/>
                          <a:ea typeface="Calibri"/>
                          <a:cs typeface="Calibri"/>
                          <a:sym typeface="Calibri"/>
                        </a:rPr>
                        <a:t> </a:t>
                      </a:r>
                      <a:endParaRPr kumimoji="0" lang="en-US" altLang="ko-KR" sz="800" b="1" i="0" u="none" strike="noStrike" kern="0" cap="none" spc="0" normalizeH="0" baseline="0" noProof="0" dirty="0">
                        <a:ln>
                          <a:noFill/>
                        </a:ln>
                        <a:solidFill>
                          <a:srgbClr val="000000"/>
                        </a:solidFill>
                        <a:effectLst/>
                        <a:uLnTx/>
                        <a:uFillTx/>
                        <a:latin typeface="Calibri"/>
                        <a:ea typeface="Calibri"/>
                        <a:cs typeface="Calibri"/>
                        <a:sym typeface="Calibri"/>
                      </a:endParaRP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591553393"/>
                  </a:ext>
                </a:extLst>
              </a:tr>
              <a:tr h="280822">
                <a:tc gridSpan="3">
                  <a:txBody>
                    <a:bodyPr/>
                    <a:lstStyle/>
                    <a:p>
                      <a:pPr marL="0" marR="0" lvl="0" indent="0" algn="l" rtl="0">
                        <a:lnSpc>
                          <a:spcPct val="150000"/>
                        </a:lnSpc>
                        <a:spcBef>
                          <a:spcPts val="0"/>
                        </a:spcBef>
                        <a:spcAft>
                          <a:spcPts val="0"/>
                        </a:spcAft>
                        <a:buNone/>
                      </a:pPr>
                      <a:r>
                        <a:rPr lang="en-US" altLang="ko-KR" sz="800" b="1" dirty="0">
                          <a:latin typeface="Calibri"/>
                          <a:ea typeface="Calibri"/>
                          <a:cs typeface="Calibri"/>
                          <a:sym typeface="Calibri"/>
                        </a:rPr>
                        <a:t>L</a:t>
                      </a:r>
                      <a:r>
                        <a:rPr lang="en-US" sz="800" b="1" dirty="0">
                          <a:latin typeface="Calibri"/>
                          <a:ea typeface="Calibri"/>
                          <a:cs typeface="Calibri"/>
                          <a:sym typeface="Calibri"/>
                        </a:rPr>
                        <a:t>adies and gentlemen</a:t>
                      </a:r>
                      <a:r>
                        <a:rPr lang="en-US" altLang="ko-KR" sz="800" b="1" dirty="0">
                          <a:latin typeface="Calibri"/>
                          <a:ea typeface="Calibri"/>
                          <a:cs typeface="Calibri"/>
                          <a:sym typeface="Calibri"/>
                        </a:rPr>
                        <a:t>,</a:t>
                      </a:r>
                      <a:r>
                        <a:rPr lang="ko-KR" altLang="en-US" sz="800" b="1" dirty="0">
                          <a:latin typeface="Calibri"/>
                          <a:ea typeface="Calibri"/>
                          <a:cs typeface="Calibri"/>
                          <a:sym typeface="Calibri"/>
                        </a:rPr>
                        <a:t> </a:t>
                      </a:r>
                      <a:r>
                        <a:rPr lang="en-US" altLang="ko-KR" sz="800" b="1" dirty="0">
                          <a:latin typeface="Calibri"/>
                          <a:ea typeface="Calibri"/>
                          <a:cs typeface="Calibri"/>
                          <a:sym typeface="Calibri"/>
                        </a:rPr>
                        <a:t>t</a:t>
                      </a:r>
                      <a:r>
                        <a:rPr lang="en-US" sz="800" b="1" dirty="0">
                          <a:latin typeface="Calibri"/>
                          <a:ea typeface="Calibri"/>
                          <a:cs typeface="Calibri"/>
                          <a:sym typeface="Calibri"/>
                        </a:rPr>
                        <a:t>his is </a:t>
                      </a:r>
                      <a:r>
                        <a:rPr lang="en-US" altLang="ko-KR" sz="800" b="1" u="sng" dirty="0">
                          <a:latin typeface="Calibri"/>
                          <a:ea typeface="Calibri"/>
                          <a:cs typeface="Calibri"/>
                          <a:sym typeface="Calibri"/>
                        </a:rPr>
                        <a:t>the</a:t>
                      </a:r>
                      <a:r>
                        <a:rPr lang="ko-KR" altLang="en-US" sz="800" b="1" dirty="0">
                          <a:latin typeface="Calibri"/>
                          <a:ea typeface="Calibri"/>
                          <a:cs typeface="Calibri"/>
                          <a:sym typeface="Calibri"/>
                        </a:rPr>
                        <a:t> </a:t>
                      </a:r>
                      <a:r>
                        <a:rPr lang="en-US" sz="800" b="1" dirty="0">
                          <a:latin typeface="Calibri"/>
                          <a:ea typeface="Calibri"/>
                          <a:cs typeface="Calibri"/>
                          <a:sym typeface="Calibri"/>
                        </a:rPr>
                        <a:t>captain</a:t>
                      </a:r>
                      <a:r>
                        <a:rPr lang="ko-KR" altLang="en-US" sz="800" b="1" dirty="0">
                          <a:latin typeface="Calibri"/>
                          <a:ea typeface="Calibri"/>
                          <a:cs typeface="Calibri"/>
                          <a:sym typeface="Calibri"/>
                        </a:rPr>
                        <a:t> </a:t>
                      </a:r>
                      <a:r>
                        <a:rPr lang="en-US" sz="800" b="1" dirty="0">
                          <a:latin typeface="Calibri"/>
                          <a:ea typeface="Calibri"/>
                          <a:cs typeface="Calibri"/>
                          <a:sym typeface="Calibri"/>
                        </a:rPr>
                        <a:t>speaking. </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We expect to land at __ international airport in about (40) minutes.</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temperature at ___ is __ degrees Celsius, or __ degrees Fahrenheit </a:t>
                      </a:r>
                      <a:r>
                        <a:rPr lang="en-US" altLang="ko-KR" sz="700" b="0" dirty="0">
                          <a:solidFill>
                            <a:srgbClr val="00B050"/>
                          </a:solidFill>
                          <a:latin typeface="Calibri"/>
                          <a:ea typeface="Calibri"/>
                          <a:cs typeface="Calibri"/>
                          <a:sym typeface="Calibri"/>
                        </a:rPr>
                        <a:t>(</a:t>
                      </a:r>
                      <a:r>
                        <a:rPr lang="en-US" altLang="ko-Kore-KR" sz="700" b="0" dirty="0">
                          <a:solidFill>
                            <a:srgbClr val="00B050"/>
                          </a:solidFill>
                          <a:latin typeface="Calibri"/>
                          <a:ea typeface="Calibri"/>
                          <a:cs typeface="Calibri"/>
                          <a:sym typeface="Calibri"/>
                        </a:rPr>
                        <a:t>OPT </a:t>
                      </a:r>
                      <a:r>
                        <a:rPr lang="ko-KR" altLang="en-US" sz="700" b="0" dirty="0">
                          <a:solidFill>
                            <a:srgbClr val="00B050"/>
                          </a:solidFill>
                          <a:latin typeface="Calibri"/>
                          <a:ea typeface="Calibri"/>
                          <a:cs typeface="Calibri"/>
                          <a:sym typeface="Calibri"/>
                        </a:rPr>
                        <a:t>참고</a:t>
                      </a:r>
                      <a:r>
                        <a:rPr lang="en-US" altLang="ko-KR" sz="700" b="0" dirty="0">
                          <a:solidFill>
                            <a:srgbClr val="00B050"/>
                          </a:solidFill>
                          <a:latin typeface="Calibri"/>
                          <a:ea typeface="Calibri"/>
                          <a:cs typeface="Calibri"/>
                          <a:sym typeface="Calibri"/>
                        </a:rPr>
                        <a:t>)</a:t>
                      </a:r>
                      <a:endParaRPr lang="en-US" altLang="ko-Kore-KR" sz="700" b="0" dirty="0">
                        <a:solidFill>
                          <a:srgbClr val="00B050"/>
                        </a:solidFill>
                        <a:latin typeface="Calibri"/>
                        <a:ea typeface="Calibri"/>
                        <a:cs typeface="Calibri"/>
                        <a:sym typeface="Calibri"/>
                      </a:endParaRP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and it is </a:t>
                      </a: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___. </a:t>
                      </a:r>
                    </a:p>
                  </a:txBody>
                  <a:tcPr marL="36000" marR="36000" marT="36000" marB="36000"/>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2"/>
                  </a:ext>
                </a:extLst>
              </a:tr>
              <a:tr h="213012">
                <a:tc>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(mostly) clear</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(partly) cloudy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drizzling / raining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windy</a:t>
                      </a:r>
                      <a:endParaRPr lang="ko-Kore-KR" altLang="en-US" sz="800" b="1" dirty="0">
                        <a:latin typeface="Calibri"/>
                        <a:ea typeface="Calibri"/>
                        <a:cs typeface="Calibri"/>
                        <a:sym typeface="Calibri"/>
                      </a:endParaRPr>
                    </a:p>
                  </a:txBody>
                  <a:tcPr marL="36000" marR="36000" marT="36000" marB="36000"/>
                </a:tc>
                <a:tc gridSpan="2">
                  <a:txBody>
                    <a:bodyPr/>
                    <a:lstStyle/>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snowing</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foggy</a:t>
                      </a:r>
                    </a:p>
                    <a:p>
                      <a:pPr marL="0" marR="0" lvl="0" indent="0" algn="l" rtl="0">
                        <a:lnSpc>
                          <a:spcPct val="150000"/>
                        </a:lnSpc>
                        <a:spcBef>
                          <a:spcPts val="0"/>
                        </a:spcBef>
                        <a:spcAft>
                          <a:spcPts val="0"/>
                        </a:spcAft>
                        <a:buNone/>
                      </a:pPr>
                      <a:r>
                        <a:rPr lang="ko-KR" altLang="en-US" sz="800" b="1" dirty="0">
                          <a:latin typeface="Calibri"/>
                          <a:ea typeface="Calibri"/>
                          <a:cs typeface="Calibri"/>
                          <a:sym typeface="Calibri"/>
                        </a:rPr>
                        <a:t>◐</a:t>
                      </a:r>
                      <a:r>
                        <a:rPr lang="en-US" altLang="ko-KR" sz="800" b="1" dirty="0">
                          <a:latin typeface="Calibri"/>
                          <a:ea typeface="Calibri"/>
                          <a:cs typeface="Calibri"/>
                          <a:sym typeface="Calibri"/>
                        </a:rPr>
                        <a:t> hazy or smoggy</a:t>
                      </a:r>
                    </a:p>
                  </a:txBody>
                  <a:tcPr marL="36000" marR="36000" marT="36000" marB="36000"/>
                </a:tc>
                <a:tc hMerge="1">
                  <a:txBody>
                    <a:bodyPr/>
                    <a:lstStyle/>
                    <a:p>
                      <a:endParaRPr lang="ko-Kore-KR" altLang="en-US"/>
                    </a:p>
                  </a:txBody>
                  <a:tcPr/>
                </a:tc>
                <a:extLst>
                  <a:ext uri="{0D108BD9-81ED-4DB2-BD59-A6C34878D82A}">
                    <a16:rowId xmlns:a16="http://schemas.microsoft.com/office/drawing/2014/main" val="4104669382"/>
                  </a:ext>
                </a:extLst>
              </a:tr>
              <a:tr h="500625">
                <a:tc gridSpan="3">
                  <a:txBody>
                    <a:bodyPr/>
                    <a:lstStyle/>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The current time is __ : __ </a:t>
                      </a:r>
                      <a:r>
                        <a:rPr lang="en-US" altLang="ko-Kore-KR" sz="800" b="1" dirty="0" err="1">
                          <a:latin typeface="Calibri"/>
                          <a:ea typeface="Calibri"/>
                          <a:cs typeface="Calibri"/>
                          <a:sym typeface="Calibri"/>
                        </a:rPr>
                        <a:t>a.m</a:t>
                      </a:r>
                      <a:r>
                        <a:rPr lang="en-US" altLang="ko-Kore-KR" sz="800" b="1" dirty="0">
                          <a:latin typeface="Calibri"/>
                          <a:ea typeface="Calibri"/>
                          <a:cs typeface="Calibri"/>
                          <a:sym typeface="Calibri"/>
                        </a:rPr>
                        <a:t>(</a:t>
                      </a:r>
                      <a:r>
                        <a:rPr lang="en-US" altLang="ko-Kore-KR" sz="800" b="1" dirty="0" err="1">
                          <a:latin typeface="Calibri"/>
                          <a:ea typeface="Calibri"/>
                          <a:cs typeface="Calibri"/>
                          <a:sym typeface="Calibri"/>
                        </a:rPr>
                        <a:t>p.m</a:t>
                      </a:r>
                      <a:r>
                        <a:rPr lang="en-US" altLang="ko-Kore-KR" sz="800" b="1" dirty="0">
                          <a:latin typeface="Calibri"/>
                          <a:ea typeface="Calibri"/>
                          <a:cs typeface="Calibri"/>
                          <a:sym typeface="Calibri"/>
                        </a:rPr>
                        <a:t>), on (day-of-the-week), (month)(date).</a:t>
                      </a:r>
                    </a:p>
                    <a:p>
                      <a:pPr marL="0" marR="0" lvl="0" indent="0" algn="l" rtl="0">
                        <a:lnSpc>
                          <a:spcPct val="150000"/>
                        </a:lnSpc>
                        <a:spcBef>
                          <a:spcPts val="0"/>
                        </a:spcBef>
                        <a:spcAft>
                          <a:spcPts val="0"/>
                        </a:spcAft>
                        <a:buNone/>
                      </a:pPr>
                      <a:r>
                        <a:rPr lang="en-US" altLang="ko-Kore-KR" sz="800" b="1" dirty="0">
                          <a:latin typeface="Calibri"/>
                          <a:ea typeface="Calibri"/>
                          <a:cs typeface="Calibri"/>
                          <a:sym typeface="Calibri"/>
                        </a:rPr>
                        <a:t>Thank you for flying with us today.</a:t>
                      </a:r>
                      <a:endParaRPr lang="ko-Kore-KR" altLang="en-US" sz="800" b="1" dirty="0">
                        <a:latin typeface="Calibri"/>
                        <a:ea typeface="Calibri"/>
                        <a:cs typeface="Calibri"/>
                        <a:sym typeface="Calibri"/>
                      </a:endParaRPr>
                    </a:p>
                  </a:txBody>
                  <a:tcPr marL="36000" marR="36000" marT="36000" marB="36000"/>
                </a:tc>
                <a:tc hMerge="1">
                  <a:txBody>
                    <a:bodyPr/>
                    <a:lstStyle/>
                    <a:p>
                      <a:pPr marL="0" marR="0" lvl="0" indent="0" algn="l" rtl="0">
                        <a:spcBef>
                          <a:spcPts val="0"/>
                        </a:spcBef>
                        <a:spcAft>
                          <a:spcPts val="0"/>
                        </a:spcAft>
                        <a:buNone/>
                      </a:pPr>
                      <a:endParaRPr lang="ko-Kore-KR" altLang="en-US" sz="800" b="1" dirty="0">
                        <a:latin typeface="Calibri"/>
                        <a:ea typeface="Calibri"/>
                        <a:cs typeface="Calibri"/>
                        <a:sym typeface="Calibri"/>
                      </a:endParaRPr>
                    </a:p>
                  </a:txBody>
                  <a:tcPr marL="36000" marR="36000" marT="36000" marB="36000"/>
                </a:tc>
                <a:tc hMerge="1">
                  <a:txBody>
                    <a:bodyPr/>
                    <a:lstStyle/>
                    <a:p>
                      <a:endParaRPr lang="ko-Kore-KR" altLang="en-US"/>
                    </a:p>
                  </a:txBody>
                  <a:tcPr/>
                </a:tc>
                <a:extLst>
                  <a:ext uri="{0D108BD9-81ED-4DB2-BD59-A6C34878D82A}">
                    <a16:rowId xmlns:a16="http://schemas.microsoft.com/office/drawing/2014/main" val="2371547286"/>
                  </a:ext>
                </a:extLst>
              </a:tr>
            </a:tbl>
          </a:graphicData>
        </a:graphic>
      </p:graphicFrame>
      <p:sp>
        <p:nvSpPr>
          <p:cNvPr id="4" name="직사각형 3">
            <a:hlinkClick r:id="" action="ppaction://hlinkshowjump?jump=firstslide"/>
            <a:extLst>
              <a:ext uri="{FF2B5EF4-FFF2-40B4-BE49-F238E27FC236}">
                <a16:creationId xmlns:a16="http://schemas.microsoft.com/office/drawing/2014/main" id="{CF0EAA18-1047-FE78-D46B-153C8A14B8A3}"/>
              </a:ext>
            </a:extLst>
          </p:cNvPr>
          <p:cNvSpPr/>
          <p:nvPr/>
        </p:nvSpPr>
        <p:spPr>
          <a:xfrm>
            <a:off x="723414" y="527797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054721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graphicFrame>
        <p:nvGraphicFramePr>
          <p:cNvPr id="106" name="Google Shape;106;p2"/>
          <p:cNvGraphicFramePr/>
          <p:nvPr>
            <p:extLst>
              <p:ext uri="{D42A27DB-BD31-4B8C-83A1-F6EECF244321}">
                <p14:modId xmlns:p14="http://schemas.microsoft.com/office/powerpoint/2010/main" val="871136974"/>
              </p:ext>
            </p:extLst>
          </p:nvPr>
        </p:nvGraphicFramePr>
        <p:xfrm>
          <a:off x="4473" y="1070116"/>
          <a:ext cx="2328851" cy="989050"/>
        </p:xfrm>
        <a:graphic>
          <a:graphicData uri="http://schemas.openxmlformats.org/drawingml/2006/table">
            <a:tbl>
              <a:tblPr firstRow="1" bandRow="1">
                <a:noFill/>
                <a:tableStyleId>{A521BE36-7E6F-4EC9-8D66-1CF97A6895EC}</a:tableStyleId>
              </a:tblPr>
              <a:tblGrid>
                <a:gridCol w="361484">
                  <a:extLst>
                    <a:ext uri="{9D8B030D-6E8A-4147-A177-3AD203B41FA5}">
                      <a16:colId xmlns:a16="http://schemas.microsoft.com/office/drawing/2014/main" val="20000"/>
                    </a:ext>
                  </a:extLst>
                </a:gridCol>
                <a:gridCol w="578552">
                  <a:extLst>
                    <a:ext uri="{9D8B030D-6E8A-4147-A177-3AD203B41FA5}">
                      <a16:colId xmlns:a16="http://schemas.microsoft.com/office/drawing/2014/main" val="20001"/>
                    </a:ext>
                  </a:extLst>
                </a:gridCol>
                <a:gridCol w="321293">
                  <a:extLst>
                    <a:ext uri="{9D8B030D-6E8A-4147-A177-3AD203B41FA5}">
                      <a16:colId xmlns:a16="http://schemas.microsoft.com/office/drawing/2014/main" val="20003"/>
                    </a:ext>
                  </a:extLst>
                </a:gridCol>
                <a:gridCol w="347510">
                  <a:extLst>
                    <a:ext uri="{9D8B030D-6E8A-4147-A177-3AD203B41FA5}">
                      <a16:colId xmlns:a16="http://schemas.microsoft.com/office/drawing/2014/main" val="20005"/>
                    </a:ext>
                  </a:extLst>
                </a:gridCol>
                <a:gridCol w="272638">
                  <a:extLst>
                    <a:ext uri="{9D8B030D-6E8A-4147-A177-3AD203B41FA5}">
                      <a16:colId xmlns:a16="http://schemas.microsoft.com/office/drawing/2014/main" val="816849637"/>
                    </a:ext>
                  </a:extLst>
                </a:gridCol>
                <a:gridCol w="447374">
                  <a:extLst>
                    <a:ext uri="{9D8B030D-6E8A-4147-A177-3AD203B41FA5}">
                      <a16:colId xmlns:a16="http://schemas.microsoft.com/office/drawing/2014/main" val="1099059082"/>
                    </a:ext>
                  </a:extLst>
                </a:gridCol>
              </a:tblGrid>
              <a:tr h="149424">
                <a:tc gridSpan="6">
                  <a:txBody>
                    <a:bodyPr/>
                    <a:lstStyle/>
                    <a:p>
                      <a:pPr marL="0" marR="0" lvl="0" indent="0" algn="ctr" rtl="0">
                        <a:spcBef>
                          <a:spcPts val="0"/>
                        </a:spcBef>
                        <a:spcAft>
                          <a:spcPts val="0"/>
                        </a:spcAft>
                        <a:buNone/>
                      </a:pPr>
                      <a:r>
                        <a:rPr lang="en-US" sz="800" u="none" strike="noStrike" cap="none" dirty="0"/>
                        <a:t>GMP : </a:t>
                      </a:r>
                      <a:r>
                        <a:rPr lang="en-US" sz="800" u="none" strike="noStrike" cap="none" dirty="0">
                          <a:solidFill>
                            <a:srgbClr val="FFC000"/>
                          </a:solidFill>
                        </a:rPr>
                        <a:t>NADP FX-10</a:t>
                      </a:r>
                      <a:r>
                        <a:rPr lang="ko-KR" altLang="en-US" sz="800" u="none" strike="noStrike" cap="none" dirty="0">
                          <a:solidFill>
                            <a:srgbClr val="FFC000"/>
                          </a:solidFill>
                        </a:rPr>
                        <a:t>도</a:t>
                      </a:r>
                      <a:r>
                        <a:rPr lang="en-US" altLang="ko-KR" sz="800" u="none" strike="noStrike" cap="none" dirty="0">
                          <a:solidFill>
                            <a:srgbClr val="FFC000"/>
                          </a:solidFill>
                        </a:rPr>
                        <a:t>,</a:t>
                      </a:r>
                      <a:r>
                        <a:rPr lang="ko-KR" altLang="en-US" sz="800" u="none" strike="noStrike" cap="none" dirty="0">
                          <a:solidFill>
                            <a:srgbClr val="FFC000"/>
                          </a:solidFill>
                        </a:rPr>
                        <a:t> </a:t>
                      </a:r>
                      <a:r>
                        <a:rPr lang="en-US" altLang="ko-KR" sz="800" u="none" strike="noStrike" cap="none" dirty="0">
                          <a:solidFill>
                            <a:srgbClr val="FFC000"/>
                          </a:solidFill>
                        </a:rPr>
                        <a:t>CLB, CONF 1+F, Acc 4000ft</a:t>
                      </a:r>
                      <a:endParaRPr sz="8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35803">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BULTI </a:t>
                      </a:r>
                      <a:r>
                        <a:rPr lang="en-US" sz="800" b="1" u="none" strike="noStrike" cap="none" dirty="0" err="1">
                          <a:solidFill>
                            <a:srgbClr val="0070C0"/>
                          </a:solidFill>
                        </a:rPr>
                        <a:t>xT</a:t>
                      </a:r>
                      <a:endParaRPr sz="800" b="1" u="none" strike="noStrike" cap="none" dirty="0">
                        <a:solidFill>
                          <a:srgbClr val="0070C0"/>
                        </a:solidFill>
                      </a:endParaRPr>
                    </a:p>
                  </a:txBody>
                  <a:tcPr marL="36000" marR="36000" marT="36000" marB="36000" anchor="ctr"/>
                </a:tc>
                <a:tc rowSpan="2">
                  <a:txBody>
                    <a:bodyPr/>
                    <a:lstStyle/>
                    <a:p>
                      <a:pPr marL="0" marR="0" lvl="0" indent="0" algn="ctr" rtl="0">
                        <a:spcBef>
                          <a:spcPts val="0"/>
                        </a:spcBef>
                        <a:spcAft>
                          <a:spcPts val="0"/>
                        </a:spcAft>
                        <a:buNone/>
                      </a:pPr>
                      <a:r>
                        <a:rPr lang="en-US" altLang="ko-Kore-KR" sz="800" b="1" u="none" strike="noStrike" cap="none" dirty="0">
                          <a:solidFill>
                            <a:srgbClr val="C00000"/>
                          </a:solidFill>
                        </a:rPr>
                        <a:t>3</a:t>
                      </a:r>
                      <a:r>
                        <a:rPr lang="en-US" altLang="ko-KR" sz="800" b="1" u="none" strike="noStrike" cap="none" dirty="0">
                          <a:solidFill>
                            <a:srgbClr val="C00000"/>
                          </a:solidFill>
                        </a:rPr>
                        <a:t>24</a:t>
                      </a:r>
                    </a:p>
                  </a:txBody>
                  <a:tcPr marL="36000" marR="36000" marT="36000" marB="36000" anchor="ctr"/>
                </a:tc>
                <a:tc rowSpan="2">
                  <a:txBody>
                    <a:bodyPr/>
                    <a:lstStyle/>
                    <a:p>
                      <a:pPr marL="0" marR="0" lvl="0" indent="0" algn="ctr" rtl="0">
                        <a:spcBef>
                          <a:spcPts val="0"/>
                        </a:spcBef>
                        <a:spcAft>
                          <a:spcPts val="0"/>
                        </a:spcAft>
                        <a:buNone/>
                      </a:pPr>
                      <a:r>
                        <a:rPr lang="en-US" altLang="ko-KR" sz="800" b="1" u="none" strike="noStrike" cap="none" dirty="0">
                          <a:solidFill>
                            <a:srgbClr val="0070C0"/>
                          </a:solidFill>
                        </a:rPr>
                        <a:t>5000</a:t>
                      </a:r>
                    </a:p>
                  </a:txBody>
                  <a:tcPr marL="36000" marR="36000" marT="36000" marB="36000" anchor="ctr"/>
                </a:tc>
                <a:tc rowSpan="2">
                  <a:txBody>
                    <a:bodyPr/>
                    <a:lstStyle/>
                    <a:p>
                      <a:pPr marL="0" marR="0" lvl="0" indent="0" algn="ctr" rtl="0">
                        <a:spcBef>
                          <a:spcPts val="0"/>
                        </a:spcBef>
                        <a:spcAft>
                          <a:spcPts val="0"/>
                        </a:spcAft>
                        <a:buNone/>
                      </a:pPr>
                      <a:endParaRPr sz="800" b="1" u="none" strike="noStrike" cap="none" dirty="0">
                        <a:solidFill>
                          <a:srgbClr val="0070C0"/>
                        </a:solidFill>
                      </a:endParaRPr>
                    </a:p>
                  </a:txBody>
                  <a:tcPr marL="36000" marR="36000" marT="36000" marB="36000" anchor="ctr"/>
                </a:tc>
                <a:tc rowSpan="4">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b="1" u="none" strike="noStrike" cap="none" dirty="0">
                          <a:solidFill>
                            <a:srgbClr val="C00000"/>
                          </a:solidFill>
                        </a:rPr>
                        <a:t>Modify  NADP</a:t>
                      </a:r>
                      <a:endParaRPr lang="en-US" altLang="ko-Kore-KR" sz="800" b="1" u="none" strike="noStrike" cap="none" dirty="0">
                        <a:solidFill>
                          <a:srgbClr val="0070C0"/>
                        </a:solidFill>
                      </a:endParaRPr>
                    </a:p>
                  </a:txBody>
                  <a:tcPr marL="36000" marR="36000" marT="36000" marB="36000" anchor="ctr"/>
                </a:tc>
                <a:extLst>
                  <a:ext uri="{0D108BD9-81ED-4DB2-BD59-A6C34878D82A}">
                    <a16:rowId xmlns:a16="http://schemas.microsoft.com/office/drawing/2014/main" val="10001"/>
                  </a:ext>
                </a:extLst>
              </a:tr>
              <a:tr h="135803">
                <a:tc v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dirty="0"/>
                        <a:t>(BULTI </a:t>
                      </a:r>
                      <a:r>
                        <a:rPr lang="en-US" sz="800" u="none" strike="noStrike" cap="none" dirty="0" err="1"/>
                        <a:t>xQ</a:t>
                      </a:r>
                      <a:r>
                        <a:rPr lang="en-US" sz="800" u="none" strike="noStrike" cap="none" dirty="0"/>
                        <a:t>)</a:t>
                      </a:r>
                      <a:endParaRPr sz="800" u="none" strike="noStrike" cap="none" dirty="0"/>
                    </a:p>
                  </a:txBody>
                  <a:tcPr marL="36000" marR="36000" marT="36000" marB="36000" anchor="ctr"/>
                </a:tc>
                <a:tc vMerge="1">
                  <a:txBody>
                    <a:bodyPr/>
                    <a:lstStyle/>
                    <a:p>
                      <a:endParaRPr dirty="0"/>
                    </a:p>
                  </a:txBody>
                  <a:tcPr marL="36000" marR="36000" marT="36000" marB="36000" anchor="ctr"/>
                </a:tc>
                <a:tc vMerge="1">
                  <a:txBody>
                    <a:bodyPr/>
                    <a:lstStyle/>
                    <a:p>
                      <a:endParaRPr dirty="0"/>
                    </a:p>
                  </a:txBody>
                  <a:tcPr marL="36000" marR="36000" marT="36000" marB="36000" anchor="ctr"/>
                </a:tc>
                <a:tc vMerge="1">
                  <a:txBody>
                    <a:bodyPr/>
                    <a:lstStyle/>
                    <a:p>
                      <a:pPr marL="0" marR="0" lvl="0" indent="0" algn="ctr" rtl="0">
                        <a:spcBef>
                          <a:spcPts val="0"/>
                        </a:spcBef>
                        <a:spcAft>
                          <a:spcPts val="0"/>
                        </a:spcAft>
                        <a:buNone/>
                      </a:pPr>
                      <a:endParaRPr sz="800" b="1" u="none" strike="noStrike" cap="none" dirty="0">
                        <a:solidFill>
                          <a:srgbClr val="0070C0"/>
                        </a:solidFill>
                      </a:endParaRPr>
                    </a:p>
                  </a:txBody>
                  <a:tcPr marL="36000" marR="36000" marT="36000" marB="36000" anchor="ctr"/>
                </a:tc>
                <a:tc vMerge="1">
                  <a:txBody>
                    <a:bodyPr/>
                    <a:lstStyle/>
                    <a:p>
                      <a:endParaRPr lang="ko-Kore-KR" altLang="en-US"/>
                    </a:p>
                  </a:txBody>
                  <a:tcPr/>
                </a:tc>
                <a:extLst>
                  <a:ext uri="{0D108BD9-81ED-4DB2-BD59-A6C34878D82A}">
                    <a16:rowId xmlns:a16="http://schemas.microsoft.com/office/drawing/2014/main" val="10002"/>
                  </a:ext>
                </a:extLst>
              </a:tr>
              <a:tr h="135803">
                <a:tc rowSpan="2">
                  <a:txBody>
                    <a:bodyPr/>
                    <a:lstStyle/>
                    <a:p>
                      <a:pPr marL="0" marR="0" lvl="0" indent="0" algn="ctr" rtl="0">
                        <a:spcBef>
                          <a:spcPts val="0"/>
                        </a:spcBef>
                        <a:spcAft>
                          <a:spcPts val="0"/>
                        </a:spcAft>
                        <a:buNone/>
                      </a:pPr>
                      <a:r>
                        <a:rPr lang="en-US" sz="800" b="1" u="none" strike="noStrike" cap="none" dirty="0"/>
                        <a:t>14L/R</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BULTI </a:t>
                      </a:r>
                      <a:r>
                        <a:rPr lang="en-US" sz="800" b="1" u="none" strike="noStrike" cap="none" dirty="0" err="1">
                          <a:solidFill>
                            <a:srgbClr val="0070C0"/>
                          </a:solidFill>
                        </a:rPr>
                        <a:t>xU</a:t>
                      </a:r>
                      <a:endParaRPr sz="800" b="1" u="none" strike="noStrike" cap="none" dirty="0">
                        <a:solidFill>
                          <a:srgbClr val="0070C0"/>
                        </a:solidFill>
                      </a:endParaRPr>
                    </a:p>
                  </a:txBody>
                  <a:tcPr marL="36000" marR="36000" marT="36000" marB="36000" anchor="ctr"/>
                </a:tc>
                <a:tc rowSpan="2">
                  <a:txBody>
                    <a:bodyPr/>
                    <a:lstStyle/>
                    <a:p>
                      <a:pPr marL="0" marR="0" lvl="0" indent="0" algn="ctr" rtl="0">
                        <a:spcBef>
                          <a:spcPts val="0"/>
                        </a:spcBef>
                        <a:spcAft>
                          <a:spcPts val="0"/>
                        </a:spcAft>
                        <a:buNone/>
                      </a:pPr>
                      <a:r>
                        <a:rPr lang="en-US" altLang="ko-Kore-KR" sz="800" b="1" u="none" strike="noStrike" cap="none" dirty="0">
                          <a:solidFill>
                            <a:srgbClr val="C00000"/>
                          </a:solidFill>
                        </a:rPr>
                        <a:t>1</a:t>
                      </a:r>
                      <a:r>
                        <a:rPr lang="en-US" altLang="ko-KR" sz="800" b="1" u="none" strike="noStrike" cap="none" dirty="0">
                          <a:solidFill>
                            <a:srgbClr val="C00000"/>
                          </a:solidFill>
                        </a:rPr>
                        <a:t>44</a:t>
                      </a:r>
                    </a:p>
                  </a:txBody>
                  <a:tcPr marL="36000" marR="36000" marT="36000" marB="36000" anchor="ctr"/>
                </a:tc>
                <a:tc rowSpan="2">
                  <a:txBody>
                    <a:bodyPr/>
                    <a:lstStyle/>
                    <a:p>
                      <a:pPr marL="0" marR="0" lvl="0" indent="0" algn="ctr" rtl="0">
                        <a:spcBef>
                          <a:spcPts val="0"/>
                        </a:spcBef>
                        <a:spcAft>
                          <a:spcPts val="0"/>
                        </a:spcAft>
                        <a:buNone/>
                      </a:pPr>
                      <a:r>
                        <a:rPr lang="en-US" altLang="ko-KR" sz="800" b="1" u="none" strike="noStrike" cap="none" dirty="0">
                          <a:solidFill>
                            <a:srgbClr val="0070C0"/>
                          </a:solidFill>
                        </a:rPr>
                        <a:t>6000</a:t>
                      </a:r>
                    </a:p>
                  </a:txBody>
                  <a:tcPr marL="36000" marR="36000" marT="36000" marB="36000" anchor="ctr"/>
                </a:tc>
                <a:tc rowSpan="2">
                  <a:txBody>
                    <a:bodyPr/>
                    <a:lstStyle/>
                    <a:p>
                      <a:pPr marL="0" marR="0" lvl="0" indent="0" algn="ctr" rtl="0">
                        <a:spcBef>
                          <a:spcPts val="0"/>
                        </a:spcBef>
                        <a:spcAft>
                          <a:spcPts val="0"/>
                        </a:spcAft>
                        <a:buNone/>
                      </a:pPr>
                      <a:endParaRPr sz="800" b="1" u="none" strike="noStrike" cap="none" dirty="0">
                        <a:solidFill>
                          <a:srgbClr val="0070C0"/>
                        </a:solidFill>
                      </a:endParaRPr>
                    </a:p>
                  </a:txBody>
                  <a:tcPr marL="36000" marR="36000" marT="36000" marB="36000" anchor="ctr"/>
                </a:tc>
                <a:tc vMerge="1">
                  <a:txBody>
                    <a:bodyPr/>
                    <a:lstStyle/>
                    <a:p>
                      <a:endParaRPr lang="ko-Kore-KR" altLang="en-US"/>
                    </a:p>
                  </a:txBody>
                  <a:tcPr/>
                </a:tc>
                <a:extLst>
                  <a:ext uri="{0D108BD9-81ED-4DB2-BD59-A6C34878D82A}">
                    <a16:rowId xmlns:a16="http://schemas.microsoft.com/office/drawing/2014/main" val="10003"/>
                  </a:ext>
                </a:extLst>
              </a:tr>
              <a:tr h="135803">
                <a:tc v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dirty="0"/>
                        <a:t>(BULTI </a:t>
                      </a:r>
                      <a:r>
                        <a:rPr lang="en-US" sz="800" u="none" strike="noStrike" cap="none" dirty="0" err="1"/>
                        <a:t>xZ</a:t>
                      </a:r>
                      <a:r>
                        <a:rPr lang="en-US" sz="800" u="none" strike="noStrike" cap="none" dirty="0"/>
                        <a:t>)</a:t>
                      </a:r>
                      <a:endParaRPr sz="800" u="none" strike="noStrike" cap="none" dirty="0"/>
                    </a:p>
                  </a:txBody>
                  <a:tcPr marL="36000" marR="36000" marT="36000" marB="36000" anchor="ctr"/>
                </a:tc>
                <a:tc vMerge="1">
                  <a:txBody>
                    <a:bodyPr/>
                    <a:lstStyle/>
                    <a:p>
                      <a:endParaRPr dirty="0"/>
                    </a:p>
                  </a:txBody>
                  <a:tcPr marL="36000" marR="36000" marT="36000" marB="36000" anchor="ctr"/>
                </a:tc>
                <a:tc vMerge="1">
                  <a:txBody>
                    <a:bodyPr/>
                    <a:lstStyle/>
                    <a:p>
                      <a:endParaRPr dirty="0"/>
                    </a:p>
                  </a:txBody>
                  <a:tcPr marL="36000" marR="36000" marT="36000" marB="36000" anchor="ctr"/>
                </a:tc>
                <a:tc vMerge="1">
                  <a:txBody>
                    <a:bodyPr/>
                    <a:lstStyle/>
                    <a:p>
                      <a:pPr marL="0" marR="0" lvl="0" indent="0" algn="ctr" rtl="0">
                        <a:spcBef>
                          <a:spcPts val="0"/>
                        </a:spcBef>
                        <a:spcAft>
                          <a:spcPts val="0"/>
                        </a:spcAft>
                        <a:buNone/>
                      </a:pPr>
                      <a:endParaRPr sz="800" b="1" u="none" strike="noStrike" cap="none" dirty="0">
                        <a:solidFill>
                          <a:srgbClr val="0070C0"/>
                        </a:solidFill>
                      </a:endParaRPr>
                    </a:p>
                  </a:txBody>
                  <a:tcPr marL="36000" marR="36000" marT="36000" marB="36000" anchor="ctr"/>
                </a:tc>
                <a:tc vMerge="1">
                  <a:txBody>
                    <a:bodyPr/>
                    <a:lstStyle/>
                    <a:p>
                      <a:endParaRPr lang="ko-Kore-KR" altLang="en-US"/>
                    </a:p>
                  </a:txBody>
                  <a:tcPr/>
                </a:tc>
                <a:extLst>
                  <a:ext uri="{0D108BD9-81ED-4DB2-BD59-A6C34878D82A}">
                    <a16:rowId xmlns:a16="http://schemas.microsoft.com/office/drawing/2014/main" val="10004"/>
                  </a:ext>
                </a:extLst>
              </a:tr>
            </a:tbl>
          </a:graphicData>
        </a:graphic>
      </p:graphicFrame>
      <p:graphicFrame>
        <p:nvGraphicFramePr>
          <p:cNvPr id="107" name="Google Shape;107;p2"/>
          <p:cNvGraphicFramePr/>
          <p:nvPr>
            <p:extLst>
              <p:ext uri="{D42A27DB-BD31-4B8C-83A1-F6EECF244321}">
                <p14:modId xmlns:p14="http://schemas.microsoft.com/office/powerpoint/2010/main" val="962615952"/>
              </p:ext>
            </p:extLst>
          </p:nvPr>
        </p:nvGraphicFramePr>
        <p:xfrm>
          <a:off x="4472" y="3784778"/>
          <a:ext cx="2310728" cy="1772885"/>
        </p:xfrm>
        <a:graphic>
          <a:graphicData uri="http://schemas.openxmlformats.org/drawingml/2006/table">
            <a:tbl>
              <a:tblPr firstRow="1" bandRow="1">
                <a:noFill/>
                <a:tableStyleId>{A521BE36-7E6F-4EC9-8D66-1CF97A6895EC}</a:tableStyleId>
              </a:tblPr>
              <a:tblGrid>
                <a:gridCol w="390499">
                  <a:extLst>
                    <a:ext uri="{9D8B030D-6E8A-4147-A177-3AD203B41FA5}">
                      <a16:colId xmlns:a16="http://schemas.microsoft.com/office/drawing/2014/main" val="20000"/>
                    </a:ext>
                  </a:extLst>
                </a:gridCol>
                <a:gridCol w="209308">
                  <a:extLst>
                    <a:ext uri="{9D8B030D-6E8A-4147-A177-3AD203B41FA5}">
                      <a16:colId xmlns:a16="http://schemas.microsoft.com/office/drawing/2014/main" val="20001"/>
                    </a:ext>
                  </a:extLst>
                </a:gridCol>
                <a:gridCol w="527130">
                  <a:extLst>
                    <a:ext uri="{9D8B030D-6E8A-4147-A177-3AD203B41FA5}">
                      <a16:colId xmlns:a16="http://schemas.microsoft.com/office/drawing/2014/main" val="20002"/>
                    </a:ext>
                  </a:extLst>
                </a:gridCol>
                <a:gridCol w="413260">
                  <a:extLst>
                    <a:ext uri="{9D8B030D-6E8A-4147-A177-3AD203B41FA5}">
                      <a16:colId xmlns:a16="http://schemas.microsoft.com/office/drawing/2014/main" val="20005"/>
                    </a:ext>
                  </a:extLst>
                </a:gridCol>
                <a:gridCol w="770531">
                  <a:extLst>
                    <a:ext uri="{9D8B030D-6E8A-4147-A177-3AD203B41FA5}">
                      <a16:colId xmlns:a16="http://schemas.microsoft.com/office/drawing/2014/main" val="20006"/>
                    </a:ext>
                  </a:extLst>
                </a:gridCol>
              </a:tblGrid>
              <a:tr h="156000">
                <a:tc gridSpan="5">
                  <a:txBody>
                    <a:bodyPr/>
                    <a:lstStyle/>
                    <a:p>
                      <a:pPr marL="0" marR="0" lvl="0" indent="0" algn="ctr" rtl="0">
                        <a:spcBef>
                          <a:spcPts val="0"/>
                        </a:spcBef>
                        <a:spcAft>
                          <a:spcPts val="0"/>
                        </a:spcAft>
                        <a:buNone/>
                      </a:pPr>
                      <a:r>
                        <a:rPr lang="en-US" sz="800" u="none" strike="noStrike" cap="none" dirty="0"/>
                        <a:t>CJU : STAR </a:t>
                      </a:r>
                    </a:p>
                    <a:p>
                      <a:pPr marL="0" marR="0" lvl="0" indent="0" algn="ctr" rtl="0">
                        <a:spcBef>
                          <a:spcPts val="0"/>
                        </a:spcBef>
                        <a:spcAft>
                          <a:spcPts val="0"/>
                        </a:spcAft>
                        <a:buNone/>
                      </a:pPr>
                      <a:r>
                        <a:rPr lang="en-US" sz="700" u="none" strike="noStrike" cap="none" dirty="0">
                          <a:solidFill>
                            <a:srgbClr val="FFC000"/>
                          </a:solidFill>
                        </a:rPr>
                        <a:t>AFT Merge PT(220kts) DCT IAF(210kts), FAF (160kts)</a:t>
                      </a: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pPr marL="0" marR="0" lvl="0" indent="0" algn="ctr" rtl="0">
                        <a:spcBef>
                          <a:spcPts val="0"/>
                        </a:spcBef>
                        <a:spcAft>
                          <a:spcPts val="0"/>
                        </a:spcAft>
                        <a:buNone/>
                      </a:pPr>
                      <a:endParaRPr sz="700" u="none" strike="noStrike" cap="none"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u="none" strike="noStrike" cap="none" dirty="0"/>
                        <a:t>ILS Z 07</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t>DOTOL xP</a:t>
                      </a:r>
                      <a:endParaRPr sz="800" b="1" u="none" strike="noStrike" cap="none"/>
                    </a:p>
                  </a:txBody>
                  <a:tcPr marL="36000" marR="36000" marT="36000" marB="36000" anchor="ctr"/>
                </a:tc>
                <a:tc hMerge="1">
                  <a:txBody>
                    <a:bodyPr/>
                    <a:lstStyle/>
                    <a:p>
                      <a:pPr marL="0" marR="0" lvl="0" indent="0" algn="ctr" rtl="0">
                        <a:spcBef>
                          <a:spcPts val="0"/>
                        </a:spcBef>
                        <a:spcAft>
                          <a:spcPts val="0"/>
                        </a:spcAft>
                        <a:buNone/>
                      </a:pPr>
                      <a:endParaRPr sz="800" b="1" u="none" strike="noStrike" cap="none"/>
                    </a:p>
                  </a:txBody>
                  <a:tcPr marL="36000" marR="36000" marT="36000" marB="36000" anchor="ctr"/>
                </a:tc>
                <a:tc>
                  <a:txBody>
                    <a:bodyPr/>
                    <a:lstStyle/>
                    <a:p>
                      <a:pPr algn="ctr"/>
                      <a:r>
                        <a:rPr lang="en-US" sz="800" b="1" u="none" strike="noStrike" cap="none" dirty="0"/>
                        <a:t>YUMIN</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DOTOL 160</a:t>
                      </a:r>
                      <a:endParaRPr sz="800" b="1" u="none" strike="noStrike" cap="none" dirty="0"/>
                    </a:p>
                  </a:txBody>
                  <a:tcPr marL="36000" marR="36000" marT="36000" marB="36000" anchor="ctr"/>
                </a:tc>
                <a:extLst>
                  <a:ext uri="{0D108BD9-81ED-4DB2-BD59-A6C34878D82A}">
                    <a16:rowId xmlns:a16="http://schemas.microsoft.com/office/drawing/2014/main" val="10001"/>
                  </a:ext>
                </a:extLst>
              </a:tr>
              <a:tr h="0">
                <a:tc gridSpan="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endParaRPr sz="800" b="1" u="none" strike="noStrike" cap="none" dirty="0">
                        <a:solidFill>
                          <a:srgbClr val="C00000"/>
                        </a:solidFill>
                      </a:endParaRPr>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sz="800" b="1" u="none" strike="noStrike" cap="none" dirty="0">
                        <a:solidFill>
                          <a:srgbClr val="C00000"/>
                        </a:solidFill>
                      </a:endParaRPr>
                    </a:p>
                  </a:txBody>
                  <a:tcPr marL="36000" marR="36000" marT="36000" marB="36000" anchor="ctr"/>
                </a:tc>
                <a:tc hMerge="1">
                  <a:txBody>
                    <a:bodyPr/>
                    <a:lstStyle/>
                    <a:p>
                      <a:endParaRPr lang="ko-Kore-KR"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extLst>
                  <a:ext uri="{0D108BD9-81ED-4DB2-BD59-A6C34878D82A}">
                    <a16:rowId xmlns:a16="http://schemas.microsoft.com/office/drawing/2014/main" val="3614569801"/>
                  </a:ext>
                </a:extLst>
              </a:tr>
              <a:tr h="141800">
                <a:tc>
                  <a:txBody>
                    <a:bodyPr/>
                    <a:lstStyle/>
                    <a:p>
                      <a:pPr marL="0" marR="0" lvl="0" indent="0" algn="ctr" rtl="0">
                        <a:spcBef>
                          <a:spcPts val="0"/>
                        </a:spcBef>
                        <a:spcAft>
                          <a:spcPts val="0"/>
                        </a:spcAft>
                        <a:buNone/>
                      </a:pPr>
                      <a:r>
                        <a:rPr lang="en-US" sz="800" b="1" u="none" strike="noStrike" cap="none"/>
                        <a:t>ILS Z 25</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DOTOL </a:t>
                      </a:r>
                      <a:r>
                        <a:rPr lang="en-US" sz="800" b="1" u="none" strike="noStrike" cap="none" dirty="0" err="1"/>
                        <a:t>xT</a:t>
                      </a:r>
                      <a:r>
                        <a:rPr lang="en-US" sz="800" b="1" u="none" strike="noStrike" cap="none" dirty="0"/>
                        <a:t>(</a:t>
                      </a:r>
                      <a:r>
                        <a:rPr lang="en-US" sz="800" b="1" u="none" strike="noStrike" cap="none" dirty="0" err="1"/>
                        <a:t>xM</a:t>
                      </a:r>
                      <a:r>
                        <a:rPr lang="en-US" sz="800" b="1" u="none" strike="noStrike" cap="none" dirty="0"/>
                        <a:t>)</a:t>
                      </a:r>
                      <a:endParaRPr sz="800" b="1" u="none" strike="noStrike" cap="none" dirty="0"/>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a:txBody>
                    <a:bodyPr/>
                    <a:lstStyle/>
                    <a:p>
                      <a:r>
                        <a:rPr lang="en-US" sz="800" b="1" u="none" strike="noStrike" cap="none" dirty="0"/>
                        <a:t>DUKAL</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t>DOTOL/-10 160</a:t>
                      </a:r>
                      <a:endParaRPr sz="800" b="1" u="none" strike="noStrike" cap="none"/>
                    </a:p>
                  </a:txBody>
                  <a:tcPr marL="36000" marR="36000" marT="36000" marB="36000" anchor="ctr"/>
                </a:tc>
                <a:extLst>
                  <a:ext uri="{0D108BD9-81ED-4DB2-BD59-A6C34878D82A}">
                    <a16:rowId xmlns:a16="http://schemas.microsoft.com/office/drawing/2014/main" val="10002"/>
                  </a:ext>
                </a:extLst>
              </a:tr>
              <a:tr h="230925">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err="1">
                          <a:solidFill>
                            <a:schemeClr val="bg1"/>
                          </a:solidFill>
                        </a:rPr>
                        <a:t>RWxx</a:t>
                      </a:r>
                      <a:r>
                        <a:rPr lang="en-US" sz="800" b="0" u="none" strike="noStrike" cap="none" dirty="0">
                          <a:solidFill>
                            <a:schemeClr val="bg1"/>
                          </a:solidFill>
                        </a:rPr>
                        <a:t> /8</a:t>
                      </a:r>
                      <a:endParaRPr sz="800" b="0" u="none" strike="noStrike" cap="none" dirty="0">
                        <a:solidFill>
                          <a:schemeClr val="bg1"/>
                        </a:solidFill>
                      </a:endParaRPr>
                    </a:p>
                  </a:txBody>
                  <a:tcPr marL="36000" marR="36000" marT="36000" marB="36000" anchor="ctr"/>
                </a:tc>
                <a:tc hMerge="1">
                  <a:txBody>
                    <a:bodyPr/>
                    <a:lstStyle/>
                    <a:p>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320075">
                <a:tc gridSpan="5">
                  <a:txBody>
                    <a:bodyPr/>
                    <a:lstStyle/>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07 : P6(5176’), P5(5882’), </a:t>
                      </a:r>
                      <a:r>
                        <a:rPr lang="en-US" sz="800" u="none" strike="noStrike" cap="none" dirty="0">
                          <a:solidFill>
                            <a:srgbClr val="0070C0"/>
                          </a:solidFill>
                        </a:rPr>
                        <a:t>P4(6840’-ATC HIRO)</a:t>
                      </a:r>
                      <a:endParaRPr dirty="0"/>
                    </a:p>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25 : P7(5219’), P8(5882’), </a:t>
                      </a:r>
                      <a:r>
                        <a:rPr lang="en-US" sz="800" u="none" strike="noStrike" cap="none" dirty="0">
                          <a:solidFill>
                            <a:srgbClr val="0070C0"/>
                          </a:solidFill>
                        </a:rPr>
                        <a:t>P10(7524’-ATC HIRO) </a:t>
                      </a:r>
                      <a:endParaRPr dirty="0"/>
                    </a:p>
                  </a:txBody>
                  <a:tcPr marL="36000" marR="36000" marT="36000" marB="36000" anchor="ctr"/>
                </a:tc>
                <a:tc hMerge="1">
                  <a:txBody>
                    <a:bodyPr/>
                    <a:lstStyle/>
                    <a:p>
                      <a:endParaRPr lang="ko-Kore-KR"/>
                    </a:p>
                  </a:txBody>
                  <a:tcPr/>
                </a:tc>
                <a:tc hMerge="1">
                  <a:txBody>
                    <a:bodyPr/>
                    <a:lstStyle/>
                    <a:p>
                      <a:pPr marL="0" marR="0" lvl="0" indent="0" algn="l"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HST 40KTS</a:t>
                      </a:r>
                      <a:endParaRPr dirty="0"/>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chemeClr val="dk1"/>
                        </a:buClr>
                        <a:buSzPts val="800"/>
                        <a:buFont typeface="Calibri"/>
                        <a:buNone/>
                      </a:pP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08" name="Google Shape;108;p2"/>
          <p:cNvGraphicFramePr/>
          <p:nvPr>
            <p:extLst>
              <p:ext uri="{D42A27DB-BD31-4B8C-83A1-F6EECF244321}">
                <p14:modId xmlns:p14="http://schemas.microsoft.com/office/powerpoint/2010/main" val="3712267667"/>
              </p:ext>
            </p:extLst>
          </p:nvPr>
        </p:nvGraphicFramePr>
        <p:xfrm>
          <a:off x="-2501" y="16503"/>
          <a:ext cx="2328850" cy="563987"/>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05086">
                <a:tc>
                  <a:txBody>
                    <a:bodyPr/>
                    <a:lstStyle/>
                    <a:p>
                      <a:pPr marL="0" marR="0" lvl="0" indent="0" algn="ctr" rtl="0">
                        <a:spcBef>
                          <a:spcPts val="0"/>
                        </a:spcBef>
                        <a:spcAft>
                          <a:spcPts val="0"/>
                        </a:spcAft>
                        <a:buNone/>
                      </a:pPr>
                      <a:r>
                        <a:rPr lang="en-US" sz="1300" u="none" strike="noStrike" cap="none" dirty="0">
                          <a:solidFill>
                            <a:schemeClr val="tx1"/>
                          </a:solidFill>
                          <a:hlinkClick r:id="rId3">
                            <a:extLst>
                              <a:ext uri="{A12FA001-AC4F-418D-AE19-62706E023703}">
                                <ahyp:hlinkClr xmlns:ahyp="http://schemas.microsoft.com/office/drawing/2018/hyperlinkcolor" val="tx"/>
                              </a:ext>
                            </a:extLst>
                          </a:hlinkClick>
                        </a:rPr>
                        <a:t>RKSS(GMP) 59ft</a:t>
                      </a:r>
                      <a:endParaRPr sz="1300" u="none" strike="noStrike" cap="none" dirty="0">
                        <a:solidFill>
                          <a:schemeClr val="tx1"/>
                        </a:solidFill>
                      </a:endParaRPr>
                    </a:p>
                  </a:txBody>
                  <a:tcPr marL="36000" marR="0" marT="0" marB="0" anchor="ctr"/>
                </a:tc>
                <a:tc>
                  <a:txBody>
                    <a:bodyPr/>
                    <a:lstStyle/>
                    <a:p>
                      <a:pPr marL="0" marR="0" lvl="0" indent="0" algn="ctr" rtl="0">
                        <a:spcBef>
                          <a:spcPts val="0"/>
                        </a:spcBef>
                        <a:spcAft>
                          <a:spcPts val="0"/>
                        </a:spcAft>
                        <a:buNone/>
                      </a:pPr>
                      <a:r>
                        <a:rPr lang="en-US"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sz="1300" u="none" strike="noStrike" cap="none" dirty="0">
                        <a:solidFill>
                          <a:schemeClr val="tx1"/>
                        </a:solidFill>
                      </a:endParaRPr>
                    </a:p>
                  </a:txBody>
                  <a:tcPr marL="36000" marR="0" marT="0" marB="0" anchor="ctr"/>
                </a:tc>
                <a:extLst>
                  <a:ext uri="{0D108BD9-81ED-4DB2-BD59-A6C34878D82A}">
                    <a16:rowId xmlns:a16="http://schemas.microsoft.com/office/drawing/2014/main" val="10000"/>
                  </a:ext>
                </a:extLst>
              </a:tr>
              <a:tr h="358901">
                <a:tc>
                  <a:txBody>
                    <a:bodyPr/>
                    <a:lstStyle/>
                    <a:p>
                      <a:pPr marL="0" marR="0" lvl="0" indent="0" algn="ctr" rtl="0">
                        <a:spcBef>
                          <a:spcPts val="0"/>
                        </a:spcBef>
                        <a:spcAft>
                          <a:spcPts val="0"/>
                        </a:spcAft>
                        <a:buNone/>
                      </a:pPr>
                      <a:r>
                        <a:rPr lang="en-US" sz="900" u="none" strike="noStrike" cap="none" dirty="0"/>
                        <a:t>KE GMP 131.15</a:t>
                      </a:r>
                      <a:endParaRPr dirty="0"/>
                    </a:p>
                    <a:p>
                      <a:pPr marL="0" marR="0" lvl="0" indent="0" algn="ctr" rtl="0">
                        <a:spcBef>
                          <a:spcPts val="0"/>
                        </a:spcBef>
                        <a:spcAft>
                          <a:spcPts val="0"/>
                        </a:spcAft>
                        <a:buNone/>
                      </a:pPr>
                      <a:r>
                        <a:rPr lang="en-US" sz="600" u="none" strike="noStrike" cap="none" dirty="0">
                          <a:solidFill>
                            <a:srgbClr val="FF0000"/>
                          </a:solidFill>
                          <a:latin typeface="Calibri"/>
                          <a:ea typeface="Calibri"/>
                          <a:cs typeface="Calibri"/>
                          <a:sym typeface="Calibri"/>
                        </a:rPr>
                        <a:t>DCL -15분 </a:t>
                      </a:r>
                      <a:r>
                        <a:rPr lang="en-US" sz="600" u="none" strike="noStrike" cap="none" dirty="0" err="1">
                          <a:solidFill>
                            <a:srgbClr val="FF0000"/>
                          </a:solidFill>
                          <a:latin typeface="Calibri"/>
                          <a:ea typeface="Calibri"/>
                          <a:cs typeface="Calibri"/>
                          <a:sym typeface="Calibri"/>
                        </a:rPr>
                        <a:t>가능</a:t>
                      </a:r>
                      <a:r>
                        <a:rPr lang="en-US" sz="600" u="none" strike="noStrike" cap="none" dirty="0">
                          <a:solidFill>
                            <a:srgbClr val="FF0000"/>
                          </a:solidFill>
                          <a:latin typeface="Calibri"/>
                          <a:ea typeface="Calibri"/>
                          <a:cs typeface="Calibri"/>
                          <a:sym typeface="Calibri"/>
                        </a:rPr>
                        <a:t> TOBT 5분 </a:t>
                      </a:r>
                      <a:r>
                        <a:rPr lang="en-US" sz="600" u="none" strike="noStrike" cap="none" dirty="0" err="1">
                          <a:solidFill>
                            <a:srgbClr val="FF0000"/>
                          </a:solidFill>
                          <a:latin typeface="Calibri"/>
                          <a:ea typeface="Calibri"/>
                          <a:cs typeface="Calibri"/>
                          <a:sym typeface="Calibri"/>
                        </a:rPr>
                        <a:t>차이시</a:t>
                      </a:r>
                      <a:r>
                        <a:rPr lang="en-US" sz="600" u="none" strike="noStrike" cap="none" dirty="0">
                          <a:solidFill>
                            <a:srgbClr val="FF0000"/>
                          </a:solidFill>
                          <a:latin typeface="Calibri"/>
                          <a:ea typeface="Calibri"/>
                          <a:cs typeface="Calibri"/>
                          <a:sym typeface="Calibri"/>
                        </a:rPr>
                        <a:t> CTC Comm</a:t>
                      </a:r>
                      <a:endParaRPr sz="800" u="none" strike="noStrike" cap="none" dirty="0">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KE CJU 129.4</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5" name="그림 4">
            <a:extLst>
              <a:ext uri="{FF2B5EF4-FFF2-40B4-BE49-F238E27FC236}">
                <a16:creationId xmlns:a16="http://schemas.microsoft.com/office/drawing/2014/main" id="{01395358-67C5-B17F-BCD1-397471B84CD8}"/>
              </a:ext>
            </a:extLst>
          </p:cNvPr>
          <p:cNvPicPr>
            <a:picLocks noChangeAspect="1"/>
          </p:cNvPicPr>
          <p:nvPr/>
        </p:nvPicPr>
        <p:blipFill>
          <a:blip r:embed="rId5"/>
          <a:stretch>
            <a:fillRect/>
          </a:stretch>
        </p:blipFill>
        <p:spPr>
          <a:xfrm>
            <a:off x="148563" y="602614"/>
            <a:ext cx="451728" cy="451728"/>
          </a:xfrm>
          <a:prstGeom prst="rect">
            <a:avLst/>
          </a:prstGeom>
          <a:ln>
            <a:noFill/>
          </a:ln>
        </p:spPr>
      </p:pic>
      <p:pic>
        <p:nvPicPr>
          <p:cNvPr id="3" name="그림 2" descr="텍스트, 지도, 폰트, 도표이(가) 표시된 사진&#10;&#10;자동 생성된 설명">
            <a:extLst>
              <a:ext uri="{FF2B5EF4-FFF2-40B4-BE49-F238E27FC236}">
                <a16:creationId xmlns:a16="http://schemas.microsoft.com/office/drawing/2014/main" id="{0A4BE269-C442-8267-320E-C71929B74F32}"/>
              </a:ext>
            </a:extLst>
          </p:cNvPr>
          <p:cNvPicPr>
            <a:picLocks noChangeAspect="1"/>
          </p:cNvPicPr>
          <p:nvPr/>
        </p:nvPicPr>
        <p:blipFill>
          <a:blip r:embed="rId6"/>
          <a:stretch>
            <a:fillRect/>
          </a:stretch>
        </p:blipFill>
        <p:spPr>
          <a:xfrm>
            <a:off x="-2500" y="2748966"/>
            <a:ext cx="837770" cy="835994"/>
          </a:xfrm>
          <a:prstGeom prst="rect">
            <a:avLst/>
          </a:prstGeom>
        </p:spPr>
      </p:pic>
      <p:sp>
        <p:nvSpPr>
          <p:cNvPr id="6" name="TextBox 5">
            <a:extLst>
              <a:ext uri="{FF2B5EF4-FFF2-40B4-BE49-F238E27FC236}">
                <a16:creationId xmlns:a16="http://schemas.microsoft.com/office/drawing/2014/main" id="{B883771C-A484-B3B3-0104-3947A3865324}"/>
              </a:ext>
            </a:extLst>
          </p:cNvPr>
          <p:cNvSpPr txBox="1"/>
          <p:nvPr/>
        </p:nvSpPr>
        <p:spPr>
          <a:xfrm>
            <a:off x="1268244" y="3478119"/>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B1E1E6C3-2FAC-67D6-CA78-10767C1FFA4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4" name="Google Shape;106;p2">
            <a:extLst>
              <a:ext uri="{FF2B5EF4-FFF2-40B4-BE49-F238E27FC236}">
                <a16:creationId xmlns:a16="http://schemas.microsoft.com/office/drawing/2014/main" id="{EEC22021-0AAA-44E7-240B-DC2DDDD421E3}"/>
              </a:ext>
            </a:extLst>
          </p:cNvPr>
          <p:cNvGraphicFramePr/>
          <p:nvPr>
            <p:extLst>
              <p:ext uri="{D42A27DB-BD31-4B8C-83A1-F6EECF244321}">
                <p14:modId xmlns:p14="http://schemas.microsoft.com/office/powerpoint/2010/main" val="2070967854"/>
              </p:ext>
            </p:extLst>
          </p:nvPr>
        </p:nvGraphicFramePr>
        <p:xfrm>
          <a:off x="985" y="2068589"/>
          <a:ext cx="2332338" cy="315840"/>
        </p:xfrm>
        <a:graphic>
          <a:graphicData uri="http://schemas.openxmlformats.org/drawingml/2006/table">
            <a:tbl>
              <a:tblPr firstRow="1" bandRow="1">
                <a:tableStyleId>{A521BE36-7E6F-4EC9-8D66-1CF97A6895EC}</a:tableStyleId>
              </a:tblPr>
              <a:tblGrid>
                <a:gridCol w="345014">
                  <a:extLst>
                    <a:ext uri="{9D8B030D-6E8A-4147-A177-3AD203B41FA5}">
                      <a16:colId xmlns:a16="http://schemas.microsoft.com/office/drawing/2014/main" val="20000"/>
                    </a:ext>
                  </a:extLst>
                </a:gridCol>
                <a:gridCol w="496831">
                  <a:extLst>
                    <a:ext uri="{9D8B030D-6E8A-4147-A177-3AD203B41FA5}">
                      <a16:colId xmlns:a16="http://schemas.microsoft.com/office/drawing/2014/main" val="1227131864"/>
                    </a:ext>
                  </a:extLst>
                </a:gridCol>
                <a:gridCol w="496831">
                  <a:extLst>
                    <a:ext uri="{9D8B030D-6E8A-4147-A177-3AD203B41FA5}">
                      <a16:colId xmlns:a16="http://schemas.microsoft.com/office/drawing/2014/main" val="20003"/>
                    </a:ext>
                  </a:extLst>
                </a:gridCol>
                <a:gridCol w="496831">
                  <a:extLst>
                    <a:ext uri="{9D8B030D-6E8A-4147-A177-3AD203B41FA5}">
                      <a16:colId xmlns:a16="http://schemas.microsoft.com/office/drawing/2014/main" val="1972386713"/>
                    </a:ext>
                  </a:extLst>
                </a:gridCol>
                <a:gridCol w="496831">
                  <a:extLst>
                    <a:ext uri="{9D8B030D-6E8A-4147-A177-3AD203B41FA5}">
                      <a16:colId xmlns:a16="http://schemas.microsoft.com/office/drawing/2014/main" val="34154047"/>
                    </a:ext>
                  </a:extLst>
                </a:gridCol>
              </a:tblGrid>
              <a:tr h="268212">
                <a:tc>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chemeClr val="tx1"/>
                          </a:solidFill>
                        </a:rPr>
                        <a:t>KIP</a:t>
                      </a:r>
                      <a:endParaRPr sz="800" dirty="0">
                        <a:solidFill>
                          <a:schemeClr val="tx1"/>
                        </a:solidFill>
                      </a:endParaRPr>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chemeClr val="tx1"/>
                          </a:solidFill>
                        </a:rPr>
                        <a:t>113.6</a:t>
                      </a:r>
                      <a:endParaRPr sz="800" b="1" u="none" strike="noStrike" cap="none" dirty="0">
                        <a:solidFill>
                          <a:schemeClr val="tx1"/>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FFC000"/>
                          </a:solidFill>
                        </a:rPr>
                        <a:t>32L IKMO</a:t>
                      </a:r>
                      <a:endParaRPr lang="en-US" sz="800" dirty="0">
                        <a:solidFill>
                          <a:srgbClr val="FFC000"/>
                        </a:solidFill>
                      </a:endParaRPr>
                    </a:p>
                    <a:p>
                      <a:pPr marL="0" marR="0" lvl="0" indent="0" algn="ctr" rtl="0">
                        <a:spcBef>
                          <a:spcPts val="0"/>
                        </a:spcBef>
                        <a:spcAft>
                          <a:spcPts val="0"/>
                        </a:spcAft>
                        <a:buNone/>
                      </a:pPr>
                      <a:r>
                        <a:rPr lang="en-US" sz="800" b="1" u="none" strike="noStrike" cap="none" dirty="0">
                          <a:solidFill>
                            <a:srgbClr val="FFC000"/>
                          </a:solidFill>
                        </a:rPr>
                        <a:t>108.3</a:t>
                      </a:r>
                      <a:endParaRPr sz="800" b="1" u="none" strike="noStrike" cap="none" dirty="0">
                        <a:solidFill>
                          <a:srgbClr val="FFC000"/>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FFC000"/>
                          </a:solidFill>
                        </a:rPr>
                        <a:t>32R ISKP</a:t>
                      </a:r>
                      <a:endParaRPr lang="en-US" sz="800" dirty="0">
                        <a:solidFill>
                          <a:srgbClr val="FFC000"/>
                        </a:solidFill>
                      </a:endParaRPr>
                    </a:p>
                    <a:p>
                      <a:pPr marL="0" marR="0" lvl="0" indent="0" algn="ctr" rtl="0">
                        <a:spcBef>
                          <a:spcPts val="0"/>
                        </a:spcBef>
                        <a:spcAft>
                          <a:spcPts val="0"/>
                        </a:spcAft>
                        <a:buNone/>
                      </a:pPr>
                      <a:r>
                        <a:rPr lang="en-US" sz="800" b="1" u="none" strike="noStrike" cap="none" dirty="0">
                          <a:solidFill>
                            <a:srgbClr val="FFC000"/>
                          </a:solidFill>
                        </a:rPr>
                        <a:t>110.7</a:t>
                      </a:r>
                      <a:endParaRPr sz="800" dirty="0">
                        <a:solidFill>
                          <a:srgbClr val="FFC000"/>
                        </a:solidFill>
                      </a:endParaRPr>
                    </a:p>
                  </a:txBody>
                  <a:tcPr marL="36000" marR="36000" marT="36000" marB="36000" anchor="ctr"/>
                </a:tc>
                <a:tc>
                  <a:txBody>
                    <a:bodyPr/>
                    <a:lstStyle/>
                    <a:p>
                      <a:pPr algn="ctr"/>
                      <a:r>
                        <a:rPr lang="en-US" sz="800" b="1" u="none" strike="noStrike" cap="none" dirty="0">
                          <a:solidFill>
                            <a:srgbClr val="FFC000"/>
                          </a:solidFill>
                        </a:rPr>
                        <a:t>14L ISEL </a:t>
                      </a:r>
                    </a:p>
                    <a:p>
                      <a:pPr algn="ctr"/>
                      <a:r>
                        <a:rPr lang="en-US" sz="800" b="1" u="none" strike="noStrike" cap="none" dirty="0">
                          <a:solidFill>
                            <a:srgbClr val="FFC000"/>
                          </a:solidFill>
                        </a:rPr>
                        <a:t>109.9</a:t>
                      </a:r>
                      <a:endParaRPr lang="ko-Kore-KR" altLang="en-US" sz="800" dirty="0">
                        <a:solidFill>
                          <a:srgbClr val="FFC000"/>
                        </a:solidFill>
                      </a:endParaRPr>
                    </a:p>
                  </a:txBody>
                  <a:tcPr marL="36000" marR="36000" marT="36000" marB="36000" anchor="ctr"/>
                </a:tc>
                <a:tc>
                  <a:txBody>
                    <a:bodyPr/>
                    <a:lstStyle/>
                    <a:p>
                      <a:pPr algn="ctr"/>
                      <a:r>
                        <a:rPr lang="en-US" sz="800" b="1" u="none" strike="noStrike" cap="none" dirty="0">
                          <a:solidFill>
                            <a:srgbClr val="FFC000"/>
                          </a:solidFill>
                        </a:rPr>
                        <a:t>14R IOFR 108.7</a:t>
                      </a:r>
                      <a:endParaRPr lang="ko-Kore-KR" altLang="en-US" sz="800" dirty="0">
                        <a:solidFill>
                          <a:srgbClr val="FFC000"/>
                        </a:solidFill>
                      </a:endParaRPr>
                    </a:p>
                  </a:txBody>
                  <a:tcPr marL="36000" marR="36000" marT="36000" marB="36000" anchor="ctr"/>
                </a:tc>
                <a:extLst>
                  <a:ext uri="{0D108BD9-81ED-4DB2-BD59-A6C34878D82A}">
                    <a16:rowId xmlns:a16="http://schemas.microsoft.com/office/drawing/2014/main" val="10005"/>
                  </a:ext>
                </a:extLst>
              </a:tr>
            </a:tbl>
          </a:graphicData>
        </a:graphic>
      </p:graphicFrame>
      <p:graphicFrame>
        <p:nvGraphicFramePr>
          <p:cNvPr id="7" name="Google Shape;106;p2">
            <a:extLst>
              <a:ext uri="{FF2B5EF4-FFF2-40B4-BE49-F238E27FC236}">
                <a16:creationId xmlns:a16="http://schemas.microsoft.com/office/drawing/2014/main" id="{EBD9A9FB-E757-406F-E86C-A8BB5C7DAD4A}"/>
              </a:ext>
            </a:extLst>
          </p:cNvPr>
          <p:cNvGraphicFramePr/>
          <p:nvPr>
            <p:extLst>
              <p:ext uri="{D42A27DB-BD31-4B8C-83A1-F6EECF244321}">
                <p14:modId xmlns:p14="http://schemas.microsoft.com/office/powerpoint/2010/main" val="4265859557"/>
              </p:ext>
            </p:extLst>
          </p:nvPr>
        </p:nvGraphicFramePr>
        <p:xfrm>
          <a:off x="674" y="2407965"/>
          <a:ext cx="2335824" cy="315840"/>
        </p:xfrm>
        <a:graphic>
          <a:graphicData uri="http://schemas.openxmlformats.org/drawingml/2006/table">
            <a:tbl>
              <a:tblPr firstRow="1" bandRow="1">
                <a:tableStyleId>{A521BE36-7E6F-4EC9-8D66-1CF97A6895EC}</a:tableStyleId>
              </a:tblPr>
              <a:tblGrid>
                <a:gridCol w="351751">
                  <a:extLst>
                    <a:ext uri="{9D8B030D-6E8A-4147-A177-3AD203B41FA5}">
                      <a16:colId xmlns:a16="http://schemas.microsoft.com/office/drawing/2014/main" val="20002"/>
                    </a:ext>
                  </a:extLst>
                </a:gridCol>
                <a:gridCol w="996950">
                  <a:extLst>
                    <a:ext uri="{9D8B030D-6E8A-4147-A177-3AD203B41FA5}">
                      <a16:colId xmlns:a16="http://schemas.microsoft.com/office/drawing/2014/main" val="20005"/>
                    </a:ext>
                  </a:extLst>
                </a:gridCol>
                <a:gridCol w="987123">
                  <a:extLst>
                    <a:ext uri="{9D8B030D-6E8A-4147-A177-3AD203B41FA5}">
                      <a16:colId xmlns:a16="http://schemas.microsoft.com/office/drawing/2014/main" val="2465525357"/>
                    </a:ext>
                  </a:extLst>
                </a:gridCol>
              </a:tblGrid>
              <a:tr h="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rgbClr val="FFC000"/>
                          </a:solidFill>
                        </a:rPr>
                        <a:t>FIX</a:t>
                      </a:r>
                      <a:endParaRPr sz="800" u="none" strike="noStrike" cap="none" dirty="0">
                        <a:solidFill>
                          <a:srgbClr val="FFC000"/>
                        </a:solidFill>
                      </a:endParaRPr>
                    </a:p>
                  </a:txBody>
                  <a:tcPr marL="36000" marR="36000" marT="36000" marB="36000" anchor="ctr">
                    <a:noFill/>
                  </a:tcPr>
                </a:tc>
                <a:tc>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u="none" strike="noStrike" cap="none" dirty="0">
                          <a:solidFill>
                            <a:schemeClr val="tx1"/>
                          </a:solidFill>
                        </a:rPr>
                        <a:t>32L/R : EO32L/R, R225</a:t>
                      </a:r>
                      <a:r>
                        <a:rPr lang="en-US" altLang="ko-Kore-KR" sz="600" u="none" strike="noStrike" cap="none" dirty="0">
                          <a:solidFill>
                            <a:schemeClr val="tx1"/>
                          </a:solidFill>
                        </a:rPr>
                        <a:t>, </a:t>
                      </a:r>
                      <a:r>
                        <a:rPr lang="en-US" altLang="ko-Kore-KR" sz="800" u="none" strike="noStrike" cap="none" dirty="0">
                          <a:solidFill>
                            <a:schemeClr val="tx1"/>
                          </a:solidFill>
                        </a:rPr>
                        <a:t>YJU R271</a:t>
                      </a:r>
                    </a:p>
                  </a:txBody>
                  <a:tcPr marL="36000" marR="36000" marT="36000" marB="36000" anchor="ctr">
                    <a:noFill/>
                  </a:tcPr>
                </a:tc>
                <a:tc>
                  <a:txBody>
                    <a:bodyPr/>
                    <a:lstStyle/>
                    <a:p>
                      <a:r>
                        <a:rPr lang="en-US" altLang="ko-Kore-KR" sz="800" u="none" strike="noStrike" cap="none" dirty="0">
                          <a:solidFill>
                            <a:schemeClr val="tx1"/>
                          </a:solidFill>
                        </a:rPr>
                        <a:t>14L/R : EO14L/R, R220, P73 /2</a:t>
                      </a:r>
                      <a:endParaRPr lang="ko-Kore-KR" altLang="en-US" dirty="0">
                        <a:solidFill>
                          <a:schemeClr val="tx1"/>
                        </a:solidFill>
                      </a:endParaRPr>
                    </a:p>
                  </a:txBody>
                  <a:tcPr marL="36000" marR="36000" marT="36000" marB="36000" anchor="ctr">
                    <a:no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602220924"/>
              </p:ext>
            </p:extLst>
          </p:nvPr>
        </p:nvGraphicFramePr>
        <p:xfrm>
          <a:off x="0" y="1070883"/>
          <a:ext cx="2339850"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406075">
                  <a:extLst>
                    <a:ext uri="{9D8B030D-6E8A-4147-A177-3AD203B41FA5}">
                      <a16:colId xmlns:a16="http://schemas.microsoft.com/office/drawing/2014/main" val="20004"/>
                    </a:ext>
                  </a:extLst>
                </a:gridCol>
                <a:gridCol w="61400">
                  <a:extLst>
                    <a:ext uri="{9D8B030D-6E8A-4147-A177-3AD203B41FA5}">
                      <a16:colId xmlns:a16="http://schemas.microsoft.com/office/drawing/2014/main" val="20006"/>
                    </a:ext>
                  </a:extLst>
                </a:gridCol>
                <a:gridCol w="169800">
                  <a:extLst>
                    <a:ext uri="{9D8B030D-6E8A-4147-A177-3AD203B41FA5}">
                      <a16:colId xmlns:a16="http://schemas.microsoft.com/office/drawing/2014/main" val="189605880"/>
                    </a:ext>
                  </a:extLst>
                </a:gridCol>
                <a:gridCol w="108100">
                  <a:extLst>
                    <a:ext uri="{9D8B030D-6E8A-4147-A177-3AD203B41FA5}">
                      <a16:colId xmlns:a16="http://schemas.microsoft.com/office/drawing/2014/main" val="20007"/>
                    </a:ext>
                  </a:extLst>
                </a:gridCol>
                <a:gridCol w="3352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u="none" strike="noStrike" cap="none"/>
                        <a:t>CJU : SID (NADP 1)</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a:t>07</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xE</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b="1" u="none" strike="noStrike" cap="none" dirty="0"/>
                        <a:t>066</a:t>
                      </a:r>
                      <a:r>
                        <a:rPr lang="en-US" sz="800" b="1" u="none" strike="noStrike" cap="none" dirty="0">
                          <a:solidFill>
                            <a:schemeClr val="dk1"/>
                          </a:solidFill>
                        </a:rPr>
                        <a:t> </a:t>
                      </a:r>
                      <a:r>
                        <a:rPr lang="en-US" sz="800" b="1" u="none" strike="noStrike" cap="none" dirty="0">
                          <a:solidFill>
                            <a:srgbClr val="0070C0"/>
                          </a:solidFill>
                        </a:rPr>
                        <a:t>10000 </a:t>
                      </a:r>
                      <a:endParaRPr sz="800" b="1" u="none" strike="noStrike" cap="none" dirty="0">
                        <a:solidFill>
                          <a:srgbClr val="0070C0"/>
                        </a:solidFill>
                      </a:endParaRPr>
                    </a:p>
                  </a:txBody>
                  <a:tcPr marL="36000" marR="36000" marT="36000" marB="36000" anchor="ctr"/>
                </a:tc>
                <a:tc hMerge="1">
                  <a:txBody>
                    <a:bodyPr/>
                    <a:lstStyle/>
                    <a:p>
                      <a:endParaRP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solidFill>
                          <a:srgbClr val="C0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a:t>25</a:t>
                      </a:r>
                      <a:endParaRPr sz="800" b="1" u="none" strike="noStrike" cap="none"/>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solidFill>
                            <a:srgbClr val="0070C0"/>
                          </a:solidFill>
                        </a:rPr>
                        <a:t>KAMIT xW</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endParaRPr sz="458" b="1" u="none" strike="noStrike" cap="none"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altLang="ko-KR" sz="800" b="1" u="none" strike="noStrike" cap="none" dirty="0"/>
                        <a:t>(</a:t>
                      </a:r>
                      <a:r>
                        <a:rPr lang="en-US" sz="800" b="1" u="none" strike="noStrike" cap="none" dirty="0"/>
                        <a:t>246</a:t>
                      </a:r>
                      <a:r>
                        <a:rPr lang="en-US" altLang="ko-KR" sz="800" b="1" u="none" strike="noStrike" cap="none" dirty="0"/>
                        <a:t>)</a:t>
                      </a:r>
                      <a:endParaRPr sz="800" b="1" u="none" strike="noStrike" cap="none" dirty="0"/>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0070C0"/>
                          </a:solidFill>
                        </a:rPr>
                        <a:t>10000</a:t>
                      </a:r>
                      <a:endParaRPr sz="800" b="1" u="none" strike="noStrike" cap="none"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u="none" strike="noStrike" cap="none" dirty="0">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YDM 109.0</a:t>
                      </a:r>
                      <a:endParaRPr sz="800" b="1" u="none" strike="noStrike" cap="none">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25 111.3</a:t>
                      </a: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u="none" strike="noStrike" cap="none" dirty="0"/>
                        <a:t>07 : NONE</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u="none" strike="noStrike" cap="none" dirty="0"/>
                        <a:t>25 : YDM246/3, R290</a:t>
                      </a:r>
                    </a:p>
                  </a:txBody>
                  <a:tcPr marL="36000" marR="36000" marT="36000" marB="36000" anchor="ctr"/>
                </a:tc>
                <a:tc hMerge="1">
                  <a:txBody>
                    <a:bodyPr/>
                    <a:lstStyle/>
                    <a:p>
                      <a:endParaRPr lang="ko-Kore-KR"/>
                    </a:p>
                  </a:txBody>
                  <a:tcPr/>
                </a:tc>
                <a:tc hMerge="1">
                  <a:txBody>
                    <a:bodyPr/>
                    <a:lstStyle/>
                    <a:p>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8" name="Google Shape;118;p3"/>
          <p:cNvGraphicFramePr/>
          <p:nvPr>
            <p:extLst>
              <p:ext uri="{D42A27DB-BD31-4B8C-83A1-F6EECF244321}">
                <p14:modId xmlns:p14="http://schemas.microsoft.com/office/powerpoint/2010/main" val="2886248390"/>
              </p:ext>
            </p:extLst>
          </p:nvPr>
        </p:nvGraphicFramePr>
        <p:xfrm>
          <a:off x="-1981" y="3864342"/>
          <a:ext cx="2330850" cy="1670650"/>
        </p:xfrm>
        <a:graphic>
          <a:graphicData uri="http://schemas.openxmlformats.org/drawingml/2006/table">
            <a:tbl>
              <a:tblPr firstRow="1" bandRow="1">
                <a:noFill/>
                <a:tableStyleId>{A521BE36-7E6F-4EC9-8D66-1CF97A6895EC}</a:tableStyleId>
              </a:tblPr>
              <a:tblGrid>
                <a:gridCol w="456500">
                  <a:extLst>
                    <a:ext uri="{9D8B030D-6E8A-4147-A177-3AD203B41FA5}">
                      <a16:colId xmlns:a16="http://schemas.microsoft.com/office/drawing/2014/main" val="20000"/>
                    </a:ext>
                  </a:extLst>
                </a:gridCol>
                <a:gridCol w="107600">
                  <a:extLst>
                    <a:ext uri="{9D8B030D-6E8A-4147-A177-3AD203B41FA5}">
                      <a16:colId xmlns:a16="http://schemas.microsoft.com/office/drawing/2014/main" val="20002"/>
                    </a:ext>
                  </a:extLst>
                </a:gridCol>
                <a:gridCol w="564100">
                  <a:extLst>
                    <a:ext uri="{9D8B030D-6E8A-4147-A177-3AD203B41FA5}">
                      <a16:colId xmlns:a16="http://schemas.microsoft.com/office/drawing/2014/main" val="20003"/>
                    </a:ext>
                  </a:extLst>
                </a:gridCol>
                <a:gridCol w="515550">
                  <a:extLst>
                    <a:ext uri="{9D8B030D-6E8A-4147-A177-3AD203B41FA5}">
                      <a16:colId xmlns:a16="http://schemas.microsoft.com/office/drawing/2014/main" val="20005"/>
                    </a:ext>
                  </a:extLst>
                </a:gridCol>
                <a:gridCol w="687100">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u="none" strike="noStrike" cap="none"/>
                        <a:t>GMP : STAR</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hMerge="1">
                  <a:txBody>
                    <a:bodyPr/>
                    <a:lstStyle/>
                    <a:p>
                      <a:r>
                        <a:rPr lang="en-US" sz="800" b="1" u="none" strike="noStrike" cap="none"/>
                        <a:t>OLMEN xT</a:t>
                      </a:r>
                      <a:endParaRPr lang="ko-Kore-KR"/>
                    </a:p>
                  </a:txBody>
                  <a:tcPr marL="36000" marR="36000" marT="36000" marB="36000" anchor="ctr"/>
                </a:tc>
                <a:tc>
                  <a:txBody>
                    <a:bodyPr/>
                    <a:lstStyle/>
                    <a:p>
                      <a:pPr algn="ctr"/>
                      <a:r>
                        <a:rPr lang="en-US" sz="800" b="1" u="none" strike="noStrike" cap="none"/>
                        <a:t>OLMEN xT</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hMerge="1">
                  <a:txBody>
                    <a:bodyPr/>
                    <a:lstStyle/>
                    <a:p>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algn="ctr"/>
                      <a:r>
                        <a:rPr lang="en-US" sz="800" b="1" u="none" strike="noStrike" cap="none" dirty="0"/>
                        <a:t>OLMEN </a:t>
                      </a:r>
                      <a:r>
                        <a:rPr lang="en-US" sz="800" b="1" u="none" strike="noStrike" cap="none"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t>DOKDO</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rtl="0">
                        <a:spcBef>
                          <a:spcPts val="0"/>
                        </a:spcBef>
                        <a:spcAft>
                          <a:spcPts val="0"/>
                        </a:spcAft>
                        <a:buNone/>
                      </a:pPr>
                      <a:r>
                        <a:rPr lang="en-US" sz="800" u="none" strike="noStrike" cap="none">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u="none" strike="noStrike" cap="none"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a:t>
                      </a:r>
                      <a:r>
                        <a:rPr lang="en-US" sz="800" b="1" dirty="0">
                          <a:solidFill>
                            <a:srgbClr val="C00000"/>
                          </a:solidFill>
                          <a:latin typeface="Calibri"/>
                          <a:ea typeface="Calibri"/>
                          <a:cs typeface="Calibri"/>
                          <a:sym typeface="Calibri"/>
                        </a:rPr>
                        <a:t>(No CL L/T)</a:t>
                      </a:r>
                      <a:r>
                        <a:rPr lang="en-US" sz="800" b="1" dirty="0">
                          <a:solidFill>
                            <a:schemeClr val="dk1"/>
                          </a:solidFill>
                          <a:latin typeface="Calibri"/>
                          <a:ea typeface="Calibri"/>
                          <a:cs typeface="Calibri"/>
                          <a:sym typeface="Calibri"/>
                        </a:rPr>
                        <a:t>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1751314156"/>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30" name="Google Shape;130;p3"/>
          <p:cNvPicPr preferRelativeResize="0"/>
          <p:nvPr/>
        </p:nvPicPr>
        <p:blipFill rotWithShape="1">
          <a:blip r:embed="rId5">
            <a:alphaModFix/>
          </a:blip>
          <a:srcRect/>
          <a:stretch/>
        </p:blipFill>
        <p:spPr>
          <a:xfrm>
            <a:off x="-2501" y="2394041"/>
            <a:ext cx="1166932" cy="829288"/>
          </a:xfrm>
          <a:prstGeom prst="rect">
            <a:avLst/>
          </a:prstGeom>
          <a:noFill/>
          <a:ln>
            <a:noFill/>
          </a:ln>
        </p:spPr>
      </p:pic>
      <p:pic>
        <p:nvPicPr>
          <p:cNvPr id="4" name="그림 3" descr="텍스트, 시계이(가) 표시된 사진&#10;&#10;자동 생성된 설명">
            <a:extLst>
              <a:ext uri="{FF2B5EF4-FFF2-40B4-BE49-F238E27FC236}">
                <a16:creationId xmlns:a16="http://schemas.microsoft.com/office/drawing/2014/main" id="{2AAA03F3-9C76-BDAE-2BA4-2B888A8439F6}"/>
              </a:ext>
            </a:extLst>
          </p:cNvPr>
          <p:cNvPicPr>
            <a:picLocks noChangeAspect="1"/>
          </p:cNvPicPr>
          <p:nvPr/>
        </p:nvPicPr>
        <p:blipFill>
          <a:blip r:embed="rId6"/>
          <a:stretch>
            <a:fillRect/>
          </a:stretch>
        </p:blipFill>
        <p:spPr>
          <a:xfrm>
            <a:off x="1602416" y="584746"/>
            <a:ext cx="492402" cy="492402"/>
          </a:xfrm>
          <a:prstGeom prst="rect">
            <a:avLst/>
          </a:prstGeom>
        </p:spPr>
      </p:pic>
      <p:sp>
        <p:nvSpPr>
          <p:cNvPr id="2" name="TextBox 1">
            <a:extLst>
              <a:ext uri="{FF2B5EF4-FFF2-40B4-BE49-F238E27FC236}">
                <a16:creationId xmlns:a16="http://schemas.microsoft.com/office/drawing/2014/main" id="{039C51EF-5E3E-676B-B9A0-C6A5F8FD5CEF}"/>
              </a:ext>
            </a:extLst>
          </p:cNvPr>
          <p:cNvSpPr txBox="1"/>
          <p:nvPr/>
        </p:nvSpPr>
        <p:spPr>
          <a:xfrm>
            <a:off x="1268244" y="3184785"/>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3" name="직사각형 2">
            <a:hlinkClick r:id="" action="ppaction://hlinkshowjump?jump=firstslide"/>
            <a:extLst>
              <a:ext uri="{FF2B5EF4-FFF2-40B4-BE49-F238E27FC236}">
                <a16:creationId xmlns:a16="http://schemas.microsoft.com/office/drawing/2014/main" id="{DD9173A3-1ECF-6009-194E-99FFD55E035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2" name="그림 1" descr="텍스트, 지도, 폰트, 도표이(가) 표시된 사진&#10;&#10;자동 생성된 설명">
            <a:extLst>
              <a:ext uri="{FF2B5EF4-FFF2-40B4-BE49-F238E27FC236}">
                <a16:creationId xmlns:a16="http://schemas.microsoft.com/office/drawing/2014/main" id="{1D9EE3FE-3D0C-40C8-D531-747FC2E143D7}"/>
              </a:ext>
            </a:extLst>
          </p:cNvPr>
          <p:cNvPicPr>
            <a:picLocks noChangeAspect="1"/>
          </p:cNvPicPr>
          <p:nvPr/>
        </p:nvPicPr>
        <p:blipFill>
          <a:blip r:embed="rId3"/>
          <a:stretch>
            <a:fillRect/>
          </a:stretch>
        </p:blipFill>
        <p:spPr>
          <a:xfrm>
            <a:off x="-3340" y="2899247"/>
            <a:ext cx="750216" cy="748625"/>
          </a:xfrm>
          <a:prstGeom prst="rect">
            <a:avLst/>
          </a:prstGeom>
        </p:spPr>
      </p:pic>
      <p:graphicFrame>
        <p:nvGraphicFramePr>
          <p:cNvPr id="136" name="Google Shape;136;p4"/>
          <p:cNvGraphicFramePr/>
          <p:nvPr>
            <p:extLst>
              <p:ext uri="{D42A27DB-BD31-4B8C-83A1-F6EECF244321}">
                <p14:modId xmlns:p14="http://schemas.microsoft.com/office/powerpoint/2010/main" val="3333149393"/>
              </p:ext>
            </p:extLst>
          </p:nvPr>
        </p:nvGraphicFramePr>
        <p:xfrm>
          <a:off x="0" y="1049052"/>
          <a:ext cx="2339850" cy="184398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406075">
                  <a:extLst>
                    <a:ext uri="{9D8B030D-6E8A-4147-A177-3AD203B41FA5}">
                      <a16:colId xmlns:a16="http://schemas.microsoft.com/office/drawing/2014/main" val="20003"/>
                    </a:ext>
                  </a:extLst>
                </a:gridCol>
                <a:gridCol w="61400">
                  <a:extLst>
                    <a:ext uri="{9D8B030D-6E8A-4147-A177-3AD203B41FA5}">
                      <a16:colId xmlns:a16="http://schemas.microsoft.com/office/drawing/2014/main" val="20005"/>
                    </a:ext>
                  </a:extLst>
                </a:gridCol>
                <a:gridCol w="70400">
                  <a:extLst>
                    <a:ext uri="{9D8B030D-6E8A-4147-A177-3AD203B41FA5}">
                      <a16:colId xmlns:a16="http://schemas.microsoft.com/office/drawing/2014/main" val="1866786423"/>
                    </a:ext>
                  </a:extLst>
                </a:gridCol>
                <a:gridCol w="207500">
                  <a:extLst>
                    <a:ext uri="{9D8B030D-6E8A-4147-A177-3AD203B41FA5}">
                      <a16:colId xmlns:a16="http://schemas.microsoft.com/office/drawing/2014/main" val="20006"/>
                    </a:ext>
                  </a:extLst>
                </a:gridCol>
                <a:gridCol w="231500">
                  <a:extLst>
                    <a:ext uri="{9D8B030D-6E8A-4147-A177-3AD203B41FA5}">
                      <a16:colId xmlns:a16="http://schemas.microsoft.com/office/drawing/2014/main" val="20007"/>
                    </a:ext>
                  </a:extLst>
                </a:gridCol>
                <a:gridCol w="1037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150825">
                <a:tc gridSpan="10">
                  <a:txBody>
                    <a:bodyPr/>
                    <a:lstStyle/>
                    <a:p>
                      <a:pPr marL="0" marR="0" lvl="0" indent="0" algn="ctr" rtl="0">
                        <a:spcBef>
                          <a:spcPts val="0"/>
                        </a:spcBef>
                        <a:spcAft>
                          <a:spcPts val="0"/>
                        </a:spcAft>
                        <a:buNone/>
                      </a:pPr>
                      <a:r>
                        <a:rPr lang="en-US" altLang="ko-Kore-KR" sz="800" u="none" strike="noStrike" cap="none" dirty="0"/>
                        <a:t>GMP : NADP FX-10</a:t>
                      </a:r>
                      <a:r>
                        <a:rPr lang="ko-KR" altLang="en-US" sz="800" u="none" strike="noStrike" cap="none" dirty="0"/>
                        <a:t>도</a:t>
                      </a:r>
                      <a:r>
                        <a:rPr lang="en-US" altLang="ko-KR" sz="800" u="none" strike="noStrike" cap="none" dirty="0"/>
                        <a:t>,</a:t>
                      </a:r>
                      <a:r>
                        <a:rPr lang="ko-KR" altLang="en-US" sz="800" u="none" strike="noStrike" cap="none" dirty="0"/>
                        <a:t> </a:t>
                      </a:r>
                      <a:r>
                        <a:rPr lang="en-US" altLang="ko-KR" sz="800" u="none" strike="noStrike" cap="none" dirty="0"/>
                        <a:t>CLB, CONF 1+F, Acc 4000ft</a:t>
                      </a:r>
                      <a:endParaRPr lang="en-US" altLang="ko-Kore-K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7075">
                <a:tc rowSpan="2">
                  <a:txBody>
                    <a:bodyPr/>
                    <a:lstStyle/>
                    <a:p>
                      <a:pPr marL="0" marR="0" lvl="0" indent="0" algn="ctr" rtl="0">
                        <a:spcBef>
                          <a:spcPts val="0"/>
                        </a:spcBef>
                        <a:spcAft>
                          <a:spcPts val="0"/>
                        </a:spcAft>
                        <a:buNone/>
                      </a:pPr>
                      <a:r>
                        <a:rPr lang="en-US" sz="800" b="1"/>
                        <a:t>32L/R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xT</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altLang="ko-KR" sz="800" b="1" dirty="0"/>
                        <a:t>(</a:t>
                      </a:r>
                      <a:r>
                        <a:rPr lang="en-US" sz="800" b="1" dirty="0"/>
                        <a:t>324</a:t>
                      </a:r>
                      <a:r>
                        <a:rPr lang="en-US" altLang="ko-KR" sz="800" b="1" dirty="0"/>
                        <a:t>)</a:t>
                      </a:r>
                      <a:endParaRPr sz="800" b="1"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5000</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xQ)</a:t>
                      </a:r>
                      <a:endParaRPr sz="80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altLang="ko-KR" sz="800" dirty="0"/>
                        <a:t>(</a:t>
                      </a:r>
                      <a:r>
                        <a:rPr lang="en-US" sz="800" dirty="0"/>
                        <a:t>324</a:t>
                      </a:r>
                      <a:r>
                        <a:rPr lang="en-US" altLang="ko-KR" sz="800" dirty="0"/>
                        <a:t>)</a:t>
                      </a:r>
                      <a:endParaRPr sz="800"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2"/>
                  </a:ext>
                </a:extLst>
              </a:tr>
              <a:tr h="137075">
                <a:tc rowSpan="2">
                  <a:txBody>
                    <a:bodyPr/>
                    <a:lstStyle/>
                    <a:p>
                      <a:pPr marL="0" marR="0" lvl="0" indent="0" algn="ctr" rtl="0">
                        <a:spcBef>
                          <a:spcPts val="0"/>
                        </a:spcBef>
                        <a:spcAft>
                          <a:spcPts val="0"/>
                        </a:spcAft>
                        <a:buNone/>
                      </a:pPr>
                      <a:r>
                        <a:rPr lang="en-US" sz="800" b="1"/>
                        <a:t>14L/R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xU</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altLang="ko-KR" sz="800" b="1" dirty="0"/>
                        <a:t>(</a:t>
                      </a:r>
                      <a:r>
                        <a:rPr lang="en-US" sz="800" b="1" dirty="0"/>
                        <a:t>144</a:t>
                      </a:r>
                      <a:r>
                        <a:rPr lang="en-US" altLang="ko-KR" sz="800" b="1" dirty="0"/>
                        <a:t>)</a:t>
                      </a:r>
                      <a:endParaRPr sz="800" b="1"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6000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37075">
                <a:tc vMerge="1">
                  <a:txBody>
                    <a:bodyPr/>
                    <a:lstStyle/>
                    <a:p>
                      <a:endParaRPr lang="ko-Kore-KR"/>
                    </a:p>
                  </a:txBody>
                  <a:tcPr/>
                </a:tc>
                <a:tc gridSpan="2">
                  <a:txBody>
                    <a:bodyPr/>
                    <a:lstStyle/>
                    <a:p>
                      <a:pPr marL="0" marR="0" lvl="0" indent="0" algn="ctr" rtl="0">
                        <a:spcBef>
                          <a:spcPts val="0"/>
                        </a:spcBef>
                        <a:spcAft>
                          <a:spcPts val="0"/>
                        </a:spcAft>
                        <a:buNone/>
                      </a:pPr>
                      <a:r>
                        <a:rPr lang="en-US" sz="800"/>
                        <a:t>(OSPOT xZ)</a:t>
                      </a:r>
                      <a:endParaRPr sz="80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altLang="ko-KR" sz="800" dirty="0"/>
                        <a:t>(</a:t>
                      </a:r>
                      <a:r>
                        <a:rPr lang="en-US" sz="800" dirty="0"/>
                        <a:t>144</a:t>
                      </a:r>
                      <a:r>
                        <a:rPr lang="en-US" altLang="ko-KR" sz="800" dirty="0"/>
                        <a:t>)</a:t>
                      </a:r>
                      <a:endParaRPr sz="800"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0070C0"/>
                          </a:solidFill>
                        </a:rPr>
                        <a:t>6000</a:t>
                      </a:r>
                      <a:endParaRPr sz="800"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4"/>
                  </a:ext>
                </a:extLst>
              </a:tr>
              <a:tr h="22325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KIP</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113.6</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32L</a:t>
                      </a:r>
                      <a:endParaRPr dirty="0"/>
                    </a:p>
                    <a:p>
                      <a:pPr marL="0" marR="0" lvl="0" indent="0" algn="ctr" rtl="0">
                        <a:spcBef>
                          <a:spcPts val="0"/>
                        </a:spcBef>
                        <a:spcAft>
                          <a:spcPts val="0"/>
                        </a:spcAft>
                        <a:buNone/>
                      </a:pPr>
                      <a:r>
                        <a:rPr lang="en-US" sz="800" b="1" dirty="0">
                          <a:solidFill>
                            <a:srgbClr val="C00000"/>
                          </a:solidFill>
                        </a:rPr>
                        <a:t>108.3</a:t>
                      </a:r>
                      <a:endParaRPr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C00000"/>
                          </a:solidFill>
                        </a:rPr>
                        <a:t>32R </a:t>
                      </a:r>
                      <a:endParaRPr dirty="0"/>
                    </a:p>
                    <a:p>
                      <a:pPr marL="0" marR="0" lvl="0" indent="0" algn="ctr" rtl="0">
                        <a:spcBef>
                          <a:spcPts val="0"/>
                        </a:spcBef>
                        <a:spcAft>
                          <a:spcPts val="0"/>
                        </a:spcAft>
                        <a:buNone/>
                      </a:pPr>
                      <a:r>
                        <a:rPr lang="en-US" sz="800" b="1" dirty="0">
                          <a:solidFill>
                            <a:srgbClr val="C00000"/>
                          </a:solidFill>
                        </a:rPr>
                        <a:t>110.7</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solidFill>
                            <a:srgbClr val="C00000"/>
                          </a:solidFill>
                        </a:rPr>
                        <a:t>14L 109.9</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14R 108.7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37075">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32L/R : EO32L/R, R225, YJU R271</a:t>
                      </a:r>
                    </a:p>
                  </a:txBody>
                  <a:tcPr marL="36000" marR="36000" marT="36000" marB="36000" anchor="ctr"/>
                </a:tc>
                <a:tc hMerge="1">
                  <a:txBody>
                    <a:bodyPr/>
                    <a:lstStyle/>
                    <a:p>
                      <a:endParaRPr lang="ko-Kore-KR"/>
                    </a:p>
                  </a:txBody>
                  <a:tcPr/>
                </a:tc>
                <a:tc hMerge="1">
                  <a:txBody>
                    <a:bodyPr/>
                    <a:lstStyle/>
                    <a:p>
                      <a:endParaRPr lang="ko-Kore-KR"/>
                    </a:p>
                  </a:txBody>
                  <a:tcPr/>
                </a:tc>
                <a:tc gridSpan="5">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dirty="0"/>
                        <a:t>14L/R : EO14L/R, R220, P73 /2</a:t>
                      </a:r>
                    </a:p>
                  </a:txBody>
                  <a:tcPr marL="36000" marR="36000" marT="36000" marB="36000" anchor="ctr"/>
                </a:tc>
                <a:tc hMerge="1">
                  <a:txBody>
                    <a:bodyPr/>
                    <a:lstStyle/>
                    <a:p>
                      <a:endParaRPr lang="ko-Kore-KR"/>
                    </a:p>
                  </a:txBody>
                  <a:tcPr/>
                </a:tc>
                <a:tc hMerge="1">
                  <a:txBody>
                    <a:bodyPr/>
                    <a:lstStyle/>
                    <a:p>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23250">
                <a:tc gridSpan="10">
                  <a:txBody>
                    <a:bodyPr/>
                    <a:lstStyle/>
                    <a:p>
                      <a:pPr marL="0" marR="0" lvl="0" indent="0" algn="ctr" rtl="0">
                        <a:lnSpc>
                          <a:spcPct val="100000"/>
                        </a:lnSpc>
                        <a:spcBef>
                          <a:spcPts val="0"/>
                        </a:spcBef>
                        <a:spcAft>
                          <a:spcPts val="0"/>
                        </a:spcAft>
                        <a:buClr>
                          <a:srgbClr val="000000"/>
                        </a:buClr>
                        <a:buSzPts val="800"/>
                        <a:buFont typeface="Calibri"/>
                        <a:buNone/>
                      </a:pPr>
                      <a:r>
                        <a:rPr lang="en-US" sz="800" b="0" i="0" u="none" strike="noStrike" cap="none" dirty="0">
                          <a:solidFill>
                            <a:srgbClr val="000000"/>
                          </a:solidFill>
                          <a:latin typeface="Calibri"/>
                          <a:ea typeface="Calibri"/>
                          <a:cs typeface="Calibri"/>
                          <a:sym typeface="Calibri"/>
                        </a:rPr>
                        <a:t>APRON(130.875) -&gt; GND(121.9) -&gt; TWR (All by ATC)</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37" name="Google Shape;137;p4"/>
          <p:cNvGraphicFramePr/>
          <p:nvPr>
            <p:extLst>
              <p:ext uri="{D42A27DB-BD31-4B8C-83A1-F6EECF244321}">
                <p14:modId xmlns:p14="http://schemas.microsoft.com/office/powerpoint/2010/main" val="3251774391"/>
              </p:ext>
            </p:extLst>
          </p:nvPr>
        </p:nvGraphicFramePr>
        <p:xfrm>
          <a:off x="-3340" y="4105609"/>
          <a:ext cx="2328850" cy="1426810"/>
        </p:xfrm>
        <a:graphic>
          <a:graphicData uri="http://schemas.openxmlformats.org/drawingml/2006/table">
            <a:tbl>
              <a:tblPr firstRow="1" bandRow="1">
                <a:noFill/>
                <a:tableStyleId>{A521BE36-7E6F-4EC9-8D66-1CF97A6895EC}</a:tableStyleId>
              </a:tblPr>
              <a:tblGrid>
                <a:gridCol w="382193">
                  <a:extLst>
                    <a:ext uri="{9D8B030D-6E8A-4147-A177-3AD203B41FA5}">
                      <a16:colId xmlns:a16="http://schemas.microsoft.com/office/drawing/2014/main" val="20000"/>
                    </a:ext>
                  </a:extLst>
                </a:gridCol>
                <a:gridCol w="497325">
                  <a:extLst>
                    <a:ext uri="{9D8B030D-6E8A-4147-A177-3AD203B41FA5}">
                      <a16:colId xmlns:a16="http://schemas.microsoft.com/office/drawing/2014/main" val="20001"/>
                    </a:ext>
                  </a:extLst>
                </a:gridCol>
                <a:gridCol w="396856">
                  <a:extLst>
                    <a:ext uri="{9D8B030D-6E8A-4147-A177-3AD203B41FA5}">
                      <a16:colId xmlns:a16="http://schemas.microsoft.com/office/drawing/2014/main" val="20003"/>
                    </a:ext>
                  </a:extLst>
                </a:gridCol>
                <a:gridCol w="1052476">
                  <a:extLst>
                    <a:ext uri="{9D8B030D-6E8A-4147-A177-3AD203B41FA5}">
                      <a16:colId xmlns:a16="http://schemas.microsoft.com/office/drawing/2014/main" val="20005"/>
                    </a:ext>
                  </a:extLst>
                </a:gridCol>
              </a:tblGrid>
              <a:tr h="146675">
                <a:tc gridSpan="4">
                  <a:txBody>
                    <a:bodyPr/>
                    <a:lstStyle/>
                    <a:p>
                      <a:pPr marL="0" marR="0" lvl="0" indent="0" algn="r" rtl="0">
                        <a:spcBef>
                          <a:spcPts val="0"/>
                        </a:spcBef>
                        <a:spcAft>
                          <a:spcPts val="0"/>
                        </a:spcAft>
                        <a:buNone/>
                      </a:pPr>
                      <a:r>
                        <a:rPr lang="en-US" sz="800" dirty="0"/>
                        <a:t>PUS : STAR </a:t>
                      </a:r>
                      <a:r>
                        <a:rPr lang="en-US" sz="800" dirty="0">
                          <a:solidFill>
                            <a:srgbClr val="FFC000"/>
                          </a:solidFill>
                        </a:rPr>
                        <a:t>(T</a:t>
                      </a:r>
                      <a:r>
                        <a:rPr lang="en-US" altLang="ko-KR" sz="800" dirty="0">
                          <a:solidFill>
                            <a:srgbClr val="FFC000"/>
                          </a:solidFill>
                        </a:rPr>
                        <a:t>/</a:t>
                      </a:r>
                      <a:r>
                        <a:rPr lang="en-US" sz="800" dirty="0">
                          <a:solidFill>
                            <a:srgbClr val="FFC000"/>
                          </a:solidFill>
                        </a:rPr>
                        <a:t>W </a:t>
                      </a:r>
                      <a:r>
                        <a:rPr lang="en-US" altLang="ko-KR" sz="800" dirty="0">
                          <a:solidFill>
                            <a:srgbClr val="FFC000"/>
                          </a:solidFill>
                        </a:rPr>
                        <a:t>10tks, </a:t>
                      </a:r>
                      <a:r>
                        <a:rPr lang="en-US" sz="800" dirty="0">
                          <a:solidFill>
                            <a:srgbClr val="FFC000"/>
                          </a:solidFill>
                        </a:rPr>
                        <a:t>36R</a:t>
                      </a:r>
                      <a:r>
                        <a:rPr lang="en-US" altLang="ko-KR" sz="800" dirty="0">
                          <a:solidFill>
                            <a:srgbClr val="FFC000"/>
                          </a:solidFill>
                        </a:rPr>
                        <a:t>,</a:t>
                      </a:r>
                      <a:r>
                        <a:rPr lang="en-US" sz="800" dirty="0">
                          <a:solidFill>
                            <a:srgbClr val="FFC000"/>
                          </a:solidFill>
                        </a:rPr>
                        <a:t> 360000lbs </a:t>
                      </a:r>
                      <a:r>
                        <a:rPr lang="ko-KR" altLang="en-US" sz="800" dirty="0">
                          <a:solidFill>
                            <a:srgbClr val="FFC000"/>
                          </a:solidFill>
                        </a:rPr>
                        <a:t>제한</a:t>
                      </a:r>
                      <a:r>
                        <a:rPr lang="en-US" sz="800" dirty="0">
                          <a:solidFill>
                            <a:srgbClr val="FFC000"/>
                          </a:solidFill>
                        </a:rPr>
                        <a:t>)</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hlinkClick r:id="rId4" action="ppaction://hlinksldjump">
                            <a:extLst>
                              <a:ext uri="{A12FA001-AC4F-418D-AE19-62706E023703}">
                                <ahyp:hlinkClr xmlns:ahyp="http://schemas.microsoft.com/office/drawing/2018/hyperlinkcolor" val="tx"/>
                              </a:ext>
                            </a:extLst>
                          </a:hlinkClick>
                        </a:rPr>
                        <a:t>18 Circling Click!!</a:t>
                      </a:r>
                      <a:endParaRP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138" name="Google Shape;138;p4"/>
          <p:cNvGraphicFramePr/>
          <p:nvPr>
            <p:extLst>
              <p:ext uri="{D42A27DB-BD31-4B8C-83A1-F6EECF244321}">
                <p14:modId xmlns:p14="http://schemas.microsoft.com/office/powerpoint/2010/main" val="2677521491"/>
              </p:ext>
            </p:extLst>
          </p:nvPr>
        </p:nvGraphicFramePr>
        <p:xfrm>
          <a:off x="-2501" y="16504"/>
          <a:ext cx="2328850" cy="58611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3131">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5">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6">
                            <a:extLst>
                              <a:ext uri="{A12FA001-AC4F-418D-AE19-62706E023703}">
                                <ahyp:hlinkClr xmlns:ahyp="http://schemas.microsoft.com/office/drawing/2018/hyperlinkcolor" val="tx"/>
                              </a:ext>
                            </a:extLst>
                          </a:hlinkClick>
                        </a:rPr>
                        <a:t>RKPK(PUS) 13ft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372979">
                <a:tc>
                  <a:txBody>
                    <a:bodyPr/>
                    <a:lstStyle/>
                    <a:p>
                      <a:pPr marL="0" marR="0" lvl="0" indent="0" algn="ctr" rtl="0">
                        <a:spcBef>
                          <a:spcPts val="0"/>
                        </a:spcBef>
                        <a:spcAft>
                          <a:spcPts val="0"/>
                        </a:spcAft>
                        <a:buNone/>
                      </a:pPr>
                      <a:r>
                        <a:rPr lang="en-US" sz="900" dirty="0"/>
                        <a:t>KE GMP 131.15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-15분 </a:t>
                      </a:r>
                      <a:r>
                        <a:rPr lang="en-US" sz="600" dirty="0" err="1">
                          <a:solidFill>
                            <a:srgbClr val="FF0000"/>
                          </a:solidFill>
                          <a:latin typeface="Calibri"/>
                          <a:ea typeface="Calibri"/>
                          <a:cs typeface="Calibri"/>
                          <a:sym typeface="Calibri"/>
                        </a:rPr>
                        <a:t>가능</a:t>
                      </a:r>
                      <a:r>
                        <a:rPr lang="en-US" sz="600" dirty="0">
                          <a:solidFill>
                            <a:srgbClr val="FF0000"/>
                          </a:solidFill>
                          <a:latin typeface="Calibri"/>
                          <a:ea typeface="Calibri"/>
                          <a:cs typeface="Calibri"/>
                          <a:sym typeface="Calibri"/>
                        </a:rPr>
                        <a:t>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39" name="Google Shape;139;p4"/>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32R </a:t>
            </a:r>
            <a:r>
              <a:rPr lang="en-US" sz="1000" b="1" dirty="0">
                <a:solidFill>
                  <a:srgbClr val="C00000"/>
                </a:solidFill>
                <a:latin typeface="Calibri"/>
                <a:ea typeface="Calibri"/>
                <a:cs typeface="Calibri"/>
                <a:sym typeface="Calibri"/>
              </a:rPr>
              <a:t>Takeoff </a:t>
            </a:r>
            <a:endParaRPr sz="1800" b="1" dirty="0">
              <a:solidFill>
                <a:srgbClr val="C00000"/>
              </a:solidFill>
            </a:endParaRPr>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3" name="그림 2">
            <a:extLst>
              <a:ext uri="{FF2B5EF4-FFF2-40B4-BE49-F238E27FC236}">
                <a16:creationId xmlns:a16="http://schemas.microsoft.com/office/drawing/2014/main" id="{3DF371A0-F72D-9E9E-6B0B-BD68FCA24974}"/>
              </a:ext>
            </a:extLst>
          </p:cNvPr>
          <p:cNvPicPr>
            <a:picLocks noChangeAspect="1"/>
          </p:cNvPicPr>
          <p:nvPr/>
        </p:nvPicPr>
        <p:blipFill>
          <a:blip r:embed="rId7"/>
          <a:stretch>
            <a:fillRect/>
          </a:stretch>
        </p:blipFill>
        <p:spPr>
          <a:xfrm>
            <a:off x="148563" y="602614"/>
            <a:ext cx="451728" cy="451728"/>
          </a:xfrm>
          <a:prstGeom prst="rect">
            <a:avLst/>
          </a:prstGeom>
        </p:spPr>
      </p:pic>
      <p:sp>
        <p:nvSpPr>
          <p:cNvPr id="5" name="TextBox 4">
            <a:extLst>
              <a:ext uri="{FF2B5EF4-FFF2-40B4-BE49-F238E27FC236}">
                <a16:creationId xmlns:a16="http://schemas.microsoft.com/office/drawing/2014/main" id="{BEE200D8-914C-01D7-557E-F73D37FB7632}"/>
              </a:ext>
            </a:extLst>
          </p:cNvPr>
          <p:cNvSpPr txBox="1"/>
          <p:nvPr/>
        </p:nvSpPr>
        <p:spPr>
          <a:xfrm>
            <a:off x="1268244" y="3491513"/>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4" name="직사각형 3">
            <a:hlinkClick r:id="" action="ppaction://hlinkshowjump?jump=firstslide"/>
            <a:extLst>
              <a:ext uri="{FF2B5EF4-FFF2-40B4-BE49-F238E27FC236}">
                <a16:creationId xmlns:a16="http://schemas.microsoft.com/office/drawing/2014/main" id="{959ADE64-A15F-6E0A-A757-78B60E7B342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9"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graphicFrame>
        <p:nvGraphicFramePr>
          <p:cNvPr id="155" name="Google Shape;155;p5"/>
          <p:cNvGraphicFramePr/>
          <p:nvPr>
            <p:extLst>
              <p:ext uri="{D42A27DB-BD31-4B8C-83A1-F6EECF244321}">
                <p14:modId xmlns:p14="http://schemas.microsoft.com/office/powerpoint/2010/main" val="767259003"/>
              </p:ext>
            </p:extLst>
          </p:nvPr>
        </p:nvGraphicFramePr>
        <p:xfrm>
          <a:off x="0" y="1063540"/>
          <a:ext cx="2330925"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339300">
                  <a:extLst>
                    <a:ext uri="{9D8B030D-6E8A-4147-A177-3AD203B41FA5}">
                      <a16:colId xmlns:a16="http://schemas.microsoft.com/office/drawing/2014/main" val="20006"/>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0">
                  <a:txBody>
                    <a:bodyPr/>
                    <a:lstStyle/>
                    <a:p>
                      <a:pPr marL="0" marR="0" lvl="0" indent="0" algn="ctr" rtl="0">
                        <a:spcBef>
                          <a:spcPts val="0"/>
                        </a:spcBef>
                        <a:spcAft>
                          <a:spcPts val="0"/>
                        </a:spcAft>
                        <a:buNone/>
                      </a:pPr>
                      <a:r>
                        <a:rPr lang="en-US" sz="800" dirty="0"/>
                        <a:t>PUS : </a:t>
                      </a:r>
                      <a:r>
                        <a:rPr lang="en-US" sz="800" dirty="0">
                          <a:solidFill>
                            <a:srgbClr val="FFC000"/>
                          </a:solidFill>
                        </a:rPr>
                        <a:t>NADP CLB 1</a:t>
                      </a:r>
                      <a:r>
                        <a:rPr lang="en-US" altLang="ko-KR" sz="800" dirty="0">
                          <a:solidFill>
                            <a:srgbClr val="FFC000"/>
                          </a:solidFill>
                        </a:rPr>
                        <a:t>5</a:t>
                      </a:r>
                      <a:r>
                        <a:rPr lang="en-US" sz="800" dirty="0">
                          <a:solidFill>
                            <a:srgbClr val="FFC000"/>
                          </a:solidFill>
                        </a:rPr>
                        <a:t>00, </a:t>
                      </a:r>
                      <a:r>
                        <a:rPr lang="en-US" altLang="ko-KR" sz="800" dirty="0">
                          <a:solidFill>
                            <a:srgbClr val="FFC000"/>
                          </a:solidFill>
                        </a:rPr>
                        <a:t>360</a:t>
                      </a:r>
                      <a:r>
                        <a:rPr lang="en-US" sz="800" dirty="0">
                          <a:solidFill>
                            <a:srgbClr val="FFC000"/>
                          </a:solidFill>
                        </a:rPr>
                        <a:t>000lbs MAX, CONF 1+F</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SOORO x</a:t>
                      </a:r>
                      <a:endParaRPr sz="800" b="1" dirty="0">
                        <a:solidFill>
                          <a:srgbClr val="0070C0"/>
                        </a:solidFill>
                      </a:endParaRPr>
                    </a:p>
                    <a:p>
                      <a:pPr marL="0" marR="0" lvl="0" indent="0" algn="ctr" rtl="0">
                        <a:spcBef>
                          <a:spcPts val="0"/>
                        </a:spcBef>
                        <a:spcAft>
                          <a:spcPts val="0"/>
                        </a:spcAft>
                        <a:buNone/>
                      </a:pPr>
                      <a:r>
                        <a:rPr lang="en-US" sz="800" b="1" dirty="0">
                          <a:solidFill>
                            <a:srgbClr val="0070C0"/>
                          </a:solidFill>
                        </a:rPr>
                        <a:t>KALOD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280</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GIMHAE 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(182)</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5000</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8">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56" name="Google Shape;156;p5"/>
          <p:cNvGraphicFramePr/>
          <p:nvPr>
            <p:extLst>
              <p:ext uri="{D42A27DB-BD31-4B8C-83A1-F6EECF244321}">
                <p14:modId xmlns:p14="http://schemas.microsoft.com/office/powerpoint/2010/main" val="3172060770"/>
              </p:ext>
            </p:extLst>
          </p:nvPr>
        </p:nvGraphicFramePr>
        <p:xfrm>
          <a:off x="-2501" y="3867891"/>
          <a:ext cx="2338300" cy="1670650"/>
        </p:xfrm>
        <a:graphic>
          <a:graphicData uri="http://schemas.openxmlformats.org/drawingml/2006/table">
            <a:tbl>
              <a:tblPr firstRow="1" bandRow="1">
                <a:noFill/>
                <a:tableStyleId>{A521BE36-7E6F-4EC9-8D66-1CF97A6895EC}</a:tableStyleId>
              </a:tblPr>
              <a:tblGrid>
                <a:gridCol w="555127">
                  <a:extLst>
                    <a:ext uri="{9D8B030D-6E8A-4147-A177-3AD203B41FA5}">
                      <a16:colId xmlns:a16="http://schemas.microsoft.com/office/drawing/2014/main" val="20000"/>
                    </a:ext>
                  </a:extLst>
                </a:gridCol>
                <a:gridCol w="102366">
                  <a:extLst>
                    <a:ext uri="{9D8B030D-6E8A-4147-A177-3AD203B41FA5}">
                      <a16:colId xmlns:a16="http://schemas.microsoft.com/office/drawing/2014/main" val="20002"/>
                    </a:ext>
                  </a:extLst>
                </a:gridCol>
                <a:gridCol w="536660">
                  <a:extLst>
                    <a:ext uri="{9D8B030D-6E8A-4147-A177-3AD203B41FA5}">
                      <a16:colId xmlns:a16="http://schemas.microsoft.com/office/drawing/2014/main" val="20003"/>
                    </a:ext>
                  </a:extLst>
                </a:gridCol>
                <a:gridCol w="490471">
                  <a:extLst>
                    <a:ext uri="{9D8B030D-6E8A-4147-A177-3AD203B41FA5}">
                      <a16:colId xmlns:a16="http://schemas.microsoft.com/office/drawing/2014/main" val="20005"/>
                    </a:ext>
                  </a:extLst>
                </a:gridCol>
                <a:gridCol w="653676">
                  <a:extLst>
                    <a:ext uri="{9D8B030D-6E8A-4147-A177-3AD203B41FA5}">
                      <a16:colId xmlns:a16="http://schemas.microsoft.com/office/drawing/2014/main" val="20007"/>
                    </a:ext>
                  </a:extLst>
                </a:gridCol>
              </a:tblGrid>
              <a:tr h="0">
                <a:tc gridSpan="5">
                  <a:txBody>
                    <a:bodyPr/>
                    <a:lstStyle/>
                    <a:p>
                      <a:pPr marL="0" marR="0" lvl="0" indent="0" algn="ctr" rtl="0">
                        <a:spcBef>
                          <a:spcPts val="0"/>
                        </a:spcBef>
                        <a:spcAft>
                          <a:spcPts val="0"/>
                        </a:spcAft>
                        <a:buNone/>
                      </a:pPr>
                      <a:r>
                        <a:rPr lang="en-US" sz="800" dirty="0"/>
                        <a:t>GMP : STAR</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gridSpan="2">
                  <a:txBody>
                    <a:bodyPr/>
                    <a:lstStyle/>
                    <a:p>
                      <a:pPr marL="0" marR="0" lvl="0" indent="0" algn="ctr" rtl="0">
                        <a:spcBef>
                          <a:spcPts val="0"/>
                        </a:spcBef>
                        <a:spcAft>
                          <a:spcPts val="0"/>
                        </a:spcAft>
                        <a:buNone/>
                      </a:pPr>
                      <a:r>
                        <a:rPr lang="en-US" sz="800" b="1" dirty="0"/>
                        <a:t>ILS 32L/R</a:t>
                      </a:r>
                      <a:endParaRPr sz="800" b="1" dirty="0"/>
                    </a:p>
                  </a:txBody>
                  <a:tcPr marL="36000" marR="36000" marT="36000" marB="36000" anchor="ctr"/>
                </a:tc>
                <a:tc hMerge="1">
                  <a:txBody>
                    <a:bodyPr/>
                    <a:lstStyle/>
                    <a:p>
                      <a:endParaRPr lang="ko-Kore-KR"/>
                    </a:p>
                  </a:txBody>
                  <a:tcPr/>
                </a:tc>
                <a:tc>
                  <a:txBody>
                    <a:bodyPr/>
                    <a:lstStyle/>
                    <a:p>
                      <a:pPr algn="ctr"/>
                      <a:r>
                        <a:rPr lang="en-US" sz="800" b="1"/>
                        <a:t>GUKDO xT</a:t>
                      </a:r>
                      <a:endParaRPr lang="ko-Kore-KR"/>
                    </a:p>
                  </a:txBody>
                  <a:tcPr marL="36000" marR="36000" marT="36000" marB="36000" anchor="ctr"/>
                </a:tc>
                <a:tc>
                  <a:txBody>
                    <a:bodyPr/>
                    <a:lstStyle/>
                    <a:p>
                      <a:pPr marL="0" marR="0" lvl="0" indent="0" algn="ctr" rtl="0">
                        <a:spcBef>
                          <a:spcPts val="0"/>
                        </a:spcBef>
                        <a:spcAft>
                          <a:spcPts val="0"/>
                        </a:spcAft>
                        <a:buNone/>
                      </a:pPr>
                      <a:r>
                        <a:rPr lang="en-US" sz="800" b="1"/>
                        <a:t>BUMSI</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1"/>
                  </a:ext>
                </a:extLst>
              </a:tr>
              <a:tr h="101600">
                <a:tc gridSpan="2">
                  <a:txBody>
                    <a:bodyPr/>
                    <a:lstStyle/>
                    <a:p>
                      <a:pPr marL="0" marR="0" lvl="0" indent="0" algn="ctr" rtl="0">
                        <a:spcBef>
                          <a:spcPts val="0"/>
                        </a:spcBef>
                        <a:spcAft>
                          <a:spcPts val="0"/>
                        </a:spcAft>
                        <a:buNone/>
                      </a:pPr>
                      <a:r>
                        <a:rPr lang="en-US" sz="800" b="1" dirty="0"/>
                        <a:t>ILS 14R</a:t>
                      </a:r>
                      <a:endParaRPr sz="800" b="1" dirty="0"/>
                    </a:p>
                  </a:txBody>
                  <a:tcPr marL="36000" marR="36000" marT="36000" marB="36000" anchor="ctr"/>
                </a:tc>
                <a:tc hMerge="1">
                  <a:txBody>
                    <a:bodyPr/>
                    <a:lstStyle/>
                    <a:p>
                      <a:endParaRPr lang="ko-Kore-KR"/>
                    </a:p>
                  </a:txBody>
                  <a:tcPr/>
                </a:tc>
                <a:tc>
                  <a:txBody>
                    <a:bodyPr/>
                    <a:lstStyle/>
                    <a:p>
                      <a:pPr algn="ctr"/>
                      <a:r>
                        <a:rPr lang="en-US" sz="800" b="1" dirty="0"/>
                        <a:t>GUKDO </a:t>
                      </a:r>
                      <a:r>
                        <a:rPr lang="en-US" sz="800" b="1" dirty="0" err="1"/>
                        <a:t>xU</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a:t>DOKDO</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160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4">
                  <a:txBody>
                    <a:bodyPr/>
                    <a:lstStyle/>
                    <a:p>
                      <a:pPr marL="0" marR="0" lvl="0" indent="0" algn="l" rtl="0">
                        <a:spcBef>
                          <a:spcPts val="0"/>
                        </a:spcBef>
                        <a:spcAft>
                          <a:spcPts val="0"/>
                        </a:spcAft>
                        <a:buNone/>
                      </a:pPr>
                      <a:r>
                        <a:rPr lang="en-US" sz="800"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5">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a:t>
                      </a:r>
                      <a:r>
                        <a:rPr lang="en-US" altLang="ko-Kore-KR" sz="800" b="1" dirty="0">
                          <a:solidFill>
                            <a:srgbClr val="C00000"/>
                          </a:solidFill>
                          <a:latin typeface="Calibri"/>
                          <a:ea typeface="Calibri"/>
                          <a:cs typeface="Calibri"/>
                          <a:sym typeface="Calibri"/>
                        </a:rPr>
                        <a:t>(No CL L/T)</a:t>
                      </a:r>
                      <a:r>
                        <a:rPr lang="en-US" altLang="ko-Kore-KR" sz="800" b="1" dirty="0">
                          <a:solidFill>
                            <a:schemeClr val="dk1"/>
                          </a:solidFill>
                          <a:latin typeface="Calibri"/>
                          <a:ea typeface="Calibri"/>
                          <a:cs typeface="Calibri"/>
                          <a:sym typeface="Calibri"/>
                        </a:rPr>
                        <a:t> </a:t>
                      </a:r>
                      <a:r>
                        <a:rPr lang="en-US" sz="800" b="1" dirty="0">
                          <a:solidFill>
                            <a:schemeClr val="dk1"/>
                          </a:solidFill>
                          <a:latin typeface="Calibri"/>
                          <a:ea typeface="Calibri"/>
                          <a:cs typeface="Calibri"/>
                          <a:sym typeface="Calibri"/>
                        </a:rPr>
                        <a:t>: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5">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57" name="Google Shape;157;p5"/>
          <p:cNvGraphicFramePr/>
          <p:nvPr>
            <p:extLst>
              <p:ext uri="{D42A27DB-BD31-4B8C-83A1-F6EECF244321}">
                <p14:modId xmlns:p14="http://schemas.microsoft.com/office/powerpoint/2010/main" val="317308346"/>
              </p:ext>
            </p:extLst>
          </p:nvPr>
        </p:nvGraphicFramePr>
        <p:xfrm>
          <a:off x="-2501" y="16504"/>
          <a:ext cx="2328850" cy="56824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32950">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301450">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spcBef>
                          <a:spcPts val="0"/>
                        </a:spcBef>
                        <a:spcAft>
                          <a:spcPts val="0"/>
                        </a:spcAft>
                        <a:buNone/>
                      </a:pPr>
                      <a:r>
                        <a:rPr lang="en-US" sz="700" dirty="0">
                          <a:solidFill>
                            <a:srgbClr val="FF0000"/>
                          </a:solidFill>
                        </a:rPr>
                        <a:t>DCL -5분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58" name="Google Shape;158;p5"/>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latin typeface="Calibri"/>
                <a:ea typeface="Calibri"/>
                <a:cs typeface="Calibri"/>
                <a:sym typeface="Calibri"/>
              </a:rPr>
              <a:t>Rwy</a:t>
            </a:r>
            <a:r>
              <a:rPr lang="en-US" sz="800" dirty="0">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b="1" dirty="0">
                <a:solidFill>
                  <a:schemeClr val="dk1"/>
                </a:solidFill>
                <a:latin typeface="Calibri"/>
                <a:ea typeface="Calibri"/>
                <a:cs typeface="Calibri"/>
                <a:sym typeface="Calibri"/>
              </a:rPr>
              <a:t> </a:t>
            </a:r>
            <a:endParaRPr b="1" dirty="0"/>
          </a:p>
          <a:p>
            <a:pPr marL="0" marR="0" lvl="0" indent="0" algn="l" rtl="0">
              <a:spcBef>
                <a:spcPts val="0"/>
              </a:spcBef>
              <a:spcAft>
                <a:spcPts val="0"/>
              </a:spcAft>
              <a:buNone/>
            </a:pPr>
            <a:r>
              <a:rPr lang="en-US" sz="800" dirty="0">
                <a:latin typeface="Calibri"/>
                <a:ea typeface="Calibri"/>
                <a:cs typeface="Calibri"/>
                <a:sym typeface="Calibri"/>
              </a:rPr>
              <a:t>(06:00L~0900L / 12:00L~15:00L /18:00L~21:00L)</a:t>
            </a:r>
            <a:endParaRPr dirty="0"/>
          </a:p>
        </p:txBody>
      </p:sp>
      <p:pic>
        <p:nvPicPr>
          <p:cNvPr id="168" name="Google Shape;168;p5"/>
          <p:cNvPicPr preferRelativeResize="0"/>
          <p:nvPr/>
        </p:nvPicPr>
        <p:blipFill rotWithShape="1">
          <a:blip r:embed="rId5">
            <a:alphaModFix/>
          </a:blip>
          <a:srcRect/>
          <a:stretch/>
        </p:blipFill>
        <p:spPr>
          <a:xfrm>
            <a:off x="0" y="2388241"/>
            <a:ext cx="1056807" cy="719976"/>
          </a:xfrm>
          <a:prstGeom prst="rect">
            <a:avLst/>
          </a:prstGeom>
          <a:noFill/>
          <a:ln>
            <a:noFill/>
          </a:ln>
        </p:spPr>
      </p:pic>
      <p:pic>
        <p:nvPicPr>
          <p:cNvPr id="3" name="그림 2" descr="텍스트, 시계이(가) 표시된 사진&#10;&#10;자동 생성된 설명">
            <a:extLst>
              <a:ext uri="{FF2B5EF4-FFF2-40B4-BE49-F238E27FC236}">
                <a16:creationId xmlns:a16="http://schemas.microsoft.com/office/drawing/2014/main" id="{55C3732C-B99F-06C8-0284-40550C1D6F87}"/>
              </a:ext>
            </a:extLst>
          </p:cNvPr>
          <p:cNvPicPr>
            <a:picLocks noChangeAspect="1"/>
          </p:cNvPicPr>
          <p:nvPr/>
        </p:nvPicPr>
        <p:blipFill>
          <a:blip r:embed="rId6"/>
          <a:stretch>
            <a:fillRect/>
          </a:stretch>
        </p:blipFill>
        <p:spPr>
          <a:xfrm>
            <a:off x="1602416" y="584746"/>
            <a:ext cx="492402" cy="492402"/>
          </a:xfrm>
          <a:prstGeom prst="rect">
            <a:avLst/>
          </a:prstGeom>
        </p:spPr>
      </p:pic>
      <p:sp>
        <p:nvSpPr>
          <p:cNvPr id="2" name="TextBox 1">
            <a:extLst>
              <a:ext uri="{FF2B5EF4-FFF2-40B4-BE49-F238E27FC236}">
                <a16:creationId xmlns:a16="http://schemas.microsoft.com/office/drawing/2014/main" id="{102DFD9A-3DE5-9849-C4DF-4F8F47DFC0AA}"/>
              </a:ext>
            </a:extLst>
          </p:cNvPr>
          <p:cNvSpPr txBox="1"/>
          <p:nvPr/>
        </p:nvSpPr>
        <p:spPr>
          <a:xfrm>
            <a:off x="1268244" y="3167422"/>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4" name="직사각형 3">
            <a:hlinkClick r:id="" action="ppaction://hlinkshowjump?jump=firstslide"/>
            <a:extLst>
              <a:ext uri="{FF2B5EF4-FFF2-40B4-BE49-F238E27FC236}">
                <a16:creationId xmlns:a16="http://schemas.microsoft.com/office/drawing/2014/main" id="{D08367DE-04CA-9C27-2F38-9B696219DB2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graphicFrame>
        <p:nvGraphicFramePr>
          <p:cNvPr id="234" name="Google Shape;234;p12"/>
          <p:cNvGraphicFramePr/>
          <p:nvPr>
            <p:extLst>
              <p:ext uri="{D42A27DB-BD31-4B8C-83A1-F6EECF244321}">
                <p14:modId xmlns:p14="http://schemas.microsoft.com/office/powerpoint/2010/main" val="3958497610"/>
              </p:ext>
            </p:extLst>
          </p:nvPr>
        </p:nvGraphicFramePr>
        <p:xfrm>
          <a:off x="0" y="639107"/>
          <a:ext cx="2339850"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406075">
                  <a:extLst>
                    <a:ext uri="{9D8B030D-6E8A-4147-A177-3AD203B41FA5}">
                      <a16:colId xmlns:a16="http://schemas.microsoft.com/office/drawing/2014/main" val="20004"/>
                    </a:ext>
                  </a:extLst>
                </a:gridCol>
                <a:gridCol w="61400">
                  <a:extLst>
                    <a:ext uri="{9D8B030D-6E8A-4147-A177-3AD203B41FA5}">
                      <a16:colId xmlns:a16="http://schemas.microsoft.com/office/drawing/2014/main" val="20006"/>
                    </a:ext>
                  </a:extLst>
                </a:gridCol>
                <a:gridCol w="169800">
                  <a:extLst>
                    <a:ext uri="{9D8B030D-6E8A-4147-A177-3AD203B41FA5}">
                      <a16:colId xmlns:a16="http://schemas.microsoft.com/office/drawing/2014/main" val="2834092124"/>
                    </a:ext>
                  </a:extLst>
                </a:gridCol>
                <a:gridCol w="108100">
                  <a:extLst>
                    <a:ext uri="{9D8B030D-6E8A-4147-A177-3AD203B41FA5}">
                      <a16:colId xmlns:a16="http://schemas.microsoft.com/office/drawing/2014/main" val="20007"/>
                    </a:ext>
                  </a:extLst>
                </a:gridCol>
                <a:gridCol w="3352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dirty="0"/>
                        <a:t>CJU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xE</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(066)</a:t>
                      </a:r>
                      <a:endParaRPr sz="800" b="1" dirty="0"/>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9000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25</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AKPON xW</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gridSpan="3">
                  <a:txBody>
                    <a:bodyPr/>
                    <a:lstStyle/>
                    <a:p>
                      <a:pPr marL="0" marR="0" lvl="0" indent="0" algn="ctr" rtl="0">
                        <a:spcBef>
                          <a:spcPts val="0"/>
                        </a:spcBef>
                        <a:spcAft>
                          <a:spcPts val="0"/>
                        </a:spcAft>
                        <a:buNone/>
                      </a:pPr>
                      <a:r>
                        <a:rPr lang="en-US" sz="800" b="1" dirty="0"/>
                        <a:t>(246)</a:t>
                      </a:r>
                      <a:endParaRPr sz="800" b="1" dirty="0"/>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70C0"/>
                          </a:solidFill>
                        </a:rPr>
                        <a:t>ATC</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YDM 109.0</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25 111.3</a:t>
                      </a: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t>07 : NONE</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dirty="0"/>
                        <a:t>25 : YDM246/3, R290</a:t>
                      </a:r>
                    </a:p>
                  </a:txBody>
                  <a:tcPr marL="36000" marR="36000" marT="36000" marB="36000" anchor="ctr"/>
                </a:tc>
                <a:tc hMerge="1">
                  <a:txBody>
                    <a:bodyPr/>
                    <a:lstStyle/>
                    <a:p>
                      <a:endParaRPr lang="ko-Kore-KR"/>
                    </a:p>
                  </a:txBody>
                  <a:tcPr/>
                </a:tc>
                <a:tc hMerge="1">
                  <a:txBody>
                    <a:bodyPr/>
                    <a:lstStyle/>
                    <a:p>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35" name="Google Shape;235;p12"/>
          <p:cNvGraphicFramePr/>
          <p:nvPr>
            <p:extLst>
              <p:ext uri="{D42A27DB-BD31-4B8C-83A1-F6EECF244321}">
                <p14:modId xmlns:p14="http://schemas.microsoft.com/office/powerpoint/2010/main" val="4171769753"/>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RKPK(PUS) 13ft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spcBef>
                          <a:spcPts val="0"/>
                        </a:spcBef>
                        <a:spcAft>
                          <a:spcPts val="0"/>
                        </a:spcAft>
                        <a:buNone/>
                      </a:pPr>
                      <a:r>
                        <a:rPr lang="en-US" sz="700">
                          <a:solidFill>
                            <a:srgbClr val="FF0000"/>
                          </a:solidFill>
                        </a:rPr>
                        <a:t>DCL -10분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238" name="Google Shape;238;p12"/>
          <p:cNvPicPr preferRelativeResize="0"/>
          <p:nvPr/>
        </p:nvPicPr>
        <p:blipFill rotWithShape="1">
          <a:blip r:embed="rId5">
            <a:alphaModFix/>
          </a:blip>
          <a:srcRect/>
          <a:stretch/>
        </p:blipFill>
        <p:spPr>
          <a:xfrm>
            <a:off x="-3340" y="1970629"/>
            <a:ext cx="1511235" cy="828243"/>
          </a:xfrm>
          <a:prstGeom prst="rect">
            <a:avLst/>
          </a:prstGeom>
          <a:noFill/>
          <a:ln>
            <a:noFill/>
          </a:ln>
        </p:spPr>
      </p:pic>
      <p:graphicFrame>
        <p:nvGraphicFramePr>
          <p:cNvPr id="3" name="Google Shape;137;p4">
            <a:extLst>
              <a:ext uri="{FF2B5EF4-FFF2-40B4-BE49-F238E27FC236}">
                <a16:creationId xmlns:a16="http://schemas.microsoft.com/office/drawing/2014/main" id="{C219BCFB-D529-B116-FE7F-CEFD0CAC2DD7}"/>
              </a:ext>
            </a:extLst>
          </p:cNvPr>
          <p:cNvGraphicFramePr/>
          <p:nvPr>
            <p:extLst>
              <p:ext uri="{D42A27DB-BD31-4B8C-83A1-F6EECF244321}">
                <p14:modId xmlns:p14="http://schemas.microsoft.com/office/powerpoint/2010/main" val="2667764376"/>
              </p:ext>
            </p:extLst>
          </p:nvPr>
        </p:nvGraphicFramePr>
        <p:xfrm>
          <a:off x="-3340" y="4109513"/>
          <a:ext cx="2339140" cy="142681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 STAR </a:t>
                      </a:r>
                      <a:r>
                        <a:rPr lang="en-US" altLang="ko-Kore-KR" sz="800" dirty="0">
                          <a:solidFill>
                            <a:srgbClr val="FFC000"/>
                          </a:solidFill>
                        </a:rPr>
                        <a:t>(T</a:t>
                      </a:r>
                      <a:r>
                        <a:rPr lang="en-US" altLang="ko-KR" sz="800" dirty="0">
                          <a:solidFill>
                            <a:srgbClr val="FFC000"/>
                          </a:solidFill>
                        </a:rPr>
                        <a:t>/</a:t>
                      </a:r>
                      <a:r>
                        <a:rPr lang="en-US" altLang="ko-Kore-KR" sz="800" dirty="0">
                          <a:solidFill>
                            <a:srgbClr val="FFC000"/>
                          </a:solidFill>
                        </a:rPr>
                        <a:t>W </a:t>
                      </a:r>
                      <a:r>
                        <a:rPr lang="en-US" altLang="ko-KR" sz="800" dirty="0">
                          <a:solidFill>
                            <a:srgbClr val="FFC000"/>
                          </a:solidFill>
                        </a:rPr>
                        <a:t>10tks, </a:t>
                      </a:r>
                      <a:r>
                        <a:rPr lang="en-US" altLang="ko-Kore-KR" sz="800" dirty="0">
                          <a:solidFill>
                            <a:srgbClr val="FFC000"/>
                          </a:solidFill>
                        </a:rPr>
                        <a:t>36R</a:t>
                      </a:r>
                      <a:r>
                        <a:rPr lang="en-US" altLang="ko-KR" sz="800" dirty="0">
                          <a:solidFill>
                            <a:srgbClr val="FFC000"/>
                          </a:solidFill>
                        </a:rPr>
                        <a:t>,</a:t>
                      </a:r>
                      <a:r>
                        <a:rPr lang="en-US" altLang="ko-Kore-KR" sz="800" dirty="0">
                          <a:solidFill>
                            <a:srgbClr val="FFC000"/>
                          </a:solidFill>
                        </a:rPr>
                        <a:t> 360000lbs </a:t>
                      </a:r>
                      <a:r>
                        <a:rPr lang="ko-KR" altLang="en-US" sz="800" dirty="0">
                          <a:solidFill>
                            <a:srgbClr val="FFC000"/>
                          </a:solidFill>
                        </a:rPr>
                        <a:t>제한</a:t>
                      </a:r>
                      <a:r>
                        <a:rPr lang="en-US" altLang="ko-KR" sz="8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C00000"/>
                          </a:solidFill>
                          <a:hlinkClick r:id="rId6" action="ppaction://hlinksldjump">
                            <a:extLst>
                              <a:ext uri="{A12FA001-AC4F-418D-AE19-62706E023703}">
                                <ahyp:hlinkClr xmlns:ahyp="http://schemas.microsoft.com/office/drawing/2018/hyperlinkcolor" val="tx"/>
                              </a:ext>
                            </a:extLst>
                          </a:hlinkClick>
                        </a:rPr>
                        <a:t>18 Circling Click!!</a:t>
                      </a:r>
                      <a:endParaRPr lang="en-US" altLang="ko-Kore-K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4" name="TextBox 3">
            <a:extLst>
              <a:ext uri="{FF2B5EF4-FFF2-40B4-BE49-F238E27FC236}">
                <a16:creationId xmlns:a16="http://schemas.microsoft.com/office/drawing/2014/main" id="{59282C91-A9AE-BCC9-5FEC-78765E574F0D}"/>
              </a:ext>
            </a:extLst>
          </p:cNvPr>
          <p:cNvSpPr txBox="1"/>
          <p:nvPr/>
        </p:nvSpPr>
        <p:spPr>
          <a:xfrm>
            <a:off x="1268244" y="3416278"/>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3F183D78-F73C-097D-0450-1B0DF23C0E7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graphicFrame>
        <p:nvGraphicFramePr>
          <p:cNvPr id="244" name="Google Shape;244;p13"/>
          <p:cNvGraphicFramePr/>
          <p:nvPr>
            <p:extLst>
              <p:ext uri="{D42A27DB-BD31-4B8C-83A1-F6EECF244321}">
                <p14:modId xmlns:p14="http://schemas.microsoft.com/office/powerpoint/2010/main" val="2416971996"/>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tx1"/>
                          </a:solidFill>
                          <a:hlinkClick r:id="rId4">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CJU 129.4</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47" name="Google Shape;247;p13"/>
          <p:cNvGraphicFramePr/>
          <p:nvPr>
            <p:extLst>
              <p:ext uri="{D42A27DB-BD31-4B8C-83A1-F6EECF244321}">
                <p14:modId xmlns:p14="http://schemas.microsoft.com/office/powerpoint/2010/main" val="2174593857"/>
              </p:ext>
            </p:extLst>
          </p:nvPr>
        </p:nvGraphicFramePr>
        <p:xfrm>
          <a:off x="0" y="630013"/>
          <a:ext cx="2330925" cy="1426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339300">
                  <a:extLst>
                    <a:ext uri="{9D8B030D-6E8A-4147-A177-3AD203B41FA5}">
                      <a16:colId xmlns:a16="http://schemas.microsoft.com/office/drawing/2014/main" val="20006"/>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0">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MAX,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280</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(182)</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5000</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8">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248" name="Google Shape;248;p13"/>
          <p:cNvPicPr preferRelativeResize="0"/>
          <p:nvPr/>
        </p:nvPicPr>
        <p:blipFill rotWithShape="1">
          <a:blip r:embed="rId5">
            <a:alphaModFix/>
          </a:blip>
          <a:srcRect/>
          <a:stretch/>
        </p:blipFill>
        <p:spPr>
          <a:xfrm>
            <a:off x="4472" y="2079661"/>
            <a:ext cx="1559909" cy="651823"/>
          </a:xfrm>
          <a:prstGeom prst="rect">
            <a:avLst/>
          </a:prstGeom>
          <a:noFill/>
          <a:ln>
            <a:noFill/>
          </a:ln>
        </p:spPr>
      </p:pic>
      <p:graphicFrame>
        <p:nvGraphicFramePr>
          <p:cNvPr id="2" name="Google Shape;227;p11">
            <a:extLst>
              <a:ext uri="{FF2B5EF4-FFF2-40B4-BE49-F238E27FC236}">
                <a16:creationId xmlns:a16="http://schemas.microsoft.com/office/drawing/2014/main" id="{04159ABD-A06E-9C8C-66B0-59FD50E49E56}"/>
              </a:ext>
            </a:extLst>
          </p:cNvPr>
          <p:cNvGraphicFramePr/>
          <p:nvPr>
            <p:extLst>
              <p:ext uri="{D42A27DB-BD31-4B8C-83A1-F6EECF244321}">
                <p14:modId xmlns:p14="http://schemas.microsoft.com/office/powerpoint/2010/main" val="3782953954"/>
              </p:ext>
            </p:extLst>
          </p:nvPr>
        </p:nvGraphicFramePr>
        <p:xfrm>
          <a:off x="4472" y="3782789"/>
          <a:ext cx="2326800" cy="1743468"/>
        </p:xfrm>
        <a:graphic>
          <a:graphicData uri="http://schemas.openxmlformats.org/drawingml/2006/table">
            <a:tbl>
              <a:tblPr firstRow="1" bandRow="1">
                <a:noFill/>
                <a:tableStyleId>{A521BE36-7E6F-4EC9-8D66-1CF97A6895EC}</a:tableStyleId>
              </a:tblPr>
              <a:tblGrid>
                <a:gridCol w="406975">
                  <a:extLst>
                    <a:ext uri="{9D8B030D-6E8A-4147-A177-3AD203B41FA5}">
                      <a16:colId xmlns:a16="http://schemas.microsoft.com/office/drawing/2014/main" val="20000"/>
                    </a:ext>
                  </a:extLst>
                </a:gridCol>
                <a:gridCol w="7541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3"/>
                    </a:ext>
                  </a:extLst>
                </a:gridCol>
                <a:gridCol w="582850">
                  <a:extLst>
                    <a:ext uri="{9D8B030D-6E8A-4147-A177-3AD203B41FA5}">
                      <a16:colId xmlns:a16="http://schemas.microsoft.com/office/drawing/2014/main" val="20005"/>
                    </a:ext>
                  </a:extLst>
                </a:gridCol>
              </a:tblGrid>
              <a:tr h="1560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CJU : STAR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FFC000"/>
                          </a:solidFill>
                          <a:effectLst/>
                          <a:uLnTx/>
                          <a:uFillTx/>
                          <a:latin typeface="Calibri"/>
                          <a:cs typeface="Calibri"/>
                          <a:sym typeface="Arial"/>
                        </a:rPr>
                        <a:t>AFT Merge PT(220kts) DCT IAF(210kts), FAF (160kts)</a:t>
                      </a:r>
                      <a:endParaRPr kumimoji="0" lang="en-US" altLang="ko-Kore-KR" sz="800" b="1" i="0" u="none" strike="noStrike" kern="0" cap="none" spc="0" normalizeH="0" baseline="0" noProof="0" dirty="0">
                        <a:ln>
                          <a:noFill/>
                        </a:ln>
                        <a:solidFill>
                          <a:srgbClr val="FFC000"/>
                        </a:solidFill>
                        <a:effectLst/>
                        <a:uLnTx/>
                        <a:uFillTx/>
                        <a:latin typeface="Calibri"/>
                        <a:cs typeface="Calibri"/>
                        <a:sym typeface="Aria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a:t>ILS Z 07</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xP</a:t>
                      </a:r>
                      <a:endParaRPr sz="458" dirty="0"/>
                    </a:p>
                  </a:txBody>
                  <a:tcPr marL="36000" marR="36000" marT="36000" marB="36000" anchor="ctr"/>
                </a:tc>
                <a:tc>
                  <a:txBody>
                    <a:bodyPr/>
                    <a:lstStyle/>
                    <a:p>
                      <a:pPr marL="0" marR="0" lvl="0" indent="0" algn="ctr" rtl="0">
                        <a:spcBef>
                          <a:spcPts val="0"/>
                        </a:spcBef>
                        <a:spcAft>
                          <a:spcPts val="0"/>
                        </a:spcAft>
                        <a:buNone/>
                      </a:pPr>
                      <a:r>
                        <a:rPr lang="en-US" sz="800" b="1"/>
                        <a:t>YUMIN</a:t>
                      </a:r>
                      <a:endParaRPr sz="458"/>
                    </a:p>
                  </a:txBody>
                  <a:tcPr marL="36000" marR="36000" marT="36000" marB="36000" anchor="ctr"/>
                </a:tc>
                <a:tc>
                  <a:txBody>
                    <a:bodyPr/>
                    <a:lstStyle/>
                    <a:p>
                      <a:pPr marL="0" marR="0" lvl="0" indent="0" algn="l" rtl="0">
                        <a:spcBef>
                          <a:spcPts val="0"/>
                        </a:spcBef>
                        <a:spcAft>
                          <a:spcPts val="0"/>
                        </a:spcAft>
                        <a:buNone/>
                      </a:pPr>
                      <a:endParaRPr sz="458"/>
                    </a:p>
                  </a:txBody>
                  <a:tcPr marL="36000" marR="36000" marT="36000" marB="36000" anchor="ctr"/>
                </a:tc>
                <a:extLst>
                  <a:ext uri="{0D108BD9-81ED-4DB2-BD59-A6C34878D82A}">
                    <a16:rowId xmlns:a16="http://schemas.microsoft.com/office/drawing/2014/main" val="10001"/>
                  </a:ext>
                </a:extLst>
              </a:tr>
              <a:tr h="1418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ctr" rtl="0">
                        <a:spcBef>
                          <a:spcPts val="0"/>
                        </a:spcBef>
                        <a:spcAft>
                          <a:spcPts val="0"/>
                        </a:spcAft>
                        <a:buNone/>
                      </a:pPr>
                      <a:endParaRPr sz="458"/>
                    </a:p>
                  </a:txBody>
                  <a:tcPr marL="36000" marR="36000" marT="36000" marB="36000" anchor="ctr"/>
                </a:tc>
                <a:tc hMerge="1">
                  <a:txBody>
                    <a:bodyPr/>
                    <a:lstStyle/>
                    <a:p>
                      <a:pPr marL="0" marR="0" lvl="0" indent="0" algn="l" rtl="0">
                        <a:spcBef>
                          <a:spcPts val="0"/>
                        </a:spcBef>
                        <a:spcAft>
                          <a:spcPts val="0"/>
                        </a:spcAft>
                        <a:buNone/>
                      </a:pPr>
                      <a:endParaRPr sz="458" dirty="0"/>
                    </a:p>
                  </a:txBody>
                  <a:tcPr marL="36000" marR="36000" marT="36000" marB="36000" anchor="ctr"/>
                </a:tc>
                <a:extLst>
                  <a:ext uri="{0D108BD9-81ED-4DB2-BD59-A6C34878D82A}">
                    <a16:rowId xmlns:a16="http://schemas.microsoft.com/office/drawing/2014/main" val="285528768"/>
                  </a:ext>
                </a:extLst>
              </a:tr>
              <a:tr h="141800">
                <a:tc>
                  <a:txBody>
                    <a:bodyPr/>
                    <a:lstStyle/>
                    <a:p>
                      <a:pPr marL="0" marR="0" lvl="0" indent="0" algn="ctr" rtl="0">
                        <a:spcBef>
                          <a:spcPts val="0"/>
                        </a:spcBef>
                        <a:spcAft>
                          <a:spcPts val="0"/>
                        </a:spcAft>
                        <a:buNone/>
                      </a:pPr>
                      <a:r>
                        <a:rPr lang="en-US" sz="800" b="1"/>
                        <a:t>ILS Z 25</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UPGOS </a:t>
                      </a:r>
                      <a:r>
                        <a:rPr lang="en-US" sz="800" b="1" dirty="0" err="1"/>
                        <a:t>xT</a:t>
                      </a:r>
                      <a:r>
                        <a:rPr lang="en-US" sz="800" b="1" dirty="0"/>
                        <a:t>(</a:t>
                      </a:r>
                      <a:r>
                        <a:rPr lang="en-US" sz="800" b="1" dirty="0" err="1"/>
                        <a:t>xM</a:t>
                      </a:r>
                      <a:r>
                        <a:rPr lang="en-US" sz="800" b="1" dirty="0"/>
                        <a:t>)</a:t>
                      </a:r>
                      <a:endParaRPr sz="458" dirty="0"/>
                    </a:p>
                  </a:txBody>
                  <a:tcPr marL="36000" marR="36000" marT="36000" marB="36000" anchor="ctr"/>
                </a:tc>
                <a:tc>
                  <a:txBody>
                    <a:bodyPr/>
                    <a:lstStyle/>
                    <a:p>
                      <a:pPr marL="0" marR="0" lvl="0" indent="0" algn="ctr" rtl="0">
                        <a:spcBef>
                          <a:spcPts val="0"/>
                        </a:spcBef>
                        <a:spcAft>
                          <a:spcPts val="0"/>
                        </a:spcAft>
                        <a:buNone/>
                      </a:pPr>
                      <a:r>
                        <a:rPr lang="en-US" sz="800" b="1"/>
                        <a:t>DUKAL</a:t>
                      </a:r>
                      <a:endParaRPr sz="458"/>
                    </a:p>
                  </a:txBody>
                  <a:tcPr marL="36000" marR="36000" marT="36000" marB="36000" anchor="ctr"/>
                </a:tc>
                <a:tc>
                  <a:txBody>
                    <a:bodyPr/>
                    <a:lstStyle/>
                    <a:p>
                      <a:pPr marL="0" marR="0" lvl="0" indent="0" algn="l" rtl="0">
                        <a:spcBef>
                          <a:spcPts val="0"/>
                        </a:spcBef>
                        <a:spcAft>
                          <a:spcPts val="0"/>
                        </a:spcAft>
                        <a:buNone/>
                      </a:pPr>
                      <a:endParaRPr sz="458"/>
                    </a:p>
                  </a:txBody>
                  <a:tcPr marL="36000" marR="36000" marT="36000" marB="36000" anchor="ctr"/>
                </a:tc>
                <a:extLst>
                  <a:ext uri="{0D108BD9-81ED-4DB2-BD59-A6C34878D82A}">
                    <a16:rowId xmlns:a16="http://schemas.microsoft.com/office/drawing/2014/main" val="10002"/>
                  </a:ext>
                </a:extLst>
              </a:tr>
              <a:tr h="20150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err="1">
                          <a:solidFill>
                            <a:schemeClr val="bg1"/>
                          </a:solidFill>
                        </a:rPr>
                        <a:t>RWxx</a:t>
                      </a:r>
                      <a:r>
                        <a:rPr lang="en-US" sz="800" b="0" dirty="0">
                          <a:solidFill>
                            <a:schemeClr val="bg1"/>
                          </a:solidFill>
                        </a:rPr>
                        <a:t> /8</a:t>
                      </a:r>
                      <a:endParaRPr sz="800" b="0" dirty="0">
                        <a:solidFill>
                          <a:schemeClr val="bg1"/>
                        </a:solidFill>
                      </a:endParaRPr>
                    </a:p>
                  </a:txBody>
                  <a:tcPr marL="36000" marR="36000" marT="36000" marB="36000" anchor="ctr"/>
                </a:tc>
                <a:tc hMerge="1">
                  <a:txBody>
                    <a:bodyPr/>
                    <a:lstStyle/>
                    <a:p>
                      <a:endParaRPr/>
                    </a:p>
                  </a:txBody>
                  <a:tcPr marL="36000" marR="36000" marT="36000" marB="36000" anchor="ctr"/>
                </a:tc>
                <a:tc hMerge="1">
                  <a:txBody>
                    <a:bodyPr/>
                    <a:lstStyle/>
                    <a:p>
                      <a:endParaRPr dirty="0"/>
                    </a:p>
                  </a:txBody>
                  <a:tcPr marL="36000" marR="36000" marT="36000" marB="36000" anchor="ctr"/>
                </a:tc>
                <a:extLst>
                  <a:ext uri="{0D108BD9-81ED-4DB2-BD59-A6C34878D82A}">
                    <a16:rowId xmlns:a16="http://schemas.microsoft.com/office/drawing/2014/main" val="10004"/>
                  </a:ext>
                </a:extLst>
              </a:tr>
              <a:tr h="3200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07 : P6(5176’), P5(5882’), </a:t>
                      </a:r>
                      <a:r>
                        <a:rPr lang="en-US" sz="800">
                          <a:solidFill>
                            <a:srgbClr val="0070C0"/>
                          </a:solidFill>
                        </a:rPr>
                        <a:t>P4(6840’-ATC HIRO)</a:t>
                      </a:r>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25 : P7(5219’), P8(5882’), </a:t>
                      </a:r>
                      <a:r>
                        <a:rPr lang="en-US" sz="800">
                          <a:solidFill>
                            <a:srgbClr val="0070C0"/>
                          </a:solidFill>
                        </a:rPr>
                        <a:t>P10(7524’-ATC HIRO)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HST 40KTS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0F894E67-D6BE-5F51-CDC7-89AD8D49986E}"/>
              </a:ext>
            </a:extLst>
          </p:cNvPr>
          <p:cNvSpPr txBox="1"/>
          <p:nvPr/>
        </p:nvSpPr>
        <p:spPr>
          <a:xfrm>
            <a:off x="1268244" y="3096634"/>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3" name="직사각형 2">
            <a:hlinkClick r:id="" action="ppaction://hlinkshowjump?jump=firstslide"/>
            <a:extLst>
              <a:ext uri="{FF2B5EF4-FFF2-40B4-BE49-F238E27FC236}">
                <a16:creationId xmlns:a16="http://schemas.microsoft.com/office/drawing/2014/main" id="{85E11C70-1767-EB3D-06A8-A5C6ED6404CD}"/>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2555005966"/>
              </p:ext>
            </p:extLst>
          </p:nvPr>
        </p:nvGraphicFramePr>
        <p:xfrm>
          <a:off x="4410" y="4068774"/>
          <a:ext cx="2328514" cy="1450015"/>
        </p:xfrm>
        <a:graphic>
          <a:graphicData uri="http://schemas.openxmlformats.org/drawingml/2006/table">
            <a:tbl>
              <a:tblPr firstRow="1" bandRow="1">
                <a:noFill/>
                <a:tableStyleId>{A521BE36-7E6F-4EC9-8D66-1CF97A6895EC}</a:tableStyleId>
              </a:tblPr>
              <a:tblGrid>
                <a:gridCol w="383610">
                  <a:extLst>
                    <a:ext uri="{9D8B030D-6E8A-4147-A177-3AD203B41FA5}">
                      <a16:colId xmlns:a16="http://schemas.microsoft.com/office/drawing/2014/main" val="20000"/>
                    </a:ext>
                  </a:extLst>
                </a:gridCol>
                <a:gridCol w="468445">
                  <a:extLst>
                    <a:ext uri="{9D8B030D-6E8A-4147-A177-3AD203B41FA5}">
                      <a16:colId xmlns:a16="http://schemas.microsoft.com/office/drawing/2014/main" val="20001"/>
                    </a:ext>
                  </a:extLst>
                </a:gridCol>
                <a:gridCol w="464949">
                  <a:extLst>
                    <a:ext uri="{9D8B030D-6E8A-4147-A177-3AD203B41FA5}">
                      <a16:colId xmlns:a16="http://schemas.microsoft.com/office/drawing/2014/main" val="20003"/>
                    </a:ext>
                  </a:extLst>
                </a:gridCol>
                <a:gridCol w="1011510">
                  <a:extLst>
                    <a:ext uri="{9D8B030D-6E8A-4147-A177-3AD203B41FA5}">
                      <a16:colId xmlns:a16="http://schemas.microsoft.com/office/drawing/2014/main" val="20005"/>
                    </a:ext>
                  </a:extLst>
                </a:gridCol>
              </a:tblGrid>
              <a:tr h="146675">
                <a:tc gridSpan="4">
                  <a:txBody>
                    <a:bodyPr/>
                    <a:lstStyle/>
                    <a:p>
                      <a:pPr marL="0" marR="0" lvl="0" indent="0" algn="ctr" rtl="0">
                        <a:spcBef>
                          <a:spcPts val="0"/>
                        </a:spcBef>
                        <a:spcAft>
                          <a:spcPts val="0"/>
                        </a:spcAft>
                        <a:buNone/>
                      </a:pPr>
                      <a:r>
                        <a:rPr lang="en-US" altLang="ko-Kore-KR" sz="800" dirty="0"/>
                        <a:t>PUS : STAR </a:t>
                      </a:r>
                      <a:r>
                        <a:rPr lang="en-US" altLang="ko-Kore-KR" sz="800" dirty="0">
                          <a:solidFill>
                            <a:srgbClr val="FFC000"/>
                          </a:solidFill>
                        </a:rPr>
                        <a:t>(T</a:t>
                      </a:r>
                      <a:r>
                        <a:rPr lang="en-US" altLang="ko-KR" sz="800" dirty="0">
                          <a:solidFill>
                            <a:srgbClr val="FFC000"/>
                          </a:solidFill>
                        </a:rPr>
                        <a:t>/</a:t>
                      </a:r>
                      <a:r>
                        <a:rPr lang="en-US" altLang="ko-Kore-KR" sz="800" dirty="0">
                          <a:solidFill>
                            <a:srgbClr val="FFC000"/>
                          </a:solidFill>
                        </a:rPr>
                        <a:t>W </a:t>
                      </a:r>
                      <a:r>
                        <a:rPr lang="en-US" altLang="ko-KR" sz="800" dirty="0">
                          <a:solidFill>
                            <a:srgbClr val="FFC000"/>
                          </a:solidFill>
                        </a:rPr>
                        <a:t>10tks, </a:t>
                      </a:r>
                      <a:r>
                        <a:rPr lang="en-US" altLang="ko-Kore-KR" sz="800" dirty="0">
                          <a:solidFill>
                            <a:srgbClr val="FFC000"/>
                          </a:solidFill>
                        </a:rPr>
                        <a:t>36R</a:t>
                      </a:r>
                      <a:r>
                        <a:rPr lang="en-US" altLang="ko-KR" sz="800" dirty="0">
                          <a:solidFill>
                            <a:srgbClr val="FFC000"/>
                          </a:solidFill>
                        </a:rPr>
                        <a:t>,</a:t>
                      </a:r>
                      <a:r>
                        <a:rPr lang="en-US" altLang="ko-Kore-KR" sz="800" dirty="0">
                          <a:solidFill>
                            <a:srgbClr val="FFC000"/>
                          </a:solidFill>
                        </a:rPr>
                        <a:t> 360000lbs </a:t>
                      </a:r>
                      <a:r>
                        <a:rPr lang="ko-KR" altLang="en-US" sz="800" dirty="0">
                          <a:solidFill>
                            <a:srgbClr val="FFC000"/>
                          </a:solidFill>
                        </a:rPr>
                        <a:t>제한</a:t>
                      </a:r>
                      <a:r>
                        <a:rPr lang="en-US" altLang="ko-KR" sz="800" dirty="0">
                          <a:solidFill>
                            <a:srgbClr val="FFC000"/>
                          </a:solidFill>
                        </a:rPr>
                        <a:t>)</a:t>
                      </a:r>
                      <a:endParaRPr lang="ko-KR" altLang="en-US"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GAYHA x</a:t>
                      </a:r>
                      <a:endParaRPr sz="800" b="1"/>
                    </a:p>
                  </a:txBody>
                  <a:tcPr marL="36000" marR="36000" marT="36000" marB="36000" anchor="ctr"/>
                </a:tc>
                <a:tc>
                  <a:txBody>
                    <a:bodyPr/>
                    <a:lstStyle/>
                    <a:p>
                      <a:pPr marL="0" marR="0" lvl="0" indent="0" algn="ctr" rtl="0">
                        <a:spcBef>
                          <a:spcPts val="0"/>
                        </a:spcBef>
                        <a:spcAft>
                          <a:spcPts val="0"/>
                        </a:spcAft>
                        <a:buNone/>
                      </a:pPr>
                      <a:r>
                        <a:rPr lang="en-US" sz="800" b="1"/>
                        <a:t>MASTA</a:t>
                      </a:r>
                      <a:endParaRPr sz="458" b="1"/>
                    </a:p>
                  </a:txBody>
                  <a:tcPr marL="36000" marR="36000" marT="36000" marB="36000" anchor="ctr"/>
                </a:tc>
                <a:tc>
                  <a:txBody>
                    <a:bodyPr/>
                    <a:lstStyle/>
                    <a:p>
                      <a:pPr marL="0" marR="0" lvl="0" indent="0" algn="ctr" rtl="0">
                        <a:spcBef>
                          <a:spcPts val="0"/>
                        </a:spcBef>
                        <a:spcAft>
                          <a:spcPts val="0"/>
                        </a:spcAft>
                        <a:buNone/>
                      </a:pPr>
                      <a:r>
                        <a:rPr lang="en-US" altLang="ko-Kore-KR" sz="800" b="1">
                          <a:solidFill>
                            <a:srgbClr val="C00000"/>
                          </a:solidFill>
                          <a:hlinkClick r:id="rId3" action="ppaction://hlinksldjump">
                            <a:extLst>
                              <a:ext uri="{A12FA001-AC4F-418D-AE19-62706E023703}">
                                <ahyp:hlinkClr xmlns:ahyp="http://schemas.microsoft.com/office/drawing/2018/hyperlinkcolor" val="tx"/>
                              </a:ext>
                            </a:extLst>
                          </a:hlinkClick>
                        </a:rPr>
                        <a:t>18 Circling Click!!</a:t>
                      </a:r>
                      <a:endParaRPr lang="en-US" altLang="ko-Kore-K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0" marR="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bg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a:t>
                      </a:r>
                      <a:r>
                        <a:rPr lang="en-US" sz="800" b="1" dirty="0">
                          <a:solidFill>
                            <a:srgbClr val="C00000"/>
                          </a:solidFill>
                        </a:rPr>
                        <a:t>(DIS)</a:t>
                      </a:r>
                      <a:r>
                        <a:rPr lang="en-US" sz="800" b="1" dirty="0">
                          <a:solidFill>
                            <a:schemeClr val="dk1"/>
                          </a:solidFill>
                        </a:rPr>
                        <a:t>: C6(5770’),C7(6824’) 18L:E4(5882’),E5(8792’)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b="1"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1876791833"/>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RKSI(ICN) 23ft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5">
                            <a:extLst>
                              <a:ext uri="{A12FA001-AC4F-418D-AE19-62706E023703}">
                                <ahyp:hlinkClr xmlns:ahyp="http://schemas.microsoft.com/office/drawing/2018/hyperlinkcolor" val="tx"/>
                              </a:ext>
                            </a:extLst>
                          </a:hlinkClick>
                        </a:rPr>
                        <a:t>RKPK(PUS) 13ft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76" name="Google Shape;276;p16"/>
          <p:cNvGraphicFramePr/>
          <p:nvPr>
            <p:extLst>
              <p:ext uri="{D42A27DB-BD31-4B8C-83A1-F6EECF244321}">
                <p14:modId xmlns:p14="http://schemas.microsoft.com/office/powerpoint/2010/main" val="1108780255"/>
              </p:ext>
            </p:extLst>
          </p:nvPr>
        </p:nvGraphicFramePr>
        <p:xfrm>
          <a:off x="1" y="607235"/>
          <a:ext cx="2332923" cy="2172370"/>
        </p:xfrm>
        <a:graphic>
          <a:graphicData uri="http://schemas.openxmlformats.org/drawingml/2006/table">
            <a:tbl>
              <a:tblPr firstRow="1" bandRow="1">
                <a:noFill/>
                <a:tableStyleId>{A521BE36-7E6F-4EC9-8D66-1CF97A6895EC}</a:tableStyleId>
              </a:tblPr>
              <a:tblGrid>
                <a:gridCol w="332655">
                  <a:extLst>
                    <a:ext uri="{9D8B030D-6E8A-4147-A177-3AD203B41FA5}">
                      <a16:colId xmlns:a16="http://schemas.microsoft.com/office/drawing/2014/main" val="20000"/>
                    </a:ext>
                  </a:extLst>
                </a:gridCol>
                <a:gridCol w="286875">
                  <a:extLst>
                    <a:ext uri="{9D8B030D-6E8A-4147-A177-3AD203B41FA5}">
                      <a16:colId xmlns:a16="http://schemas.microsoft.com/office/drawing/2014/main" val="20001"/>
                    </a:ext>
                  </a:extLst>
                </a:gridCol>
                <a:gridCol w="312965">
                  <a:extLst>
                    <a:ext uri="{9D8B030D-6E8A-4147-A177-3AD203B41FA5}">
                      <a16:colId xmlns:a16="http://schemas.microsoft.com/office/drawing/2014/main" val="20002"/>
                    </a:ext>
                  </a:extLst>
                </a:gridCol>
                <a:gridCol w="178387">
                  <a:extLst>
                    <a:ext uri="{9D8B030D-6E8A-4147-A177-3AD203B41FA5}">
                      <a16:colId xmlns:a16="http://schemas.microsoft.com/office/drawing/2014/main" val="20003"/>
                    </a:ext>
                  </a:extLst>
                </a:gridCol>
                <a:gridCol w="114873">
                  <a:extLst>
                    <a:ext uri="{9D8B030D-6E8A-4147-A177-3AD203B41FA5}">
                      <a16:colId xmlns:a16="http://schemas.microsoft.com/office/drawing/2014/main" val="20004"/>
                    </a:ext>
                  </a:extLst>
                </a:gridCol>
                <a:gridCol w="107034">
                  <a:extLst>
                    <a:ext uri="{9D8B030D-6E8A-4147-A177-3AD203B41FA5}">
                      <a16:colId xmlns:a16="http://schemas.microsoft.com/office/drawing/2014/main" val="20005"/>
                    </a:ext>
                  </a:extLst>
                </a:gridCol>
                <a:gridCol w="193753">
                  <a:extLst>
                    <a:ext uri="{9D8B030D-6E8A-4147-A177-3AD203B41FA5}">
                      <a16:colId xmlns:a16="http://schemas.microsoft.com/office/drawing/2014/main" val="3670378744"/>
                    </a:ext>
                  </a:extLst>
                </a:gridCol>
                <a:gridCol w="403191">
                  <a:extLst>
                    <a:ext uri="{9D8B030D-6E8A-4147-A177-3AD203B41FA5}">
                      <a16:colId xmlns:a16="http://schemas.microsoft.com/office/drawing/2014/main" val="20006"/>
                    </a:ext>
                  </a:extLst>
                </a:gridCol>
                <a:gridCol w="95287">
                  <a:extLst>
                    <a:ext uri="{9D8B030D-6E8A-4147-A177-3AD203B41FA5}">
                      <a16:colId xmlns:a16="http://schemas.microsoft.com/office/drawing/2014/main" val="20008"/>
                    </a:ext>
                  </a:extLst>
                </a:gridCol>
                <a:gridCol w="307903">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(333)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b="1">
                          <a:solidFill>
                            <a:srgbClr val="0070C0"/>
                          </a:solidFill>
                        </a:rPr>
                        <a:t>5500/ATC</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t>(333)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a:solidFill>
                            <a:srgbClr val="0070C0"/>
                          </a:solidFill>
                        </a:rPr>
                        <a:t>ATC</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(153)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b="1">
                          <a:solidFill>
                            <a:srgbClr val="0070C0"/>
                          </a:solidFill>
                        </a:rPr>
                        <a:t>5000</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t>(153)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dirty="0">
                          <a:solidFill>
                            <a:srgbClr val="0070C0"/>
                          </a:solidFill>
                        </a:rPr>
                        <a:t>5000</a:t>
                      </a:r>
                      <a:endParaRPr lang="ko-Kore-K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5">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523473D7-4ABE-6F46-8862-25F187311782}"/>
              </a:ext>
            </a:extLst>
          </p:cNvPr>
          <p:cNvSpPr txBox="1"/>
          <p:nvPr/>
        </p:nvSpPr>
        <p:spPr>
          <a:xfrm>
            <a:off x="1268244" y="3227816"/>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4EAB618-D8DC-48CF-B02D-8D5856DA3E5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20306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1137690062"/>
              </p:ext>
            </p:extLst>
          </p:nvPr>
        </p:nvGraphicFramePr>
        <p:xfrm>
          <a:off x="6595" y="623810"/>
          <a:ext cx="2330925" cy="13048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339300">
                  <a:extLst>
                    <a:ext uri="{9D8B030D-6E8A-4147-A177-3AD203B41FA5}">
                      <a16:colId xmlns:a16="http://schemas.microsoft.com/office/drawing/2014/main" val="20006"/>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0">
                  <a:txBody>
                    <a:bodyPr/>
                    <a:lstStyle/>
                    <a:p>
                      <a:pPr marL="0" marR="0" lvl="0" indent="0" algn="ctr" rtl="0">
                        <a:spcBef>
                          <a:spcPts val="0"/>
                        </a:spcBef>
                        <a:spcAft>
                          <a:spcPts val="0"/>
                        </a:spcAft>
                        <a:buNone/>
                      </a:pPr>
                      <a:r>
                        <a:rPr lang="en-US" altLang="ko-Kore-KR" sz="800" dirty="0"/>
                        <a:t>PUS : </a:t>
                      </a:r>
                      <a:r>
                        <a:rPr lang="en-US" altLang="ko-Kore-KR" sz="800" dirty="0">
                          <a:solidFill>
                            <a:srgbClr val="FFC000"/>
                          </a:solidFill>
                        </a:rPr>
                        <a:t>NADP CLB 1</a:t>
                      </a:r>
                      <a:r>
                        <a:rPr lang="en-US" altLang="ko-KR" sz="800" dirty="0">
                          <a:solidFill>
                            <a:srgbClr val="FFC000"/>
                          </a:solidFill>
                        </a:rPr>
                        <a:t>5</a:t>
                      </a:r>
                      <a:r>
                        <a:rPr lang="en-US" altLang="ko-Kore-KR" sz="800" dirty="0">
                          <a:solidFill>
                            <a:srgbClr val="FFC000"/>
                          </a:solidFill>
                        </a:rPr>
                        <a:t>00, </a:t>
                      </a:r>
                      <a:r>
                        <a:rPr lang="en-US" altLang="ko-KR" sz="800" dirty="0">
                          <a:solidFill>
                            <a:srgbClr val="FFC000"/>
                          </a:solidFill>
                        </a:rPr>
                        <a:t>360</a:t>
                      </a:r>
                      <a:r>
                        <a:rPr lang="en-US" altLang="ko-Kore-KR" sz="800" dirty="0">
                          <a:solidFill>
                            <a:srgbClr val="FFC000"/>
                          </a:solidFill>
                        </a:rPr>
                        <a:t>000lbs MAX, CONF 1+F</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KALOD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30</a:t>
                      </a:r>
                      <a:r>
                        <a:rPr lang="en-US" altLang="ko-KR" sz="800" b="1" dirty="0">
                          <a:solidFill>
                            <a:srgbClr val="0070C0"/>
                          </a:solidFill>
                        </a:rPr>
                        <a:t>6</a:t>
                      </a:r>
                      <a:endParaRPr sz="458"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280</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ATC</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B050"/>
                          </a:solidFill>
                        </a:rPr>
                        <a:t>342</a:t>
                      </a: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GIMHAE 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182</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182</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182</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8">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lang="en-US" altLang="ko-Kore-KR" sz="800" dirty="0"/>
                        <a:t>36 : KMH R091, R271, R185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 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3" name="Google Shape;283;p17"/>
          <p:cNvGraphicFramePr/>
          <p:nvPr>
            <p:extLst>
              <p:ext uri="{D42A27DB-BD31-4B8C-83A1-F6EECF244321}">
                <p14:modId xmlns:p14="http://schemas.microsoft.com/office/powerpoint/2010/main" val="3452625623"/>
              </p:ext>
            </p:extLst>
          </p:nvPr>
        </p:nvGraphicFramePr>
        <p:xfrm>
          <a:off x="11589" y="3901312"/>
          <a:ext cx="2325975" cy="162073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84" name="Google Shape;284;p17"/>
          <p:cNvGraphicFramePr/>
          <p:nvPr>
            <p:extLst>
              <p:ext uri="{D42A27DB-BD31-4B8C-83A1-F6EECF244321}">
                <p14:modId xmlns:p14="http://schemas.microsoft.com/office/powerpoint/2010/main" val="334015189"/>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Gimhae 129.2</a:t>
                      </a:r>
                      <a:endParaRPr/>
                    </a:p>
                    <a:p>
                      <a:pPr marL="0" marR="0" lvl="0" indent="0" algn="ctr" rtl="0">
                        <a:spcBef>
                          <a:spcPts val="0"/>
                        </a:spcBef>
                        <a:spcAft>
                          <a:spcPts val="0"/>
                        </a:spcAft>
                        <a:buNone/>
                      </a:pPr>
                      <a:r>
                        <a:rPr lang="en-US" sz="700">
                          <a:solidFill>
                            <a:srgbClr val="FF0000"/>
                          </a:solidFill>
                        </a:rPr>
                        <a:t>DCL -5분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64D54717-0CDF-0CA7-5D03-6084160528CA}"/>
              </a:ext>
            </a:extLst>
          </p:cNvPr>
          <p:cNvSpPr txBox="1"/>
          <p:nvPr/>
        </p:nvSpPr>
        <p:spPr>
          <a:xfrm>
            <a:off x="1268244" y="2730590"/>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9A4E246-6724-775D-52E5-7C58BBF23B1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4" name="Google Shape;248;p13">
            <a:extLst>
              <a:ext uri="{FF2B5EF4-FFF2-40B4-BE49-F238E27FC236}">
                <a16:creationId xmlns:a16="http://schemas.microsoft.com/office/drawing/2014/main" id="{1AB5D64E-E354-45AD-A465-5F4490814AF5}"/>
              </a:ext>
            </a:extLst>
          </p:cNvPr>
          <p:cNvPicPr preferRelativeResize="0"/>
          <p:nvPr/>
        </p:nvPicPr>
        <p:blipFill rotWithShape="1">
          <a:blip r:embed="rId7">
            <a:alphaModFix/>
          </a:blip>
          <a:srcRect/>
          <a:stretch/>
        </p:blipFill>
        <p:spPr>
          <a:xfrm>
            <a:off x="4472" y="1947041"/>
            <a:ext cx="1559909" cy="651823"/>
          </a:xfrm>
          <a:prstGeom prst="rect">
            <a:avLst/>
          </a:prstGeom>
          <a:noFill/>
          <a:ln>
            <a:noFill/>
          </a:ln>
        </p:spPr>
      </p:pic>
    </p:spTree>
    <p:extLst>
      <p:ext uri="{BB962C8B-B14F-4D97-AF65-F5344CB8AC3E}">
        <p14:creationId xmlns:p14="http://schemas.microsoft.com/office/powerpoint/2010/main" val="3950192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2" name="Google Shape;292;p18"/>
          <p:cNvGraphicFramePr/>
          <p:nvPr>
            <p:extLst>
              <p:ext uri="{D42A27DB-BD31-4B8C-83A1-F6EECF244321}">
                <p14:modId xmlns:p14="http://schemas.microsoft.com/office/powerpoint/2010/main" val="1085133116"/>
              </p:ext>
            </p:extLst>
          </p:nvPr>
        </p:nvGraphicFramePr>
        <p:xfrm>
          <a:off x="4472" y="3852266"/>
          <a:ext cx="2331400" cy="167704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28500">
                <a:tc gridSpan="4">
                  <a:txBody>
                    <a:bodyPr/>
                    <a:lstStyle/>
                    <a:p>
                      <a:pPr marL="0" marR="0" lvl="0" indent="0" algn="ctr" rtl="0">
                        <a:spcBef>
                          <a:spcPts val="0"/>
                        </a:spcBef>
                        <a:spcAft>
                          <a:spcPts val="0"/>
                        </a:spcAft>
                        <a:buNone/>
                      </a:pPr>
                      <a:r>
                        <a:rPr lang="en-US" sz="800"/>
                        <a:t>KIX : STAR (SAEKI 170, RANDY 150)</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5275">
                <a:tc>
                  <a:txBody>
                    <a:bodyPr/>
                    <a:lstStyle/>
                    <a:p>
                      <a:pPr marL="0" marR="0" lvl="0" indent="0" algn="ctr" rtl="0">
                        <a:spcBef>
                          <a:spcPts val="0"/>
                        </a:spcBef>
                        <a:spcAft>
                          <a:spcPts val="0"/>
                        </a:spcAft>
                        <a:buNone/>
                      </a:pPr>
                      <a:r>
                        <a:rPr lang="en-US" sz="800" b="1"/>
                        <a:t>06L</a:t>
                      </a:r>
                      <a:endParaRPr sz="800" b="1"/>
                    </a:p>
                  </a:txBody>
                  <a:tcPr marL="36000" marR="36000" marT="36000" marB="36000" anchor="ctr"/>
                </a:tc>
                <a:tc>
                  <a:txBody>
                    <a:bodyPr/>
                    <a:lstStyle/>
                    <a:p>
                      <a:pPr marL="0" marR="0" lvl="0" indent="0" algn="ctr" rtl="0">
                        <a:spcBef>
                          <a:spcPts val="0"/>
                        </a:spcBef>
                        <a:spcAft>
                          <a:spcPts val="0"/>
                        </a:spcAft>
                        <a:buNone/>
                      </a:pPr>
                      <a:r>
                        <a:rPr lang="en-US" sz="800" b="1"/>
                        <a:t>ALISA B</a:t>
                      </a:r>
                      <a:endParaRPr sz="800" b="1"/>
                    </a:p>
                  </a:txBody>
                  <a:tcPr marL="36000" marR="36000" marT="36000" marB="36000" anchor="ctr"/>
                </a:tc>
                <a:tc>
                  <a:txBody>
                    <a:bodyPr/>
                    <a:lstStyle/>
                    <a:p>
                      <a:pPr marL="0" marR="0" lvl="0" indent="0" algn="ctr" rtl="0">
                        <a:spcBef>
                          <a:spcPts val="0"/>
                        </a:spcBef>
                        <a:spcAft>
                          <a:spcPts val="0"/>
                        </a:spcAft>
                        <a:buNone/>
                      </a:pPr>
                      <a:r>
                        <a:rPr lang="en-US" sz="800" b="1"/>
                        <a:t>BERRY</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06L</a:t>
                      </a:r>
                      <a:endParaRPr sz="800" b="1"/>
                    </a:p>
                  </a:txBody>
                  <a:tcPr marL="36000" marR="36000" marT="36000" marB="36000" anchor="ctr"/>
                </a:tc>
                <a:extLst>
                  <a:ext uri="{0D108BD9-81ED-4DB2-BD59-A6C34878D82A}">
                    <a16:rowId xmlns:a16="http://schemas.microsoft.com/office/drawing/2014/main" val="10001"/>
                  </a:ext>
                </a:extLst>
              </a:tr>
              <a:tr h="210550">
                <a:tc>
                  <a:txBody>
                    <a:bodyPr/>
                    <a:lstStyle/>
                    <a:p>
                      <a:pPr marL="0" marR="0" lvl="0" indent="0" algn="ctr" rtl="0">
                        <a:spcBef>
                          <a:spcPts val="0"/>
                        </a:spcBef>
                        <a:spcAft>
                          <a:spcPts val="0"/>
                        </a:spcAft>
                        <a:buNone/>
                      </a:pPr>
                      <a:r>
                        <a:rPr lang="en-US" sz="800" b="1"/>
                        <a:t>06R</a:t>
                      </a:r>
                      <a:endParaRPr sz="800" b="1"/>
                    </a:p>
                  </a:txBody>
                  <a:tcPr marL="36000" marR="36000" marT="36000" marB="36000" anchor="ctr"/>
                </a:tc>
                <a:tc>
                  <a:txBody>
                    <a:bodyPr/>
                    <a:lstStyle/>
                    <a:p>
                      <a:pPr marL="0" marR="0" lvl="0" indent="0" algn="ctr" rtl="0">
                        <a:spcBef>
                          <a:spcPts val="0"/>
                        </a:spcBef>
                        <a:spcAft>
                          <a:spcPts val="0"/>
                        </a:spcAft>
                        <a:buNone/>
                      </a:pPr>
                      <a:r>
                        <a:rPr lang="en-US" sz="800" b="1"/>
                        <a:t>ALISA A</a:t>
                      </a:r>
                      <a:endParaRPr sz="800" b="1"/>
                    </a:p>
                  </a:txBody>
                  <a:tcPr marL="36000" marR="36000" marT="36000" marB="36000" anchor="ctr"/>
                </a:tc>
                <a:tc>
                  <a:txBody>
                    <a:bodyPr/>
                    <a:lstStyle/>
                    <a:p>
                      <a:pPr marL="0" marR="0" lvl="0" indent="0" algn="ctr" rtl="0">
                        <a:spcBef>
                          <a:spcPts val="0"/>
                        </a:spcBef>
                        <a:spcAft>
                          <a:spcPts val="0"/>
                        </a:spcAft>
                        <a:buNone/>
                      </a:pPr>
                      <a:r>
                        <a:rPr lang="en-US" sz="800" b="1"/>
                        <a:t>ALLAN</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06R</a:t>
                      </a:r>
                      <a:endParaRPr sz="800" b="1"/>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t>24L/R</a:t>
                      </a:r>
                      <a:endParaRPr sz="800" b="1"/>
                    </a:p>
                  </a:txBody>
                  <a:tcPr marL="36000" marR="36000" marT="36000" marB="36000" anchor="ctr"/>
                </a:tc>
                <a:tc>
                  <a:txBody>
                    <a:bodyPr/>
                    <a:lstStyle/>
                    <a:p>
                      <a:pPr marL="0" marR="0" lvl="0" indent="0" algn="ctr" rtl="0">
                        <a:spcBef>
                          <a:spcPts val="0"/>
                        </a:spcBef>
                        <a:spcAft>
                          <a:spcPts val="0"/>
                        </a:spcAft>
                        <a:buNone/>
                      </a:pPr>
                      <a:r>
                        <a:rPr lang="en-US" sz="800" b="1"/>
                        <a:t>ALISA C</a:t>
                      </a:r>
                      <a:endParaRPr sz="800" b="1"/>
                    </a:p>
                  </a:txBody>
                  <a:tcPr marL="36000" marR="36000" marT="36000" marB="36000" anchor="ctr"/>
                </a:tc>
                <a:tc>
                  <a:txBody>
                    <a:bodyPr/>
                    <a:lstStyle/>
                    <a:p>
                      <a:pPr marL="0" marR="0" lvl="0" indent="0" algn="ctr" rtl="0">
                        <a:spcBef>
                          <a:spcPts val="0"/>
                        </a:spcBef>
                        <a:spcAft>
                          <a:spcPts val="0"/>
                        </a:spcAft>
                        <a:buNone/>
                      </a:pPr>
                      <a:r>
                        <a:rPr lang="en-US" sz="800" b="1"/>
                        <a:t>MAYAH</a:t>
                      </a:r>
                      <a:endParaRPr sz="800" b="1"/>
                    </a:p>
                  </a:txBody>
                  <a:tcPr marL="36000" marR="36000" marT="36000" marB="36000" anchor="ctr"/>
                </a:tc>
                <a:tc>
                  <a:txBody>
                    <a:bodyPr/>
                    <a:lstStyle/>
                    <a:p>
                      <a:pPr marL="0" marR="0" lvl="0" indent="0" algn="ctr" rtl="0">
                        <a:spcBef>
                          <a:spcPts val="0"/>
                        </a:spcBef>
                        <a:spcAft>
                          <a:spcPts val="0"/>
                        </a:spcAft>
                        <a:buNone/>
                      </a:pPr>
                      <a:r>
                        <a:rPr lang="en-US" sz="800" b="1"/>
                        <a:t>ILS Z 24L/R</a:t>
                      </a:r>
                      <a:endParaRPr sz="800" b="1"/>
                    </a:p>
                  </a:txBody>
                  <a:tcPr marL="36000" marR="36000" marT="36000" marB="36000" anchor="ctr"/>
                </a:tc>
                <a:extLst>
                  <a:ext uri="{0D108BD9-81ED-4DB2-BD59-A6C34878D82A}">
                    <a16:rowId xmlns:a16="http://schemas.microsoft.com/office/drawing/2014/main" val="10003"/>
                  </a:ext>
                </a:extLst>
              </a:tr>
              <a:tr h="2336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err="1">
                          <a:solidFill>
                            <a:schemeClr val="bg1"/>
                          </a:solidFill>
                        </a:rPr>
                        <a:t>RWxx</a:t>
                      </a:r>
                      <a:r>
                        <a:rPr lang="en-US" sz="800" b="0" dirty="0">
                          <a:solidFill>
                            <a:schemeClr val="bg1"/>
                          </a:solidFill>
                        </a:rPr>
                        <a:t> /8</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9022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06L : B8(5160’), B6(6751’), 24R : B7(5318’), B9(6751’)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06R : A7(5137’), A6(6938’), 24L : A8(5269’), A9(6976’)</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902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RWY06 : After 2500ft L/G DN, After 1500ft L/D FLAP</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RTE 1(via J4), 2(via J3)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594645615"/>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RJBB(KIX) 17ft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KIX 130.95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062F9807-5AEF-8D80-6311-45C5000B22FB}"/>
              </a:ext>
            </a:extLst>
          </p:cNvPr>
          <p:cNvSpPr txBox="1"/>
          <p:nvPr/>
        </p:nvSpPr>
        <p:spPr>
          <a:xfrm>
            <a:off x="-25896" y="2790336"/>
            <a:ext cx="1965603"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FUK 124.15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133.8</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RDR 120.85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APP 120.25 </a:t>
            </a:r>
          </a:p>
        </p:txBody>
      </p:sp>
      <p:sp>
        <p:nvSpPr>
          <p:cNvPr id="4" name="직사각형 3">
            <a:hlinkClick r:id="" action="ppaction://hlinkshowjump?jump=firstslide"/>
            <a:extLst>
              <a:ext uri="{FF2B5EF4-FFF2-40B4-BE49-F238E27FC236}">
                <a16:creationId xmlns:a16="http://schemas.microsoft.com/office/drawing/2014/main" id="{44712840-8D61-AB2A-6929-88E6EAC824AC}"/>
              </a:ext>
            </a:extLst>
          </p:cNvPr>
          <p:cNvSpPr/>
          <p:nvPr/>
        </p:nvSpPr>
        <p:spPr>
          <a:xfrm>
            <a:off x="1622852" y="3379738"/>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Japan</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48273FDD-E3BC-4C98-FE4C-6B5FFE0AD980}"/>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76;p16">
            <a:extLst>
              <a:ext uri="{FF2B5EF4-FFF2-40B4-BE49-F238E27FC236}">
                <a16:creationId xmlns:a16="http://schemas.microsoft.com/office/drawing/2014/main" id="{791392FE-F56B-9866-7539-733AF7BD4193}"/>
              </a:ext>
            </a:extLst>
          </p:cNvPr>
          <p:cNvGraphicFramePr/>
          <p:nvPr>
            <p:extLst>
              <p:ext uri="{D42A27DB-BD31-4B8C-83A1-F6EECF244321}">
                <p14:modId xmlns:p14="http://schemas.microsoft.com/office/powerpoint/2010/main" val="1032411840"/>
              </p:ext>
            </p:extLst>
          </p:nvPr>
        </p:nvGraphicFramePr>
        <p:xfrm>
          <a:off x="1" y="607235"/>
          <a:ext cx="2332923" cy="2172370"/>
        </p:xfrm>
        <a:graphic>
          <a:graphicData uri="http://schemas.openxmlformats.org/drawingml/2006/table">
            <a:tbl>
              <a:tblPr firstRow="1" bandRow="1">
                <a:noFill/>
                <a:tableStyleId>{A521BE36-7E6F-4EC9-8D66-1CF97A6895EC}</a:tableStyleId>
              </a:tblPr>
              <a:tblGrid>
                <a:gridCol w="332655">
                  <a:extLst>
                    <a:ext uri="{9D8B030D-6E8A-4147-A177-3AD203B41FA5}">
                      <a16:colId xmlns:a16="http://schemas.microsoft.com/office/drawing/2014/main" val="20000"/>
                    </a:ext>
                  </a:extLst>
                </a:gridCol>
                <a:gridCol w="286875">
                  <a:extLst>
                    <a:ext uri="{9D8B030D-6E8A-4147-A177-3AD203B41FA5}">
                      <a16:colId xmlns:a16="http://schemas.microsoft.com/office/drawing/2014/main" val="20001"/>
                    </a:ext>
                  </a:extLst>
                </a:gridCol>
                <a:gridCol w="312965">
                  <a:extLst>
                    <a:ext uri="{9D8B030D-6E8A-4147-A177-3AD203B41FA5}">
                      <a16:colId xmlns:a16="http://schemas.microsoft.com/office/drawing/2014/main" val="20002"/>
                    </a:ext>
                  </a:extLst>
                </a:gridCol>
                <a:gridCol w="178387">
                  <a:extLst>
                    <a:ext uri="{9D8B030D-6E8A-4147-A177-3AD203B41FA5}">
                      <a16:colId xmlns:a16="http://schemas.microsoft.com/office/drawing/2014/main" val="20003"/>
                    </a:ext>
                  </a:extLst>
                </a:gridCol>
                <a:gridCol w="114873">
                  <a:extLst>
                    <a:ext uri="{9D8B030D-6E8A-4147-A177-3AD203B41FA5}">
                      <a16:colId xmlns:a16="http://schemas.microsoft.com/office/drawing/2014/main" val="20004"/>
                    </a:ext>
                  </a:extLst>
                </a:gridCol>
                <a:gridCol w="107034">
                  <a:extLst>
                    <a:ext uri="{9D8B030D-6E8A-4147-A177-3AD203B41FA5}">
                      <a16:colId xmlns:a16="http://schemas.microsoft.com/office/drawing/2014/main" val="20005"/>
                    </a:ext>
                  </a:extLst>
                </a:gridCol>
                <a:gridCol w="193753">
                  <a:extLst>
                    <a:ext uri="{9D8B030D-6E8A-4147-A177-3AD203B41FA5}">
                      <a16:colId xmlns:a16="http://schemas.microsoft.com/office/drawing/2014/main" val="553126697"/>
                    </a:ext>
                  </a:extLst>
                </a:gridCol>
                <a:gridCol w="403191">
                  <a:extLst>
                    <a:ext uri="{9D8B030D-6E8A-4147-A177-3AD203B41FA5}">
                      <a16:colId xmlns:a16="http://schemas.microsoft.com/office/drawing/2014/main" val="20006"/>
                    </a:ext>
                  </a:extLst>
                </a:gridCol>
                <a:gridCol w="95287">
                  <a:extLst>
                    <a:ext uri="{9D8B030D-6E8A-4147-A177-3AD203B41FA5}">
                      <a16:colId xmlns:a16="http://schemas.microsoft.com/office/drawing/2014/main" val="20008"/>
                    </a:ext>
                  </a:extLst>
                </a:gridCol>
                <a:gridCol w="307903">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(333)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b="1">
                          <a:solidFill>
                            <a:srgbClr val="0070C0"/>
                          </a:solidFill>
                        </a:rPr>
                        <a:t>5500/ATC</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t>(333)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a:solidFill>
                            <a:srgbClr val="0070C0"/>
                          </a:solidFill>
                        </a:rPr>
                        <a:t>ATC</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(153)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b="1">
                          <a:solidFill>
                            <a:srgbClr val="0070C0"/>
                          </a:solidFill>
                        </a:rPr>
                        <a:t>5000</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t>(153)</a:t>
                      </a:r>
                      <a:endParaRPr sz="458" dirty="0"/>
                    </a:p>
                  </a:txBody>
                  <a:tcPr marL="36000" marR="36000" marT="36000" marB="36000" anchor="ctr"/>
                </a:tc>
                <a:tc hMerge="1">
                  <a:txBody>
                    <a:bodyPr/>
                    <a:lstStyle/>
                    <a:p>
                      <a:endParaRPr lang="ko-Kore-KR" altLang="en-US"/>
                    </a:p>
                  </a:txBody>
                  <a:tcPr/>
                </a:tc>
                <a:tc gridSpan="2">
                  <a:txBody>
                    <a:bodyPr/>
                    <a:lstStyle/>
                    <a:p>
                      <a:pPr algn="ctr"/>
                      <a:r>
                        <a:rPr lang="en-US" sz="800" dirty="0">
                          <a:solidFill>
                            <a:srgbClr val="0070C0"/>
                          </a:solidFill>
                        </a:rPr>
                        <a:t>5000</a:t>
                      </a:r>
                      <a:endParaRPr lang="ko-Kore-K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5">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tc gridSpan="4">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 R242</a:t>
                      </a:r>
                      <a:endParaRPr kumimoji="0" lang="en-US" altLang="ko-Kore-KR" sz="458" b="0" i="0" u="none" strike="noStrike" kern="1200" cap="none" spc="0" normalizeH="0" baseline="0" noProof="0" dirty="0">
                        <a:ln>
                          <a:noFill/>
                        </a:ln>
                        <a:solidFill>
                          <a:prstClr val="black"/>
                        </a:solidFill>
                        <a:effectLst/>
                        <a:uLnTx/>
                        <a:uFillTx/>
                        <a:latin typeface="Calibri"/>
                        <a:cs typeface="Calibri"/>
                      </a:endParaRPr>
                    </a:p>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334884883"/>
              </p:ext>
            </p:extLst>
          </p:nvPr>
        </p:nvGraphicFramePr>
        <p:xfrm>
          <a:off x="0" y="611908"/>
          <a:ext cx="2332950" cy="13548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110475">
                  <a:extLst>
                    <a:ext uri="{9D8B030D-6E8A-4147-A177-3AD203B41FA5}">
                      <a16:colId xmlns:a16="http://schemas.microsoft.com/office/drawing/2014/main" val="20004"/>
                    </a:ext>
                  </a:extLst>
                </a:gridCol>
                <a:gridCol w="299925">
                  <a:extLst>
                    <a:ext uri="{9D8B030D-6E8A-4147-A177-3AD203B41FA5}">
                      <a16:colId xmlns:a16="http://schemas.microsoft.com/office/drawing/2014/main" val="20005"/>
                    </a:ext>
                  </a:extLst>
                </a:gridCol>
                <a:gridCol w="427575">
                  <a:extLst>
                    <a:ext uri="{9D8B030D-6E8A-4147-A177-3AD203B41FA5}">
                      <a16:colId xmlns:a16="http://schemas.microsoft.com/office/drawing/2014/main" val="20006"/>
                    </a:ext>
                  </a:extLst>
                </a:gridCol>
                <a:gridCol w="101050">
                  <a:extLst>
                    <a:ext uri="{9D8B030D-6E8A-4147-A177-3AD203B41FA5}">
                      <a16:colId xmlns:a16="http://schemas.microsoft.com/office/drawing/2014/main" val="20007"/>
                    </a:ext>
                  </a:extLst>
                </a:gridCol>
                <a:gridCol w="326525">
                  <a:extLst>
                    <a:ext uri="{9D8B030D-6E8A-4147-A177-3AD203B41FA5}">
                      <a16:colId xmlns:a16="http://schemas.microsoft.com/office/drawing/2014/main" val="20008"/>
                    </a:ext>
                  </a:extLst>
                </a:gridCol>
              </a:tblGrid>
              <a:tr h="159300">
                <a:tc gridSpan="9">
                  <a:txBody>
                    <a:bodyPr/>
                    <a:lstStyle/>
                    <a:p>
                      <a:pPr marL="0" marR="0" lvl="0" indent="0" algn="ctr" rtl="0">
                        <a:spcBef>
                          <a:spcPts val="0"/>
                        </a:spcBef>
                        <a:spcAft>
                          <a:spcPts val="0"/>
                        </a:spcAft>
                        <a:buNone/>
                      </a:pPr>
                      <a:r>
                        <a:rPr lang="en-US" sz="800"/>
                        <a:t>KIX : SID – SOUJA tx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06L/R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HELEN x</a:t>
                      </a:r>
                      <a:endParaRPr sz="800" b="1">
                        <a:solidFill>
                          <a:srgbClr val="0070C0"/>
                        </a:solidFill>
                      </a:endParaRPr>
                    </a:p>
                    <a:p>
                      <a:pPr marL="0" marR="0" lvl="0" indent="0" algn="ctr" rtl="0">
                        <a:spcBef>
                          <a:spcPts val="0"/>
                        </a:spcBef>
                        <a:spcAft>
                          <a:spcPts val="0"/>
                        </a:spcAft>
                        <a:buNone/>
                      </a:pPr>
                      <a:r>
                        <a:rPr lang="en-US" sz="800"/>
                        <a:t>- SOUJA tx</a:t>
                      </a:r>
                      <a:endParaRPr sz="800"/>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(059)</a:t>
                      </a:r>
                      <a:endParaRPr sz="458"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dirty="0"/>
                    </a:p>
                    <a:p>
                      <a:pPr marL="0" marR="0" lvl="0" indent="0" algn="ctr" rtl="0">
                        <a:spcBef>
                          <a:spcPts val="0"/>
                        </a:spcBef>
                        <a:spcAft>
                          <a:spcPts val="0"/>
                        </a:spcAft>
                        <a:buNone/>
                      </a:pPr>
                      <a:r>
                        <a:rPr lang="en-US" sz="800" b="1" dirty="0">
                          <a:solidFill>
                            <a:srgbClr val="0070C0"/>
                          </a:solidFill>
                        </a:rPr>
                        <a:t>(9000)</a:t>
                      </a:r>
                      <a:endParaRPr sz="458"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24L/R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(239)</a:t>
                      </a:r>
                      <a:endParaRPr sz="458"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b="1" dirty="0"/>
                    </a:p>
                    <a:p>
                      <a:pPr marL="0" marR="0" lvl="0" indent="0" algn="ctr" rtl="0">
                        <a:spcBef>
                          <a:spcPts val="0"/>
                        </a:spcBef>
                        <a:spcAft>
                          <a:spcPts val="0"/>
                        </a:spcAft>
                        <a:buNone/>
                      </a:pPr>
                      <a:r>
                        <a:rPr lang="en-US" sz="800" b="1" dirty="0">
                          <a:solidFill>
                            <a:srgbClr val="0070C0"/>
                          </a:solidFill>
                        </a:rPr>
                        <a:t>(9000)</a:t>
                      </a:r>
                      <a:endParaRPr sz="458" b="1"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KIE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111.6</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06L </a:t>
                      </a:r>
                      <a:endParaRPr/>
                    </a:p>
                    <a:p>
                      <a:pPr marL="0" marR="0" lvl="0" indent="0" algn="ctr" rtl="0">
                        <a:spcBef>
                          <a:spcPts val="0"/>
                        </a:spcBef>
                        <a:spcAft>
                          <a:spcPts val="0"/>
                        </a:spcAft>
                        <a:buNone/>
                      </a:pPr>
                      <a:r>
                        <a:rPr lang="en-US" sz="800" b="1">
                          <a:solidFill>
                            <a:srgbClr val="C00000"/>
                          </a:solidFill>
                        </a:rPr>
                        <a:t>108.7</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06R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24L 110.7</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24R 108.5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TAXI RTE 1(via J4), 2(via J3)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151146608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1300" dirty="0">
                          <a:solidFill>
                            <a:schemeClr val="tx1"/>
                          </a:solidFill>
                          <a:hlinkClick r:id="rId3">
                            <a:extLst>
                              <a:ext uri="{A12FA001-AC4F-418D-AE19-62706E023703}">
                                <ahyp:hlinkClr xmlns:ahyp="http://schemas.microsoft.com/office/drawing/2018/hyperlinkcolor" val="tx"/>
                              </a:ext>
                            </a:extLst>
                          </a:hlinkClick>
                        </a:rPr>
                        <a:t>RJBB(KIX) 17ft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KIX 130.95</a:t>
                      </a:r>
                      <a:endParaRPr/>
                    </a:p>
                    <a:p>
                      <a:pPr marL="0" marR="0" lvl="0" indent="0" algn="ctr" rtl="0">
                        <a:spcBef>
                          <a:spcPts val="0"/>
                        </a:spcBef>
                        <a:spcAft>
                          <a:spcPts val="0"/>
                        </a:spcAft>
                        <a:buNone/>
                      </a:pPr>
                      <a:r>
                        <a:rPr lang="en-US" sz="700">
                          <a:solidFill>
                            <a:srgbClr val="FF0000"/>
                          </a:solidFill>
                        </a:rPr>
                        <a:t>DCL -15분</a:t>
                      </a:r>
                      <a:endParaRPr sz="7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03" name="Google Shape;303;p19"/>
          <p:cNvGraphicFramePr/>
          <p:nvPr>
            <p:extLst>
              <p:ext uri="{D42A27DB-BD31-4B8C-83A1-F6EECF244321}">
                <p14:modId xmlns:p14="http://schemas.microsoft.com/office/powerpoint/2010/main" val="4262146153"/>
              </p:ext>
            </p:extLst>
          </p:nvPr>
        </p:nvGraphicFramePr>
        <p:xfrm>
          <a:off x="-5861" y="3906049"/>
          <a:ext cx="2325975" cy="162073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altLang="ko-Kore-KR" sz="800" dirty="0"/>
                        <a:t>RWY /8(180kts), /5(160kts) , YJU R271</a:t>
                      </a:r>
                      <a:endParaRPr lang="en-US" altLang="ko-Kore-K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381FD245-E43C-5EBF-6DC5-C4C9F9774FB6}"/>
              </a:ext>
            </a:extLst>
          </p:cNvPr>
          <p:cNvSpPr txBox="1"/>
          <p:nvPr/>
        </p:nvSpPr>
        <p:spPr>
          <a:xfrm>
            <a:off x="2" y="2032482"/>
            <a:ext cx="994183"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132.7 – 133.8</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124.15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6F9DBE84-CD0F-95F2-9F79-E83F51FD81B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5" name="직사각형 4">
            <a:hlinkClick r:id="" action="ppaction://hlinkshowjump?jump=firstslide"/>
            <a:extLst>
              <a:ext uri="{FF2B5EF4-FFF2-40B4-BE49-F238E27FC236}">
                <a16:creationId xmlns:a16="http://schemas.microsoft.com/office/drawing/2014/main" id="{54A3E91B-29BD-34F9-AB72-CE13CD56AA4C}"/>
              </a:ext>
            </a:extLst>
          </p:cNvPr>
          <p:cNvSpPr/>
          <p:nvPr/>
        </p:nvSpPr>
        <p:spPr>
          <a:xfrm>
            <a:off x="1622852" y="2793406"/>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Japan</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aphicFrame>
        <p:nvGraphicFramePr>
          <p:cNvPr id="309" name="Google Shape;309;p20"/>
          <p:cNvGraphicFramePr/>
          <p:nvPr>
            <p:extLst>
              <p:ext uri="{D42A27DB-BD31-4B8C-83A1-F6EECF244321}">
                <p14:modId xmlns:p14="http://schemas.microsoft.com/office/powerpoint/2010/main" val="530403707"/>
              </p:ext>
            </p:extLst>
          </p:nvPr>
        </p:nvGraphicFramePr>
        <p:xfrm>
          <a:off x="-20940" y="579374"/>
          <a:ext cx="2364294" cy="2108410"/>
        </p:xfrm>
        <a:graphic>
          <a:graphicData uri="http://schemas.openxmlformats.org/drawingml/2006/table">
            <a:tbl>
              <a:tblPr firstRow="1" bandRow="1">
                <a:noFill/>
                <a:tableStyleId>{A521BE36-7E6F-4EC9-8D66-1CF97A6895EC}</a:tableStyleId>
              </a:tblPr>
              <a:tblGrid>
                <a:gridCol w="340287">
                  <a:extLst>
                    <a:ext uri="{9D8B030D-6E8A-4147-A177-3AD203B41FA5}">
                      <a16:colId xmlns:a16="http://schemas.microsoft.com/office/drawing/2014/main" val="20000"/>
                    </a:ext>
                  </a:extLst>
                </a:gridCol>
                <a:gridCol w="226701">
                  <a:extLst>
                    <a:ext uri="{9D8B030D-6E8A-4147-A177-3AD203B41FA5}">
                      <a16:colId xmlns:a16="http://schemas.microsoft.com/office/drawing/2014/main" val="20001"/>
                    </a:ext>
                  </a:extLst>
                </a:gridCol>
                <a:gridCol w="364283">
                  <a:extLst>
                    <a:ext uri="{9D8B030D-6E8A-4147-A177-3AD203B41FA5}">
                      <a16:colId xmlns:a16="http://schemas.microsoft.com/office/drawing/2014/main" val="20002"/>
                    </a:ext>
                  </a:extLst>
                </a:gridCol>
                <a:gridCol w="140970">
                  <a:extLst>
                    <a:ext uri="{9D8B030D-6E8A-4147-A177-3AD203B41FA5}">
                      <a16:colId xmlns:a16="http://schemas.microsoft.com/office/drawing/2014/main" val="20003"/>
                    </a:ext>
                  </a:extLst>
                </a:gridCol>
                <a:gridCol w="172658">
                  <a:extLst>
                    <a:ext uri="{9D8B030D-6E8A-4147-A177-3AD203B41FA5}">
                      <a16:colId xmlns:a16="http://schemas.microsoft.com/office/drawing/2014/main" val="20004"/>
                    </a:ext>
                  </a:extLst>
                </a:gridCol>
                <a:gridCol w="61400">
                  <a:extLst>
                    <a:ext uri="{9D8B030D-6E8A-4147-A177-3AD203B41FA5}">
                      <a16:colId xmlns:a16="http://schemas.microsoft.com/office/drawing/2014/main" val="20005"/>
                    </a:ext>
                  </a:extLst>
                </a:gridCol>
                <a:gridCol w="100544">
                  <a:extLst>
                    <a:ext uri="{9D8B030D-6E8A-4147-A177-3AD203B41FA5}">
                      <a16:colId xmlns:a16="http://schemas.microsoft.com/office/drawing/2014/main" val="871491271"/>
                    </a:ext>
                  </a:extLst>
                </a:gridCol>
                <a:gridCol w="150601">
                  <a:extLst>
                    <a:ext uri="{9D8B030D-6E8A-4147-A177-3AD203B41FA5}">
                      <a16:colId xmlns:a16="http://schemas.microsoft.com/office/drawing/2014/main" val="20006"/>
                    </a:ext>
                  </a:extLst>
                </a:gridCol>
                <a:gridCol w="285316">
                  <a:extLst>
                    <a:ext uri="{9D8B030D-6E8A-4147-A177-3AD203B41FA5}">
                      <a16:colId xmlns:a16="http://schemas.microsoft.com/office/drawing/2014/main" val="20007"/>
                    </a:ext>
                  </a:extLst>
                </a:gridCol>
                <a:gridCol w="278215">
                  <a:extLst>
                    <a:ext uri="{9D8B030D-6E8A-4147-A177-3AD203B41FA5}">
                      <a16:colId xmlns:a16="http://schemas.microsoft.com/office/drawing/2014/main" val="20008"/>
                    </a:ext>
                  </a:extLst>
                </a:gridCol>
                <a:gridCol w="243319">
                  <a:extLst>
                    <a:ext uri="{9D8B030D-6E8A-4147-A177-3AD203B41FA5}">
                      <a16:colId xmlns:a16="http://schemas.microsoft.com/office/drawing/2014/main" val="20009"/>
                    </a:ext>
                  </a:extLst>
                </a:gridCol>
              </a:tblGrid>
              <a:tr h="159300">
                <a:tc gridSpan="11">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(333)</a:t>
                      </a:r>
                      <a:endParaRPr sz="458"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dirty="0"/>
                        <a:t>(333)</a:t>
                      </a:r>
                      <a:endParaRPr sz="458"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b="1" dirty="0">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t>(153)</a:t>
                      </a:r>
                      <a:endParaRPr sz="458"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458" dirty="0">
                        <a:solidFill>
                          <a:srgbClr val="C0000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dirty="0"/>
                        <a:t>(153)</a:t>
                      </a:r>
                      <a:endParaRPr sz="458" dirty="0"/>
                    </a:p>
                  </a:txBody>
                  <a:tcPr marL="36000" marR="36000" marT="36000" marB="36000" anchor="ct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endParaRPr sz="800" dirty="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33L </a:t>
                      </a:r>
                      <a:endParaRPr dirty="0"/>
                    </a:p>
                    <a:p>
                      <a:pPr marL="0" marR="0" lvl="0" indent="0" algn="ctr" rtl="0">
                        <a:spcBef>
                          <a:spcPts val="0"/>
                        </a:spcBef>
                        <a:spcAft>
                          <a:spcPts val="0"/>
                        </a:spcAft>
                        <a:buNone/>
                      </a:pPr>
                      <a:r>
                        <a:rPr lang="en-US" sz="800" b="1" dirty="0">
                          <a:solidFill>
                            <a:srgbClr val="C00000"/>
                          </a:solidFill>
                        </a:rPr>
                        <a:t>109.3</a:t>
                      </a:r>
                      <a:endParaRPr sz="800" b="1" dirty="0">
                        <a:solidFill>
                          <a:srgbClr val="C00000"/>
                        </a:solidFill>
                      </a:endParaRPr>
                    </a:p>
                  </a:txBody>
                  <a:tcPr marL="36000" marR="36000" marT="0" marB="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0" marB="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15R </a:t>
                      </a:r>
                    </a:p>
                    <a:p>
                      <a:pPr marL="0" marR="0" lvl="0" indent="0" algn="ctr" rtl="0">
                        <a:spcBef>
                          <a:spcPts val="0"/>
                        </a:spcBef>
                        <a:spcAft>
                          <a:spcPts val="0"/>
                        </a:spcAft>
                        <a:buNone/>
                      </a:pPr>
                      <a:r>
                        <a:rPr lang="en-US" sz="800" b="1" dirty="0">
                          <a:solidFill>
                            <a:srgbClr val="C00000"/>
                          </a:solidFill>
                        </a:rPr>
                        <a:t>109.1</a:t>
                      </a:r>
                      <a:endParaRPr sz="800" b="1" dirty="0">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34L</a:t>
                      </a:r>
                      <a:endParaRPr dirty="0"/>
                    </a:p>
                    <a:p>
                      <a:pPr marL="0" marR="0" lvl="0" indent="0" algn="ctr" rtl="0">
                        <a:spcBef>
                          <a:spcPts val="0"/>
                        </a:spcBef>
                        <a:spcAft>
                          <a:spcPts val="0"/>
                        </a:spcAft>
                        <a:buNone/>
                      </a:pPr>
                      <a:r>
                        <a:rPr lang="en-US" sz="800" b="1" dirty="0">
                          <a:solidFill>
                            <a:srgbClr val="C00000"/>
                          </a:solidFill>
                        </a:rPr>
                        <a:t>109.95</a:t>
                      </a:r>
                      <a:endParaRPr sz="800" b="1" dirty="0">
                        <a:solidFill>
                          <a:srgbClr val="C00000"/>
                        </a:solidFill>
                      </a:endParaRPr>
                    </a:p>
                  </a:txBody>
                  <a:tcPr marL="36000" marR="36000" marT="0" marB="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solidFill>
                            <a:srgbClr val="C00000"/>
                          </a:solidFill>
                        </a:rPr>
                        <a:t>34R</a:t>
                      </a:r>
                      <a:endParaRPr dirty="0"/>
                    </a:p>
                    <a:p>
                      <a:pPr marL="0" marR="0" lvl="0" indent="0" algn="ctr" rtl="0">
                        <a:spcBef>
                          <a:spcPts val="0"/>
                        </a:spcBef>
                        <a:spcAft>
                          <a:spcPts val="0"/>
                        </a:spcAft>
                        <a:buNone/>
                      </a:pPr>
                      <a:r>
                        <a:rPr lang="en-US" sz="800" b="1" dirty="0">
                          <a:solidFill>
                            <a:srgbClr val="C00000"/>
                          </a:solidFill>
                        </a:rPr>
                        <a:t>108.1</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solidFill>
                            <a:srgbClr val="C00000"/>
                          </a:solidFill>
                        </a:rPr>
                        <a:t>16L</a:t>
                      </a:r>
                      <a:endParaRPr dirty="0"/>
                    </a:p>
                    <a:p>
                      <a:pPr marL="0" marR="0" lvl="0" indent="0" algn="ctr" rtl="0">
                        <a:spcBef>
                          <a:spcPts val="0"/>
                        </a:spcBef>
                        <a:spcAft>
                          <a:spcPts val="0"/>
                        </a:spcAft>
                        <a:buNone/>
                      </a:pPr>
                      <a:r>
                        <a:rPr lang="en-US" sz="800" b="1" dirty="0">
                          <a:solidFill>
                            <a:srgbClr val="C00000"/>
                          </a:solidFill>
                        </a:rPr>
                        <a:t>110.35</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16R</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6"/>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5">
                  <a:txBody>
                    <a:bodyPr/>
                    <a:lstStyle/>
                    <a:p>
                      <a:pPr marL="0" marR="0" lvl="0" indent="0" algn="ctr" defTabSz="116449" rtl="0" eaLnBrk="1" fontAlgn="auto" latinLnBrk="0" hangingPunct="1">
                        <a:lnSpc>
                          <a:spcPct val="100000"/>
                        </a:lnSpc>
                        <a:spcBef>
                          <a:spcPts val="0"/>
                        </a:spcBef>
                        <a:spcAft>
                          <a:spcPts val="0"/>
                        </a:spcAft>
                        <a:buClr>
                          <a:prstClr val="black"/>
                        </a:buClr>
                        <a:buSzPts val="800"/>
                        <a:buFont typeface="Calibri"/>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33L/R : NC05L/R, R242, YJU R271</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a:p>
                  </a:txBody>
                  <a:tcPr marL="36000" marR="36000" marT="36000" marB="36000" anchor="ctr"/>
                </a:tc>
                <a:tc hMerge="1">
                  <a:txBody>
                    <a:bodyPr/>
                    <a:lstStyle/>
                    <a:p>
                      <a:endParaRPr lang="ko-Kore-KR"/>
                    </a:p>
                  </a:txBody>
                  <a:tcPr/>
                </a:tc>
                <a:tc gridSpan="5">
                  <a:txBody>
                    <a:bodyPr/>
                    <a:lstStyle/>
                    <a:p>
                      <a:pPr marL="0" marR="0" lvl="0" indent="0" algn="ctr"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34L/R : EO34L/R, R242</a:t>
                      </a:r>
                      <a:r>
                        <a:rPr kumimoji="0" lang="en-US" altLang="ko-Kore-KR" sz="458" b="0" i="0" u="none" strike="noStrike" kern="1200" cap="none" spc="0" normalizeH="0" baseline="0" noProof="0" dirty="0">
                          <a:ln>
                            <a:noFill/>
                          </a:ln>
                          <a:solidFill>
                            <a:prstClr val="black"/>
                          </a:solidFill>
                          <a:effectLst/>
                          <a:uLnTx/>
                          <a:uFillTx/>
                          <a:latin typeface="Calibri"/>
                          <a:cs typeface="Calibri"/>
                        </a:rPr>
                        <a:t>, </a:t>
                      </a:r>
                      <a:r>
                        <a:rPr kumimoji="0" lang="en-US" altLang="ko-Kore-KR" sz="800" b="0" i="0" u="none" strike="noStrike" kern="1200" cap="none" spc="0" normalizeH="0" baseline="0" noProof="0" dirty="0">
                          <a:ln>
                            <a:noFill/>
                          </a:ln>
                          <a:solidFill>
                            <a:prstClr val="black"/>
                          </a:solidFill>
                          <a:effectLst/>
                          <a:uLnTx/>
                          <a:uFillTx/>
                          <a:latin typeface="Calibri"/>
                          <a:cs typeface="Calibri"/>
                        </a:rPr>
                        <a:t>YJU R271</a:t>
                      </a:r>
                    </a:p>
                  </a:txBody>
                  <a:tcPr marL="36000" marR="36000" marT="36000" marB="36000" anchor="ctr"/>
                </a:tc>
                <a:tc hMerge="1">
                  <a:txBody>
                    <a:bodyPr/>
                    <a:lstStyle/>
                    <a:p>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10" name="Google Shape;310;p20"/>
          <p:cNvGraphicFramePr/>
          <p:nvPr>
            <p:extLst>
              <p:ext uri="{D42A27DB-BD31-4B8C-83A1-F6EECF244321}">
                <p14:modId xmlns:p14="http://schemas.microsoft.com/office/powerpoint/2010/main" val="3367437517"/>
              </p:ext>
            </p:extLst>
          </p:nvPr>
        </p:nvGraphicFramePr>
        <p:xfrm>
          <a:off x="1596" y="3751471"/>
          <a:ext cx="2331400" cy="179257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 HAKKA 330,YAGAN 240,LIVET 210,SWAMP 150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a:txBody>
                    <a:bodyPr/>
                    <a:lstStyle/>
                    <a:p>
                      <a:pPr marL="0" marR="0" lvl="0" indent="0" algn="ctr" rtl="0">
                        <a:spcBef>
                          <a:spcPts val="0"/>
                        </a:spcBef>
                        <a:spcAft>
                          <a:spcPts val="0"/>
                        </a:spcAft>
                        <a:buNone/>
                      </a:pPr>
                      <a:r>
                        <a:rPr lang="en-US" sz="800" b="1"/>
                        <a:t>SWAMP E</a:t>
                      </a:r>
                      <a:endParaRPr/>
                    </a:p>
                    <a:p>
                      <a:pPr marL="0" marR="0" lvl="0" indent="0" algn="ctr" rtl="0">
                        <a:spcBef>
                          <a:spcPts val="0"/>
                        </a:spcBef>
                        <a:spcAft>
                          <a:spcPts val="0"/>
                        </a:spcAft>
                        <a:buNone/>
                      </a:pPr>
                      <a:r>
                        <a:rPr lang="en-US" sz="800" b="1"/>
                        <a:t>(SWAMP T)</a:t>
                      </a:r>
                      <a:endParaRPr sz="800" b="1"/>
                    </a:p>
                  </a:txBody>
                  <a:tcPr marL="36000" marR="36000" marT="36000" marB="36000" anchor="ctr"/>
                </a:tc>
                <a:tc>
                  <a:txBody>
                    <a:bodyPr/>
                    <a:lstStyle/>
                    <a:p>
                      <a:pPr marL="0" marR="0" lvl="0" indent="0" algn="ctr" rtl="0">
                        <a:spcBef>
                          <a:spcPts val="0"/>
                        </a:spcBef>
                        <a:spcAft>
                          <a:spcPts val="0"/>
                        </a:spcAft>
                        <a:buNone/>
                      </a:pPr>
                      <a:r>
                        <a:rPr lang="en-US" sz="800" b="1"/>
                        <a:t>ELGAR</a:t>
                      </a:r>
                      <a:endParaRPr/>
                    </a:p>
                    <a:p>
                      <a:pPr marL="0" marR="0" lvl="0" indent="0" algn="ctr" rtl="0">
                        <a:spcBef>
                          <a:spcPts val="0"/>
                        </a:spcBef>
                        <a:spcAft>
                          <a:spcPts val="0"/>
                        </a:spcAft>
                        <a:buNone/>
                      </a:pPr>
                      <a:r>
                        <a:rPr lang="en-US" sz="800" b="1"/>
                        <a:t>(TYLER)</a:t>
                      </a:r>
                      <a:endParaRPr sz="800" b="1"/>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a:txBody>
                    <a:bodyPr/>
                    <a:lstStyle/>
                    <a:p>
                      <a:pPr marL="0" marR="0" lvl="0" indent="0" algn="ctr" rtl="0">
                        <a:spcBef>
                          <a:spcPts val="0"/>
                        </a:spcBef>
                        <a:spcAft>
                          <a:spcPts val="0"/>
                        </a:spcAft>
                        <a:buNone/>
                      </a:pPr>
                      <a:r>
                        <a:rPr lang="en-US" sz="800" b="1"/>
                        <a:t>SWAMP G</a:t>
                      </a:r>
                      <a:endParaRPr/>
                    </a:p>
                    <a:p>
                      <a:pPr marL="0" marR="0" lvl="0" indent="0" algn="ctr" rtl="0">
                        <a:spcBef>
                          <a:spcPts val="0"/>
                        </a:spcBef>
                        <a:spcAft>
                          <a:spcPts val="0"/>
                        </a:spcAft>
                        <a:buNone/>
                      </a:pPr>
                      <a:r>
                        <a:rPr lang="en-US" sz="800" b="1"/>
                        <a:t>(SWAMP N)</a:t>
                      </a:r>
                      <a:endParaRPr sz="800" b="1"/>
                    </a:p>
                  </a:txBody>
                  <a:tcPr marL="36000" marR="36000" marT="36000" marB="36000" anchor="ctr"/>
                </a:tc>
                <a:tc>
                  <a:txBody>
                    <a:bodyPr/>
                    <a:lstStyle/>
                    <a:p>
                      <a:pPr marL="0" marR="0" lvl="0" indent="0" algn="ctr" rtl="0">
                        <a:spcBef>
                          <a:spcPts val="0"/>
                        </a:spcBef>
                        <a:spcAft>
                          <a:spcPts val="0"/>
                        </a:spcAft>
                        <a:buNone/>
                      </a:pPr>
                      <a:r>
                        <a:rPr lang="en-US" sz="800" b="1"/>
                        <a:t>GEMIN</a:t>
                      </a:r>
                      <a:endParaRPr/>
                    </a:p>
                    <a:p>
                      <a:pPr marL="0" marR="0" lvl="0" indent="0" algn="ctr" rtl="0">
                        <a:spcBef>
                          <a:spcPts val="0"/>
                        </a:spcBef>
                        <a:spcAft>
                          <a:spcPts val="0"/>
                        </a:spcAft>
                        <a:buNone/>
                      </a:pPr>
                      <a:r>
                        <a:rPr lang="en-US" sz="800" b="1"/>
                        <a:t>(NORMA)</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16L : ITM 4 / 34R : ITJ 14, 4 (DME)</a:t>
                      </a:r>
                      <a:endParaRPr dirty="0">
                        <a:solidFill>
                          <a:schemeClr val="bg1"/>
                        </a:solidFill>
                      </a:endParaRPr>
                    </a:p>
                    <a:p>
                      <a:pPr marL="0" marR="0" lvl="0" indent="0" algn="ctr" rtl="0">
                        <a:lnSpc>
                          <a:spcPct val="100000"/>
                        </a:lnSpc>
                        <a:spcBef>
                          <a:spcPts val="0"/>
                        </a:spcBef>
                        <a:spcAft>
                          <a:spcPts val="0"/>
                        </a:spcAft>
                        <a:buClr>
                          <a:schemeClr val="accent1"/>
                        </a:buClr>
                        <a:buSzPts val="800"/>
                        <a:buFont typeface="Calibri"/>
                        <a:buNone/>
                      </a:pPr>
                      <a:r>
                        <a:rPr lang="en-US" sz="800" b="0" dirty="0">
                          <a:solidFill>
                            <a:schemeClr val="bg1"/>
                          </a:solidFill>
                        </a:rPr>
                        <a:t>16R : IKF 4 / 34L : IYQ 12, 4 (DME)</a:t>
                      </a:r>
                      <a:endParaRPr sz="800" b="0" dirty="0">
                        <a:solidFill>
                          <a:schemeClr val="bg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 B6(6433’), B7(7017’), 34R : B4(5849’), B2(6778’)</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A6(6076’), A7(7624’), 34L : A5(6167’), A4(7641’)</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p:cNvGraphicFramePr/>
          <p:nvPr>
            <p:extLst>
              <p:ext uri="{D42A27DB-BD31-4B8C-83A1-F6EECF244321}">
                <p14:modId xmlns:p14="http://schemas.microsoft.com/office/powerpoint/2010/main" val="12021512"/>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tx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tx1"/>
                          </a:solidFill>
                          <a:hlinkClick r:id="rId4">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KE Tokyo 131.70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B348A56-DF69-97BA-6C0C-39EEA383FCDD}"/>
              </a:ext>
            </a:extLst>
          </p:cNvPr>
          <p:cNvSpPr txBox="1"/>
          <p:nvPr/>
        </p:nvSpPr>
        <p:spPr>
          <a:xfrm>
            <a:off x="-35858" y="2684741"/>
            <a:ext cx="2026517" cy="597975"/>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125.15</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TGU</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134.17 </a:t>
            </a: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TKO 1</a:t>
            </a:r>
            <a:r>
              <a:rPr kumimoji="1" lang="en-US" altLang="ko-KR" sz="800" b="1" u="sng" dirty="0">
                <a:solidFill>
                  <a:srgbClr val="0070C0"/>
                </a:solidFill>
                <a:latin typeface="Gulim" panose="020B0600000101010101" pitchFamily="34" charset="-127"/>
                <a:ea typeface="Gulim" panose="020B0600000101010101" pitchFamily="34" charset="-127"/>
              </a:rPr>
              <a:t>24</a:t>
            </a:r>
            <a:r>
              <a:rPr kumimoji="1" lang="en-US" altLang="ko-Kore-KR" sz="800" b="1" u="sng" dirty="0">
                <a:solidFill>
                  <a:srgbClr val="0070C0"/>
                </a:solidFill>
                <a:latin typeface="Gulim" panose="020B0600000101010101" pitchFamily="34" charset="-127"/>
                <a:ea typeface="Gulim" panose="020B0600000101010101" pitchFamily="34" charset="-127"/>
              </a:rPr>
              <a:t>.</a:t>
            </a:r>
            <a:r>
              <a:rPr kumimoji="1" lang="en-US" altLang="ko-KR" sz="800" b="1" u="sng" dirty="0">
                <a:solidFill>
                  <a:srgbClr val="0070C0"/>
                </a:solidFill>
                <a:latin typeface="Gulim" panose="020B0600000101010101" pitchFamily="34" charset="-127"/>
                <a:ea typeface="Gulim" panose="020B0600000101010101" pitchFamily="34" charset="-127"/>
              </a:rPr>
              <a:t>15</a:t>
            </a:r>
            <a:r>
              <a:rPr kumimoji="1" lang="en-US" altLang="ko-Kore-KR" sz="800" b="1" u="sng" dirty="0">
                <a:solidFill>
                  <a:srgbClr val="0070C0"/>
                </a:solidFill>
                <a:latin typeface="Gulim" panose="020B0600000101010101" pitchFamily="34" charset="-127"/>
                <a:ea typeface="Gulim" panose="020B0600000101010101" pitchFamily="34" charset="-127"/>
              </a:rPr>
              <a:t> – 13</a:t>
            </a:r>
            <a:r>
              <a:rPr kumimoji="1" lang="en-US" altLang="ko-KR" sz="800" b="1" u="sng" dirty="0">
                <a:solidFill>
                  <a:srgbClr val="0070C0"/>
                </a:solidFill>
                <a:latin typeface="Gulim" panose="020B0600000101010101" pitchFamily="34" charset="-127"/>
                <a:ea typeface="Gulim" panose="020B0600000101010101" pitchFamily="34" charset="-127"/>
              </a:rPr>
              <a:t>2</a:t>
            </a:r>
            <a:r>
              <a:rPr kumimoji="1" lang="en-US" altLang="ko-Kore-KR" sz="800" b="1" u="sng" dirty="0">
                <a:solidFill>
                  <a:srgbClr val="0070C0"/>
                </a:solidFill>
                <a:latin typeface="Gulim" panose="020B0600000101010101" pitchFamily="34" charset="-127"/>
                <a:ea typeface="Gulim" panose="020B0600000101010101" pitchFamily="34" charset="-127"/>
              </a:rPr>
              <a:t>.02 - 124.1- </a:t>
            </a:r>
            <a:r>
              <a:rPr kumimoji="1" lang="en-US" altLang="ko-KR" sz="800" b="1" u="sng" dirty="0">
                <a:solidFill>
                  <a:srgbClr val="0070C0"/>
                </a:solidFill>
                <a:latin typeface="Gulim" panose="020B0600000101010101" pitchFamily="34" charset="-127"/>
                <a:ea typeface="Gulim" panose="020B0600000101010101" pitchFamily="34" charset="-127"/>
              </a:rPr>
              <a:t>128.2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APP 124.4</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a:t>
            </a:r>
            <a:r>
              <a:rPr kumimoji="1" lang="ko-KR" altLang="en-US" sz="800" b="1" u="sng" dirty="0">
                <a:solidFill>
                  <a:srgbClr val="0070C0"/>
                </a:solidFill>
                <a:latin typeface="Gulim" panose="020B0600000101010101" pitchFamily="34" charset="-127"/>
                <a:ea typeface="Gulim" panose="020B0600000101010101" pitchFamily="34" charset="-127"/>
              </a:rPr>
              <a:t> </a:t>
            </a:r>
            <a:r>
              <a:rPr kumimoji="1" lang="en-US" altLang="ko-KR" sz="800" b="1" u="sng" dirty="0">
                <a:solidFill>
                  <a:srgbClr val="0070C0"/>
                </a:solidFill>
                <a:latin typeface="Gulim" panose="020B0600000101010101" pitchFamily="34" charset="-127"/>
                <a:ea typeface="Gulim" panose="020B0600000101010101" pitchFamily="34" charset="-127"/>
              </a:rPr>
              <a:t>120.2</a:t>
            </a:r>
            <a:r>
              <a:rPr kumimoji="1" lang="ko-KR" altLang="en-US" sz="800" b="1" u="sng" dirty="0">
                <a:solidFill>
                  <a:srgbClr val="0070C0"/>
                </a:solidFill>
                <a:latin typeface="Gulim" panose="020B0600000101010101" pitchFamily="34" charset="-127"/>
                <a:ea typeface="Gulim" panose="020B0600000101010101" pitchFamily="34" charset="-127"/>
              </a:rPr>
              <a:t> </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F03909F-D98D-16B4-E03D-223D925F26E1}"/>
              </a:ext>
            </a:extLst>
          </p:cNvPr>
          <p:cNvSpPr/>
          <p:nvPr/>
        </p:nvSpPr>
        <p:spPr>
          <a:xfrm>
            <a:off x="1663362" y="3239999"/>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Japan</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0A0BD91C-DB99-852F-BA1E-37D83389EC4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8" name="Google Shape;318;p21"/>
          <p:cNvGraphicFramePr/>
          <p:nvPr>
            <p:extLst>
              <p:ext uri="{D42A27DB-BD31-4B8C-83A1-F6EECF244321}">
                <p14:modId xmlns:p14="http://schemas.microsoft.com/office/powerpoint/2010/main" val="1654988924"/>
              </p:ext>
            </p:extLst>
          </p:nvPr>
        </p:nvGraphicFramePr>
        <p:xfrm>
          <a:off x="0" y="611908"/>
          <a:ext cx="2332950" cy="139669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110475">
                  <a:extLst>
                    <a:ext uri="{9D8B030D-6E8A-4147-A177-3AD203B41FA5}">
                      <a16:colId xmlns:a16="http://schemas.microsoft.com/office/drawing/2014/main" val="20004"/>
                    </a:ext>
                  </a:extLst>
                </a:gridCol>
                <a:gridCol w="299925">
                  <a:extLst>
                    <a:ext uri="{9D8B030D-6E8A-4147-A177-3AD203B41FA5}">
                      <a16:colId xmlns:a16="http://schemas.microsoft.com/office/drawing/2014/main" val="20005"/>
                    </a:ext>
                  </a:extLst>
                </a:gridCol>
                <a:gridCol w="427575">
                  <a:extLst>
                    <a:ext uri="{9D8B030D-6E8A-4147-A177-3AD203B41FA5}">
                      <a16:colId xmlns:a16="http://schemas.microsoft.com/office/drawing/2014/main" val="20006"/>
                    </a:ext>
                  </a:extLst>
                </a:gridCol>
                <a:gridCol w="101050">
                  <a:extLst>
                    <a:ext uri="{9D8B030D-6E8A-4147-A177-3AD203B41FA5}">
                      <a16:colId xmlns:a16="http://schemas.microsoft.com/office/drawing/2014/main" val="20007"/>
                    </a:ext>
                  </a:extLst>
                </a:gridCol>
                <a:gridCol w="326525">
                  <a:extLst>
                    <a:ext uri="{9D8B030D-6E8A-4147-A177-3AD203B41FA5}">
                      <a16:colId xmlns:a16="http://schemas.microsoft.com/office/drawing/2014/main" val="20008"/>
                    </a:ext>
                  </a:extLst>
                </a:gridCol>
              </a:tblGrid>
              <a:tr h="159300">
                <a:tc gridSpan="9">
                  <a:txBody>
                    <a:bodyPr/>
                    <a:lstStyle/>
                    <a:p>
                      <a:pPr marL="0" marR="0" lvl="0" indent="0" algn="ctr" rtl="0">
                        <a:spcBef>
                          <a:spcPts val="0"/>
                        </a:spcBef>
                        <a:spcAft>
                          <a:spcPts val="0"/>
                        </a:spcAft>
                        <a:buNone/>
                      </a:pPr>
                      <a:r>
                        <a:rPr lang="en-US" sz="800"/>
                        <a:t>NRT : SID – ENPAR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TETRA x</a:t>
                      </a:r>
                      <a:endParaRPr/>
                    </a:p>
                    <a:p>
                      <a:pPr marL="0" marR="0" lvl="0" indent="0" algn="ctr" rtl="0">
                        <a:spcBef>
                          <a:spcPts val="0"/>
                        </a:spcBef>
                        <a:spcAft>
                          <a:spcPts val="0"/>
                        </a:spcAft>
                        <a:buNone/>
                      </a:pPr>
                      <a:r>
                        <a:rPr lang="en-US" sz="800" b="1"/>
                        <a:t>ENPAR tx</a:t>
                      </a:r>
                      <a:endParaRPr sz="800" b="1"/>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157</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157</a:t>
                      </a:r>
                      <a:endParaRPr sz="458"/>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157</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337</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337</a:t>
                      </a:r>
                      <a:endParaRPr sz="458"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7000/ATC</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337</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 </a:t>
                      </a:r>
                      <a:endParaRPr/>
                    </a:p>
                    <a:p>
                      <a:pPr marL="0" marR="0" lvl="0" indent="0" algn="ctr" rtl="0">
                        <a:spcBef>
                          <a:spcPts val="0"/>
                        </a:spcBef>
                        <a:spcAft>
                          <a:spcPts val="0"/>
                        </a:spcAft>
                        <a:buNone/>
                      </a:pPr>
                      <a:r>
                        <a:rPr lang="en-US" sz="800" b="1">
                          <a:solidFill>
                            <a:srgbClr val="C00000"/>
                          </a:solidFill>
                        </a:rPr>
                        <a:t>110.7</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111.5</a:t>
                      </a:r>
                      <a:endParaRPr sz="800"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34L 111.9</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34R 110.9</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gridSpan="9">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34R : CLB 220/10000, A4R21/22/23 220KTS </a:t>
                      </a:r>
                      <a:r>
                        <a:rPr lang="en-US" sz="800" b="1" dirty="0" err="1">
                          <a:solidFill>
                            <a:schemeClr val="accent1"/>
                          </a:solidFill>
                        </a:rPr>
                        <a:t>확인</a:t>
                      </a:r>
                      <a:endParaRPr sz="800" b="1" dirty="0">
                        <a:solidFill>
                          <a:schemeClr val="accent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Verity ENPAR </a:t>
                      </a:r>
                      <a:r>
                        <a:rPr lang="en-US" sz="800" b="1" dirty="0" err="1">
                          <a:solidFill>
                            <a:schemeClr val="dk1"/>
                          </a:solidFill>
                        </a:rPr>
                        <a:t>tx</a:t>
                      </a:r>
                      <a:r>
                        <a:rPr lang="en-US" sz="800" b="1" dirty="0">
                          <a:solidFill>
                            <a:schemeClr val="dk1"/>
                          </a:solidFill>
                        </a:rPr>
                        <a:t> TETRA 12000A </a:t>
                      </a:r>
                      <a:endParaRPr sz="800" b="1"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p:cNvGraphicFramePr/>
          <p:nvPr>
            <p:extLst>
              <p:ext uri="{D42A27DB-BD31-4B8C-83A1-F6EECF244321}">
                <p14:modId xmlns:p14="http://schemas.microsoft.com/office/powerpoint/2010/main" val="3910434639"/>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tx1"/>
                          </a:solidFill>
                          <a:hlinkClick r:id="rId3">
                            <a:extLst>
                              <a:ext uri="{A12FA001-AC4F-418D-AE19-62706E023703}">
                                <ahyp:hlinkClr xmlns:ahyp="http://schemas.microsoft.com/office/drawing/2018/hyperlinkcolor" val="tx"/>
                              </a:ext>
                            </a:extLst>
                          </a:hlinkClick>
                        </a:rPr>
                        <a:t>RJAA(NRT) 135ft</a:t>
                      </a:r>
                      <a:endParaRPr sz="1300" dirty="0">
                        <a:solidFill>
                          <a:schemeClr val="tx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tx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tx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Tokyo 131.70</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21" name="Google Shape;321;p21"/>
          <p:cNvGraphicFramePr/>
          <p:nvPr>
            <p:extLst>
              <p:ext uri="{D42A27DB-BD31-4B8C-83A1-F6EECF244321}">
                <p14:modId xmlns:p14="http://schemas.microsoft.com/office/powerpoint/2010/main" val="653185980"/>
              </p:ext>
            </p:extLst>
          </p:nvPr>
        </p:nvGraphicFramePr>
        <p:xfrm>
          <a:off x="-5861" y="3894274"/>
          <a:ext cx="2325975" cy="162073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/8(180kts), /5(160kts) , YJU R271</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8305CE87-CB2D-B9F1-7BCB-D3D6DE9B003F}"/>
              </a:ext>
            </a:extLst>
          </p:cNvPr>
          <p:cNvSpPr txBox="1"/>
          <p:nvPr/>
        </p:nvSpPr>
        <p:spPr>
          <a:xfrm>
            <a:off x="-20938" y="2187564"/>
            <a:ext cx="2068195" cy="782641"/>
          </a:xfrm>
          <a:prstGeom prst="rect">
            <a:avLst/>
          </a:prstGeom>
          <a:noFill/>
        </p:spPr>
        <p:txBody>
          <a:bodyPr wrap="none" tIns="36000" bIns="36000" rtlCol="0" anchor="ctr">
            <a:spAutoFit/>
          </a:bodyPr>
          <a:lstStyle/>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TKO 120.5 – 133.45 – 133.02 – 133.8 </a:t>
            </a:r>
            <a:endParaRPr kumimoji="1" lang="en-US" altLang="ko-Kore-KR" sz="8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8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800" b="1" u="sng" dirty="0">
                <a:solidFill>
                  <a:srgbClr val="0070C0"/>
                </a:solidFill>
                <a:latin typeface="Gulim" panose="020B0600000101010101" pitchFamily="34" charset="-127"/>
                <a:ea typeface="Gulim" panose="020B0600000101010101" pitchFamily="34" charset="-127"/>
              </a:rPr>
              <a:t>APP 119.75</a:t>
            </a:r>
            <a:endParaRPr kumimoji="1" lang="ko-Kore-KR" altLang="en-US" sz="8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61F60108-1835-DB8D-420A-D0FC0E5B5987}"/>
              </a:ext>
            </a:extLst>
          </p:cNvPr>
          <p:cNvSpPr/>
          <p:nvPr/>
        </p:nvSpPr>
        <p:spPr>
          <a:xfrm>
            <a:off x="1622852" y="2991989"/>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Japan</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5AC28DF6-545E-A19C-0E4B-50E8331FA052}"/>
              </a:ext>
            </a:extLst>
          </p:cNvPr>
          <p:cNvSpPr/>
          <p:nvPr/>
        </p:nvSpPr>
        <p:spPr>
          <a:xfrm>
            <a:off x="836204" y="287594"/>
            <a:ext cx="644531" cy="276999"/>
          </a:xfrm>
          <a:prstGeom prst="rect">
            <a:avLst/>
          </a:prstGeom>
          <a:noFill/>
        </p:spPr>
        <p:txBody>
          <a:bodyPr wrap="square" lIns="0" tIns="0" rIns="0" bIns="0">
            <a:spAutoFit/>
          </a:bodyPr>
          <a:lstStyle/>
          <a:p>
            <a:pPr algn="ctr"/>
            <a:r>
              <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bg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aphicFrame>
        <p:nvGraphicFramePr>
          <p:cNvPr id="327" name="Google Shape;327;p22"/>
          <p:cNvGraphicFramePr/>
          <p:nvPr>
            <p:extLst>
              <p:ext uri="{D42A27DB-BD31-4B8C-83A1-F6EECF244321}">
                <p14:modId xmlns:p14="http://schemas.microsoft.com/office/powerpoint/2010/main" val="1123046964"/>
              </p:ext>
            </p:extLst>
          </p:nvPr>
        </p:nvGraphicFramePr>
        <p:xfrm>
          <a:off x="0" y="565414"/>
          <a:ext cx="2332925" cy="26402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28" name="Google Shape;328;p22"/>
          <p:cNvGraphicFramePr/>
          <p:nvPr>
            <p:extLst>
              <p:ext uri="{D42A27DB-BD31-4B8C-83A1-F6EECF244321}">
                <p14:modId xmlns:p14="http://schemas.microsoft.com/office/powerpoint/2010/main" val="349915081"/>
              </p:ext>
            </p:extLst>
          </p:nvPr>
        </p:nvGraphicFramePr>
        <p:xfrm>
          <a:off x="1596" y="3632328"/>
          <a:ext cx="2331375" cy="1914490"/>
        </p:xfrm>
        <a:graphic>
          <a:graphicData uri="http://schemas.openxmlformats.org/drawingml/2006/table">
            <a:tbl>
              <a:tblPr firstRow="1" bandRow="1">
                <a:noFill/>
                <a:tableStyleId>{A521BE36-7E6F-4EC9-8D66-1CF97A6895EC}</a:tableStyleId>
              </a:tblPr>
              <a:tblGrid>
                <a:gridCol w="461950">
                  <a:extLst>
                    <a:ext uri="{9D8B030D-6E8A-4147-A177-3AD203B41FA5}">
                      <a16:colId xmlns:a16="http://schemas.microsoft.com/office/drawing/2014/main" val="20000"/>
                    </a:ext>
                  </a:extLst>
                </a:gridCol>
                <a:gridCol w="7037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CTS : STAR </a:t>
                      </a:r>
                      <a:r>
                        <a:rPr lang="en-US" sz="800" dirty="0">
                          <a:solidFill>
                            <a:srgbClr val="FFC000"/>
                          </a:solidFill>
                        </a:rPr>
                        <a:t>(01R : IDEMI FL150, 19L : NAVER FL170)</a:t>
                      </a:r>
                      <a:endParaRPr sz="800" dirty="0">
                        <a:solidFill>
                          <a:srgbClr val="FFC000"/>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01R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YOTEI SOUTH</a:t>
                      </a:r>
                      <a:endParaRPr dirty="0"/>
                    </a:p>
                    <a:p>
                      <a:pPr marL="0" marR="0" lvl="0" indent="0" algn="ctr" rtl="0">
                        <a:spcBef>
                          <a:spcPts val="0"/>
                        </a:spcBef>
                        <a:spcAft>
                          <a:spcPts val="0"/>
                        </a:spcAft>
                        <a:buNone/>
                      </a:pPr>
                      <a:r>
                        <a:rPr lang="en-US" sz="800" b="1" dirty="0"/>
                        <a:t>(YUKII WEST)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YOTEI</a:t>
                      </a:r>
                      <a:endParaRPr/>
                    </a:p>
                    <a:p>
                      <a:pPr marL="0" marR="0" lvl="0" indent="0" algn="ctr" rtl="0">
                        <a:spcBef>
                          <a:spcPts val="0"/>
                        </a:spcBef>
                        <a:spcAft>
                          <a:spcPts val="0"/>
                        </a:spcAft>
                        <a:buNone/>
                      </a:pPr>
                      <a:r>
                        <a:rPr lang="en-US" sz="800" b="1"/>
                        <a:t>not YOSEI</a:t>
                      </a:r>
                      <a:endParaRPr/>
                    </a:p>
                  </a:txBody>
                  <a:tcPr marL="36000" marR="36000" marT="36000" marB="36000" anchor="ctr"/>
                </a:tc>
                <a:tc>
                  <a:txBody>
                    <a:bodyPr/>
                    <a:lstStyle/>
                    <a:p>
                      <a:pPr marL="0" marR="0" lvl="0" indent="0" algn="ctr" rtl="0">
                        <a:spcBef>
                          <a:spcPts val="0"/>
                        </a:spcBef>
                        <a:spcAft>
                          <a:spcPts val="0"/>
                        </a:spcAft>
                        <a:buNone/>
                      </a:pPr>
                      <a:r>
                        <a:rPr lang="en-US" sz="800" b="1" dirty="0"/>
                        <a:t>ILS Y/Z 01R</a:t>
                      </a:r>
                    </a:p>
                    <a:p>
                      <a:pPr marL="0" marR="0" lvl="0" indent="0" algn="ctr" rtl="0">
                        <a:spcBef>
                          <a:spcPts val="0"/>
                        </a:spcBef>
                        <a:spcAft>
                          <a:spcPts val="0"/>
                        </a:spcAft>
                        <a:buNone/>
                      </a:pPr>
                      <a:r>
                        <a:rPr lang="en-US" sz="800" b="1" dirty="0">
                          <a:solidFill>
                            <a:srgbClr val="C00000"/>
                          </a:solidFill>
                        </a:rPr>
                        <a:t>3000/2000</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19L</a:t>
                      </a:r>
                    </a:p>
                    <a:p>
                      <a:pPr marL="0" marR="0" lvl="0" indent="0" algn="ctr" rtl="0">
                        <a:spcBef>
                          <a:spcPts val="0"/>
                        </a:spcBef>
                        <a:spcAft>
                          <a:spcPts val="0"/>
                        </a:spcAft>
                        <a:buNone/>
                      </a:pPr>
                      <a:r>
                        <a:rPr lang="en-US" sz="800" b="1" dirty="0">
                          <a:solidFill>
                            <a:srgbClr val="C00000"/>
                          </a:solidFill>
                        </a:rPr>
                        <a:t>19R </a:t>
                      </a:r>
                    </a:p>
                    <a:p>
                      <a:pPr marL="0" marR="0" lvl="0" indent="0" algn="ctr" rtl="0">
                        <a:spcBef>
                          <a:spcPts val="0"/>
                        </a:spcBef>
                        <a:spcAft>
                          <a:spcPts val="0"/>
                        </a:spcAft>
                        <a:buNone/>
                      </a:pPr>
                      <a:r>
                        <a:rPr lang="en-US" sz="800" b="1" dirty="0">
                          <a:solidFill>
                            <a:srgbClr val="C00000"/>
                          </a:solidFill>
                        </a:rPr>
                        <a:t>CAT III</a:t>
                      </a:r>
                      <a:endParaRPr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a:t>NAVER(170)</a:t>
                      </a:r>
                      <a:endParaRPr/>
                    </a:p>
                    <a:p>
                      <a:pPr marL="0" marR="0" lvl="0" indent="0" algn="ctr" rtl="0">
                        <a:spcBef>
                          <a:spcPts val="0"/>
                        </a:spcBef>
                        <a:spcAft>
                          <a:spcPts val="0"/>
                        </a:spcAft>
                        <a:buNone/>
                      </a:pPr>
                      <a:r>
                        <a:rPr lang="en-US" sz="800" b="1"/>
                        <a:t>YUNEY SOUTH</a:t>
                      </a:r>
                      <a:endParaRPr/>
                    </a:p>
                    <a:p>
                      <a:pPr marL="0" marR="0" lvl="0" indent="0" algn="ctr" rtl="0">
                        <a:spcBef>
                          <a:spcPts val="0"/>
                        </a:spcBef>
                        <a:spcAft>
                          <a:spcPts val="0"/>
                        </a:spcAft>
                        <a:buNone/>
                      </a:pPr>
                      <a:r>
                        <a:rPr lang="en-US" sz="800" b="1"/>
                        <a:t>(KAORY A)</a:t>
                      </a:r>
                      <a:endParaRPr sz="800" b="1"/>
                    </a:p>
                  </a:txBody>
                  <a:tcPr marL="36000" marR="36000" marT="36000" marB="36000" anchor="ctr"/>
                </a:tc>
                <a:tc>
                  <a:txBody>
                    <a:bodyPr/>
                    <a:lstStyle/>
                    <a:p>
                      <a:pPr marL="0" marR="0" lvl="0" indent="0" algn="ctr" rtl="0">
                        <a:spcBef>
                          <a:spcPts val="0"/>
                        </a:spcBef>
                        <a:spcAft>
                          <a:spcPts val="0"/>
                        </a:spcAft>
                        <a:buNone/>
                      </a:pPr>
                      <a:r>
                        <a:rPr lang="en-US" sz="800" b="1"/>
                        <a:t>KAORY</a:t>
                      </a:r>
                      <a:endParaRPr/>
                    </a:p>
                    <a:p>
                      <a:pPr marL="0" marR="0" lvl="0" indent="0" algn="ctr" rtl="0">
                        <a:spcBef>
                          <a:spcPts val="0"/>
                        </a:spcBef>
                        <a:spcAft>
                          <a:spcPts val="0"/>
                        </a:spcAft>
                        <a:buNone/>
                      </a:pPr>
                      <a:r>
                        <a:rPr lang="en-US" sz="800" b="1"/>
                        <a:t>YUNEY</a:t>
                      </a:r>
                      <a:endParaRPr/>
                    </a:p>
                    <a:p>
                      <a:pPr marL="0" marR="0" lvl="0" indent="0" algn="ctr" rtl="0">
                        <a:spcBef>
                          <a:spcPts val="0"/>
                        </a:spcBef>
                        <a:spcAft>
                          <a:spcPts val="0"/>
                        </a:spcAft>
                        <a:buNone/>
                      </a:pPr>
                      <a:r>
                        <a:rPr lang="en-US" sz="800" b="1"/>
                        <a:t>(KAORY)</a:t>
                      </a:r>
                      <a:endParaRPr sz="800" b="1"/>
                    </a:p>
                  </a:txBody>
                  <a:tcPr marL="36000" marR="36000" marT="36000" marB="36000" anchor="ctr"/>
                </a:tc>
                <a:tc>
                  <a:txBody>
                    <a:bodyPr/>
                    <a:lstStyle/>
                    <a:p>
                      <a:pPr marL="0" marR="0" lvl="0" indent="0" algn="ctr" rtl="0">
                        <a:spcBef>
                          <a:spcPts val="0"/>
                        </a:spcBef>
                        <a:spcAft>
                          <a:spcPts val="0"/>
                        </a:spcAft>
                        <a:buNone/>
                      </a:pPr>
                      <a:r>
                        <a:rPr lang="en-US" sz="800" b="1"/>
                        <a:t>ILS Z 19L</a:t>
                      </a:r>
                      <a:endParaRPr/>
                    </a:p>
                  </a:txBody>
                  <a:tcPr marL="36000" marR="36000" marT="36000" marB="36000" anchor="ctr"/>
                </a:tc>
                <a:extLst>
                  <a:ext uri="{0D108BD9-81ED-4DB2-BD59-A6C34878D82A}">
                    <a16:rowId xmlns:a16="http://schemas.microsoft.com/office/drawing/2014/main" val="10002"/>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01R(57’)</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01L(62’)</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9843’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19L(77’)</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19R(82’)</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01R : B4(5278’), B3(7047’), 19L : B8(5177’), B9(7119’)</a:t>
                      </a:r>
                      <a:endParaRPr sz="80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01L : A5(5538’), A4(6961’), 19R : A7(5390’), A8(6873’)</a:t>
                      </a:r>
                      <a:r>
                        <a:rPr lang="en-US" sz="800">
                          <a:solidFill>
                            <a:schemeClr val="dk1"/>
                          </a:solidFill>
                        </a:rPr>
                        <a:t>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Do not Cross 01L/19R After L/D (No TWY)</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to Gate Via D(J) or 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29" name="Google Shape;329;p22"/>
          <p:cNvGraphicFramePr/>
          <p:nvPr>
            <p:extLst>
              <p:ext uri="{D42A27DB-BD31-4B8C-83A1-F6EECF244321}">
                <p14:modId xmlns:p14="http://schemas.microsoft.com/office/powerpoint/2010/main" val="3315412402"/>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RJCC(CTS) 70ft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Chitose </a:t>
                      </a:r>
                      <a:r>
                        <a:rPr lang="en-US" sz="900" dirty="0" err="1"/>
                        <a:t>Oper</a:t>
                      </a:r>
                      <a:r>
                        <a:rPr lang="en-US" sz="900" dirty="0"/>
                        <a:t> 132.05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B5CAF811-B5E1-B49C-3619-B63357E59B85}"/>
              </a:ext>
            </a:extLst>
          </p:cNvPr>
          <p:cNvSpPr txBox="1"/>
          <p:nvPr/>
        </p:nvSpPr>
        <p:spPr>
          <a:xfrm>
            <a:off x="-41878" y="3155242"/>
            <a:ext cx="2085827"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a:t>
            </a:r>
            <a:r>
              <a:rPr kumimoji="1" lang="en-US" altLang="ko-KR" sz="600" b="1" u="sng" dirty="0">
                <a:solidFill>
                  <a:srgbClr val="0070C0"/>
                </a:solidFill>
                <a:latin typeface="Gulim" panose="020B0600000101010101" pitchFamily="34" charset="-127"/>
                <a:ea typeface="Gulim" panose="020B0600000101010101" pitchFamily="34" charset="-127"/>
              </a:rPr>
              <a:t>24</a:t>
            </a:r>
            <a:r>
              <a:rPr kumimoji="1" lang="en-US" altLang="ko-Kore-KR" sz="600" b="1" u="sng" dirty="0">
                <a:solidFill>
                  <a:srgbClr val="0070C0"/>
                </a:solidFill>
                <a:latin typeface="Gulim" panose="020B0600000101010101" pitchFamily="34" charset="-127"/>
                <a:ea typeface="Gulim" panose="020B0600000101010101" pitchFamily="34" charset="-127"/>
              </a:rPr>
              <a:t>.</a:t>
            </a:r>
            <a:r>
              <a:rPr kumimoji="1" lang="en-US" altLang="ko-KR" sz="600" b="1" u="sng" dirty="0">
                <a:solidFill>
                  <a:srgbClr val="0070C0"/>
                </a:solidFill>
                <a:latin typeface="Gulim" panose="020B0600000101010101" pitchFamily="34" charset="-127"/>
                <a:ea typeface="Gulim" panose="020B0600000101010101" pitchFamily="34" charset="-127"/>
              </a:rPr>
              <a:t>15</a:t>
            </a:r>
            <a:r>
              <a:rPr kumimoji="1" lang="en-US" altLang="ko-Kore-KR" sz="600" b="1" u="sng" dirty="0">
                <a:solidFill>
                  <a:srgbClr val="0070C0"/>
                </a:solidFill>
                <a:latin typeface="Gulim" panose="020B0600000101010101" pitchFamily="34" charset="-127"/>
                <a:ea typeface="Gulim" panose="020B0600000101010101" pitchFamily="34" charset="-127"/>
              </a:rPr>
              <a:t> – 133.</a:t>
            </a:r>
            <a:r>
              <a:rPr kumimoji="1" lang="en-US" altLang="ko-KR" sz="600" b="1" u="sng" dirty="0">
                <a:solidFill>
                  <a:srgbClr val="0070C0"/>
                </a:solidFill>
                <a:latin typeface="Gulim" panose="020B0600000101010101" pitchFamily="34" charset="-127"/>
                <a:ea typeface="Gulim" panose="020B0600000101010101" pitchFamily="34" charset="-127"/>
              </a:rPr>
              <a:t>02</a:t>
            </a:r>
            <a:r>
              <a:rPr kumimoji="1" lang="en-US" altLang="ko-Kore-KR" sz="6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TKO 132.3 - SPR 133.3 -119.3</a:t>
            </a:r>
          </a:p>
          <a:p>
            <a:pPr>
              <a:lnSpc>
                <a:spcPct val="150000"/>
              </a:lnSpc>
            </a:pPr>
            <a:r>
              <a:rPr kumimoji="1" lang="en-US" altLang="ko-KR" sz="600" b="1" u="sng" dirty="0">
                <a:solidFill>
                  <a:srgbClr val="0070C0"/>
                </a:solidFill>
                <a:latin typeface="Gulim" panose="020B0600000101010101" pitchFamily="34" charset="-127"/>
                <a:ea typeface="Gulim" panose="020B0600000101010101" pitchFamily="34" charset="-127"/>
              </a:rPr>
              <a:t>CTS APP 120.1</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284A94EA-45D7-F3BD-DD6E-51EA2A229434}"/>
              </a:ext>
            </a:extLst>
          </p:cNvPr>
          <p:cNvSpPr/>
          <p:nvPr/>
        </p:nvSpPr>
        <p:spPr>
          <a:xfrm>
            <a:off x="1628639" y="3316082"/>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AEC4EB8-DA09-E905-09CF-DC62055CFFC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aphicFrame>
        <p:nvGraphicFramePr>
          <p:cNvPr id="336" name="Google Shape;336;p23"/>
          <p:cNvGraphicFramePr/>
          <p:nvPr/>
        </p:nvGraphicFramePr>
        <p:xfrm>
          <a:off x="0" y="611908"/>
          <a:ext cx="2332950" cy="15986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110475">
                  <a:extLst>
                    <a:ext uri="{9D8B030D-6E8A-4147-A177-3AD203B41FA5}">
                      <a16:colId xmlns:a16="http://schemas.microsoft.com/office/drawing/2014/main" val="20004"/>
                    </a:ext>
                  </a:extLst>
                </a:gridCol>
                <a:gridCol w="299925">
                  <a:extLst>
                    <a:ext uri="{9D8B030D-6E8A-4147-A177-3AD203B41FA5}">
                      <a16:colId xmlns:a16="http://schemas.microsoft.com/office/drawing/2014/main" val="20005"/>
                    </a:ext>
                  </a:extLst>
                </a:gridCol>
                <a:gridCol w="427575">
                  <a:extLst>
                    <a:ext uri="{9D8B030D-6E8A-4147-A177-3AD203B41FA5}">
                      <a16:colId xmlns:a16="http://schemas.microsoft.com/office/drawing/2014/main" val="20006"/>
                    </a:ext>
                  </a:extLst>
                </a:gridCol>
                <a:gridCol w="101050">
                  <a:extLst>
                    <a:ext uri="{9D8B030D-6E8A-4147-A177-3AD203B41FA5}">
                      <a16:colId xmlns:a16="http://schemas.microsoft.com/office/drawing/2014/main" val="20007"/>
                    </a:ext>
                  </a:extLst>
                </a:gridCol>
                <a:gridCol w="326525">
                  <a:extLst>
                    <a:ext uri="{9D8B030D-6E8A-4147-A177-3AD203B41FA5}">
                      <a16:colId xmlns:a16="http://schemas.microsoft.com/office/drawing/2014/main" val="20008"/>
                    </a:ext>
                  </a:extLst>
                </a:gridCol>
              </a:tblGrid>
              <a:tr h="159300">
                <a:tc gridSpan="9">
                  <a:txBody>
                    <a:bodyPr/>
                    <a:lstStyle/>
                    <a:p>
                      <a:pPr marL="0" marR="0" lvl="0" indent="0" algn="ctr" rtl="0">
                        <a:spcBef>
                          <a:spcPts val="0"/>
                        </a:spcBef>
                        <a:spcAft>
                          <a:spcPts val="0"/>
                        </a:spcAft>
                        <a:buNone/>
                      </a:pPr>
                      <a:r>
                        <a:rPr lang="en-US" sz="800"/>
                        <a:t>CTS : SID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rowSpan="2">
                  <a:txBody>
                    <a:bodyPr/>
                    <a:lstStyle/>
                    <a:p>
                      <a:pPr marL="0" marR="0" lvl="0" indent="0" algn="ctr" rtl="0">
                        <a:spcBef>
                          <a:spcPts val="0"/>
                        </a:spcBef>
                        <a:spcAft>
                          <a:spcPts val="0"/>
                        </a:spcAft>
                        <a:buNone/>
                      </a:pPr>
                      <a:r>
                        <a:rPr lang="en-US" sz="800" b="1"/>
                        <a:t>ALL</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DALBI x</a:t>
                      </a:r>
                      <a:endParaRPr/>
                    </a:p>
                    <a:p>
                      <a:pPr marL="0" marR="0" lvl="0" indent="0" algn="ctr" rtl="0">
                        <a:spcBef>
                          <a:spcPts val="0"/>
                        </a:spcBef>
                        <a:spcAft>
                          <a:spcPts val="0"/>
                        </a:spcAft>
                        <a:buNone/>
                      </a:pPr>
                      <a:r>
                        <a:rPr lang="en-US" sz="800" b="1">
                          <a:solidFill>
                            <a:srgbClr val="0070C0"/>
                          </a:solidFill>
                        </a:rPr>
                        <a:t>SUVIT x SOSHU x</a:t>
                      </a:r>
                      <a:endParaRPr/>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002</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002</a:t>
                      </a:r>
                      <a:endParaRPr sz="458"/>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002</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vMerge="1">
                  <a:txBody>
                    <a:bodyPr/>
                    <a:lstStyle/>
                    <a:p>
                      <a:endParaRPr lang="ko-Kore-KR"/>
                    </a:p>
                  </a:txBody>
                  <a:tcP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182</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182</a:t>
                      </a:r>
                      <a:endParaRPr sz="458"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ATC</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182</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CHE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116.9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01R </a:t>
                      </a:r>
                      <a:endParaRPr/>
                    </a:p>
                    <a:p>
                      <a:pPr marL="0" marR="0" lvl="0" indent="0" algn="ctr" rtl="0">
                        <a:spcBef>
                          <a:spcPts val="0"/>
                        </a:spcBef>
                        <a:spcAft>
                          <a:spcPts val="0"/>
                        </a:spcAft>
                        <a:buNone/>
                      </a:pPr>
                      <a:r>
                        <a:rPr lang="en-US" sz="800" b="1">
                          <a:solidFill>
                            <a:srgbClr val="C00000"/>
                          </a:solidFill>
                        </a:rPr>
                        <a:t>110.75</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19L</a:t>
                      </a:r>
                      <a:endParaRPr/>
                    </a:p>
                    <a:p>
                      <a:pPr marL="0" marR="0" lvl="0" indent="0" algn="ctr" rtl="0">
                        <a:spcBef>
                          <a:spcPts val="0"/>
                        </a:spcBef>
                        <a:spcAft>
                          <a:spcPts val="0"/>
                        </a:spcAft>
                        <a:buNone/>
                      </a:pPr>
                      <a:r>
                        <a:rPr lang="en-US" sz="800" b="1">
                          <a:solidFill>
                            <a:srgbClr val="C00000"/>
                          </a:solidFill>
                        </a:rPr>
                        <a:t>109.35</a:t>
                      </a:r>
                      <a:endParaRPr sz="800"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01L 110.9</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19R 111.5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01R(57’)</a:t>
                      </a:r>
                      <a:endParaRPr/>
                    </a:p>
                    <a:p>
                      <a:pPr marL="0" marR="0" lvl="0" indent="0" algn="ctr" rtl="0">
                        <a:spcBef>
                          <a:spcPts val="0"/>
                        </a:spcBef>
                        <a:spcAft>
                          <a:spcPts val="0"/>
                        </a:spcAft>
                        <a:buNone/>
                      </a:pPr>
                      <a:r>
                        <a:rPr lang="en-US" sz="800" b="1">
                          <a:solidFill>
                            <a:srgbClr val="00B050"/>
                          </a:solidFill>
                          <a:latin typeface="Calibri"/>
                          <a:ea typeface="Calibri"/>
                          <a:cs typeface="Calibri"/>
                          <a:sym typeface="Calibri"/>
                        </a:rPr>
                        <a:t>01L(62’)</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9843’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19L(77’)</a:t>
                      </a:r>
                      <a:endParaRPr/>
                    </a:p>
                    <a:p>
                      <a:pPr marL="0" marR="0" lvl="0" indent="0" algn="ctr" rtl="0">
                        <a:spcBef>
                          <a:spcPts val="0"/>
                        </a:spcBef>
                        <a:spcAft>
                          <a:spcPts val="0"/>
                        </a:spcAft>
                        <a:buNone/>
                      </a:pPr>
                      <a:r>
                        <a:rPr lang="en-US" sz="800" b="1">
                          <a:solidFill>
                            <a:srgbClr val="00B050"/>
                          </a:solidFill>
                          <a:latin typeface="Calibri"/>
                          <a:ea typeface="Calibri"/>
                          <a:cs typeface="Calibri"/>
                          <a:sym typeface="Calibri"/>
                        </a:rPr>
                        <a:t>19R(82’)</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44775">
                <a:tc gridSpan="9">
                  <a:txBody>
                    <a:bodyPr/>
                    <a:lstStyle/>
                    <a:p>
                      <a:pPr marL="0" marR="0" lvl="0" indent="0" algn="ctr" rtl="0">
                        <a:lnSpc>
                          <a:spcPct val="100000"/>
                        </a:lnSpc>
                        <a:spcBef>
                          <a:spcPts val="0"/>
                        </a:spcBef>
                        <a:spcAft>
                          <a:spcPts val="0"/>
                        </a:spcAft>
                        <a:buClr>
                          <a:schemeClr val="accent1"/>
                        </a:buClr>
                        <a:buSzPts val="800"/>
                        <a:buFont typeface="Calibri"/>
                        <a:buNone/>
                      </a:pPr>
                      <a:r>
                        <a:rPr lang="en-US" sz="800" b="1">
                          <a:solidFill>
                            <a:schemeClr val="accent1"/>
                          </a:solidFill>
                        </a:rPr>
                        <a:t>APU, Deicing at the Gate</a:t>
                      </a:r>
                      <a:endParaRPr/>
                    </a:p>
                    <a:p>
                      <a:pPr marL="0" marR="0" lvl="0" indent="0" algn="ctr" rtl="0">
                        <a:lnSpc>
                          <a:spcPct val="100000"/>
                        </a:lnSpc>
                        <a:spcBef>
                          <a:spcPts val="0"/>
                        </a:spcBef>
                        <a:spcAft>
                          <a:spcPts val="0"/>
                        </a:spcAft>
                        <a:buClr>
                          <a:schemeClr val="dk1"/>
                        </a:buClr>
                        <a:buSzPts val="800"/>
                        <a:buFont typeface="Calibri"/>
                        <a:buNone/>
                      </a:pPr>
                      <a:r>
                        <a:rPr lang="en-US" sz="800" b="1">
                          <a:solidFill>
                            <a:schemeClr val="dk1"/>
                          </a:solidFill>
                        </a:rPr>
                        <a:t>R/H turn DCT to HWE -&gt; Confirm R/H Turn ND</a:t>
                      </a:r>
                      <a:endParaRPr sz="80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37" name="Google Shape;337;p23"/>
          <p:cNvGraphicFramePr/>
          <p:nvPr>
            <p:extLst>
              <p:ext uri="{D42A27DB-BD31-4B8C-83A1-F6EECF244321}">
                <p14:modId xmlns:p14="http://schemas.microsoft.com/office/powerpoint/2010/main" val="4238400685"/>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RJCC(CTS) 70ft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Chitose Oper 132.05</a:t>
                      </a:r>
                      <a:endParaRPr/>
                    </a:p>
                    <a:p>
                      <a:pPr marL="0" marR="0" lvl="0" indent="0" algn="ctr" rtl="0">
                        <a:spcBef>
                          <a:spcPts val="0"/>
                        </a:spcBef>
                        <a:spcAft>
                          <a:spcPts val="0"/>
                        </a:spcAft>
                        <a:buNone/>
                      </a:pPr>
                      <a:r>
                        <a:rPr lang="en-US" sz="800">
                          <a:solidFill>
                            <a:srgbClr val="FF0000"/>
                          </a:solidFill>
                        </a:rPr>
                        <a:t>NO DCL -5분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39" name="Google Shape;339;p23"/>
          <p:cNvGraphicFramePr/>
          <p:nvPr>
            <p:extLst>
              <p:ext uri="{D42A27DB-BD31-4B8C-83A1-F6EECF244321}">
                <p14:modId xmlns:p14="http://schemas.microsoft.com/office/powerpoint/2010/main" val="1453061728"/>
              </p:ext>
            </p:extLst>
          </p:nvPr>
        </p:nvGraphicFramePr>
        <p:xfrm>
          <a:off x="-5861" y="3398687"/>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EF15FB2D-E42F-675C-3FFB-9ECEC0B206B8}"/>
              </a:ext>
            </a:extLst>
          </p:cNvPr>
          <p:cNvSpPr txBox="1"/>
          <p:nvPr/>
        </p:nvSpPr>
        <p:spPr>
          <a:xfrm>
            <a:off x="-20938" y="2172085"/>
            <a:ext cx="1596912"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SPR 119.3 – TKO 124.5 - 132.3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133.02 – 124.15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81F8CD04-2D37-9A88-545F-6BD77E8DA77E}"/>
              </a:ext>
            </a:extLst>
          </p:cNvPr>
          <p:cNvSpPr/>
          <p:nvPr/>
        </p:nvSpPr>
        <p:spPr>
          <a:xfrm>
            <a:off x="1622852" y="296883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617BE5F-5E96-D9F3-56F3-A5CEBCCEF63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graphicFrame>
        <p:nvGraphicFramePr>
          <p:cNvPr id="345" name="Google Shape;345;p24"/>
          <p:cNvGraphicFramePr/>
          <p:nvPr>
            <p:extLst>
              <p:ext uri="{D42A27DB-BD31-4B8C-83A1-F6EECF244321}">
                <p14:modId xmlns:p14="http://schemas.microsoft.com/office/powerpoint/2010/main" val="429565451"/>
              </p:ext>
            </p:extLst>
          </p:nvPr>
        </p:nvGraphicFramePr>
        <p:xfrm>
          <a:off x="0" y="565414"/>
          <a:ext cx="2332925" cy="2525268"/>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92506">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84956">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74958">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74958">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74958">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58349">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33L </a:t>
                      </a:r>
                      <a:endParaRPr dirty="0"/>
                    </a:p>
                    <a:p>
                      <a:pPr marL="0" marR="0" lvl="0" indent="0" algn="ctr" rtl="0">
                        <a:spcBef>
                          <a:spcPts val="0"/>
                        </a:spcBef>
                        <a:spcAft>
                          <a:spcPts val="0"/>
                        </a:spcAft>
                        <a:buNone/>
                      </a:pPr>
                      <a:r>
                        <a:rPr lang="en-US" sz="800" b="1" dirty="0">
                          <a:solidFill>
                            <a:srgbClr val="C00000"/>
                          </a:solidFill>
                        </a:rPr>
                        <a:t>109.3</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15L 111.9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5"/>
                  </a:ext>
                </a:extLst>
              </a:tr>
              <a:tr h="258349">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16L</a:t>
                      </a:r>
                      <a:endParaRPr dirty="0"/>
                    </a:p>
                    <a:p>
                      <a:pPr marL="0" marR="0" lvl="0" indent="0" algn="ctr" rtl="0">
                        <a:spcBef>
                          <a:spcPts val="0"/>
                        </a:spcBef>
                        <a:spcAft>
                          <a:spcPts val="0"/>
                        </a:spcAft>
                        <a:buNone/>
                      </a:pPr>
                      <a:r>
                        <a:rPr lang="en-US" sz="800" b="1" dirty="0">
                          <a:solidFill>
                            <a:srgbClr val="C00000"/>
                          </a:solidFill>
                        </a:rPr>
                        <a:t>110.35</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16R</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6"/>
                  </a:ext>
                </a:extLst>
              </a:tr>
              <a:tr h="28495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74958">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74958">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16L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74958">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46" name="Google Shape;346;p24"/>
          <p:cNvGraphicFramePr/>
          <p:nvPr>
            <p:extLst>
              <p:ext uri="{D42A27DB-BD31-4B8C-83A1-F6EECF244321}">
                <p14:modId xmlns:p14="http://schemas.microsoft.com/office/powerpoint/2010/main" val="4181943612"/>
              </p:ext>
            </p:extLst>
          </p:nvPr>
        </p:nvGraphicFramePr>
        <p:xfrm>
          <a:off x="1596" y="3473578"/>
          <a:ext cx="2313550" cy="2065330"/>
        </p:xfrm>
        <a:graphic>
          <a:graphicData uri="http://schemas.openxmlformats.org/drawingml/2006/table">
            <a:tbl>
              <a:tblPr firstRow="1" bandRow="1">
                <a:noFill/>
                <a:tableStyleId>{A521BE36-7E6F-4EC9-8D66-1CF97A6895EC}</a:tableStyleId>
              </a:tblPr>
              <a:tblGrid>
                <a:gridCol w="360350">
                  <a:extLst>
                    <a:ext uri="{9D8B030D-6E8A-4147-A177-3AD203B41FA5}">
                      <a16:colId xmlns:a16="http://schemas.microsoft.com/office/drawing/2014/main" val="20000"/>
                    </a:ext>
                  </a:extLst>
                </a:gridCol>
                <a:gridCol w="420688">
                  <a:extLst>
                    <a:ext uri="{9D8B030D-6E8A-4147-A177-3AD203B41FA5}">
                      <a16:colId xmlns:a16="http://schemas.microsoft.com/office/drawing/2014/main" val="20001"/>
                    </a:ext>
                  </a:extLst>
                </a:gridCol>
                <a:gridCol w="658262">
                  <a:extLst>
                    <a:ext uri="{9D8B030D-6E8A-4147-A177-3AD203B41FA5}">
                      <a16:colId xmlns:a16="http://schemas.microsoft.com/office/drawing/2014/main" val="20002"/>
                    </a:ext>
                  </a:extLst>
                </a:gridCol>
                <a:gridCol w="874250">
                  <a:extLst>
                    <a:ext uri="{9D8B030D-6E8A-4147-A177-3AD203B41FA5}">
                      <a16:colId xmlns:a16="http://schemas.microsoft.com/office/drawing/2014/main" val="20003"/>
                    </a:ext>
                  </a:extLst>
                </a:gridCol>
              </a:tblGrid>
              <a:tr h="154135">
                <a:tc gridSpan="4">
                  <a:txBody>
                    <a:bodyPr/>
                    <a:lstStyle/>
                    <a:p>
                      <a:pPr marL="0" marR="0" lvl="0" indent="0" algn="ctr" rtl="0">
                        <a:spcBef>
                          <a:spcPts val="0"/>
                        </a:spcBef>
                        <a:spcAft>
                          <a:spcPts val="0"/>
                        </a:spcAft>
                        <a:buNone/>
                      </a:pPr>
                      <a:r>
                        <a:rPr lang="en-US" sz="800" dirty="0"/>
                        <a:t>HND : </a:t>
                      </a:r>
                      <a:r>
                        <a:rPr lang="en-US" altLang="ko-Kore-KR" sz="800" dirty="0">
                          <a:solidFill>
                            <a:srgbClr val="FFC000"/>
                          </a:solidFill>
                        </a:rPr>
                        <a:t>STAR </a:t>
                      </a:r>
                      <a:r>
                        <a:rPr lang="en-US" sz="800" dirty="0">
                          <a:solidFill>
                            <a:srgbClr val="FFC000"/>
                          </a:solidFill>
                        </a:rPr>
                        <a:t>XAC Night– APP xxx Y 1400z~</a:t>
                      </a:r>
                      <a:r>
                        <a:rPr lang="en-US" sz="800" dirty="0"/>
                        <a:t> </a:t>
                      </a:r>
                      <a:r>
                        <a:rPr lang="en-US" altLang="ko-Kore-KR" sz="800" dirty="0"/>
                        <a:t>SPENS 220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0085">
                <a:tc>
                  <a:txBody>
                    <a:bodyPr/>
                    <a:lstStyle/>
                    <a:p>
                      <a:pPr marL="0" marR="0" lvl="0" indent="0" algn="ctr" rtl="0">
                        <a:spcBef>
                          <a:spcPts val="0"/>
                        </a:spcBef>
                        <a:spcAft>
                          <a:spcPts val="0"/>
                        </a:spcAft>
                        <a:buNone/>
                      </a:pPr>
                      <a:r>
                        <a:rPr lang="en-US" sz="800" b="1" dirty="0"/>
                        <a:t>34L</a:t>
                      </a:r>
                      <a:r>
                        <a:rPr lang="en-US" sz="800" b="0" dirty="0"/>
                        <a:t>/R</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xK</a:t>
                      </a:r>
                      <a:r>
                        <a:rPr lang="en-US" sz="800" b="0" dirty="0"/>
                        <a:t>/H</a:t>
                      </a:r>
                      <a:endParaRPr sz="800" b="0" dirty="0"/>
                    </a:p>
                  </a:txBody>
                  <a:tcPr marL="0" marR="0" marT="36000" marB="36000" anchor="ctr"/>
                </a:tc>
                <a:tc>
                  <a:txBody>
                    <a:bodyPr/>
                    <a:lstStyle/>
                    <a:p>
                      <a:pPr marL="0" marR="0" lvl="0" indent="0" algn="ctr" rtl="0">
                        <a:spcBef>
                          <a:spcPts val="0"/>
                        </a:spcBef>
                        <a:spcAft>
                          <a:spcPts val="0"/>
                        </a:spcAft>
                        <a:buNone/>
                      </a:pPr>
                      <a:r>
                        <a:rPr lang="en-US" sz="800" b="1" dirty="0"/>
                        <a:t>KAIHO</a:t>
                      </a:r>
                      <a:r>
                        <a:rPr lang="en-US" sz="800" b="0" dirty="0"/>
                        <a:t>/CACAO</a:t>
                      </a:r>
                      <a:endParaRPr b="0" dirty="0"/>
                    </a:p>
                  </a:txBody>
                  <a:tcPr marL="0" marR="0" marT="36000" marB="36000" anchor="ctr"/>
                </a:tc>
                <a:tc>
                  <a:txBody>
                    <a:bodyPr/>
                    <a:lstStyle/>
                    <a:p>
                      <a:pPr marL="0" marR="0" lvl="0" indent="0" algn="ctr" rtl="0">
                        <a:spcBef>
                          <a:spcPts val="0"/>
                        </a:spcBef>
                        <a:spcAft>
                          <a:spcPts val="0"/>
                        </a:spcAft>
                        <a:buNone/>
                      </a:pPr>
                      <a:r>
                        <a:rPr lang="en-US" sz="800" b="1" dirty="0"/>
                        <a:t>ILS X </a:t>
                      </a:r>
                      <a:r>
                        <a:rPr lang="en-US" sz="800" b="0" dirty="0"/>
                        <a:t>/ VIS</a:t>
                      </a:r>
                      <a:endParaRPr sz="458" b="0" dirty="0"/>
                    </a:p>
                  </a:txBody>
                  <a:tcPr marL="0" marR="0" marT="36000" marB="36000" anchor="ctr"/>
                </a:tc>
                <a:extLst>
                  <a:ext uri="{0D108BD9-81ED-4DB2-BD59-A6C34878D82A}">
                    <a16:rowId xmlns:a16="http://schemas.microsoft.com/office/drawing/2014/main" val="10001"/>
                  </a:ext>
                </a:extLst>
              </a:tr>
              <a:tr h="140085">
                <a:tc>
                  <a:txBody>
                    <a:bodyPr/>
                    <a:lstStyle/>
                    <a:p>
                      <a:pPr marL="0" marR="0" lvl="0" indent="0" algn="ctr" rtl="0">
                        <a:spcBef>
                          <a:spcPts val="0"/>
                        </a:spcBef>
                        <a:spcAft>
                          <a:spcPts val="0"/>
                        </a:spcAft>
                        <a:buNone/>
                      </a:pPr>
                      <a:r>
                        <a:rPr lang="en-US" sz="800" b="1"/>
                        <a:t>22</a:t>
                      </a:r>
                      <a:endParaRPr sz="800" b="1"/>
                    </a:p>
                  </a:txBody>
                  <a:tcPr marL="0" marR="0" marT="36000" marB="36000" anchor="ctr"/>
                </a:tc>
                <a:tc>
                  <a:txBody>
                    <a:bodyPr/>
                    <a:lstStyle/>
                    <a:p>
                      <a:pPr marL="0" marR="0" lvl="0" indent="0" algn="ctr" rtl="0">
                        <a:spcBef>
                          <a:spcPts val="0"/>
                        </a:spcBef>
                        <a:spcAft>
                          <a:spcPts val="0"/>
                        </a:spcAft>
                        <a:buNone/>
                      </a:pPr>
                      <a:r>
                        <a:rPr lang="en-US" sz="800" b="1" dirty="0"/>
                        <a:t>XAC </a:t>
                      </a:r>
                      <a:r>
                        <a:rPr lang="en-US" sz="800" b="1" dirty="0" err="1"/>
                        <a:t>xB</a:t>
                      </a:r>
                      <a:endParaRPr sz="800" b="1" dirty="0"/>
                    </a:p>
                  </a:txBody>
                  <a:tcPr marL="0" marR="0" marT="36000" marB="36000" anchor="ctr"/>
                </a:tc>
                <a:tc>
                  <a:txBody>
                    <a:bodyPr/>
                    <a:lstStyle/>
                    <a:p>
                      <a:pPr marL="0" marR="0" lvl="0" indent="0" algn="ctr" rtl="0">
                        <a:spcBef>
                          <a:spcPts val="0"/>
                        </a:spcBef>
                        <a:spcAft>
                          <a:spcPts val="0"/>
                        </a:spcAft>
                        <a:buNone/>
                      </a:pPr>
                      <a:r>
                        <a:rPr lang="en-US" sz="800" b="1" dirty="0"/>
                        <a:t>BACON</a:t>
                      </a:r>
                      <a:endParaRPr sz="800" b="1" dirty="0"/>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RNVW 22</a:t>
                      </a:r>
                      <a:r>
                        <a:rPr lang="en-US" sz="800" b="1" dirty="0"/>
                        <a:t>)</a:t>
                      </a:r>
                      <a:endParaRPr sz="458" dirty="0"/>
                    </a:p>
                  </a:txBody>
                  <a:tcPr marL="0" marR="0" marT="36000" marB="36000" anchor="ctr"/>
                </a:tc>
                <a:extLst>
                  <a:ext uri="{0D108BD9-81ED-4DB2-BD59-A6C34878D82A}">
                    <a16:rowId xmlns:a16="http://schemas.microsoft.com/office/drawing/2014/main" val="10002"/>
                  </a:ext>
                </a:extLst>
              </a:tr>
              <a:tr h="140085">
                <a:tc>
                  <a:txBody>
                    <a:bodyPr/>
                    <a:lstStyle/>
                    <a:p>
                      <a:pPr marL="0" marR="0" lvl="0" indent="0" algn="ctr" rtl="0">
                        <a:spcBef>
                          <a:spcPts val="0"/>
                        </a:spcBef>
                        <a:spcAft>
                          <a:spcPts val="0"/>
                        </a:spcAft>
                        <a:buNone/>
                      </a:pPr>
                      <a:r>
                        <a:rPr lang="en-US" sz="800" b="1" dirty="0"/>
                        <a:t>16R</a:t>
                      </a:r>
                      <a:r>
                        <a:rPr lang="en-US" sz="800" b="0" dirty="0"/>
                        <a:t>/L</a:t>
                      </a:r>
                      <a:endParaRPr sz="800" b="0" dirty="0"/>
                    </a:p>
                  </a:txBody>
                  <a:tcPr marL="0" marR="0" marT="36000" marB="36000" anchor="ctr"/>
                </a:tc>
                <a:tc>
                  <a:txBody>
                    <a:bodyPr/>
                    <a:lstStyle/>
                    <a:p>
                      <a:pPr marL="0" marR="0" lvl="0" indent="0" algn="ctr" rtl="0">
                        <a:spcBef>
                          <a:spcPts val="0"/>
                        </a:spcBef>
                        <a:spcAft>
                          <a:spcPts val="0"/>
                        </a:spcAft>
                        <a:buNone/>
                      </a:pPr>
                      <a:r>
                        <a:rPr lang="en-US" sz="800" b="1" dirty="0"/>
                        <a:t>XAC R</a:t>
                      </a:r>
                      <a:endParaRPr sz="800" b="1" dirty="0"/>
                    </a:p>
                  </a:txBody>
                  <a:tcPr marL="0" marR="0" marT="36000" marB="36000" anchor="ctr"/>
                </a:tc>
                <a:tc>
                  <a:txBody>
                    <a:bodyPr/>
                    <a:lstStyle/>
                    <a:p>
                      <a:pPr marL="0" marR="0" lvl="0" indent="0" algn="ctr" rtl="0">
                        <a:spcBef>
                          <a:spcPts val="0"/>
                        </a:spcBef>
                        <a:spcAft>
                          <a:spcPts val="0"/>
                        </a:spcAft>
                        <a:buNone/>
                      </a:pPr>
                      <a:r>
                        <a:rPr lang="en-US" sz="800" b="1" dirty="0"/>
                        <a:t>NATTY</a:t>
                      </a:r>
                      <a:r>
                        <a:rPr lang="en-US" sz="800" b="0" dirty="0"/>
                        <a:t>/SANDY</a:t>
                      </a:r>
                      <a:endParaRPr sz="800" b="0" dirty="0"/>
                    </a:p>
                  </a:txBody>
                  <a:tcPr marL="0" marR="0" marT="36000" marB="36000" anchor="ctr"/>
                </a:tc>
                <a:tc>
                  <a:txBody>
                    <a:bodyPr/>
                    <a:lstStyle/>
                    <a:p>
                      <a:pPr marL="0" marR="0" lvl="0" indent="0" algn="ctr" rtl="0">
                        <a:lnSpc>
                          <a:spcPct val="100000"/>
                        </a:lnSpc>
                        <a:spcBef>
                          <a:spcPts val="0"/>
                        </a:spcBef>
                        <a:spcAft>
                          <a:spcPts val="0"/>
                        </a:spcAft>
                        <a:buClr>
                          <a:srgbClr val="000000"/>
                        </a:buClr>
                        <a:buSzPts val="800"/>
                        <a:buFont typeface="Calibri"/>
                        <a:buNone/>
                      </a:pPr>
                      <a:r>
                        <a:rPr lang="en-US" sz="800" b="1" i="0" u="none" strike="noStrike" cap="none" dirty="0">
                          <a:solidFill>
                            <a:srgbClr val="000000"/>
                          </a:solidFill>
                          <a:latin typeface="Calibri"/>
                          <a:ea typeface="Calibri"/>
                          <a:cs typeface="Calibri"/>
                          <a:sym typeface="Calibri"/>
                        </a:rPr>
                        <a:t>RNP(</a:t>
                      </a:r>
                      <a:r>
                        <a:rPr lang="en-US" sz="800" b="1" i="0" u="none" strike="noStrike" cap="none" dirty="0">
                          <a:solidFill>
                            <a:srgbClr val="0070C0"/>
                          </a:solidFill>
                          <a:latin typeface="Calibri"/>
                          <a:ea typeface="Calibri"/>
                          <a:cs typeface="Calibri"/>
                          <a:sym typeface="Calibri"/>
                        </a:rPr>
                        <a:t>R16RT</a:t>
                      </a:r>
                      <a:r>
                        <a:rPr lang="en-US" sz="800" b="0" i="0" u="none" strike="noStrike" cap="none" dirty="0">
                          <a:solidFill>
                            <a:srgbClr val="0070C0"/>
                          </a:solidFill>
                          <a:latin typeface="Calibri"/>
                          <a:ea typeface="Calibri"/>
                          <a:cs typeface="Calibri"/>
                          <a:sym typeface="Calibri"/>
                        </a:rPr>
                        <a:t>/R16LT</a:t>
                      </a:r>
                      <a:r>
                        <a:rPr lang="en-US" sz="800" b="1" i="0" u="none" strike="noStrike" cap="none" dirty="0">
                          <a:solidFill>
                            <a:srgbClr val="000000"/>
                          </a:solidFill>
                          <a:latin typeface="Calibri"/>
                          <a:ea typeface="Calibri"/>
                          <a:cs typeface="Calibri"/>
                          <a:sym typeface="Calibri"/>
                        </a:rPr>
                        <a:t>)</a:t>
                      </a:r>
                      <a:endParaRPr sz="458" b="0" i="0" u="none" strike="noStrike" cap="none" dirty="0">
                        <a:solidFill>
                          <a:srgbClr val="000000"/>
                        </a:solidFill>
                        <a:latin typeface="Calibri"/>
                        <a:ea typeface="Calibri"/>
                        <a:cs typeface="Calibri"/>
                        <a:sym typeface="Calibri"/>
                      </a:endParaRPr>
                    </a:p>
                  </a:txBody>
                  <a:tcPr marL="0" marR="0" marT="36000" marB="36000" anchor="ctr"/>
                </a:tc>
                <a:extLst>
                  <a:ext uri="{0D108BD9-81ED-4DB2-BD59-A6C34878D82A}">
                    <a16:rowId xmlns:a16="http://schemas.microsoft.com/office/drawing/2014/main" val="10003"/>
                  </a:ext>
                </a:extLst>
              </a:tr>
              <a:tr h="140085">
                <a:tc>
                  <a:txBody>
                    <a:bodyPr/>
                    <a:lstStyle/>
                    <a:p>
                      <a:pPr marL="0" marR="0" lvl="0" indent="0" algn="ctr" rtl="0">
                        <a:spcBef>
                          <a:spcPts val="0"/>
                        </a:spcBef>
                        <a:spcAft>
                          <a:spcPts val="0"/>
                        </a:spcAft>
                        <a:buNone/>
                      </a:pPr>
                      <a:r>
                        <a:rPr lang="en-US" sz="800" b="1"/>
                        <a:t>23</a:t>
                      </a:r>
                      <a:endParaRPr sz="800" b="1"/>
                    </a:p>
                  </a:txBody>
                  <a:tcPr marL="0" marR="0" marT="36000" marB="36000" anchor="ctr"/>
                </a:tc>
                <a:tc>
                  <a:txBody>
                    <a:bodyPr/>
                    <a:lstStyle/>
                    <a:p>
                      <a:pPr marL="0" marR="0" lvl="0" indent="0" algn="ctr" rtl="0">
                        <a:spcBef>
                          <a:spcPts val="0"/>
                        </a:spcBef>
                        <a:spcAft>
                          <a:spcPts val="0"/>
                        </a:spcAft>
                        <a:buNone/>
                      </a:pPr>
                      <a:r>
                        <a:rPr lang="en-US" sz="800" b="1"/>
                        <a:t>-</a:t>
                      </a:r>
                      <a:endParaRPr sz="800" b="1"/>
                    </a:p>
                  </a:txBody>
                  <a:tcPr marL="0" marR="0" marT="36000" marB="36000" anchor="ctr"/>
                </a:tc>
                <a:tc>
                  <a:txBody>
                    <a:bodyPr/>
                    <a:lstStyle/>
                    <a:p>
                      <a:pPr marL="0" marR="0" lvl="0" indent="0" algn="ctr" rtl="0">
                        <a:spcBef>
                          <a:spcPts val="0"/>
                        </a:spcBef>
                        <a:spcAft>
                          <a:spcPts val="0"/>
                        </a:spcAft>
                        <a:buNone/>
                      </a:pPr>
                      <a:r>
                        <a:rPr lang="en-US" sz="800" b="1"/>
                        <a:t>DANON</a:t>
                      </a:r>
                      <a:endParaRPr sz="800" b="1"/>
                    </a:p>
                  </a:txBody>
                  <a:tcPr marL="0" marR="0" marT="36000" marB="36000" anchor="ctr"/>
                </a:tc>
                <a:tc>
                  <a:txBody>
                    <a:bodyPr/>
                    <a:lstStyle/>
                    <a:p>
                      <a:pPr marL="0" marR="0" lvl="0" indent="0" algn="ctr" rtl="0">
                        <a:spcBef>
                          <a:spcPts val="0"/>
                        </a:spcBef>
                        <a:spcAft>
                          <a:spcPts val="0"/>
                        </a:spcAft>
                        <a:buNone/>
                      </a:pPr>
                      <a:r>
                        <a:rPr lang="en-US" sz="800" b="1" dirty="0"/>
                        <a:t>LDA W(</a:t>
                      </a:r>
                      <a:r>
                        <a:rPr lang="en-US" sz="800" b="1" dirty="0">
                          <a:solidFill>
                            <a:srgbClr val="0070C0"/>
                          </a:solidFill>
                        </a:rPr>
                        <a:t>RNVW 23</a:t>
                      </a:r>
                      <a:r>
                        <a:rPr lang="en-US" sz="800" b="1" dirty="0"/>
                        <a:t>)</a:t>
                      </a:r>
                      <a:endParaRPr sz="458" dirty="0"/>
                    </a:p>
                  </a:txBody>
                  <a:tcPr marL="0" marR="0" marT="36000" marB="36000" anchor="ctr"/>
                </a:tc>
                <a:extLst>
                  <a:ext uri="{0D108BD9-81ED-4DB2-BD59-A6C34878D82A}">
                    <a16:rowId xmlns:a16="http://schemas.microsoft.com/office/drawing/2014/main" val="10004"/>
                  </a:ext>
                </a:extLst>
              </a:tr>
              <a:tr h="140085">
                <a:tc rowSpan="3">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34L(18’) 9843’</a:t>
                      </a:r>
                      <a:endParaRPr sz="800" b="1"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16R(77’) 8268’ </a:t>
                      </a:r>
                      <a:r>
                        <a:rPr lang="en-US" sz="800" b="1" dirty="0">
                          <a:solidFill>
                            <a:srgbClr val="FF0000"/>
                          </a:solidFill>
                        </a:rPr>
                        <a:t>DIS</a:t>
                      </a:r>
                      <a:endParaRPr sz="800" b="1" dirty="0">
                        <a:solidFill>
                          <a:srgbClr val="FF0000"/>
                        </a:solidFill>
                      </a:endParaRPr>
                    </a:p>
                  </a:txBody>
                  <a:tcPr marL="36000" marR="36000" marT="36000" marB="36000" anchor="ctr"/>
                </a:tc>
                <a:extLst>
                  <a:ext uri="{0D108BD9-81ED-4DB2-BD59-A6C34878D82A}">
                    <a16:rowId xmlns:a16="http://schemas.microsoft.com/office/drawing/2014/main" val="10005"/>
                  </a:ext>
                </a:extLst>
              </a:tr>
              <a:tr h="140085">
                <a:tc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34R(21’) 9843’</a:t>
                      </a:r>
                      <a:r>
                        <a:rPr lang="ko-KR" altLang="en-US" sz="800" b="1" dirty="0">
                          <a:solidFill>
                            <a:srgbClr val="00B050"/>
                          </a:solidFill>
                        </a:rPr>
                        <a:t> </a:t>
                      </a:r>
                      <a:r>
                        <a:rPr lang="en-US" altLang="ko-KR" sz="800" b="1" dirty="0">
                          <a:solidFill>
                            <a:srgbClr val="FF0000"/>
                          </a:solidFill>
                        </a:rPr>
                        <a:t>DIS TH</a:t>
                      </a:r>
                      <a:endParaRPr sz="800" b="1" dirty="0">
                        <a:solidFill>
                          <a:srgbClr val="FF000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16L(19’) 9744’ </a:t>
                      </a:r>
                      <a:r>
                        <a:rPr lang="en-US" sz="800" b="1" dirty="0">
                          <a:solidFill>
                            <a:srgbClr val="FF0000"/>
                          </a:solidFill>
                        </a:rPr>
                        <a:t>DIS</a:t>
                      </a:r>
                      <a:endParaRPr sz="800" b="1" dirty="0">
                        <a:solidFill>
                          <a:srgbClr val="FF0000"/>
                        </a:solidFill>
                      </a:endParaRPr>
                    </a:p>
                  </a:txBody>
                  <a:tcPr marL="36000" marR="36000" marT="36000" marB="36000" anchor="ctr"/>
                </a:tc>
                <a:extLst>
                  <a:ext uri="{0D108BD9-81ED-4DB2-BD59-A6C34878D82A}">
                    <a16:rowId xmlns:a16="http://schemas.microsoft.com/office/drawing/2014/main" val="10006"/>
                  </a:ext>
                </a:extLst>
              </a:tr>
              <a:tr h="140085">
                <a:tc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22(35’) 8202’</a:t>
                      </a:r>
                      <a:endParaRPr sz="800" b="1">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23(55’) 8202’</a:t>
                      </a: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228158">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34L : L12(6515’), L13(7165’), 22 : B4(6207’), B3(6830’)</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16R : L5(5147’), L3(6361’), 23 : </a:t>
                      </a:r>
                      <a:r>
                        <a:rPr lang="en-US" sz="800" dirty="0">
                          <a:solidFill>
                            <a:schemeClr val="dk1"/>
                          </a:solidFill>
                        </a:rPr>
                        <a:t> </a:t>
                      </a:r>
                      <a:r>
                        <a:rPr lang="en-US" sz="800" b="1" dirty="0">
                          <a:solidFill>
                            <a:schemeClr val="dk1"/>
                          </a:solidFill>
                        </a:rPr>
                        <a:t>D5(5072’), D3(6391’)</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29076">
                <a:tc gridSpan="4">
                  <a:txBody>
                    <a:bodyPr/>
                    <a:lstStyle/>
                    <a:p>
                      <a:pPr marL="0" marR="0" lvl="0" indent="0" algn="ctr" rtl="0">
                        <a:lnSpc>
                          <a:spcPct val="100000"/>
                        </a:lnSpc>
                        <a:spcBef>
                          <a:spcPts val="0"/>
                        </a:spcBef>
                        <a:spcAft>
                          <a:spcPts val="0"/>
                        </a:spcAft>
                        <a:buClr>
                          <a:schemeClr val="dk1"/>
                        </a:buClr>
                        <a:buSzPts val="700"/>
                        <a:buFont typeface="Calibri"/>
                        <a:buNone/>
                      </a:pPr>
                      <a:r>
                        <a:rPr lang="en-US" sz="700" b="1" dirty="0">
                          <a:solidFill>
                            <a:srgbClr val="0070C0"/>
                          </a:solidFill>
                        </a:rPr>
                        <a:t>xxx Z : 180kts, 160kts limit APP Chart, xxx Y After 1400z</a:t>
                      </a:r>
                      <a:endParaRPr sz="7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347" name="Google Shape;347;p24"/>
          <p:cNvGraphicFramePr/>
          <p:nvPr>
            <p:extLst>
              <p:ext uri="{D42A27DB-BD31-4B8C-83A1-F6EECF244321}">
                <p14:modId xmlns:p14="http://schemas.microsoft.com/office/powerpoint/2010/main" val="134299945"/>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RJTT(HND) 21ft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Delta </a:t>
                      </a:r>
                      <a:r>
                        <a:rPr lang="en-US" sz="900" dirty="0" err="1"/>
                        <a:t>Oper</a:t>
                      </a:r>
                      <a:r>
                        <a:rPr lang="en-US" sz="900" dirty="0"/>
                        <a:t> 132.075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3BC63946-A7CD-77E9-F5B8-CBBDBDCC5ADA}"/>
              </a:ext>
            </a:extLst>
          </p:cNvPr>
          <p:cNvSpPr txBox="1"/>
          <p:nvPr/>
        </p:nvSpPr>
        <p:spPr>
          <a:xfrm>
            <a:off x="-41878" y="3028026"/>
            <a:ext cx="2212465"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133.02 – TKO 120.5</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TKO 133.35</a:t>
            </a:r>
          </a:p>
          <a:p>
            <a:pPr>
              <a:lnSpc>
                <a:spcPct val="150000"/>
              </a:lnSpc>
            </a:pPr>
            <a:r>
              <a:rPr kumimoji="1" lang="en-US" altLang="ko-KR" sz="600" b="1" u="sng" dirty="0">
                <a:solidFill>
                  <a:srgbClr val="0070C0"/>
                </a:solidFill>
                <a:latin typeface="Gulim" panose="020B0600000101010101" pitchFamily="34" charset="-127"/>
                <a:ea typeface="Gulim" panose="020B0600000101010101" pitchFamily="34" charset="-127"/>
              </a:rPr>
              <a:t>TKO APP 119.1 – 119.65</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E883402A-2C06-3020-A385-CD1C99F5016F}"/>
              </a:ext>
            </a:extLst>
          </p:cNvPr>
          <p:cNvSpPr/>
          <p:nvPr/>
        </p:nvSpPr>
        <p:spPr>
          <a:xfrm>
            <a:off x="1622852" y="3159816"/>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DE2E95AF-4A51-6082-8123-DE5EE03D2C2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 name="TextBox 2">
            <a:extLst>
              <a:ext uri="{FF2B5EF4-FFF2-40B4-BE49-F238E27FC236}">
                <a16:creationId xmlns:a16="http://schemas.microsoft.com/office/drawing/2014/main" id="{D411E119-4026-CE0D-8F48-49BFB4C46FBA}"/>
              </a:ext>
            </a:extLst>
          </p:cNvPr>
          <p:cNvSpPr txBox="1"/>
          <p:nvPr/>
        </p:nvSpPr>
        <p:spPr>
          <a:xfrm>
            <a:off x="624812" y="2553021"/>
            <a:ext cx="128753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a:t>
            </a:r>
            <a:r>
              <a:rPr kumimoji="1" lang="en-US" altLang="ko-Kore-KR" sz="700" b="1" u="sng" dirty="0">
                <a:solidFill>
                  <a:srgbClr val="FF0000"/>
                </a:solidFill>
                <a:latin typeface="Gulim" panose="020B0600000101010101" pitchFamily="34" charset="-127"/>
                <a:ea typeface="Gulim" panose="020B0600000101010101" pitchFamily="34" charset="-127"/>
              </a:rPr>
              <a:t>ATIS</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120.5 – FUK 133.02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354" name="Google Shape;354;p25"/>
          <p:cNvGraphicFramePr/>
          <p:nvPr>
            <p:extLst>
              <p:ext uri="{D42A27DB-BD31-4B8C-83A1-F6EECF244321}">
                <p14:modId xmlns:p14="http://schemas.microsoft.com/office/powerpoint/2010/main" val="2578373620"/>
              </p:ext>
            </p:extLst>
          </p:nvPr>
        </p:nvGraphicFramePr>
        <p:xfrm>
          <a:off x="0" y="611909"/>
          <a:ext cx="2320125" cy="2005500"/>
        </p:xfrm>
        <a:graphic>
          <a:graphicData uri="http://schemas.openxmlformats.org/drawingml/2006/table">
            <a:tbl>
              <a:tblPr firstRow="1" bandRow="1">
                <a:noFill/>
                <a:tableStyleId>{A521BE36-7E6F-4EC9-8D66-1CF97A6895EC}</a:tableStyleId>
              </a:tblPr>
              <a:tblGrid>
                <a:gridCol w="361950">
                  <a:extLst>
                    <a:ext uri="{9D8B030D-6E8A-4147-A177-3AD203B41FA5}">
                      <a16:colId xmlns:a16="http://schemas.microsoft.com/office/drawing/2014/main" val="20000"/>
                    </a:ext>
                  </a:extLst>
                </a:gridCol>
                <a:gridCol w="334075">
                  <a:extLst>
                    <a:ext uri="{9D8B030D-6E8A-4147-A177-3AD203B41FA5}">
                      <a16:colId xmlns:a16="http://schemas.microsoft.com/office/drawing/2014/main" val="20001"/>
                    </a:ext>
                  </a:extLst>
                </a:gridCol>
                <a:gridCol w="339025">
                  <a:extLst>
                    <a:ext uri="{9D8B030D-6E8A-4147-A177-3AD203B41FA5}">
                      <a16:colId xmlns:a16="http://schemas.microsoft.com/office/drawing/2014/main" val="20002"/>
                    </a:ext>
                  </a:extLst>
                </a:gridCol>
                <a:gridCol w="355600">
                  <a:extLst>
                    <a:ext uri="{9D8B030D-6E8A-4147-A177-3AD203B41FA5}">
                      <a16:colId xmlns:a16="http://schemas.microsoft.com/office/drawing/2014/main" val="20003"/>
                    </a:ext>
                  </a:extLst>
                </a:gridCol>
                <a:gridCol w="311150">
                  <a:extLst>
                    <a:ext uri="{9D8B030D-6E8A-4147-A177-3AD203B41FA5}">
                      <a16:colId xmlns:a16="http://schemas.microsoft.com/office/drawing/2014/main" val="20004"/>
                    </a:ext>
                  </a:extLst>
                </a:gridCol>
                <a:gridCol w="260350">
                  <a:extLst>
                    <a:ext uri="{9D8B030D-6E8A-4147-A177-3AD203B41FA5}">
                      <a16:colId xmlns:a16="http://schemas.microsoft.com/office/drawing/2014/main" val="20006"/>
                    </a:ext>
                  </a:extLst>
                </a:gridCol>
                <a:gridCol w="357975">
                  <a:extLst>
                    <a:ext uri="{9D8B030D-6E8A-4147-A177-3AD203B41FA5}">
                      <a16:colId xmlns:a16="http://schemas.microsoft.com/office/drawing/2014/main" val="20007"/>
                    </a:ext>
                  </a:extLst>
                </a:gridCol>
              </a:tblGrid>
              <a:tr h="174725">
                <a:tc gridSpan="7">
                  <a:txBody>
                    <a:bodyPr/>
                    <a:lstStyle/>
                    <a:p>
                      <a:pPr marL="0" marR="0" lvl="0" indent="0" algn="ctr" rtl="0">
                        <a:spcBef>
                          <a:spcPts val="0"/>
                        </a:spcBef>
                        <a:spcAft>
                          <a:spcPts val="0"/>
                        </a:spcAft>
                        <a:buNone/>
                      </a:pPr>
                      <a:r>
                        <a:rPr lang="en-US" sz="800" dirty="0"/>
                        <a:t>HND : SID </a:t>
                      </a:r>
                      <a:r>
                        <a:rPr lang="en-US" sz="800" dirty="0">
                          <a:solidFill>
                            <a:srgbClr val="FFC000"/>
                          </a:solidFill>
                        </a:rPr>
                        <a:t>(xx B/C 2200-0230z 0600-1000z)</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58650">
                <a:tc>
                  <a:txBody>
                    <a:bodyPr/>
                    <a:lstStyle/>
                    <a:p>
                      <a:pPr marL="0" marR="0" lvl="0" indent="0" algn="ctr" rtl="0">
                        <a:spcBef>
                          <a:spcPts val="0"/>
                        </a:spcBef>
                        <a:spcAft>
                          <a:spcPts val="0"/>
                        </a:spcAft>
                        <a:buNone/>
                      </a:pPr>
                      <a:r>
                        <a:rPr lang="en-US" sz="800" b="1" dirty="0"/>
                        <a:t>ALL</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BEKLA x</a:t>
                      </a:r>
                      <a:endParaRPr/>
                    </a:p>
                    <a:p>
                      <a:pPr marL="0" marR="0" lvl="0" indent="0" algn="ctr" rtl="0">
                        <a:spcBef>
                          <a:spcPts val="0"/>
                        </a:spcBef>
                        <a:spcAft>
                          <a:spcPts val="0"/>
                        </a:spcAft>
                        <a:buNone/>
                      </a:pPr>
                      <a:r>
                        <a:rPr lang="en-US" sz="800" b="1"/>
                        <a:t>OPPAR x</a:t>
                      </a:r>
                      <a:endParaRPr sz="800" b="1"/>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RWY H/D</a:t>
                      </a:r>
                      <a:endParaRPr sz="458" b="1">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a:t>RWY CRS</a:t>
                      </a:r>
                      <a:endParaRPr sz="458" b="1"/>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ATC</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C00000"/>
                          </a:solidFill>
                        </a:rPr>
                        <a:t>RWY H/D</a:t>
                      </a:r>
                      <a:endParaRPr sz="600" b="1">
                        <a:solidFill>
                          <a:srgbClr val="C00000"/>
                        </a:solidFill>
                      </a:endParaRPr>
                    </a:p>
                  </a:txBody>
                  <a:tcPr marL="36000" marR="36000" marT="36000" marB="36000" anchor="ctr"/>
                </a:tc>
                <a:extLst>
                  <a:ext uri="{0D108BD9-81ED-4DB2-BD59-A6C34878D82A}">
                    <a16:rowId xmlns:a16="http://schemas.microsoft.com/office/drawing/2014/main" val="10001"/>
                  </a:ext>
                </a:extLst>
              </a:tr>
              <a:tr h="258650">
                <a:tc>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HME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112.2</a:t>
                      </a:r>
                      <a:endParaRPr/>
                    </a:p>
                  </a:txBody>
                  <a:tcPr marL="0" marR="0" marT="36000" marB="36000" anchor="ctr"/>
                </a:tc>
                <a:tc>
                  <a:txBody>
                    <a:bodyPr/>
                    <a:lstStyle/>
                    <a:p>
                      <a:pPr marL="0" marR="0" lvl="0" indent="0" algn="ctr" rtl="0">
                        <a:spcBef>
                          <a:spcPts val="0"/>
                        </a:spcBef>
                        <a:spcAft>
                          <a:spcPts val="0"/>
                        </a:spcAft>
                        <a:buNone/>
                      </a:pPr>
                      <a:r>
                        <a:rPr lang="en-US" sz="800" b="1">
                          <a:solidFill>
                            <a:srgbClr val="C00000"/>
                          </a:solidFill>
                        </a:rPr>
                        <a:t>34L </a:t>
                      </a:r>
                      <a:endParaRPr/>
                    </a:p>
                    <a:p>
                      <a:pPr marL="0" marR="0" lvl="0" indent="0" algn="ctr" rtl="0">
                        <a:spcBef>
                          <a:spcPts val="0"/>
                        </a:spcBef>
                        <a:spcAft>
                          <a:spcPts val="0"/>
                        </a:spcAft>
                        <a:buNone/>
                      </a:pPr>
                      <a:r>
                        <a:rPr lang="en-US" sz="800" b="1">
                          <a:solidFill>
                            <a:srgbClr val="C00000"/>
                          </a:solidFill>
                        </a:rPr>
                        <a:t>111.7</a:t>
                      </a:r>
                      <a:endParaRPr sz="458"/>
                    </a:p>
                  </a:txBody>
                  <a:tcPr marL="0" marR="0" marT="36000" marB="36000" anchor="ctr"/>
                </a:tc>
                <a:tc>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111.55</a:t>
                      </a:r>
                      <a:endParaRPr sz="800"/>
                    </a:p>
                  </a:txBody>
                  <a:tcPr marL="0" marR="0" marT="36000" marB="36000" anchor="ct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a:solidFill>
                            <a:srgbClr val="C00000"/>
                          </a:solidFill>
                        </a:rPr>
                        <a:t>34R 108.9</a:t>
                      </a:r>
                      <a:endParaRPr sz="800" b="1">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800" b="1">
                          <a:solidFill>
                            <a:srgbClr val="C00000"/>
                          </a:solidFill>
                        </a:rPr>
                        <a:t>16L 111.95</a:t>
                      </a:r>
                      <a:endParaRPr sz="800" b="1">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800" b="1">
                          <a:solidFill>
                            <a:srgbClr val="C00000"/>
                          </a:solidFill>
                        </a:rPr>
                        <a:t>22</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0" marR="0" marT="36000" marB="36000" anchor="ctr"/>
                </a:tc>
                <a:tc>
                  <a:txBody>
                    <a:bodyPr/>
                    <a:lstStyle/>
                    <a:p>
                      <a:pPr marL="0" marR="0" lvl="0" indent="0" algn="ctr" rtl="0">
                        <a:spcBef>
                          <a:spcPts val="0"/>
                        </a:spcBef>
                        <a:spcAft>
                          <a:spcPts val="0"/>
                        </a:spcAft>
                        <a:buNone/>
                      </a:pPr>
                      <a:r>
                        <a:rPr lang="en-US" sz="800" b="1">
                          <a:solidFill>
                            <a:srgbClr val="C00000"/>
                          </a:solidFill>
                        </a:rPr>
                        <a:t>23</a:t>
                      </a:r>
                      <a:endParaRPr/>
                    </a:p>
                    <a:p>
                      <a:pPr marL="0" marR="0" lvl="0" indent="0" algn="ctr" rtl="0">
                        <a:spcBef>
                          <a:spcPts val="0"/>
                        </a:spcBef>
                        <a:spcAft>
                          <a:spcPts val="0"/>
                        </a:spcAft>
                        <a:buNone/>
                      </a:pPr>
                      <a:r>
                        <a:rPr lang="en-US" sz="800" b="1">
                          <a:solidFill>
                            <a:srgbClr val="C00000"/>
                          </a:solidFill>
                        </a:rPr>
                        <a:t>110.5</a:t>
                      </a:r>
                      <a:endParaRPr sz="800"/>
                    </a:p>
                  </a:txBody>
                  <a:tcPr marL="0" marR="0" marT="36000" marB="36000" anchor="ctr"/>
                </a:tc>
                <a:extLst>
                  <a:ext uri="{0D108BD9-81ED-4DB2-BD59-A6C34878D82A}">
                    <a16:rowId xmlns:a16="http://schemas.microsoft.com/office/drawing/2014/main" val="10002"/>
                  </a:ext>
                </a:extLst>
              </a:tr>
              <a:tr h="158800">
                <a:tc rowSpan="3"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rowSpan="3" hMerge="1">
                  <a:txBody>
                    <a:bodyPr/>
                    <a:lstStyle/>
                    <a:p>
                      <a:endParaRPr lang="ko-Kore-KR"/>
                    </a:p>
                  </a:txBody>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34L(18’)        9843’       16R(77’)</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58800">
                <a:tc gridSpan="2" vMerge="1">
                  <a:txBody>
                    <a:bodyPr/>
                    <a:lstStyle/>
                    <a:p>
                      <a:endParaRPr lang="ko-Kore-KR"/>
                    </a:p>
                  </a:txBody>
                  <a:tcPr/>
                </a:tc>
                <a:tc hMerge="1" vMerge="1">
                  <a:txBody>
                    <a:bodyPr/>
                    <a:lstStyle/>
                    <a:p>
                      <a:endParaRPr lang="ko-Kore-KR"/>
                    </a:p>
                  </a:txBody>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34R(21’)       11024’      16L(19’)</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58800">
                <a:tc gridSpan="2" vMerge="1">
                  <a:txBody>
                    <a:bodyPr/>
                    <a:lstStyle/>
                    <a:p>
                      <a:endParaRPr lang="ko-Kore-KR"/>
                    </a:p>
                  </a:txBody>
                  <a:tcPr/>
                </a:tc>
                <a:tc hMerge="1" vMerge="1">
                  <a:txBody>
                    <a:bodyPr/>
                    <a:lstStyle/>
                    <a:p>
                      <a:endParaRPr lang="ko-Kore-KR"/>
                    </a:p>
                  </a:txBody>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04(19’)        8202’       05(46’)</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5865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34L : HME 351/1.1, R095, 34R : HME R080, R095, 22 : HME /2.2 R185 </a:t>
                      </a:r>
                      <a:endParaRPr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88900">
                <a:tc gridSpan="7">
                  <a:txBody>
                    <a:bodyPr/>
                    <a:lstStyle/>
                    <a:p>
                      <a:pPr marL="0" marR="0" lvl="0" indent="0" algn="ctr" rtl="0">
                        <a:lnSpc>
                          <a:spcPct val="100000"/>
                        </a:lnSpc>
                        <a:spcBef>
                          <a:spcPts val="0"/>
                        </a:spcBef>
                        <a:spcAft>
                          <a:spcPts val="0"/>
                        </a:spcAft>
                        <a:buClr>
                          <a:schemeClr val="accent1"/>
                        </a:buClr>
                        <a:buSzPts val="700"/>
                        <a:buFont typeface="Calibri"/>
                        <a:buNone/>
                      </a:pPr>
                      <a:r>
                        <a:rPr lang="en-US" sz="700" b="0" dirty="0">
                          <a:solidFill>
                            <a:schemeClr val="accent1"/>
                          </a:solidFill>
                        </a:rPr>
                        <a:t>34R BEKLA : KAIJI 230kts, TORAM Flap5 SPD</a:t>
                      </a:r>
                      <a:endParaRPr dirty="0"/>
                    </a:p>
                    <a:p>
                      <a:pPr marL="0" marR="0" lvl="0" indent="0" algn="ctr" rtl="0">
                        <a:lnSpc>
                          <a:spcPct val="100000"/>
                        </a:lnSpc>
                        <a:spcBef>
                          <a:spcPts val="0"/>
                        </a:spcBef>
                        <a:spcAft>
                          <a:spcPts val="0"/>
                        </a:spcAft>
                        <a:buClr>
                          <a:schemeClr val="accent1"/>
                        </a:buClr>
                        <a:buSzPts val="700"/>
                        <a:buFont typeface="Calibri"/>
                        <a:buNone/>
                      </a:pPr>
                      <a:r>
                        <a:rPr lang="en-US" sz="700" b="0" dirty="0">
                          <a:solidFill>
                            <a:schemeClr val="accent1"/>
                          </a:solidFill>
                        </a:rPr>
                        <a:t>16L : BEKLA : PLUTO 230kts </a:t>
                      </a:r>
                    </a:p>
                    <a:p>
                      <a:pPr marL="0" marR="0" lvl="0" indent="0" algn="ctr" rtl="0">
                        <a:lnSpc>
                          <a:spcPct val="100000"/>
                        </a:lnSpc>
                        <a:spcBef>
                          <a:spcPts val="0"/>
                        </a:spcBef>
                        <a:spcAft>
                          <a:spcPts val="0"/>
                        </a:spcAft>
                        <a:buClr>
                          <a:schemeClr val="accent1"/>
                        </a:buClr>
                        <a:buSzPts val="700"/>
                        <a:buFont typeface="Calibri"/>
                        <a:buNone/>
                      </a:pPr>
                      <a:r>
                        <a:rPr lang="en-US" sz="700" b="0" dirty="0">
                          <a:solidFill>
                            <a:schemeClr val="tx1"/>
                          </a:solidFill>
                        </a:rPr>
                        <a:t>RWY05 RTE5 TAXI Chart</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55" name="Google Shape;355;p25"/>
          <p:cNvGraphicFramePr/>
          <p:nvPr>
            <p:extLst>
              <p:ext uri="{D42A27DB-BD31-4B8C-83A1-F6EECF244321}">
                <p14:modId xmlns:p14="http://schemas.microsoft.com/office/powerpoint/2010/main" val="1436105594"/>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RJTT(HND) 21ft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Delta Oper 132.075</a:t>
                      </a:r>
                      <a:endParaRPr/>
                    </a:p>
                    <a:p>
                      <a:pPr marL="0" marR="0" lvl="0" indent="0" algn="ctr" rtl="0">
                        <a:spcBef>
                          <a:spcPts val="0"/>
                        </a:spcBef>
                        <a:spcAft>
                          <a:spcPts val="0"/>
                        </a:spcAft>
                        <a:buNone/>
                      </a:pPr>
                      <a:r>
                        <a:rPr lang="en-US" sz="800">
                          <a:solidFill>
                            <a:srgbClr val="FF0000"/>
                          </a:solidFill>
                        </a:rPr>
                        <a:t>DCL -15분</a:t>
                      </a:r>
                      <a:endParaRPr sz="80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57" name="Google Shape;357;p25"/>
          <p:cNvGraphicFramePr/>
          <p:nvPr>
            <p:extLst>
              <p:ext uri="{D42A27DB-BD31-4B8C-83A1-F6EECF244321}">
                <p14:modId xmlns:p14="http://schemas.microsoft.com/office/powerpoint/2010/main" val="4292766258"/>
              </p:ext>
            </p:extLst>
          </p:nvPr>
        </p:nvGraphicFramePr>
        <p:xfrm>
          <a:off x="-5861" y="3405087"/>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358" name="Google Shape;358;p25"/>
          <p:cNvPicPr preferRelativeResize="0"/>
          <p:nvPr/>
        </p:nvPicPr>
        <p:blipFill rotWithShape="1">
          <a:blip r:embed="rId5">
            <a:alphaModFix/>
          </a:blip>
          <a:srcRect/>
          <a:stretch/>
        </p:blipFill>
        <p:spPr>
          <a:xfrm>
            <a:off x="0" y="2606644"/>
            <a:ext cx="711976" cy="609620"/>
          </a:xfrm>
          <a:prstGeom prst="rect">
            <a:avLst/>
          </a:prstGeom>
          <a:noFill/>
          <a:ln>
            <a:noFill/>
          </a:ln>
        </p:spPr>
      </p:pic>
      <p:sp>
        <p:nvSpPr>
          <p:cNvPr id="4" name="직사각형 3">
            <a:hlinkClick r:id="" action="ppaction://hlinkshowjump?jump=firstslide"/>
            <a:extLst>
              <a:ext uri="{FF2B5EF4-FFF2-40B4-BE49-F238E27FC236}">
                <a16:creationId xmlns:a16="http://schemas.microsoft.com/office/drawing/2014/main" id="{8E3582B6-F7D2-6EF3-A8F0-CE2C1812FEDF}"/>
              </a:ext>
            </a:extLst>
          </p:cNvPr>
          <p:cNvSpPr/>
          <p:nvPr/>
        </p:nvSpPr>
        <p:spPr>
          <a:xfrm>
            <a:off x="1622852" y="300356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594720C-B6A0-A9A8-C0C5-31BACFE322E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graphicFrame>
        <p:nvGraphicFramePr>
          <p:cNvPr id="291" name="Google Shape;291;p18"/>
          <p:cNvGraphicFramePr/>
          <p:nvPr>
            <p:extLst>
              <p:ext uri="{D42A27DB-BD31-4B8C-83A1-F6EECF244321}">
                <p14:modId xmlns:p14="http://schemas.microsoft.com/office/powerpoint/2010/main" val="3535207270"/>
              </p:ext>
            </p:extLst>
          </p:nvPr>
        </p:nvGraphicFramePr>
        <p:xfrm>
          <a:off x="0" y="635155"/>
          <a:ext cx="2332925" cy="26402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3" name="Google Shape;293;p18"/>
          <p:cNvGraphicFramePr/>
          <p:nvPr>
            <p:extLst>
              <p:ext uri="{D42A27DB-BD31-4B8C-83A1-F6EECF244321}">
                <p14:modId xmlns:p14="http://schemas.microsoft.com/office/powerpoint/2010/main" val="1641847903"/>
              </p:ext>
            </p:extLst>
          </p:nvPr>
        </p:nvGraphicFramePr>
        <p:xfrm>
          <a:off x="-2501" y="16504"/>
          <a:ext cx="2328850" cy="6050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RJGG(NGO) 12ft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l" rtl="0">
                        <a:spcBef>
                          <a:spcPts val="0"/>
                        </a:spcBef>
                        <a:spcAft>
                          <a:spcPts val="0"/>
                        </a:spcAft>
                        <a:buNone/>
                      </a:pPr>
                      <a:r>
                        <a:rPr lang="en-US" sz="900" dirty="0"/>
                        <a:t>    </a:t>
                      </a:r>
                      <a:r>
                        <a:rPr lang="en-US" sz="800" dirty="0"/>
                        <a:t>SWISSPORT </a:t>
                      </a:r>
                    </a:p>
                    <a:p>
                      <a:pPr marL="0" marR="0" lvl="0" indent="0" algn="ctr" rtl="0">
                        <a:spcBef>
                          <a:spcPts val="0"/>
                        </a:spcBef>
                        <a:spcAft>
                          <a:spcPts val="0"/>
                        </a:spcAft>
                        <a:buNone/>
                      </a:pPr>
                      <a:r>
                        <a:rPr lang="en-US" sz="800" dirty="0"/>
                        <a:t>    OPERATION    </a:t>
                      </a:r>
                      <a:r>
                        <a:rPr lang="en-US" sz="900" dirty="0"/>
                        <a:t>132.05</a:t>
                      </a:r>
                      <a:endParaRPr sz="900" dirty="0"/>
                    </a:p>
                  </a:txBody>
                  <a:tcPr marL="91450" marR="91450" marT="36000" marB="36000" anchor="ctr"/>
                </a:tc>
                <a:extLst>
                  <a:ext uri="{0D108BD9-81ED-4DB2-BD59-A6C34878D82A}">
                    <a16:rowId xmlns:a16="http://schemas.microsoft.com/office/drawing/2014/main" val="10001"/>
                  </a:ext>
                </a:extLst>
              </a:tr>
            </a:tbl>
          </a:graphicData>
        </a:graphic>
      </p:graphicFrame>
      <p:graphicFrame>
        <p:nvGraphicFramePr>
          <p:cNvPr id="3" name="Google Shape;292;p18">
            <a:extLst>
              <a:ext uri="{FF2B5EF4-FFF2-40B4-BE49-F238E27FC236}">
                <a16:creationId xmlns:a16="http://schemas.microsoft.com/office/drawing/2014/main" id="{875A20F2-11E7-1F75-20D8-CFED1D1E2C0E}"/>
              </a:ext>
            </a:extLst>
          </p:cNvPr>
          <p:cNvGraphicFramePr/>
          <p:nvPr>
            <p:extLst>
              <p:ext uri="{D42A27DB-BD31-4B8C-83A1-F6EECF244321}">
                <p14:modId xmlns:p14="http://schemas.microsoft.com/office/powerpoint/2010/main" val="1150715261"/>
              </p:ext>
            </p:extLst>
          </p:nvPr>
        </p:nvGraphicFramePr>
        <p:xfrm>
          <a:off x="4472" y="3754546"/>
          <a:ext cx="2331400" cy="1792570"/>
        </p:xfrm>
        <a:graphic>
          <a:graphicData uri="http://schemas.openxmlformats.org/drawingml/2006/table">
            <a:tbl>
              <a:tblPr firstRow="1" bandRow="1">
                <a:noFill/>
                <a:tableStyleId>{A521BE36-7E6F-4EC9-8D66-1CF97A6895EC}</a:tableStyleId>
              </a:tblPr>
              <a:tblGrid>
                <a:gridCol w="449238">
                  <a:extLst>
                    <a:ext uri="{9D8B030D-6E8A-4147-A177-3AD203B41FA5}">
                      <a16:colId xmlns:a16="http://schemas.microsoft.com/office/drawing/2014/main" val="20000"/>
                    </a:ext>
                  </a:extLst>
                </a:gridCol>
                <a:gridCol w="716462">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28500">
                <a:tc gridSpan="4">
                  <a:txBody>
                    <a:bodyPr/>
                    <a:lstStyle/>
                    <a:p>
                      <a:pPr marL="0" marR="0" lvl="0" indent="0" algn="ctr" rtl="0">
                        <a:spcBef>
                          <a:spcPts val="0"/>
                        </a:spcBef>
                        <a:spcAft>
                          <a:spcPts val="0"/>
                        </a:spcAft>
                        <a:buNone/>
                      </a:pPr>
                      <a:r>
                        <a:rPr lang="en-US" sz="800" dirty="0"/>
                        <a:t>NGO : STAR (SAMON 290, MARIA 130)</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5275">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SOUTH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PROBE</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36</a:t>
                      </a:r>
                      <a:endParaRPr sz="800" b="1" dirty="0"/>
                    </a:p>
                  </a:txBody>
                  <a:tcPr marL="36000" marR="36000" marT="36000" marB="36000" anchor="ctr"/>
                </a:tc>
                <a:extLst>
                  <a:ext uri="{0D108BD9-81ED-4DB2-BD59-A6C34878D82A}">
                    <a16:rowId xmlns:a16="http://schemas.microsoft.com/office/drawing/2014/main" val="10001"/>
                  </a:ext>
                </a:extLst>
              </a:tr>
              <a:tr h="210550">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CHESS(CARDS)</a:t>
                      </a:r>
                    </a:p>
                    <a:p>
                      <a:pPr marL="0" marR="0" lvl="0" indent="0" algn="ctr" rtl="0">
                        <a:spcBef>
                          <a:spcPts val="0"/>
                        </a:spcBef>
                        <a:spcAft>
                          <a:spcPts val="0"/>
                        </a:spcAft>
                        <a:buNone/>
                      </a:pPr>
                      <a:r>
                        <a:rPr lang="en-US" sz="800" b="1" dirty="0"/>
                        <a:t>NORTH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QUEST</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ILS Z 18</a:t>
                      </a:r>
                      <a:endParaRPr sz="800" b="1" dirty="0"/>
                    </a:p>
                  </a:txBody>
                  <a:tcPr marL="36000" marR="36000" marT="36000" marB="36000" anchor="ctr"/>
                </a:tc>
                <a:extLst>
                  <a:ext uri="{0D108BD9-81ED-4DB2-BD59-A6C34878D82A}">
                    <a16:rowId xmlns:a16="http://schemas.microsoft.com/office/drawing/2014/main" val="10002"/>
                  </a:ext>
                </a:extLst>
              </a:tr>
              <a:tr h="116800">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36(15’)     11483’     18(15’)</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9022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 : A6(5213’), A7(6525’), A8(7837’)</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 : A5(5393’), A4(6528’), A3(7841’)</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902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 After 1500ft L/D FLAP </a:t>
                      </a:r>
                    </a:p>
                    <a:p>
                      <a:pPr marL="0" marR="0" lvl="0" indent="0" algn="ctr" rtl="0">
                        <a:lnSpc>
                          <a:spcPct val="100000"/>
                        </a:lnSpc>
                        <a:spcBef>
                          <a:spcPts val="0"/>
                        </a:spcBef>
                        <a:spcAft>
                          <a:spcPts val="0"/>
                        </a:spcAft>
                        <a:buClr>
                          <a:schemeClr val="dk1"/>
                        </a:buClr>
                        <a:buSzPts val="800"/>
                        <a:buFont typeface="Calibri"/>
                        <a:buNone/>
                      </a:pPr>
                      <a:r>
                        <a:rPr lang="en-US" sz="800" dirty="0"/>
                        <a:t>RWY 18 : After 3000ft L/G DN &amp; L/D FLAP</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B050"/>
                          </a:solidFill>
                        </a:rPr>
                        <a:t>Caution Stop line, Yellow Ramp line, VDGS!!!</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4" name="TextBox 3">
            <a:extLst>
              <a:ext uri="{FF2B5EF4-FFF2-40B4-BE49-F238E27FC236}">
                <a16:creationId xmlns:a16="http://schemas.microsoft.com/office/drawing/2014/main" id="{D1FC2543-C4A5-9C11-508F-89BF4833E0A4}"/>
              </a:ext>
            </a:extLst>
          </p:cNvPr>
          <p:cNvSpPr txBox="1"/>
          <p:nvPr/>
        </p:nvSpPr>
        <p:spPr>
          <a:xfrm>
            <a:off x="27922" y="3289355"/>
            <a:ext cx="1632178" cy="449729"/>
          </a:xfrm>
          <a:prstGeom prst="rect">
            <a:avLst/>
          </a:prstGeom>
          <a:noFill/>
        </p:spPr>
        <p:txBody>
          <a:bodyPr wrap="none" tIns="36000" bIns="36000" rtlCol="0" anchor="ctr">
            <a:spAutoFit/>
          </a:bodyPr>
          <a:lstStyle/>
          <a:p>
            <a:r>
              <a:rPr kumimoji="1" lang="en-US" altLang="ko-Kore-KR" sz="700" b="1" u="sng" dirty="0">
                <a:solidFill>
                  <a:srgbClr val="0070C0"/>
                </a:solidFill>
                <a:latin typeface="Gulim" panose="020B0600000101010101" pitchFamily="34" charset="-127"/>
                <a:ea typeface="Gulim" panose="020B0600000101010101" pitchFamily="34" charset="-127"/>
              </a:rPr>
              <a:t>DEP 125.15</a:t>
            </a:r>
          </a:p>
          <a:p>
            <a:pPr>
              <a:lnSpc>
                <a:spcPct val="150000"/>
              </a:lnSpc>
            </a:pPr>
            <a:r>
              <a:rPr kumimoji="1" lang="en-US" altLang="ko-Kore-KR" sz="700" b="1" u="sng">
                <a:solidFill>
                  <a:srgbClr val="0070C0"/>
                </a:solidFill>
                <a:latin typeface="Gulim" panose="020B0600000101010101" pitchFamily="34" charset="-127"/>
                <a:ea typeface="Gulim" panose="020B0600000101010101" pitchFamily="34" charset="-127"/>
              </a:rPr>
              <a:t>TGU 134.17 </a:t>
            </a:r>
            <a:r>
              <a:rPr kumimoji="1" lang="en-US" altLang="ko-Kore-KR" sz="700" b="1" u="sng" dirty="0">
                <a:solidFill>
                  <a:srgbClr val="0070C0"/>
                </a:solidFill>
                <a:latin typeface="Gulim" panose="020B0600000101010101" pitchFamily="34" charset="-127"/>
                <a:ea typeface="Gulim" panose="020B0600000101010101" pitchFamily="34" charset="-127"/>
              </a:rPr>
              <a:t>– TKO 133.8 – 133.02</a:t>
            </a:r>
          </a:p>
          <a:p>
            <a:r>
              <a:rPr kumimoji="1" lang="ko-KR" altLang="en-US" sz="700" b="1" u="sng" dirty="0" err="1">
                <a:solidFill>
                  <a:srgbClr val="0070C0"/>
                </a:solidFill>
                <a:latin typeface="Gulim" panose="020B0600000101010101" pitchFamily="34" charset="-127"/>
                <a:ea typeface="Gulim" panose="020B0600000101010101" pitchFamily="34" charset="-127"/>
              </a:rPr>
              <a:t>센트레아</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APP – 121.05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5" name="직사각형 4">
            <a:hlinkClick r:id="" action="ppaction://hlinkshowjump?jump=firstslide"/>
            <a:extLst>
              <a:ext uri="{FF2B5EF4-FFF2-40B4-BE49-F238E27FC236}">
                <a16:creationId xmlns:a16="http://schemas.microsoft.com/office/drawing/2014/main" id="{1AF4ECAC-C9A4-C401-BEF9-9B74E7F75934}"/>
              </a:ext>
            </a:extLst>
          </p:cNvPr>
          <p:cNvSpPr/>
          <p:nvPr/>
        </p:nvSpPr>
        <p:spPr>
          <a:xfrm>
            <a:off x="1651788" y="3408673"/>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A8F7711A-A078-A852-471C-DDD7F032B1E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975679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graphicFrame>
        <p:nvGraphicFramePr>
          <p:cNvPr id="300" name="Google Shape;300;p19"/>
          <p:cNvGraphicFramePr/>
          <p:nvPr>
            <p:extLst>
              <p:ext uri="{D42A27DB-BD31-4B8C-83A1-F6EECF244321}">
                <p14:modId xmlns:p14="http://schemas.microsoft.com/office/powerpoint/2010/main" val="943093384"/>
              </p:ext>
            </p:extLst>
          </p:nvPr>
        </p:nvGraphicFramePr>
        <p:xfrm>
          <a:off x="0" y="611908"/>
          <a:ext cx="2332950" cy="146869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277950">
                  <a:extLst>
                    <a:ext uri="{9D8B030D-6E8A-4147-A177-3AD203B41FA5}">
                      <a16:colId xmlns:a16="http://schemas.microsoft.com/office/drawing/2014/main" val="20003"/>
                    </a:ext>
                  </a:extLst>
                </a:gridCol>
                <a:gridCol w="299925">
                  <a:extLst>
                    <a:ext uri="{9D8B030D-6E8A-4147-A177-3AD203B41FA5}">
                      <a16:colId xmlns:a16="http://schemas.microsoft.com/office/drawing/2014/main" val="20005"/>
                    </a:ext>
                  </a:extLst>
                </a:gridCol>
                <a:gridCol w="528625">
                  <a:extLst>
                    <a:ext uri="{9D8B030D-6E8A-4147-A177-3AD203B41FA5}">
                      <a16:colId xmlns:a16="http://schemas.microsoft.com/office/drawing/2014/main" val="20006"/>
                    </a:ext>
                  </a:extLst>
                </a:gridCol>
                <a:gridCol w="326525">
                  <a:extLst>
                    <a:ext uri="{9D8B030D-6E8A-4147-A177-3AD203B41FA5}">
                      <a16:colId xmlns:a16="http://schemas.microsoft.com/office/drawing/2014/main" val="20008"/>
                    </a:ext>
                  </a:extLst>
                </a:gridCol>
              </a:tblGrid>
              <a:tr h="159300">
                <a:tc gridSpan="7">
                  <a:txBody>
                    <a:bodyPr/>
                    <a:lstStyle/>
                    <a:p>
                      <a:pPr marL="0" marR="0" lvl="0" indent="0" algn="ctr" rtl="0">
                        <a:spcBef>
                          <a:spcPts val="0"/>
                        </a:spcBef>
                        <a:spcAft>
                          <a:spcPts val="0"/>
                        </a:spcAft>
                        <a:buNone/>
                      </a:pPr>
                      <a:r>
                        <a:rPr lang="en-US" sz="800" dirty="0"/>
                        <a:t>NGO : SID – TANGO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dirty="0"/>
                        <a:t>36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OUMI x</a:t>
                      </a:r>
                      <a:endParaRPr sz="800" b="1" dirty="0">
                        <a:solidFill>
                          <a:srgbClr val="0070C0"/>
                        </a:solidFill>
                      </a:endParaRPr>
                    </a:p>
                    <a:p>
                      <a:pPr marL="0" marR="0" lvl="0" indent="0" algn="ctr" rtl="0">
                        <a:spcBef>
                          <a:spcPts val="0"/>
                        </a:spcBef>
                        <a:spcAft>
                          <a:spcPts val="0"/>
                        </a:spcAft>
                        <a:buNone/>
                      </a:pPr>
                      <a:r>
                        <a:rPr lang="en-US" sz="800" dirty="0"/>
                        <a:t>- TANGO </a:t>
                      </a:r>
                      <a:r>
                        <a:rPr lang="en-US" sz="800" dirty="0" err="1"/>
                        <a:t>tx</a:t>
                      </a:r>
                      <a:endParaRPr sz="800" dirty="0"/>
                    </a:p>
                  </a:txBody>
                  <a:tcPr marL="36000" marR="36000" marT="36000" marB="36000" anchor="ctr"/>
                </a:tc>
                <a:tc rowSpan="2"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356</a:t>
                      </a:r>
                      <a:endParaRPr sz="458"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356</a:t>
                      </a:r>
                      <a:endParaRPr sz="458"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ATC</a:t>
                      </a:r>
                      <a:endParaRPr dirty="0"/>
                    </a:p>
                    <a:p>
                      <a:pPr marL="0" marR="0" lvl="0" indent="0" algn="ctr" rtl="0">
                        <a:spcBef>
                          <a:spcPts val="0"/>
                        </a:spcBef>
                        <a:spcAft>
                          <a:spcPts val="0"/>
                        </a:spcAft>
                        <a:buNone/>
                      </a:pPr>
                      <a:r>
                        <a:rPr lang="en-US" sz="800" b="1" dirty="0">
                          <a:solidFill>
                            <a:srgbClr val="0070C0"/>
                          </a:solidFill>
                        </a:rPr>
                        <a:t>(7000)</a:t>
                      </a:r>
                      <a:endParaRPr sz="458"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356</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dirty="0"/>
                        <a:t>18</a:t>
                      </a:r>
                      <a:endParaRPr sz="800" b="1" dirty="0"/>
                    </a:p>
                  </a:txBody>
                  <a:tcPr marL="36000" marR="36000" marT="36000" marB="36000" anchor="ctr"/>
                </a:tc>
                <a:tc gridSpan="2" vMerge="1">
                  <a:txBody>
                    <a:bodyPr/>
                    <a:lstStyle/>
                    <a:p>
                      <a:endParaRPr lang="ko-Kore-KR"/>
                    </a:p>
                  </a:txBody>
                  <a:tcPr/>
                </a:tc>
                <a:tc hMerge="1" v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176</a:t>
                      </a:r>
                      <a:endParaRPr sz="458"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176</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ATC</a:t>
                      </a:r>
                      <a:endParaRPr b="1" dirty="0"/>
                    </a:p>
                    <a:p>
                      <a:pPr marL="0" marR="0" lvl="0" indent="0" algn="ctr" rtl="0">
                        <a:spcBef>
                          <a:spcPts val="0"/>
                        </a:spcBef>
                        <a:spcAft>
                          <a:spcPts val="0"/>
                        </a:spcAft>
                        <a:buNone/>
                      </a:pPr>
                      <a:r>
                        <a:rPr lang="en-US" sz="800" b="1" dirty="0">
                          <a:solidFill>
                            <a:srgbClr val="0070C0"/>
                          </a:solidFill>
                        </a:rPr>
                        <a:t>(7000)</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176</a:t>
                      </a: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CBE</a:t>
                      </a:r>
                      <a:r>
                        <a:rPr lang="en-US" sz="800" b="0" dirty="0">
                          <a:solidFill>
                            <a:schemeClr val="dk1"/>
                          </a:solidFill>
                        </a:rPr>
                        <a:t> </a:t>
                      </a:r>
                      <a:r>
                        <a:rPr lang="en-US" sz="800" b="1" dirty="0">
                          <a:solidFill>
                            <a:srgbClr val="0070C0"/>
                          </a:solidFill>
                        </a:rPr>
                        <a:t>117.8</a:t>
                      </a:r>
                      <a:endParaRPr sz="800" dirty="0"/>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dirty="0">
                          <a:solidFill>
                            <a:srgbClr val="C00000"/>
                          </a:solidFill>
                        </a:rPr>
                        <a:t>18 109.7</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36 111.9</a:t>
                      </a:r>
                      <a:endParaRPr sz="800" b="1" dirty="0">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36(15’)</a:t>
                      </a:r>
                      <a:endParaRPr sz="458"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11483’</a:t>
                      </a:r>
                      <a:endParaRPr sz="458"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18(15’)</a:t>
                      </a:r>
                      <a:endParaRPr sz="458" dirty="0">
                        <a:solidFill>
                          <a:srgbClr val="00B05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1447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30min, Prepare Intersection T/O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01" name="Google Shape;301;p19"/>
          <p:cNvGraphicFramePr/>
          <p:nvPr>
            <p:extLst>
              <p:ext uri="{D42A27DB-BD31-4B8C-83A1-F6EECF244321}">
                <p14:modId xmlns:p14="http://schemas.microsoft.com/office/powerpoint/2010/main" val="2642066230"/>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RJGG(NGO) 12ft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l" rtl="0">
                        <a:spcBef>
                          <a:spcPts val="0"/>
                        </a:spcBef>
                        <a:spcAft>
                          <a:spcPts val="0"/>
                        </a:spcAft>
                        <a:buNone/>
                      </a:pPr>
                      <a:r>
                        <a:rPr lang="en-US" altLang="ko-Kore-KR" sz="700" dirty="0"/>
                        <a:t>SWISSPORT OPERATION</a:t>
                      </a:r>
                      <a:r>
                        <a:rPr lang="en-US" altLang="ko-Kore-KR" sz="900" dirty="0"/>
                        <a:t>      </a:t>
                      </a:r>
                    </a:p>
                    <a:p>
                      <a:pPr marL="0" marR="0" lvl="0" indent="0" algn="l" rtl="0">
                        <a:spcBef>
                          <a:spcPts val="0"/>
                        </a:spcBef>
                        <a:spcAft>
                          <a:spcPts val="0"/>
                        </a:spcAft>
                        <a:buNone/>
                      </a:pPr>
                      <a:r>
                        <a:rPr lang="en-US" altLang="ko-Kore-KR" sz="900" dirty="0"/>
                        <a:t>   132.05    </a:t>
                      </a:r>
                      <a:r>
                        <a:rPr lang="en-US" sz="700" dirty="0">
                          <a:solidFill>
                            <a:srgbClr val="FF0000"/>
                          </a:solidFill>
                        </a:rPr>
                        <a:t>DCL -15분</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03" name="Google Shape;303;p19"/>
          <p:cNvGraphicFramePr/>
          <p:nvPr>
            <p:extLst>
              <p:ext uri="{D42A27DB-BD31-4B8C-83A1-F6EECF244321}">
                <p14:modId xmlns:p14="http://schemas.microsoft.com/office/powerpoint/2010/main" val="3777137728"/>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291CF481-65C3-26D3-95AE-3671F3B5E010}"/>
              </a:ext>
            </a:extLst>
          </p:cNvPr>
          <p:cNvSpPr txBox="1"/>
          <p:nvPr/>
        </p:nvSpPr>
        <p:spPr>
          <a:xfrm>
            <a:off x="27922" y="2473269"/>
            <a:ext cx="1632178"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120.0</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TKO 1</a:t>
            </a:r>
            <a:r>
              <a:rPr kumimoji="1" lang="en-US" altLang="ko-KR" sz="700" b="1" u="sng" dirty="0">
                <a:solidFill>
                  <a:srgbClr val="0070C0"/>
                </a:solidFill>
                <a:latin typeface="Gulim" panose="020B0600000101010101" pitchFamily="34" charset="-127"/>
                <a:ea typeface="Gulim" panose="020B0600000101010101" pitchFamily="34" charset="-127"/>
              </a:rPr>
              <a:t>33</a:t>
            </a:r>
            <a:r>
              <a:rPr kumimoji="1" lang="en-US" altLang="ko-Kore-KR" sz="700" b="1" u="sng" dirty="0">
                <a:solidFill>
                  <a:srgbClr val="0070C0"/>
                </a:solidFill>
                <a:latin typeface="Gulim" panose="020B0600000101010101" pitchFamily="34" charset="-127"/>
                <a:ea typeface="Gulim" panose="020B0600000101010101" pitchFamily="34" charset="-127"/>
              </a:rPr>
              <a:t>.5</a:t>
            </a:r>
            <a:r>
              <a:rPr kumimoji="1" lang="en-US" altLang="ko-KR" sz="700" b="1" u="sng" dirty="0">
                <a:solidFill>
                  <a:srgbClr val="0070C0"/>
                </a:solidFill>
                <a:latin typeface="Gulim" panose="020B0600000101010101" pitchFamily="34" charset="-127"/>
                <a:ea typeface="Gulim" panose="020B0600000101010101" pitchFamily="34" charset="-127"/>
              </a:rPr>
              <a:t>5</a:t>
            </a:r>
            <a:r>
              <a:rPr kumimoji="1" lang="en-US" altLang="ko-Kore-KR" sz="700" b="1" u="sng" dirty="0">
                <a:solidFill>
                  <a:srgbClr val="0070C0"/>
                </a:solidFill>
                <a:latin typeface="Gulim" panose="020B0600000101010101" pitchFamily="34" charset="-127"/>
                <a:ea typeface="Gulim" panose="020B0600000101010101" pitchFamily="34" charset="-127"/>
              </a:rPr>
              <a:t> – </a:t>
            </a:r>
            <a:r>
              <a:rPr kumimoji="1" lang="en-US" altLang="ko-KR" sz="700" b="1" u="sng" dirty="0">
                <a:solidFill>
                  <a:srgbClr val="0070C0"/>
                </a:solidFill>
                <a:latin typeface="Gulim" panose="020B0600000101010101" pitchFamily="34" charset="-127"/>
                <a:ea typeface="Gulim" panose="020B0600000101010101" pitchFamily="34" charset="-127"/>
              </a:rPr>
              <a:t>1</a:t>
            </a:r>
            <a:r>
              <a:rPr kumimoji="1" lang="en-US" altLang="ko-Kore-KR" sz="700" b="1" u="sng" dirty="0">
                <a:solidFill>
                  <a:srgbClr val="0070C0"/>
                </a:solidFill>
                <a:latin typeface="Gulim" panose="020B0600000101010101" pitchFamily="34" charset="-127"/>
                <a:ea typeface="Gulim" panose="020B0600000101010101" pitchFamily="34" charset="-127"/>
              </a:rPr>
              <a:t>33.8 – 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20</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52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55C69C5F-473C-23C7-E8DB-164948105765}"/>
              </a:ext>
            </a:extLst>
          </p:cNvPr>
          <p:cNvSpPr/>
          <p:nvPr/>
        </p:nvSpPr>
        <p:spPr>
          <a:xfrm>
            <a:off x="1622852" y="2986202"/>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33D2B1E1-5D0A-9574-5547-A89097C5B4B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83064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graphicFrame>
        <p:nvGraphicFramePr>
          <p:cNvPr id="273" name="Google Shape;273;p16"/>
          <p:cNvGraphicFramePr/>
          <p:nvPr>
            <p:extLst>
              <p:ext uri="{D42A27DB-BD31-4B8C-83A1-F6EECF244321}">
                <p14:modId xmlns:p14="http://schemas.microsoft.com/office/powerpoint/2010/main" val="3153203903"/>
              </p:ext>
            </p:extLst>
          </p:nvPr>
        </p:nvGraphicFramePr>
        <p:xfrm>
          <a:off x="4410" y="3597139"/>
          <a:ext cx="2305886" cy="1924857"/>
        </p:xfrm>
        <a:graphic>
          <a:graphicData uri="http://schemas.openxmlformats.org/drawingml/2006/table">
            <a:tbl>
              <a:tblPr firstRow="1" bandRow="1">
                <a:noFill/>
                <a:tableStyleId>{A521BE36-7E6F-4EC9-8D66-1CF97A6895EC}</a:tableStyleId>
              </a:tblPr>
              <a:tblGrid>
                <a:gridCol w="419660">
                  <a:extLst>
                    <a:ext uri="{9D8B030D-6E8A-4147-A177-3AD203B41FA5}">
                      <a16:colId xmlns:a16="http://schemas.microsoft.com/office/drawing/2014/main" val="20000"/>
                    </a:ext>
                  </a:extLst>
                </a:gridCol>
                <a:gridCol w="618434">
                  <a:extLst>
                    <a:ext uri="{9D8B030D-6E8A-4147-A177-3AD203B41FA5}">
                      <a16:colId xmlns:a16="http://schemas.microsoft.com/office/drawing/2014/main" val="20001"/>
                    </a:ext>
                  </a:extLst>
                </a:gridCol>
                <a:gridCol w="362226">
                  <a:extLst>
                    <a:ext uri="{9D8B030D-6E8A-4147-A177-3AD203B41FA5}">
                      <a16:colId xmlns:a16="http://schemas.microsoft.com/office/drawing/2014/main" val="1384067485"/>
                    </a:ext>
                  </a:extLst>
                </a:gridCol>
                <a:gridCol w="905566">
                  <a:extLst>
                    <a:ext uri="{9D8B030D-6E8A-4147-A177-3AD203B41FA5}">
                      <a16:colId xmlns:a16="http://schemas.microsoft.com/office/drawing/2014/main" val="20005"/>
                    </a:ext>
                  </a:extLst>
                </a:gridCol>
              </a:tblGrid>
              <a:tr h="416456">
                <a:tc gridSpan="4">
                  <a:txBody>
                    <a:bodyPr/>
                    <a:lstStyle/>
                    <a:p>
                      <a:pPr marL="0" marR="0" lvl="0" indent="0" algn="ctr" rtl="0">
                        <a:spcBef>
                          <a:spcPts val="0"/>
                        </a:spcBef>
                        <a:spcAft>
                          <a:spcPts val="0"/>
                        </a:spcAft>
                        <a:buNone/>
                      </a:pPr>
                      <a:r>
                        <a:rPr lang="en-US" sz="800" dirty="0"/>
                        <a:t>FUK : RNAV STAR, RDR Vectoring from IKE</a:t>
                      </a:r>
                    </a:p>
                    <a:p>
                      <a:pPr marL="0" marR="0" lvl="0" indent="0" algn="ctr" rtl="0">
                        <a:spcBef>
                          <a:spcPts val="0"/>
                        </a:spcBef>
                        <a:spcAft>
                          <a:spcPts val="0"/>
                        </a:spcAft>
                        <a:buNone/>
                      </a:pPr>
                      <a:r>
                        <a:rPr lang="en-US" sz="800" dirty="0">
                          <a:solidFill>
                            <a:srgbClr val="FFC000"/>
                          </a:solidFill>
                        </a:rPr>
                        <a:t>(PAVGA 13000ft) </a:t>
                      </a:r>
                    </a:p>
                    <a:p>
                      <a:pPr marL="0" marR="0" lvl="0" indent="0" algn="ctr" rtl="0">
                        <a:spcBef>
                          <a:spcPts val="0"/>
                        </a:spcBef>
                        <a:spcAft>
                          <a:spcPts val="0"/>
                        </a:spcAft>
                        <a:buNone/>
                      </a:pPr>
                      <a:r>
                        <a:rPr lang="en-US" sz="800" dirty="0">
                          <a:solidFill>
                            <a:srgbClr val="FFC000"/>
                          </a:solidFill>
                        </a:rPr>
                        <a:t>Hold W of IKE published </a:t>
                      </a:r>
                      <a:r>
                        <a:rPr lang="en-US" sz="800" dirty="0">
                          <a:solidFill>
                            <a:srgbClr val="FF0000"/>
                          </a:solidFill>
                        </a:rPr>
                        <a:t>(Confirm FMS DATA)</a:t>
                      </a:r>
                      <a:endParaRPr sz="800" dirty="0">
                        <a:solidFill>
                          <a:srgbClr val="FF0000"/>
                        </a:solidFill>
                      </a:endParaRPr>
                    </a:p>
                  </a:txBody>
                  <a:tcPr marL="91450" marR="9145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76635">
                <a:tc>
                  <a:txBody>
                    <a:bodyPr/>
                    <a:lstStyle/>
                    <a:p>
                      <a:pPr marL="0" marR="0" lvl="0" indent="0" algn="ctr" rtl="0">
                        <a:spcBef>
                          <a:spcPts val="0"/>
                        </a:spcBef>
                        <a:spcAft>
                          <a:spcPts val="0"/>
                        </a:spcAft>
                        <a:buNone/>
                      </a:pPr>
                      <a:r>
                        <a:rPr lang="en-US" sz="800" b="1" dirty="0"/>
                        <a:t>16</a:t>
                      </a:r>
                      <a:endParaRPr sz="800" b="1" dirty="0"/>
                    </a:p>
                  </a:txBody>
                  <a:tcPr marL="0" marR="0" marT="36000" marB="36000" anchor="ctr"/>
                </a:tc>
                <a:tc>
                  <a:txBody>
                    <a:bodyPr/>
                    <a:lstStyle/>
                    <a:p>
                      <a:pPr marL="0" marR="0" lvl="0" indent="0" algn="ctr" rtl="0">
                        <a:spcBef>
                          <a:spcPts val="0"/>
                        </a:spcBef>
                        <a:spcAft>
                          <a:spcPts val="0"/>
                        </a:spcAft>
                        <a:buNone/>
                      </a:pPr>
                      <a:r>
                        <a:rPr lang="en-US" sz="800" b="0" dirty="0"/>
                        <a:t>SARUP</a:t>
                      </a:r>
                    </a:p>
                  </a:txBody>
                  <a:tcPr marL="0" marR="0" marT="36000" marB="36000" anchor="ctr"/>
                </a:tc>
                <a:tc>
                  <a:txBody>
                    <a:bodyPr/>
                    <a:lstStyle/>
                    <a:p>
                      <a:pPr marL="0" marR="0" lvl="0" indent="0" algn="ctr" rtl="0">
                        <a:spcBef>
                          <a:spcPts val="0"/>
                        </a:spcBef>
                        <a:spcAft>
                          <a:spcPts val="0"/>
                        </a:spcAft>
                        <a:buNone/>
                      </a:pPr>
                      <a:r>
                        <a:rPr lang="en-US" altLang="ko-Kore-KR" sz="800" b="0" dirty="0"/>
                        <a:t>ENTIX </a:t>
                      </a:r>
                      <a:endParaRPr lang="en-US" sz="800" b="0" dirty="0"/>
                    </a:p>
                  </a:txBody>
                  <a:tcPr marL="0" marR="0" marT="36000" marB="36000" anchor="ctr"/>
                </a:tc>
                <a:tc>
                  <a:txBody>
                    <a:bodyPr/>
                    <a:lstStyle/>
                    <a:p>
                      <a:pPr marL="0" marR="0" lvl="0" indent="0" algn="ctr" rtl="0">
                        <a:spcBef>
                          <a:spcPts val="0"/>
                        </a:spcBef>
                        <a:spcAft>
                          <a:spcPts val="0"/>
                        </a:spcAft>
                        <a:buNone/>
                      </a:pPr>
                      <a:r>
                        <a:rPr lang="en-US" sz="800" b="0" dirty="0">
                          <a:solidFill>
                            <a:schemeClr val="dk1"/>
                          </a:solidFill>
                        </a:rPr>
                        <a:t>ILS, RNP, LOC 16</a:t>
                      </a:r>
                      <a:endParaRPr sz="800" b="0" dirty="0">
                        <a:solidFill>
                          <a:srgbClr val="0070C0"/>
                        </a:solidFill>
                      </a:endParaRPr>
                    </a:p>
                  </a:txBody>
                  <a:tcPr marL="0" marR="0" marT="36000" marB="36000" anchor="ctr"/>
                </a:tc>
                <a:extLst>
                  <a:ext uri="{0D108BD9-81ED-4DB2-BD59-A6C34878D82A}">
                    <a16:rowId xmlns:a16="http://schemas.microsoft.com/office/drawing/2014/main" val="10001"/>
                  </a:ext>
                </a:extLst>
              </a:tr>
              <a:tr h="287687">
                <a:tc>
                  <a:txBody>
                    <a:bodyPr/>
                    <a:lstStyle/>
                    <a:p>
                      <a:pPr marL="0" marR="0" lvl="0" indent="0" algn="ctr" rtl="0">
                        <a:spcBef>
                          <a:spcPts val="0"/>
                        </a:spcBef>
                        <a:spcAft>
                          <a:spcPts val="0"/>
                        </a:spcAft>
                        <a:buNone/>
                      </a:pPr>
                      <a:r>
                        <a:rPr lang="en-US" sz="800" b="0" dirty="0"/>
                        <a:t>34</a:t>
                      </a:r>
                      <a:endParaRPr sz="800" b="0" dirty="0"/>
                    </a:p>
                  </a:txBody>
                  <a:tcPr marL="0" marR="0" marT="36000" marB="36000" anchor="ctr"/>
                </a:tc>
                <a:tc>
                  <a:txBody>
                    <a:bodyPr/>
                    <a:lstStyle/>
                    <a:p>
                      <a:pPr marL="0" marR="0" lvl="0" indent="0" algn="ctr" rtl="0">
                        <a:spcBef>
                          <a:spcPts val="0"/>
                        </a:spcBef>
                        <a:spcAft>
                          <a:spcPts val="0"/>
                        </a:spcAft>
                        <a:buNone/>
                      </a:pPr>
                      <a:r>
                        <a:rPr lang="en-US" sz="800" b="1" dirty="0"/>
                        <a:t>V34</a:t>
                      </a:r>
                    </a:p>
                    <a:p>
                      <a:pPr marL="0" marR="0" lvl="0" indent="0" algn="ctr" rtl="0">
                        <a:spcBef>
                          <a:spcPts val="0"/>
                        </a:spcBef>
                        <a:spcAft>
                          <a:spcPts val="0"/>
                        </a:spcAft>
                        <a:buNone/>
                      </a:pPr>
                      <a:r>
                        <a:rPr lang="en-US" sz="800" b="0" dirty="0"/>
                        <a:t>HAWKS WEST</a:t>
                      </a:r>
                    </a:p>
                  </a:txBody>
                  <a:tcPr marL="0" marR="0" marT="36000" marB="36000" anchor="ctr"/>
                </a:tc>
                <a:tc>
                  <a:txBody>
                    <a:bodyPr/>
                    <a:lstStyle/>
                    <a:p>
                      <a:pPr marL="0" marR="0" lvl="0" indent="0" algn="ctr" rtl="0">
                        <a:spcBef>
                          <a:spcPts val="0"/>
                        </a:spcBef>
                        <a:spcAft>
                          <a:spcPts val="0"/>
                        </a:spcAft>
                        <a:buNone/>
                      </a:pPr>
                      <a:r>
                        <a:rPr lang="en-US" altLang="ko-Kore-KR" sz="800" b="1" dirty="0"/>
                        <a:t>RWY34</a:t>
                      </a:r>
                    </a:p>
                    <a:p>
                      <a:pPr marL="0" marR="0" lvl="0" indent="0" algn="ctr" rtl="0">
                        <a:spcBef>
                          <a:spcPts val="0"/>
                        </a:spcBef>
                        <a:spcAft>
                          <a:spcPts val="0"/>
                        </a:spcAft>
                        <a:buNone/>
                      </a:pPr>
                      <a:r>
                        <a:rPr lang="en-US" altLang="ko-Kore-KR" sz="800" b="0" dirty="0"/>
                        <a:t>HAWKS</a:t>
                      </a:r>
                      <a:endParaRPr lang="en-US" sz="800" b="0" dirty="0"/>
                    </a:p>
                  </a:txBody>
                  <a:tcPr marL="0" marR="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VIS 34</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ILS, RNP, LOC 34</a:t>
                      </a: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extLst>
                  <a:ext uri="{0D108BD9-81ED-4DB2-BD59-A6C34878D82A}">
                    <a16:rowId xmlns:a16="http://schemas.microsoft.com/office/drawing/2014/main" val="10002"/>
                  </a:ext>
                </a:extLst>
              </a:tr>
              <a:tr h="197771">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0" marR="0" marT="36000" marB="36000" anchor="ctr">
                    <a:solidFill>
                      <a:schemeClr val="accent1"/>
                    </a:solidFill>
                  </a:tcPr>
                </a:tc>
                <a:tc grid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1" dirty="0">
                          <a:solidFill>
                            <a:srgbClr val="00B050"/>
                          </a:solidFill>
                        </a:rPr>
                        <a:t>  16(15’)                 9186’</a:t>
                      </a:r>
                      <a:r>
                        <a:rPr lang="en-US" altLang="ko-Kore-KR" sz="800" b="1" dirty="0">
                          <a:solidFill>
                            <a:srgbClr val="00B050"/>
                          </a:solidFill>
                        </a:rPr>
                        <a:t>                34(32’)</a:t>
                      </a:r>
                    </a:p>
                  </a:txBody>
                  <a:tcPr marL="0" marR="0" marT="36000" marB="36000" anchor="ctr"/>
                </a:tc>
                <a:tc hMerge="1">
                  <a:txBody>
                    <a:bodyPr/>
                    <a:lstStyle/>
                    <a:p>
                      <a:endParaRPr lang="ko-Kore-KR" altLang="en-US"/>
                    </a:p>
                  </a:txBody>
                  <a:tcPr/>
                </a:tc>
                <a:tc hMerge="1">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B050"/>
                          </a:solidFill>
                        </a:rPr>
                        <a:t> 24R(305’) 12014’</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24L(293’) 8710’ </a:t>
                      </a:r>
                      <a:r>
                        <a:rPr lang="en-US" sz="800" b="1" dirty="0">
                          <a:solidFill>
                            <a:srgbClr val="C00000"/>
                          </a:solidFill>
                        </a:rPr>
                        <a:t>DIS TH</a:t>
                      </a:r>
                      <a:endParaRPr sz="800" b="1" dirty="0">
                        <a:solidFill>
                          <a:srgbClr val="C00000"/>
                        </a:solidFill>
                      </a:endParaRPr>
                    </a:p>
                  </a:txBody>
                  <a:tcPr marL="0" marR="0" marT="36000" marB="36000" anchor="ctr"/>
                </a:tc>
                <a:extLst>
                  <a:ext uri="{0D108BD9-81ED-4DB2-BD59-A6C34878D82A}">
                    <a16:rowId xmlns:a16="http://schemas.microsoft.com/office/drawing/2014/main" val="10004"/>
                  </a:ext>
                </a:extLst>
              </a:tr>
              <a:tr h="20043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16 : C6</a:t>
                      </a:r>
                      <a:r>
                        <a:rPr lang="en-US" sz="800" b="1" dirty="0">
                          <a:solidFill>
                            <a:schemeClr val="dk1"/>
                          </a:solidFill>
                        </a:rPr>
                        <a:t>(5505’), C7(6407’),  34 : C4(5193’), C3(6354’)</a:t>
                      </a:r>
                      <a:endParaRPr dirty="0"/>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50979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rgbClr val="C00000"/>
                          </a:solidFill>
                        </a:rPr>
                        <a:t>DGC VOR out of 6NM A/P</a:t>
                      </a: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tx1"/>
                          </a:solidFill>
                        </a:rPr>
                        <a:t>VIS 34 : </a:t>
                      </a:r>
                      <a:r>
                        <a:rPr lang="en-US" sz="800" b="0" dirty="0">
                          <a:solidFill>
                            <a:srgbClr val="0070C0"/>
                          </a:solidFill>
                        </a:rPr>
                        <a:t>After IKE – RDR Vector Downwind – 1800ft – RWY Insight 1500</a:t>
                      </a:r>
                      <a:r>
                        <a:rPr lang="en-US" altLang="ko-KR" sz="800" b="0" dirty="0">
                          <a:solidFill>
                            <a:srgbClr val="0070C0"/>
                          </a:solidFill>
                        </a:rPr>
                        <a:t>ft – Before L/D CHK Complete before base (Do not Extend Downwind due Terrain)</a:t>
                      </a:r>
                      <a:endParaRPr sz="800"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3161901041"/>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bg1"/>
                          </a:solidFill>
                          <a:hlinkClick r:id="rId3">
                            <a:extLst>
                              <a:ext uri="{A12FA001-AC4F-418D-AE19-62706E023703}">
                                <ahyp:hlinkClr xmlns:ahyp="http://schemas.microsoft.com/office/drawing/2018/hyperlinkcolor" val="tx"/>
                              </a:ext>
                            </a:extLst>
                          </a:hlinkClick>
                        </a:rPr>
                        <a:t>RKSI(ICN) 23ft</a:t>
                      </a:r>
                      <a:endParaRP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400" dirty="0">
                          <a:solidFill>
                            <a:schemeClr val="bg1"/>
                          </a:solidFill>
                          <a:hlinkClick r:id="rId4">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FUK 132.05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76" name="Google Shape;276;p16"/>
          <p:cNvGraphicFramePr/>
          <p:nvPr>
            <p:extLst>
              <p:ext uri="{D42A27DB-BD31-4B8C-83A1-F6EECF244321}">
                <p14:modId xmlns:p14="http://schemas.microsoft.com/office/powerpoint/2010/main" val="3586232075"/>
              </p:ext>
            </p:extLst>
          </p:nvPr>
        </p:nvGraphicFramePr>
        <p:xfrm>
          <a:off x="0" y="635155"/>
          <a:ext cx="2332925" cy="2447105"/>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33L </a:t>
                      </a:r>
                      <a:endParaRPr dirty="0"/>
                    </a:p>
                    <a:p>
                      <a:pPr marL="0" marR="0" lvl="0" indent="0" algn="ctr" rtl="0">
                        <a:spcBef>
                          <a:spcPts val="0"/>
                        </a:spcBef>
                        <a:spcAft>
                          <a:spcPts val="0"/>
                        </a:spcAft>
                        <a:buNone/>
                      </a:pPr>
                      <a:r>
                        <a:rPr lang="en-US" sz="800" b="1" dirty="0">
                          <a:solidFill>
                            <a:srgbClr val="C00000"/>
                          </a:solidFill>
                        </a:rPr>
                        <a:t>109.3</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15L 111.9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16R</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0" marB="36000" anchor="ctr">
                    <a:solidFill>
                      <a:schemeClr val="accent1"/>
                    </a:solidFill>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33L/R 34L(23’)</a:t>
                      </a:r>
                      <a:endParaRPr sz="458" dirty="0">
                        <a:solidFill>
                          <a:srgbClr val="00B050"/>
                        </a:solidFill>
                      </a:endParaRPr>
                    </a:p>
                  </a:txBody>
                  <a:tcPr marL="36000" marR="36000" marT="0" marB="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12303’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15L/R 16R(23’)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0" marB="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13123’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16L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97737AA9-1E71-11AA-29CE-CB99BAAC9983}"/>
              </a:ext>
            </a:extLst>
          </p:cNvPr>
          <p:cNvSpPr txBox="1"/>
          <p:nvPr/>
        </p:nvSpPr>
        <p:spPr>
          <a:xfrm>
            <a:off x="-69798" y="3044765"/>
            <a:ext cx="15167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Kobe 118.9 - FUK APP 119.65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RDR – 121.125</a:t>
            </a:r>
          </a:p>
        </p:txBody>
      </p:sp>
      <p:sp>
        <p:nvSpPr>
          <p:cNvPr id="4" name="직사각형 3">
            <a:hlinkClick r:id="" action="ppaction://hlinkshowjump?jump=firstslide"/>
            <a:extLst>
              <a:ext uri="{FF2B5EF4-FFF2-40B4-BE49-F238E27FC236}">
                <a16:creationId xmlns:a16="http://schemas.microsoft.com/office/drawing/2014/main" id="{4DBB501F-12C7-34CA-C78C-1FF1B317E880}"/>
              </a:ext>
            </a:extLst>
          </p:cNvPr>
          <p:cNvSpPr/>
          <p:nvPr/>
        </p:nvSpPr>
        <p:spPr>
          <a:xfrm>
            <a:off x="1622852" y="3229268"/>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AC10F70C-499F-1525-282C-0C96F903AE7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977262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1763319469"/>
              </p:ext>
            </p:extLst>
          </p:nvPr>
        </p:nvGraphicFramePr>
        <p:xfrm>
          <a:off x="6595" y="623810"/>
          <a:ext cx="2330925" cy="1620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378631">
                  <a:extLst>
                    <a:ext uri="{9D8B030D-6E8A-4147-A177-3AD203B41FA5}">
                      <a16:colId xmlns:a16="http://schemas.microsoft.com/office/drawing/2014/main" val="20002"/>
                    </a:ext>
                  </a:extLst>
                </a:gridCol>
                <a:gridCol w="295965">
                  <a:extLst>
                    <a:ext uri="{9D8B030D-6E8A-4147-A177-3AD203B41FA5}">
                      <a16:colId xmlns:a16="http://schemas.microsoft.com/office/drawing/2014/main" val="20004"/>
                    </a:ext>
                  </a:extLst>
                </a:gridCol>
                <a:gridCol w="277854">
                  <a:extLst>
                    <a:ext uri="{9D8B030D-6E8A-4147-A177-3AD203B41FA5}">
                      <a16:colId xmlns:a16="http://schemas.microsoft.com/office/drawing/2014/main" val="20005"/>
                    </a:ext>
                  </a:extLst>
                </a:gridCol>
                <a:gridCol w="395375">
                  <a:extLst>
                    <a:ext uri="{9D8B030D-6E8A-4147-A177-3AD203B41FA5}">
                      <a16:colId xmlns:a16="http://schemas.microsoft.com/office/drawing/2014/main" val="20007"/>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8">
                  <a:txBody>
                    <a:bodyPr/>
                    <a:lstStyle/>
                    <a:p>
                      <a:pPr marL="0" marR="0" lvl="0" indent="0" algn="ctr" rtl="0">
                        <a:spcBef>
                          <a:spcPts val="0"/>
                        </a:spcBef>
                        <a:spcAft>
                          <a:spcPts val="0"/>
                        </a:spcAft>
                        <a:buNone/>
                      </a:pPr>
                      <a:r>
                        <a:rPr lang="en-US" sz="800" dirty="0"/>
                        <a:t>FUK : SID </a:t>
                      </a:r>
                      <a:r>
                        <a:rPr lang="en-US" sz="800" dirty="0">
                          <a:solidFill>
                            <a:srgbClr val="FFC000"/>
                          </a:solidFill>
                        </a:rPr>
                        <a:t>(Consider C2, C8 Intersection T/O)</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16</a:t>
                      </a:r>
                      <a:endParaRPr sz="800" b="1" dirty="0"/>
                    </a:p>
                  </a:txBody>
                  <a:tcPr marL="36000" marR="36000" marT="36000" marB="36000" anchor="ctr"/>
                </a:tc>
                <a:tc rowSpan="2" gridSpan="2">
                  <a:txBody>
                    <a:bodyPr/>
                    <a:lstStyle/>
                    <a:p>
                      <a:pPr marL="0" marR="0" lvl="0" indent="0" algn="ctr" rtl="0">
                        <a:spcBef>
                          <a:spcPts val="0"/>
                        </a:spcBef>
                        <a:spcAft>
                          <a:spcPts val="0"/>
                        </a:spcAft>
                        <a:buNone/>
                      </a:pPr>
                      <a:r>
                        <a:rPr lang="en-US" sz="800" b="1" dirty="0">
                          <a:solidFill>
                            <a:srgbClr val="0070C0"/>
                          </a:solidFill>
                        </a:rPr>
                        <a:t>HAKATA xx</a:t>
                      </a:r>
                      <a:endParaRPr sz="800" b="1" dirty="0">
                        <a:solidFill>
                          <a:srgbClr val="0070C0"/>
                        </a:solidFill>
                      </a:endParaRPr>
                    </a:p>
                  </a:txBody>
                  <a:tcPr marL="36000" marR="36000" marT="36000" marB="36000" anchor="ctr"/>
                </a:tc>
                <a:tc rowSpan="2"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158</a:t>
                      </a:r>
                      <a:endParaRPr sz="458" b="1" dirty="0">
                        <a:solidFill>
                          <a:srgbClr val="0070C0"/>
                        </a:solidFill>
                      </a:endParaRPr>
                    </a:p>
                  </a:txBody>
                  <a:tcPr marL="36000" marR="36000" marT="36000" marB="36000" anchor="ctr"/>
                </a:tc>
                <a:tc>
                  <a:txBody>
                    <a:bodyPr/>
                    <a:lstStyle/>
                    <a:p>
                      <a:pPr algn="ctr"/>
                      <a:r>
                        <a:rPr lang="en-US" altLang="ko-Kore-KR" sz="800" b="1" dirty="0"/>
                        <a:t>158</a:t>
                      </a:r>
                      <a:endParaRPr lang="ko-Kore-KR" dirty="0"/>
                    </a:p>
                  </a:txBody>
                  <a:tcPr marL="36000" marR="36000" marT="36000" marB="36000" anchor="ctr"/>
                </a:tc>
                <a:tc gridSpan="2">
                  <a:txBody>
                    <a:bodyPr/>
                    <a:lstStyle/>
                    <a:p>
                      <a:pPr algn="ctr"/>
                      <a:r>
                        <a:rPr lang="en-US" sz="800" b="1" dirty="0">
                          <a:solidFill>
                            <a:srgbClr val="0070C0"/>
                          </a:solidFill>
                        </a:rPr>
                        <a:t>ATC (10000)</a:t>
                      </a:r>
                      <a:endParaRPr lang="ko-Kore-K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158</a:t>
                      </a:r>
                      <a:endParaRPr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dirty="0"/>
                        <a:t>34</a:t>
                      </a:r>
                      <a:endParaRPr sz="800" b="0" dirty="0"/>
                    </a:p>
                  </a:txBody>
                  <a:tcPr marL="36000" marR="36000" marT="36000" marB="36000" anchor="ctr"/>
                </a:tc>
                <a:tc gridSpan="2" vMerge="1">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hMerge="1" v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338</a:t>
                      </a:r>
                      <a:endParaRPr sz="458" b="1" dirty="0">
                        <a:solidFill>
                          <a:srgbClr val="0070C0"/>
                        </a:solidFill>
                      </a:endParaRPr>
                    </a:p>
                  </a:txBody>
                  <a:tcPr marL="36000" marR="36000" marT="36000" marB="36000" anchor="ctr"/>
                </a:tc>
                <a:tc>
                  <a:txBody>
                    <a:bodyPr/>
                    <a:lstStyle/>
                    <a:p>
                      <a:pPr algn="ctr"/>
                      <a:r>
                        <a:rPr lang="en-US" altLang="ko-Kore-KR" sz="800" b="1" dirty="0"/>
                        <a:t>338</a:t>
                      </a:r>
                      <a:endParaRPr lang="ko-Kore-KR" dirty="0"/>
                    </a:p>
                  </a:txBody>
                  <a:tcPr marL="36000" marR="36000" marT="36000" marB="36000" anchor="ctr"/>
                </a:tc>
                <a:tc gridSpan="2">
                  <a:txBody>
                    <a:bodyPr/>
                    <a:lstStyle/>
                    <a:p>
                      <a:pPr algn="ctr"/>
                      <a:r>
                        <a:rPr lang="en-US" sz="800" b="1" dirty="0">
                          <a:solidFill>
                            <a:srgbClr val="0070C0"/>
                          </a:solidFill>
                        </a:rPr>
                        <a:t>ATC (10000)</a:t>
                      </a:r>
                      <a:endParaRPr lang="ko-Kore-K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338</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15700">
                <a:tc gridSpan="4">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DGC 114.5</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16 111.7</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34 108.9</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dirty="0"/>
                        <a:t>16</a:t>
                      </a:r>
                      <a:r>
                        <a:rPr lang="en-US" sz="800" dirty="0"/>
                        <a:t> : DGC 156/20 R240 </a:t>
                      </a:r>
                      <a:r>
                        <a:rPr lang="en-US" altLang="ko-Kore-KR" sz="800" b="0" dirty="0">
                          <a:solidFill>
                            <a:srgbClr val="C00000"/>
                          </a:solidFill>
                        </a:rPr>
                        <a:t>(DGC VOR out of 6NM A/P)</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6">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solidFill>
                            <a:srgbClr val="00B050"/>
                          </a:solidFill>
                        </a:rPr>
                        <a:t> 16(15’)                 9186’                34(32’)</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24R(305’) 8530’</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24L(293’) 8999’</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Caution GP HOLD LINE</a:t>
                      </a:r>
                    </a:p>
                    <a:p>
                      <a:pPr marL="0" marR="0" lvl="0" indent="0" algn="ctr" rtl="0">
                        <a:lnSpc>
                          <a:spcPct val="100000"/>
                        </a:lnSpc>
                        <a:spcBef>
                          <a:spcPts val="0"/>
                        </a:spcBef>
                        <a:spcAft>
                          <a:spcPts val="0"/>
                        </a:spcAft>
                        <a:buClr>
                          <a:schemeClr val="dk1"/>
                        </a:buClr>
                        <a:buSzPts val="800"/>
                        <a:buFont typeface="Calibri"/>
                        <a:buNone/>
                      </a:pPr>
                      <a:r>
                        <a:rPr lang="en-US" sz="800" dirty="0"/>
                        <a:t>Initial CTC TWR, “Ready for departure”</a:t>
                      </a:r>
                    </a:p>
                    <a:p>
                      <a:pPr marL="0" marR="0" lvl="0" indent="0" algn="ctr" rtl="0">
                        <a:lnSpc>
                          <a:spcPct val="100000"/>
                        </a:lnSpc>
                        <a:spcBef>
                          <a:spcPts val="0"/>
                        </a:spcBef>
                        <a:spcAft>
                          <a:spcPts val="0"/>
                        </a:spcAft>
                        <a:buClr>
                          <a:schemeClr val="dk1"/>
                        </a:buClr>
                        <a:buSzPts val="800"/>
                        <a:buFont typeface="Calibri"/>
                        <a:buNone/>
                      </a:pPr>
                      <a:r>
                        <a:rPr lang="en-US" sz="800" dirty="0"/>
                        <a:t>RWSL(Runway Status Lights) in operation</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3" name="Google Shape;283;p17"/>
          <p:cNvGraphicFramePr/>
          <p:nvPr/>
        </p:nvGraphicFramePr>
        <p:xfrm>
          <a:off x="11589" y="342339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84" name="Google Shape;284;p17"/>
          <p:cNvGraphicFramePr/>
          <p:nvPr>
            <p:extLst>
              <p:ext uri="{D42A27DB-BD31-4B8C-83A1-F6EECF244321}">
                <p14:modId xmlns:p14="http://schemas.microsoft.com/office/powerpoint/2010/main" val="2648965937"/>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400" dirty="0">
                          <a:solidFill>
                            <a:schemeClr val="bg1"/>
                          </a:solidFill>
                          <a:hlinkClick r:id="rId3">
                            <a:extLst>
                              <a:ext uri="{A12FA001-AC4F-418D-AE19-62706E023703}">
                                <ahyp:hlinkClr xmlns:ahyp="http://schemas.microsoft.com/office/drawing/2018/hyperlinkcolor" val="tx"/>
                              </a:ext>
                            </a:extLst>
                          </a:hlinkClick>
                        </a:rPr>
                        <a:t>RJFF(FUK) 30ft</a:t>
                      </a:r>
                      <a:endParaRPr lang="en-US" altLang="ko-Kore-KR" sz="14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900" dirty="0"/>
                        <a:t>KE FUK 132.05</a:t>
                      </a:r>
                    </a:p>
                    <a:p>
                      <a:pPr marL="0" marR="0" lvl="0" indent="0" algn="ctr" rtl="0">
                        <a:spcBef>
                          <a:spcPts val="0"/>
                        </a:spcBef>
                        <a:spcAft>
                          <a:spcPts val="0"/>
                        </a:spcAft>
                        <a:buNone/>
                      </a:pPr>
                      <a:r>
                        <a:rPr lang="en-US" sz="700" dirty="0">
                          <a:solidFill>
                            <a:srgbClr val="FF0000"/>
                          </a:solidFill>
                        </a:rPr>
                        <a:t>DCL -15min, Voice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2C10DF35-4C8C-4BCD-35BF-D473906D8D90}"/>
              </a:ext>
            </a:extLst>
          </p:cNvPr>
          <p:cNvSpPr txBox="1"/>
          <p:nvPr/>
        </p:nvSpPr>
        <p:spPr>
          <a:xfrm>
            <a:off x="1313820" y="2239966"/>
            <a:ext cx="1764127" cy="532316"/>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127.9</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Kobe 1</a:t>
            </a:r>
            <a:r>
              <a:rPr kumimoji="1" lang="en-US" altLang="ko-KR" sz="700" b="1" u="sng" dirty="0">
                <a:solidFill>
                  <a:srgbClr val="0070C0"/>
                </a:solidFill>
                <a:latin typeface="Gulim" panose="020B0600000101010101" pitchFamily="34" charset="-127"/>
                <a:ea typeface="Gulim" panose="020B0600000101010101" pitchFamily="34" charset="-127"/>
              </a:rPr>
              <a:t>35</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65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125.37</a:t>
            </a:r>
          </a:p>
        </p:txBody>
      </p:sp>
      <p:sp>
        <p:nvSpPr>
          <p:cNvPr id="3" name="직사각형 2">
            <a:hlinkClick r:id="" action="ppaction://hlinkshowjump?jump=firstslide"/>
            <a:extLst>
              <a:ext uri="{FF2B5EF4-FFF2-40B4-BE49-F238E27FC236}">
                <a16:creationId xmlns:a16="http://schemas.microsoft.com/office/drawing/2014/main" id="{D71BB25A-EB2C-6C8E-4320-E80D2FF5995A}"/>
              </a:ext>
            </a:extLst>
          </p:cNvPr>
          <p:cNvSpPr/>
          <p:nvPr/>
        </p:nvSpPr>
        <p:spPr>
          <a:xfrm>
            <a:off x="1622852" y="2986202"/>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EADFD83-B1ED-4336-4BA9-069594F75EC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지도, 텍스트, 도표, 아틀라스이(가) 표시된 사진&#10;&#10;자동 생성된 설명">
            <a:extLst>
              <a:ext uri="{FF2B5EF4-FFF2-40B4-BE49-F238E27FC236}">
                <a16:creationId xmlns:a16="http://schemas.microsoft.com/office/drawing/2014/main" id="{F2EF0B45-A026-4882-552D-AE9B1DD5ADFF}"/>
              </a:ext>
            </a:extLst>
          </p:cNvPr>
          <p:cNvPicPr>
            <a:picLocks noChangeAspect="1"/>
          </p:cNvPicPr>
          <p:nvPr/>
        </p:nvPicPr>
        <p:blipFill>
          <a:blip r:embed="rId7"/>
          <a:stretch>
            <a:fillRect/>
          </a:stretch>
        </p:blipFill>
        <p:spPr>
          <a:xfrm>
            <a:off x="6595" y="2239966"/>
            <a:ext cx="1232042" cy="1110658"/>
          </a:xfrm>
          <a:prstGeom prst="rect">
            <a:avLst/>
          </a:prstGeom>
        </p:spPr>
      </p:pic>
    </p:spTree>
    <p:extLst>
      <p:ext uri="{BB962C8B-B14F-4D97-AF65-F5344CB8AC3E}">
        <p14:creationId xmlns:p14="http://schemas.microsoft.com/office/powerpoint/2010/main" val="3128270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aphicFrame>
        <p:nvGraphicFramePr>
          <p:cNvPr id="327" name="Google Shape;327;p22"/>
          <p:cNvGraphicFramePr/>
          <p:nvPr>
            <p:extLst>
              <p:ext uri="{D42A27DB-BD31-4B8C-83A1-F6EECF244321}">
                <p14:modId xmlns:p14="http://schemas.microsoft.com/office/powerpoint/2010/main" val="1308219643"/>
              </p:ext>
            </p:extLst>
          </p:nvPr>
        </p:nvGraphicFramePr>
        <p:xfrm>
          <a:off x="0" y="622240"/>
          <a:ext cx="2332925" cy="26402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28" name="Google Shape;328;p22"/>
          <p:cNvGraphicFramePr/>
          <p:nvPr>
            <p:extLst>
              <p:ext uri="{D42A27DB-BD31-4B8C-83A1-F6EECF244321}">
                <p14:modId xmlns:p14="http://schemas.microsoft.com/office/powerpoint/2010/main" val="3173449557"/>
              </p:ext>
            </p:extLst>
          </p:nvPr>
        </p:nvGraphicFramePr>
        <p:xfrm>
          <a:off x="1596" y="3665660"/>
          <a:ext cx="2331375" cy="1914490"/>
        </p:xfrm>
        <a:graphic>
          <a:graphicData uri="http://schemas.openxmlformats.org/drawingml/2006/table">
            <a:tbl>
              <a:tblPr firstRow="1" bandRow="1">
                <a:noFill/>
                <a:tableStyleId>{A521BE36-7E6F-4EC9-8D66-1CF97A6895EC}</a:tableStyleId>
              </a:tblPr>
              <a:tblGrid>
                <a:gridCol w="461950">
                  <a:extLst>
                    <a:ext uri="{9D8B030D-6E8A-4147-A177-3AD203B41FA5}">
                      <a16:colId xmlns:a16="http://schemas.microsoft.com/office/drawing/2014/main" val="20000"/>
                    </a:ext>
                  </a:extLst>
                </a:gridCol>
                <a:gridCol w="703725">
                  <a:extLst>
                    <a:ext uri="{9D8B030D-6E8A-4147-A177-3AD203B41FA5}">
                      <a16:colId xmlns:a16="http://schemas.microsoft.com/office/drawing/2014/main" val="20001"/>
                    </a:ext>
                  </a:extLst>
                </a:gridCol>
                <a:gridCol w="470383">
                  <a:extLst>
                    <a:ext uri="{9D8B030D-6E8A-4147-A177-3AD203B41FA5}">
                      <a16:colId xmlns:a16="http://schemas.microsoft.com/office/drawing/2014/main" val="20002"/>
                    </a:ext>
                  </a:extLst>
                </a:gridCol>
                <a:gridCol w="695317">
                  <a:extLst>
                    <a:ext uri="{9D8B030D-6E8A-4147-A177-3AD203B41FA5}">
                      <a16:colId xmlns:a16="http://schemas.microsoft.com/office/drawing/2014/main" val="20003"/>
                    </a:ext>
                  </a:extLst>
                </a:gridCol>
              </a:tblGrid>
              <a:tr h="423574">
                <a:tc gridSpan="4">
                  <a:txBody>
                    <a:bodyPr/>
                    <a:lstStyle/>
                    <a:p>
                      <a:pPr marL="0" marR="0" lvl="0" indent="0" algn="ctr" rtl="0">
                        <a:spcBef>
                          <a:spcPts val="0"/>
                        </a:spcBef>
                        <a:spcAft>
                          <a:spcPts val="0"/>
                        </a:spcAft>
                        <a:buNone/>
                      </a:pPr>
                      <a:r>
                        <a:rPr lang="en-US" sz="800" dirty="0"/>
                        <a:t>AOJ : </a:t>
                      </a:r>
                      <a:r>
                        <a:rPr lang="en-US" sz="800" dirty="0">
                          <a:solidFill>
                            <a:srgbClr val="FFC000"/>
                          </a:solidFill>
                        </a:rPr>
                        <a:t>Obstacle Around Airport </a:t>
                      </a:r>
                      <a:r>
                        <a:rPr lang="en-US" sz="800" dirty="0">
                          <a:solidFill>
                            <a:srgbClr val="C00000"/>
                          </a:solidFill>
                        </a:rPr>
                        <a:t>(High FE, Cold Temp)</a:t>
                      </a:r>
                    </a:p>
                    <a:p>
                      <a:pPr marL="0" marR="0" lvl="0" indent="0" algn="ctr" rtl="0">
                        <a:spcBef>
                          <a:spcPts val="0"/>
                        </a:spcBef>
                        <a:spcAft>
                          <a:spcPts val="0"/>
                        </a:spcAft>
                        <a:buNone/>
                      </a:pPr>
                      <a:r>
                        <a:rPr lang="en-US" sz="800" dirty="0">
                          <a:solidFill>
                            <a:srgbClr val="FFC000"/>
                          </a:solidFill>
                        </a:rPr>
                        <a:t>Hold over MRE, MELOS, YACHI </a:t>
                      </a:r>
                      <a:r>
                        <a:rPr lang="en-US" altLang="ko-KR" sz="800" dirty="0">
                          <a:solidFill>
                            <a:srgbClr val="FFC000"/>
                          </a:solidFill>
                        </a:rPr>
                        <a:t>Confirm CRS, EFC</a:t>
                      </a:r>
                    </a:p>
                    <a:p>
                      <a:pPr marL="0" marR="0" lvl="0" indent="0" algn="ctr" rtl="0">
                        <a:spcBef>
                          <a:spcPts val="0"/>
                        </a:spcBef>
                        <a:spcAft>
                          <a:spcPts val="0"/>
                        </a:spcAft>
                        <a:buNone/>
                      </a:pPr>
                      <a:r>
                        <a:rPr lang="en-US" sz="800" dirty="0">
                          <a:solidFill>
                            <a:schemeClr val="bg1"/>
                          </a:solidFill>
                        </a:rPr>
                        <a:t>CAT II,III Request Before 15min By Com</a:t>
                      </a:r>
                      <a:endParaRPr sz="800" dirty="0">
                        <a:solidFill>
                          <a:schemeClr val="bg1"/>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92604">
                <a:tc>
                  <a:txBody>
                    <a:bodyPr/>
                    <a:lstStyle/>
                    <a:p>
                      <a:pPr marL="0" marR="0" lvl="0" indent="0" algn="ctr" rtl="0">
                        <a:spcBef>
                          <a:spcPts val="0"/>
                        </a:spcBef>
                        <a:spcAft>
                          <a:spcPts val="0"/>
                        </a:spcAft>
                        <a:buNone/>
                      </a:pPr>
                      <a:r>
                        <a:rPr lang="en-US" sz="800" b="1" dirty="0"/>
                        <a:t>24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NONE</a:t>
                      </a:r>
                      <a:endParaRPr sz="800" b="1" dirty="0"/>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MRE</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YACHI</a:t>
                      </a:r>
                    </a:p>
                  </a:txBody>
                  <a:tcPr marL="36000" marR="36000" marT="36000" marB="36000" anchor="ctr"/>
                </a:tc>
                <a:tc>
                  <a:txBody>
                    <a:bodyPr/>
                    <a:lstStyle/>
                    <a:p>
                      <a:pPr marL="0" marR="0" lvl="0" indent="0" algn="ctr" rtl="0">
                        <a:spcBef>
                          <a:spcPts val="0"/>
                        </a:spcBef>
                        <a:spcAft>
                          <a:spcPts val="0"/>
                        </a:spcAft>
                        <a:buNone/>
                      </a:pPr>
                      <a:r>
                        <a:rPr lang="en-US" sz="800" b="1" dirty="0"/>
                        <a:t>ILS Y/Z 24</a:t>
                      </a:r>
                    </a:p>
                    <a:p>
                      <a:pPr marL="0" marR="0" lvl="0" indent="0" algn="ctr" rtl="0">
                        <a:spcBef>
                          <a:spcPts val="0"/>
                        </a:spcBef>
                        <a:spcAft>
                          <a:spcPts val="0"/>
                        </a:spcAft>
                        <a:buNone/>
                      </a:pPr>
                      <a:r>
                        <a:rPr lang="en-US" sz="800" b="1" dirty="0"/>
                        <a:t>RNP Z 24 (AR)</a:t>
                      </a:r>
                      <a:endParaRPr sz="800" b="1" dirty="0"/>
                    </a:p>
                  </a:txBody>
                  <a:tcPr marL="36000" marR="36000" marT="36000" marB="36000" anchor="ctr"/>
                </a:tc>
                <a:extLst>
                  <a:ext uri="{0D108BD9-81ED-4DB2-BD59-A6C34878D82A}">
                    <a16:rowId xmlns:a16="http://schemas.microsoft.com/office/drawing/2014/main" val="10001"/>
                  </a:ext>
                </a:extLst>
              </a:tr>
              <a:tr h="292604">
                <a:tc>
                  <a:txBody>
                    <a:bodyPr/>
                    <a:lstStyle/>
                    <a:p>
                      <a:pPr marL="0" marR="0" lvl="0" indent="0" algn="ctr" rtl="0">
                        <a:spcBef>
                          <a:spcPts val="0"/>
                        </a:spcBef>
                        <a:spcAft>
                          <a:spcPts val="0"/>
                        </a:spcAft>
                        <a:buNone/>
                      </a:pPr>
                      <a:r>
                        <a:rPr lang="en-US" sz="800" b="1" dirty="0"/>
                        <a:t>06</a:t>
                      </a:r>
                      <a:endParaRPr dirty="0"/>
                    </a:p>
                  </a:txBody>
                  <a:tcPr marL="36000" marR="36000" marT="36000" marB="36000" anchor="ctr"/>
                </a:tc>
                <a:tc>
                  <a:txBody>
                    <a:bodyPr/>
                    <a:lstStyle/>
                    <a:p>
                      <a:pPr marL="0" marR="0" lvl="0" indent="0" algn="ctr" rtl="0">
                        <a:spcBef>
                          <a:spcPts val="0"/>
                        </a:spcBef>
                        <a:spcAft>
                          <a:spcPts val="0"/>
                        </a:spcAft>
                        <a:buNone/>
                      </a:pPr>
                      <a:r>
                        <a:rPr lang="en-US" sz="800" b="1" dirty="0"/>
                        <a:t>MELOS SOUTH</a:t>
                      </a:r>
                      <a:endParaRPr dirty="0"/>
                    </a:p>
                  </a:txBody>
                  <a:tcPr marL="36000" marR="36000" marT="36000" marB="36000" anchor="ctr"/>
                </a:tc>
                <a:tc>
                  <a:txBody>
                    <a:bodyPr/>
                    <a:lstStyle/>
                    <a:p>
                      <a:pPr marL="0" marR="0" lvl="0" indent="0" algn="ctr" rtl="0">
                        <a:spcBef>
                          <a:spcPts val="0"/>
                        </a:spcBef>
                        <a:spcAft>
                          <a:spcPts val="0"/>
                        </a:spcAft>
                        <a:buNone/>
                      </a:pPr>
                      <a:r>
                        <a:rPr lang="en-US" sz="800" b="1" dirty="0"/>
                        <a:t>YACHI</a:t>
                      </a:r>
                    </a:p>
                    <a:p>
                      <a:pPr marL="0" marR="0" lvl="0" indent="0" algn="ctr" rtl="0">
                        <a:spcBef>
                          <a:spcPts val="0"/>
                        </a:spcBef>
                        <a:spcAft>
                          <a:spcPts val="0"/>
                        </a:spcAft>
                        <a:buNone/>
                      </a:pPr>
                      <a:r>
                        <a:rPr lang="en-US" sz="800" b="0" dirty="0"/>
                        <a:t>MELOS</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RNP Z 06 (AR)</a:t>
                      </a:r>
                    </a:p>
                    <a:p>
                      <a:pPr marL="0" marR="0" lvl="0" indent="0" algn="ctr" rtl="0">
                        <a:spcBef>
                          <a:spcPts val="0"/>
                        </a:spcBef>
                        <a:spcAft>
                          <a:spcPts val="0"/>
                        </a:spcAft>
                        <a:buNone/>
                      </a:pPr>
                      <a:r>
                        <a:rPr lang="en-US" sz="800" b="0" dirty="0"/>
                        <a:t>VOR Z 06</a:t>
                      </a:r>
                      <a:r>
                        <a:rPr lang="en-US" sz="800" b="1" dirty="0">
                          <a:solidFill>
                            <a:srgbClr val="C00000"/>
                          </a:solidFill>
                        </a:rPr>
                        <a:t>(5</a:t>
                      </a:r>
                      <a:r>
                        <a:rPr lang="ko-KR" altLang="en-US" sz="800" b="1" dirty="0">
                          <a:solidFill>
                            <a:srgbClr val="C00000"/>
                          </a:solidFill>
                        </a:rPr>
                        <a:t>도</a:t>
                      </a:r>
                      <a:r>
                        <a:rPr lang="en-US" altLang="ko-KR" sz="800" b="1" dirty="0">
                          <a:solidFill>
                            <a:srgbClr val="C00000"/>
                          </a:solidFill>
                        </a:rPr>
                        <a:t>)</a:t>
                      </a:r>
                      <a:endParaRPr b="1" dirty="0">
                        <a:solidFill>
                          <a:srgbClr val="C00000"/>
                        </a:solidFill>
                      </a:endParaRPr>
                    </a:p>
                  </a:txBody>
                  <a:tcPr marL="36000" marR="36000" marT="36000" marB="36000" anchor="ctr"/>
                </a:tc>
                <a:extLst>
                  <a:ext uri="{0D108BD9-81ED-4DB2-BD59-A6C34878D82A}">
                    <a16:rowId xmlns:a16="http://schemas.microsoft.com/office/drawing/2014/main" val="10002"/>
                  </a:ext>
                </a:extLst>
              </a:tr>
              <a:tr h="179654">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24(664’)</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9843’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06(647’)</a:t>
                      </a:r>
                      <a:endParaRPr dirty="0"/>
                    </a:p>
                  </a:txBody>
                  <a:tcPr marL="36000" marR="36000" marT="36000" marB="36000" anchor="ctr"/>
                </a:tc>
                <a:extLst>
                  <a:ext uri="{0D108BD9-81ED-4DB2-BD59-A6C34878D82A}">
                    <a16:rowId xmlns:a16="http://schemas.microsoft.com/office/drawing/2014/main" val="10003"/>
                  </a:ext>
                </a:extLst>
              </a:tr>
              <a:tr h="179654">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24 : T2(5043’),T1(7043’),     06 : T3(5043’), T4(7043’)</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40555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ILS Y 24 Turn SPD : Max 200kts, </a:t>
                      </a:r>
                      <a:r>
                        <a:rPr lang="en-US" sz="800" b="1" dirty="0">
                          <a:solidFill>
                            <a:srgbClr val="0070C0"/>
                          </a:solidFill>
                        </a:rPr>
                        <a:t>CHK MRE D12 Turn </a:t>
                      </a:r>
                      <a:r>
                        <a:rPr lang="ko-KR" altLang="en-US" sz="800" b="1" dirty="0">
                          <a:solidFill>
                            <a:srgbClr val="0070C0"/>
                          </a:solidFill>
                        </a:rPr>
                        <a:t>시작</a:t>
                      </a:r>
                      <a:endParaRPr lang="en-US" sz="800" b="1"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rgbClr val="C00000"/>
                          </a:solidFill>
                        </a:rPr>
                        <a:t>(</a:t>
                      </a:r>
                      <a:r>
                        <a:rPr lang="ko-KR" altLang="en-US" sz="800" b="1" dirty="0">
                          <a:solidFill>
                            <a:srgbClr val="C00000"/>
                          </a:solidFill>
                        </a:rPr>
                        <a:t>선회 반경으로 선회 </a:t>
                      </a:r>
                      <a:r>
                        <a:rPr lang="ko-KR" altLang="en-US" sz="800" b="1" dirty="0" err="1">
                          <a:solidFill>
                            <a:srgbClr val="C00000"/>
                          </a:solidFill>
                        </a:rPr>
                        <a:t>늦어짐</a:t>
                      </a:r>
                      <a:r>
                        <a:rPr lang="ko-KR" altLang="en-US" sz="800" b="1" dirty="0">
                          <a:solidFill>
                            <a:srgbClr val="C00000"/>
                          </a:solidFill>
                        </a:rPr>
                        <a:t> 주의</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SPD Modify)</a:t>
                      </a:r>
                      <a:endParaRPr lang="en-US" sz="800" b="1"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RWY, TWY color Yellow, GND by TWR</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29" name="Google Shape;329;p22"/>
          <p:cNvGraphicFramePr/>
          <p:nvPr>
            <p:extLst>
              <p:ext uri="{D42A27DB-BD31-4B8C-83A1-F6EECF244321}">
                <p14:modId xmlns:p14="http://schemas.microsoft.com/office/powerpoint/2010/main" val="53460487"/>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RJSA(AOJ) </a:t>
                      </a:r>
                      <a:r>
                        <a:rPr lang="en-US" sz="1300" dirty="0">
                          <a:solidFill>
                            <a:srgbClr val="C00000"/>
                          </a:solidFill>
                          <a:hlinkClick r:id="rId4">
                            <a:extLst>
                              <a:ext uri="{A12FA001-AC4F-418D-AE19-62706E023703}">
                                <ahyp:hlinkClr xmlns:ahyp="http://schemas.microsoft.com/office/drawing/2018/hyperlinkcolor" val="tx"/>
                              </a:ext>
                            </a:extLst>
                          </a:hlinkClick>
                        </a:rPr>
                        <a:t>650ft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JPN AIR AOJ 130.17</a:t>
                      </a:r>
                    </a:p>
                    <a:p>
                      <a:pPr marL="0" marR="0" lvl="0" indent="0" algn="ctr" rtl="0">
                        <a:spcBef>
                          <a:spcPts val="0"/>
                        </a:spcBef>
                        <a:spcAft>
                          <a:spcPts val="0"/>
                        </a:spcAft>
                        <a:buNone/>
                      </a:pPr>
                      <a:r>
                        <a:rPr lang="en-US" sz="800" dirty="0">
                          <a:solidFill>
                            <a:srgbClr val="C00000"/>
                          </a:solidFill>
                        </a:rPr>
                        <a:t>NO ATIS</a:t>
                      </a:r>
                      <a:endParaRPr sz="800" dirty="0">
                        <a:solidFill>
                          <a:srgbClr val="C0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B5CAF811-B5E1-B49C-3619-B63357E59B85}"/>
              </a:ext>
            </a:extLst>
          </p:cNvPr>
          <p:cNvSpPr txBox="1"/>
          <p:nvPr/>
        </p:nvSpPr>
        <p:spPr>
          <a:xfrm>
            <a:off x="-49726" y="3213958"/>
            <a:ext cx="1709122"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124.15</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FUK 125.15 - 133.</a:t>
            </a:r>
            <a:r>
              <a:rPr kumimoji="1" lang="en-US" altLang="ko-KR" sz="600" b="1" u="sng" dirty="0">
                <a:solidFill>
                  <a:srgbClr val="0070C0"/>
                </a:solidFill>
                <a:latin typeface="Gulim" panose="020B0600000101010101" pitchFamily="34" charset="-127"/>
                <a:ea typeface="Gulim" panose="020B0600000101010101" pitchFamily="34" charset="-127"/>
              </a:rPr>
              <a:t>02</a:t>
            </a:r>
            <a:r>
              <a:rPr kumimoji="1" lang="en-US" altLang="ko-Kore-KR" sz="600" b="1" u="sng" dirty="0">
                <a:solidFill>
                  <a:srgbClr val="0070C0"/>
                </a:solidFill>
                <a:latin typeface="Gulim" panose="020B0600000101010101" pitchFamily="34" charset="-127"/>
                <a:ea typeface="Gulim" panose="020B0600000101010101" pitchFamily="34" charset="-127"/>
              </a:rPr>
              <a:t> – 132.3</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SPR 133.3 -127.57 - </a:t>
            </a:r>
            <a:r>
              <a:rPr kumimoji="1" lang="en-US" altLang="ko-KR" sz="600" b="1" u="sng" dirty="0">
                <a:solidFill>
                  <a:srgbClr val="0070C0"/>
                </a:solidFill>
                <a:latin typeface="Gulim" panose="020B0600000101010101" pitchFamily="34" charset="-127"/>
                <a:ea typeface="Gulim" panose="020B0600000101010101" pitchFamily="34" charset="-127"/>
              </a:rPr>
              <a:t>AOJ TWR 118.3</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284A94EA-45D7-F3BD-DD6E-51EA2A229434}"/>
              </a:ext>
            </a:extLst>
          </p:cNvPr>
          <p:cNvSpPr/>
          <p:nvPr/>
        </p:nvSpPr>
        <p:spPr>
          <a:xfrm>
            <a:off x="1628639" y="339237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AEC4EB8-DA09-E905-09CF-DC62055CFFC1}"/>
              </a:ext>
            </a:extLst>
          </p:cNvPr>
          <p:cNvSpPr/>
          <p:nvPr/>
        </p:nvSpPr>
        <p:spPr>
          <a:xfrm>
            <a:off x="836756" y="278248"/>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070444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aphicFrame>
        <p:nvGraphicFramePr>
          <p:cNvPr id="336" name="Google Shape;336;p23"/>
          <p:cNvGraphicFramePr/>
          <p:nvPr>
            <p:extLst>
              <p:ext uri="{D42A27DB-BD31-4B8C-83A1-F6EECF244321}">
                <p14:modId xmlns:p14="http://schemas.microsoft.com/office/powerpoint/2010/main" val="4011996195"/>
              </p:ext>
            </p:extLst>
          </p:nvPr>
        </p:nvGraphicFramePr>
        <p:xfrm>
          <a:off x="0" y="611908"/>
          <a:ext cx="2332950" cy="1547978"/>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547150">
                  <a:extLst>
                    <a:ext uri="{9D8B030D-6E8A-4147-A177-3AD203B41FA5}">
                      <a16:colId xmlns:a16="http://schemas.microsoft.com/office/drawing/2014/main" val="20001"/>
                    </a:ext>
                  </a:extLst>
                </a:gridCol>
                <a:gridCol w="277950">
                  <a:extLst>
                    <a:ext uri="{9D8B030D-6E8A-4147-A177-3AD203B41FA5}">
                      <a16:colId xmlns:a16="http://schemas.microsoft.com/office/drawing/2014/main" val="20003"/>
                    </a:ext>
                  </a:extLst>
                </a:gridCol>
                <a:gridCol w="299925">
                  <a:extLst>
                    <a:ext uri="{9D8B030D-6E8A-4147-A177-3AD203B41FA5}">
                      <a16:colId xmlns:a16="http://schemas.microsoft.com/office/drawing/2014/main" val="20005"/>
                    </a:ext>
                  </a:extLst>
                </a:gridCol>
                <a:gridCol w="528625">
                  <a:extLst>
                    <a:ext uri="{9D8B030D-6E8A-4147-A177-3AD203B41FA5}">
                      <a16:colId xmlns:a16="http://schemas.microsoft.com/office/drawing/2014/main" val="20006"/>
                    </a:ext>
                  </a:extLst>
                </a:gridCol>
                <a:gridCol w="326525">
                  <a:extLst>
                    <a:ext uri="{9D8B030D-6E8A-4147-A177-3AD203B41FA5}">
                      <a16:colId xmlns:a16="http://schemas.microsoft.com/office/drawing/2014/main" val="20008"/>
                    </a:ext>
                  </a:extLst>
                </a:gridCol>
              </a:tblGrid>
              <a:tr h="169201">
                <a:tc gridSpan="6">
                  <a:txBody>
                    <a:bodyPr/>
                    <a:lstStyle/>
                    <a:p>
                      <a:pPr marL="0" marR="0" lvl="0" indent="0" algn="ctr" rtl="0">
                        <a:spcBef>
                          <a:spcPts val="0"/>
                        </a:spcBef>
                        <a:spcAft>
                          <a:spcPts val="0"/>
                        </a:spcAft>
                        <a:buNone/>
                      </a:pPr>
                      <a:r>
                        <a:rPr lang="en-US" sz="800" dirty="0"/>
                        <a:t>AOJ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4541">
                <a:tc>
                  <a:txBody>
                    <a:bodyPr/>
                    <a:lstStyle/>
                    <a:p>
                      <a:pPr marL="0" marR="0" lvl="0" indent="0" algn="ctr" rtl="0">
                        <a:spcBef>
                          <a:spcPts val="0"/>
                        </a:spcBef>
                        <a:spcAft>
                          <a:spcPts val="0"/>
                        </a:spcAft>
                        <a:buNone/>
                      </a:pPr>
                      <a:r>
                        <a:rPr lang="en-US" sz="800" b="1" dirty="0"/>
                        <a:t>24</a:t>
                      </a:r>
                      <a:endParaRPr sz="800" b="1" dirty="0"/>
                    </a:p>
                  </a:txBody>
                  <a:tcPr marL="36000" marR="36000" marT="36000" marB="36000" anchor="ctr"/>
                </a:tc>
                <a:tc rowSpan="2">
                  <a:txBody>
                    <a:bodyPr/>
                    <a:lstStyle/>
                    <a:p>
                      <a:pPr marL="0" marR="0" lvl="0" indent="0" algn="ctr" rtl="0">
                        <a:spcBef>
                          <a:spcPts val="0"/>
                        </a:spcBef>
                        <a:spcAft>
                          <a:spcPts val="0"/>
                        </a:spcAft>
                        <a:buNone/>
                      </a:pPr>
                      <a:r>
                        <a:rPr lang="en-US" sz="800" b="1" dirty="0">
                          <a:solidFill>
                            <a:srgbClr val="0070C0"/>
                          </a:solidFill>
                        </a:rPr>
                        <a:t>IWAKI xx</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241</a:t>
                      </a:r>
                      <a:endParaRPr sz="458"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241</a:t>
                      </a:r>
                      <a:endParaRPr sz="458"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241</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202467">
                <a:tc>
                  <a:txBody>
                    <a:bodyPr/>
                    <a:lstStyle/>
                    <a:p>
                      <a:pPr marL="0" marR="0" lvl="0" indent="0" algn="ctr" rtl="0">
                        <a:spcBef>
                          <a:spcPts val="0"/>
                        </a:spcBef>
                        <a:spcAft>
                          <a:spcPts val="0"/>
                        </a:spcAft>
                        <a:buNone/>
                      </a:pPr>
                      <a:r>
                        <a:rPr lang="en-US" altLang="ko-Kore-KR" sz="800" b="1" dirty="0"/>
                        <a:t>06</a:t>
                      </a:r>
                      <a:endParaRPr sz="800" b="1" dirty="0"/>
                    </a:p>
                  </a:txBody>
                  <a:tcPr marL="36000" marR="36000" marT="36000" marB="36000" anchor="ctr"/>
                </a:tc>
                <a:tc vMerge="1">
                  <a:txBody>
                    <a:bodyPr/>
                    <a:lstStyle/>
                    <a:p>
                      <a:endParaRPr lang="ko-Kore-KR" altLang="en-US"/>
                    </a:p>
                  </a:txBody>
                  <a:tcPr/>
                </a:tc>
                <a:tc>
                  <a:txBody>
                    <a:bodyPr/>
                    <a:lstStyle/>
                    <a:p>
                      <a:pPr algn="ctr"/>
                      <a:r>
                        <a:rPr lang="en-US" altLang="ko-Kore-KR" sz="800" b="1" dirty="0">
                          <a:solidFill>
                            <a:srgbClr val="C00000"/>
                          </a:solidFill>
                        </a:rPr>
                        <a:t>061</a:t>
                      </a:r>
                      <a:endParaRPr lang="ko-Kore-KR" altLang="en-US" dirty="0"/>
                    </a:p>
                  </a:txBody>
                  <a:tcPr marL="36000" marR="36000" marT="36000" marB="36000" anchor="ctr"/>
                </a:tc>
                <a:tc>
                  <a:txBody>
                    <a:bodyPr/>
                    <a:lstStyle/>
                    <a:p>
                      <a:pPr algn="ctr"/>
                      <a:r>
                        <a:rPr lang="en-US" altLang="ko-Kore-KR" sz="800" b="1" dirty="0"/>
                        <a:t>061</a:t>
                      </a:r>
                      <a:endParaRPr lang="ko-Kore-KR" altLang="en-US" dirty="0"/>
                    </a:p>
                  </a:txBody>
                  <a:tcPr marL="36000" marR="36000" marT="36000" marB="36000" anchor="ctr"/>
                </a:tc>
                <a:tc>
                  <a:txBody>
                    <a:bodyPr/>
                    <a:lstStyle/>
                    <a:p>
                      <a:pPr algn="ctr"/>
                      <a:r>
                        <a:rPr lang="en-US" sz="800" b="1" dirty="0">
                          <a:solidFill>
                            <a:srgbClr val="0070C0"/>
                          </a:solidFill>
                        </a:rPr>
                        <a:t>ATC</a:t>
                      </a:r>
                      <a:endParaRPr lang="ko-Kore-KR" altLang="en-US" dirty="0"/>
                    </a:p>
                  </a:txBody>
                  <a:tcPr marL="36000" marR="36000" marT="36000" marB="36000" anchor="ctr"/>
                </a:tc>
                <a:tc>
                  <a:txBody>
                    <a:bodyPr/>
                    <a:lstStyle/>
                    <a:p>
                      <a:pPr algn="ctr"/>
                      <a:r>
                        <a:rPr lang="en-US" altLang="ko-Kore-KR" sz="800" b="1" dirty="0">
                          <a:solidFill>
                            <a:srgbClr val="C00000"/>
                          </a:solidFill>
                        </a:rPr>
                        <a:t>061</a:t>
                      </a:r>
                      <a:endParaRPr lang="ko-Kore-KR" altLang="en-US" dirty="0"/>
                    </a:p>
                  </a:txBody>
                  <a:tcPr marL="36000" marR="36000" marT="36000" marB="36000" anchor="ctr"/>
                </a:tc>
                <a:extLst>
                  <a:ext uri="{0D108BD9-81ED-4DB2-BD59-A6C34878D82A}">
                    <a16:rowId xmlns:a16="http://schemas.microsoft.com/office/drawing/2014/main" val="2297352997"/>
                  </a:ext>
                </a:extLst>
              </a:tr>
              <a:tr h="186988">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MRE 114.1</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algn="ctr"/>
                      <a:r>
                        <a:rPr lang="en-US" sz="800" b="1" dirty="0">
                          <a:solidFill>
                            <a:srgbClr val="C00000"/>
                          </a:solidFill>
                        </a:rPr>
                        <a:t>24 111.9</a:t>
                      </a:r>
                      <a:endParaRPr lang="ko-Kore-KR" dirty="0"/>
                    </a:p>
                  </a:txBody>
                  <a:tcPr marL="36000" marR="36000" marT="36000" marB="36000" anchor="ctr"/>
                </a:tc>
                <a:tc hMerge="1">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5377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24(664’)</a:t>
                      </a:r>
                      <a:endParaRP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9843’</a:t>
                      </a:r>
                      <a:endParaRPr sz="458"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06(647’)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25045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EO</a:t>
                      </a:r>
                      <a:endParaRPr sz="800" dirty="0">
                        <a:solidFill>
                          <a:schemeClr val="lt1"/>
                        </a:solidFill>
                      </a:endParaRPr>
                    </a:p>
                  </a:txBody>
                  <a:tcPr marL="36000" marR="36000" marT="36000" marB="36000" anchor="ctr">
                    <a:solidFill>
                      <a:schemeClr val="accent1"/>
                    </a:solidFill>
                  </a:tcPr>
                </a:tc>
                <a:tc gridSpan="5">
                  <a:txBody>
                    <a:bodyPr/>
                    <a:lstStyle/>
                    <a:p>
                      <a:pPr marL="0" marR="0" lvl="0" indent="0" algn="ctr" rtl="0">
                        <a:spcBef>
                          <a:spcPts val="0"/>
                        </a:spcBef>
                        <a:spcAft>
                          <a:spcPts val="0"/>
                        </a:spcAft>
                        <a:buNone/>
                      </a:pPr>
                      <a:r>
                        <a:rPr lang="en-US" sz="800" dirty="0"/>
                        <a:t>24 : MRE 241/2, </a:t>
                      </a:r>
                      <a:r>
                        <a:rPr lang="en-US" altLang="ko-Kore-KR" sz="800" dirty="0"/>
                        <a:t>MRE R008</a:t>
                      </a:r>
                    </a:p>
                    <a:p>
                      <a:pPr marL="0" marR="0" lvl="0" indent="0" algn="ctr" rtl="0">
                        <a:spcBef>
                          <a:spcPts val="0"/>
                        </a:spcBef>
                        <a:spcAft>
                          <a:spcPts val="0"/>
                        </a:spcAft>
                        <a:buNone/>
                      </a:pPr>
                      <a:r>
                        <a:rPr lang="en-US" sz="800" dirty="0"/>
                        <a:t>06 : MRE 061/1, R350, </a:t>
                      </a:r>
                      <a:r>
                        <a:rPr lang="en-US" altLang="ko-Kore-KR" sz="800" dirty="0"/>
                        <a:t>MRE R008</a:t>
                      </a:r>
                      <a:r>
                        <a:rPr lang="en-US" sz="800" dirty="0"/>
                        <a:t> </a:t>
                      </a:r>
                      <a:endParaRPr sz="800" dirty="0"/>
                    </a:p>
                  </a:txBody>
                  <a:tcPr marL="36000" marR="36000" marT="36000" marB="36000" anchor="ctr"/>
                </a:tc>
                <a:tc hMerge="1">
                  <a:txBody>
                    <a:bodyPr/>
                    <a:lstStyle/>
                    <a:p>
                      <a:pPr marL="0" marR="0" lvl="0" indent="0" algn="ctr" rtl="0">
                        <a:spcBef>
                          <a:spcPts val="0"/>
                        </a:spcBef>
                        <a:spcAft>
                          <a:spcPts val="0"/>
                        </a:spcAft>
                        <a:buNone/>
                      </a:pPr>
                      <a:endParaRPr sz="458"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621699774"/>
                  </a:ext>
                </a:extLst>
              </a:tr>
              <a:tr h="153777">
                <a:tc gridSpan="6">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ATC </a:t>
                      </a:r>
                      <a:r>
                        <a:rPr lang="ko-KR" altLang="en-US" sz="800" b="1">
                          <a:solidFill>
                            <a:schemeClr val="accent1"/>
                          </a:solidFill>
                        </a:rPr>
                        <a:t>순서 </a:t>
                      </a:r>
                      <a:r>
                        <a:rPr lang="ko-KR" altLang="en-US" sz="800" b="1" dirty="0">
                          <a:solidFill>
                            <a:schemeClr val="accent1"/>
                          </a:solidFill>
                        </a:rPr>
                        <a:t>특이함</a:t>
                      </a:r>
                      <a:r>
                        <a:rPr lang="en-US" altLang="ko-KR" sz="800" b="1" dirty="0">
                          <a:solidFill>
                            <a:schemeClr val="accent1"/>
                          </a:solidFill>
                        </a:rPr>
                        <a:t>.</a:t>
                      </a:r>
                      <a:r>
                        <a:rPr lang="ko-KR" altLang="en-US" sz="800" b="1" dirty="0">
                          <a:solidFill>
                            <a:schemeClr val="accent1"/>
                          </a:solidFill>
                        </a:rPr>
                        <a:t> </a:t>
                      </a:r>
                      <a:r>
                        <a:rPr lang="en-US" sz="800" b="1" dirty="0">
                          <a:solidFill>
                            <a:schemeClr val="accent1"/>
                          </a:solidFill>
                        </a:rPr>
                        <a:t>Deicing at the Gate</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37" name="Google Shape;337;p23"/>
          <p:cNvGraphicFramePr/>
          <p:nvPr>
            <p:extLst>
              <p:ext uri="{D42A27DB-BD31-4B8C-83A1-F6EECF244321}">
                <p14:modId xmlns:p14="http://schemas.microsoft.com/office/powerpoint/2010/main" val="2876772314"/>
              </p:ext>
            </p:extLst>
          </p:nvPr>
        </p:nvGraphicFramePr>
        <p:xfrm>
          <a:off x="2665"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RJSA(AOJ) </a:t>
                      </a:r>
                      <a:r>
                        <a:rPr lang="en-US" altLang="ko-Kore-KR" sz="1300" dirty="0">
                          <a:solidFill>
                            <a:srgbClr val="C00000"/>
                          </a:solidFill>
                          <a:hlinkClick r:id="rId3">
                            <a:extLst>
                              <a:ext uri="{A12FA001-AC4F-418D-AE19-62706E023703}">
                                <ahyp:hlinkClr xmlns:ahyp="http://schemas.microsoft.com/office/drawing/2018/hyperlinkcolor" val="tx"/>
                              </a:ext>
                            </a:extLst>
                          </a:hlinkClick>
                        </a:rPr>
                        <a:t>650ft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t>JPN AIR AOJ 130.17</a:t>
                      </a:r>
                      <a:endParaRPr dirty="0"/>
                    </a:p>
                    <a:p>
                      <a:pPr marL="0" marR="0" lvl="0" indent="0" algn="ctr" rtl="0">
                        <a:spcBef>
                          <a:spcPts val="0"/>
                        </a:spcBef>
                        <a:spcAft>
                          <a:spcPts val="0"/>
                        </a:spcAft>
                        <a:buNone/>
                      </a:pPr>
                      <a:r>
                        <a:rPr lang="en-US" sz="700" dirty="0">
                          <a:solidFill>
                            <a:srgbClr val="FF0000"/>
                          </a:solidFill>
                        </a:rPr>
                        <a:t>NO ATIS, TWR 118.3 Voice</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39" name="Google Shape;339;p23"/>
          <p:cNvGraphicFramePr/>
          <p:nvPr/>
        </p:nvGraphicFramePr>
        <p:xfrm>
          <a:off x="-5861" y="3398687"/>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EF15FB2D-E42F-675C-3FFB-9ECEC0B206B8}"/>
              </a:ext>
            </a:extLst>
          </p:cNvPr>
          <p:cNvSpPr txBox="1"/>
          <p:nvPr/>
        </p:nvSpPr>
        <p:spPr>
          <a:xfrm>
            <a:off x="908959" y="2137789"/>
            <a:ext cx="145103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118.3</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SPR 127.57 – 133.3</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132.3 – 132.45 – 133.02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133.8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81F8CD04-2D37-9A88-545F-6BD77E8DA77E}"/>
              </a:ext>
            </a:extLst>
          </p:cNvPr>
          <p:cNvSpPr/>
          <p:nvPr/>
        </p:nvSpPr>
        <p:spPr>
          <a:xfrm>
            <a:off x="1622852" y="296883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617BE5F-5E96-D9F3-56F3-A5CEBCCEF63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림 5" descr="텍스트, 지도, 도표, 폰트이(가) 표시된 사진&#10;&#10;자동 생성된 설명">
            <a:extLst>
              <a:ext uri="{FF2B5EF4-FFF2-40B4-BE49-F238E27FC236}">
                <a16:creationId xmlns:a16="http://schemas.microsoft.com/office/drawing/2014/main" id="{C8115353-69BE-87FD-05F8-01C1A3AB70A7}"/>
              </a:ext>
            </a:extLst>
          </p:cNvPr>
          <p:cNvPicPr>
            <a:picLocks noChangeAspect="1"/>
          </p:cNvPicPr>
          <p:nvPr/>
        </p:nvPicPr>
        <p:blipFill>
          <a:blip r:embed="rId7"/>
          <a:stretch>
            <a:fillRect/>
          </a:stretch>
        </p:blipFill>
        <p:spPr>
          <a:xfrm>
            <a:off x="-1383" y="2157696"/>
            <a:ext cx="966479" cy="890303"/>
          </a:xfrm>
          <a:prstGeom prst="rect">
            <a:avLst/>
          </a:prstGeom>
        </p:spPr>
      </p:pic>
    </p:spTree>
    <p:extLst>
      <p:ext uri="{BB962C8B-B14F-4D97-AF65-F5344CB8AC3E}">
        <p14:creationId xmlns:p14="http://schemas.microsoft.com/office/powerpoint/2010/main" val="8130598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graphicFrame>
        <p:nvGraphicFramePr>
          <p:cNvPr id="327" name="Google Shape;327;p22"/>
          <p:cNvGraphicFramePr/>
          <p:nvPr/>
        </p:nvGraphicFramePr>
        <p:xfrm>
          <a:off x="0" y="622240"/>
          <a:ext cx="2332925" cy="26402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EGOBA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EGOBA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28" name="Google Shape;328;p22"/>
          <p:cNvGraphicFramePr/>
          <p:nvPr>
            <p:extLst>
              <p:ext uri="{D42A27DB-BD31-4B8C-83A1-F6EECF244321}">
                <p14:modId xmlns:p14="http://schemas.microsoft.com/office/powerpoint/2010/main" val="620593510"/>
              </p:ext>
            </p:extLst>
          </p:nvPr>
        </p:nvGraphicFramePr>
        <p:xfrm>
          <a:off x="1596" y="3738754"/>
          <a:ext cx="2331375" cy="1806109"/>
        </p:xfrm>
        <a:graphic>
          <a:graphicData uri="http://schemas.openxmlformats.org/drawingml/2006/table">
            <a:tbl>
              <a:tblPr firstRow="1" bandRow="1">
                <a:noFill/>
                <a:tableStyleId>{A521BE36-7E6F-4EC9-8D66-1CF97A6895EC}</a:tableStyleId>
              </a:tblPr>
              <a:tblGrid>
                <a:gridCol w="461950">
                  <a:extLst>
                    <a:ext uri="{9D8B030D-6E8A-4147-A177-3AD203B41FA5}">
                      <a16:colId xmlns:a16="http://schemas.microsoft.com/office/drawing/2014/main" val="20000"/>
                    </a:ext>
                  </a:extLst>
                </a:gridCol>
                <a:gridCol w="703725">
                  <a:extLst>
                    <a:ext uri="{9D8B030D-6E8A-4147-A177-3AD203B41FA5}">
                      <a16:colId xmlns:a16="http://schemas.microsoft.com/office/drawing/2014/main" val="20001"/>
                    </a:ext>
                  </a:extLst>
                </a:gridCol>
                <a:gridCol w="470383">
                  <a:extLst>
                    <a:ext uri="{9D8B030D-6E8A-4147-A177-3AD203B41FA5}">
                      <a16:colId xmlns:a16="http://schemas.microsoft.com/office/drawing/2014/main" val="20002"/>
                    </a:ext>
                  </a:extLst>
                </a:gridCol>
                <a:gridCol w="695317">
                  <a:extLst>
                    <a:ext uri="{9D8B030D-6E8A-4147-A177-3AD203B41FA5}">
                      <a16:colId xmlns:a16="http://schemas.microsoft.com/office/drawing/2014/main" val="20003"/>
                    </a:ext>
                  </a:extLst>
                </a:gridCol>
              </a:tblGrid>
              <a:tr h="393110">
                <a:tc gridSpan="4">
                  <a:txBody>
                    <a:bodyPr/>
                    <a:lstStyle/>
                    <a:p>
                      <a:pPr marL="0" marR="0" lvl="0" indent="0" algn="ctr" rtl="0">
                        <a:spcBef>
                          <a:spcPts val="0"/>
                        </a:spcBef>
                        <a:spcAft>
                          <a:spcPts val="0"/>
                        </a:spcAft>
                        <a:buNone/>
                      </a:pPr>
                      <a:r>
                        <a:rPr lang="en-US" sz="800" dirty="0"/>
                        <a:t>KIJ : </a:t>
                      </a:r>
                      <a:r>
                        <a:rPr lang="en-US" sz="800" dirty="0">
                          <a:solidFill>
                            <a:srgbClr val="FFC000"/>
                          </a:solidFill>
                        </a:rPr>
                        <a:t>GTC-50NM – TERAD (Modify!!)</a:t>
                      </a:r>
                      <a:endParaRPr lang="en-US" altLang="ko-KR" sz="800" dirty="0">
                        <a:solidFill>
                          <a:srgbClr val="FFC000"/>
                        </a:solidFill>
                      </a:endParaRPr>
                    </a:p>
                    <a:p>
                      <a:pPr marL="0" marR="0" lvl="0" indent="0" algn="ctr" rtl="0">
                        <a:spcBef>
                          <a:spcPts val="0"/>
                        </a:spcBef>
                        <a:spcAft>
                          <a:spcPts val="0"/>
                        </a:spcAft>
                        <a:buNone/>
                      </a:pPr>
                      <a:r>
                        <a:rPr lang="en-US" sz="800" dirty="0">
                          <a:solidFill>
                            <a:schemeClr val="bg1"/>
                          </a:solidFill>
                        </a:rPr>
                        <a:t>At/Below 3000MSL : 200kts, Above 3000MSL : 250kts</a:t>
                      </a:r>
                      <a:endParaRPr sz="800" dirty="0">
                        <a:solidFill>
                          <a:schemeClr val="bg1"/>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71559">
                <a:tc>
                  <a:txBody>
                    <a:bodyPr/>
                    <a:lstStyle/>
                    <a:p>
                      <a:pPr marL="0" marR="0" lvl="0" indent="0" algn="ctr" rtl="0">
                        <a:spcBef>
                          <a:spcPts val="0"/>
                        </a:spcBef>
                        <a:spcAft>
                          <a:spcPts val="0"/>
                        </a:spcAft>
                        <a:buNone/>
                      </a:pPr>
                      <a:r>
                        <a:rPr lang="en-US" sz="800" b="1" dirty="0"/>
                        <a:t>28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TERAD EAST </a:t>
                      </a:r>
                      <a:endParaRPr sz="800" b="1" dirty="0"/>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KYOGA</a:t>
                      </a:r>
                    </a:p>
                  </a:txBody>
                  <a:tcPr marL="36000" marR="36000" marT="36000" marB="36000" anchor="ctr"/>
                </a:tc>
                <a:tc>
                  <a:txBody>
                    <a:bodyPr/>
                    <a:lstStyle/>
                    <a:p>
                      <a:pPr marL="0" marR="0" lvl="0" indent="0" algn="ctr" rtl="0">
                        <a:spcBef>
                          <a:spcPts val="0"/>
                        </a:spcBef>
                        <a:spcAft>
                          <a:spcPts val="0"/>
                        </a:spcAft>
                        <a:buNone/>
                      </a:pPr>
                      <a:r>
                        <a:rPr lang="en-US" sz="800" b="1" dirty="0"/>
                        <a:t>ILS Z 28</a:t>
                      </a:r>
                    </a:p>
                  </a:txBody>
                  <a:tcPr marL="36000" marR="36000" marT="36000" marB="36000" anchor="ctr"/>
                </a:tc>
                <a:extLst>
                  <a:ext uri="{0D108BD9-81ED-4DB2-BD59-A6C34878D82A}">
                    <a16:rowId xmlns:a16="http://schemas.microsoft.com/office/drawing/2014/main" val="10001"/>
                  </a:ext>
                </a:extLst>
              </a:tr>
              <a:tr h="293124">
                <a:tc>
                  <a:txBody>
                    <a:bodyPr/>
                    <a:lstStyle/>
                    <a:p>
                      <a:pPr marL="0" marR="0" lvl="0" indent="0" algn="ctr" rtl="0">
                        <a:spcBef>
                          <a:spcPts val="0"/>
                        </a:spcBef>
                        <a:spcAft>
                          <a:spcPts val="0"/>
                        </a:spcAft>
                        <a:buNone/>
                      </a:pPr>
                      <a:r>
                        <a:rPr lang="en-US" sz="800" b="0" dirty="0"/>
                        <a:t>10</a:t>
                      </a:r>
                      <a:endParaRPr b="0" dirty="0"/>
                    </a:p>
                  </a:txBody>
                  <a:tcPr marL="36000" marR="36000" marT="36000" marB="36000" anchor="ctr"/>
                </a:tc>
                <a:tc>
                  <a:txBody>
                    <a:bodyPr/>
                    <a:lstStyle/>
                    <a:p>
                      <a:pPr marL="0" marR="0" lvl="0" indent="0" algn="ctr" rtl="0">
                        <a:spcBef>
                          <a:spcPts val="0"/>
                        </a:spcBef>
                        <a:spcAft>
                          <a:spcPts val="0"/>
                        </a:spcAft>
                        <a:buNone/>
                      </a:pPr>
                      <a:r>
                        <a:rPr lang="en-US" sz="800" b="1" dirty="0"/>
                        <a:t>TERAD WEST</a:t>
                      </a:r>
                    </a:p>
                    <a:p>
                      <a:pPr marL="0" marR="0" lvl="0" indent="0" algn="ctr" rtl="0">
                        <a:spcBef>
                          <a:spcPts val="0"/>
                        </a:spcBef>
                        <a:spcAft>
                          <a:spcPts val="0"/>
                        </a:spcAft>
                        <a:buNone/>
                      </a:pPr>
                      <a:r>
                        <a:rPr lang="en-US" sz="800" b="1" dirty="0"/>
                        <a:t>(KAETSU)</a:t>
                      </a:r>
                    </a:p>
                  </a:txBody>
                  <a:tcPr marL="36000" marR="36000" marT="36000" marB="36000" anchor="ctr"/>
                </a:tc>
                <a:tc>
                  <a:txBody>
                    <a:bodyPr/>
                    <a:lstStyle/>
                    <a:p>
                      <a:pPr marL="0" marR="0" lvl="0" indent="0" algn="ctr" rtl="0">
                        <a:spcBef>
                          <a:spcPts val="0"/>
                        </a:spcBef>
                        <a:spcAft>
                          <a:spcPts val="0"/>
                        </a:spcAft>
                        <a:buNone/>
                      </a:pPr>
                      <a:r>
                        <a:rPr lang="en-US" sz="800" b="1" dirty="0"/>
                        <a:t>RYUTO</a:t>
                      </a:r>
                    </a:p>
                    <a:p>
                      <a:pPr marL="0" marR="0" lvl="0" indent="0" algn="ctr" rtl="0">
                        <a:spcBef>
                          <a:spcPts val="0"/>
                        </a:spcBef>
                        <a:spcAft>
                          <a:spcPts val="0"/>
                        </a:spcAft>
                        <a:buNone/>
                      </a:pPr>
                      <a:r>
                        <a:rPr lang="en-US" sz="800" b="0" dirty="0"/>
                        <a:t>INAHO</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RNP Z 10</a:t>
                      </a:r>
                    </a:p>
                    <a:p>
                      <a:pPr marL="0" marR="0" lvl="0" indent="0" algn="ctr" rtl="0">
                        <a:spcBef>
                          <a:spcPts val="0"/>
                        </a:spcBef>
                        <a:spcAft>
                          <a:spcPts val="0"/>
                        </a:spcAft>
                        <a:buNone/>
                      </a:pPr>
                      <a:r>
                        <a:rPr lang="en-US" sz="800" b="0" dirty="0"/>
                        <a:t>RNP Y 10 (AR)</a:t>
                      </a:r>
                      <a:endParaRPr b="1" dirty="0">
                        <a:solidFill>
                          <a:srgbClr val="C00000"/>
                        </a:solidFill>
                      </a:endParaRPr>
                    </a:p>
                  </a:txBody>
                  <a:tcPr marL="36000" marR="36000" marT="36000" marB="36000" anchor="ctr"/>
                </a:tc>
                <a:extLst>
                  <a:ext uri="{0D108BD9-81ED-4DB2-BD59-A6C34878D82A}">
                    <a16:rowId xmlns:a16="http://schemas.microsoft.com/office/drawing/2014/main" val="10002"/>
                  </a:ext>
                </a:extLst>
              </a:tr>
              <a:tr h="179973">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28(10’)</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8202’</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10(27’)</a:t>
                      </a:r>
                      <a:endParaRPr dirty="0"/>
                    </a:p>
                  </a:txBody>
                  <a:tcPr marL="36000" marR="36000" marT="36000" marB="36000" anchor="ctr"/>
                </a:tc>
                <a:extLst>
                  <a:ext uri="{0D108BD9-81ED-4DB2-BD59-A6C34878D82A}">
                    <a16:rowId xmlns:a16="http://schemas.microsoft.com/office/drawing/2014/main" val="10003"/>
                  </a:ext>
                </a:extLst>
              </a:tr>
              <a:tr h="17997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28 : B4(6167’),B5(7906’),     10 : P3(6292’), B1(8100’)</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40627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LDC Data :  RWY28+81ft, RWY10+274ft (Due PAPI PSN)</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tx1"/>
                          </a:solidFill>
                        </a:rPr>
                        <a:t>RWY 10 Downslope, Vacate RWY04/22 by ATC Only</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tx1"/>
                          </a:solidFill>
                        </a:rPr>
                        <a:t>GND by TWR</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29" name="Google Shape;329;p22"/>
          <p:cNvGraphicFramePr/>
          <p:nvPr>
            <p:extLst>
              <p:ext uri="{D42A27DB-BD31-4B8C-83A1-F6EECF244321}">
                <p14:modId xmlns:p14="http://schemas.microsoft.com/office/powerpoint/2010/main" val="3502802556"/>
              </p:ext>
            </p:extLst>
          </p:nvPr>
        </p:nvGraphicFramePr>
        <p:xfrm>
          <a:off x="-2501" y="16504"/>
          <a:ext cx="2328850" cy="588994"/>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23224">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RJSN(KIJ) 5ft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315519">
                <a:tc>
                  <a:txBody>
                    <a:bodyPr/>
                    <a:lstStyle/>
                    <a:p>
                      <a:pPr marL="0" marR="0" lvl="0" indent="0" algn="ctr" rtl="0">
                        <a:spcBef>
                          <a:spcPts val="0"/>
                        </a:spcBef>
                        <a:spcAft>
                          <a:spcPts val="0"/>
                        </a:spcAft>
                        <a:buNone/>
                      </a:pPr>
                      <a:r>
                        <a:rPr lang="en-US" sz="900"/>
                        <a:t>KE ICN 131.5</a:t>
                      </a:r>
                      <a:endParaRPr/>
                    </a:p>
                    <a:p>
                      <a:pPr marL="0" marR="0" lvl="0" indent="0" algn="ctr" rtl="0">
                        <a:spcBef>
                          <a:spcPts val="0"/>
                        </a:spcBef>
                        <a:spcAft>
                          <a:spcPts val="0"/>
                        </a:spcAft>
                        <a:buNone/>
                      </a:pPr>
                      <a:r>
                        <a:rPr lang="en-US" sz="600">
                          <a:solidFill>
                            <a:srgbClr val="FF0000"/>
                          </a:solidFill>
                          <a:latin typeface="Calibri"/>
                          <a:ea typeface="Calibri"/>
                          <a:cs typeface="Calibri"/>
                          <a:sym typeface="Calibri"/>
                        </a:rPr>
                        <a:t>DCL -10분 TOBT 5분 차이시 CTC Comm</a:t>
                      </a:r>
                      <a:endParaRPr sz="900"/>
                    </a:p>
                  </a:txBody>
                  <a:tcPr marL="91450" marR="91450" marT="0" marB="0" anchor="ctr"/>
                </a:tc>
                <a:tc>
                  <a:txBody>
                    <a:bodyPr/>
                    <a:lstStyle/>
                    <a:p>
                      <a:pPr marL="0" marR="0" lvl="0" indent="0" algn="ctr" rtl="0">
                        <a:spcBef>
                          <a:spcPts val="0"/>
                        </a:spcBef>
                        <a:spcAft>
                          <a:spcPts val="0"/>
                        </a:spcAft>
                        <a:buNone/>
                      </a:pPr>
                      <a:r>
                        <a:rPr lang="en-US" sz="900" dirty="0"/>
                        <a:t>JPN AIR Niigata 131.85</a:t>
                      </a:r>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B5CAF811-B5E1-B49C-3619-B63357E59B85}"/>
              </a:ext>
            </a:extLst>
          </p:cNvPr>
          <p:cNvSpPr txBox="1"/>
          <p:nvPr/>
        </p:nvSpPr>
        <p:spPr>
          <a:xfrm>
            <a:off x="-49726" y="3213958"/>
            <a:ext cx="1709122" cy="466657"/>
          </a:xfrm>
          <a:prstGeom prst="rect">
            <a:avLst/>
          </a:prstGeom>
          <a:noFill/>
        </p:spPr>
        <p:txBody>
          <a:bodyPr wrap="none" tIns="36000" bIns="36000" rtlCol="0" anchor="ctr">
            <a:spAutoFit/>
          </a:bodyPr>
          <a:lstStyle/>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DEP 125.15</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TGU</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134.17 - FUK</a:t>
            </a:r>
            <a:r>
              <a:rPr kumimoji="1" lang="en-US" altLang="ko-Kore-KR" sz="600" b="1" u="sng" dirty="0">
                <a:solidFill>
                  <a:srgbClr val="0070C0"/>
                </a:solidFill>
                <a:latin typeface="Gulim" panose="020B0600000101010101" pitchFamily="34" charset="-127"/>
                <a:ea typeface="Gulim" panose="020B0600000101010101" pitchFamily="34" charset="-127"/>
              </a:rPr>
              <a:t> 124.15</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TKO 133.8 - 132.45 – 132.3</a:t>
            </a:r>
          </a:p>
          <a:p>
            <a:pPr>
              <a:lnSpc>
                <a:spcPct val="150000"/>
              </a:lnSpc>
            </a:pPr>
            <a:r>
              <a:rPr kumimoji="1" lang="en-US" altLang="ko-KR" sz="600" b="1" u="sng" dirty="0">
                <a:solidFill>
                  <a:srgbClr val="0070C0"/>
                </a:solidFill>
                <a:latin typeface="Gulim" panose="020B0600000101010101" pitchFamily="34" charset="-127"/>
                <a:ea typeface="Gulim" panose="020B0600000101010101" pitchFamily="34" charset="-127"/>
              </a:rPr>
              <a:t>KIJ RDR 121.4</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284A94EA-45D7-F3BD-DD6E-51EA2A229434}"/>
              </a:ext>
            </a:extLst>
          </p:cNvPr>
          <p:cNvSpPr/>
          <p:nvPr/>
        </p:nvSpPr>
        <p:spPr>
          <a:xfrm>
            <a:off x="1628639" y="339237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AEC4EB8-DA09-E905-09CF-DC62055CFFC1}"/>
              </a:ext>
            </a:extLst>
          </p:cNvPr>
          <p:cNvSpPr/>
          <p:nvPr/>
        </p:nvSpPr>
        <p:spPr>
          <a:xfrm>
            <a:off x="836756" y="278248"/>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620132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graphicFrame>
        <p:nvGraphicFramePr>
          <p:cNvPr id="336" name="Google Shape;336;p23"/>
          <p:cNvGraphicFramePr/>
          <p:nvPr>
            <p:extLst>
              <p:ext uri="{D42A27DB-BD31-4B8C-83A1-F6EECF244321}">
                <p14:modId xmlns:p14="http://schemas.microsoft.com/office/powerpoint/2010/main" val="3416679218"/>
              </p:ext>
            </p:extLst>
          </p:nvPr>
        </p:nvGraphicFramePr>
        <p:xfrm>
          <a:off x="0" y="611908"/>
          <a:ext cx="2332950" cy="1482597"/>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547150">
                  <a:extLst>
                    <a:ext uri="{9D8B030D-6E8A-4147-A177-3AD203B41FA5}">
                      <a16:colId xmlns:a16="http://schemas.microsoft.com/office/drawing/2014/main" val="20001"/>
                    </a:ext>
                  </a:extLst>
                </a:gridCol>
                <a:gridCol w="277950">
                  <a:extLst>
                    <a:ext uri="{9D8B030D-6E8A-4147-A177-3AD203B41FA5}">
                      <a16:colId xmlns:a16="http://schemas.microsoft.com/office/drawing/2014/main" val="20003"/>
                    </a:ext>
                  </a:extLst>
                </a:gridCol>
                <a:gridCol w="299925">
                  <a:extLst>
                    <a:ext uri="{9D8B030D-6E8A-4147-A177-3AD203B41FA5}">
                      <a16:colId xmlns:a16="http://schemas.microsoft.com/office/drawing/2014/main" val="20005"/>
                    </a:ext>
                  </a:extLst>
                </a:gridCol>
                <a:gridCol w="528625">
                  <a:extLst>
                    <a:ext uri="{9D8B030D-6E8A-4147-A177-3AD203B41FA5}">
                      <a16:colId xmlns:a16="http://schemas.microsoft.com/office/drawing/2014/main" val="20006"/>
                    </a:ext>
                  </a:extLst>
                </a:gridCol>
                <a:gridCol w="326525">
                  <a:extLst>
                    <a:ext uri="{9D8B030D-6E8A-4147-A177-3AD203B41FA5}">
                      <a16:colId xmlns:a16="http://schemas.microsoft.com/office/drawing/2014/main" val="20008"/>
                    </a:ext>
                  </a:extLst>
                </a:gridCol>
              </a:tblGrid>
              <a:tr h="169201">
                <a:tc gridSpan="6">
                  <a:txBody>
                    <a:bodyPr/>
                    <a:lstStyle/>
                    <a:p>
                      <a:pPr marL="0" marR="0" lvl="0" indent="0" algn="ctr" rtl="0">
                        <a:spcBef>
                          <a:spcPts val="0"/>
                        </a:spcBef>
                        <a:spcAft>
                          <a:spcPts val="0"/>
                        </a:spcAft>
                        <a:buNone/>
                      </a:pPr>
                      <a:r>
                        <a:rPr lang="en-US" sz="800" dirty="0"/>
                        <a:t>KIJ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4541">
                <a:tc>
                  <a:txBody>
                    <a:bodyPr/>
                    <a:lstStyle/>
                    <a:p>
                      <a:pPr marL="0" marR="0" lvl="0" indent="0" algn="ctr" rtl="0">
                        <a:spcBef>
                          <a:spcPts val="0"/>
                        </a:spcBef>
                        <a:spcAft>
                          <a:spcPts val="0"/>
                        </a:spcAft>
                        <a:buNone/>
                      </a:pPr>
                      <a:r>
                        <a:rPr lang="en-US" sz="800" b="1" dirty="0"/>
                        <a:t>28</a:t>
                      </a:r>
                      <a:endParaRPr sz="800" b="1" dirty="0"/>
                    </a:p>
                  </a:txBody>
                  <a:tcPr marL="36000" marR="36000" marT="36000" marB="36000" anchor="ctr"/>
                </a:tc>
                <a:tc rowSpan="2">
                  <a:txBody>
                    <a:bodyPr/>
                    <a:lstStyle/>
                    <a:p>
                      <a:pPr marL="0" marR="0" lvl="0" indent="0" algn="ctr" rtl="0">
                        <a:spcBef>
                          <a:spcPts val="0"/>
                        </a:spcBef>
                        <a:spcAft>
                          <a:spcPts val="0"/>
                        </a:spcAft>
                        <a:buNone/>
                      </a:pPr>
                      <a:r>
                        <a:rPr lang="en-US" sz="800" b="1" dirty="0">
                          <a:solidFill>
                            <a:srgbClr val="0070C0"/>
                          </a:solidFill>
                        </a:rPr>
                        <a:t>MOKBA xx</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281</a:t>
                      </a:r>
                      <a:endParaRPr sz="458"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t>281</a:t>
                      </a:r>
                      <a:endParaRPr sz="458"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281</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202467">
                <a:tc>
                  <a:txBody>
                    <a:bodyPr/>
                    <a:lstStyle/>
                    <a:p>
                      <a:pPr marL="0" marR="0" lvl="0" indent="0" algn="ctr" rtl="0">
                        <a:spcBef>
                          <a:spcPts val="0"/>
                        </a:spcBef>
                        <a:spcAft>
                          <a:spcPts val="0"/>
                        </a:spcAft>
                        <a:buNone/>
                      </a:pPr>
                      <a:r>
                        <a:rPr lang="en-US" sz="800" b="1" dirty="0"/>
                        <a:t>10</a:t>
                      </a:r>
                      <a:endParaRPr sz="800" b="1" dirty="0"/>
                    </a:p>
                  </a:txBody>
                  <a:tcPr marL="36000" marR="36000" marT="36000" marB="36000" anchor="ctr"/>
                </a:tc>
                <a:tc vMerge="1">
                  <a:txBody>
                    <a:bodyPr/>
                    <a:lstStyle/>
                    <a:p>
                      <a:endParaRPr lang="ko-Kore-KR" altLang="en-US"/>
                    </a:p>
                  </a:txBody>
                  <a:tcPr/>
                </a:tc>
                <a:tc>
                  <a:txBody>
                    <a:bodyPr/>
                    <a:lstStyle/>
                    <a:p>
                      <a:pPr algn="ctr"/>
                      <a:r>
                        <a:rPr lang="en-US" altLang="ko-Kore-KR" sz="800" b="1" dirty="0">
                          <a:solidFill>
                            <a:srgbClr val="C00000"/>
                          </a:solidFill>
                        </a:rPr>
                        <a:t>101</a:t>
                      </a:r>
                      <a:endParaRPr lang="ko-Kore-KR" altLang="en-US" dirty="0"/>
                    </a:p>
                  </a:txBody>
                  <a:tcPr marL="36000" marR="36000" marT="36000" marB="36000" anchor="ctr"/>
                </a:tc>
                <a:tc>
                  <a:txBody>
                    <a:bodyPr/>
                    <a:lstStyle/>
                    <a:p>
                      <a:pPr algn="ctr"/>
                      <a:r>
                        <a:rPr lang="en-US" altLang="ko-Kore-KR" sz="800" b="1" dirty="0"/>
                        <a:t>101</a:t>
                      </a:r>
                      <a:endParaRPr lang="ko-Kore-KR" altLang="en-US" dirty="0"/>
                    </a:p>
                  </a:txBody>
                  <a:tcPr marL="36000" marR="36000" marT="36000" marB="36000" anchor="ctr"/>
                </a:tc>
                <a:tc>
                  <a:txBody>
                    <a:bodyPr/>
                    <a:lstStyle/>
                    <a:p>
                      <a:pPr algn="ctr"/>
                      <a:r>
                        <a:rPr lang="en-US" sz="800" b="1" dirty="0">
                          <a:solidFill>
                            <a:srgbClr val="0070C0"/>
                          </a:solidFill>
                        </a:rPr>
                        <a:t>ATC</a:t>
                      </a:r>
                      <a:endParaRPr lang="ko-Kore-KR" altLang="en-US" dirty="0"/>
                    </a:p>
                  </a:txBody>
                  <a:tcPr marL="36000" marR="36000" marT="36000" marB="36000" anchor="ctr"/>
                </a:tc>
                <a:tc>
                  <a:txBody>
                    <a:bodyPr/>
                    <a:lstStyle/>
                    <a:p>
                      <a:pPr algn="ctr"/>
                      <a:r>
                        <a:rPr lang="en-US" altLang="ko-Kore-KR" sz="800" b="1" dirty="0">
                          <a:solidFill>
                            <a:srgbClr val="C00000"/>
                          </a:solidFill>
                        </a:rPr>
                        <a:t>101</a:t>
                      </a:r>
                      <a:endParaRPr lang="ko-Kore-KR" altLang="en-US" dirty="0"/>
                    </a:p>
                  </a:txBody>
                  <a:tcPr marL="36000" marR="36000" marT="36000" marB="36000" anchor="ctr"/>
                </a:tc>
                <a:extLst>
                  <a:ext uri="{0D108BD9-81ED-4DB2-BD59-A6C34878D82A}">
                    <a16:rowId xmlns:a16="http://schemas.microsoft.com/office/drawing/2014/main" val="2297352997"/>
                  </a:ext>
                </a:extLst>
              </a:tr>
              <a:tr h="186988">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GTC 115.5</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algn="ctr"/>
                      <a:r>
                        <a:rPr lang="en-US" sz="800" b="1" dirty="0">
                          <a:solidFill>
                            <a:srgbClr val="C00000"/>
                          </a:solidFill>
                        </a:rPr>
                        <a:t>28 109.3</a:t>
                      </a:r>
                      <a:endParaRPr lang="ko-Kore-KR" dirty="0"/>
                    </a:p>
                  </a:txBody>
                  <a:tcPr marL="36000" marR="36000" marT="36000" marB="36000" anchor="ctr"/>
                </a:tc>
                <a:tc hMerge="1">
                  <a:txBody>
                    <a:bodyPr/>
                    <a:lstStyle/>
                    <a:p>
                      <a:pPr marL="0" marR="0" lvl="0" indent="0" algn="ctr" rtl="0">
                        <a:spcBef>
                          <a:spcPts val="0"/>
                        </a:spcBef>
                        <a:spcAft>
                          <a:spcPts val="0"/>
                        </a:spcAft>
                        <a:buNone/>
                      </a:pPr>
                      <a:endParaRPr sz="800" b="1" dirty="0">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5377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28(10’)</a:t>
                      </a:r>
                      <a:endParaRPr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8202’</a:t>
                      </a:r>
                      <a:endParaRPr sz="458"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B050"/>
                          </a:solidFill>
                          <a:latin typeface="Calibri"/>
                          <a:ea typeface="Calibri"/>
                          <a:cs typeface="Calibri"/>
                          <a:sym typeface="Calibri"/>
                        </a:rPr>
                        <a:t>10(27’)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25045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EO</a:t>
                      </a:r>
                      <a:endParaRPr sz="800" dirty="0">
                        <a:solidFill>
                          <a:schemeClr val="lt1"/>
                        </a:solidFill>
                      </a:endParaRPr>
                    </a:p>
                  </a:txBody>
                  <a:tcPr marL="36000" marR="36000" marT="36000" marB="36000" anchor="ctr">
                    <a:solidFill>
                      <a:schemeClr val="accent1"/>
                    </a:solidFill>
                  </a:tcPr>
                </a:tc>
                <a:tc gridSpan="5">
                  <a:txBody>
                    <a:bodyPr/>
                    <a:lstStyle/>
                    <a:p>
                      <a:pPr marL="0" marR="0" lvl="0" indent="0" algn="ctr" rtl="0">
                        <a:spcBef>
                          <a:spcPts val="0"/>
                        </a:spcBef>
                        <a:spcAft>
                          <a:spcPts val="0"/>
                        </a:spcAft>
                        <a:buNone/>
                      </a:pPr>
                      <a:r>
                        <a:rPr lang="en-US" sz="800" dirty="0"/>
                        <a:t>10 : GTC 101/2, R360</a:t>
                      </a:r>
                      <a:endParaRPr sz="800" dirty="0"/>
                    </a:p>
                  </a:txBody>
                  <a:tcPr marL="36000" marR="36000" marT="36000" marB="36000" anchor="ctr"/>
                </a:tc>
                <a:tc hMerge="1">
                  <a:txBody>
                    <a:bodyPr/>
                    <a:lstStyle/>
                    <a:p>
                      <a:pPr marL="0" marR="0" lvl="0" indent="0" algn="ctr" rtl="0">
                        <a:spcBef>
                          <a:spcPts val="0"/>
                        </a:spcBef>
                        <a:spcAft>
                          <a:spcPts val="0"/>
                        </a:spcAft>
                        <a:buNone/>
                      </a:pPr>
                      <a:endParaRPr sz="458"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621699774"/>
                  </a:ext>
                </a:extLst>
              </a:tr>
              <a:tr h="153777">
                <a:tc gridSpan="6">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Sometimes Cross 50NM SW GTC FL200</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bl>
          </a:graphicData>
        </a:graphic>
      </p:graphicFrame>
      <p:graphicFrame>
        <p:nvGraphicFramePr>
          <p:cNvPr id="337" name="Google Shape;337;p23"/>
          <p:cNvGraphicFramePr/>
          <p:nvPr>
            <p:extLst>
              <p:ext uri="{D42A27DB-BD31-4B8C-83A1-F6EECF244321}">
                <p14:modId xmlns:p14="http://schemas.microsoft.com/office/powerpoint/2010/main" val="564158445"/>
              </p:ext>
            </p:extLst>
          </p:nvPr>
        </p:nvGraphicFramePr>
        <p:xfrm>
          <a:off x="2665"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RJSN(KIJ) 5ft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900" dirty="0"/>
                        <a:t>JPN AIR KIJ 131.85</a:t>
                      </a:r>
                      <a:endParaRPr dirty="0"/>
                    </a:p>
                    <a:p>
                      <a:pPr marL="0" marR="0" lvl="0" indent="0" algn="ctr" rtl="0">
                        <a:spcBef>
                          <a:spcPts val="0"/>
                        </a:spcBef>
                        <a:spcAft>
                          <a:spcPts val="0"/>
                        </a:spcAft>
                        <a:buNone/>
                      </a:pPr>
                      <a:r>
                        <a:rPr lang="en-US" sz="700" dirty="0">
                          <a:solidFill>
                            <a:srgbClr val="FF0000"/>
                          </a:solidFill>
                        </a:rPr>
                        <a:t>TWR Voice -5min</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339" name="Google Shape;339;p23"/>
          <p:cNvGraphicFramePr/>
          <p:nvPr/>
        </p:nvGraphicFramePr>
        <p:xfrm>
          <a:off x="-5861" y="3398687"/>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dirty="0">
                          <a:solidFill>
                            <a:schemeClr val="lt1"/>
                          </a:solidFill>
                          <a:latin typeface="Calibri"/>
                          <a:ea typeface="Calibri"/>
                          <a:cs typeface="Calibri"/>
                          <a:sym typeface="Calibri"/>
                        </a:rPr>
                        <a:t>FIX</a:t>
                      </a:r>
                      <a:endParaRPr dirty="0"/>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TextBox 2">
            <a:extLst>
              <a:ext uri="{FF2B5EF4-FFF2-40B4-BE49-F238E27FC236}">
                <a16:creationId xmlns:a16="http://schemas.microsoft.com/office/drawing/2014/main" id="{EF15FB2D-E42F-675C-3FFB-9ECEC0B206B8}"/>
              </a:ext>
            </a:extLst>
          </p:cNvPr>
          <p:cNvSpPr txBox="1"/>
          <p:nvPr/>
        </p:nvSpPr>
        <p:spPr>
          <a:xfrm>
            <a:off x="908959" y="2164788"/>
            <a:ext cx="1095172"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132.3 – 132.45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133.02 – 124.15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81F8CD04-2D37-9A88-545F-6BD77E8DA77E}"/>
              </a:ext>
            </a:extLst>
          </p:cNvPr>
          <p:cNvSpPr/>
          <p:nvPr/>
        </p:nvSpPr>
        <p:spPr>
          <a:xfrm>
            <a:off x="1622852" y="296883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617BE5F-5E96-D9F3-56F3-A5CEBCCEF63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텍스트, 폰트, 도표, 스크린샷이(가) 표시된 사진&#10;&#10;자동 생성된 설명">
            <a:extLst>
              <a:ext uri="{FF2B5EF4-FFF2-40B4-BE49-F238E27FC236}">
                <a16:creationId xmlns:a16="http://schemas.microsoft.com/office/drawing/2014/main" id="{DA774A71-0429-BF8E-9C9A-B87EB38399C5}"/>
              </a:ext>
            </a:extLst>
          </p:cNvPr>
          <p:cNvPicPr>
            <a:picLocks noChangeAspect="1"/>
          </p:cNvPicPr>
          <p:nvPr/>
        </p:nvPicPr>
        <p:blipFill>
          <a:blip r:embed="rId7"/>
          <a:stretch>
            <a:fillRect/>
          </a:stretch>
        </p:blipFill>
        <p:spPr>
          <a:xfrm>
            <a:off x="0" y="2106094"/>
            <a:ext cx="908959" cy="902797"/>
          </a:xfrm>
          <a:prstGeom prst="rect">
            <a:avLst/>
          </a:prstGeom>
        </p:spPr>
      </p:pic>
    </p:spTree>
    <p:extLst>
      <p:ext uri="{BB962C8B-B14F-4D97-AF65-F5344CB8AC3E}">
        <p14:creationId xmlns:p14="http://schemas.microsoft.com/office/powerpoint/2010/main" val="2493909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graphicFrame>
        <p:nvGraphicFramePr>
          <p:cNvPr id="310" name="Google Shape;310;p20"/>
          <p:cNvGraphicFramePr/>
          <p:nvPr>
            <p:extLst>
              <p:ext uri="{D42A27DB-BD31-4B8C-83A1-F6EECF244321}">
                <p14:modId xmlns:p14="http://schemas.microsoft.com/office/powerpoint/2010/main" val="3820343038"/>
              </p:ext>
            </p:extLst>
          </p:nvPr>
        </p:nvGraphicFramePr>
        <p:xfrm>
          <a:off x="1596" y="3416428"/>
          <a:ext cx="2331400" cy="218041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36775">
                <a:tc gridSpan="4">
                  <a:txBody>
                    <a:bodyPr/>
                    <a:lstStyle/>
                    <a:p>
                      <a:pPr marL="0" marR="0" lvl="0" indent="0" algn="ctr" rtl="0">
                        <a:spcBef>
                          <a:spcPts val="0"/>
                        </a:spcBef>
                        <a:spcAft>
                          <a:spcPts val="0"/>
                        </a:spcAft>
                        <a:buNone/>
                      </a:pPr>
                      <a:r>
                        <a:rPr lang="en-US" sz="800" dirty="0"/>
                        <a:t>NRT : MAMAS 240</a:t>
                      </a:r>
                      <a:endParaRPr sz="800" dirty="0"/>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24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RUTAS E</a:t>
                      </a:r>
                      <a:endParaRPr dirty="0"/>
                    </a:p>
                    <a:p>
                      <a:pPr marL="0" marR="0" lvl="0" indent="0" algn="ctr" rtl="0">
                        <a:spcBef>
                          <a:spcPts val="0"/>
                        </a:spcBef>
                        <a:spcAft>
                          <a:spcPts val="0"/>
                        </a:spcAft>
                        <a:buNone/>
                      </a:pPr>
                      <a:r>
                        <a:rPr lang="en-US" sz="800" b="1" dirty="0"/>
                        <a:t>(RUTAS T)</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ELGAR</a:t>
                      </a:r>
                      <a:endParaRPr dirty="0"/>
                    </a:p>
                    <a:p>
                      <a:pPr marL="0" marR="0" lvl="0" indent="0" algn="ctr" rtl="0">
                        <a:spcBef>
                          <a:spcPts val="0"/>
                        </a:spcBef>
                        <a:spcAft>
                          <a:spcPts val="0"/>
                        </a:spcAft>
                        <a:buNone/>
                      </a:pPr>
                      <a:r>
                        <a:rPr lang="en-US" sz="800" b="1" dirty="0"/>
                        <a:t>(TYLER)</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ILS 34L/R(Z)</a:t>
                      </a:r>
                      <a:endParaRPr sz="800" b="1"/>
                    </a:p>
                  </a:txBody>
                  <a:tcPr marL="36000" marR="36000" marT="36000" marB="36000" anchor="ctr"/>
                </a:tc>
                <a:extLst>
                  <a:ext uri="{0D108BD9-81ED-4DB2-BD59-A6C34878D82A}">
                    <a16:rowId xmlns:a16="http://schemas.microsoft.com/office/drawing/2014/main" val="10001"/>
                  </a:ext>
                </a:extLst>
              </a:tr>
              <a:tr h="202475">
                <a:tc>
                  <a:txBody>
                    <a:bodyPr/>
                    <a:lstStyle/>
                    <a:p>
                      <a:pPr marL="0" marR="0" lvl="0" indent="0" algn="ctr" rtl="0">
                        <a:spcBef>
                          <a:spcPts val="0"/>
                        </a:spcBef>
                        <a:spcAft>
                          <a:spcPts val="0"/>
                        </a:spcAft>
                        <a:buNone/>
                      </a:pPr>
                      <a:r>
                        <a:rPr lang="en-US" sz="800" b="1" dirty="0"/>
                        <a:t>16L/R</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RUTAS G</a:t>
                      </a:r>
                      <a:endParaRPr dirty="0"/>
                    </a:p>
                    <a:p>
                      <a:pPr marL="0" marR="0" lvl="0" indent="0" algn="ctr" rtl="0">
                        <a:spcBef>
                          <a:spcPts val="0"/>
                        </a:spcBef>
                        <a:spcAft>
                          <a:spcPts val="0"/>
                        </a:spcAft>
                        <a:buNone/>
                      </a:pPr>
                      <a:r>
                        <a:rPr lang="en-US" sz="800" b="1" dirty="0"/>
                        <a:t>(RUTAS N)</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GEMIN</a:t>
                      </a:r>
                      <a:endParaRPr dirty="0"/>
                    </a:p>
                    <a:p>
                      <a:pPr marL="0" marR="0" lvl="0" indent="0" algn="ctr" rtl="0">
                        <a:spcBef>
                          <a:spcPts val="0"/>
                        </a:spcBef>
                        <a:spcAft>
                          <a:spcPts val="0"/>
                        </a:spcAft>
                        <a:buNone/>
                      </a:pPr>
                      <a:r>
                        <a:rPr lang="en-US" sz="800" b="1" dirty="0"/>
                        <a:t>(NORMA)</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ILS Z 16L/R</a:t>
                      </a:r>
                      <a:endParaRPr sz="800" b="1"/>
                    </a:p>
                  </a:txBody>
                  <a:tcPr marL="36000" marR="36000" marT="36000" marB="36000" anchor="ctr"/>
                </a:tc>
                <a:extLst>
                  <a:ext uri="{0D108BD9-81ED-4DB2-BD59-A6C34878D82A}">
                    <a16:rowId xmlns:a16="http://schemas.microsoft.com/office/drawing/2014/main" val="10002"/>
                  </a:ext>
                </a:extLst>
              </a:tr>
              <a:tr h="12432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16L(135’)</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8202’</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34R(141’)</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24325">
                <a:tc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16R(130’)</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34L(139’)</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243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accent1"/>
                        </a:buClr>
                        <a:buSzPts val="800"/>
                        <a:buFont typeface="Calibri"/>
                        <a:buNone/>
                      </a:pPr>
                      <a:r>
                        <a:rPr lang="en-US" sz="800" b="0">
                          <a:solidFill>
                            <a:schemeClr val="accent1"/>
                          </a:solidFill>
                        </a:rPr>
                        <a:t>16L : ITM 4 / 34R : ITJ 14, 4 (DME)</a:t>
                      </a:r>
                      <a:endParaRPr/>
                    </a:p>
                    <a:p>
                      <a:pPr marL="0" marR="0" lvl="0" indent="0" algn="ctr" rtl="0">
                        <a:lnSpc>
                          <a:spcPct val="100000"/>
                        </a:lnSpc>
                        <a:spcBef>
                          <a:spcPts val="0"/>
                        </a:spcBef>
                        <a:spcAft>
                          <a:spcPts val="0"/>
                        </a:spcAft>
                        <a:buClr>
                          <a:schemeClr val="accent1"/>
                        </a:buClr>
                        <a:buSzPts val="800"/>
                        <a:buFont typeface="Calibri"/>
                        <a:buNone/>
                      </a:pPr>
                      <a:r>
                        <a:rPr lang="en-US" sz="800" b="0">
                          <a:solidFill>
                            <a:schemeClr val="accent1"/>
                          </a:solidFill>
                        </a:rPr>
                        <a:t>16R : IKF 4 / 34L : IYQ 12, 4 (DME)</a:t>
                      </a:r>
                      <a:endParaRPr sz="800" b="0">
                        <a:solidFill>
                          <a:schemeClr val="accent1"/>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2024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16L : B6(6433’), B7(7017’), 34R : B4(5849’), B2(6778’)</a:t>
                      </a:r>
                      <a:endParaRPr sz="80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16R : A6(6076’), A7(7624’), 34L : A5(6167’), A4(7641’)</a:t>
                      </a:r>
                      <a:r>
                        <a:rPr lang="en-US" sz="800">
                          <a:solidFill>
                            <a:schemeClr val="dk1"/>
                          </a:solidFill>
                        </a:rPr>
                        <a:t>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43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L/D DOWN before 14/12 DME, L/D FLAP 4 DME</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Arrival Taxi RTE in Jeppesen (No Numbering)</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311" name="Google Shape;311;p20"/>
          <p:cNvGraphicFramePr/>
          <p:nvPr>
            <p:extLst>
              <p:ext uri="{D42A27DB-BD31-4B8C-83A1-F6EECF244321}">
                <p14:modId xmlns:p14="http://schemas.microsoft.com/office/powerpoint/2010/main" val="450456469"/>
              </p:ext>
            </p:extLst>
          </p:nvPr>
        </p:nvGraphicFramePr>
        <p:xfrm>
          <a:off x="-2501" y="16504"/>
          <a:ext cx="2328850" cy="58993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94791">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RKPC(CJU) 119ft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RJAA(NRT) 135ft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95139">
                <a:tc>
                  <a:txBody>
                    <a:bodyPr/>
                    <a:lstStyle/>
                    <a:p>
                      <a:pPr marL="0" marR="0" lvl="0" indent="0" algn="ctr" rtl="0">
                        <a:spcBef>
                          <a:spcPts val="0"/>
                        </a:spcBef>
                        <a:spcAft>
                          <a:spcPts val="0"/>
                        </a:spcAft>
                        <a:buNone/>
                      </a:pPr>
                      <a:r>
                        <a:rPr lang="en-US" sz="900" dirty="0"/>
                        <a:t>KE CJU 129.4</a:t>
                      </a:r>
                      <a:endParaRPr dirty="0"/>
                    </a:p>
                    <a:p>
                      <a:pPr marL="0" marR="0" lvl="0" indent="0" algn="ctr" rtl="0">
                        <a:spcBef>
                          <a:spcPts val="0"/>
                        </a:spcBef>
                        <a:spcAft>
                          <a:spcPts val="0"/>
                        </a:spcAft>
                        <a:buNone/>
                      </a:pPr>
                      <a:r>
                        <a:rPr lang="en-US" sz="800" dirty="0">
                          <a:solidFill>
                            <a:srgbClr val="FF0000"/>
                          </a:solidFill>
                          <a:latin typeface="Calibri"/>
                          <a:ea typeface="Calibri"/>
                          <a:cs typeface="Calibri"/>
                          <a:sym typeface="Calibri"/>
                        </a:rPr>
                        <a:t>DCL -10분</a:t>
                      </a:r>
                      <a:endParaRPr sz="1050" dirty="0"/>
                    </a:p>
                  </a:txBody>
                  <a:tcPr marL="91450" marR="91450" marT="0" marB="0" anchor="ctr"/>
                </a:tc>
                <a:tc>
                  <a:txBody>
                    <a:bodyPr/>
                    <a:lstStyle/>
                    <a:p>
                      <a:pPr marL="0" marR="0" lvl="0" indent="0" algn="ctr" rtl="0">
                        <a:spcBef>
                          <a:spcPts val="0"/>
                        </a:spcBef>
                        <a:spcAft>
                          <a:spcPts val="0"/>
                        </a:spcAft>
                        <a:buNone/>
                      </a:pPr>
                      <a:r>
                        <a:rPr lang="en-US" sz="900" dirty="0"/>
                        <a:t>KE Tokyo 131.70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4B348A56-DF69-97BA-6C0C-39EEA383FCDD}"/>
              </a:ext>
            </a:extLst>
          </p:cNvPr>
          <p:cNvSpPr txBox="1"/>
          <p:nvPr/>
        </p:nvSpPr>
        <p:spPr>
          <a:xfrm>
            <a:off x="-63376" y="2956451"/>
            <a:ext cx="2517036" cy="281991"/>
          </a:xfrm>
          <a:prstGeom prst="rect">
            <a:avLst/>
          </a:prstGeom>
          <a:noFill/>
        </p:spPr>
        <p:txBody>
          <a:bodyPr wrap="none" tIns="36000" bIns="36000" rtlCol="0" anchor="ctr">
            <a:spAutoFit/>
          </a:bodyPr>
          <a:lstStyle/>
          <a:p>
            <a:r>
              <a:rPr kumimoji="1" lang="en-US" altLang="ko-Kore-KR" sz="600" b="1" u="sng" dirty="0">
                <a:solidFill>
                  <a:srgbClr val="0070C0"/>
                </a:solidFill>
                <a:latin typeface="Gulim" panose="020B0600000101010101" pitchFamily="34" charset="-127"/>
                <a:ea typeface="Gulim" panose="020B0600000101010101" pitchFamily="34" charset="-127"/>
              </a:rPr>
              <a:t>DEP 121.2</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ICN</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124.52 </a:t>
            </a:r>
            <a:r>
              <a:rPr kumimoji="1" lang="en-US" altLang="ko-KR" sz="600" b="1" u="sng">
                <a:solidFill>
                  <a:srgbClr val="0070C0"/>
                </a:solidFill>
                <a:latin typeface="Gulim" panose="020B0600000101010101" pitchFamily="34" charset="-127"/>
                <a:ea typeface="Gulim" panose="020B0600000101010101" pitchFamily="34" charset="-127"/>
              </a:rPr>
              <a:t>- KOB</a:t>
            </a:r>
            <a:r>
              <a:rPr kumimoji="1" lang="en-US" altLang="ko-Kore-KR" sz="600" b="1" u="sng">
                <a:solidFill>
                  <a:srgbClr val="0070C0"/>
                </a:solidFill>
                <a:latin typeface="Gulim" panose="020B0600000101010101" pitchFamily="34" charset="-127"/>
                <a:ea typeface="Gulim" panose="020B0600000101010101" pitchFamily="34" charset="-127"/>
              </a:rPr>
              <a:t> </a:t>
            </a:r>
            <a:r>
              <a:rPr kumimoji="1" lang="en-US" altLang="ko-Kore-KR" sz="600" b="1" u="sng" dirty="0">
                <a:solidFill>
                  <a:srgbClr val="0070C0"/>
                </a:solidFill>
                <a:latin typeface="Gulim" panose="020B0600000101010101" pitchFamily="34" charset="-127"/>
                <a:ea typeface="Gulim" panose="020B0600000101010101" pitchFamily="34" charset="-127"/>
              </a:rPr>
              <a:t>118.9 – FUK 133.15 – 119.35</a:t>
            </a:r>
          </a:p>
          <a:p>
            <a:pPr>
              <a:lnSpc>
                <a:spcPct val="150000"/>
              </a:lnSpc>
            </a:pPr>
            <a:r>
              <a:rPr kumimoji="1" lang="en-US" altLang="ko-Kore-KR" sz="600" b="1" u="sng" dirty="0">
                <a:solidFill>
                  <a:srgbClr val="0070C0"/>
                </a:solidFill>
                <a:latin typeface="Gulim" panose="020B0600000101010101" pitchFamily="34" charset="-127"/>
                <a:ea typeface="Gulim" panose="020B0600000101010101" pitchFamily="34" charset="-127"/>
              </a:rPr>
              <a:t>134.35 - TKO 125.9 -</a:t>
            </a:r>
            <a:r>
              <a:rPr kumimoji="1" lang="en-US" altLang="ko-KR" sz="600" b="1" u="sng" dirty="0">
                <a:solidFill>
                  <a:srgbClr val="0070C0"/>
                </a:solidFill>
                <a:latin typeface="Gulim" panose="020B0600000101010101" pitchFamily="34" charset="-127"/>
                <a:ea typeface="Gulim" panose="020B0600000101010101" pitchFamily="34" charset="-127"/>
              </a:rPr>
              <a:t> TKO APP 124.4</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a:t>
            </a:r>
            <a:r>
              <a:rPr kumimoji="1" lang="ko-KR" altLang="en-US" sz="600" b="1" u="sng" dirty="0">
                <a:solidFill>
                  <a:srgbClr val="0070C0"/>
                </a:solidFill>
                <a:latin typeface="Gulim" panose="020B0600000101010101" pitchFamily="34" charset="-127"/>
                <a:ea typeface="Gulim" panose="020B0600000101010101" pitchFamily="34" charset="-127"/>
              </a:rPr>
              <a:t> </a:t>
            </a:r>
            <a:r>
              <a:rPr kumimoji="1" lang="en-US" altLang="ko-KR" sz="600" b="1" u="sng" dirty="0">
                <a:solidFill>
                  <a:srgbClr val="0070C0"/>
                </a:solidFill>
                <a:latin typeface="Gulim" panose="020B0600000101010101" pitchFamily="34" charset="-127"/>
                <a:ea typeface="Gulim" panose="020B0600000101010101" pitchFamily="34" charset="-127"/>
              </a:rPr>
              <a:t>120.2 – ARR 121.27</a:t>
            </a:r>
            <a:r>
              <a:rPr kumimoji="1" lang="ko-KR" altLang="en-US" sz="600" b="1" u="sng" dirty="0">
                <a:solidFill>
                  <a:srgbClr val="0070C0"/>
                </a:solidFill>
                <a:latin typeface="Gulim" panose="020B0600000101010101" pitchFamily="34" charset="-127"/>
                <a:ea typeface="Gulim" panose="020B0600000101010101" pitchFamily="34" charset="-127"/>
              </a:rPr>
              <a:t> </a:t>
            </a:r>
            <a:endParaRPr kumimoji="1" lang="ko-Kore-KR" altLang="en-US" sz="6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F03909F-D98D-16B4-E03D-223D925F26E1}"/>
              </a:ext>
            </a:extLst>
          </p:cNvPr>
          <p:cNvSpPr/>
          <p:nvPr/>
        </p:nvSpPr>
        <p:spPr>
          <a:xfrm>
            <a:off x="1663362" y="317717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0A0BD91C-DB99-852F-BA1E-37D83389EC4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14;p10">
            <a:extLst>
              <a:ext uri="{FF2B5EF4-FFF2-40B4-BE49-F238E27FC236}">
                <a16:creationId xmlns:a16="http://schemas.microsoft.com/office/drawing/2014/main" id="{C861A1D2-8B8B-326B-9B77-97488D08966C}"/>
              </a:ext>
            </a:extLst>
          </p:cNvPr>
          <p:cNvGraphicFramePr/>
          <p:nvPr>
            <p:extLst>
              <p:ext uri="{D42A27DB-BD31-4B8C-83A1-F6EECF244321}">
                <p14:modId xmlns:p14="http://schemas.microsoft.com/office/powerpoint/2010/main" val="3889122821"/>
              </p:ext>
            </p:extLst>
          </p:nvPr>
        </p:nvGraphicFramePr>
        <p:xfrm>
          <a:off x="0" y="614488"/>
          <a:ext cx="2326349" cy="1498810"/>
        </p:xfrm>
        <a:graphic>
          <a:graphicData uri="http://schemas.openxmlformats.org/drawingml/2006/table">
            <a:tbl>
              <a:tblPr firstRow="1" bandRow="1">
                <a:noFill/>
                <a:tableStyleId>{A521BE36-7E6F-4EC9-8D66-1CF97A6895EC}</a:tableStyleId>
              </a:tblPr>
              <a:tblGrid>
                <a:gridCol w="219416">
                  <a:extLst>
                    <a:ext uri="{9D8B030D-6E8A-4147-A177-3AD203B41FA5}">
                      <a16:colId xmlns:a16="http://schemas.microsoft.com/office/drawing/2014/main" val="20000"/>
                    </a:ext>
                  </a:extLst>
                </a:gridCol>
                <a:gridCol w="81044">
                  <a:extLst>
                    <a:ext uri="{9D8B030D-6E8A-4147-A177-3AD203B41FA5}">
                      <a16:colId xmlns:a16="http://schemas.microsoft.com/office/drawing/2014/main" val="20001"/>
                    </a:ext>
                  </a:extLst>
                </a:gridCol>
                <a:gridCol w="358369">
                  <a:extLst>
                    <a:ext uri="{9D8B030D-6E8A-4147-A177-3AD203B41FA5}">
                      <a16:colId xmlns:a16="http://schemas.microsoft.com/office/drawing/2014/main" val="20002"/>
                    </a:ext>
                  </a:extLst>
                </a:gridCol>
                <a:gridCol w="177668">
                  <a:extLst>
                    <a:ext uri="{9D8B030D-6E8A-4147-A177-3AD203B41FA5}">
                      <a16:colId xmlns:a16="http://schemas.microsoft.com/office/drawing/2014/main" val="20003"/>
                    </a:ext>
                  </a:extLst>
                </a:gridCol>
                <a:gridCol w="208732">
                  <a:extLst>
                    <a:ext uri="{9D8B030D-6E8A-4147-A177-3AD203B41FA5}">
                      <a16:colId xmlns:a16="http://schemas.microsoft.com/office/drawing/2014/main" val="20004"/>
                    </a:ext>
                  </a:extLst>
                </a:gridCol>
                <a:gridCol w="219786">
                  <a:extLst>
                    <a:ext uri="{9D8B030D-6E8A-4147-A177-3AD203B41FA5}">
                      <a16:colId xmlns:a16="http://schemas.microsoft.com/office/drawing/2014/main" val="20005"/>
                    </a:ext>
                  </a:extLst>
                </a:gridCol>
                <a:gridCol w="239704">
                  <a:extLst>
                    <a:ext uri="{9D8B030D-6E8A-4147-A177-3AD203B41FA5}">
                      <a16:colId xmlns:a16="http://schemas.microsoft.com/office/drawing/2014/main" val="20006"/>
                    </a:ext>
                  </a:extLst>
                </a:gridCol>
                <a:gridCol w="114074">
                  <a:extLst>
                    <a:ext uri="{9D8B030D-6E8A-4147-A177-3AD203B41FA5}">
                      <a16:colId xmlns:a16="http://schemas.microsoft.com/office/drawing/2014/main" val="20007"/>
                    </a:ext>
                  </a:extLst>
                </a:gridCol>
                <a:gridCol w="353778">
                  <a:extLst>
                    <a:ext uri="{9D8B030D-6E8A-4147-A177-3AD203B41FA5}">
                      <a16:colId xmlns:a16="http://schemas.microsoft.com/office/drawing/2014/main" val="20008"/>
                    </a:ext>
                  </a:extLst>
                </a:gridCol>
                <a:gridCol w="353778">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dirty="0"/>
                        <a:t>CJU : SID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TAMNA </a:t>
                      </a:r>
                      <a:r>
                        <a:rPr lang="en-US" sz="800" b="1" dirty="0" err="1">
                          <a:solidFill>
                            <a:srgbClr val="0070C0"/>
                          </a:solidFill>
                        </a:rPr>
                        <a:t>xE</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066</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066</a:t>
                      </a:r>
                      <a:endParaRPr sz="800" b="1"/>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70C0"/>
                          </a:solidFill>
                        </a:rPr>
                        <a:t>9000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C00000"/>
                          </a:solidFill>
                        </a:rPr>
                        <a:t>066</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25</a:t>
                      </a:r>
                      <a:endParaRPr sz="800" b="1" dirty="0"/>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TAMNA </a:t>
                      </a:r>
                      <a:r>
                        <a:rPr lang="en-US" sz="800" b="1" dirty="0" err="1">
                          <a:solidFill>
                            <a:srgbClr val="0070C0"/>
                          </a:solidFill>
                        </a:rPr>
                        <a:t>xW</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246</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246</a:t>
                      </a:r>
                      <a:endParaRPr sz="800" b="1"/>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70C0"/>
                          </a:solidFill>
                        </a:rPr>
                        <a:t>ATC</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C00000"/>
                          </a:solidFill>
                        </a:rPr>
                        <a:t>246</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YDM 109.0</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25 111.3</a:t>
                      </a: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1570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a:t>07 : NONE</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a:t>25 : YDM246/3, R290</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latin typeface="Calibri"/>
                          <a:ea typeface="Calibri"/>
                          <a:cs typeface="Calibri"/>
                          <a:sym typeface="Calibri"/>
                        </a:rPr>
                        <a:t>07(87’)</a:t>
                      </a:r>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10433’</a:t>
                      </a:r>
                      <a:endParaRPr sz="800" b="1">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25(77’)</a:t>
                      </a:r>
                      <a:endParaRPr sz="800" b="1">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6" name="Google Shape;218;p10">
            <a:extLst>
              <a:ext uri="{FF2B5EF4-FFF2-40B4-BE49-F238E27FC236}">
                <a16:creationId xmlns:a16="http://schemas.microsoft.com/office/drawing/2014/main" id="{0D8669F7-0055-7495-FBE1-C5C99B795B7B}"/>
              </a:ext>
            </a:extLst>
          </p:cNvPr>
          <p:cNvPicPr preferRelativeResize="0"/>
          <p:nvPr/>
        </p:nvPicPr>
        <p:blipFill rotWithShape="1">
          <a:blip r:embed="rId7">
            <a:alphaModFix/>
          </a:blip>
          <a:srcRect/>
          <a:stretch/>
        </p:blipFill>
        <p:spPr>
          <a:xfrm>
            <a:off x="-2501" y="2118979"/>
            <a:ext cx="1511236" cy="828244"/>
          </a:xfrm>
          <a:prstGeom prst="rect">
            <a:avLst/>
          </a:prstGeom>
          <a:noFill/>
          <a:ln>
            <a:noFill/>
          </a:ln>
        </p:spPr>
      </p:pic>
    </p:spTree>
    <p:extLst>
      <p:ext uri="{BB962C8B-B14F-4D97-AF65-F5344CB8AC3E}">
        <p14:creationId xmlns:p14="http://schemas.microsoft.com/office/powerpoint/2010/main" val="412810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aphicFrame>
        <p:nvGraphicFramePr>
          <p:cNvPr id="318" name="Google Shape;318;p21"/>
          <p:cNvGraphicFramePr/>
          <p:nvPr/>
        </p:nvGraphicFramePr>
        <p:xfrm>
          <a:off x="0" y="611908"/>
          <a:ext cx="2332950" cy="178453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110475">
                  <a:extLst>
                    <a:ext uri="{9D8B030D-6E8A-4147-A177-3AD203B41FA5}">
                      <a16:colId xmlns:a16="http://schemas.microsoft.com/office/drawing/2014/main" val="20004"/>
                    </a:ext>
                  </a:extLst>
                </a:gridCol>
                <a:gridCol w="299925">
                  <a:extLst>
                    <a:ext uri="{9D8B030D-6E8A-4147-A177-3AD203B41FA5}">
                      <a16:colId xmlns:a16="http://schemas.microsoft.com/office/drawing/2014/main" val="20005"/>
                    </a:ext>
                  </a:extLst>
                </a:gridCol>
                <a:gridCol w="427575">
                  <a:extLst>
                    <a:ext uri="{9D8B030D-6E8A-4147-A177-3AD203B41FA5}">
                      <a16:colId xmlns:a16="http://schemas.microsoft.com/office/drawing/2014/main" val="20006"/>
                    </a:ext>
                  </a:extLst>
                </a:gridCol>
                <a:gridCol w="101050">
                  <a:extLst>
                    <a:ext uri="{9D8B030D-6E8A-4147-A177-3AD203B41FA5}">
                      <a16:colId xmlns:a16="http://schemas.microsoft.com/office/drawing/2014/main" val="20007"/>
                    </a:ext>
                  </a:extLst>
                </a:gridCol>
                <a:gridCol w="326525">
                  <a:extLst>
                    <a:ext uri="{9D8B030D-6E8A-4147-A177-3AD203B41FA5}">
                      <a16:colId xmlns:a16="http://schemas.microsoft.com/office/drawing/2014/main" val="20008"/>
                    </a:ext>
                  </a:extLst>
                </a:gridCol>
              </a:tblGrid>
              <a:tr h="159300">
                <a:tc gridSpan="9">
                  <a:txBody>
                    <a:bodyPr/>
                    <a:lstStyle/>
                    <a:p>
                      <a:pPr marL="0" marR="0" lvl="0" indent="0" algn="ctr" rtl="0">
                        <a:spcBef>
                          <a:spcPts val="0"/>
                        </a:spcBef>
                        <a:spcAft>
                          <a:spcPts val="0"/>
                        </a:spcAft>
                        <a:buNone/>
                      </a:pPr>
                      <a:r>
                        <a:rPr lang="en-US" sz="800"/>
                        <a:t>NRT : SID – ENPAR </a:t>
                      </a:r>
                      <a:r>
                        <a:rPr lang="en-US" sz="800" dirty="0" err="1"/>
                        <a:t>tx</a:t>
                      </a:r>
                      <a:r>
                        <a:rPr lang="en-US" sz="800" dirty="0"/>
                        <a:t> (NADP 1)</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TETRA x</a:t>
                      </a:r>
                      <a:endParaRPr/>
                    </a:p>
                    <a:p>
                      <a:pPr marL="0" marR="0" lvl="0" indent="0" algn="ctr" rtl="0">
                        <a:spcBef>
                          <a:spcPts val="0"/>
                        </a:spcBef>
                        <a:spcAft>
                          <a:spcPts val="0"/>
                        </a:spcAft>
                        <a:buNone/>
                      </a:pPr>
                      <a:r>
                        <a:rPr lang="en-US" sz="800" b="1"/>
                        <a:t>ENPAR tx</a:t>
                      </a:r>
                      <a:endParaRPr sz="800" b="1"/>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157</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157</a:t>
                      </a:r>
                      <a:endParaRPr sz="458"/>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157</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337</a:t>
                      </a:r>
                      <a:endParaRPr sz="458"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t>337</a:t>
                      </a:r>
                      <a:endParaRPr sz="458"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7000/ATC</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337</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NRE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117.9</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 </a:t>
                      </a:r>
                      <a:endParaRPr/>
                    </a:p>
                    <a:p>
                      <a:pPr marL="0" marR="0" lvl="0" indent="0" algn="ctr" rtl="0">
                        <a:spcBef>
                          <a:spcPts val="0"/>
                        </a:spcBef>
                        <a:spcAft>
                          <a:spcPts val="0"/>
                        </a:spcAft>
                        <a:buNone/>
                      </a:pPr>
                      <a:r>
                        <a:rPr lang="en-US" sz="800" b="1">
                          <a:solidFill>
                            <a:srgbClr val="C00000"/>
                          </a:solidFill>
                        </a:rPr>
                        <a:t>110.7</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111.5</a:t>
                      </a:r>
                      <a:endParaRPr sz="800"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34L 111.9</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34R 110.9</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16L(135’)</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8202’</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34R(141’)</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44775">
                <a:tc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16R (130’)</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34L (139’)</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44775">
                <a:tc gridSpan="9">
                  <a:txBody>
                    <a:bodyPr/>
                    <a:lstStyle/>
                    <a:p>
                      <a:pPr marL="0" marR="0" lvl="0" indent="0" algn="ctr" rtl="0">
                        <a:lnSpc>
                          <a:spcPct val="100000"/>
                        </a:lnSpc>
                        <a:spcBef>
                          <a:spcPts val="0"/>
                        </a:spcBef>
                        <a:spcAft>
                          <a:spcPts val="0"/>
                        </a:spcAft>
                        <a:buClr>
                          <a:schemeClr val="accent1"/>
                        </a:buClr>
                        <a:buSzPts val="800"/>
                        <a:buFont typeface="Calibri"/>
                        <a:buNone/>
                      </a:pPr>
                      <a:r>
                        <a:rPr lang="en-US" sz="800" b="1" dirty="0">
                          <a:solidFill>
                            <a:schemeClr val="accent1"/>
                          </a:solidFill>
                        </a:rPr>
                        <a:t>34R : CLB 220/10000, A4R21/22/23 220KTS </a:t>
                      </a:r>
                      <a:r>
                        <a:rPr lang="en-US" sz="800" b="1" dirty="0" err="1">
                          <a:solidFill>
                            <a:schemeClr val="accent1"/>
                          </a:solidFill>
                        </a:rPr>
                        <a:t>확인</a:t>
                      </a:r>
                      <a:endParaRPr sz="800" b="1" dirty="0">
                        <a:solidFill>
                          <a:schemeClr val="accent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Verity ENPAR </a:t>
                      </a:r>
                      <a:r>
                        <a:rPr lang="en-US" sz="800" b="1" dirty="0" err="1">
                          <a:solidFill>
                            <a:schemeClr val="dk1"/>
                          </a:solidFill>
                        </a:rPr>
                        <a:t>tx</a:t>
                      </a:r>
                      <a:r>
                        <a:rPr lang="en-US" sz="800" b="1" dirty="0">
                          <a:solidFill>
                            <a:schemeClr val="dk1"/>
                          </a:solidFill>
                        </a:rPr>
                        <a:t> TETRA 12000A </a:t>
                      </a:r>
                      <a:endParaRPr sz="800" b="1"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dirty="0">
                          <a:solidFill>
                            <a:schemeClr val="dk1"/>
                          </a:solidFill>
                        </a:rPr>
                        <a:t>APU Start, TAXI RTE 1, 2, 3, 4 RWY </a:t>
                      </a:r>
                      <a:r>
                        <a:rPr lang="en-US" sz="800" dirty="0" err="1">
                          <a:solidFill>
                            <a:schemeClr val="dk1"/>
                          </a:solidFill>
                        </a:rPr>
                        <a:t>별</a:t>
                      </a:r>
                      <a:r>
                        <a:rPr lang="en-US" sz="800" dirty="0">
                          <a:solidFill>
                            <a:schemeClr val="dk1"/>
                          </a:solidFill>
                        </a:rPr>
                        <a:t> DEP RTE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319" name="Google Shape;319;p21"/>
          <p:cNvGraphicFramePr/>
          <p:nvPr>
            <p:extLst>
              <p:ext uri="{D42A27DB-BD31-4B8C-83A1-F6EECF244321}">
                <p14:modId xmlns:p14="http://schemas.microsoft.com/office/powerpoint/2010/main" val="1699432018"/>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bg1"/>
                          </a:solidFill>
                          <a:hlinkClick r:id="rId3">
                            <a:extLst>
                              <a:ext uri="{A12FA001-AC4F-418D-AE19-62706E023703}">
                                <ahyp:hlinkClr xmlns:ahyp="http://schemas.microsoft.com/office/drawing/2018/hyperlinkcolor" val="tx"/>
                              </a:ext>
                            </a:extLst>
                          </a:hlinkClick>
                        </a:rPr>
                        <a:t>RJAA(NRT) 135ft</a:t>
                      </a:r>
                      <a:endParaRP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RKPC(CJU) 119ft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Tokyo 131.70</a:t>
                      </a:r>
                      <a:endParaRPr dirty="0"/>
                    </a:p>
                    <a:p>
                      <a:pPr marL="0" marR="0" lvl="0" indent="0" algn="ctr" rtl="0">
                        <a:spcBef>
                          <a:spcPts val="0"/>
                        </a:spcBef>
                        <a:spcAft>
                          <a:spcPts val="0"/>
                        </a:spcAft>
                        <a:buNone/>
                      </a:pPr>
                      <a:r>
                        <a:rPr lang="en-US" sz="800" dirty="0">
                          <a:solidFill>
                            <a:srgbClr val="FF0000"/>
                          </a:solidFill>
                        </a:rPr>
                        <a:t>DCL -15분</a:t>
                      </a:r>
                      <a:endParaRPr sz="8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CJU 129.4</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3" name="TextBox 2">
            <a:extLst>
              <a:ext uri="{FF2B5EF4-FFF2-40B4-BE49-F238E27FC236}">
                <a16:creationId xmlns:a16="http://schemas.microsoft.com/office/drawing/2014/main" id="{8305CE87-CB2D-B9F1-7BCB-D3D6DE9B003F}"/>
              </a:ext>
            </a:extLst>
          </p:cNvPr>
          <p:cNvSpPr txBox="1"/>
          <p:nvPr/>
        </p:nvSpPr>
        <p:spPr>
          <a:xfrm>
            <a:off x="-20938" y="2486190"/>
            <a:ext cx="2318263"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120.5 – 128.12 – FUK 133.02 – KOB 133.55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132.7 – FUK 133.15 – KOB 118.9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ICN 124.52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121.2</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61F60108-1835-DB8D-420A-D0FC0E5B5987}"/>
              </a:ext>
            </a:extLst>
          </p:cNvPr>
          <p:cNvSpPr/>
          <p:nvPr/>
        </p:nvSpPr>
        <p:spPr>
          <a:xfrm>
            <a:off x="1622852" y="2991989"/>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5AC28DF6-545E-A19C-0E4B-50E8331FA052}"/>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27;p11">
            <a:extLst>
              <a:ext uri="{FF2B5EF4-FFF2-40B4-BE49-F238E27FC236}">
                <a16:creationId xmlns:a16="http://schemas.microsoft.com/office/drawing/2014/main" id="{7A61CDFA-D55D-A334-BEF7-D36F17824D3B}"/>
              </a:ext>
            </a:extLst>
          </p:cNvPr>
          <p:cNvGraphicFramePr/>
          <p:nvPr>
            <p:extLst>
              <p:ext uri="{D42A27DB-BD31-4B8C-83A1-F6EECF244321}">
                <p14:modId xmlns:p14="http://schemas.microsoft.com/office/powerpoint/2010/main" val="1352437702"/>
              </p:ext>
            </p:extLst>
          </p:nvPr>
        </p:nvGraphicFramePr>
        <p:xfrm>
          <a:off x="4472" y="3770996"/>
          <a:ext cx="2326800" cy="1772885"/>
        </p:xfrm>
        <a:graphic>
          <a:graphicData uri="http://schemas.openxmlformats.org/drawingml/2006/table">
            <a:tbl>
              <a:tblPr firstRow="1" bandRow="1">
                <a:noFill/>
                <a:tableStyleId>{A521BE36-7E6F-4EC9-8D66-1CF97A6895EC}</a:tableStyleId>
              </a:tblPr>
              <a:tblGrid>
                <a:gridCol w="406975">
                  <a:extLst>
                    <a:ext uri="{9D8B030D-6E8A-4147-A177-3AD203B41FA5}">
                      <a16:colId xmlns:a16="http://schemas.microsoft.com/office/drawing/2014/main" val="20000"/>
                    </a:ext>
                  </a:extLst>
                </a:gridCol>
                <a:gridCol w="754125">
                  <a:extLst>
                    <a:ext uri="{9D8B030D-6E8A-4147-A177-3AD203B41FA5}">
                      <a16:colId xmlns:a16="http://schemas.microsoft.com/office/drawing/2014/main" val="20001"/>
                    </a:ext>
                  </a:extLst>
                </a:gridCol>
                <a:gridCol w="582850">
                  <a:extLst>
                    <a:ext uri="{9D8B030D-6E8A-4147-A177-3AD203B41FA5}">
                      <a16:colId xmlns:a16="http://schemas.microsoft.com/office/drawing/2014/main" val="20003"/>
                    </a:ext>
                  </a:extLst>
                </a:gridCol>
                <a:gridCol w="582850">
                  <a:extLst>
                    <a:ext uri="{9D8B030D-6E8A-4147-A177-3AD203B41FA5}">
                      <a16:colId xmlns:a16="http://schemas.microsoft.com/office/drawing/2014/main" val="20005"/>
                    </a:ext>
                  </a:extLst>
                </a:gridCol>
              </a:tblGrid>
              <a:tr h="1560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CJU : STAR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FFC000"/>
                          </a:solidFill>
                          <a:effectLst/>
                          <a:uLnTx/>
                          <a:uFillTx/>
                          <a:latin typeface="Calibri"/>
                          <a:cs typeface="Calibri"/>
                          <a:sym typeface="Arial"/>
                        </a:rPr>
                        <a:t>AFT Merge PT(220kts) DCT IAF(210kts), FAF (160kts)</a:t>
                      </a:r>
                      <a:endParaRPr kumimoji="0" lang="en-US" altLang="ko-Kore-KR" sz="800" b="1" i="0" u="none" strike="noStrike" kern="0" cap="none" spc="0" normalizeH="0" baseline="0" noProof="0" dirty="0">
                        <a:ln>
                          <a:noFill/>
                        </a:ln>
                        <a:solidFill>
                          <a:srgbClr val="FFC000"/>
                        </a:solidFill>
                        <a:effectLst/>
                        <a:uLnTx/>
                        <a:uFillTx/>
                        <a:latin typeface="Calibri"/>
                        <a:cs typeface="Calibri"/>
                        <a:sym typeface="Aria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a:t>ILS Z 07</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TAMNA </a:t>
                      </a:r>
                      <a:r>
                        <a:rPr lang="en-US" sz="800" b="1" dirty="0" err="1"/>
                        <a:t>xP</a:t>
                      </a:r>
                      <a:endParaRPr sz="458" dirty="0"/>
                    </a:p>
                  </a:txBody>
                  <a:tcPr marL="36000" marR="36000" marT="36000" marB="36000" anchor="ctr"/>
                </a:tc>
                <a:tc>
                  <a:txBody>
                    <a:bodyPr/>
                    <a:lstStyle/>
                    <a:p>
                      <a:pPr marL="0" marR="0" lvl="0" indent="0" algn="ctr" rtl="0">
                        <a:spcBef>
                          <a:spcPts val="0"/>
                        </a:spcBef>
                        <a:spcAft>
                          <a:spcPts val="0"/>
                        </a:spcAft>
                        <a:buNone/>
                      </a:pPr>
                      <a:r>
                        <a:rPr lang="en-US" sz="800" b="1" dirty="0"/>
                        <a:t>YUMIN</a:t>
                      </a:r>
                      <a:endParaRPr sz="458" dirty="0"/>
                    </a:p>
                  </a:txBody>
                  <a:tcPr marL="36000" marR="36000" marT="36000" marB="36000" anchor="ctr"/>
                </a:tc>
                <a:tc>
                  <a:txBody>
                    <a:bodyPr/>
                    <a:lstStyle/>
                    <a:p>
                      <a:pPr marL="0" marR="0" lvl="0" indent="0" algn="l" rtl="0">
                        <a:spcBef>
                          <a:spcPts val="0"/>
                        </a:spcBef>
                        <a:spcAft>
                          <a:spcPts val="0"/>
                        </a:spcAft>
                        <a:buNone/>
                      </a:pPr>
                      <a:endParaRPr sz="458"/>
                    </a:p>
                  </a:txBody>
                  <a:tcPr marL="36000" marR="36000" marT="36000" marB="36000" anchor="ctr"/>
                </a:tc>
                <a:extLst>
                  <a:ext uri="{0D108BD9-81ED-4DB2-BD59-A6C34878D82A}">
                    <a16:rowId xmlns:a16="http://schemas.microsoft.com/office/drawing/2014/main" val="10001"/>
                  </a:ext>
                </a:extLst>
              </a:tr>
              <a:tr h="141800">
                <a:tc gridSpan="4">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B737-900, 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endParaRPr sz="458" dirty="0"/>
                    </a:p>
                  </a:txBody>
                  <a:tcPr marL="36000" marR="36000" marT="36000" marB="36000" anchor="ctr"/>
                </a:tc>
                <a:tc hMerge="1">
                  <a:txBody>
                    <a:bodyPr/>
                    <a:lstStyle/>
                    <a:p>
                      <a:pPr marL="0" marR="0" lvl="0" indent="0" algn="ctr" rtl="0">
                        <a:spcBef>
                          <a:spcPts val="0"/>
                        </a:spcBef>
                        <a:spcAft>
                          <a:spcPts val="0"/>
                        </a:spcAft>
                        <a:buNone/>
                      </a:pPr>
                      <a:endParaRPr sz="458" dirty="0"/>
                    </a:p>
                  </a:txBody>
                  <a:tcPr marL="36000" marR="36000" marT="36000" marB="36000" anchor="ctr"/>
                </a:tc>
                <a:tc hMerge="1">
                  <a:txBody>
                    <a:bodyPr/>
                    <a:lstStyle/>
                    <a:p>
                      <a:pPr marL="0" marR="0" lvl="0" indent="0" algn="l" rtl="0">
                        <a:spcBef>
                          <a:spcPts val="0"/>
                        </a:spcBef>
                        <a:spcAft>
                          <a:spcPts val="0"/>
                        </a:spcAft>
                        <a:buNone/>
                      </a:pPr>
                      <a:endParaRPr sz="458" dirty="0"/>
                    </a:p>
                  </a:txBody>
                  <a:tcPr marL="36000" marR="36000" marT="36000" marB="36000" anchor="ctr"/>
                </a:tc>
                <a:extLst>
                  <a:ext uri="{0D108BD9-81ED-4DB2-BD59-A6C34878D82A}">
                    <a16:rowId xmlns:a16="http://schemas.microsoft.com/office/drawing/2014/main" val="1915447704"/>
                  </a:ext>
                </a:extLst>
              </a:tr>
              <a:tr h="141800">
                <a:tc>
                  <a:txBody>
                    <a:bodyPr/>
                    <a:lstStyle/>
                    <a:p>
                      <a:pPr marL="0" marR="0" lvl="0" indent="0" algn="ctr" rtl="0">
                        <a:spcBef>
                          <a:spcPts val="0"/>
                        </a:spcBef>
                        <a:spcAft>
                          <a:spcPts val="0"/>
                        </a:spcAft>
                        <a:buNone/>
                      </a:pPr>
                      <a:r>
                        <a:rPr lang="en-US" sz="800" b="1"/>
                        <a:t>ILS Z 25</a:t>
                      </a:r>
                      <a:endParaRPr sz="800" b="1"/>
                    </a:p>
                  </a:txBody>
                  <a:tcPr marL="36000" marR="36000" marT="36000" marB="36000" anchor="ctr"/>
                </a:tc>
                <a:tc>
                  <a:txBody>
                    <a:bodyPr/>
                    <a:lstStyle/>
                    <a:p>
                      <a:pPr marL="0" marR="0" lvl="0" indent="0" algn="ctr" rtl="0">
                        <a:spcBef>
                          <a:spcPts val="0"/>
                        </a:spcBef>
                        <a:spcAft>
                          <a:spcPts val="0"/>
                        </a:spcAft>
                        <a:buNone/>
                      </a:pPr>
                      <a:r>
                        <a:rPr lang="en-US" sz="800" b="1" dirty="0"/>
                        <a:t>TAMNA </a:t>
                      </a:r>
                      <a:r>
                        <a:rPr lang="en-US" sz="800" b="1" dirty="0" err="1"/>
                        <a:t>xT</a:t>
                      </a:r>
                      <a:r>
                        <a:rPr lang="en-US" sz="800" b="1" dirty="0"/>
                        <a:t>(</a:t>
                      </a:r>
                      <a:r>
                        <a:rPr lang="en-US" sz="800" b="1" dirty="0" err="1"/>
                        <a:t>xM</a:t>
                      </a:r>
                      <a:r>
                        <a:rPr lang="en-US" sz="800" b="1" dirty="0"/>
                        <a:t>)</a:t>
                      </a:r>
                      <a:endParaRPr sz="458" dirty="0"/>
                    </a:p>
                  </a:txBody>
                  <a:tcPr marL="36000" marR="36000" marT="36000" marB="36000" anchor="ctr"/>
                </a:tc>
                <a:tc>
                  <a:txBody>
                    <a:bodyPr/>
                    <a:lstStyle/>
                    <a:p>
                      <a:pPr marL="0" marR="0" lvl="0" indent="0" algn="ctr" rtl="0">
                        <a:spcBef>
                          <a:spcPts val="0"/>
                        </a:spcBef>
                        <a:spcAft>
                          <a:spcPts val="0"/>
                        </a:spcAft>
                        <a:buNone/>
                      </a:pPr>
                      <a:r>
                        <a:rPr lang="en-US" sz="800" b="1"/>
                        <a:t>DUKAL</a:t>
                      </a:r>
                      <a:endParaRPr sz="458"/>
                    </a:p>
                  </a:txBody>
                  <a:tcPr marL="36000" marR="36000" marT="36000" marB="36000" anchor="ctr"/>
                </a:tc>
                <a:tc>
                  <a:txBody>
                    <a:bodyPr/>
                    <a:lstStyle/>
                    <a:p>
                      <a:pPr marL="0" marR="0" lvl="0" indent="0" algn="l" rtl="0">
                        <a:spcBef>
                          <a:spcPts val="0"/>
                        </a:spcBef>
                        <a:spcAft>
                          <a:spcPts val="0"/>
                        </a:spcAft>
                        <a:buNone/>
                      </a:pPr>
                      <a:endParaRPr sz="458"/>
                    </a:p>
                  </a:txBody>
                  <a:tcPr marL="36000" marR="36000" marT="36000" marB="36000" anchor="ctr"/>
                </a:tc>
                <a:extLst>
                  <a:ext uri="{0D108BD9-81ED-4DB2-BD59-A6C34878D82A}">
                    <a16:rowId xmlns:a16="http://schemas.microsoft.com/office/drawing/2014/main" val="10002"/>
                  </a:ext>
                </a:extLst>
              </a:tr>
              <a:tr h="2309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07(87’)</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10433’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25(76’)</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32007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07 : P6(5176’), P5(5882’), </a:t>
                      </a:r>
                      <a:r>
                        <a:rPr lang="en-US" sz="800">
                          <a:solidFill>
                            <a:srgbClr val="0070C0"/>
                          </a:solidFill>
                        </a:rPr>
                        <a:t>P4(6840’-ATC HIRO)</a:t>
                      </a:r>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25 : P7(5219’), P8(5882’), </a:t>
                      </a:r>
                      <a:r>
                        <a:rPr lang="en-US" sz="800">
                          <a:solidFill>
                            <a:srgbClr val="0070C0"/>
                          </a:solidFill>
                        </a:rPr>
                        <a:t>P10(7524’-ATC HIRO)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HST 40KTS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75027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5" name="그림 4" descr="텍스트, 지도, 폰트, 도표이(가) 표시된 사진&#10;&#10;자동 생성된 설명">
            <a:extLst>
              <a:ext uri="{FF2B5EF4-FFF2-40B4-BE49-F238E27FC236}">
                <a16:creationId xmlns:a16="http://schemas.microsoft.com/office/drawing/2014/main" id="{EFBAAA5A-4D19-0577-BE44-3A3B77331489}"/>
              </a:ext>
            </a:extLst>
          </p:cNvPr>
          <p:cNvPicPr>
            <a:picLocks noChangeAspect="1"/>
          </p:cNvPicPr>
          <p:nvPr/>
        </p:nvPicPr>
        <p:blipFill>
          <a:blip r:embed="rId3"/>
          <a:stretch>
            <a:fillRect/>
          </a:stretch>
        </p:blipFill>
        <p:spPr>
          <a:xfrm>
            <a:off x="-2500" y="3235347"/>
            <a:ext cx="526844" cy="525727"/>
          </a:xfrm>
          <a:prstGeom prst="rect">
            <a:avLst/>
          </a:prstGeom>
        </p:spPr>
      </p:pic>
      <p:sp>
        <p:nvSpPr>
          <p:cNvPr id="3" name="TextBox 2">
            <a:extLst>
              <a:ext uri="{FF2B5EF4-FFF2-40B4-BE49-F238E27FC236}">
                <a16:creationId xmlns:a16="http://schemas.microsoft.com/office/drawing/2014/main" id="{E2566E64-8738-9A9D-AA0F-1948B59B16C4}"/>
              </a:ext>
            </a:extLst>
          </p:cNvPr>
          <p:cNvSpPr txBox="1"/>
          <p:nvPr/>
        </p:nvSpPr>
        <p:spPr>
          <a:xfrm>
            <a:off x="579347" y="3254455"/>
            <a:ext cx="1757212" cy="449729"/>
          </a:xfrm>
          <a:prstGeom prst="rect">
            <a:avLst/>
          </a:prstGeom>
          <a:noFill/>
        </p:spPr>
        <p:txBody>
          <a:bodyPr wrap="none" tIns="36000" bIns="36000" rtlCol="0" anchor="ctr">
            <a:spAutoFit/>
          </a:bodyPr>
          <a:lstStyle/>
          <a:p>
            <a:r>
              <a:rPr kumimoji="1" lang="en-US" altLang="ko-Kore-KR" sz="700" b="1" u="sng" dirty="0">
                <a:solidFill>
                  <a:srgbClr val="0070C0"/>
                </a:solidFill>
                <a:latin typeface="Gulim" panose="020B0600000101010101" pitchFamily="34" charset="-127"/>
                <a:ea typeface="Gulim" panose="020B0600000101010101" pitchFamily="34" charset="-127"/>
              </a:rPr>
              <a:t>CJU 124.52</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a:t>
            </a:r>
          </a:p>
          <a:p>
            <a:r>
              <a:rPr kumimoji="1" lang="en-US" altLang="ko-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APP – 125.625 - 125.4 – 126.65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106" name="Google Shape;106;p2"/>
          <p:cNvGraphicFramePr/>
          <p:nvPr>
            <p:extLst>
              <p:ext uri="{D42A27DB-BD31-4B8C-83A1-F6EECF244321}">
                <p14:modId xmlns:p14="http://schemas.microsoft.com/office/powerpoint/2010/main" val="3411126693"/>
              </p:ext>
            </p:extLst>
          </p:nvPr>
        </p:nvGraphicFramePr>
        <p:xfrm>
          <a:off x="0" y="1055589"/>
          <a:ext cx="2335800" cy="220249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197800">
                  <a:extLst>
                    <a:ext uri="{9D8B030D-6E8A-4147-A177-3AD203B41FA5}">
                      <a16:colId xmlns:a16="http://schemas.microsoft.com/office/drawing/2014/main" val="20003"/>
                    </a:ext>
                  </a:extLst>
                </a:gridCol>
                <a:gridCol w="208275">
                  <a:extLst>
                    <a:ext uri="{9D8B030D-6E8A-4147-A177-3AD203B41FA5}">
                      <a16:colId xmlns:a16="http://schemas.microsoft.com/office/drawing/2014/main" val="20004"/>
                    </a:ext>
                  </a:extLst>
                </a:gridCol>
                <a:gridCol w="127750">
                  <a:extLst>
                    <a:ext uri="{9D8B030D-6E8A-4147-A177-3AD203B41FA5}">
                      <a16:colId xmlns:a16="http://schemas.microsoft.com/office/drawing/2014/main" val="20005"/>
                    </a:ext>
                  </a:extLst>
                </a:gridCol>
                <a:gridCol w="207500">
                  <a:extLst>
                    <a:ext uri="{9D8B030D-6E8A-4147-A177-3AD203B41FA5}">
                      <a16:colId xmlns:a16="http://schemas.microsoft.com/office/drawing/2014/main" val="20006"/>
                    </a:ext>
                  </a:extLst>
                </a:gridCol>
                <a:gridCol w="231500">
                  <a:extLst>
                    <a:ext uri="{9D8B030D-6E8A-4147-A177-3AD203B41FA5}">
                      <a16:colId xmlns:a16="http://schemas.microsoft.com/office/drawing/2014/main" val="20007"/>
                    </a:ext>
                  </a:extLst>
                </a:gridCol>
                <a:gridCol w="1037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u="none" strike="noStrike" cap="none" dirty="0"/>
                        <a:t>GMP : SID (NADP 1)</a:t>
                      </a:r>
                      <a:endParaRP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solidFill>
                            <a:srgbClr val="0070C0"/>
                          </a:solidFill>
                        </a:rPr>
                        <a:t>BULTI xT</a:t>
                      </a:r>
                      <a:endParaRPr sz="800" b="1" u="none" strike="noStrike" cap="none">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324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324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5000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324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1"/>
                  </a:ext>
                </a:extLst>
              </a:tr>
              <a:tr h="10160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(BULTI xQ)</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C00000"/>
                          </a:solidFill>
                        </a:rPr>
                        <a:t>324</a:t>
                      </a:r>
                      <a:endParaRPr sz="458"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324</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0070C0"/>
                          </a:solidFill>
                        </a:rPr>
                        <a:t>5000</a:t>
                      </a:r>
                      <a:endParaRPr sz="800"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a:solidFill>
                            <a:srgbClr val="C00000"/>
                          </a:solidFill>
                        </a:rPr>
                        <a:t>324</a:t>
                      </a:r>
                      <a:endParaRPr sz="800" u="none" strike="noStrike" cap="none">
                        <a:solidFill>
                          <a:srgbClr val="C00000"/>
                        </a:solidFill>
                      </a:endParaRPr>
                    </a:p>
                  </a:txBody>
                  <a:tcPr marL="36000" marR="36000" marT="36000" marB="36000" anchor="ctr"/>
                </a:tc>
                <a:extLst>
                  <a:ext uri="{0D108BD9-81ED-4DB2-BD59-A6C34878D82A}">
                    <a16:rowId xmlns:a16="http://schemas.microsoft.com/office/drawing/2014/main" val="10002"/>
                  </a:ext>
                </a:extLst>
              </a:tr>
              <a:tr h="101600">
                <a:tc rowSpan="2">
                  <a:txBody>
                    <a:bodyPr/>
                    <a:lstStyle/>
                    <a:p>
                      <a:pPr marL="0" marR="0" lvl="0" indent="0" algn="ctr" rtl="0">
                        <a:spcBef>
                          <a:spcPts val="0"/>
                        </a:spcBef>
                        <a:spcAft>
                          <a:spcPts val="0"/>
                        </a:spcAft>
                        <a:buNone/>
                      </a:pPr>
                      <a:r>
                        <a:rPr lang="en-US" sz="800" b="1" u="none" strike="noStrike" cap="none"/>
                        <a:t>14L/R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a:solidFill>
                            <a:srgbClr val="0070C0"/>
                          </a:solidFill>
                        </a:rPr>
                        <a:t>BULTI xU</a:t>
                      </a:r>
                      <a:endParaRPr sz="800" b="1" u="none" strike="noStrike" cap="none">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144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144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6000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144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3"/>
                  </a:ext>
                </a:extLst>
              </a:tr>
              <a:tr h="10160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(BULTI xZ)</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C00000"/>
                          </a:solidFill>
                        </a:rPr>
                        <a:t>144</a:t>
                      </a:r>
                      <a:endParaRPr sz="458"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144</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0070C0"/>
                          </a:solidFill>
                        </a:rPr>
                        <a:t>6000</a:t>
                      </a:r>
                      <a:endParaRPr sz="800"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a:solidFill>
                            <a:srgbClr val="C00000"/>
                          </a:solidFill>
                        </a:rPr>
                        <a:t>144</a:t>
                      </a:r>
                      <a:endParaRPr sz="800" u="none" strike="noStrike" cap="none">
                        <a:solidFill>
                          <a:srgbClr val="C00000"/>
                        </a:solidFill>
                      </a:endParaRPr>
                    </a:p>
                  </a:txBody>
                  <a:tcPr marL="36000" marR="36000" marT="36000" marB="36000" anchor="ctr"/>
                </a:tc>
                <a:extLst>
                  <a:ext uri="{0D108BD9-81ED-4DB2-BD59-A6C34878D82A}">
                    <a16:rowId xmlns:a16="http://schemas.microsoft.com/office/drawing/2014/main" val="10004"/>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KIP</a:t>
                      </a:r>
                      <a:endParaRPr/>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113.6</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C00000"/>
                          </a:solidFill>
                        </a:rPr>
                        <a:t>32R </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14L 109.9</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14R 108.7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32L/R : EO32L/R, R225</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YJU R271</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14L/R : EO14L/R, R220</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P73 /2</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rowSpan="2"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32L(41’)</a:t>
                      </a:r>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10499’</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14R(34’)</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32R(42’)</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11811’</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14L(38’)</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APRON(130.875) -&gt; GND(121.9)  -&gt; TWR (All by ATC)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07" name="Google Shape;107;p2"/>
          <p:cNvGraphicFramePr/>
          <p:nvPr>
            <p:extLst>
              <p:ext uri="{D42A27DB-BD31-4B8C-83A1-F6EECF244321}">
                <p14:modId xmlns:p14="http://schemas.microsoft.com/office/powerpoint/2010/main" val="2739915381"/>
              </p:ext>
            </p:extLst>
          </p:nvPr>
        </p:nvGraphicFramePr>
        <p:xfrm>
          <a:off x="4472" y="3732015"/>
          <a:ext cx="2331327" cy="1786309"/>
        </p:xfrm>
        <a:graphic>
          <a:graphicData uri="http://schemas.openxmlformats.org/drawingml/2006/table">
            <a:tbl>
              <a:tblPr firstRow="1" bandRow="1">
                <a:noFill/>
                <a:tableStyleId>{A521BE36-7E6F-4EC9-8D66-1CF97A6895EC}</a:tableStyleId>
              </a:tblPr>
              <a:tblGrid>
                <a:gridCol w="469225">
                  <a:extLst>
                    <a:ext uri="{9D8B030D-6E8A-4147-A177-3AD203B41FA5}">
                      <a16:colId xmlns:a16="http://schemas.microsoft.com/office/drawing/2014/main" val="20000"/>
                    </a:ext>
                  </a:extLst>
                </a:gridCol>
                <a:gridCol w="221508">
                  <a:extLst>
                    <a:ext uri="{9D8B030D-6E8A-4147-A177-3AD203B41FA5}">
                      <a16:colId xmlns:a16="http://schemas.microsoft.com/office/drawing/2014/main" val="20001"/>
                    </a:ext>
                  </a:extLst>
                </a:gridCol>
                <a:gridCol w="262621">
                  <a:extLst>
                    <a:ext uri="{9D8B030D-6E8A-4147-A177-3AD203B41FA5}">
                      <a16:colId xmlns:a16="http://schemas.microsoft.com/office/drawing/2014/main" val="20002"/>
                    </a:ext>
                  </a:extLst>
                </a:gridCol>
                <a:gridCol w="242893">
                  <a:extLst>
                    <a:ext uri="{9D8B030D-6E8A-4147-A177-3AD203B41FA5}">
                      <a16:colId xmlns:a16="http://schemas.microsoft.com/office/drawing/2014/main" val="20004"/>
                    </a:ext>
                  </a:extLst>
                </a:gridCol>
                <a:gridCol w="113727">
                  <a:extLst>
                    <a:ext uri="{9D8B030D-6E8A-4147-A177-3AD203B41FA5}">
                      <a16:colId xmlns:a16="http://schemas.microsoft.com/office/drawing/2014/main" val="20005"/>
                    </a:ext>
                  </a:extLst>
                </a:gridCol>
                <a:gridCol w="429482">
                  <a:extLst>
                    <a:ext uri="{9D8B030D-6E8A-4147-A177-3AD203B41FA5}">
                      <a16:colId xmlns:a16="http://schemas.microsoft.com/office/drawing/2014/main" val="20006"/>
                    </a:ext>
                  </a:extLst>
                </a:gridCol>
                <a:gridCol w="591871">
                  <a:extLst>
                    <a:ext uri="{9D8B030D-6E8A-4147-A177-3AD203B41FA5}">
                      <a16:colId xmlns:a16="http://schemas.microsoft.com/office/drawing/2014/main" val="20008"/>
                    </a:ext>
                  </a:extLst>
                </a:gridCol>
              </a:tblGrid>
              <a:tr h="347220">
                <a:tc gridSpan="7">
                  <a:txBody>
                    <a:bodyPr/>
                    <a:lstStyle/>
                    <a:p>
                      <a:pPr marL="0" marR="0" lvl="0" indent="0" algn="ctr" rtl="0">
                        <a:spcBef>
                          <a:spcPts val="0"/>
                        </a:spcBef>
                        <a:spcAft>
                          <a:spcPts val="0"/>
                        </a:spcAft>
                        <a:buNone/>
                      </a:pPr>
                      <a:r>
                        <a:rPr lang="en-US" sz="800" u="none" strike="noStrike" cap="none" dirty="0"/>
                        <a:t>SHA : STAR </a:t>
                      </a:r>
                    </a:p>
                    <a:p>
                      <a:pPr marL="0" marR="0" lvl="0" indent="0" algn="ctr" rtl="0">
                        <a:spcBef>
                          <a:spcPts val="0"/>
                        </a:spcBef>
                        <a:spcAft>
                          <a:spcPts val="0"/>
                        </a:spcAft>
                        <a:buNone/>
                      </a:pPr>
                      <a:r>
                        <a:rPr lang="en-US" sz="800" b="0" u="none" strike="noStrike" cap="none" dirty="0">
                          <a:solidFill>
                            <a:srgbClr val="FFC000"/>
                          </a:solidFill>
                        </a:rPr>
                        <a:t>SPD Rest From IAF(210kts), 180kts, 160kts</a:t>
                      </a: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0820">
                <a:tc>
                  <a:txBody>
                    <a:bodyPr/>
                    <a:lstStyle/>
                    <a:p>
                      <a:pPr marL="0" marR="0" lvl="0" indent="0" algn="ctr" rtl="0">
                        <a:spcBef>
                          <a:spcPts val="0"/>
                        </a:spcBef>
                        <a:spcAft>
                          <a:spcPts val="0"/>
                        </a:spcAft>
                        <a:buNone/>
                      </a:pPr>
                      <a:r>
                        <a:rPr lang="en-US" sz="800" b="1" u="none" strike="noStrike" cap="none" dirty="0"/>
                        <a:t>ILS Z 18L</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PUD 61A</a:t>
                      </a:r>
                      <a:endParaRPr sz="800" b="1" u="none" strike="noStrike" cap="none"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t>SS204</a:t>
                      </a:r>
                      <a:endParaRPr sz="458" b="1" u="none" strike="noStrike" cap="none" dirty="0"/>
                    </a:p>
                  </a:txBody>
                  <a:tcPr marL="36000" marR="36000" marT="36000" marB="36000" anchor="ctr"/>
                </a:tc>
                <a:tc hMerge="1">
                  <a:txBody>
                    <a:bodyPr/>
                    <a:lstStyle/>
                    <a:p>
                      <a:endParaRPr lang="ko-Kore-KR"/>
                    </a:p>
                  </a:txBody>
                  <a:tcPr/>
                </a:tc>
                <a:tc rowSpan="2" gridSpan="2">
                  <a:txBody>
                    <a:bodyPr/>
                    <a:lstStyle/>
                    <a:p>
                      <a:pPr marL="0" marR="0" lvl="0" indent="0" algn="ctr" rtl="0">
                        <a:spcBef>
                          <a:spcPts val="0"/>
                        </a:spcBef>
                        <a:spcAft>
                          <a:spcPts val="0"/>
                        </a:spcAft>
                        <a:buNone/>
                      </a:pPr>
                      <a:r>
                        <a:rPr lang="en-US" sz="700" b="1" u="none" strike="noStrike" cap="none" dirty="0"/>
                        <a:t>above 2960ft  </a:t>
                      </a:r>
                      <a:r>
                        <a:rPr lang="en-US" altLang="ko-KR" sz="700" b="1" u="none" strike="noStrike" cap="none" dirty="0"/>
                        <a:t>PUD QRH</a:t>
                      </a:r>
                    </a:p>
                    <a:p>
                      <a:pPr marL="0" marR="0" lvl="0" indent="0" algn="ctr" rtl="0">
                        <a:spcBef>
                          <a:spcPts val="0"/>
                        </a:spcBef>
                        <a:spcAft>
                          <a:spcPts val="0"/>
                        </a:spcAft>
                        <a:buNone/>
                      </a:pPr>
                      <a:r>
                        <a:rPr lang="en-US" sz="700" b="1" u="none" strike="noStrike" cap="none" dirty="0"/>
                        <a:t>Below 2960ft</a:t>
                      </a:r>
                      <a:r>
                        <a:rPr lang="ko-KR" altLang="en-US" sz="700" b="1" u="none" strike="noStrike" cap="none" dirty="0"/>
                        <a:t> </a:t>
                      </a:r>
                      <a:r>
                        <a:rPr lang="en-US" altLang="ko-KR" sz="700" b="1" u="none" strike="noStrike" cap="none" dirty="0"/>
                        <a:t>SHA QRH</a:t>
                      </a:r>
                      <a:endParaRPr sz="700" b="1" u="none" strike="noStrike" cap="none" dirty="0"/>
                    </a:p>
                  </a:txBody>
                  <a:tcPr marL="36000" marR="36000" marT="36000" marB="36000" anchor="ctr"/>
                </a:tc>
                <a:tc rowSpan="2" hMerge="1">
                  <a:txBody>
                    <a:bodyPr/>
                    <a:lstStyle/>
                    <a:p>
                      <a:endParaRPr lang="ko-Kore-KR"/>
                    </a:p>
                  </a:txBody>
                  <a:tcPr/>
                </a:tc>
                <a:extLst>
                  <a:ext uri="{0D108BD9-81ED-4DB2-BD59-A6C34878D82A}">
                    <a16:rowId xmlns:a16="http://schemas.microsoft.com/office/drawing/2014/main" val="10001"/>
                  </a:ext>
                </a:extLst>
              </a:tr>
              <a:tr h="200820">
                <a:tc>
                  <a:txBody>
                    <a:bodyPr/>
                    <a:lstStyle/>
                    <a:p>
                      <a:pPr marL="0" marR="0" lvl="0" indent="0" algn="ctr" rtl="0">
                        <a:spcBef>
                          <a:spcPts val="0"/>
                        </a:spcBef>
                        <a:spcAft>
                          <a:spcPts val="0"/>
                        </a:spcAft>
                        <a:buNone/>
                      </a:pPr>
                      <a:r>
                        <a:rPr lang="en-US" sz="800" b="1" u="none" strike="noStrike" cap="none" dirty="0"/>
                        <a:t>ILS Z 36R</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PUD 71A</a:t>
                      </a:r>
                      <a:endParaRPr sz="800" b="1" u="none" strike="noStrike" cap="none"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t>SS405</a:t>
                      </a:r>
                      <a:endParaRPr sz="458" b="1" u="none" strike="noStrike" cap="none" dirty="0"/>
                    </a:p>
                  </a:txBody>
                  <a:tcPr marL="36000" marR="36000" marT="36000" marB="36000" anchor="ctr"/>
                </a:tc>
                <a:tc hMerge="1">
                  <a:txBody>
                    <a:bodyPr/>
                    <a:lstStyle/>
                    <a:p>
                      <a:endParaRPr lang="ko-Kore-KR"/>
                    </a:p>
                  </a:txBody>
                  <a:tcPr/>
                </a:tc>
                <a:tc gridSpan="2" vMerge="1">
                  <a:txBody>
                    <a:bodyPr/>
                    <a:lstStyle/>
                    <a:p>
                      <a:pPr marL="0" marR="0" lvl="0" indent="0" algn="ctr" rtl="0">
                        <a:spcBef>
                          <a:spcPts val="0"/>
                        </a:spcBef>
                        <a:spcAft>
                          <a:spcPts val="0"/>
                        </a:spcAft>
                        <a:buNone/>
                      </a:pPr>
                      <a:r>
                        <a:rPr lang="en-US" sz="700" b="1" u="none" strike="noStrike" cap="none" dirty="0"/>
                        <a:t>Below 2960ft</a:t>
                      </a:r>
                      <a:r>
                        <a:rPr lang="ko-KR" altLang="en-US" sz="700" b="1" u="none" strike="noStrike" cap="none" dirty="0"/>
                        <a:t> </a:t>
                      </a:r>
                      <a:r>
                        <a:rPr lang="en-US" altLang="ko-KR" sz="700" b="1" u="none" strike="noStrike" cap="none" dirty="0"/>
                        <a:t>SHA QRH</a:t>
                      </a:r>
                      <a:endParaRPr sz="700" b="1" u="none" strike="noStrike" cap="none" dirty="0"/>
                    </a:p>
                  </a:txBody>
                  <a:tcPr marL="36000" marR="36000" marT="36000" marB="36000" anchor="ctr"/>
                </a:tc>
                <a:tc hMerge="1" vMerge="1">
                  <a:txBody>
                    <a:bodyPr/>
                    <a:lstStyle/>
                    <a:p>
                      <a:endParaRPr lang="ko-Kore-KR"/>
                    </a:p>
                  </a:txBody>
                  <a:tcPr/>
                </a:tc>
                <a:extLst>
                  <a:ext uri="{0D108BD9-81ED-4DB2-BD59-A6C34878D82A}">
                    <a16:rowId xmlns:a16="http://schemas.microsoft.com/office/drawing/2014/main" val="10002"/>
                  </a:ext>
                </a:extLst>
              </a:tr>
              <a:tr h="239142">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18L(6’)</a:t>
                      </a:r>
                      <a:endParaRPr sz="800" b="1" u="none" strike="noStrike" cap="none"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10499’</a:t>
                      </a:r>
                      <a:endParaRPr sz="800" b="1" u="none" strike="noStrike" cap="none"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36R(9’)</a:t>
                      </a:r>
                      <a:endParaRPr sz="800" b="1" u="none" strike="noStrike" cap="none" dirty="0">
                        <a:solidFill>
                          <a:srgbClr val="00B050"/>
                        </a:solidFill>
                      </a:endParaRPr>
                    </a:p>
                  </a:txBody>
                  <a:tcPr marL="36000" marR="36000" marT="36000" marB="36000" anchor="ctr"/>
                </a:tc>
                <a:extLst>
                  <a:ext uri="{0D108BD9-81ED-4DB2-BD59-A6C34878D82A}">
                    <a16:rowId xmlns:a16="http://schemas.microsoft.com/office/drawing/2014/main" val="10004"/>
                  </a:ext>
                </a:extLst>
              </a:tr>
              <a:tr h="238627">
                <a:tc gridSpan="7">
                  <a:txBody>
                    <a:bodyPr/>
                    <a:lstStyle/>
                    <a:p>
                      <a:pPr marL="0" marR="0" lvl="0" indent="0" algn="l" rtl="0">
                        <a:lnSpc>
                          <a:spcPct val="100000"/>
                        </a:lnSpc>
                        <a:spcBef>
                          <a:spcPts val="0"/>
                        </a:spcBef>
                        <a:spcAft>
                          <a:spcPts val="0"/>
                        </a:spcAft>
                        <a:buClr>
                          <a:schemeClr val="dk1"/>
                        </a:buClr>
                        <a:buSzPts val="800"/>
                        <a:buFont typeface="Calibri"/>
                        <a:buNone/>
                      </a:pPr>
                      <a:r>
                        <a:rPr lang="en-US" sz="800" b="1" u="none" strike="noStrike" cap="none" dirty="0">
                          <a:solidFill>
                            <a:schemeClr val="dk1"/>
                          </a:solidFill>
                        </a:rPr>
                        <a:t>18L: A3(6555’), A4(7578’) 36R: A2(5738’), A1(7089’)</a:t>
                      </a:r>
                      <a:r>
                        <a:rPr lang="en-US" sz="800" u="none" strike="noStrike" cap="none" dirty="0">
                          <a:solidFill>
                            <a:srgbClr val="0070C0"/>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31464">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Traffic PTN West of RWY, Landing East RWY Normally </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solidFill>
                            <a:srgbClr val="FF0000"/>
                          </a:solidFill>
                        </a:rPr>
                        <a:t>Des 550m (1800ft)</a:t>
                      </a:r>
                      <a:r>
                        <a:rPr lang="ko-KR" altLang="en-US" sz="800" u="none" strike="noStrike" cap="none" dirty="0">
                          <a:solidFill>
                            <a:srgbClr val="FF0000"/>
                          </a:solidFill>
                        </a:rPr>
                        <a:t> </a:t>
                      </a:r>
                      <a:r>
                        <a:rPr lang="en-US" altLang="ko-KR" sz="800" u="none" strike="noStrike" cap="none" dirty="0">
                          <a:solidFill>
                            <a:srgbClr val="FF0000"/>
                          </a:solidFill>
                        </a:rPr>
                        <a:t>”five five zero meters”</a:t>
                      </a:r>
                      <a:endParaRPr lang="en-US" sz="800" u="none" strike="noStrike" cap="none" dirty="0">
                        <a:solidFill>
                          <a:srgbClr val="FF0000"/>
                        </a:solidFill>
                      </a:endParaRP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L08, L09 not available B737</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Shall CTC Apron Before Entering</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08" name="Google Shape;108;p2"/>
          <p:cNvGraphicFramePr/>
          <p:nvPr>
            <p:extLst>
              <p:ext uri="{D42A27DB-BD31-4B8C-83A1-F6EECF244321}">
                <p14:modId xmlns:p14="http://schemas.microsoft.com/office/powerpoint/2010/main" val="2350246762"/>
              </p:ext>
            </p:extLst>
          </p:nvPr>
        </p:nvGraphicFramePr>
        <p:xfrm>
          <a:off x="-2501" y="16504"/>
          <a:ext cx="2328850" cy="51816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160275">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u="none" strike="noStrike" cap="none" dirty="0">
                          <a:solidFill>
                            <a:schemeClr val="bg1"/>
                          </a:solidFill>
                          <a:hlinkClick r:id="rId5">
                            <a:extLst>
                              <a:ext uri="{A12FA001-AC4F-418D-AE19-62706E023703}">
                                <ahyp:hlinkClr xmlns:ahyp="http://schemas.microsoft.com/office/drawing/2018/hyperlinkcolor" val="tx"/>
                              </a:ext>
                            </a:extLst>
                          </a:hlinkClick>
                        </a:rPr>
                        <a:t>ZSSS(SHA) 10ft</a:t>
                      </a:r>
                      <a:endParaRP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254550">
                <a:tc>
                  <a:txBody>
                    <a:bodyPr/>
                    <a:lstStyle/>
                    <a:p>
                      <a:pPr marL="0" marR="0" lvl="0" indent="0" algn="ctr" rtl="0">
                        <a:spcBef>
                          <a:spcPts val="0"/>
                        </a:spcBef>
                        <a:spcAft>
                          <a:spcPts val="0"/>
                        </a:spcAft>
                        <a:buNone/>
                      </a:pPr>
                      <a:r>
                        <a:rPr lang="en-US" sz="900" u="none" strike="noStrike" cap="none"/>
                        <a:t>KE GMP 131.15</a:t>
                      </a:r>
                      <a:endParaRPr/>
                    </a:p>
                    <a:p>
                      <a:pPr marL="0" marR="0" lvl="0" indent="0" algn="ctr" rtl="0">
                        <a:spcBef>
                          <a:spcPts val="0"/>
                        </a:spcBef>
                        <a:spcAft>
                          <a:spcPts val="0"/>
                        </a:spcAft>
                        <a:buNone/>
                      </a:pPr>
                      <a:r>
                        <a:rPr lang="en-US" sz="600" u="none" strike="noStrike" cap="none">
                          <a:solidFill>
                            <a:srgbClr val="FF0000"/>
                          </a:solidFill>
                          <a:latin typeface="Calibri"/>
                          <a:ea typeface="Calibri"/>
                          <a:cs typeface="Calibri"/>
                          <a:sym typeface="Calibri"/>
                        </a:rPr>
                        <a:t>DCL -15분 가능 TOBT 5분 차이시 CTC Comm</a:t>
                      </a:r>
                      <a:endParaRPr sz="800" u="none" strike="noStrike" cap="none">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China Eastern 131.5</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pic>
        <p:nvPicPr>
          <p:cNvPr id="2" name="그림 1">
            <a:extLst>
              <a:ext uri="{FF2B5EF4-FFF2-40B4-BE49-F238E27FC236}">
                <a16:creationId xmlns:a16="http://schemas.microsoft.com/office/drawing/2014/main" id="{98DBB2BF-F0A6-705A-4F11-C79FF42F15AC}"/>
              </a:ext>
            </a:extLst>
          </p:cNvPr>
          <p:cNvPicPr>
            <a:picLocks noChangeAspect="1"/>
          </p:cNvPicPr>
          <p:nvPr/>
        </p:nvPicPr>
        <p:blipFill>
          <a:blip r:embed="rId6"/>
          <a:stretch>
            <a:fillRect/>
          </a:stretch>
        </p:blipFill>
        <p:spPr>
          <a:xfrm>
            <a:off x="148563" y="602614"/>
            <a:ext cx="451728" cy="451728"/>
          </a:xfrm>
          <a:prstGeom prst="rect">
            <a:avLst/>
          </a:prstGeom>
        </p:spPr>
      </p:pic>
      <p:sp>
        <p:nvSpPr>
          <p:cNvPr id="6" name="직사각형 5">
            <a:hlinkClick r:id="" action="ppaction://hlinkshowjump?jump=firstslide"/>
            <a:extLst>
              <a:ext uri="{FF2B5EF4-FFF2-40B4-BE49-F238E27FC236}">
                <a16:creationId xmlns:a16="http://schemas.microsoft.com/office/drawing/2014/main" id="{C86B7CDB-B447-2DE4-526B-0C8FBADA1700}"/>
              </a:ext>
            </a:extLst>
          </p:cNvPr>
          <p:cNvSpPr/>
          <p:nvPr/>
        </p:nvSpPr>
        <p:spPr>
          <a:xfrm>
            <a:off x="1651787" y="3258202"/>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4" name="직사각형 3">
            <a:hlinkClick r:id="" action="ppaction://hlinkshowjump?jump=firstslide"/>
            <a:extLst>
              <a:ext uri="{FF2B5EF4-FFF2-40B4-BE49-F238E27FC236}">
                <a16:creationId xmlns:a16="http://schemas.microsoft.com/office/drawing/2014/main" id="{E6EAE01E-69D0-D8DB-FED0-BC0AA46D14D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853132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D4F0C59D-6ED8-A7D5-E872-D3DA53B8EB0E}"/>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0559806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742688119"/>
              </p:ext>
            </p:extLst>
          </p:nvPr>
        </p:nvGraphicFramePr>
        <p:xfrm>
          <a:off x="-4045" y="1054227"/>
          <a:ext cx="2328848" cy="1864570"/>
        </p:xfrm>
        <a:graphic>
          <a:graphicData uri="http://schemas.openxmlformats.org/drawingml/2006/table">
            <a:tbl>
              <a:tblPr firstRow="1" bandRow="1">
                <a:noFill/>
                <a:tableStyleId>{A521BE36-7E6F-4EC9-8D66-1CF97A6895EC}</a:tableStyleId>
              </a:tblPr>
              <a:tblGrid>
                <a:gridCol w="373761">
                  <a:extLst>
                    <a:ext uri="{9D8B030D-6E8A-4147-A177-3AD203B41FA5}">
                      <a16:colId xmlns:a16="http://schemas.microsoft.com/office/drawing/2014/main" val="20000"/>
                    </a:ext>
                  </a:extLst>
                </a:gridCol>
                <a:gridCol w="79251">
                  <a:extLst>
                    <a:ext uri="{9D8B030D-6E8A-4147-A177-3AD203B41FA5}">
                      <a16:colId xmlns:a16="http://schemas.microsoft.com/office/drawing/2014/main" val="20001"/>
                    </a:ext>
                  </a:extLst>
                </a:gridCol>
                <a:gridCol w="350439">
                  <a:extLst>
                    <a:ext uri="{9D8B030D-6E8A-4147-A177-3AD203B41FA5}">
                      <a16:colId xmlns:a16="http://schemas.microsoft.com/office/drawing/2014/main" val="20002"/>
                    </a:ext>
                  </a:extLst>
                </a:gridCol>
                <a:gridCol w="180289">
                  <a:extLst>
                    <a:ext uri="{9D8B030D-6E8A-4147-A177-3AD203B41FA5}">
                      <a16:colId xmlns:a16="http://schemas.microsoft.com/office/drawing/2014/main" val="20003"/>
                    </a:ext>
                  </a:extLst>
                </a:gridCol>
                <a:gridCol w="204113">
                  <a:extLst>
                    <a:ext uri="{9D8B030D-6E8A-4147-A177-3AD203B41FA5}">
                      <a16:colId xmlns:a16="http://schemas.microsoft.com/office/drawing/2014/main" val="20004"/>
                    </a:ext>
                  </a:extLst>
                </a:gridCol>
                <a:gridCol w="106728">
                  <a:extLst>
                    <a:ext uri="{9D8B030D-6E8A-4147-A177-3AD203B41FA5}">
                      <a16:colId xmlns:a16="http://schemas.microsoft.com/office/drawing/2014/main" val="20005"/>
                    </a:ext>
                  </a:extLst>
                </a:gridCol>
                <a:gridCol w="342595">
                  <a:extLst>
                    <a:ext uri="{9D8B030D-6E8A-4147-A177-3AD203B41FA5}">
                      <a16:colId xmlns:a16="http://schemas.microsoft.com/office/drawing/2014/main" val="20006"/>
                    </a:ext>
                  </a:extLst>
                </a:gridCol>
                <a:gridCol w="111550">
                  <a:extLst>
                    <a:ext uri="{9D8B030D-6E8A-4147-A177-3AD203B41FA5}">
                      <a16:colId xmlns:a16="http://schemas.microsoft.com/office/drawing/2014/main" val="20007"/>
                    </a:ext>
                  </a:extLst>
                </a:gridCol>
                <a:gridCol w="345950">
                  <a:extLst>
                    <a:ext uri="{9D8B030D-6E8A-4147-A177-3AD203B41FA5}">
                      <a16:colId xmlns:a16="http://schemas.microsoft.com/office/drawing/2014/main" val="20008"/>
                    </a:ext>
                  </a:extLst>
                </a:gridCol>
                <a:gridCol w="234172">
                  <a:extLst>
                    <a:ext uri="{9D8B030D-6E8A-4147-A177-3AD203B41FA5}">
                      <a16:colId xmlns:a16="http://schemas.microsoft.com/office/drawing/2014/main" val="20009"/>
                    </a:ext>
                  </a:extLst>
                </a:gridCol>
              </a:tblGrid>
              <a:tr h="299558">
                <a:tc gridSpan="10">
                  <a:txBody>
                    <a:bodyPr/>
                    <a:lstStyle/>
                    <a:p>
                      <a:pPr marL="0" marR="0" lvl="0" indent="0" algn="ctr" rtl="0">
                        <a:spcBef>
                          <a:spcPts val="0"/>
                        </a:spcBef>
                        <a:spcAft>
                          <a:spcPts val="0"/>
                        </a:spcAft>
                        <a:buNone/>
                      </a:pPr>
                      <a:r>
                        <a:rPr lang="en-US" sz="800" u="none" strike="noStrike" cap="none" dirty="0"/>
                        <a:t>SHA : SID (NADP 1) </a:t>
                      </a:r>
                    </a:p>
                    <a:p>
                      <a:pPr marL="0" marR="0" lvl="0" indent="0" algn="ctr" rtl="0">
                        <a:spcBef>
                          <a:spcPts val="0"/>
                        </a:spcBef>
                        <a:spcAft>
                          <a:spcPts val="0"/>
                        </a:spcAft>
                        <a:buNone/>
                      </a:pPr>
                      <a:r>
                        <a:rPr lang="en-US" sz="800" b="0" u="none" strike="noStrike" cap="none" dirty="0">
                          <a:solidFill>
                            <a:srgbClr val="FFC000"/>
                          </a:solidFill>
                        </a:rPr>
                        <a:t>N DEP Freq : 126.65 South DEP : 121.10</a:t>
                      </a:r>
                      <a:r>
                        <a:rPr lang="ko-KR" altLang="en-US" sz="800" b="0" u="none" strike="noStrike" cap="none" dirty="0">
                          <a:solidFill>
                            <a:srgbClr val="FFC000"/>
                          </a:solidFill>
                        </a:rPr>
                        <a:t> </a:t>
                      </a:r>
                      <a:r>
                        <a:rPr lang="en-US" altLang="ko-KR" sz="800" b="0" u="none" strike="noStrike" cap="none" dirty="0">
                          <a:solidFill>
                            <a:srgbClr val="FFC000"/>
                          </a:solidFill>
                        </a:rPr>
                        <a:t>(</a:t>
                      </a:r>
                      <a:r>
                        <a:rPr lang="ko-KR" altLang="en-US" sz="800" b="0" u="none" strike="noStrike" cap="none" dirty="0">
                          <a:solidFill>
                            <a:srgbClr val="FFC000"/>
                          </a:solidFill>
                        </a:rPr>
                        <a:t>넘겨줌</a:t>
                      </a:r>
                      <a:r>
                        <a:rPr lang="en-US" altLang="ko-KR" sz="800" b="0" u="none" strike="noStrike" cap="none" dirty="0">
                          <a:solidFill>
                            <a:srgbClr val="FFC000"/>
                          </a:solidFill>
                        </a:rPr>
                        <a:t>)</a:t>
                      </a:r>
                      <a:endParaRPr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82181">
                <a:tc>
                  <a:txBody>
                    <a:bodyPr/>
                    <a:lstStyle/>
                    <a:p>
                      <a:pPr marL="0" marR="0" lvl="0" indent="0" algn="ctr" rtl="0">
                        <a:spcBef>
                          <a:spcPts val="0"/>
                        </a:spcBef>
                        <a:spcAft>
                          <a:spcPts val="0"/>
                        </a:spcAft>
                        <a:buNone/>
                      </a:pPr>
                      <a:r>
                        <a:rPr lang="en-US" sz="800" b="1" u="none" strike="noStrike" cap="none" dirty="0"/>
                        <a:t>18R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LAMEN 61D</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183</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183</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183</a:t>
                      </a:r>
                      <a:endParaRPr sz="800" b="1" u="none" strike="noStrike" cap="none" dirty="0">
                        <a:solidFill>
                          <a:srgbClr val="C00000"/>
                        </a:solidFill>
                      </a:endParaRPr>
                    </a:p>
                  </a:txBody>
                  <a:tcPr marL="36000" marR="36000" marT="36000" marB="36000" anchor="ctr"/>
                </a:tc>
                <a:extLst>
                  <a:ext uri="{0D108BD9-81ED-4DB2-BD59-A6C34878D82A}">
                    <a16:rowId xmlns:a16="http://schemas.microsoft.com/office/drawing/2014/main" val="10001"/>
                  </a:ext>
                </a:extLst>
              </a:tr>
              <a:tr h="282181">
                <a:tc rowSpan="2">
                  <a:txBody>
                    <a:bodyPr/>
                    <a:lstStyle/>
                    <a:p>
                      <a:pPr marL="0" marR="0" lvl="0" indent="0" algn="ctr" rtl="0">
                        <a:spcBef>
                          <a:spcPts val="0"/>
                        </a:spcBef>
                        <a:spcAft>
                          <a:spcPts val="0"/>
                        </a:spcAft>
                        <a:buNone/>
                      </a:pPr>
                      <a:r>
                        <a:rPr lang="en-US" sz="800" b="1" u="none" strike="noStrike" cap="none" dirty="0"/>
                        <a:t>36L</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LAMEN 73D</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003</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003</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003</a:t>
                      </a:r>
                      <a:endParaRPr sz="800" b="1" u="none" strike="noStrike" cap="none" dirty="0">
                        <a:solidFill>
                          <a:srgbClr val="C00000"/>
                        </a:solidFill>
                      </a:endParaRPr>
                    </a:p>
                  </a:txBody>
                  <a:tcPr marL="36000" marR="36000" marT="36000" marB="36000" anchor="ctr"/>
                </a:tc>
                <a:extLst>
                  <a:ext uri="{0D108BD9-81ED-4DB2-BD59-A6C34878D82A}">
                    <a16:rowId xmlns:a16="http://schemas.microsoft.com/office/drawing/2014/main" val="10002"/>
                  </a:ext>
                </a:extLst>
              </a:tr>
              <a:tr h="282181">
                <a:tc vMerge="1">
                  <a:txBody>
                    <a:bodyPr/>
                    <a:lstStyle/>
                    <a:p>
                      <a:pPr marL="0" marR="0" lvl="0" indent="0" algn="ctr" rtl="0">
                        <a:spcBef>
                          <a:spcPts val="0"/>
                        </a:spcBef>
                        <a:spcAft>
                          <a:spcPts val="0"/>
                        </a:spcAft>
                        <a:buNone/>
                      </a:pP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LAMEN 71D</a:t>
                      </a:r>
                      <a:endParaRPr sz="800" b="1" u="none" strike="noStrike" cap="none" dirty="0">
                        <a:solidFill>
                          <a:srgbClr val="0070C0"/>
                        </a:solidFill>
                      </a:endParaRPr>
                    </a:p>
                  </a:txBody>
                  <a:tcPr marL="36000" marR="36000" marT="36000" marB="36000" anchor="ctr"/>
                </a:tc>
                <a:tc hMerge="1">
                  <a:txBody>
                    <a:bodyPr/>
                    <a:lstStyle/>
                    <a:p>
                      <a:pPr latinLnBrk="1"/>
                      <a:endParaRPr lang="ko-KR" altLang="en-US"/>
                    </a:p>
                  </a:txBody>
                  <a:tcPr/>
                </a:tc>
                <a:tc hMerge="1">
                  <a:txBody>
                    <a:bodyPr/>
                    <a:lstStyle/>
                    <a:p>
                      <a:pPr latinLnBrk="1"/>
                      <a:endParaRPr lang="ko-KR" altLang="en-US"/>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003</a:t>
                      </a:r>
                      <a:endParaRPr sz="800" b="1" u="none" strike="noStrike" cap="none" dirty="0">
                        <a:solidFill>
                          <a:srgbClr val="C00000"/>
                        </a:solidFill>
                      </a:endParaRPr>
                    </a:p>
                  </a:txBody>
                  <a:tcPr marL="36000" marR="36000" marT="36000" marB="36000" anchor="ctr"/>
                </a:tc>
                <a:tc hMerge="1">
                  <a:txBody>
                    <a:bodyPr/>
                    <a:lstStyle/>
                    <a:p>
                      <a:pPr latinLnBrk="1"/>
                      <a:endParaRPr lang="ko-KR" altLang="en-US"/>
                    </a:p>
                  </a:txBody>
                  <a:tcPr/>
                </a:tc>
                <a:tc>
                  <a:txBody>
                    <a:bodyPr/>
                    <a:lstStyle/>
                    <a:p>
                      <a:pPr marL="0" marR="0" lvl="0" indent="0" algn="ctr" rtl="0">
                        <a:spcBef>
                          <a:spcPts val="0"/>
                        </a:spcBef>
                        <a:spcAft>
                          <a:spcPts val="0"/>
                        </a:spcAft>
                        <a:buNone/>
                      </a:pPr>
                      <a:r>
                        <a:rPr lang="en-US" sz="800" b="1" u="none" strike="noStrike" cap="none" dirty="0"/>
                        <a:t>003</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or 4900</a:t>
                      </a:r>
                      <a:endParaRPr lang="ko-KR" altLang="en-US" dirty="0"/>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4900</a:t>
                      </a: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003</a:t>
                      </a:r>
                      <a:endParaRPr sz="800" b="1" u="none" strike="noStrike" cap="none" dirty="0">
                        <a:solidFill>
                          <a:srgbClr val="C00000"/>
                        </a:solidFill>
                      </a:endParaRPr>
                    </a:p>
                  </a:txBody>
                  <a:tcPr marL="36000" marR="36000" marT="36000" marB="36000" anchor="ctr"/>
                </a:tc>
                <a:extLst>
                  <a:ext uri="{0D108BD9-81ED-4DB2-BD59-A6C34878D82A}">
                    <a16:rowId xmlns:a16="http://schemas.microsoft.com/office/drawing/2014/main" val="2109490131"/>
                  </a:ext>
                </a:extLst>
              </a:tr>
              <a:tr h="173254">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SHA 117.2</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18L 111.3</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36R 110.3</a:t>
                      </a: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73254">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18R (9’)</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10827’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36L (76’)</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73254">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RWY 36L LAMEN 71D : </a:t>
                      </a:r>
                      <a:r>
                        <a:rPr lang="en-US" sz="700" u="none" strike="noStrike" cap="none" dirty="0">
                          <a:solidFill>
                            <a:srgbClr val="FF0000"/>
                          </a:solidFill>
                        </a:rPr>
                        <a:t>L/H Turn Below 200m(660ft) in DCL</a:t>
                      </a:r>
                      <a:endParaRPr dirty="0">
                        <a:solidFill>
                          <a:srgbClr val="FF000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18" name="Google Shape;118;p3"/>
          <p:cNvGraphicFramePr/>
          <p:nvPr>
            <p:extLst>
              <p:ext uri="{D42A27DB-BD31-4B8C-83A1-F6EECF244321}">
                <p14:modId xmlns:p14="http://schemas.microsoft.com/office/powerpoint/2010/main" val="1499141600"/>
              </p:ext>
            </p:extLst>
          </p:nvPr>
        </p:nvGraphicFramePr>
        <p:xfrm>
          <a:off x="4999" y="3494395"/>
          <a:ext cx="2328849" cy="2058490"/>
        </p:xfrm>
        <a:graphic>
          <a:graphicData uri="http://schemas.openxmlformats.org/drawingml/2006/table">
            <a:tbl>
              <a:tblPr firstRow="1" bandRow="1">
                <a:noFill/>
                <a:tableStyleId>{A521BE36-7E6F-4EC9-8D66-1CF97A6895EC}</a:tableStyleId>
              </a:tblPr>
              <a:tblGrid>
                <a:gridCol w="474850">
                  <a:extLst>
                    <a:ext uri="{9D8B030D-6E8A-4147-A177-3AD203B41FA5}">
                      <a16:colId xmlns:a16="http://schemas.microsoft.com/office/drawing/2014/main" val="20000"/>
                    </a:ext>
                  </a:extLst>
                </a:gridCol>
                <a:gridCol w="97041">
                  <a:extLst>
                    <a:ext uri="{9D8B030D-6E8A-4147-A177-3AD203B41FA5}">
                      <a16:colId xmlns:a16="http://schemas.microsoft.com/office/drawing/2014/main" val="20001"/>
                    </a:ext>
                  </a:extLst>
                </a:gridCol>
                <a:gridCol w="100861">
                  <a:extLst>
                    <a:ext uri="{9D8B030D-6E8A-4147-A177-3AD203B41FA5}">
                      <a16:colId xmlns:a16="http://schemas.microsoft.com/office/drawing/2014/main" val="20002"/>
                    </a:ext>
                  </a:extLst>
                </a:gridCol>
                <a:gridCol w="528770">
                  <a:extLst>
                    <a:ext uri="{9D8B030D-6E8A-4147-A177-3AD203B41FA5}">
                      <a16:colId xmlns:a16="http://schemas.microsoft.com/office/drawing/2014/main" val="20003"/>
                    </a:ext>
                  </a:extLst>
                </a:gridCol>
                <a:gridCol w="483261">
                  <a:extLst>
                    <a:ext uri="{9D8B030D-6E8A-4147-A177-3AD203B41FA5}">
                      <a16:colId xmlns:a16="http://schemas.microsoft.com/office/drawing/2014/main" val="20005"/>
                    </a:ext>
                  </a:extLst>
                </a:gridCol>
                <a:gridCol w="644066">
                  <a:extLst>
                    <a:ext uri="{9D8B030D-6E8A-4147-A177-3AD203B41FA5}">
                      <a16:colId xmlns:a16="http://schemas.microsoft.com/office/drawing/2014/main" val="20007"/>
                    </a:ext>
                  </a:extLst>
                </a:gridCol>
              </a:tblGrid>
              <a:tr h="0">
                <a:tc gridSpan="6">
                  <a:txBody>
                    <a:bodyPr/>
                    <a:lstStyle/>
                    <a:p>
                      <a:pPr marL="0" marR="0" lvl="0" indent="0" algn="ctr" rtl="0">
                        <a:spcBef>
                          <a:spcPts val="0"/>
                        </a:spcBef>
                        <a:spcAft>
                          <a:spcPts val="0"/>
                        </a:spcAft>
                        <a:buNone/>
                      </a:pPr>
                      <a:r>
                        <a:rPr lang="en-US" sz="800" u="none" strike="noStrike" cap="none"/>
                        <a:t>GMP : STAR</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t>OLMEN xT</a:t>
                      </a:r>
                      <a:endParaRPr sz="800" b="1" u="none" strike="noStrike" cap="none"/>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a:t>OLMEN xU</a:t>
                      </a:r>
                      <a:endParaRPr sz="800" b="1" u="none" strike="noStrike" cap="none"/>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t>DOKDO</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2"/>
                  </a:ext>
                </a:extLst>
              </a:tr>
              <a:tr h="112850">
                <a:tc rowSpan="2" gridSpan="3">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rowSpan="2"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32L(41’)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10499’</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14R(34’)</a:t>
                      </a:r>
                      <a:endParaRPr sz="800" b="1" u="none" strike="noStrike" cap="none" dirty="0">
                        <a:solidFill>
                          <a:srgbClr val="00B050"/>
                        </a:solidFill>
                      </a:endParaRPr>
                    </a:p>
                  </a:txBody>
                  <a:tcPr marL="36000" marR="36000" marT="36000" marB="36000" anchor="ctr"/>
                </a:tc>
                <a:extLst>
                  <a:ext uri="{0D108BD9-81ED-4DB2-BD59-A6C34878D82A}">
                    <a16:rowId xmlns:a16="http://schemas.microsoft.com/office/drawing/2014/main" val="10004"/>
                  </a:ext>
                </a:extLst>
              </a:tr>
              <a:tr h="112850">
                <a:tc gridSpan="3" vMerge="1">
                  <a:txBody>
                    <a:bodyPr/>
                    <a:lstStyle/>
                    <a:p>
                      <a:endParaRPr lang="ko-Kore-KR"/>
                    </a:p>
                  </a:txBody>
                  <a:tcPr/>
                </a:tc>
                <a:tc hMerge="1" vMerge="1">
                  <a:txBody>
                    <a:bodyPr/>
                    <a:lstStyle/>
                    <a:p>
                      <a:endParaRPr lang="ko-Kore-KR"/>
                    </a:p>
                  </a:txBody>
                  <a:tcPr/>
                </a:tc>
                <a:tc hMerge="1"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32R(42’)</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11811’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14L(38’)</a:t>
                      </a:r>
                      <a:endParaRPr sz="800" b="1" u="none" strike="noStrike" cap="none">
                        <a:solidFill>
                          <a:srgbClr val="00B050"/>
                        </a:solidFill>
                      </a:endParaRPr>
                    </a:p>
                  </a:txBody>
                  <a:tcPr marL="36000" marR="36000" marT="36000" marB="36000" anchor="ctr"/>
                </a:tc>
                <a:extLst>
                  <a:ext uri="{0D108BD9-81ED-4DB2-BD59-A6C34878D82A}">
                    <a16:rowId xmlns:a16="http://schemas.microsoft.com/office/drawing/2014/main" val="10005"/>
                  </a:ext>
                </a:extLst>
              </a:tr>
              <a:tr h="156400">
                <a:tc gridSpan="2">
                  <a:txBody>
                    <a:bodyPr/>
                    <a:lstStyle/>
                    <a:p>
                      <a:pPr marL="0" marR="0" lvl="0" indent="0" algn="ctr" rtl="0">
                        <a:spcBef>
                          <a:spcPts val="0"/>
                        </a:spcBef>
                        <a:spcAft>
                          <a:spcPts val="0"/>
                        </a:spcAft>
                        <a:buNone/>
                      </a:pPr>
                      <a:r>
                        <a:rPr lang="en-US" sz="800" u="none" strike="noStrike" cap="none">
                          <a:solidFill>
                            <a:schemeClr val="lt1"/>
                          </a:solidFill>
                          <a:latin typeface="Calibri"/>
                          <a:ea typeface="Calibri"/>
                          <a:cs typeface="Calibri"/>
                          <a:sym typeface="Calibri"/>
                        </a:rPr>
                        <a:t>FIX</a:t>
                      </a:r>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l" rtl="0">
                        <a:spcBef>
                          <a:spcPts val="0"/>
                        </a:spcBef>
                        <a:spcAft>
                          <a:spcPts val="0"/>
                        </a:spcAft>
                        <a:buNone/>
                      </a:pPr>
                      <a:r>
                        <a:rPr lang="en-US" sz="800" u="none" strike="noStrike" cap="none"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6">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6">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1925420226"/>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3">
                            <a:extLst>
                              <a:ext uri="{A12FA001-AC4F-418D-AE19-62706E023703}">
                                <ahyp:hlinkClr xmlns:ahyp="http://schemas.microsoft.com/office/drawing/2018/hyperlinkcolor" val="tx"/>
                              </a:ext>
                            </a:extLst>
                          </a:hlinkClick>
                        </a:rPr>
                        <a:t>ZSSS(SHA) 10ft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China Eastern 131.5</a:t>
                      </a:r>
                      <a:endParaRPr dirty="0"/>
                    </a:p>
                    <a:p>
                      <a:pPr marL="0" marR="0" lvl="0" indent="0" algn="ctr" rtl="0">
                        <a:spcBef>
                          <a:spcPts val="0"/>
                        </a:spcBef>
                        <a:spcAft>
                          <a:spcPts val="0"/>
                        </a:spcAft>
                        <a:buNone/>
                      </a:pPr>
                      <a:r>
                        <a:rPr lang="en-US" sz="700" dirty="0">
                          <a:solidFill>
                            <a:srgbClr val="FF0000"/>
                          </a:solidFill>
                        </a:rPr>
                        <a:t>DCL -20분, No READBACK</a:t>
                      </a:r>
                      <a:endParaRPr sz="700" dirty="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pic>
        <p:nvPicPr>
          <p:cNvPr id="3" name="그림 2" descr="텍스트, 시계이(가) 표시된 사진&#10;&#10;자동 생성된 설명">
            <a:extLst>
              <a:ext uri="{FF2B5EF4-FFF2-40B4-BE49-F238E27FC236}">
                <a16:creationId xmlns:a16="http://schemas.microsoft.com/office/drawing/2014/main" id="{3EEA343B-3551-68D7-E68E-46FF869A3DE5}"/>
              </a:ext>
            </a:extLst>
          </p:cNvPr>
          <p:cNvPicPr>
            <a:picLocks noChangeAspect="1"/>
          </p:cNvPicPr>
          <p:nvPr/>
        </p:nvPicPr>
        <p:blipFill>
          <a:blip r:embed="rId5"/>
          <a:stretch>
            <a:fillRect/>
          </a:stretch>
        </p:blipFill>
        <p:spPr>
          <a:xfrm>
            <a:off x="1602416" y="584746"/>
            <a:ext cx="492402" cy="492402"/>
          </a:xfrm>
          <a:prstGeom prst="rect">
            <a:avLst/>
          </a:prstGeom>
        </p:spPr>
      </p:pic>
      <p:sp>
        <p:nvSpPr>
          <p:cNvPr id="4" name="TextBox 3">
            <a:extLst>
              <a:ext uri="{FF2B5EF4-FFF2-40B4-BE49-F238E27FC236}">
                <a16:creationId xmlns:a16="http://schemas.microsoft.com/office/drawing/2014/main" id="{7BA009CD-0CE1-2081-CE8C-F9EB8DF1D6DE}"/>
              </a:ext>
            </a:extLst>
          </p:cNvPr>
          <p:cNvSpPr txBox="1"/>
          <p:nvPr/>
        </p:nvSpPr>
        <p:spPr>
          <a:xfrm>
            <a:off x="-27918" y="2832225"/>
            <a:ext cx="1930337"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126.65(121.1)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125.4 – </a:t>
            </a:r>
            <a:r>
              <a:rPr kumimoji="1" lang="en-US" altLang="ko-KR" sz="700" b="1" u="sng" dirty="0">
                <a:solidFill>
                  <a:srgbClr val="0070C0"/>
                </a:solidFill>
                <a:latin typeface="Gulim" panose="020B0600000101010101" pitchFamily="34" charset="-127"/>
                <a:ea typeface="Gulim" panose="020B0600000101010101" pitchFamily="34" charset="-127"/>
              </a:rPr>
              <a:t>125</a:t>
            </a:r>
            <a:r>
              <a:rPr kumimoji="1" lang="en-US" altLang="ko-Kore-KR" sz="700" b="1" u="sng" dirty="0">
                <a:solidFill>
                  <a:srgbClr val="0070C0"/>
                </a:solidFill>
                <a:latin typeface="Gulim" panose="020B0600000101010101" pitchFamily="34" charset="-127"/>
                <a:ea typeface="Gulim" panose="020B0600000101010101" pitchFamily="34" charset="-127"/>
              </a:rPr>
              <a:t>.625 – 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20</a:t>
            </a:r>
            <a:r>
              <a:rPr kumimoji="1" lang="en-US" altLang="ko-Kore-KR" sz="700" b="1" u="sng" dirty="0">
                <a:solidFill>
                  <a:srgbClr val="0070C0"/>
                </a:solidFill>
                <a:latin typeface="Gulim" panose="020B0600000101010101" pitchFamily="34" charset="-127"/>
                <a:ea typeface="Gulim" panose="020B0600000101010101" pitchFamily="34" charset="-127"/>
              </a:rPr>
              <a:t>.95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 – 124.52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5" name="직사각형 4">
            <a:hlinkClick r:id="" action="ppaction://hlinkshowjump?jump=firstslide"/>
            <a:extLst>
              <a:ext uri="{FF2B5EF4-FFF2-40B4-BE49-F238E27FC236}">
                <a16:creationId xmlns:a16="http://schemas.microsoft.com/office/drawing/2014/main" id="{9524A9E4-C510-C0BA-5B92-621F24258317}"/>
              </a:ext>
            </a:extLst>
          </p:cNvPr>
          <p:cNvSpPr/>
          <p:nvPr/>
        </p:nvSpPr>
        <p:spPr>
          <a:xfrm>
            <a:off x="1651787" y="320611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51856BBB-56E6-4488-8A2D-04F7685B1F50}"/>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2373355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5" name="그림 4" descr="텍스트, 지도, 폰트, 도표이(가) 표시된 사진&#10;&#10;자동 생성된 설명">
            <a:extLst>
              <a:ext uri="{FF2B5EF4-FFF2-40B4-BE49-F238E27FC236}">
                <a16:creationId xmlns:a16="http://schemas.microsoft.com/office/drawing/2014/main" id="{EFBAAA5A-4D19-0577-BE44-3A3B77331489}"/>
              </a:ext>
            </a:extLst>
          </p:cNvPr>
          <p:cNvPicPr>
            <a:picLocks noChangeAspect="1"/>
          </p:cNvPicPr>
          <p:nvPr/>
        </p:nvPicPr>
        <p:blipFill>
          <a:blip r:embed="rId3"/>
          <a:stretch>
            <a:fillRect/>
          </a:stretch>
        </p:blipFill>
        <p:spPr>
          <a:xfrm>
            <a:off x="-12659" y="3044798"/>
            <a:ext cx="612949" cy="611649"/>
          </a:xfrm>
          <a:prstGeom prst="rect">
            <a:avLst/>
          </a:prstGeom>
        </p:spPr>
      </p:pic>
      <p:graphicFrame>
        <p:nvGraphicFramePr>
          <p:cNvPr id="106" name="Google Shape;106;p2"/>
          <p:cNvGraphicFramePr/>
          <p:nvPr>
            <p:extLst>
              <p:ext uri="{D42A27DB-BD31-4B8C-83A1-F6EECF244321}">
                <p14:modId xmlns:p14="http://schemas.microsoft.com/office/powerpoint/2010/main" val="2470370123"/>
              </p:ext>
            </p:extLst>
          </p:nvPr>
        </p:nvGraphicFramePr>
        <p:xfrm>
          <a:off x="0" y="1055589"/>
          <a:ext cx="2335800" cy="200857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197800">
                  <a:extLst>
                    <a:ext uri="{9D8B030D-6E8A-4147-A177-3AD203B41FA5}">
                      <a16:colId xmlns:a16="http://schemas.microsoft.com/office/drawing/2014/main" val="20003"/>
                    </a:ext>
                  </a:extLst>
                </a:gridCol>
                <a:gridCol w="208275">
                  <a:extLst>
                    <a:ext uri="{9D8B030D-6E8A-4147-A177-3AD203B41FA5}">
                      <a16:colId xmlns:a16="http://schemas.microsoft.com/office/drawing/2014/main" val="20004"/>
                    </a:ext>
                  </a:extLst>
                </a:gridCol>
                <a:gridCol w="127750">
                  <a:extLst>
                    <a:ext uri="{9D8B030D-6E8A-4147-A177-3AD203B41FA5}">
                      <a16:colId xmlns:a16="http://schemas.microsoft.com/office/drawing/2014/main" val="20005"/>
                    </a:ext>
                  </a:extLst>
                </a:gridCol>
                <a:gridCol w="207500">
                  <a:extLst>
                    <a:ext uri="{9D8B030D-6E8A-4147-A177-3AD203B41FA5}">
                      <a16:colId xmlns:a16="http://schemas.microsoft.com/office/drawing/2014/main" val="20006"/>
                    </a:ext>
                  </a:extLst>
                </a:gridCol>
                <a:gridCol w="231500">
                  <a:extLst>
                    <a:ext uri="{9D8B030D-6E8A-4147-A177-3AD203B41FA5}">
                      <a16:colId xmlns:a16="http://schemas.microsoft.com/office/drawing/2014/main" val="20007"/>
                    </a:ext>
                  </a:extLst>
                </a:gridCol>
                <a:gridCol w="1037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u="none" strike="noStrike" cap="none" dirty="0"/>
                        <a:t>GMP : SID (NADP 1)</a:t>
                      </a:r>
                      <a:endParaRP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NOPIK </a:t>
                      </a:r>
                      <a:r>
                        <a:rPr lang="en-US" sz="800" b="1" u="none" strike="noStrike" cap="none" dirty="0" err="1">
                          <a:solidFill>
                            <a:srgbClr val="0070C0"/>
                          </a:solidFill>
                        </a:rPr>
                        <a:t>xT</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324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324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5000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324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1"/>
                  </a:ext>
                </a:extLst>
              </a:tr>
              <a:tr h="10160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dirty="0"/>
                        <a:t>(NOPIK </a:t>
                      </a:r>
                      <a:r>
                        <a:rPr lang="en-US" sz="800" u="none" strike="noStrike" cap="none" dirty="0" err="1"/>
                        <a:t>xQ</a:t>
                      </a:r>
                      <a:r>
                        <a:rPr lang="en-US" sz="800" u="none" strike="noStrike" cap="none" dirty="0"/>
                        <a:t>)</a:t>
                      </a:r>
                      <a:endParaRPr sz="800" u="none" strike="noStrike" cap="none"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C00000"/>
                          </a:solidFill>
                        </a:rPr>
                        <a:t>324</a:t>
                      </a:r>
                      <a:endParaRPr sz="458"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324</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0070C0"/>
                          </a:solidFill>
                        </a:rPr>
                        <a:t>5000</a:t>
                      </a:r>
                      <a:endParaRPr sz="800"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a:solidFill>
                            <a:srgbClr val="C00000"/>
                          </a:solidFill>
                        </a:rPr>
                        <a:t>324</a:t>
                      </a:r>
                      <a:endParaRPr sz="800" u="none" strike="noStrike" cap="none">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u="none" strike="noStrike" cap="none" dirty="0"/>
                        <a:t>14L/R</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NOPIK </a:t>
                      </a:r>
                      <a:r>
                        <a:rPr lang="en-US" sz="800" b="1" u="none" strike="noStrike" cap="none" dirty="0" err="1">
                          <a:solidFill>
                            <a:srgbClr val="0070C0"/>
                          </a:solidFill>
                        </a:rPr>
                        <a:t>xU</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144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144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6000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144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3"/>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KIP</a:t>
                      </a:r>
                      <a:endParaRPr/>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113.6</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C00000"/>
                          </a:solidFill>
                        </a:rPr>
                        <a:t>32R </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14L 109.9</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14R 108.7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32L/R : EO32L/R, R225</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YJU R271</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14L/R : EO14L/R, R220</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P73 /2</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rowSpan="2"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32L(41’)</a:t>
                      </a:r>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10499’</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14R(34’)</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32R(42’)</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11811’</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14L(38’)</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APRON(130.875) -&gt; GND(121.9)  -&gt; TWR (All by ATC)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08" name="Google Shape;108;p2"/>
          <p:cNvGraphicFramePr/>
          <p:nvPr>
            <p:extLst>
              <p:ext uri="{D42A27DB-BD31-4B8C-83A1-F6EECF244321}">
                <p14:modId xmlns:p14="http://schemas.microsoft.com/office/powerpoint/2010/main" val="3630342212"/>
              </p:ext>
            </p:extLst>
          </p:nvPr>
        </p:nvGraphicFramePr>
        <p:xfrm>
          <a:off x="-2501" y="16504"/>
          <a:ext cx="2328850" cy="563890"/>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160275">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u="none" strike="noStrike" cap="none" dirty="0">
                          <a:solidFill>
                            <a:schemeClr val="bg1"/>
                          </a:solidFill>
                          <a:hlinkClick r:id="rId5">
                            <a:extLst>
                              <a:ext uri="{A12FA001-AC4F-418D-AE19-62706E023703}">
                                <ahyp:hlinkClr xmlns:ahyp="http://schemas.microsoft.com/office/drawing/2018/hyperlinkcolor" val="tx"/>
                              </a:ext>
                            </a:extLst>
                          </a:hlinkClick>
                        </a:rPr>
                        <a:t>ZBAA(PEK) 116ft</a:t>
                      </a:r>
                      <a:endParaRP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254550">
                <a:tc>
                  <a:txBody>
                    <a:bodyPr/>
                    <a:lstStyle/>
                    <a:p>
                      <a:pPr marL="0" marR="0" lvl="0" indent="0" algn="ctr" rtl="0">
                        <a:spcBef>
                          <a:spcPts val="0"/>
                        </a:spcBef>
                        <a:spcAft>
                          <a:spcPts val="0"/>
                        </a:spcAft>
                        <a:buNone/>
                      </a:pPr>
                      <a:r>
                        <a:rPr lang="en-US" sz="900" u="none" strike="noStrike" cap="none"/>
                        <a:t>KE GMP 131.15</a:t>
                      </a:r>
                      <a:endParaRPr/>
                    </a:p>
                    <a:p>
                      <a:pPr marL="0" marR="0" lvl="0" indent="0" algn="ctr" rtl="0">
                        <a:spcBef>
                          <a:spcPts val="0"/>
                        </a:spcBef>
                        <a:spcAft>
                          <a:spcPts val="0"/>
                        </a:spcAft>
                        <a:buNone/>
                      </a:pPr>
                      <a:r>
                        <a:rPr lang="en-US" sz="600" u="none" strike="noStrike" cap="none">
                          <a:solidFill>
                            <a:srgbClr val="FF0000"/>
                          </a:solidFill>
                          <a:latin typeface="Calibri"/>
                          <a:ea typeface="Calibri"/>
                          <a:cs typeface="Calibri"/>
                          <a:sym typeface="Calibri"/>
                        </a:rPr>
                        <a:t>DCL -15분 가능 TOBT 5분 차이시 CTC Comm</a:t>
                      </a:r>
                      <a:endParaRPr sz="800" u="none" strike="noStrike" cap="none">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Air China Beijing 131.5</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pic>
        <p:nvPicPr>
          <p:cNvPr id="2" name="그림 1">
            <a:extLst>
              <a:ext uri="{FF2B5EF4-FFF2-40B4-BE49-F238E27FC236}">
                <a16:creationId xmlns:a16="http://schemas.microsoft.com/office/drawing/2014/main" id="{98DBB2BF-F0A6-705A-4F11-C79FF42F15AC}"/>
              </a:ext>
            </a:extLst>
          </p:cNvPr>
          <p:cNvPicPr>
            <a:picLocks noChangeAspect="1"/>
          </p:cNvPicPr>
          <p:nvPr/>
        </p:nvPicPr>
        <p:blipFill>
          <a:blip r:embed="rId6"/>
          <a:stretch>
            <a:fillRect/>
          </a:stretch>
        </p:blipFill>
        <p:spPr>
          <a:xfrm>
            <a:off x="148563" y="602614"/>
            <a:ext cx="451728" cy="451728"/>
          </a:xfrm>
          <a:prstGeom prst="rect">
            <a:avLst/>
          </a:prstGeom>
        </p:spPr>
      </p:pic>
      <p:sp>
        <p:nvSpPr>
          <p:cNvPr id="6" name="직사각형 5">
            <a:hlinkClick r:id="" action="ppaction://hlinkshowjump?jump=firstslide"/>
            <a:extLst>
              <a:ext uri="{FF2B5EF4-FFF2-40B4-BE49-F238E27FC236}">
                <a16:creationId xmlns:a16="http://schemas.microsoft.com/office/drawing/2014/main" id="{C86B7CDB-B447-2DE4-526B-0C8FBADA1700}"/>
              </a:ext>
            </a:extLst>
          </p:cNvPr>
          <p:cNvSpPr/>
          <p:nvPr/>
        </p:nvSpPr>
        <p:spPr>
          <a:xfrm>
            <a:off x="1677187" y="3474102"/>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4" name="TextBox 3">
            <a:extLst>
              <a:ext uri="{FF2B5EF4-FFF2-40B4-BE49-F238E27FC236}">
                <a16:creationId xmlns:a16="http://schemas.microsoft.com/office/drawing/2014/main" id="{CF8890A9-B69E-05D9-E60A-AD033088563C}"/>
              </a:ext>
            </a:extLst>
          </p:cNvPr>
          <p:cNvSpPr txBox="1"/>
          <p:nvPr/>
        </p:nvSpPr>
        <p:spPr>
          <a:xfrm>
            <a:off x="514186" y="3018847"/>
            <a:ext cx="18373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Final 119.0</a:t>
            </a:r>
          </a:p>
        </p:txBody>
      </p:sp>
      <p:graphicFrame>
        <p:nvGraphicFramePr>
          <p:cNvPr id="7" name="Google Shape;292;p18">
            <a:extLst>
              <a:ext uri="{FF2B5EF4-FFF2-40B4-BE49-F238E27FC236}">
                <a16:creationId xmlns:a16="http://schemas.microsoft.com/office/drawing/2014/main" id="{E94EF807-A170-3ABE-7636-38E13F4116F7}"/>
              </a:ext>
            </a:extLst>
          </p:cNvPr>
          <p:cNvGraphicFramePr/>
          <p:nvPr>
            <p:extLst>
              <p:ext uri="{D42A27DB-BD31-4B8C-83A1-F6EECF244321}">
                <p14:modId xmlns:p14="http://schemas.microsoft.com/office/powerpoint/2010/main" val="3648067178"/>
              </p:ext>
            </p:extLst>
          </p:nvPr>
        </p:nvGraphicFramePr>
        <p:xfrm>
          <a:off x="4472" y="3750136"/>
          <a:ext cx="2333879" cy="1819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PEK : STAR </a:t>
                      </a:r>
                      <a:r>
                        <a:rPr lang="en-US" sz="800" dirty="0">
                          <a:solidFill>
                            <a:schemeClr val="accent4"/>
                          </a:solidFill>
                        </a:rPr>
                        <a:t>(RW01/19 main (RW36L/18R))</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01</a:t>
                      </a:r>
                      <a:r>
                        <a:rPr lang="en-US" sz="800" b="0" dirty="0"/>
                        <a:t>(36L)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a:t>
                      </a:r>
                      <a:r>
                        <a:rPr lang="en-US" sz="800" b="1" dirty="0" err="1"/>
                        <a:t>xZA</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AA421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01</a:t>
                      </a:r>
                      <a:r>
                        <a:rPr lang="en-US" sz="800" b="0" dirty="0"/>
                        <a:t>(Y 36L)</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19</a:t>
                      </a:r>
                      <a:r>
                        <a:rPr lang="en-US" sz="800" b="0" dirty="0"/>
                        <a:t>(</a:t>
                      </a:r>
                      <a:r>
                        <a:rPr lang="en-US" altLang="ko-KR" sz="800" b="0" dirty="0"/>
                        <a:t>18R)</a:t>
                      </a:r>
                      <a:r>
                        <a:rPr lang="en-US" sz="800" b="0" dirty="0"/>
                        <a:t>)</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a:t>
                      </a:r>
                      <a:r>
                        <a:rPr lang="en-US" altLang="ko-Kore-KR" sz="800" b="1" dirty="0" err="1"/>
                        <a:t>xZA</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AA521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altLang="ko-Kore-KR" sz="800" b="0" dirty="0"/>
                        <a:t>(Y 18R)</a:t>
                      </a:r>
                      <a:endParaRPr sz="800" b="1" dirty="0"/>
                    </a:p>
                  </a:txBody>
                  <a:tcPr marL="36000" marR="36000" marT="36000" marB="36000" anchor="ctr"/>
                </a:tc>
                <a:extLst>
                  <a:ext uri="{0D108BD9-81ED-4DB2-BD59-A6C34878D82A}">
                    <a16:rowId xmlns:a16="http://schemas.microsoft.com/office/drawing/2014/main" val="10002"/>
                  </a:ext>
                </a:extLst>
              </a:tr>
              <a:tr h="184957">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01(84’)      12467’      19(94’)</a:t>
                      </a:r>
                      <a:r>
                        <a:rPr lang="ko-KR" altLang="en-US" sz="800" b="1" dirty="0">
                          <a:solidFill>
                            <a:srgbClr val="00B050"/>
                          </a:solidFill>
                        </a:rPr>
                        <a:t> </a:t>
                      </a:r>
                      <a:r>
                        <a:rPr lang="en-US" altLang="ko-KR" sz="800" b="1" dirty="0">
                          <a:solidFill>
                            <a:srgbClr val="C00000"/>
                          </a:solidFill>
                        </a:rPr>
                        <a:t>3.2</a:t>
                      </a:r>
                      <a:r>
                        <a:rPr lang="ko-KR" altLang="en-US" sz="800" b="1" dirty="0">
                          <a:solidFill>
                            <a:srgbClr val="C00000"/>
                          </a:solidFill>
                        </a:rPr>
                        <a:t>도</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rgbClr val="00B050"/>
                          </a:solidFill>
                        </a:rPr>
                        <a:t>36L(107’)      10499’      18R(115’)     </a:t>
                      </a:r>
                      <a:endParaRPr sz="800" b="0"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/6(160kts)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TMA Max 280kts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01</a:t>
                      </a:r>
                      <a:r>
                        <a:rPr lang="en-US" sz="800" b="1" dirty="0">
                          <a:solidFill>
                            <a:schemeClr val="dk1"/>
                          </a:solidFill>
                        </a:rPr>
                        <a:t> : Q5(5223’), Q6(7024’), 19 :Q4(5298’), Q3(7103’)</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36L : P6(6276’), P7(7719’), 18R : P3(6223’), P2(7552’)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p>
                      <a:pPr marL="0" marR="0" lvl="0" indent="0" algn="ctr" rtl="0">
                        <a:lnSpc>
                          <a:spcPct val="100000"/>
                        </a:lnSpc>
                        <a:spcBef>
                          <a:spcPts val="0"/>
                        </a:spcBef>
                        <a:spcAft>
                          <a:spcPts val="0"/>
                        </a:spcAft>
                        <a:buClr>
                          <a:schemeClr val="dk1"/>
                        </a:buClr>
                        <a:buSzPts val="800"/>
                        <a:buFont typeface="Calibri"/>
                        <a:buNone/>
                      </a:pPr>
                      <a:r>
                        <a:rPr lang="en-US" altLang="ko-KR" sz="800" dirty="0"/>
                        <a:t>Standard TAXI RTE in Jeppesen Chart</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3" name="직사각형 2">
            <a:hlinkClick r:id="" action="ppaction://hlinkshowjump?jump=firstslide"/>
            <a:extLst>
              <a:ext uri="{FF2B5EF4-FFF2-40B4-BE49-F238E27FC236}">
                <a16:creationId xmlns:a16="http://schemas.microsoft.com/office/drawing/2014/main" id="{799F49BE-0B71-5C35-0AFE-AD9A502DB629}"/>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9689323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D4F0C59D-6ED8-A7D5-E872-D3DA53B8EB0E}"/>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756514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8" name="Google Shape;118;p3"/>
          <p:cNvGraphicFramePr/>
          <p:nvPr>
            <p:extLst>
              <p:ext uri="{D42A27DB-BD31-4B8C-83A1-F6EECF244321}">
                <p14:modId xmlns:p14="http://schemas.microsoft.com/office/powerpoint/2010/main" val="3457008859"/>
              </p:ext>
            </p:extLst>
          </p:nvPr>
        </p:nvGraphicFramePr>
        <p:xfrm>
          <a:off x="4999" y="3494395"/>
          <a:ext cx="2328849" cy="2058490"/>
        </p:xfrm>
        <a:graphic>
          <a:graphicData uri="http://schemas.openxmlformats.org/drawingml/2006/table">
            <a:tbl>
              <a:tblPr firstRow="1" bandRow="1">
                <a:noFill/>
                <a:tableStyleId>{A521BE36-7E6F-4EC9-8D66-1CF97A6895EC}</a:tableStyleId>
              </a:tblPr>
              <a:tblGrid>
                <a:gridCol w="474850">
                  <a:extLst>
                    <a:ext uri="{9D8B030D-6E8A-4147-A177-3AD203B41FA5}">
                      <a16:colId xmlns:a16="http://schemas.microsoft.com/office/drawing/2014/main" val="20000"/>
                    </a:ext>
                  </a:extLst>
                </a:gridCol>
                <a:gridCol w="97041">
                  <a:extLst>
                    <a:ext uri="{9D8B030D-6E8A-4147-A177-3AD203B41FA5}">
                      <a16:colId xmlns:a16="http://schemas.microsoft.com/office/drawing/2014/main" val="20001"/>
                    </a:ext>
                  </a:extLst>
                </a:gridCol>
                <a:gridCol w="100861">
                  <a:extLst>
                    <a:ext uri="{9D8B030D-6E8A-4147-A177-3AD203B41FA5}">
                      <a16:colId xmlns:a16="http://schemas.microsoft.com/office/drawing/2014/main" val="20002"/>
                    </a:ext>
                  </a:extLst>
                </a:gridCol>
                <a:gridCol w="528770">
                  <a:extLst>
                    <a:ext uri="{9D8B030D-6E8A-4147-A177-3AD203B41FA5}">
                      <a16:colId xmlns:a16="http://schemas.microsoft.com/office/drawing/2014/main" val="20003"/>
                    </a:ext>
                  </a:extLst>
                </a:gridCol>
                <a:gridCol w="483261">
                  <a:extLst>
                    <a:ext uri="{9D8B030D-6E8A-4147-A177-3AD203B41FA5}">
                      <a16:colId xmlns:a16="http://schemas.microsoft.com/office/drawing/2014/main" val="20005"/>
                    </a:ext>
                  </a:extLst>
                </a:gridCol>
                <a:gridCol w="644066">
                  <a:extLst>
                    <a:ext uri="{9D8B030D-6E8A-4147-A177-3AD203B41FA5}">
                      <a16:colId xmlns:a16="http://schemas.microsoft.com/office/drawing/2014/main" val="20007"/>
                    </a:ext>
                  </a:extLst>
                </a:gridCol>
              </a:tblGrid>
              <a:tr h="0">
                <a:tc gridSpan="6">
                  <a:txBody>
                    <a:bodyPr/>
                    <a:lstStyle/>
                    <a:p>
                      <a:pPr marL="0" marR="0" lvl="0" indent="0" algn="ctr" rtl="0">
                        <a:spcBef>
                          <a:spcPts val="0"/>
                        </a:spcBef>
                        <a:spcAft>
                          <a:spcPts val="0"/>
                        </a:spcAft>
                        <a:buNone/>
                      </a:pPr>
                      <a:r>
                        <a:rPr lang="en-US" sz="800" u="none" strike="noStrike" cap="none"/>
                        <a:t>GMP : STAR</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t>REBIT </a:t>
                      </a:r>
                      <a:r>
                        <a:rPr lang="en-US" sz="800" b="1" u="none" strike="noStrike" cap="none" dirty="0" err="1"/>
                        <a:t>xT</a:t>
                      </a:r>
                      <a:r>
                        <a:rPr lang="en-US" sz="800" b="1" u="none" strike="noStrike" cap="none" dirty="0"/>
                        <a:t>(</a:t>
                      </a:r>
                      <a:r>
                        <a:rPr lang="en-US" sz="800" b="1" u="none" strike="noStrike" cap="none" dirty="0" err="1"/>
                        <a:t>xQ</a:t>
                      </a:r>
                      <a:r>
                        <a:rPr lang="en-US" sz="800" b="1" u="none" strike="noStrike" cap="none" dirty="0"/>
                        <a:t>)</a:t>
                      </a:r>
                      <a:endParaRPr sz="800" b="1"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REBIT 170</a:t>
                      </a:r>
                      <a:endParaRPr sz="458" b="1" u="none" strike="noStrike" cap="none"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t>REBIT </a:t>
                      </a:r>
                      <a:r>
                        <a:rPr lang="en-US" sz="800" b="1" u="none" strike="noStrike" cap="none" dirty="0" err="1"/>
                        <a:t>xU</a:t>
                      </a:r>
                      <a:endParaRPr sz="800" b="1"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DOKDO</a:t>
                      </a:r>
                      <a:endParaRPr sz="458" b="1" u="none" strike="noStrike" cap="none" dirty="0"/>
                    </a:p>
                  </a:txBody>
                  <a:tcPr marL="36000" marR="36000" marT="36000" marB="36000" anchor="ctr"/>
                </a:tc>
                <a:tc>
                  <a:txBody>
                    <a:bodyPr/>
                    <a:lstStyle/>
                    <a:p>
                      <a:pPr marL="0" marR="0" lvl="0" indent="0" algn="ctr" rtl="0">
                        <a:spcBef>
                          <a:spcPts val="0"/>
                        </a:spcBef>
                        <a:spcAft>
                          <a:spcPts val="0"/>
                        </a:spcAft>
                        <a:buNone/>
                      </a:pPr>
                      <a:endParaRPr sz="458" b="1" u="none" strike="noStrike" cap="none" dirty="0"/>
                    </a:p>
                  </a:txBody>
                  <a:tcPr marL="36000" marR="36000" marT="36000" marB="36000" anchor="ctr"/>
                </a:tc>
                <a:extLst>
                  <a:ext uri="{0D108BD9-81ED-4DB2-BD59-A6C34878D82A}">
                    <a16:rowId xmlns:a16="http://schemas.microsoft.com/office/drawing/2014/main" val="10002"/>
                  </a:ext>
                </a:extLst>
              </a:tr>
              <a:tr h="112850">
                <a:tc rowSpan="2" gridSpan="3">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rowSpan="2"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32L(41’)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10499’</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14R(34’)</a:t>
                      </a:r>
                      <a:endParaRPr sz="800" b="1" u="none" strike="noStrike" cap="none" dirty="0">
                        <a:solidFill>
                          <a:srgbClr val="00B050"/>
                        </a:solidFill>
                      </a:endParaRPr>
                    </a:p>
                  </a:txBody>
                  <a:tcPr marL="36000" marR="36000" marT="36000" marB="36000" anchor="ctr"/>
                </a:tc>
                <a:extLst>
                  <a:ext uri="{0D108BD9-81ED-4DB2-BD59-A6C34878D82A}">
                    <a16:rowId xmlns:a16="http://schemas.microsoft.com/office/drawing/2014/main" val="10004"/>
                  </a:ext>
                </a:extLst>
              </a:tr>
              <a:tr h="112850">
                <a:tc gridSpan="3" vMerge="1">
                  <a:txBody>
                    <a:bodyPr/>
                    <a:lstStyle/>
                    <a:p>
                      <a:endParaRPr lang="ko-Kore-KR"/>
                    </a:p>
                  </a:txBody>
                  <a:tcPr/>
                </a:tc>
                <a:tc hMerge="1" vMerge="1">
                  <a:txBody>
                    <a:bodyPr/>
                    <a:lstStyle/>
                    <a:p>
                      <a:endParaRPr lang="ko-Kore-KR"/>
                    </a:p>
                  </a:txBody>
                  <a:tcPr/>
                </a:tc>
                <a:tc hMerge="1"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32R(42’)</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11811’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14L(38’)</a:t>
                      </a:r>
                      <a:endParaRPr sz="800" b="1" u="none" strike="noStrike" cap="none">
                        <a:solidFill>
                          <a:srgbClr val="00B050"/>
                        </a:solidFill>
                      </a:endParaRPr>
                    </a:p>
                  </a:txBody>
                  <a:tcPr marL="36000" marR="36000" marT="36000" marB="36000" anchor="ctr"/>
                </a:tc>
                <a:extLst>
                  <a:ext uri="{0D108BD9-81ED-4DB2-BD59-A6C34878D82A}">
                    <a16:rowId xmlns:a16="http://schemas.microsoft.com/office/drawing/2014/main" val="10005"/>
                  </a:ext>
                </a:extLst>
              </a:tr>
              <a:tr h="156400">
                <a:tc gridSpan="2">
                  <a:txBody>
                    <a:bodyPr/>
                    <a:lstStyle/>
                    <a:p>
                      <a:pPr marL="0" marR="0" lvl="0" indent="0" algn="ctr" rtl="0">
                        <a:spcBef>
                          <a:spcPts val="0"/>
                        </a:spcBef>
                        <a:spcAft>
                          <a:spcPts val="0"/>
                        </a:spcAft>
                        <a:buNone/>
                      </a:pPr>
                      <a:r>
                        <a:rPr lang="en-US" sz="800" u="none" strike="noStrike" cap="none">
                          <a:solidFill>
                            <a:schemeClr val="lt1"/>
                          </a:solidFill>
                          <a:latin typeface="Calibri"/>
                          <a:ea typeface="Calibri"/>
                          <a:cs typeface="Calibri"/>
                          <a:sym typeface="Calibri"/>
                        </a:rPr>
                        <a:t>FIX</a:t>
                      </a:r>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l" rtl="0">
                        <a:spcBef>
                          <a:spcPts val="0"/>
                        </a:spcBef>
                        <a:spcAft>
                          <a:spcPts val="0"/>
                        </a:spcAft>
                        <a:buNone/>
                      </a:pPr>
                      <a:r>
                        <a:rPr lang="en-US" sz="800" u="none" strike="noStrike" cap="none"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6">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6">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3610925021"/>
              </p:ext>
            </p:extLst>
          </p:nvPr>
        </p:nvGraphicFramePr>
        <p:xfrm>
          <a:off x="-2501" y="16505"/>
          <a:ext cx="2328850" cy="735969"/>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22009">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3">
                            <a:extLst>
                              <a:ext uri="{A12FA001-AC4F-418D-AE19-62706E023703}">
                                <ahyp:hlinkClr xmlns:ahyp="http://schemas.microsoft.com/office/drawing/2018/hyperlinkcolor" val="tx"/>
                              </a:ext>
                            </a:extLst>
                          </a:hlinkClick>
                        </a:rPr>
                        <a:t>ZBAA(PEK) 116ft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440937">
                <a:tc>
                  <a:txBody>
                    <a:bodyPr/>
                    <a:lstStyle/>
                    <a:p>
                      <a:pPr marL="0" marR="0" lvl="0" indent="0" algn="ctr" rtl="0">
                        <a:spcBef>
                          <a:spcPts val="0"/>
                        </a:spcBef>
                        <a:spcAft>
                          <a:spcPts val="0"/>
                        </a:spcAft>
                        <a:buNone/>
                      </a:pPr>
                      <a:r>
                        <a:rPr lang="en-US" sz="800" dirty="0"/>
                        <a:t>Air China Beijing 131.5</a:t>
                      </a:r>
                      <a:endParaRPr sz="1200" dirty="0"/>
                    </a:p>
                    <a:p>
                      <a:pPr marL="0" marR="0" lvl="0" indent="0" algn="ctr" rtl="0">
                        <a:spcBef>
                          <a:spcPts val="0"/>
                        </a:spcBef>
                        <a:spcAft>
                          <a:spcPts val="0"/>
                        </a:spcAft>
                        <a:buNone/>
                      </a:pPr>
                      <a:r>
                        <a:rPr lang="en-US" sz="700" dirty="0">
                          <a:solidFill>
                            <a:srgbClr val="FF0000"/>
                          </a:solidFill>
                        </a:rPr>
                        <a:t>DCL -30분, Voice -10</a:t>
                      </a:r>
                      <a:r>
                        <a:rPr lang="ko-KR" altLang="en-US" sz="700" dirty="0">
                          <a:solidFill>
                            <a:srgbClr val="FF0000"/>
                          </a:solidFill>
                        </a:rPr>
                        <a:t>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(COBT/STD 15</a:t>
                      </a:r>
                      <a:r>
                        <a:rPr lang="ko-KR" altLang="en-US" sz="700" dirty="0">
                          <a:solidFill>
                            <a:srgbClr val="FF0000"/>
                          </a:solidFill>
                        </a:rPr>
                        <a:t>분 차이 </a:t>
                      </a:r>
                      <a:r>
                        <a:rPr lang="en-US" altLang="ko-KR" sz="700" dirty="0">
                          <a:solidFill>
                            <a:srgbClr val="FF0000"/>
                          </a:solidFill>
                        </a:rPr>
                        <a:t>CTC Comm)</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917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sp>
        <p:nvSpPr>
          <p:cNvPr id="5" name="직사각형 4">
            <a:hlinkClick r:id="" action="ppaction://hlinkshowjump?jump=firstslide"/>
            <a:extLst>
              <a:ext uri="{FF2B5EF4-FFF2-40B4-BE49-F238E27FC236}">
                <a16:creationId xmlns:a16="http://schemas.microsoft.com/office/drawing/2014/main" id="{9524A9E4-C510-C0BA-5B92-621F24258317}"/>
              </a:ext>
            </a:extLst>
          </p:cNvPr>
          <p:cNvSpPr/>
          <p:nvPr/>
        </p:nvSpPr>
        <p:spPr>
          <a:xfrm>
            <a:off x="1651787" y="311086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2" name="Google Shape;117;p3">
            <a:extLst>
              <a:ext uri="{FF2B5EF4-FFF2-40B4-BE49-F238E27FC236}">
                <a16:creationId xmlns:a16="http://schemas.microsoft.com/office/drawing/2014/main" id="{75E8D5F0-0A96-9573-9A14-052BC186AC3C}"/>
              </a:ext>
            </a:extLst>
          </p:cNvPr>
          <p:cNvGraphicFramePr/>
          <p:nvPr>
            <p:extLst>
              <p:ext uri="{D42A27DB-BD31-4B8C-83A1-F6EECF244321}">
                <p14:modId xmlns:p14="http://schemas.microsoft.com/office/powerpoint/2010/main" val="1364734910"/>
              </p:ext>
            </p:extLst>
          </p:nvPr>
        </p:nvGraphicFramePr>
        <p:xfrm>
          <a:off x="-4046" y="1139860"/>
          <a:ext cx="2335723" cy="179257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05603">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1">
                  <a:txBody>
                    <a:bodyPr/>
                    <a:lstStyle/>
                    <a:p>
                      <a:pPr marL="0" marR="0" lvl="0" indent="0" algn="ctr" rtl="0">
                        <a:spcBef>
                          <a:spcPts val="0"/>
                        </a:spcBef>
                        <a:spcAft>
                          <a:spcPts val="0"/>
                        </a:spcAft>
                        <a:buNone/>
                      </a:pPr>
                      <a:r>
                        <a:rPr lang="en-US" sz="800" u="none" strike="noStrike" cap="none" dirty="0"/>
                        <a:t>PEK : SID (NADP 1)  </a:t>
                      </a:r>
                      <a:r>
                        <a:rPr lang="en-US" sz="800" u="none" strike="noStrike" cap="none" dirty="0">
                          <a:solidFill>
                            <a:schemeClr val="accent4"/>
                          </a:solidFill>
                        </a:rPr>
                        <a:t>RW36R/18L </a:t>
                      </a:r>
                      <a:r>
                        <a:rPr lang="en-US" sz="800" u="none" strike="noStrike" cap="none" dirty="0" err="1">
                          <a:solidFill>
                            <a:schemeClr val="accent4"/>
                          </a:solidFill>
                        </a:rPr>
                        <a:t>Intersec</a:t>
                      </a:r>
                      <a:r>
                        <a:rPr lang="en-US" sz="800" u="none" strike="noStrike" cap="none" dirty="0">
                          <a:solidFill>
                            <a:schemeClr val="accent4"/>
                          </a:solidFill>
                        </a:rPr>
                        <a:t> T/O W2, W7</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36R</a:t>
                      </a:r>
                      <a:endParaRPr lang="en-US" sz="800" b="1" u="none" strike="noStrike" cap="none" dirty="0"/>
                    </a:p>
                    <a:p>
                      <a:pPr marL="0" marR="0" lvl="0" indent="0" algn="ctr" rtl="0">
                        <a:spcBef>
                          <a:spcPts val="0"/>
                        </a:spcBef>
                        <a:spcAft>
                          <a:spcPts val="0"/>
                        </a:spcAft>
                        <a:buNone/>
                      </a:pPr>
                      <a:r>
                        <a:rPr lang="en-US" sz="800" b="0" u="none" strike="noStrike" cap="none" dirty="0"/>
                        <a:t>(01)</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MUGLO </a:t>
                      </a:r>
                      <a:r>
                        <a:rPr lang="en-US" sz="800" b="1" u="none" strike="noStrike" cap="none" dirty="0" err="1">
                          <a:solidFill>
                            <a:srgbClr val="0070C0"/>
                          </a:solidFill>
                        </a:rPr>
                        <a:t>xWD</a:t>
                      </a:r>
                      <a:r>
                        <a:rPr lang="en-US" sz="800" b="1" u="none" strike="noStrike" cap="none" dirty="0">
                          <a:solidFill>
                            <a:srgbClr val="0070C0"/>
                          </a:solidFill>
                        </a:rPr>
                        <a:t>(</a:t>
                      </a:r>
                      <a:r>
                        <a:rPr lang="en-US" sz="800" b="1" u="none" strike="noStrike" cap="none" dirty="0" err="1">
                          <a:solidFill>
                            <a:srgbClr val="0070C0"/>
                          </a:solidFill>
                        </a:rPr>
                        <a:t>xYD</a:t>
                      </a:r>
                      <a:r>
                        <a:rPr lang="en-US"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359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359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359</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18L</a:t>
                      </a:r>
                    </a:p>
                    <a:p>
                      <a:pPr marL="0" marR="0" lvl="0" indent="0" algn="ctr" rtl="0">
                        <a:spcBef>
                          <a:spcPts val="0"/>
                        </a:spcBef>
                        <a:spcAft>
                          <a:spcPts val="0"/>
                        </a:spcAft>
                        <a:buNone/>
                      </a:pPr>
                      <a:r>
                        <a:rPr lang="en-US" sz="800" b="0" u="none" strike="noStrike" cap="none" dirty="0"/>
                        <a:t>(19)</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MUGLO </a:t>
                      </a:r>
                      <a:r>
                        <a:rPr lang="en-US" altLang="ko-Kore-KR" sz="800" b="1" u="none" strike="noStrike" cap="none" dirty="0" err="1">
                          <a:solidFill>
                            <a:srgbClr val="0070C0"/>
                          </a:solidFill>
                        </a:rPr>
                        <a:t>xZD</a:t>
                      </a:r>
                      <a:r>
                        <a:rPr lang="en-US" altLang="ko-Kore-KR" sz="800" b="1" u="none" strike="noStrike" cap="none" dirty="0">
                          <a:solidFill>
                            <a:srgbClr val="0070C0"/>
                          </a:solidFill>
                        </a:rPr>
                        <a:t>(</a:t>
                      </a:r>
                      <a:r>
                        <a:rPr lang="en-US" altLang="ko-Kore-KR" sz="800" b="1" u="none" strike="noStrike" cap="none" dirty="0" err="1">
                          <a:solidFill>
                            <a:srgbClr val="0070C0"/>
                          </a:solidFill>
                        </a:rPr>
                        <a:t>xYD</a:t>
                      </a:r>
                      <a:r>
                        <a:rPr lang="en-US" altLang="ko-Kore-KR"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179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179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179</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PEK 114.7</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36R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111.55</a:t>
                      </a:r>
                      <a:endParaRPr dirty="0"/>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01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108.5</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rgbClr val="0070C0"/>
                        </a:buClr>
                        <a:buSzPts val="800"/>
                        <a:buFont typeface="Calibri"/>
                        <a:buNone/>
                      </a:pPr>
                      <a:r>
                        <a:rPr lang="en-US" sz="800" b="0" u="none" strike="noStrike" cap="none" dirty="0">
                          <a:solidFill>
                            <a:schemeClr val="tx1"/>
                          </a:solidFill>
                        </a:rPr>
                        <a:t>36R : PEK 325/11, 36L : PEK 326/13, 01 : PEK 323/9 R124</a:t>
                      </a:r>
                      <a:endParaRPr sz="800" b="0" u="none" strike="noStrike" cap="none" dirty="0">
                        <a:solidFill>
                          <a:schemeClr val="tx1"/>
                        </a:solidFill>
                      </a:endParaRP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186816789"/>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36R(98’)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01(84’)</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18L(110’)</a:t>
                      </a:r>
                    </a:p>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19(94’)</a:t>
                      </a: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COBT from ATIS “Enroute”, Bad </a:t>
                      </a:r>
                      <a:r>
                        <a:rPr lang="en-US" sz="800" b="1" u="none" strike="noStrike" cap="none" dirty="0" err="1">
                          <a:solidFill>
                            <a:srgbClr val="0070C0"/>
                          </a:solidFill>
                        </a:rPr>
                        <a:t>Wx</a:t>
                      </a:r>
                      <a:r>
                        <a:rPr lang="en-US" sz="800" b="1" u="none" strike="noStrike" cap="none" dirty="0">
                          <a:solidFill>
                            <a:srgbClr val="0070C0"/>
                          </a:solidFill>
                        </a:rPr>
                        <a:t> DOTRA SID</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8236DCDA-A924-2E89-F3AC-73E7B1A264ED}"/>
              </a:ext>
            </a:extLst>
          </p:cNvPr>
          <p:cNvSpPr txBox="1"/>
          <p:nvPr/>
        </p:nvSpPr>
        <p:spPr>
          <a:xfrm>
            <a:off x="617160" y="2835053"/>
            <a:ext cx="141256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7" name="그림 6" descr="텍스트, 지도, 도표, 라인이(가) 표시된 사진&#10;&#10;자동 생성된 설명">
            <a:extLst>
              <a:ext uri="{FF2B5EF4-FFF2-40B4-BE49-F238E27FC236}">
                <a16:creationId xmlns:a16="http://schemas.microsoft.com/office/drawing/2014/main" id="{BFC308FA-B01C-9CC6-AA03-F79FBDF3286F}"/>
              </a:ext>
            </a:extLst>
          </p:cNvPr>
          <p:cNvPicPr>
            <a:picLocks noChangeAspect="1"/>
          </p:cNvPicPr>
          <p:nvPr/>
        </p:nvPicPr>
        <p:blipFill>
          <a:blip r:embed="rId6"/>
          <a:stretch>
            <a:fillRect/>
          </a:stretch>
        </p:blipFill>
        <p:spPr>
          <a:xfrm>
            <a:off x="0" y="2919900"/>
            <a:ext cx="700981" cy="582267"/>
          </a:xfrm>
          <a:prstGeom prst="rect">
            <a:avLst/>
          </a:prstGeom>
        </p:spPr>
      </p:pic>
      <p:pic>
        <p:nvPicPr>
          <p:cNvPr id="3" name="그림 2" descr="텍스트, 시계이(가) 표시된 사진&#10;&#10;자동 생성된 설명">
            <a:extLst>
              <a:ext uri="{FF2B5EF4-FFF2-40B4-BE49-F238E27FC236}">
                <a16:creationId xmlns:a16="http://schemas.microsoft.com/office/drawing/2014/main" id="{3EEA343B-3551-68D7-E68E-46FF869A3DE5}"/>
              </a:ext>
            </a:extLst>
          </p:cNvPr>
          <p:cNvPicPr>
            <a:picLocks noChangeAspect="1"/>
          </p:cNvPicPr>
          <p:nvPr/>
        </p:nvPicPr>
        <p:blipFill>
          <a:blip r:embed="rId7"/>
          <a:stretch>
            <a:fillRect/>
          </a:stretch>
        </p:blipFill>
        <p:spPr>
          <a:xfrm>
            <a:off x="1602416" y="660946"/>
            <a:ext cx="492402" cy="492402"/>
          </a:xfrm>
          <a:prstGeom prst="rect">
            <a:avLst/>
          </a:prstGeom>
        </p:spPr>
      </p:pic>
      <p:sp>
        <p:nvSpPr>
          <p:cNvPr id="4" name="직사각형 3">
            <a:hlinkClick r:id="" action="ppaction://hlinkshowjump?jump=firstslide"/>
            <a:extLst>
              <a:ext uri="{FF2B5EF4-FFF2-40B4-BE49-F238E27FC236}">
                <a16:creationId xmlns:a16="http://schemas.microsoft.com/office/drawing/2014/main" id="{6D93B519-A7D3-A1D5-6DBB-ACF26C94319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983451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5" name="TextBox 4">
            <a:extLst>
              <a:ext uri="{FF2B5EF4-FFF2-40B4-BE49-F238E27FC236}">
                <a16:creationId xmlns:a16="http://schemas.microsoft.com/office/drawing/2014/main" id="{6EDA6E30-D248-DE64-F79D-540912ED830D}"/>
              </a:ext>
            </a:extLst>
          </p:cNvPr>
          <p:cNvSpPr txBox="1"/>
          <p:nvPr/>
        </p:nvSpPr>
        <p:spPr>
          <a:xfrm>
            <a:off x="551431" y="3091174"/>
            <a:ext cx="1851789"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134.17 - </a:t>
            </a:r>
            <a:r>
              <a:rPr kumimoji="1" lang="en-US" altLang="ko-Kore-KR" sz="700" b="1" u="sng" dirty="0">
                <a:solidFill>
                  <a:srgbClr val="0070C0"/>
                </a:solidFill>
                <a:latin typeface="Gulim" panose="020B0600000101010101" pitchFamily="34" charset="-127"/>
                <a:ea typeface="Gulim" panose="020B0600000101010101" pitchFamily="34" charset="-127"/>
              </a:rPr>
              <a:t>TKO 133.8</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RDR 120.85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KIX APP 120.25 </a:t>
            </a:r>
          </a:p>
        </p:txBody>
      </p:sp>
      <p:graphicFrame>
        <p:nvGraphicFramePr>
          <p:cNvPr id="106" name="Google Shape;106;p2"/>
          <p:cNvGraphicFramePr/>
          <p:nvPr>
            <p:extLst>
              <p:ext uri="{D42A27DB-BD31-4B8C-83A1-F6EECF244321}">
                <p14:modId xmlns:p14="http://schemas.microsoft.com/office/powerpoint/2010/main" val="3467645227"/>
              </p:ext>
            </p:extLst>
          </p:nvPr>
        </p:nvGraphicFramePr>
        <p:xfrm>
          <a:off x="0" y="1047637"/>
          <a:ext cx="2335800" cy="200857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484975">
                  <a:extLst>
                    <a:ext uri="{9D8B030D-6E8A-4147-A177-3AD203B41FA5}">
                      <a16:colId xmlns:a16="http://schemas.microsoft.com/office/drawing/2014/main" val="20002"/>
                    </a:ext>
                  </a:extLst>
                </a:gridCol>
                <a:gridCol w="197800">
                  <a:extLst>
                    <a:ext uri="{9D8B030D-6E8A-4147-A177-3AD203B41FA5}">
                      <a16:colId xmlns:a16="http://schemas.microsoft.com/office/drawing/2014/main" val="20003"/>
                    </a:ext>
                  </a:extLst>
                </a:gridCol>
                <a:gridCol w="208275">
                  <a:extLst>
                    <a:ext uri="{9D8B030D-6E8A-4147-A177-3AD203B41FA5}">
                      <a16:colId xmlns:a16="http://schemas.microsoft.com/office/drawing/2014/main" val="20004"/>
                    </a:ext>
                  </a:extLst>
                </a:gridCol>
                <a:gridCol w="127750">
                  <a:extLst>
                    <a:ext uri="{9D8B030D-6E8A-4147-A177-3AD203B41FA5}">
                      <a16:colId xmlns:a16="http://schemas.microsoft.com/office/drawing/2014/main" val="20005"/>
                    </a:ext>
                  </a:extLst>
                </a:gridCol>
                <a:gridCol w="207500">
                  <a:extLst>
                    <a:ext uri="{9D8B030D-6E8A-4147-A177-3AD203B41FA5}">
                      <a16:colId xmlns:a16="http://schemas.microsoft.com/office/drawing/2014/main" val="20006"/>
                    </a:ext>
                  </a:extLst>
                </a:gridCol>
                <a:gridCol w="231500">
                  <a:extLst>
                    <a:ext uri="{9D8B030D-6E8A-4147-A177-3AD203B41FA5}">
                      <a16:colId xmlns:a16="http://schemas.microsoft.com/office/drawing/2014/main" val="20007"/>
                    </a:ext>
                  </a:extLst>
                </a:gridCol>
                <a:gridCol w="1037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u="none" strike="noStrike" cap="none" dirty="0"/>
                        <a:t>GMP : SID (NADP 1)</a:t>
                      </a:r>
                      <a:endParaRPr sz="800" u="none" strike="noStrike" cap="none"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rowSpan="2">
                  <a:txBody>
                    <a:bodyPr/>
                    <a:lstStyle/>
                    <a:p>
                      <a:pPr marL="0" marR="0" lvl="0" indent="0" algn="ctr" rtl="0">
                        <a:spcBef>
                          <a:spcPts val="0"/>
                        </a:spcBef>
                        <a:spcAft>
                          <a:spcPts val="0"/>
                        </a:spcAft>
                        <a:buNone/>
                      </a:pPr>
                      <a:r>
                        <a:rPr lang="en-US" sz="800" b="1" u="none" strike="noStrike" cap="none"/>
                        <a:t>32L/R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EGOBA </a:t>
                      </a:r>
                      <a:r>
                        <a:rPr lang="en-US" sz="800" b="1" u="none" strike="noStrike" cap="none" dirty="0" err="1">
                          <a:solidFill>
                            <a:srgbClr val="0070C0"/>
                          </a:solidFill>
                        </a:rPr>
                        <a:t>xT</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324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324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5000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324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1"/>
                  </a:ext>
                </a:extLst>
              </a:tr>
              <a:tr h="101600">
                <a:tc v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dirty="0"/>
                        <a:t>(EGOBA </a:t>
                      </a:r>
                      <a:r>
                        <a:rPr lang="en-US" sz="800" u="none" strike="noStrike" cap="none" dirty="0" err="1"/>
                        <a:t>xQ</a:t>
                      </a:r>
                      <a:r>
                        <a:rPr lang="en-US" sz="800" u="none" strike="noStrike" cap="none" dirty="0"/>
                        <a:t>)</a:t>
                      </a:r>
                      <a:endParaRPr sz="800" u="none" strike="noStrike" cap="none"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C00000"/>
                          </a:solidFill>
                        </a:rPr>
                        <a:t>324</a:t>
                      </a:r>
                      <a:endParaRPr sz="458"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t>324</a:t>
                      </a:r>
                      <a:endParaRPr sz="800"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u="none" strike="noStrike" cap="none">
                          <a:solidFill>
                            <a:srgbClr val="0070C0"/>
                          </a:solidFill>
                        </a:rPr>
                        <a:t>5000</a:t>
                      </a:r>
                      <a:endParaRPr sz="800"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u="none" strike="noStrike" cap="none">
                          <a:solidFill>
                            <a:srgbClr val="C00000"/>
                          </a:solidFill>
                        </a:rPr>
                        <a:t>324</a:t>
                      </a:r>
                      <a:endParaRPr sz="800" u="none" strike="noStrike" cap="none">
                        <a:solidFill>
                          <a:srgbClr val="C0000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u="none" strike="noStrike" cap="none"/>
                        <a:t>14L/R</a:t>
                      </a:r>
                      <a:endParaRPr sz="800" b="1" u="none" strike="noStrike" cap="none"/>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EGOBA </a:t>
                      </a:r>
                      <a:r>
                        <a:rPr lang="en-US" sz="800" b="1" u="none" strike="noStrike" cap="none" dirty="0" err="1">
                          <a:solidFill>
                            <a:srgbClr val="0070C0"/>
                          </a:solidFill>
                        </a:rPr>
                        <a:t>xU</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C00000"/>
                          </a:solidFill>
                        </a:rPr>
                        <a:t>144</a:t>
                      </a:r>
                      <a:endParaRPr sz="458" b="1" u="none" strike="noStrike" cap="none">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t>144</a:t>
                      </a:r>
                      <a:endParaRPr sz="800" b="1" u="none" strike="noStrike" cap="none"/>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a:solidFill>
                            <a:srgbClr val="0070C0"/>
                          </a:solidFill>
                        </a:rPr>
                        <a:t>6000</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solidFill>
                            <a:srgbClr val="C00000"/>
                          </a:solidFill>
                        </a:rPr>
                        <a:t>144</a:t>
                      </a:r>
                      <a:endParaRPr sz="800" b="1" u="none" strike="noStrike" cap="none">
                        <a:solidFill>
                          <a:srgbClr val="C00000"/>
                        </a:solidFill>
                      </a:endParaRPr>
                    </a:p>
                  </a:txBody>
                  <a:tcPr marL="36000" marR="36000" marT="36000" marB="36000" anchor="ctr"/>
                </a:tc>
                <a:extLst>
                  <a:ext uri="{0D108BD9-81ED-4DB2-BD59-A6C34878D82A}">
                    <a16:rowId xmlns:a16="http://schemas.microsoft.com/office/drawing/2014/main" val="10003"/>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KIP</a:t>
                      </a:r>
                      <a:endParaRPr/>
                    </a:p>
                    <a:p>
                      <a:pPr marL="0" marR="0" lvl="0" indent="0" algn="ctr" rtl="0">
                        <a:lnSpc>
                          <a:spcPct val="100000"/>
                        </a:lnSpc>
                        <a:spcBef>
                          <a:spcPts val="0"/>
                        </a:spcBef>
                        <a:spcAft>
                          <a:spcPts val="0"/>
                        </a:spcAft>
                        <a:buClr>
                          <a:srgbClr val="0070C0"/>
                        </a:buClr>
                        <a:buSzPts val="800"/>
                        <a:buFont typeface="Calibri"/>
                        <a:buNone/>
                      </a:pPr>
                      <a:r>
                        <a:rPr lang="en-US" sz="800" b="1" u="none" strike="noStrike" cap="none">
                          <a:solidFill>
                            <a:srgbClr val="0070C0"/>
                          </a:solidFill>
                        </a:rPr>
                        <a:t>113.6</a:t>
                      </a:r>
                      <a:endParaRPr sz="800" b="1" u="none" strike="noStrike" cap="none">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32L</a:t>
                      </a:r>
                      <a:endParaRPr dirty="0"/>
                    </a:p>
                    <a:p>
                      <a:pPr marL="0" marR="0" lvl="0" indent="0" algn="ctr" rtl="0">
                        <a:spcBef>
                          <a:spcPts val="0"/>
                        </a:spcBef>
                        <a:spcAft>
                          <a:spcPts val="0"/>
                        </a:spcAft>
                        <a:buNone/>
                      </a:pPr>
                      <a:r>
                        <a:rPr lang="en-US" sz="800" b="1" u="none" strike="noStrike" cap="none" dirty="0">
                          <a:solidFill>
                            <a:srgbClr val="C00000"/>
                          </a:solidFill>
                        </a:rPr>
                        <a:t>108.3</a:t>
                      </a:r>
                      <a:endParaRPr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C00000"/>
                          </a:solidFill>
                        </a:rPr>
                        <a:t>32R </a:t>
                      </a:r>
                      <a:endParaRPr dirty="0"/>
                    </a:p>
                    <a:p>
                      <a:pPr marL="0" marR="0" lvl="0" indent="0" algn="ctr" rtl="0">
                        <a:spcBef>
                          <a:spcPts val="0"/>
                        </a:spcBef>
                        <a:spcAft>
                          <a:spcPts val="0"/>
                        </a:spcAft>
                        <a:buNone/>
                      </a:pPr>
                      <a:r>
                        <a:rPr lang="en-US" sz="800" b="1" u="none" strike="noStrike" cap="none" dirty="0">
                          <a:solidFill>
                            <a:srgbClr val="C00000"/>
                          </a:solidFill>
                        </a:rPr>
                        <a:t>110.7</a:t>
                      </a:r>
                      <a:endParaRPr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14L 109.9</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14R 108.7</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32L/R : EO32L/R, R225</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YJU R271</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14L/R : EO14L/R, R220</a:t>
                      </a:r>
                      <a:endParaRPr dirty="0"/>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P73 /2</a:t>
                      </a:r>
                      <a:endParaRPr sz="800"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rowSpan="2"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32L(41’)</a:t>
                      </a:r>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10499’</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14R(34’)</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latin typeface="Calibri"/>
                          <a:ea typeface="Calibri"/>
                          <a:cs typeface="Calibri"/>
                          <a:sym typeface="Calibri"/>
                        </a:rPr>
                        <a:t>32R(42’)</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11811’</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a:solidFill>
                            <a:srgbClr val="00B050"/>
                          </a:solidFill>
                          <a:latin typeface="Calibri"/>
                          <a:ea typeface="Calibri"/>
                          <a:cs typeface="Calibri"/>
                          <a:sym typeface="Calibri"/>
                        </a:rPr>
                        <a:t>14L(38’)</a:t>
                      </a:r>
                      <a:endParaRPr sz="800" b="1" u="none" strike="noStrike" cap="none">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APRON(130.875) -&gt; GND(121.9)  -&gt; TWR (All by ATC)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bl>
          </a:graphicData>
        </a:graphic>
      </p:graphicFrame>
      <p:graphicFrame>
        <p:nvGraphicFramePr>
          <p:cNvPr id="108" name="Google Shape;108;p2"/>
          <p:cNvGraphicFramePr/>
          <p:nvPr>
            <p:extLst>
              <p:ext uri="{D42A27DB-BD31-4B8C-83A1-F6EECF244321}">
                <p14:modId xmlns:p14="http://schemas.microsoft.com/office/powerpoint/2010/main" val="2981840730"/>
              </p:ext>
            </p:extLst>
          </p:nvPr>
        </p:nvGraphicFramePr>
        <p:xfrm>
          <a:off x="-2501" y="16503"/>
          <a:ext cx="2328850" cy="5590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13749">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3">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u="none" strike="noStrike" cap="none" dirty="0">
                          <a:solidFill>
                            <a:schemeClr val="bg1"/>
                          </a:solidFill>
                          <a:hlinkClick r:id="rId4">
                            <a:extLst>
                              <a:ext uri="{A12FA001-AC4F-418D-AE19-62706E023703}">
                                <ahyp:hlinkClr xmlns:ahyp="http://schemas.microsoft.com/office/drawing/2018/hyperlinkcolor" val="tx"/>
                              </a:ext>
                            </a:extLst>
                          </a:hlinkClick>
                        </a:rPr>
                        <a:t>RJBB(KIX) 17ft</a:t>
                      </a:r>
                      <a:endParaRP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345286">
                <a:tc>
                  <a:txBody>
                    <a:bodyPr/>
                    <a:lstStyle/>
                    <a:p>
                      <a:pPr marL="0" marR="0" lvl="0" indent="0" algn="ctr" rtl="0">
                        <a:spcBef>
                          <a:spcPts val="0"/>
                        </a:spcBef>
                        <a:spcAft>
                          <a:spcPts val="0"/>
                        </a:spcAft>
                        <a:buNone/>
                      </a:pPr>
                      <a:r>
                        <a:rPr lang="en-US" sz="900" u="none" strike="noStrike" cap="none"/>
                        <a:t>KE GMP 131.15</a:t>
                      </a:r>
                      <a:endParaRPr/>
                    </a:p>
                    <a:p>
                      <a:pPr marL="0" marR="0" lvl="0" indent="0" algn="ctr" rtl="0">
                        <a:spcBef>
                          <a:spcPts val="0"/>
                        </a:spcBef>
                        <a:spcAft>
                          <a:spcPts val="0"/>
                        </a:spcAft>
                        <a:buNone/>
                      </a:pPr>
                      <a:r>
                        <a:rPr lang="en-US" sz="600" u="none" strike="noStrike" cap="none">
                          <a:solidFill>
                            <a:srgbClr val="FF0000"/>
                          </a:solidFill>
                          <a:latin typeface="Calibri"/>
                          <a:ea typeface="Calibri"/>
                          <a:cs typeface="Calibri"/>
                          <a:sym typeface="Calibri"/>
                        </a:rPr>
                        <a:t>DCL -15분 가능 TOBT 5분 차이시 CTC Comm</a:t>
                      </a:r>
                      <a:endParaRPr sz="800" u="none" strike="noStrike" cap="none">
                        <a:solidFill>
                          <a:srgbClr val="FF0000"/>
                        </a:solidFill>
                        <a:latin typeface="Calibri"/>
                        <a:ea typeface="Calibri"/>
                        <a:cs typeface="Calibri"/>
                        <a:sym typeface="Calibri"/>
                      </a:endParaRPr>
                    </a:p>
                  </a:txBody>
                  <a:tcPr marL="72000" marR="72000" marT="0" marB="0" anchor="ctr"/>
                </a:tc>
                <a:tc>
                  <a:txBody>
                    <a:bodyPr/>
                    <a:lstStyle/>
                    <a:p>
                      <a:pPr marL="0" marR="0" lvl="0" indent="0" algn="ctr" rtl="0">
                        <a:spcBef>
                          <a:spcPts val="0"/>
                        </a:spcBef>
                        <a:spcAft>
                          <a:spcPts val="0"/>
                        </a:spcAft>
                        <a:buNone/>
                      </a:pPr>
                      <a:r>
                        <a:rPr lang="en-US" sz="900" u="none" strike="noStrike" cap="none" dirty="0"/>
                        <a:t>KE KIX 130.95</a:t>
                      </a:r>
                      <a:endParaRPr sz="900" u="none" strike="noStrike" cap="none" dirty="0"/>
                    </a:p>
                  </a:txBody>
                  <a:tcPr marL="91450" marR="91450" marT="45725" marB="45725" anchor="ctr"/>
                </a:tc>
                <a:extLst>
                  <a:ext uri="{0D108BD9-81ED-4DB2-BD59-A6C34878D82A}">
                    <a16:rowId xmlns:a16="http://schemas.microsoft.com/office/drawing/2014/main" val="10001"/>
                  </a:ext>
                </a:extLst>
              </a:tr>
            </a:tbl>
          </a:graphicData>
        </a:graphic>
      </p:graphicFrame>
      <p:sp>
        <p:nvSpPr>
          <p:cNvPr id="109" name="Google Shape;109;p2"/>
          <p:cNvSpPr txBox="1"/>
          <p:nvPr/>
        </p:nvSpPr>
        <p:spPr>
          <a:xfrm>
            <a:off x="649003" y="585439"/>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32R </a:t>
            </a:r>
            <a:r>
              <a:rPr lang="en-US" sz="1000" b="1" dirty="0">
                <a:solidFill>
                  <a:srgbClr val="C00000"/>
                </a:solidFill>
                <a:latin typeface="Calibri"/>
                <a:ea typeface="Calibri"/>
                <a:cs typeface="Calibri"/>
                <a:sym typeface="Calibri"/>
              </a:rPr>
              <a:t>Takeoff</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graphicFrame>
        <p:nvGraphicFramePr>
          <p:cNvPr id="2" name="Google Shape;292;p18">
            <a:extLst>
              <a:ext uri="{FF2B5EF4-FFF2-40B4-BE49-F238E27FC236}">
                <a16:creationId xmlns:a16="http://schemas.microsoft.com/office/drawing/2014/main" id="{53B7324E-CA86-C6F7-B540-2D52A34E95EA}"/>
              </a:ext>
            </a:extLst>
          </p:cNvPr>
          <p:cNvGraphicFramePr/>
          <p:nvPr/>
        </p:nvGraphicFramePr>
        <p:xfrm>
          <a:off x="4472" y="3705686"/>
          <a:ext cx="2331400" cy="183128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582850">
                  <a:extLst>
                    <a:ext uri="{9D8B030D-6E8A-4147-A177-3AD203B41FA5}">
                      <a16:colId xmlns:a16="http://schemas.microsoft.com/office/drawing/2014/main" val="20001"/>
                    </a:ext>
                  </a:extLst>
                </a:gridCol>
                <a:gridCol w="582850">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28500">
                <a:tc gridSpan="4">
                  <a:txBody>
                    <a:bodyPr/>
                    <a:lstStyle/>
                    <a:p>
                      <a:pPr marL="0" marR="0" lvl="0" indent="0" algn="ctr" rtl="0">
                        <a:spcBef>
                          <a:spcPts val="0"/>
                        </a:spcBef>
                        <a:spcAft>
                          <a:spcPts val="0"/>
                        </a:spcAft>
                        <a:buNone/>
                      </a:pPr>
                      <a:r>
                        <a:rPr lang="en-US" sz="800"/>
                        <a:t>KIX : STAR (SAEKI 170, RANDY 150)</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5275">
                <a:tc>
                  <a:txBody>
                    <a:bodyPr/>
                    <a:lstStyle/>
                    <a:p>
                      <a:pPr marL="0" marR="0" lvl="0" indent="0" algn="ctr" rtl="0">
                        <a:spcBef>
                          <a:spcPts val="0"/>
                        </a:spcBef>
                        <a:spcAft>
                          <a:spcPts val="0"/>
                        </a:spcAft>
                        <a:buNone/>
                      </a:pPr>
                      <a:r>
                        <a:rPr lang="en-US" sz="800" b="1"/>
                        <a:t>06L</a:t>
                      </a:r>
                      <a:endParaRPr sz="800" b="1"/>
                    </a:p>
                  </a:txBody>
                  <a:tcPr marL="36000" marR="36000" marT="36000" marB="36000" anchor="ctr"/>
                </a:tc>
                <a:tc>
                  <a:txBody>
                    <a:bodyPr/>
                    <a:lstStyle/>
                    <a:p>
                      <a:pPr marL="0" marR="0" lvl="0" indent="0" algn="ctr" rtl="0">
                        <a:spcBef>
                          <a:spcPts val="0"/>
                        </a:spcBef>
                        <a:spcAft>
                          <a:spcPts val="0"/>
                        </a:spcAft>
                        <a:buNone/>
                      </a:pPr>
                      <a:r>
                        <a:rPr lang="en-US" sz="800" b="1"/>
                        <a:t>ALISA B</a:t>
                      </a:r>
                      <a:endParaRPr sz="800" b="1"/>
                    </a:p>
                  </a:txBody>
                  <a:tcPr marL="36000" marR="36000" marT="36000" marB="36000" anchor="ctr"/>
                </a:tc>
                <a:tc>
                  <a:txBody>
                    <a:bodyPr/>
                    <a:lstStyle/>
                    <a:p>
                      <a:pPr marL="0" marR="0" lvl="0" indent="0" algn="ctr" rtl="0">
                        <a:spcBef>
                          <a:spcPts val="0"/>
                        </a:spcBef>
                        <a:spcAft>
                          <a:spcPts val="0"/>
                        </a:spcAft>
                        <a:buNone/>
                      </a:pPr>
                      <a:r>
                        <a:rPr lang="en-US" sz="800" b="1"/>
                        <a:t>BERRY</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06L</a:t>
                      </a:r>
                      <a:endParaRPr sz="800" b="1"/>
                    </a:p>
                  </a:txBody>
                  <a:tcPr marL="36000" marR="36000" marT="36000" marB="36000" anchor="ctr"/>
                </a:tc>
                <a:extLst>
                  <a:ext uri="{0D108BD9-81ED-4DB2-BD59-A6C34878D82A}">
                    <a16:rowId xmlns:a16="http://schemas.microsoft.com/office/drawing/2014/main" val="10001"/>
                  </a:ext>
                </a:extLst>
              </a:tr>
              <a:tr h="210550">
                <a:tc>
                  <a:txBody>
                    <a:bodyPr/>
                    <a:lstStyle/>
                    <a:p>
                      <a:pPr marL="0" marR="0" lvl="0" indent="0" algn="ctr" rtl="0">
                        <a:spcBef>
                          <a:spcPts val="0"/>
                        </a:spcBef>
                        <a:spcAft>
                          <a:spcPts val="0"/>
                        </a:spcAft>
                        <a:buNone/>
                      </a:pPr>
                      <a:r>
                        <a:rPr lang="en-US" sz="800" b="1"/>
                        <a:t>06R</a:t>
                      </a:r>
                      <a:endParaRPr sz="800" b="1"/>
                    </a:p>
                  </a:txBody>
                  <a:tcPr marL="36000" marR="36000" marT="36000" marB="36000" anchor="ctr"/>
                </a:tc>
                <a:tc>
                  <a:txBody>
                    <a:bodyPr/>
                    <a:lstStyle/>
                    <a:p>
                      <a:pPr marL="0" marR="0" lvl="0" indent="0" algn="ctr" rtl="0">
                        <a:spcBef>
                          <a:spcPts val="0"/>
                        </a:spcBef>
                        <a:spcAft>
                          <a:spcPts val="0"/>
                        </a:spcAft>
                        <a:buNone/>
                      </a:pPr>
                      <a:r>
                        <a:rPr lang="en-US" sz="800" b="1"/>
                        <a:t>ALISA A</a:t>
                      </a:r>
                      <a:endParaRPr sz="800" b="1"/>
                    </a:p>
                  </a:txBody>
                  <a:tcPr marL="36000" marR="36000" marT="36000" marB="36000" anchor="ctr"/>
                </a:tc>
                <a:tc>
                  <a:txBody>
                    <a:bodyPr/>
                    <a:lstStyle/>
                    <a:p>
                      <a:pPr marL="0" marR="0" lvl="0" indent="0" algn="ctr" rtl="0">
                        <a:spcBef>
                          <a:spcPts val="0"/>
                        </a:spcBef>
                        <a:spcAft>
                          <a:spcPts val="0"/>
                        </a:spcAft>
                        <a:buNone/>
                      </a:pPr>
                      <a:r>
                        <a:rPr lang="en-US" sz="800" b="1"/>
                        <a:t>ALLAN</a:t>
                      </a:r>
                      <a:endParaRPr sz="800" b="1"/>
                    </a:p>
                  </a:txBody>
                  <a:tcPr marL="36000" marR="36000" marT="36000" marB="36000" anchor="ctr"/>
                </a:tc>
                <a:tc>
                  <a:txBody>
                    <a:bodyPr/>
                    <a:lstStyle/>
                    <a:p>
                      <a:pPr marL="0" marR="0" lvl="0" indent="0" algn="ctr" rtl="0">
                        <a:spcBef>
                          <a:spcPts val="0"/>
                        </a:spcBef>
                        <a:spcAft>
                          <a:spcPts val="0"/>
                        </a:spcAft>
                        <a:buNone/>
                      </a:pPr>
                      <a:r>
                        <a:rPr lang="en-US" sz="800" b="1"/>
                        <a:t>ILS Y 06R</a:t>
                      </a:r>
                      <a:endParaRPr sz="800" b="1"/>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t>24L/R</a:t>
                      </a:r>
                      <a:endParaRPr sz="800" b="1"/>
                    </a:p>
                  </a:txBody>
                  <a:tcPr marL="36000" marR="36000" marT="36000" marB="36000" anchor="ctr"/>
                </a:tc>
                <a:tc>
                  <a:txBody>
                    <a:bodyPr/>
                    <a:lstStyle/>
                    <a:p>
                      <a:pPr marL="0" marR="0" lvl="0" indent="0" algn="ctr" rtl="0">
                        <a:spcBef>
                          <a:spcPts val="0"/>
                        </a:spcBef>
                        <a:spcAft>
                          <a:spcPts val="0"/>
                        </a:spcAft>
                        <a:buNone/>
                      </a:pPr>
                      <a:r>
                        <a:rPr lang="en-US" sz="800" b="1"/>
                        <a:t>ALISA C</a:t>
                      </a:r>
                      <a:endParaRPr sz="800" b="1"/>
                    </a:p>
                  </a:txBody>
                  <a:tcPr marL="36000" marR="36000" marT="36000" marB="36000" anchor="ctr"/>
                </a:tc>
                <a:tc>
                  <a:txBody>
                    <a:bodyPr/>
                    <a:lstStyle/>
                    <a:p>
                      <a:pPr marL="0" marR="0" lvl="0" indent="0" algn="ctr" rtl="0">
                        <a:spcBef>
                          <a:spcPts val="0"/>
                        </a:spcBef>
                        <a:spcAft>
                          <a:spcPts val="0"/>
                        </a:spcAft>
                        <a:buNone/>
                      </a:pPr>
                      <a:r>
                        <a:rPr lang="en-US" sz="800" b="1"/>
                        <a:t>MAYAH</a:t>
                      </a:r>
                      <a:endParaRPr sz="800" b="1"/>
                    </a:p>
                  </a:txBody>
                  <a:tcPr marL="36000" marR="36000" marT="36000" marB="36000" anchor="ctr"/>
                </a:tc>
                <a:tc>
                  <a:txBody>
                    <a:bodyPr/>
                    <a:lstStyle/>
                    <a:p>
                      <a:pPr marL="0" marR="0" lvl="0" indent="0" algn="ctr" rtl="0">
                        <a:spcBef>
                          <a:spcPts val="0"/>
                        </a:spcBef>
                        <a:spcAft>
                          <a:spcPts val="0"/>
                        </a:spcAft>
                        <a:buNone/>
                      </a:pPr>
                      <a:r>
                        <a:rPr lang="en-US" sz="800" b="1"/>
                        <a:t>ILS Z 24L/R</a:t>
                      </a:r>
                      <a:endParaRPr sz="800" b="1"/>
                    </a:p>
                  </a:txBody>
                  <a:tcPr marL="36000" marR="36000" marT="36000" marB="36000" anchor="ctr"/>
                </a:tc>
                <a:extLst>
                  <a:ext uri="{0D108BD9-81ED-4DB2-BD59-A6C34878D82A}">
                    <a16:rowId xmlns:a16="http://schemas.microsoft.com/office/drawing/2014/main" val="10003"/>
                  </a:ext>
                </a:extLst>
              </a:tr>
              <a:tr h="1168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06L(15’)    13123’    24R(23’)</a:t>
                      </a:r>
                      <a:endParaRPr sz="800" b="1">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16800">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06R(5’)      11483’     24L(12’)</a:t>
                      </a:r>
                      <a:endParaRPr sz="800" b="1">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90225">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06L : B8(5160’), B6(6751’), 24R : B7(5318’), B9(6751’)</a:t>
                      </a:r>
                      <a:endParaRPr sz="80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06R : A7(5137’), A6(6938’), 24L : A8(5269’), A9(6976’)</a:t>
                      </a:r>
                      <a:r>
                        <a:rPr lang="en-US" sz="800">
                          <a:solidFill>
                            <a:schemeClr val="dk1"/>
                          </a:solidFill>
                        </a:rPr>
                        <a:t>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9022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RWY06 : After 2500ft L/G DN, After 1500ft L/D FLAP</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TAXI RTE 1, 2</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pic>
        <p:nvPicPr>
          <p:cNvPr id="3" name="그림 2">
            <a:extLst>
              <a:ext uri="{FF2B5EF4-FFF2-40B4-BE49-F238E27FC236}">
                <a16:creationId xmlns:a16="http://schemas.microsoft.com/office/drawing/2014/main" id="{746A920D-DCD8-D4F8-94B9-AFF91EB1C567}"/>
              </a:ext>
            </a:extLst>
          </p:cNvPr>
          <p:cNvPicPr>
            <a:picLocks noChangeAspect="1"/>
          </p:cNvPicPr>
          <p:nvPr/>
        </p:nvPicPr>
        <p:blipFill>
          <a:blip r:embed="rId5"/>
          <a:stretch>
            <a:fillRect/>
          </a:stretch>
        </p:blipFill>
        <p:spPr>
          <a:xfrm>
            <a:off x="148563" y="602614"/>
            <a:ext cx="451728" cy="451728"/>
          </a:xfrm>
          <a:prstGeom prst="rect">
            <a:avLst/>
          </a:prstGeom>
        </p:spPr>
      </p:pic>
      <p:pic>
        <p:nvPicPr>
          <p:cNvPr id="6" name="그림 5" descr="텍스트, 지도, 폰트, 도표이(가) 표시된 사진&#10;&#10;자동 생성된 설명">
            <a:extLst>
              <a:ext uri="{FF2B5EF4-FFF2-40B4-BE49-F238E27FC236}">
                <a16:creationId xmlns:a16="http://schemas.microsoft.com/office/drawing/2014/main" id="{33C8D53E-31DA-A0DB-5A3F-9E3DE67C2E81}"/>
              </a:ext>
            </a:extLst>
          </p:cNvPr>
          <p:cNvPicPr>
            <a:picLocks noChangeAspect="1"/>
          </p:cNvPicPr>
          <p:nvPr/>
        </p:nvPicPr>
        <p:blipFill>
          <a:blip r:embed="rId6"/>
          <a:stretch>
            <a:fillRect/>
          </a:stretch>
        </p:blipFill>
        <p:spPr>
          <a:xfrm>
            <a:off x="-2501" y="3091174"/>
            <a:ext cx="605879" cy="604595"/>
          </a:xfrm>
          <a:prstGeom prst="rect">
            <a:avLst/>
          </a:prstGeom>
        </p:spPr>
      </p:pic>
      <p:sp>
        <p:nvSpPr>
          <p:cNvPr id="7" name="직사각형 6">
            <a:hlinkClick r:id="" action="ppaction://hlinkshowjump?jump=firstslide"/>
            <a:extLst>
              <a:ext uri="{FF2B5EF4-FFF2-40B4-BE49-F238E27FC236}">
                <a16:creationId xmlns:a16="http://schemas.microsoft.com/office/drawing/2014/main" id="{1EBCE2EA-A0C1-6663-F76F-73FFEFF99A68}"/>
              </a:ext>
            </a:extLst>
          </p:cNvPr>
          <p:cNvSpPr/>
          <p:nvPr/>
        </p:nvSpPr>
        <p:spPr>
          <a:xfrm>
            <a:off x="1622852" y="333344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4" name="직사각형 3">
            <a:hlinkClick r:id="" action="ppaction://hlinkshowjump?jump=firstslide"/>
            <a:extLst>
              <a:ext uri="{FF2B5EF4-FFF2-40B4-BE49-F238E27FC236}">
                <a16:creationId xmlns:a16="http://schemas.microsoft.com/office/drawing/2014/main" id="{1034726D-96DF-678B-60CF-56E0F8552844}"/>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70C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57115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8" name="Google Shape;118;p3"/>
          <p:cNvGraphicFramePr/>
          <p:nvPr>
            <p:extLst>
              <p:ext uri="{D42A27DB-BD31-4B8C-83A1-F6EECF244321}">
                <p14:modId xmlns:p14="http://schemas.microsoft.com/office/powerpoint/2010/main" val="1879088562"/>
              </p:ext>
            </p:extLst>
          </p:nvPr>
        </p:nvGraphicFramePr>
        <p:xfrm>
          <a:off x="4999" y="3494395"/>
          <a:ext cx="2321350" cy="2058490"/>
        </p:xfrm>
        <a:graphic>
          <a:graphicData uri="http://schemas.openxmlformats.org/drawingml/2006/table">
            <a:tbl>
              <a:tblPr firstRow="1" bandRow="1">
                <a:noFill/>
                <a:tableStyleId>{A521BE36-7E6F-4EC9-8D66-1CF97A6895EC}</a:tableStyleId>
              </a:tblPr>
              <a:tblGrid>
                <a:gridCol w="473466">
                  <a:extLst>
                    <a:ext uri="{9D8B030D-6E8A-4147-A177-3AD203B41FA5}">
                      <a16:colId xmlns:a16="http://schemas.microsoft.com/office/drawing/2014/main" val="20000"/>
                    </a:ext>
                  </a:extLst>
                </a:gridCol>
                <a:gridCol w="96721">
                  <a:extLst>
                    <a:ext uri="{9D8B030D-6E8A-4147-A177-3AD203B41FA5}">
                      <a16:colId xmlns:a16="http://schemas.microsoft.com/office/drawing/2014/main" val="20001"/>
                    </a:ext>
                  </a:extLst>
                </a:gridCol>
                <a:gridCol w="100529">
                  <a:extLst>
                    <a:ext uri="{9D8B030D-6E8A-4147-A177-3AD203B41FA5}">
                      <a16:colId xmlns:a16="http://schemas.microsoft.com/office/drawing/2014/main" val="20002"/>
                    </a:ext>
                  </a:extLst>
                </a:gridCol>
                <a:gridCol w="527026">
                  <a:extLst>
                    <a:ext uri="{9D8B030D-6E8A-4147-A177-3AD203B41FA5}">
                      <a16:colId xmlns:a16="http://schemas.microsoft.com/office/drawing/2014/main" val="20003"/>
                    </a:ext>
                  </a:extLst>
                </a:gridCol>
                <a:gridCol w="481666">
                  <a:extLst>
                    <a:ext uri="{9D8B030D-6E8A-4147-A177-3AD203B41FA5}">
                      <a16:colId xmlns:a16="http://schemas.microsoft.com/office/drawing/2014/main" val="20005"/>
                    </a:ext>
                  </a:extLst>
                </a:gridCol>
                <a:gridCol w="641942">
                  <a:extLst>
                    <a:ext uri="{9D8B030D-6E8A-4147-A177-3AD203B41FA5}">
                      <a16:colId xmlns:a16="http://schemas.microsoft.com/office/drawing/2014/main" val="20007"/>
                    </a:ext>
                  </a:extLst>
                </a:gridCol>
              </a:tblGrid>
              <a:tr h="0">
                <a:tc gridSpan="6">
                  <a:txBody>
                    <a:bodyPr/>
                    <a:lstStyle/>
                    <a:p>
                      <a:pPr marL="0" marR="0" lvl="0" indent="0" algn="ctr" rtl="0">
                        <a:spcBef>
                          <a:spcPts val="0"/>
                        </a:spcBef>
                        <a:spcAft>
                          <a:spcPts val="0"/>
                        </a:spcAft>
                        <a:buNone/>
                      </a:pPr>
                      <a:r>
                        <a:rPr lang="en-US" sz="800" u="none" strike="noStrike" cap="none"/>
                        <a:t>GMP : STAR</a:t>
                      </a:r>
                      <a:endParaRPr sz="800" u="none" strike="noStrike" cap="none"/>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ILS 32L/R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t>GUKDO </a:t>
                      </a:r>
                      <a:r>
                        <a:rPr lang="en-US" sz="800" b="1" u="none" strike="noStrike" cap="none" dirty="0" err="1"/>
                        <a:t>xT</a:t>
                      </a:r>
                      <a:endParaRPr sz="800" b="1"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t>BUMSI</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ILS 14R</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t>GUKDO </a:t>
                      </a:r>
                      <a:r>
                        <a:rPr lang="en-US" sz="800" b="1" u="none" strike="noStrike" cap="none" dirty="0" err="1"/>
                        <a:t>xU</a:t>
                      </a:r>
                      <a:endParaRPr sz="800" b="1" u="none" strike="noStrike" cap="none" dirty="0"/>
                    </a:p>
                  </a:txBody>
                  <a:tcPr marL="36000" marR="36000" marT="36000" marB="3600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a:t>DOKDO</a:t>
                      </a:r>
                      <a:endParaRPr sz="458" b="1" u="none" strike="noStrike" cap="none"/>
                    </a:p>
                  </a:txBody>
                  <a:tcPr marL="36000" marR="36000" marT="36000" marB="36000" anchor="ctr"/>
                </a:tc>
                <a:tc>
                  <a:txBody>
                    <a:bodyPr/>
                    <a:lstStyle/>
                    <a:p>
                      <a:pPr marL="0" marR="0" lvl="0" indent="0" algn="ctr" rtl="0">
                        <a:spcBef>
                          <a:spcPts val="0"/>
                        </a:spcBef>
                        <a:spcAft>
                          <a:spcPts val="0"/>
                        </a:spcAft>
                        <a:buNone/>
                      </a:pPr>
                      <a:r>
                        <a:rPr lang="en-US" sz="800" b="1" u="none" strike="noStrike" cap="none"/>
                        <a:t>OLMEN 160</a:t>
                      </a:r>
                      <a:endParaRPr sz="458" b="1" u="none" strike="noStrike" cap="none"/>
                    </a:p>
                  </a:txBody>
                  <a:tcPr marL="36000" marR="36000" marT="36000" marB="36000" anchor="ctr"/>
                </a:tc>
                <a:extLst>
                  <a:ext uri="{0D108BD9-81ED-4DB2-BD59-A6C34878D82A}">
                    <a16:rowId xmlns:a16="http://schemas.microsoft.com/office/drawing/2014/main" val="10002"/>
                  </a:ext>
                </a:extLst>
              </a:tr>
              <a:tr h="112850">
                <a:tc rowSpan="2" gridSpan="3">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rowSpan="2" hMerge="1">
                  <a:txBody>
                    <a:bodyPr/>
                    <a:lstStyle/>
                    <a:p>
                      <a:endParaRPr lang="ko-Kore-KR"/>
                    </a:p>
                  </a:txBody>
                  <a:tcPr/>
                </a:tc>
                <a:tc rowSpan="2"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32L(41’)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10499’</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rPr>
                        <a:t>14R(34’)</a:t>
                      </a:r>
                      <a:endParaRPr sz="800" b="1" u="none" strike="noStrike" cap="none" dirty="0">
                        <a:solidFill>
                          <a:srgbClr val="00B050"/>
                        </a:solidFill>
                      </a:endParaRPr>
                    </a:p>
                  </a:txBody>
                  <a:tcPr marL="36000" marR="36000" marT="36000" marB="36000" anchor="ctr"/>
                </a:tc>
                <a:extLst>
                  <a:ext uri="{0D108BD9-81ED-4DB2-BD59-A6C34878D82A}">
                    <a16:rowId xmlns:a16="http://schemas.microsoft.com/office/drawing/2014/main" val="10004"/>
                  </a:ext>
                </a:extLst>
              </a:tr>
              <a:tr h="112850">
                <a:tc gridSpan="3" vMerge="1">
                  <a:txBody>
                    <a:bodyPr/>
                    <a:lstStyle/>
                    <a:p>
                      <a:endParaRPr lang="ko-Kore-KR"/>
                    </a:p>
                  </a:txBody>
                  <a:tcPr/>
                </a:tc>
                <a:tc hMerge="1" vMerge="1">
                  <a:txBody>
                    <a:bodyPr/>
                    <a:lstStyle/>
                    <a:p>
                      <a:endParaRPr lang="ko-Kore-KR"/>
                    </a:p>
                  </a:txBody>
                  <a:tcPr/>
                </a:tc>
                <a:tc hMerge="1"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32R(42’)</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11811’</a:t>
                      </a:r>
                      <a:endParaRPr sz="800" b="1" u="none" strike="noStrike" cap="none">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a:solidFill>
                            <a:srgbClr val="00B050"/>
                          </a:solidFill>
                        </a:rPr>
                        <a:t>14L(38’)</a:t>
                      </a:r>
                      <a:endParaRPr sz="800" b="1" u="none" strike="noStrike" cap="none">
                        <a:solidFill>
                          <a:srgbClr val="00B050"/>
                        </a:solidFill>
                      </a:endParaRPr>
                    </a:p>
                  </a:txBody>
                  <a:tcPr marL="36000" marR="36000" marT="36000" marB="36000" anchor="ctr"/>
                </a:tc>
                <a:extLst>
                  <a:ext uri="{0D108BD9-81ED-4DB2-BD59-A6C34878D82A}">
                    <a16:rowId xmlns:a16="http://schemas.microsoft.com/office/drawing/2014/main" val="10005"/>
                  </a:ext>
                </a:extLst>
              </a:tr>
              <a:tr h="156400">
                <a:tc gridSpan="2">
                  <a:txBody>
                    <a:bodyPr/>
                    <a:lstStyle/>
                    <a:p>
                      <a:pPr marL="0" marR="0" lvl="0" indent="0" algn="ctr" rtl="0">
                        <a:spcBef>
                          <a:spcPts val="0"/>
                        </a:spcBef>
                        <a:spcAft>
                          <a:spcPts val="0"/>
                        </a:spcAft>
                        <a:buNone/>
                      </a:pPr>
                      <a:r>
                        <a:rPr lang="en-US" sz="800" u="none" strike="noStrike" cap="none">
                          <a:solidFill>
                            <a:schemeClr val="lt1"/>
                          </a:solidFill>
                          <a:latin typeface="Calibri"/>
                          <a:ea typeface="Calibri"/>
                          <a:cs typeface="Calibri"/>
                          <a:sym typeface="Calibri"/>
                        </a:rPr>
                        <a:t>FIX</a:t>
                      </a:r>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l" rtl="0">
                        <a:spcBef>
                          <a:spcPts val="0"/>
                        </a:spcBef>
                        <a:spcAft>
                          <a:spcPts val="0"/>
                        </a:spcAft>
                        <a:buNone/>
                      </a:pPr>
                      <a:r>
                        <a:rPr lang="en-US" sz="800" u="none" strike="noStrike" cap="none" dirty="0"/>
                        <a:t>KIP /8(RWY 32), YJU R271, P73 /2</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01600">
                <a:tc gridSpan="6">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32L : D3(6532’), E2(9117’), 32R : E1(6614’)</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14R : C1(6578’)</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01600">
                <a:tc gridSpan="6">
                  <a:txBody>
                    <a:bodyPr/>
                    <a:lstStyle/>
                    <a:p>
                      <a:pPr marL="0" marR="0" lvl="0" indent="0" algn="l" rtl="0">
                        <a:spcBef>
                          <a:spcPts val="0"/>
                        </a:spcBef>
                        <a:spcAft>
                          <a:spcPts val="0"/>
                        </a:spcAft>
                        <a:buNone/>
                      </a:pPr>
                      <a:r>
                        <a:rPr lang="en-US" sz="800" dirty="0">
                          <a:latin typeface="Calibri"/>
                          <a:ea typeface="Calibri"/>
                          <a:cs typeface="Calibri"/>
                          <a:sym typeface="Calibri"/>
                        </a:rPr>
                        <a:t>32L/R : 8 KIP L/G, 14R : LOC CAPT L/G</a:t>
                      </a:r>
                      <a:endParaRPr dirty="0"/>
                    </a:p>
                    <a:p>
                      <a:pPr marL="0" marR="0" lvl="0" indent="0" algn="l" rtl="0">
                        <a:spcBef>
                          <a:spcPts val="0"/>
                        </a:spcBef>
                        <a:spcAft>
                          <a:spcPts val="0"/>
                        </a:spcAft>
                        <a:buNone/>
                      </a:pPr>
                      <a:r>
                        <a:rPr lang="en-US" sz="800" dirty="0">
                          <a:latin typeface="Calibri"/>
                          <a:ea typeface="Calibri"/>
                          <a:cs typeface="Calibri"/>
                          <a:sym typeface="Calibri"/>
                        </a:rPr>
                        <a:t>FAF : Final Flap</a:t>
                      </a:r>
                      <a:endParaRPr dirty="0"/>
                    </a:p>
                    <a:p>
                      <a:pPr marL="0" marR="0" lvl="0" indent="0" algn="l" rtl="0">
                        <a:spcBef>
                          <a:spcPts val="0"/>
                        </a:spcBef>
                        <a:spcAft>
                          <a:spcPts val="0"/>
                        </a:spcAft>
                        <a:buNone/>
                      </a:pPr>
                      <a:r>
                        <a:rPr lang="en-US" sz="800" dirty="0">
                          <a:latin typeface="Calibri"/>
                          <a:ea typeface="Calibri"/>
                          <a:cs typeface="Calibri"/>
                          <a:sym typeface="Calibri"/>
                        </a:rPr>
                        <a:t>TWR -&gt; GND -&gt; APRON (All by ATC)</a:t>
                      </a:r>
                      <a:endParaRPr dirty="0"/>
                    </a:p>
                    <a:p>
                      <a:pPr marL="0" marR="0" lvl="0" indent="0" algn="l" rtl="0">
                        <a:spcBef>
                          <a:spcPts val="0"/>
                        </a:spcBef>
                        <a:spcAft>
                          <a:spcPts val="0"/>
                        </a:spcAft>
                        <a:buNone/>
                      </a:pPr>
                      <a:r>
                        <a:rPr lang="en-US" sz="800" dirty="0">
                          <a:latin typeface="Calibri"/>
                          <a:ea typeface="Calibri"/>
                          <a:cs typeface="Calibri"/>
                          <a:sym typeface="Calibri"/>
                        </a:rPr>
                        <a:t>Except RWY14R Landing (Until 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bl>
          </a:graphicData>
        </a:graphic>
      </p:graphicFrame>
      <p:graphicFrame>
        <p:nvGraphicFramePr>
          <p:cNvPr id="119" name="Google Shape;119;p3"/>
          <p:cNvGraphicFramePr/>
          <p:nvPr>
            <p:extLst>
              <p:ext uri="{D42A27DB-BD31-4B8C-83A1-F6EECF244321}">
                <p14:modId xmlns:p14="http://schemas.microsoft.com/office/powerpoint/2010/main" val="1029270949"/>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3">
                            <a:extLst>
                              <a:ext uri="{A12FA001-AC4F-418D-AE19-62706E023703}">
                                <ahyp:hlinkClr xmlns:ahyp="http://schemas.microsoft.com/office/drawing/2018/hyperlinkcolor" val="tx"/>
                              </a:ext>
                            </a:extLst>
                          </a:hlinkClick>
                        </a:rPr>
                        <a:t>RJBB(KIX) 17ft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4">
                            <a:extLst>
                              <a:ext uri="{A12FA001-AC4F-418D-AE19-62706E023703}">
                                <ahyp:hlinkClr xmlns:ahyp="http://schemas.microsoft.com/office/drawing/2018/hyperlinkcolor" val="tx"/>
                              </a:ext>
                            </a:extLst>
                          </a:hlinkClick>
                        </a:rPr>
                        <a:t>RKSS(GMP) 59ft</a:t>
                      </a:r>
                      <a:endParaRPr lang="en-US" altLang="ko-Kore-KR" sz="1300" u="none" strike="noStrike" cap="none"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KIX 130.95</a:t>
                      </a:r>
                      <a:endParaRPr dirty="0"/>
                    </a:p>
                    <a:p>
                      <a:pPr marL="0" marR="0" lvl="0" indent="0" algn="ctr" rtl="0">
                        <a:spcBef>
                          <a:spcPts val="0"/>
                        </a:spcBef>
                        <a:spcAft>
                          <a:spcPts val="0"/>
                        </a:spcAft>
                        <a:buNone/>
                      </a:pPr>
                      <a:r>
                        <a:rPr lang="en-US" sz="700" dirty="0">
                          <a:solidFill>
                            <a:srgbClr val="FF0000"/>
                          </a:solidFill>
                        </a:rPr>
                        <a:t>DCL -15분</a:t>
                      </a:r>
                      <a:endParaRPr sz="700" dirty="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GMP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120" name="Google Shape;120;p3"/>
          <p:cNvSpPr txBox="1"/>
          <p:nvPr/>
        </p:nvSpPr>
        <p:spPr>
          <a:xfrm>
            <a:off x="-35514" y="602871"/>
            <a:ext cx="1666195" cy="49240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dirty="0" err="1">
                <a:solidFill>
                  <a:schemeClr val="dk1"/>
                </a:solidFill>
                <a:latin typeface="Calibri"/>
                <a:ea typeface="Calibri"/>
                <a:cs typeface="Calibri"/>
                <a:sym typeface="Calibri"/>
              </a:rPr>
              <a:t>Rwy</a:t>
            </a:r>
            <a:r>
              <a:rPr lang="en-US" sz="800" dirty="0">
                <a:solidFill>
                  <a:schemeClr val="dk1"/>
                </a:solidFill>
                <a:latin typeface="Calibri"/>
                <a:ea typeface="Calibri"/>
                <a:cs typeface="Calibri"/>
                <a:sym typeface="Calibri"/>
              </a:rPr>
              <a:t> 32L </a:t>
            </a:r>
            <a:r>
              <a:rPr lang="en-US" sz="1000" b="1" dirty="0">
                <a:solidFill>
                  <a:srgbClr val="C00000"/>
                </a:solidFill>
                <a:latin typeface="Calibri"/>
                <a:ea typeface="Calibri"/>
                <a:cs typeface="Calibri"/>
                <a:sym typeface="Calibri"/>
              </a:rPr>
              <a:t>Landing</a:t>
            </a:r>
            <a:r>
              <a:rPr lang="en-US" sz="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800" dirty="0">
                <a:solidFill>
                  <a:schemeClr val="dk1"/>
                </a:solidFill>
                <a:latin typeface="Calibri"/>
                <a:ea typeface="Calibri"/>
                <a:cs typeface="Calibri"/>
                <a:sym typeface="Calibri"/>
              </a:rPr>
              <a:t>(06:00L~0900L / 12:00L~15:00L /18:00L~21:00L)</a:t>
            </a:r>
            <a:endParaRPr dirty="0"/>
          </a:p>
        </p:txBody>
      </p:sp>
      <p:graphicFrame>
        <p:nvGraphicFramePr>
          <p:cNvPr id="3" name="Google Shape;300;p19">
            <a:extLst>
              <a:ext uri="{FF2B5EF4-FFF2-40B4-BE49-F238E27FC236}">
                <a16:creationId xmlns:a16="http://schemas.microsoft.com/office/drawing/2014/main" id="{322683CB-72F3-2968-45AE-8ECEC61EFA8C}"/>
              </a:ext>
            </a:extLst>
          </p:cNvPr>
          <p:cNvGraphicFramePr/>
          <p:nvPr>
            <p:extLst>
              <p:ext uri="{D42A27DB-BD31-4B8C-83A1-F6EECF244321}">
                <p14:modId xmlns:p14="http://schemas.microsoft.com/office/powerpoint/2010/main" val="1632279940"/>
              </p:ext>
            </p:extLst>
          </p:nvPr>
        </p:nvGraphicFramePr>
        <p:xfrm>
          <a:off x="0" y="1065982"/>
          <a:ext cx="2332950" cy="174265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67475">
                  <a:extLst>
                    <a:ext uri="{9D8B030D-6E8A-4147-A177-3AD203B41FA5}">
                      <a16:colId xmlns:a16="http://schemas.microsoft.com/office/drawing/2014/main" val="20003"/>
                    </a:ext>
                  </a:extLst>
                </a:gridCol>
                <a:gridCol w="110475">
                  <a:extLst>
                    <a:ext uri="{9D8B030D-6E8A-4147-A177-3AD203B41FA5}">
                      <a16:colId xmlns:a16="http://schemas.microsoft.com/office/drawing/2014/main" val="20004"/>
                    </a:ext>
                  </a:extLst>
                </a:gridCol>
                <a:gridCol w="299925">
                  <a:extLst>
                    <a:ext uri="{9D8B030D-6E8A-4147-A177-3AD203B41FA5}">
                      <a16:colId xmlns:a16="http://schemas.microsoft.com/office/drawing/2014/main" val="20005"/>
                    </a:ext>
                  </a:extLst>
                </a:gridCol>
                <a:gridCol w="427575">
                  <a:extLst>
                    <a:ext uri="{9D8B030D-6E8A-4147-A177-3AD203B41FA5}">
                      <a16:colId xmlns:a16="http://schemas.microsoft.com/office/drawing/2014/main" val="20006"/>
                    </a:ext>
                  </a:extLst>
                </a:gridCol>
                <a:gridCol w="101050">
                  <a:extLst>
                    <a:ext uri="{9D8B030D-6E8A-4147-A177-3AD203B41FA5}">
                      <a16:colId xmlns:a16="http://schemas.microsoft.com/office/drawing/2014/main" val="20007"/>
                    </a:ext>
                  </a:extLst>
                </a:gridCol>
                <a:gridCol w="326525">
                  <a:extLst>
                    <a:ext uri="{9D8B030D-6E8A-4147-A177-3AD203B41FA5}">
                      <a16:colId xmlns:a16="http://schemas.microsoft.com/office/drawing/2014/main" val="20008"/>
                    </a:ext>
                  </a:extLst>
                </a:gridCol>
              </a:tblGrid>
              <a:tr h="159300">
                <a:tc gridSpan="9">
                  <a:txBody>
                    <a:bodyPr/>
                    <a:lstStyle/>
                    <a:p>
                      <a:pPr marL="0" marR="0" lvl="0" indent="0" algn="ctr" rtl="0">
                        <a:spcBef>
                          <a:spcPts val="0"/>
                        </a:spcBef>
                        <a:spcAft>
                          <a:spcPts val="0"/>
                        </a:spcAft>
                        <a:buNone/>
                      </a:pPr>
                      <a:r>
                        <a:rPr lang="en-US" sz="800"/>
                        <a:t>KIX : SID – SOUJA tx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06L/R</a:t>
                      </a:r>
                      <a:endParaRPr sz="800" b="1"/>
                    </a:p>
                  </a:txBody>
                  <a:tcPr marL="36000" marR="36000" marT="36000" marB="36000" anchor="ctr"/>
                </a:tc>
                <a:tc rowSpan="2" gridSpan="2">
                  <a:txBody>
                    <a:bodyPr/>
                    <a:lstStyle/>
                    <a:p>
                      <a:pPr marL="0" marR="0" lvl="0" indent="0" algn="ctr" rtl="0">
                        <a:spcBef>
                          <a:spcPts val="0"/>
                        </a:spcBef>
                        <a:spcAft>
                          <a:spcPts val="0"/>
                        </a:spcAft>
                        <a:buNone/>
                      </a:pPr>
                      <a:r>
                        <a:rPr lang="en-US" sz="800" b="1">
                          <a:solidFill>
                            <a:srgbClr val="0070C0"/>
                          </a:solidFill>
                        </a:rPr>
                        <a:t>HELEN x</a:t>
                      </a:r>
                      <a:endParaRPr sz="800" b="1">
                        <a:solidFill>
                          <a:srgbClr val="0070C0"/>
                        </a:solidFill>
                      </a:endParaRPr>
                    </a:p>
                    <a:p>
                      <a:pPr marL="0" marR="0" lvl="0" indent="0" algn="ctr" rtl="0">
                        <a:spcBef>
                          <a:spcPts val="0"/>
                        </a:spcBef>
                        <a:spcAft>
                          <a:spcPts val="0"/>
                        </a:spcAft>
                        <a:buNone/>
                      </a:pPr>
                      <a:r>
                        <a:rPr lang="en-US" sz="800"/>
                        <a:t>- SOUJA tx</a:t>
                      </a:r>
                      <a:endParaRPr sz="800"/>
                    </a:p>
                  </a:txBody>
                  <a:tcPr marL="36000" marR="36000" marT="36000" marB="36000" anchor="ctr"/>
                </a:tc>
                <a:tc rowSpan="2"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059</a:t>
                      </a: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059</a:t>
                      </a:r>
                      <a:endParaRPr sz="458"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dirty="0"/>
                    </a:p>
                    <a:p>
                      <a:pPr marL="0" marR="0" lvl="0" indent="0" algn="ctr" rtl="0">
                        <a:spcBef>
                          <a:spcPts val="0"/>
                        </a:spcBef>
                        <a:spcAft>
                          <a:spcPts val="0"/>
                        </a:spcAft>
                        <a:buNone/>
                      </a:pPr>
                      <a:r>
                        <a:rPr lang="en-US" sz="800" b="1" dirty="0">
                          <a:solidFill>
                            <a:srgbClr val="0070C0"/>
                          </a:solidFill>
                        </a:rPr>
                        <a:t>(9000)</a:t>
                      </a:r>
                      <a:endParaRPr sz="458"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059</a:t>
                      </a:r>
                      <a:endParaRPr sz="800" b="1" dirty="0">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24L/R</a:t>
                      </a:r>
                      <a:endParaRPr sz="800" b="1"/>
                    </a:p>
                  </a:txBody>
                  <a:tcPr marL="36000" marR="36000" marT="36000" marB="36000" anchor="ctr"/>
                </a:tc>
                <a:tc gridSpan="2" vMerge="1">
                  <a:txBody>
                    <a:bodyPr/>
                    <a:lstStyle/>
                    <a:p>
                      <a:endParaRPr lang="ko-Kore-KR"/>
                    </a:p>
                  </a:txBody>
                  <a:tcPr/>
                </a:tc>
                <a:tc hMerge="1"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239</a:t>
                      </a:r>
                      <a:endParaRPr sz="458" b="1"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t>239</a:t>
                      </a:r>
                      <a:endParaRPr sz="458"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ATC</a:t>
                      </a:r>
                      <a:endParaRPr b="1" dirty="0"/>
                    </a:p>
                    <a:p>
                      <a:pPr marL="0" marR="0" lvl="0" indent="0" algn="ctr" rtl="0">
                        <a:spcBef>
                          <a:spcPts val="0"/>
                        </a:spcBef>
                        <a:spcAft>
                          <a:spcPts val="0"/>
                        </a:spcAft>
                        <a:buNone/>
                      </a:pPr>
                      <a:r>
                        <a:rPr lang="en-US" sz="800" b="1" dirty="0">
                          <a:solidFill>
                            <a:srgbClr val="0070C0"/>
                          </a:solidFill>
                        </a:rPr>
                        <a:t>(9000)</a:t>
                      </a:r>
                      <a:endParaRPr sz="458" b="1"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C00000"/>
                          </a:solidFill>
                        </a:rPr>
                        <a:t>239</a:t>
                      </a:r>
                      <a:endParaRPr sz="800" b="1" dirty="0">
                        <a:solidFill>
                          <a:srgbClr val="C00000"/>
                        </a:solidFill>
                      </a:endParaRPr>
                    </a:p>
                  </a:txBody>
                  <a:tcPr marL="36000" marR="36000" marT="36000" marB="36000" anchor="ctr"/>
                </a:tc>
                <a:extLst>
                  <a:ext uri="{0D108BD9-81ED-4DB2-BD59-A6C34878D82A}">
                    <a16:rowId xmlns:a16="http://schemas.microsoft.com/office/drawing/2014/main" val="10002"/>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KIE</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111.6</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06L </a:t>
                      </a:r>
                      <a:endParaRPr/>
                    </a:p>
                    <a:p>
                      <a:pPr marL="0" marR="0" lvl="0" indent="0" algn="ctr" rtl="0">
                        <a:spcBef>
                          <a:spcPts val="0"/>
                        </a:spcBef>
                        <a:spcAft>
                          <a:spcPts val="0"/>
                        </a:spcAft>
                        <a:buNone/>
                      </a:pPr>
                      <a:r>
                        <a:rPr lang="en-US" sz="800" b="1">
                          <a:solidFill>
                            <a:srgbClr val="C00000"/>
                          </a:solidFill>
                        </a:rPr>
                        <a:t>108.7</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06R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24L 110.7</a:t>
                      </a:r>
                      <a:endParaRPr sz="800" b="1">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a:solidFill>
                            <a:srgbClr val="C00000"/>
                          </a:solidFill>
                        </a:rPr>
                        <a:t>24R 108.5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06L(15’)</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24R(23’)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44775">
                <a:tc v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06R (5’)</a:t>
                      </a:r>
                      <a:endParaRPr sz="458">
                        <a:solidFill>
                          <a:srgbClr val="00B050"/>
                        </a:solidFill>
                      </a:endParaRPr>
                    </a:p>
                  </a:txBody>
                  <a:tcPr marL="36000" marR="36000" marT="36000" marB="36000" anchor="ct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24L (12’)</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44775">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Start, TAXI RTE 1, 2</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4" name="그림 3" descr="텍스트, 시계이(가) 표시된 사진&#10;&#10;자동 생성된 설명">
            <a:extLst>
              <a:ext uri="{FF2B5EF4-FFF2-40B4-BE49-F238E27FC236}">
                <a16:creationId xmlns:a16="http://schemas.microsoft.com/office/drawing/2014/main" id="{A2514967-B32E-DB96-72C0-5C07E4BA68F1}"/>
              </a:ext>
            </a:extLst>
          </p:cNvPr>
          <p:cNvPicPr>
            <a:picLocks noChangeAspect="1"/>
          </p:cNvPicPr>
          <p:nvPr/>
        </p:nvPicPr>
        <p:blipFill>
          <a:blip r:embed="rId5"/>
          <a:stretch>
            <a:fillRect/>
          </a:stretch>
        </p:blipFill>
        <p:spPr>
          <a:xfrm>
            <a:off x="1602416" y="584746"/>
            <a:ext cx="492402" cy="492402"/>
          </a:xfrm>
          <a:prstGeom prst="rect">
            <a:avLst/>
          </a:prstGeom>
        </p:spPr>
      </p:pic>
      <p:sp>
        <p:nvSpPr>
          <p:cNvPr id="6" name="TextBox 5">
            <a:extLst>
              <a:ext uri="{FF2B5EF4-FFF2-40B4-BE49-F238E27FC236}">
                <a16:creationId xmlns:a16="http://schemas.microsoft.com/office/drawing/2014/main" id="{5D76042E-1391-3EFF-D963-B4B8BE948E4D}"/>
              </a:ext>
            </a:extLst>
          </p:cNvPr>
          <p:cNvSpPr txBox="1"/>
          <p:nvPr/>
        </p:nvSpPr>
        <p:spPr>
          <a:xfrm>
            <a:off x="-20938" y="2762423"/>
            <a:ext cx="1002197"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132.7 – 133.8 </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TGU 120.57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5" name="직사각형 4">
            <a:hlinkClick r:id="" action="ppaction://hlinkshowjump?jump=firstslide"/>
            <a:extLst>
              <a:ext uri="{FF2B5EF4-FFF2-40B4-BE49-F238E27FC236}">
                <a16:creationId xmlns:a16="http://schemas.microsoft.com/office/drawing/2014/main" id="{8A5F609F-4F3D-A2FD-A1FC-659A46590E91}"/>
              </a:ext>
            </a:extLst>
          </p:cNvPr>
          <p:cNvSpPr/>
          <p:nvPr/>
        </p:nvSpPr>
        <p:spPr>
          <a:xfrm>
            <a:off x="1622852" y="3067222"/>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952E158E-CC1B-0371-EDB5-08EB94C0DA8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8253346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graphicFrame>
        <p:nvGraphicFramePr>
          <p:cNvPr id="194" name="Google Shape;194;p8"/>
          <p:cNvGraphicFramePr/>
          <p:nvPr>
            <p:extLst>
              <p:ext uri="{D42A27DB-BD31-4B8C-83A1-F6EECF244321}">
                <p14:modId xmlns:p14="http://schemas.microsoft.com/office/powerpoint/2010/main" val="2947711465"/>
              </p:ext>
            </p:extLst>
          </p:nvPr>
        </p:nvGraphicFramePr>
        <p:xfrm>
          <a:off x="0" y="639107"/>
          <a:ext cx="2335800" cy="149881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76800">
                  <a:extLst>
                    <a:ext uri="{9D8B030D-6E8A-4147-A177-3AD203B41FA5}">
                      <a16:colId xmlns:a16="http://schemas.microsoft.com/office/drawing/2014/main" val="20001"/>
                    </a:ext>
                  </a:extLst>
                </a:gridCol>
                <a:gridCol w="339600">
                  <a:extLst>
                    <a:ext uri="{9D8B030D-6E8A-4147-A177-3AD203B41FA5}">
                      <a16:colId xmlns:a16="http://schemas.microsoft.com/office/drawing/2014/main" val="20002"/>
                    </a:ext>
                  </a:extLst>
                </a:gridCol>
                <a:gridCol w="145375">
                  <a:extLst>
                    <a:ext uri="{9D8B030D-6E8A-4147-A177-3AD203B41FA5}">
                      <a16:colId xmlns:a16="http://schemas.microsoft.com/office/drawing/2014/main" val="20003"/>
                    </a:ext>
                  </a:extLst>
                </a:gridCol>
                <a:gridCol w="197800">
                  <a:extLst>
                    <a:ext uri="{9D8B030D-6E8A-4147-A177-3AD203B41FA5}">
                      <a16:colId xmlns:a16="http://schemas.microsoft.com/office/drawing/2014/main" val="20004"/>
                    </a:ext>
                  </a:extLst>
                </a:gridCol>
                <a:gridCol w="208275">
                  <a:extLst>
                    <a:ext uri="{9D8B030D-6E8A-4147-A177-3AD203B41FA5}">
                      <a16:colId xmlns:a16="http://schemas.microsoft.com/office/drawing/2014/main" val="20005"/>
                    </a:ext>
                  </a:extLst>
                </a:gridCol>
                <a:gridCol w="227150">
                  <a:extLst>
                    <a:ext uri="{9D8B030D-6E8A-4147-A177-3AD203B41FA5}">
                      <a16:colId xmlns:a16="http://schemas.microsoft.com/office/drawing/2014/main" val="20006"/>
                    </a:ext>
                  </a:extLst>
                </a:gridCol>
                <a:gridCol w="108100">
                  <a:extLst>
                    <a:ext uri="{9D8B030D-6E8A-4147-A177-3AD203B41FA5}">
                      <a16:colId xmlns:a16="http://schemas.microsoft.com/office/drawing/2014/main" val="20007"/>
                    </a:ext>
                  </a:extLst>
                </a:gridCol>
                <a:gridCol w="335250">
                  <a:extLst>
                    <a:ext uri="{9D8B030D-6E8A-4147-A177-3AD203B41FA5}">
                      <a16:colId xmlns:a16="http://schemas.microsoft.com/office/drawing/2014/main" val="20008"/>
                    </a:ext>
                  </a:extLst>
                </a:gridCol>
                <a:gridCol w="335250">
                  <a:extLst>
                    <a:ext uri="{9D8B030D-6E8A-4147-A177-3AD203B41FA5}">
                      <a16:colId xmlns:a16="http://schemas.microsoft.com/office/drawing/2014/main" val="20009"/>
                    </a:ext>
                  </a:extLst>
                </a:gridCol>
              </a:tblGrid>
              <a:tr h="0">
                <a:tc gridSpan="10">
                  <a:txBody>
                    <a:bodyPr/>
                    <a:lstStyle/>
                    <a:p>
                      <a:pPr marL="0" marR="0" lvl="0" indent="0" algn="ctr" rtl="0">
                        <a:spcBef>
                          <a:spcPts val="0"/>
                        </a:spcBef>
                        <a:spcAft>
                          <a:spcPts val="0"/>
                        </a:spcAft>
                        <a:buNone/>
                      </a:pPr>
                      <a:r>
                        <a:rPr lang="en-US" sz="800"/>
                        <a:t>CJU : SID (NADP 1)</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LIMDI </a:t>
                      </a:r>
                      <a:r>
                        <a:rPr lang="en-US" sz="800" b="1" dirty="0" err="1">
                          <a:solidFill>
                            <a:srgbClr val="0070C0"/>
                          </a:solidFill>
                        </a:rPr>
                        <a:t>xE</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066</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066</a:t>
                      </a:r>
                      <a:endParaRPr sz="800" b="1"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9000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C00000"/>
                          </a:solidFill>
                        </a:rPr>
                        <a:t>066</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25</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KAMIT xW</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246</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246</a:t>
                      </a:r>
                      <a:endParaRPr sz="800" b="1"/>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C00000"/>
                          </a:solidFill>
                        </a:rPr>
                        <a:t>246</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YDM 109.0</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07 109.9</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dirty="0">
                          <a:solidFill>
                            <a:srgbClr val="C00000"/>
                          </a:solidFill>
                        </a:rPr>
                        <a:t>25 111.3</a:t>
                      </a:r>
                      <a:endParaRPr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3"/>
                  </a:ext>
                </a:extLst>
              </a:tr>
              <a:tr h="115700">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a:t>07 : NONE</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a:t>25 : YDM246/3, R290</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latin typeface="Calibri"/>
                          <a:ea typeface="Calibri"/>
                          <a:cs typeface="Calibri"/>
                          <a:sym typeface="Calibri"/>
                        </a:rPr>
                        <a:t>07(87’)</a:t>
                      </a:r>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10433’</a:t>
                      </a:r>
                      <a:endParaRPr sz="800" b="1">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latin typeface="Calibri"/>
                          <a:ea typeface="Calibri"/>
                          <a:cs typeface="Calibri"/>
                          <a:sym typeface="Calibri"/>
                        </a:rPr>
                        <a:t>25(76’)</a:t>
                      </a:r>
                      <a:endParaRPr sz="800" b="1">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07 : Passing G4 CTC TWR </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25 : 31 Holding PSN on P, E1,2,3 CTC TWR</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196" name="Google Shape;196;p8"/>
          <p:cNvGraphicFramePr/>
          <p:nvPr>
            <p:extLst>
              <p:ext uri="{D42A27DB-BD31-4B8C-83A1-F6EECF244321}">
                <p14:modId xmlns:p14="http://schemas.microsoft.com/office/powerpoint/2010/main" val="2467035066"/>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u="none" strike="noStrike" cap="none" dirty="0">
                          <a:solidFill>
                            <a:schemeClr val="bg1"/>
                          </a:solidFill>
                          <a:hlinkClick r:id="rId3">
                            <a:extLst>
                              <a:ext uri="{A12FA001-AC4F-418D-AE19-62706E023703}">
                                <ahyp:hlinkClr xmlns:ahyp="http://schemas.microsoft.com/office/drawing/2018/hyperlinkcolor" val="tx"/>
                              </a:ext>
                            </a:extLst>
                          </a:hlinkClick>
                        </a:rPr>
                        <a:t>RKPC(CJU) 119ft</a:t>
                      </a:r>
                      <a:endParaRPr lang="en-US" altLang="ko-Kore-KR" sz="1300" u="none" strike="noStrike" cap="none"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ZBAA(PEK) 116ft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CJU 129.4</a:t>
                      </a:r>
                      <a:endParaRPr/>
                    </a:p>
                    <a:p>
                      <a:pPr marL="0" marR="0" lvl="0" indent="0" algn="ctr" rtl="0">
                        <a:lnSpc>
                          <a:spcPct val="100000"/>
                        </a:lnSpc>
                        <a:spcBef>
                          <a:spcPts val="0"/>
                        </a:spcBef>
                        <a:spcAft>
                          <a:spcPts val="0"/>
                        </a:spcAft>
                        <a:buClr>
                          <a:srgbClr val="FF0000"/>
                        </a:buClr>
                        <a:buSzPts val="700"/>
                        <a:buFont typeface="Calibri"/>
                        <a:buNone/>
                      </a:pPr>
                      <a:r>
                        <a:rPr lang="en-US" sz="700" b="0" i="0" u="none" strike="noStrike" cap="none">
                          <a:solidFill>
                            <a:srgbClr val="FF0000"/>
                          </a:solidFill>
                          <a:latin typeface="Calibri"/>
                          <a:ea typeface="Calibri"/>
                          <a:cs typeface="Calibri"/>
                          <a:sym typeface="Calibri"/>
                        </a:rPr>
                        <a:t>DCL -10분</a:t>
                      </a:r>
                      <a:endParaRPr sz="700" b="0" i="0" u="none" strike="noStrike" cap="none">
                        <a:solidFill>
                          <a:srgbClr val="FF0000"/>
                        </a:solidFill>
                        <a:latin typeface="Calibri"/>
                        <a:ea typeface="Calibri"/>
                        <a:cs typeface="Calibri"/>
                        <a:sym typeface="Calibri"/>
                      </a:endParaRPr>
                    </a:p>
                  </a:txBody>
                  <a:tcPr marL="91450" marR="91450" marT="45725" marB="45725" anchor="ctr"/>
                </a:tc>
                <a:tc>
                  <a:txBody>
                    <a:bodyPr/>
                    <a:lstStyle/>
                    <a:p>
                      <a:pPr marL="0" marR="0" lvl="0" indent="0" algn="ctr" rtl="0">
                        <a:spcBef>
                          <a:spcPts val="0"/>
                        </a:spcBef>
                        <a:spcAft>
                          <a:spcPts val="0"/>
                        </a:spcAft>
                        <a:buNone/>
                      </a:pPr>
                      <a:r>
                        <a:rPr lang="en-US" sz="900" dirty="0"/>
                        <a:t>Air China Beijing 132.0</a:t>
                      </a:r>
                      <a:endParaRPr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198" name="Google Shape;198;p8"/>
          <p:cNvPicPr preferRelativeResize="0"/>
          <p:nvPr/>
        </p:nvPicPr>
        <p:blipFill rotWithShape="1">
          <a:blip r:embed="rId5">
            <a:alphaModFix/>
          </a:blip>
          <a:srcRect/>
          <a:stretch/>
        </p:blipFill>
        <p:spPr>
          <a:xfrm>
            <a:off x="-2501" y="2150396"/>
            <a:ext cx="1415542" cy="775798"/>
          </a:xfrm>
          <a:prstGeom prst="rect">
            <a:avLst/>
          </a:prstGeom>
          <a:noFill/>
          <a:ln>
            <a:noFill/>
          </a:ln>
        </p:spPr>
      </p:pic>
      <p:sp>
        <p:nvSpPr>
          <p:cNvPr id="2" name="TextBox 1">
            <a:extLst>
              <a:ext uri="{FF2B5EF4-FFF2-40B4-BE49-F238E27FC236}">
                <a16:creationId xmlns:a16="http://schemas.microsoft.com/office/drawing/2014/main" id="{EDAB7941-7C38-1F6C-82DC-A7D9C3DC35E7}"/>
              </a:ext>
            </a:extLst>
          </p:cNvPr>
          <p:cNvSpPr txBox="1"/>
          <p:nvPr/>
        </p:nvSpPr>
        <p:spPr>
          <a:xfrm>
            <a:off x="-55838" y="3017712"/>
            <a:ext cx="2364750"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121.2</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124.52 – 120.72 – 126.17 – 132.8</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DLC 132.95  - 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Final 119.0</a:t>
            </a:r>
          </a:p>
        </p:txBody>
      </p:sp>
      <p:graphicFrame>
        <p:nvGraphicFramePr>
          <p:cNvPr id="4" name="Google Shape;292;p18">
            <a:extLst>
              <a:ext uri="{FF2B5EF4-FFF2-40B4-BE49-F238E27FC236}">
                <a16:creationId xmlns:a16="http://schemas.microsoft.com/office/drawing/2014/main" id="{C27BC79A-3C53-AD4E-94CE-36669FDCFF82}"/>
              </a:ext>
            </a:extLst>
          </p:cNvPr>
          <p:cNvGraphicFramePr/>
          <p:nvPr>
            <p:extLst>
              <p:ext uri="{D42A27DB-BD31-4B8C-83A1-F6EECF244321}">
                <p14:modId xmlns:p14="http://schemas.microsoft.com/office/powerpoint/2010/main" val="4073432346"/>
              </p:ext>
            </p:extLst>
          </p:nvPr>
        </p:nvGraphicFramePr>
        <p:xfrm>
          <a:off x="4472" y="3740586"/>
          <a:ext cx="2333879" cy="1819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PEK : STAR </a:t>
                      </a:r>
                      <a:r>
                        <a:rPr lang="en-US" sz="800" dirty="0">
                          <a:solidFill>
                            <a:schemeClr val="accent4"/>
                          </a:solidFill>
                        </a:rPr>
                        <a:t>(RW01/19 main (RW36L/18R))</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01</a:t>
                      </a:r>
                      <a:r>
                        <a:rPr lang="en-US" sz="800" b="0" dirty="0"/>
                        <a:t>(36L)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a:t>
                      </a:r>
                      <a:r>
                        <a:rPr lang="en-US" sz="800" b="1" dirty="0" err="1"/>
                        <a:t>xZA</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AA421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01</a:t>
                      </a:r>
                      <a:r>
                        <a:rPr lang="en-US" sz="800" b="0" dirty="0"/>
                        <a:t>(Y 36L)</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19</a:t>
                      </a:r>
                      <a:r>
                        <a:rPr lang="en-US" sz="800" b="0" dirty="0"/>
                        <a:t>(</a:t>
                      </a:r>
                      <a:r>
                        <a:rPr lang="en-US" altLang="ko-KR" sz="800" b="0" dirty="0"/>
                        <a:t>18R)</a:t>
                      </a:r>
                      <a:r>
                        <a:rPr lang="en-US" sz="800" b="0" dirty="0"/>
                        <a:t>)</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a:t>
                      </a:r>
                      <a:r>
                        <a:rPr lang="en-US" altLang="ko-Kore-KR" sz="800" b="1" dirty="0" err="1"/>
                        <a:t>xZA</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AA521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altLang="ko-Kore-KR" sz="800" b="0" dirty="0"/>
                        <a:t>(Y 18R)</a:t>
                      </a:r>
                      <a:endParaRPr sz="800" b="1" dirty="0"/>
                    </a:p>
                  </a:txBody>
                  <a:tcPr marL="36000" marR="36000" marT="36000" marB="36000" anchor="ctr"/>
                </a:tc>
                <a:extLst>
                  <a:ext uri="{0D108BD9-81ED-4DB2-BD59-A6C34878D82A}">
                    <a16:rowId xmlns:a16="http://schemas.microsoft.com/office/drawing/2014/main" val="10002"/>
                  </a:ext>
                </a:extLst>
              </a:tr>
              <a:tr h="184957">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01(84’)      12467’      19(94’)</a:t>
                      </a:r>
                      <a:r>
                        <a:rPr lang="ko-KR" altLang="en-US" sz="800" b="1" dirty="0">
                          <a:solidFill>
                            <a:srgbClr val="00B050"/>
                          </a:solidFill>
                        </a:rPr>
                        <a:t> </a:t>
                      </a:r>
                      <a:r>
                        <a:rPr lang="en-US" altLang="ko-KR" sz="800" b="1" dirty="0">
                          <a:solidFill>
                            <a:srgbClr val="C00000"/>
                          </a:solidFill>
                        </a:rPr>
                        <a:t>3.2</a:t>
                      </a:r>
                      <a:r>
                        <a:rPr lang="ko-KR" altLang="en-US" sz="800" b="1" dirty="0">
                          <a:solidFill>
                            <a:srgbClr val="C00000"/>
                          </a:solidFill>
                        </a:rPr>
                        <a:t>도</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rgbClr val="00B050"/>
                          </a:solidFill>
                        </a:rPr>
                        <a:t>36L(107’)      10499’      18R(115’)        </a:t>
                      </a:r>
                      <a:endParaRPr sz="800" b="0"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/6(160kts)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TMA Max 280kts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01</a:t>
                      </a:r>
                      <a:r>
                        <a:rPr lang="en-US" sz="800" b="1" dirty="0">
                          <a:solidFill>
                            <a:schemeClr val="dk1"/>
                          </a:solidFill>
                        </a:rPr>
                        <a:t> : Q5(5223’), Q6(7024’), 19 :Q4(5298’), Q3(7103’)</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36L : P6(6276’), P7(7719’), 18R : P3(6223’), P2(7552’)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p>
                      <a:pPr marL="0" marR="0" lvl="0" indent="0" algn="ctr" rtl="0">
                        <a:lnSpc>
                          <a:spcPct val="100000"/>
                        </a:lnSpc>
                        <a:spcBef>
                          <a:spcPts val="0"/>
                        </a:spcBef>
                        <a:spcAft>
                          <a:spcPts val="0"/>
                        </a:spcAft>
                        <a:buClr>
                          <a:schemeClr val="dk1"/>
                        </a:buClr>
                        <a:buSzPts val="800"/>
                        <a:buFont typeface="Calibri"/>
                        <a:buNone/>
                      </a:pPr>
                      <a:r>
                        <a:rPr lang="en-US" altLang="ko-KR" sz="800" dirty="0"/>
                        <a:t>Standard TAXI RTE in Jeppesen Chart</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
        <p:nvSpPr>
          <p:cNvPr id="3" name="직사각형 2">
            <a:hlinkClick r:id="" action="ppaction://hlinkshowjump?jump=firstslide"/>
            <a:extLst>
              <a:ext uri="{FF2B5EF4-FFF2-40B4-BE49-F238E27FC236}">
                <a16:creationId xmlns:a16="http://schemas.microsoft.com/office/drawing/2014/main" id="{782A2293-EC9A-B7D8-ACF6-EF97B81D97FB}"/>
              </a:ext>
            </a:extLst>
          </p:cNvPr>
          <p:cNvSpPr/>
          <p:nvPr/>
        </p:nvSpPr>
        <p:spPr>
          <a:xfrm>
            <a:off x="1651787" y="271998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5" name="직사각형 4">
            <a:hlinkClick r:id="" action="ppaction://hlinkshowjump?jump=firstslide"/>
            <a:extLst>
              <a:ext uri="{FF2B5EF4-FFF2-40B4-BE49-F238E27FC236}">
                <a16:creationId xmlns:a16="http://schemas.microsoft.com/office/drawing/2014/main" id="{349E9C38-1725-0B94-34E5-C8413D9A7DF0}"/>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0635249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30472A8B-F324-573B-F17A-C6C16EB27F96}"/>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0866836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7" name="Google Shape;207;p9"/>
          <p:cNvSpPr/>
          <p:nvPr/>
        </p:nvSpPr>
        <p:spPr>
          <a:xfrm>
            <a:off x="1056807" y="167132"/>
            <a:ext cx="230546" cy="415039"/>
          </a:xfrm>
          <a:prstGeom prst="rightArrow">
            <a:avLst>
              <a:gd name="adj1" fmla="val 47084"/>
              <a:gd name="adj2" fmla="val 50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aphicFrame>
        <p:nvGraphicFramePr>
          <p:cNvPr id="3" name="Google Shape;185;p7">
            <a:extLst>
              <a:ext uri="{FF2B5EF4-FFF2-40B4-BE49-F238E27FC236}">
                <a16:creationId xmlns:a16="http://schemas.microsoft.com/office/drawing/2014/main" id="{4AA90139-7D8C-A544-2E49-779F9C6ABFB9}"/>
              </a:ext>
            </a:extLst>
          </p:cNvPr>
          <p:cNvGraphicFramePr/>
          <p:nvPr>
            <p:extLst>
              <p:ext uri="{D42A27DB-BD31-4B8C-83A1-F6EECF244321}">
                <p14:modId xmlns:p14="http://schemas.microsoft.com/office/powerpoint/2010/main" val="2275792101"/>
              </p:ext>
            </p:extLst>
          </p:nvPr>
        </p:nvGraphicFramePr>
        <p:xfrm>
          <a:off x="4472" y="3782340"/>
          <a:ext cx="2346889" cy="1772885"/>
        </p:xfrm>
        <a:graphic>
          <a:graphicData uri="http://schemas.openxmlformats.org/drawingml/2006/table">
            <a:tbl>
              <a:tblPr firstRow="1" bandRow="1">
                <a:noFill/>
                <a:tableStyleId>{A521BE36-7E6F-4EC9-8D66-1CF97A6895EC}</a:tableStyleId>
              </a:tblPr>
              <a:tblGrid>
                <a:gridCol w="400835">
                  <a:extLst>
                    <a:ext uri="{9D8B030D-6E8A-4147-A177-3AD203B41FA5}">
                      <a16:colId xmlns:a16="http://schemas.microsoft.com/office/drawing/2014/main" val="20000"/>
                    </a:ext>
                  </a:extLst>
                </a:gridCol>
                <a:gridCol w="196100">
                  <a:extLst>
                    <a:ext uri="{9D8B030D-6E8A-4147-A177-3AD203B41FA5}">
                      <a16:colId xmlns:a16="http://schemas.microsoft.com/office/drawing/2014/main" val="20001"/>
                    </a:ext>
                  </a:extLst>
                </a:gridCol>
                <a:gridCol w="464863">
                  <a:extLst>
                    <a:ext uri="{9D8B030D-6E8A-4147-A177-3AD203B41FA5}">
                      <a16:colId xmlns:a16="http://schemas.microsoft.com/office/drawing/2014/main" val="20002"/>
                    </a:ext>
                  </a:extLst>
                </a:gridCol>
                <a:gridCol w="215047">
                  <a:extLst>
                    <a:ext uri="{9D8B030D-6E8A-4147-A177-3AD203B41FA5}">
                      <a16:colId xmlns:a16="http://schemas.microsoft.com/office/drawing/2014/main" val="20004"/>
                    </a:ext>
                  </a:extLst>
                </a:gridCol>
                <a:gridCol w="165824">
                  <a:extLst>
                    <a:ext uri="{9D8B030D-6E8A-4147-A177-3AD203B41FA5}">
                      <a16:colId xmlns:a16="http://schemas.microsoft.com/office/drawing/2014/main" val="20005"/>
                    </a:ext>
                  </a:extLst>
                </a:gridCol>
                <a:gridCol w="380221">
                  <a:extLst>
                    <a:ext uri="{9D8B030D-6E8A-4147-A177-3AD203B41FA5}">
                      <a16:colId xmlns:a16="http://schemas.microsoft.com/office/drawing/2014/main" val="20006"/>
                    </a:ext>
                  </a:extLst>
                </a:gridCol>
                <a:gridCol w="523999">
                  <a:extLst>
                    <a:ext uri="{9D8B030D-6E8A-4147-A177-3AD203B41FA5}">
                      <a16:colId xmlns:a16="http://schemas.microsoft.com/office/drawing/2014/main" val="20008"/>
                    </a:ext>
                  </a:extLst>
                </a:gridCol>
              </a:tblGrid>
              <a:tr h="156000">
                <a:tc gridSpan="7">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FFFF"/>
                          </a:solidFill>
                          <a:effectLst/>
                          <a:uLnTx/>
                          <a:uFillTx/>
                          <a:latin typeface="Calibri"/>
                          <a:cs typeface="Calibri"/>
                          <a:sym typeface="Arial"/>
                        </a:rPr>
                        <a:t>CJU : STAR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FFC000"/>
                          </a:solidFill>
                          <a:effectLst/>
                          <a:uLnTx/>
                          <a:uFillTx/>
                          <a:latin typeface="Calibri"/>
                          <a:cs typeface="Calibri"/>
                          <a:sym typeface="Arial"/>
                        </a:rPr>
                        <a:t>AFT Merge PT(220kts) DCT IAF(210kts), FAF (160kts)</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41800">
                <a:tc>
                  <a:txBody>
                    <a:bodyPr/>
                    <a:lstStyle/>
                    <a:p>
                      <a:pPr marL="0" marR="0" lvl="0" indent="0" algn="ctr" rtl="0">
                        <a:spcBef>
                          <a:spcPts val="0"/>
                        </a:spcBef>
                        <a:spcAft>
                          <a:spcPts val="0"/>
                        </a:spcAft>
                        <a:buNone/>
                      </a:pPr>
                      <a:r>
                        <a:rPr lang="en-US" sz="800" b="1" dirty="0"/>
                        <a:t>ILS Z 07</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t>LIMDI </a:t>
                      </a:r>
                      <a:r>
                        <a:rPr lang="en-US" sz="800" b="1" dirty="0" err="1"/>
                        <a:t>xP</a:t>
                      </a:r>
                      <a:endParaRPr sz="800"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YUMIN</a:t>
                      </a:r>
                      <a:endParaRPr sz="458"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800" b="1"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1"/>
                  </a:ext>
                </a:extLst>
              </a:tr>
              <a:tr h="141800">
                <a:tc gridSpan="7">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RNP Y 07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LPV)</a:t>
                      </a:r>
                      <a:r>
                        <a:rPr kumimoji="0" lang="en-US" altLang="ko-Kore-KR" sz="700" b="1" i="0" u="none" strike="noStrike" kern="0" cap="none" spc="0" normalizeH="0" baseline="0" noProof="0" dirty="0">
                          <a:ln>
                            <a:noFill/>
                          </a:ln>
                          <a:solidFill>
                            <a:srgbClr val="0070C0"/>
                          </a:solidFill>
                          <a:effectLst/>
                          <a:uLnTx/>
                          <a:uFillTx/>
                          <a:latin typeface="Calibri"/>
                          <a:cs typeface="Calibri"/>
                          <a:sym typeface="Arial"/>
                        </a:rPr>
                        <a:t>, RNP Z 07 AR </a:t>
                      </a:r>
                      <a:r>
                        <a:rPr kumimoji="0" lang="en-US" altLang="ko-Kore-KR" sz="700" b="1" i="0" u="none" strike="noStrike" kern="0" cap="none" spc="0" normalizeH="0" baseline="0" noProof="0" dirty="0">
                          <a:ln>
                            <a:noFill/>
                          </a:ln>
                          <a:solidFill>
                            <a:srgbClr val="C00000"/>
                          </a:solidFill>
                          <a:effectLst/>
                          <a:uLnTx/>
                          <a:uFillTx/>
                          <a:latin typeface="Calibri"/>
                          <a:cs typeface="Calibri"/>
                          <a:sym typeface="Arial"/>
                        </a:rPr>
                        <a:t>(No B737-900, RNP 0.11)</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 </a:t>
                      </a:r>
                    </a:p>
                  </a:txBody>
                  <a:tcPr marL="36000" marR="36000" marT="36000" marB="36000" anchor="ctr"/>
                </a:tc>
                <a:tc hMerge="1">
                  <a:txBody>
                    <a:bodyPr/>
                    <a:lstStyle/>
                    <a:p>
                      <a:pPr marL="0" marR="0" lvl="0" indent="0" algn="ctr" rtl="0">
                        <a:spcBef>
                          <a:spcPts val="0"/>
                        </a:spcBef>
                        <a:spcAft>
                          <a:spcPts val="0"/>
                        </a:spcAft>
                        <a:buNone/>
                      </a:pPr>
                      <a:endParaRPr sz="800" b="1" dirty="0"/>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sz="458" b="1" dirty="0"/>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sz="800" b="1"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4043252207"/>
                  </a:ext>
                </a:extLst>
              </a:tr>
              <a:tr h="141800">
                <a:tc>
                  <a:txBody>
                    <a:bodyPr/>
                    <a:lstStyle/>
                    <a:p>
                      <a:pPr marL="0" marR="0" lvl="0" indent="0" algn="ctr" rtl="0">
                        <a:spcBef>
                          <a:spcPts val="0"/>
                        </a:spcBef>
                        <a:spcAft>
                          <a:spcPts val="0"/>
                        </a:spcAft>
                        <a:buNone/>
                      </a:pPr>
                      <a:r>
                        <a:rPr lang="en-US" sz="800" b="1" dirty="0"/>
                        <a:t>ILS Z 25</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t>LIMDI </a:t>
                      </a:r>
                      <a:r>
                        <a:rPr lang="en-US" sz="800" b="1" dirty="0" err="1"/>
                        <a:t>xT</a:t>
                      </a:r>
                      <a:r>
                        <a:rPr lang="en-US" sz="800" b="1" dirty="0"/>
                        <a:t>(</a:t>
                      </a:r>
                      <a:r>
                        <a:rPr lang="en-US" sz="800" b="1" dirty="0" err="1"/>
                        <a:t>xM</a:t>
                      </a:r>
                      <a:r>
                        <a:rPr lang="en-US" sz="800" b="1" dirty="0"/>
                        <a:t>)</a:t>
                      </a:r>
                      <a:endParaRPr sz="800"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DUKAL</a:t>
                      </a:r>
                      <a:endParaRPr sz="458"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endParaRPr sz="800" b="1"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2"/>
                  </a:ext>
                </a:extLst>
              </a:tr>
              <a:tr h="230925">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07(87’)</a:t>
                      </a:r>
                      <a:endParaRPr sz="800" b="1">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10433’</a:t>
                      </a:r>
                      <a:endParaRPr sz="800" b="1">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25(76’)</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320075">
                <a:tc gridSpan="7">
                  <a:txBody>
                    <a:bodyPr/>
                    <a:lstStyle/>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07 : P6(5176’), P5(5882’), </a:t>
                      </a:r>
                      <a:r>
                        <a:rPr lang="en-US" sz="800">
                          <a:solidFill>
                            <a:srgbClr val="0070C0"/>
                          </a:solidFill>
                        </a:rPr>
                        <a:t>P4(6840’-ATC HIRO)</a:t>
                      </a:r>
                      <a:endParaRPr/>
                    </a:p>
                    <a:p>
                      <a:pPr marL="0" marR="0" lvl="0" indent="0" algn="l" rtl="0">
                        <a:lnSpc>
                          <a:spcPct val="100000"/>
                        </a:lnSpc>
                        <a:spcBef>
                          <a:spcPts val="0"/>
                        </a:spcBef>
                        <a:spcAft>
                          <a:spcPts val="0"/>
                        </a:spcAft>
                        <a:buClr>
                          <a:schemeClr val="dk1"/>
                        </a:buClr>
                        <a:buSzPts val="800"/>
                        <a:buFont typeface="Calibri"/>
                        <a:buNone/>
                      </a:pPr>
                      <a:r>
                        <a:rPr lang="en-US" sz="800" b="1">
                          <a:solidFill>
                            <a:schemeClr val="dk1"/>
                          </a:solidFill>
                        </a:rPr>
                        <a:t>25 : P7(5219’), P8(5882’), </a:t>
                      </a:r>
                      <a:r>
                        <a:rPr lang="en-US" sz="800">
                          <a:solidFill>
                            <a:srgbClr val="0070C0"/>
                          </a:solidFill>
                        </a:rPr>
                        <a:t>P10(7524’-ATC HIRO) </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20075">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Entering Rapid TWY CTC GND 121.675 (STOP x)</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HST 40KTS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 name="Google Shape;117;p3">
            <a:extLst>
              <a:ext uri="{FF2B5EF4-FFF2-40B4-BE49-F238E27FC236}">
                <a16:creationId xmlns:a16="http://schemas.microsoft.com/office/drawing/2014/main" id="{9918FCD0-48F9-3742-0CD5-9F665B43161C}"/>
              </a:ext>
            </a:extLst>
          </p:cNvPr>
          <p:cNvGraphicFramePr/>
          <p:nvPr>
            <p:extLst>
              <p:ext uri="{D42A27DB-BD31-4B8C-83A1-F6EECF244321}">
                <p14:modId xmlns:p14="http://schemas.microsoft.com/office/powerpoint/2010/main" val="1294651057"/>
              </p:ext>
            </p:extLst>
          </p:nvPr>
        </p:nvGraphicFramePr>
        <p:xfrm>
          <a:off x="-4046" y="783000"/>
          <a:ext cx="2335723" cy="179257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05603">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1">
                  <a:txBody>
                    <a:bodyPr/>
                    <a:lstStyle/>
                    <a:p>
                      <a:pPr marL="0" marR="0" lvl="0" indent="0" algn="ctr" rtl="0">
                        <a:spcBef>
                          <a:spcPts val="0"/>
                        </a:spcBef>
                        <a:spcAft>
                          <a:spcPts val="0"/>
                        </a:spcAft>
                        <a:buNone/>
                      </a:pPr>
                      <a:r>
                        <a:rPr lang="en-US" sz="800" u="none" strike="noStrike" cap="none" dirty="0"/>
                        <a:t>PEK : SID (NADP 1)  </a:t>
                      </a:r>
                      <a:r>
                        <a:rPr lang="en-US" sz="800" u="none" strike="noStrike" cap="none" dirty="0">
                          <a:solidFill>
                            <a:schemeClr val="accent4"/>
                          </a:solidFill>
                        </a:rPr>
                        <a:t>RW36R/18L </a:t>
                      </a:r>
                      <a:r>
                        <a:rPr lang="en-US" sz="800" u="none" strike="noStrike" cap="none" dirty="0" err="1">
                          <a:solidFill>
                            <a:schemeClr val="accent4"/>
                          </a:solidFill>
                        </a:rPr>
                        <a:t>Intersec</a:t>
                      </a:r>
                      <a:r>
                        <a:rPr lang="en-US" sz="800" u="none" strike="noStrike" cap="none" dirty="0">
                          <a:solidFill>
                            <a:schemeClr val="accent4"/>
                          </a:solidFill>
                        </a:rPr>
                        <a:t> T/O W2, W7</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36R</a:t>
                      </a:r>
                      <a:endParaRPr lang="en-US" sz="800" b="1" u="none" strike="noStrike" cap="none" dirty="0"/>
                    </a:p>
                    <a:p>
                      <a:pPr marL="0" marR="0" lvl="0" indent="0" algn="ctr" rtl="0">
                        <a:spcBef>
                          <a:spcPts val="0"/>
                        </a:spcBef>
                        <a:spcAft>
                          <a:spcPts val="0"/>
                        </a:spcAft>
                        <a:buNone/>
                      </a:pPr>
                      <a:r>
                        <a:rPr lang="en-US" sz="800" b="0" u="none" strike="noStrike" cap="none" dirty="0"/>
                        <a:t>(01)</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MUGLO </a:t>
                      </a:r>
                      <a:r>
                        <a:rPr lang="en-US" sz="800" b="1" u="none" strike="noStrike" cap="none" dirty="0" err="1">
                          <a:solidFill>
                            <a:srgbClr val="0070C0"/>
                          </a:solidFill>
                        </a:rPr>
                        <a:t>xWD</a:t>
                      </a:r>
                      <a:r>
                        <a:rPr lang="en-US" sz="800" b="1" u="none" strike="noStrike" cap="none" dirty="0">
                          <a:solidFill>
                            <a:srgbClr val="0070C0"/>
                          </a:solidFill>
                        </a:rPr>
                        <a:t>(</a:t>
                      </a:r>
                      <a:r>
                        <a:rPr lang="en-US" sz="800" b="1" u="none" strike="noStrike" cap="none" dirty="0" err="1">
                          <a:solidFill>
                            <a:srgbClr val="0070C0"/>
                          </a:solidFill>
                        </a:rPr>
                        <a:t>xYD</a:t>
                      </a:r>
                      <a:r>
                        <a:rPr lang="en-US"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359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359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359</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18L</a:t>
                      </a:r>
                    </a:p>
                    <a:p>
                      <a:pPr marL="0" marR="0" lvl="0" indent="0" algn="ctr" rtl="0">
                        <a:spcBef>
                          <a:spcPts val="0"/>
                        </a:spcBef>
                        <a:spcAft>
                          <a:spcPts val="0"/>
                        </a:spcAft>
                        <a:buNone/>
                      </a:pPr>
                      <a:r>
                        <a:rPr lang="en-US" sz="800" b="0" u="none" strike="noStrike" cap="none" dirty="0"/>
                        <a:t>(19)</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MUGLO </a:t>
                      </a:r>
                      <a:r>
                        <a:rPr lang="en-US" altLang="ko-Kore-KR" sz="800" b="1" u="none" strike="noStrike" cap="none" dirty="0" err="1">
                          <a:solidFill>
                            <a:srgbClr val="0070C0"/>
                          </a:solidFill>
                        </a:rPr>
                        <a:t>xZD</a:t>
                      </a:r>
                      <a:r>
                        <a:rPr lang="en-US" altLang="ko-Kore-KR" sz="800" b="1" u="none" strike="noStrike" cap="none" dirty="0">
                          <a:solidFill>
                            <a:srgbClr val="0070C0"/>
                          </a:solidFill>
                        </a:rPr>
                        <a:t>(</a:t>
                      </a:r>
                      <a:r>
                        <a:rPr lang="en-US" altLang="ko-Kore-KR" sz="800" b="1" u="none" strike="noStrike" cap="none" dirty="0" err="1">
                          <a:solidFill>
                            <a:srgbClr val="0070C0"/>
                          </a:solidFill>
                        </a:rPr>
                        <a:t>xYD</a:t>
                      </a:r>
                      <a:r>
                        <a:rPr lang="en-US" altLang="ko-Kore-KR"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179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179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179</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PEK 114.7</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36R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111.55</a:t>
                      </a:r>
                      <a:endParaRPr dirty="0"/>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01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108.5</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rgbClr val="0070C0"/>
                        </a:buClr>
                        <a:buSzPts val="800"/>
                        <a:buFont typeface="Calibri"/>
                        <a:buNone/>
                      </a:pPr>
                      <a:r>
                        <a:rPr lang="en-US" sz="800" b="0" u="none" strike="noStrike" cap="none" dirty="0">
                          <a:solidFill>
                            <a:schemeClr val="tx1"/>
                          </a:solidFill>
                        </a:rPr>
                        <a:t>36R : PEK 325/11, 36L : PEK 326/13, 01 : PEK 323/9 R124</a:t>
                      </a:r>
                      <a:endParaRPr sz="800" b="0" u="none" strike="noStrike" cap="none" dirty="0">
                        <a:solidFill>
                          <a:schemeClr val="tx1"/>
                        </a:solidFill>
                      </a:endParaRP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3287633155"/>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36R(98’)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01(84’)</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18L(110’)</a:t>
                      </a:r>
                    </a:p>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19(94’)</a:t>
                      </a: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u="none" strike="noStrike" cap="none" dirty="0">
                          <a:solidFill>
                            <a:srgbClr val="0070C0"/>
                          </a:solidFill>
                        </a:rPr>
                        <a:t>COBT from ATIS “Enroute”, </a:t>
                      </a:r>
                      <a:r>
                        <a:rPr lang="en-US" sz="800" b="1" u="none" strike="noStrike" cap="none" dirty="0">
                          <a:solidFill>
                            <a:srgbClr val="0070C0"/>
                          </a:solidFill>
                        </a:rPr>
                        <a:t>Bad </a:t>
                      </a:r>
                      <a:r>
                        <a:rPr lang="en-US" sz="800" b="1" u="none" strike="noStrike" cap="none" dirty="0" err="1">
                          <a:solidFill>
                            <a:srgbClr val="0070C0"/>
                          </a:solidFill>
                        </a:rPr>
                        <a:t>Wx</a:t>
                      </a:r>
                      <a:r>
                        <a:rPr lang="en-US" sz="800" b="1" u="none" strike="noStrike" cap="none" dirty="0">
                          <a:solidFill>
                            <a:srgbClr val="0070C0"/>
                          </a:solidFill>
                        </a:rPr>
                        <a:t> DOTRA SID</a:t>
                      </a:r>
                      <a:r>
                        <a:rPr lang="en-US" sz="800" b="0" u="none" strike="noStrike" cap="none" dirty="0">
                          <a:solidFill>
                            <a:srgbClr val="0070C0"/>
                          </a:solidFill>
                        </a:rPr>
                        <a:t> </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5" name="Google Shape;119;p3">
            <a:extLst>
              <a:ext uri="{FF2B5EF4-FFF2-40B4-BE49-F238E27FC236}">
                <a16:creationId xmlns:a16="http://schemas.microsoft.com/office/drawing/2014/main" id="{5B07C474-3B6B-EDED-1E83-D395F2D0A051}"/>
              </a:ext>
            </a:extLst>
          </p:cNvPr>
          <p:cNvGraphicFramePr/>
          <p:nvPr>
            <p:extLst>
              <p:ext uri="{D42A27DB-BD31-4B8C-83A1-F6EECF244321}">
                <p14:modId xmlns:p14="http://schemas.microsoft.com/office/powerpoint/2010/main" val="4033888925"/>
              </p:ext>
            </p:extLst>
          </p:nvPr>
        </p:nvGraphicFramePr>
        <p:xfrm>
          <a:off x="-2501" y="2544"/>
          <a:ext cx="2328850" cy="7727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ZBAA(PEK) 116ft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RKPC(CJU) 119ft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Beijing 132.0</a:t>
                      </a:r>
                      <a:endParaRPr sz="1200" dirty="0"/>
                    </a:p>
                    <a:p>
                      <a:pPr marL="0" marR="0" lvl="0" indent="0" algn="ctr" rtl="0">
                        <a:spcBef>
                          <a:spcPts val="0"/>
                        </a:spcBef>
                        <a:spcAft>
                          <a:spcPts val="0"/>
                        </a:spcAft>
                        <a:buNone/>
                      </a:pPr>
                      <a:r>
                        <a:rPr lang="en-US" sz="700" dirty="0">
                          <a:solidFill>
                            <a:srgbClr val="FF0000"/>
                          </a:solidFill>
                        </a:rPr>
                        <a:t>DCL 30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10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(COBT/STD 15</a:t>
                      </a:r>
                      <a:r>
                        <a:rPr lang="ko-KR" altLang="en-US" sz="700" dirty="0">
                          <a:solidFill>
                            <a:srgbClr val="FF0000"/>
                          </a:solidFill>
                        </a:rPr>
                        <a:t>분 차이  </a:t>
                      </a:r>
                      <a:r>
                        <a:rPr lang="en-US" altLang="ko-KR" sz="700" dirty="0">
                          <a:solidFill>
                            <a:srgbClr val="FF0000"/>
                          </a:solidFill>
                        </a:rPr>
                        <a:t>CTC Comm)</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CJU 129.4</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6" name="TextBox 5">
            <a:extLst>
              <a:ext uri="{FF2B5EF4-FFF2-40B4-BE49-F238E27FC236}">
                <a16:creationId xmlns:a16="http://schemas.microsoft.com/office/drawing/2014/main" id="{0288BEDC-7E6A-3E6E-FBE9-B8FA96093469}"/>
              </a:ext>
            </a:extLst>
          </p:cNvPr>
          <p:cNvSpPr txBox="1"/>
          <p:nvPr/>
        </p:nvSpPr>
        <p:spPr>
          <a:xfrm>
            <a:off x="998160" y="2545455"/>
            <a:ext cx="138691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126.17 – 120.72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124.52 -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7" name="그림 6" descr="텍스트, 지도, 도표, 라인이(가) 표시된 사진&#10;&#10;자동 생성된 설명">
            <a:extLst>
              <a:ext uri="{FF2B5EF4-FFF2-40B4-BE49-F238E27FC236}">
                <a16:creationId xmlns:a16="http://schemas.microsoft.com/office/drawing/2014/main" id="{009DE233-E4A5-B767-C030-140E38D64DE3}"/>
              </a:ext>
            </a:extLst>
          </p:cNvPr>
          <p:cNvPicPr>
            <a:picLocks noChangeAspect="1"/>
          </p:cNvPicPr>
          <p:nvPr/>
        </p:nvPicPr>
        <p:blipFill>
          <a:blip r:embed="rId5"/>
          <a:stretch>
            <a:fillRect/>
          </a:stretch>
        </p:blipFill>
        <p:spPr>
          <a:xfrm>
            <a:off x="0" y="2566027"/>
            <a:ext cx="1029898" cy="855481"/>
          </a:xfrm>
          <a:prstGeom prst="rect">
            <a:avLst/>
          </a:prstGeom>
        </p:spPr>
      </p:pic>
      <p:sp>
        <p:nvSpPr>
          <p:cNvPr id="4" name="직사각형 3">
            <a:hlinkClick r:id="" action="ppaction://hlinkshowjump?jump=firstslide"/>
            <a:extLst>
              <a:ext uri="{FF2B5EF4-FFF2-40B4-BE49-F238E27FC236}">
                <a16:creationId xmlns:a16="http://schemas.microsoft.com/office/drawing/2014/main" id="{6AA58C2A-AEE6-6B3E-1D32-AC3698AA1CB4}"/>
              </a:ext>
            </a:extLst>
          </p:cNvPr>
          <p:cNvSpPr/>
          <p:nvPr/>
        </p:nvSpPr>
        <p:spPr>
          <a:xfrm>
            <a:off x="1651787" y="3460480"/>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8" name="직사각형 7">
            <a:hlinkClick r:id="" action="ppaction://hlinkshowjump?jump=firstslide"/>
            <a:extLst>
              <a:ext uri="{FF2B5EF4-FFF2-40B4-BE49-F238E27FC236}">
                <a16:creationId xmlns:a16="http://schemas.microsoft.com/office/drawing/2014/main" id="{0C8CB044-4ABC-7385-D403-AC2C81F17F7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7438255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46480"/>
            <a:ext cx="2085827"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a:t>
            </a:r>
            <a:r>
              <a:rPr kumimoji="1" lang="en-US" altLang="ko-KR" sz="700" b="1" u="sng" dirty="0">
                <a:solidFill>
                  <a:srgbClr val="0070C0"/>
                </a:solidFill>
                <a:latin typeface="Gulim" panose="020B0600000101010101" pitchFamily="34" charset="-127"/>
                <a:ea typeface="Gulim" panose="020B0600000101010101" pitchFamily="34" charset="-127"/>
              </a:rPr>
              <a:t>125.62(</a:t>
            </a:r>
            <a:r>
              <a:rPr kumimoji="1" lang="en-US" altLang="ko-Kore-KR" sz="700" b="1" u="sng" dirty="0">
                <a:solidFill>
                  <a:srgbClr val="0070C0"/>
                </a:solidFill>
                <a:latin typeface="Gulim" panose="020B0600000101010101" pitchFamily="34" charset="-127"/>
                <a:ea typeface="Gulim" panose="020B0600000101010101" pitchFamily="34" charset="-127"/>
              </a:rPr>
              <a:t>119.975</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en-US" altLang="ko-Kore-KR" sz="700" b="1" u="sng" dirty="0">
                <a:solidFill>
                  <a:srgbClr val="0070C0"/>
                </a:solidFill>
                <a:latin typeface="Gulim" panose="020B0600000101010101" pitchFamily="34" charset="-127"/>
                <a:ea typeface="Gulim" panose="020B0600000101010101" pitchFamily="34" charset="-127"/>
              </a:rPr>
              <a:t> – 125.4 </a:t>
            </a:r>
          </a:p>
        </p:txBody>
      </p:sp>
      <p:graphicFrame>
        <p:nvGraphicFramePr>
          <p:cNvPr id="292" name="Google Shape;292;p18"/>
          <p:cNvGraphicFramePr/>
          <p:nvPr>
            <p:extLst>
              <p:ext uri="{D42A27DB-BD31-4B8C-83A1-F6EECF244321}">
                <p14:modId xmlns:p14="http://schemas.microsoft.com/office/powerpoint/2010/main" val="3015713983"/>
              </p:ext>
            </p:extLst>
          </p:nvPr>
        </p:nvGraphicFramePr>
        <p:xfrm>
          <a:off x="4472" y="3705686"/>
          <a:ext cx="2351640" cy="1832803"/>
        </p:xfrm>
        <a:graphic>
          <a:graphicData uri="http://schemas.openxmlformats.org/drawingml/2006/table">
            <a:tbl>
              <a:tblPr firstRow="1" bandRow="1">
                <a:noFill/>
                <a:tableStyleId>{A521BE36-7E6F-4EC9-8D66-1CF97A6895EC}</a:tableStyleId>
              </a:tblPr>
              <a:tblGrid>
                <a:gridCol w="664137">
                  <a:extLst>
                    <a:ext uri="{9D8B030D-6E8A-4147-A177-3AD203B41FA5}">
                      <a16:colId xmlns:a16="http://schemas.microsoft.com/office/drawing/2014/main" val="20000"/>
                    </a:ext>
                  </a:extLst>
                </a:gridCol>
                <a:gridCol w="694403">
                  <a:extLst>
                    <a:ext uri="{9D8B030D-6E8A-4147-A177-3AD203B41FA5}">
                      <a16:colId xmlns:a16="http://schemas.microsoft.com/office/drawing/2014/main" val="20001"/>
                    </a:ext>
                  </a:extLst>
                </a:gridCol>
                <a:gridCol w="430599">
                  <a:extLst>
                    <a:ext uri="{9D8B030D-6E8A-4147-A177-3AD203B41FA5}">
                      <a16:colId xmlns:a16="http://schemas.microsoft.com/office/drawing/2014/main" val="20002"/>
                    </a:ext>
                  </a:extLst>
                </a:gridCol>
                <a:gridCol w="56250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PVG : STAR </a:t>
                      </a:r>
                      <a:r>
                        <a:rPr lang="en-US" sz="800" b="0" dirty="0">
                          <a:solidFill>
                            <a:srgbClr val="FFC000"/>
                          </a:solidFill>
                        </a:rPr>
                        <a:t>(North of ‘PVGNB’, R-276 Prohibited)</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12073">
                <a:tc>
                  <a:txBody>
                    <a:bodyPr/>
                    <a:lstStyle/>
                    <a:p>
                      <a:pPr marL="0" marR="0" lvl="0" indent="0" algn="ctr" rtl="0">
                        <a:spcBef>
                          <a:spcPts val="0"/>
                        </a:spcBef>
                        <a:spcAft>
                          <a:spcPts val="0"/>
                        </a:spcAft>
                        <a:buNone/>
                      </a:pPr>
                      <a:r>
                        <a:rPr lang="en-US" sz="800" b="1" dirty="0"/>
                        <a:t>34R</a:t>
                      </a:r>
                      <a:r>
                        <a:rPr lang="en-US" sz="800" b="0" dirty="0"/>
                        <a:t>(L)/35L(R)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 91A/92A</a:t>
                      </a:r>
                    </a:p>
                  </a:txBody>
                  <a:tcPr marL="36000" marR="36000" marT="36000" marB="36000" anchor="ctr"/>
                </a:tc>
                <a:tc>
                  <a:txBody>
                    <a:bodyPr/>
                    <a:lstStyle/>
                    <a:p>
                      <a:pPr marL="0" marR="0" lvl="0" indent="0" algn="ctr" rtl="0">
                        <a:spcBef>
                          <a:spcPts val="0"/>
                        </a:spcBef>
                        <a:spcAft>
                          <a:spcPts val="0"/>
                        </a:spcAft>
                        <a:buNone/>
                      </a:pPr>
                      <a:r>
                        <a:rPr lang="en-US" sz="800" b="1" dirty="0"/>
                        <a:t>MP2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1"/>
                  </a:ext>
                </a:extLst>
              </a:tr>
              <a:tr h="155759">
                <a:tc>
                  <a:txBody>
                    <a:bodyPr/>
                    <a:lstStyle/>
                    <a:p>
                      <a:pPr marL="0" marR="0" lvl="0" indent="0" algn="ctr" rtl="0">
                        <a:spcBef>
                          <a:spcPts val="0"/>
                        </a:spcBef>
                        <a:spcAft>
                          <a:spcPts val="0"/>
                        </a:spcAft>
                        <a:buNone/>
                      </a:pPr>
                      <a:r>
                        <a:rPr lang="en-US" sz="800" b="1" dirty="0"/>
                        <a:t>16L(R)/</a:t>
                      </a:r>
                      <a:r>
                        <a:rPr lang="en-US" sz="800" b="0" dirty="0"/>
                        <a:t>17R(L)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 81A/82A</a:t>
                      </a:r>
                    </a:p>
                  </a:txBody>
                  <a:tcPr marL="36000" marR="36000" marT="36000" marB="36000" anchor="ctr"/>
                </a:tc>
                <a:tc>
                  <a:txBody>
                    <a:bodyPr/>
                    <a:lstStyle/>
                    <a:p>
                      <a:pPr marL="0" marR="0" lvl="0" indent="0" algn="ctr" rtl="0">
                        <a:spcBef>
                          <a:spcPts val="0"/>
                        </a:spcBef>
                        <a:spcAft>
                          <a:spcPts val="0"/>
                        </a:spcAft>
                        <a:buNone/>
                      </a:pPr>
                      <a:r>
                        <a:rPr lang="en-US" sz="800" b="1" dirty="0"/>
                        <a:t>MP1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2"/>
                  </a:ext>
                </a:extLst>
              </a:tr>
              <a:tr h="184957">
                <a:tc rowSpan="3">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34R/L(11’/12’)   12467’  16L/R(12’/11’)</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35R(10’)      13123’     17L10’)</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84957">
                <a:tc v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35L(12’)      11155’     17R(12’)</a:t>
                      </a: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435666460"/>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34R : G4(5603’), G5(6896’), 16L : G3(5577’), G2(6909’)</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35L : D4(5636’), D5(6932’), 17R : D3(5626’), D2(6942’)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Normally DUMET 6000m</a:t>
                      </a:r>
                      <a:r>
                        <a:rPr lang="en-US" altLang="ko-KR" sz="800" dirty="0"/>
                        <a:t>,</a:t>
                      </a:r>
                      <a:r>
                        <a:rPr lang="ko-KR" altLang="en-US" sz="800" dirty="0"/>
                        <a:t> </a:t>
                      </a:r>
                      <a:r>
                        <a:rPr lang="en-US" altLang="ko-KR" sz="800" dirty="0">
                          <a:solidFill>
                            <a:srgbClr val="0070C0"/>
                          </a:solidFill>
                        </a:rPr>
                        <a:t>ILS Ident /6 160kts</a:t>
                      </a:r>
                    </a:p>
                    <a:p>
                      <a:pPr marL="0" marR="0" lvl="0" indent="0" algn="ctr" rtl="0">
                        <a:lnSpc>
                          <a:spcPct val="100000"/>
                        </a:lnSpc>
                        <a:spcBef>
                          <a:spcPts val="0"/>
                        </a:spcBef>
                        <a:spcAft>
                          <a:spcPts val="0"/>
                        </a:spcAft>
                        <a:buClr>
                          <a:schemeClr val="dk1"/>
                        </a:buClr>
                        <a:buSzPts val="800"/>
                        <a:buFont typeface="Calibri"/>
                        <a:buNone/>
                      </a:pPr>
                      <a:r>
                        <a:rPr lang="en-US" sz="800" dirty="0"/>
                        <a:t>Follow Me Car Insight – TAXI L/T </a:t>
                      </a:r>
                      <a:r>
                        <a:rPr lang="en-US" sz="800" dirty="0" err="1"/>
                        <a:t>off,APU</a:t>
                      </a:r>
                      <a:r>
                        <a:rPr lang="en-US" sz="800" dirty="0"/>
                        <a:t> off Procedure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00863046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ZSPD(PVG) 13ft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lnSpc>
                          <a:spcPct val="150000"/>
                        </a:lnSpc>
                        <a:spcBef>
                          <a:spcPts val="0"/>
                        </a:spcBef>
                        <a:spcAft>
                          <a:spcPts val="0"/>
                        </a:spcAft>
                        <a:buClr>
                          <a:srgbClr val="FF0000"/>
                        </a:buClr>
                        <a:buSzPts val="600"/>
                        <a:buFont typeface="Calibri"/>
                        <a:buNone/>
                      </a:pPr>
                      <a:r>
                        <a:rPr lang="en-US" sz="700" dirty="0">
                          <a:solidFill>
                            <a:srgbClr val="FF0000"/>
                          </a:solidFill>
                          <a:latin typeface="Calibri"/>
                          <a:ea typeface="Calibri"/>
                          <a:cs typeface="Calibri"/>
                          <a:sym typeface="Calibri"/>
                        </a:rPr>
                        <a:t>DCL -5분</a:t>
                      </a:r>
                      <a:endParaRPr sz="10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China Eastern </a:t>
                      </a:r>
                    </a:p>
                    <a:p>
                      <a:pPr marL="0" marR="0" lvl="0" indent="0" algn="ctr" rtl="0">
                        <a:spcBef>
                          <a:spcPts val="0"/>
                        </a:spcBef>
                        <a:spcAft>
                          <a:spcPts val="0"/>
                        </a:spcAft>
                        <a:buNone/>
                      </a:pPr>
                      <a:r>
                        <a:rPr lang="en-US" sz="900" dirty="0"/>
                        <a:t>130.5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F249E7A-A45C-54A1-0C09-872C49733B6D}"/>
              </a:ext>
            </a:extLst>
          </p:cNvPr>
          <p:cNvSpPr/>
          <p:nvPr/>
        </p:nvSpPr>
        <p:spPr>
          <a:xfrm>
            <a:off x="1651787" y="337394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E0FC5CB-5405-69E2-6AEE-ED1D46C77F2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47;p13">
            <a:extLst>
              <a:ext uri="{FF2B5EF4-FFF2-40B4-BE49-F238E27FC236}">
                <a16:creationId xmlns:a16="http://schemas.microsoft.com/office/drawing/2014/main" id="{7B47DFB1-8D07-2EB7-86D8-21FEA1EC9410}"/>
              </a:ext>
            </a:extLst>
          </p:cNvPr>
          <p:cNvGraphicFramePr/>
          <p:nvPr>
            <p:extLst>
              <p:ext uri="{D42A27DB-BD31-4B8C-83A1-F6EECF244321}">
                <p14:modId xmlns:p14="http://schemas.microsoft.com/office/powerpoint/2010/main" val="1060412915"/>
              </p:ext>
            </p:extLst>
          </p:nvPr>
        </p:nvGraphicFramePr>
        <p:xfrm>
          <a:off x="0" y="685853"/>
          <a:ext cx="2330925" cy="174265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61400">
                  <a:extLst>
                    <a:ext uri="{9D8B030D-6E8A-4147-A177-3AD203B41FA5}">
                      <a16:colId xmlns:a16="http://schemas.microsoft.com/office/drawing/2014/main" val="20006"/>
                    </a:ext>
                  </a:extLst>
                </a:gridCol>
                <a:gridCol w="277900">
                  <a:extLst>
                    <a:ext uri="{9D8B030D-6E8A-4147-A177-3AD203B41FA5}">
                      <a16:colId xmlns:a16="http://schemas.microsoft.com/office/drawing/2014/main" val="20007"/>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1">
                  <a:txBody>
                    <a:bodyPr/>
                    <a:lstStyle/>
                    <a:p>
                      <a:pPr marL="0" marR="0" lvl="0" indent="0" algn="ctr" rtl="0">
                        <a:spcBef>
                          <a:spcPts val="0"/>
                        </a:spcBef>
                        <a:spcAft>
                          <a:spcPts val="0"/>
                        </a:spcAft>
                        <a:buNone/>
                      </a:pPr>
                      <a:r>
                        <a:rPr lang="en-US" sz="800" dirty="0"/>
                        <a:t>PUS : SID </a:t>
                      </a:r>
                      <a:r>
                        <a:rPr lang="en-US" sz="800" dirty="0">
                          <a:solidFill>
                            <a:srgbClr val="FFC000"/>
                          </a:solidFill>
                        </a:rPr>
                        <a:t>(Mod NADP CLB2 1000, 14000 MAX)</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30</a:t>
                      </a:r>
                      <a:r>
                        <a:rPr lang="en-US" altLang="ko-KR" sz="800" b="1" dirty="0">
                          <a:solidFill>
                            <a:srgbClr val="0070C0"/>
                          </a:solidFill>
                        </a:rPr>
                        <a:t>6</a:t>
                      </a:r>
                      <a:endParaRPr sz="458"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280</a:t>
                      </a:r>
                      <a:endParaRPr sz="800"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B050"/>
                          </a:solidFill>
                        </a:rPr>
                        <a:t>27</a:t>
                      </a:r>
                      <a:r>
                        <a:rPr lang="en-US" altLang="ko-KR" sz="800" b="1" dirty="0">
                          <a:solidFill>
                            <a:srgbClr val="00B050"/>
                          </a:solidFill>
                        </a:rPr>
                        <a:t>9</a:t>
                      </a: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182</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182</a:t>
                      </a:r>
                      <a:endParaRPr sz="800" b="1"/>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182</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a:t>36 : KMH R091, R271, R185</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18R(13’) 8530’</a:t>
                      </a:r>
                      <a:endParaRPr sz="800" b="1">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18L(13’) 8999’</a:t>
                      </a:r>
                      <a:endParaRPr sz="800" b="1">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6" name="Google Shape;248;p13">
            <a:extLst>
              <a:ext uri="{FF2B5EF4-FFF2-40B4-BE49-F238E27FC236}">
                <a16:creationId xmlns:a16="http://schemas.microsoft.com/office/drawing/2014/main" id="{186D5FF2-55A4-B3AE-F6AA-857B1EA00A73}"/>
              </a:ext>
            </a:extLst>
          </p:cNvPr>
          <p:cNvPicPr preferRelativeResize="0"/>
          <p:nvPr/>
        </p:nvPicPr>
        <p:blipFill rotWithShape="1">
          <a:blip r:embed="rId7">
            <a:alphaModFix/>
          </a:blip>
          <a:srcRect/>
          <a:stretch/>
        </p:blipFill>
        <p:spPr>
          <a:xfrm>
            <a:off x="4472" y="2456585"/>
            <a:ext cx="1559909" cy="651823"/>
          </a:xfrm>
          <a:prstGeom prst="rect">
            <a:avLst/>
          </a:prstGeom>
          <a:noFill/>
          <a:ln>
            <a:noFill/>
          </a:ln>
        </p:spPr>
      </p:pic>
    </p:spTree>
    <p:extLst>
      <p:ext uri="{BB962C8B-B14F-4D97-AF65-F5344CB8AC3E}">
        <p14:creationId xmlns:p14="http://schemas.microsoft.com/office/powerpoint/2010/main" val="3345885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4BFE20D2-9E22-107A-6D34-D5883DF23365}"/>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441983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nvGraphicFramePr>
        <p:xfrm>
          <a:off x="-4045" y="595076"/>
          <a:ext cx="2300931" cy="2208250"/>
        </p:xfrm>
        <a:graphic>
          <a:graphicData uri="http://schemas.openxmlformats.org/drawingml/2006/table">
            <a:tbl>
              <a:tblPr firstRow="1" bandRow="1">
                <a:noFill/>
                <a:tableStyleId>{A521BE36-7E6F-4EC9-8D66-1CF97A6895EC}</a:tableStyleId>
              </a:tblPr>
              <a:tblGrid>
                <a:gridCol w="327184">
                  <a:extLst>
                    <a:ext uri="{9D8B030D-6E8A-4147-A177-3AD203B41FA5}">
                      <a16:colId xmlns:a16="http://schemas.microsoft.com/office/drawing/2014/main" val="20000"/>
                    </a:ext>
                  </a:extLst>
                </a:gridCol>
                <a:gridCol w="64140">
                  <a:extLst>
                    <a:ext uri="{9D8B030D-6E8A-4147-A177-3AD203B41FA5}">
                      <a16:colId xmlns:a16="http://schemas.microsoft.com/office/drawing/2014/main" val="20001"/>
                    </a:ext>
                  </a:extLst>
                </a:gridCol>
                <a:gridCol w="164703">
                  <a:extLst>
                    <a:ext uri="{9D8B030D-6E8A-4147-A177-3AD203B41FA5}">
                      <a16:colId xmlns:a16="http://schemas.microsoft.com/office/drawing/2014/main" val="20002"/>
                    </a:ext>
                  </a:extLst>
                </a:gridCol>
                <a:gridCol w="414479">
                  <a:extLst>
                    <a:ext uri="{9D8B030D-6E8A-4147-A177-3AD203B41FA5}">
                      <a16:colId xmlns:a16="http://schemas.microsoft.com/office/drawing/2014/main" val="20003"/>
                    </a:ext>
                  </a:extLst>
                </a:gridCol>
                <a:gridCol w="101537">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99187">
                  <a:extLst>
                    <a:ext uri="{9D8B030D-6E8A-4147-A177-3AD203B41FA5}">
                      <a16:colId xmlns:a16="http://schemas.microsoft.com/office/drawing/2014/main" val="20005"/>
                    </a:ext>
                  </a:extLst>
                </a:gridCol>
                <a:gridCol w="287650">
                  <a:extLst>
                    <a:ext uri="{9D8B030D-6E8A-4147-A177-3AD203B41FA5}">
                      <a16:colId xmlns:a16="http://schemas.microsoft.com/office/drawing/2014/main" val="20006"/>
                    </a:ext>
                  </a:extLst>
                </a:gridCol>
                <a:gridCol w="465890">
                  <a:extLst>
                    <a:ext uri="{9D8B030D-6E8A-4147-A177-3AD203B41FA5}">
                      <a16:colId xmlns:a16="http://schemas.microsoft.com/office/drawing/2014/main" val="20007"/>
                    </a:ext>
                  </a:extLst>
                </a:gridCol>
                <a:gridCol w="314761">
                  <a:extLst>
                    <a:ext uri="{9D8B030D-6E8A-4147-A177-3AD203B41FA5}">
                      <a16:colId xmlns:a16="http://schemas.microsoft.com/office/drawing/2014/main" val="448940902"/>
                    </a:ext>
                  </a:extLst>
                </a:gridCol>
              </a:tblGrid>
              <a:tr h="230296">
                <a:tc gridSpan="10">
                  <a:txBody>
                    <a:bodyPr/>
                    <a:lstStyle/>
                    <a:p>
                      <a:pPr marL="0" marR="0" lvl="0" indent="0" algn="ctr" rtl="0">
                        <a:spcBef>
                          <a:spcPts val="0"/>
                        </a:spcBef>
                        <a:spcAft>
                          <a:spcPts val="0"/>
                        </a:spcAft>
                        <a:buNone/>
                      </a:pPr>
                      <a:r>
                        <a:rPr lang="en-US" sz="800" u="none" strike="noStrike" cap="none" dirty="0"/>
                        <a:t>PVG : SID (NADP 1) </a:t>
                      </a:r>
                    </a:p>
                    <a:p>
                      <a:pPr marL="0" marR="0" lvl="0" indent="0" algn="ctr" rtl="0">
                        <a:spcBef>
                          <a:spcPts val="0"/>
                        </a:spcBef>
                        <a:spcAft>
                          <a:spcPts val="0"/>
                        </a:spcAft>
                        <a:buNone/>
                      </a:pPr>
                      <a:r>
                        <a:rPr lang="en-US" sz="800" b="0" u="none" strike="noStrike" cap="none" dirty="0">
                          <a:solidFill>
                            <a:srgbClr val="FFC000"/>
                          </a:solidFill>
                        </a:rPr>
                        <a:t>(ATC Hold Expected Fuel Add!!)</a:t>
                      </a:r>
                      <a:endParaRPr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16937">
                <a:tc>
                  <a:txBody>
                    <a:bodyPr/>
                    <a:lstStyle/>
                    <a:p>
                      <a:pPr marL="0" marR="0" lvl="0" indent="0" algn="ctr" rtl="0">
                        <a:spcBef>
                          <a:spcPts val="0"/>
                        </a:spcBef>
                        <a:spcAft>
                          <a:spcPts val="0"/>
                        </a:spcAft>
                        <a:buNone/>
                      </a:pPr>
                      <a:r>
                        <a:rPr lang="en-US" sz="800" b="1" u="none" strike="noStrike" cap="none" dirty="0"/>
                        <a:t>34L/R</a:t>
                      </a:r>
                    </a:p>
                    <a:p>
                      <a:pPr marL="0" marR="0" lvl="0" indent="0" algn="ctr" rtl="0">
                        <a:spcBef>
                          <a:spcPts val="0"/>
                        </a:spcBef>
                        <a:spcAft>
                          <a:spcPts val="0"/>
                        </a:spcAft>
                        <a:buNone/>
                      </a:pPr>
                      <a:r>
                        <a:rPr lang="en-US" sz="800" b="0" u="none" strike="noStrike" cap="none" dirty="0"/>
                        <a:t>35R/L</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LAM 92D</a:t>
                      </a:r>
                    </a:p>
                    <a:p>
                      <a:pPr marL="0" marR="0" lvl="0" indent="0" algn="ctr" rtl="0">
                        <a:spcBef>
                          <a:spcPts val="0"/>
                        </a:spcBef>
                        <a:spcAft>
                          <a:spcPts val="0"/>
                        </a:spcAft>
                        <a:buNone/>
                      </a:pPr>
                      <a:r>
                        <a:rPr lang="en-US" sz="800" b="0" u="none" strike="noStrike" cap="none" dirty="0">
                          <a:solidFill>
                            <a:srgbClr val="0070C0"/>
                          </a:solidFill>
                        </a:rPr>
                        <a:t>(LAM 91D)</a:t>
                      </a:r>
                      <a:endParaRPr sz="800" b="0" u="none" strike="noStrike" cap="none"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348</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348</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36000" marB="36000" anchor="ctr"/>
                </a:tc>
                <a:tc>
                  <a:txBody>
                    <a:bodyPr/>
                    <a:lstStyle/>
                    <a:p>
                      <a:pPr algn="ctr"/>
                      <a:r>
                        <a:rPr lang="en-US" altLang="ko-Kore-KR" sz="800" b="1" u="none" strike="noStrike" cap="none" dirty="0">
                          <a:solidFill>
                            <a:srgbClr val="C00000"/>
                          </a:solidFill>
                        </a:rPr>
                        <a:t>348</a:t>
                      </a:r>
                      <a:endParaRPr lang="ko-Kore-KR" altLang="en-US" dirty="0"/>
                    </a:p>
                  </a:txBody>
                  <a:tcPr marL="0" marR="0" marT="36000" marB="36000" anchor="ctr"/>
                </a:tc>
                <a:extLst>
                  <a:ext uri="{0D108BD9-81ED-4DB2-BD59-A6C34878D82A}">
                    <a16:rowId xmlns:a16="http://schemas.microsoft.com/office/drawing/2014/main" val="10001"/>
                  </a:ext>
                </a:extLst>
              </a:tr>
              <a:tr h="216937">
                <a:tc>
                  <a:txBody>
                    <a:bodyPr/>
                    <a:lstStyle/>
                    <a:p>
                      <a:pPr marL="0" marR="0" lvl="0" indent="0" algn="ctr" rtl="0">
                        <a:spcBef>
                          <a:spcPts val="0"/>
                        </a:spcBef>
                        <a:spcAft>
                          <a:spcPts val="0"/>
                        </a:spcAft>
                        <a:buNone/>
                      </a:pPr>
                      <a:r>
                        <a:rPr lang="en-US" sz="800" b="1" u="none" strike="noStrike" cap="none" dirty="0"/>
                        <a:t>16R/L</a:t>
                      </a:r>
                    </a:p>
                    <a:p>
                      <a:pPr marL="0" marR="0" lvl="0" indent="0" algn="ctr" rtl="0">
                        <a:spcBef>
                          <a:spcPts val="0"/>
                        </a:spcBef>
                        <a:spcAft>
                          <a:spcPts val="0"/>
                        </a:spcAft>
                        <a:buNone/>
                      </a:pPr>
                      <a:r>
                        <a:rPr lang="en-US" sz="800" b="0" u="none" strike="noStrike" cap="none" dirty="0"/>
                        <a:t>17L/R</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LAM 82D</a:t>
                      </a:r>
                    </a:p>
                    <a:p>
                      <a:pPr marL="0" marR="0" lvl="0" indent="0" algn="ctr" rtl="0">
                        <a:spcBef>
                          <a:spcPts val="0"/>
                        </a:spcBef>
                        <a:spcAft>
                          <a:spcPts val="0"/>
                        </a:spcAft>
                        <a:buNone/>
                      </a:pPr>
                      <a:r>
                        <a:rPr lang="en-US" altLang="ko-Kore-KR" sz="800" b="0" u="none" strike="noStrike" cap="none" dirty="0">
                          <a:solidFill>
                            <a:srgbClr val="0070C0"/>
                          </a:solidFill>
                        </a:rPr>
                        <a:t>(LAM 81D)</a:t>
                      </a: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168</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168</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36000" marB="36000" anchor="ctr"/>
                </a:tc>
                <a:tc>
                  <a:txBody>
                    <a:bodyPr/>
                    <a:lstStyle/>
                    <a:p>
                      <a:pPr algn="ctr"/>
                      <a:r>
                        <a:rPr lang="en-US" sz="800" b="1" u="none" strike="noStrike" cap="none" dirty="0">
                          <a:solidFill>
                            <a:srgbClr val="C00000"/>
                          </a:solidFill>
                        </a:rPr>
                        <a:t>168</a:t>
                      </a:r>
                      <a:endParaRPr lang="ko-Kore-KR" altLang="en-US" dirty="0"/>
                    </a:p>
                  </a:txBody>
                  <a:tcPr marL="0" marR="0" marT="36000" marB="36000" anchor="ctr"/>
                </a:tc>
                <a:extLst>
                  <a:ext uri="{0D108BD9-81ED-4DB2-BD59-A6C34878D82A}">
                    <a16:rowId xmlns:a16="http://schemas.microsoft.com/office/drawing/2014/main" val="10002"/>
                  </a:ext>
                </a:extLst>
              </a:tr>
              <a:tr h="167483">
                <a:tc rowSpan="2"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PUD 116.9</a:t>
                      </a:r>
                      <a:endParaRPr sz="800" b="1" u="none" strike="noStrike" cap="none" dirty="0">
                        <a:solidFill>
                          <a:srgbClr val="0070C0"/>
                        </a:solidFill>
                      </a:endParaRPr>
                    </a:p>
                  </a:txBody>
                  <a:tcPr marL="0" marR="0" marT="0" marB="0" anchor="ctr"/>
                </a:tc>
                <a:tc rowSpan="2" hMerge="1">
                  <a:txBody>
                    <a:bodyPr/>
                    <a:lstStyle/>
                    <a:p>
                      <a:endParaRPr lang="ko-Kore-KR"/>
                    </a:p>
                  </a:txBody>
                  <a:tcPr/>
                </a:tc>
                <a:tc rowSpan="2"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34R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108.9</a:t>
                      </a:r>
                      <a:endParaRPr dirty="0"/>
                    </a:p>
                  </a:txBody>
                  <a:tcPr marL="0" marR="0" marT="0" marB="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35L 108.1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p>
                  </a:txBody>
                  <a:tcP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34L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108.3</a:t>
                      </a:r>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35R 111.9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0003"/>
                  </a:ext>
                </a:extLst>
              </a:tr>
              <a:tr h="167483">
                <a:tc gridSpan="3" vMerge="1">
                  <a:txBody>
                    <a:bodyPr/>
                    <a:lstStyle/>
                    <a:p>
                      <a:pPr marL="0" marR="0" lvl="0" indent="0" algn="ctr" rtl="0">
                        <a:lnSpc>
                          <a:spcPct val="100000"/>
                        </a:lnSpc>
                        <a:spcBef>
                          <a:spcPts val="0"/>
                        </a:spcBef>
                        <a:spcAft>
                          <a:spcPts val="0"/>
                        </a:spcAft>
                        <a:buClr>
                          <a:srgbClr val="0070C0"/>
                        </a:buClr>
                        <a:buSzPts val="800"/>
                        <a:buFont typeface="Calibri"/>
                        <a:buNone/>
                      </a:pPr>
                      <a:endParaRPr sz="800" b="1" u="none" strike="noStrike" cap="none" dirty="0">
                        <a:solidFill>
                          <a:srgbClr val="0070C0"/>
                        </a:solidFill>
                      </a:endParaRPr>
                    </a:p>
                  </a:txBody>
                  <a:tcPr marL="36000" marR="36000" marT="0" marB="0" anchor="ctr"/>
                </a:tc>
                <a:tc hMerge="1" vMerge="1">
                  <a:txBody>
                    <a:bodyPr/>
                    <a:lstStyle/>
                    <a:p>
                      <a:endParaRPr lang="ko-Kore-KR" altLang="en-US"/>
                    </a:p>
                  </a:txBody>
                  <a:tcPr/>
                </a:tc>
                <a:tc hMerge="1" vMerge="1">
                  <a:txBody>
                    <a:bodyPr/>
                    <a:lstStyle/>
                    <a:p>
                      <a:endParaRPr lang="ko-Kore-KR" altLang="en-US"/>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16L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111.5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ltLang="en-US"/>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17R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ltLang="en-US"/>
                    </a:p>
                  </a:txBody>
                  <a:tcP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16R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108.7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17L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724225180"/>
                  </a:ext>
                </a:extLst>
              </a:tr>
              <a:tr h="300679">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34R/L(11’/12’) </a:t>
                      </a:r>
                    </a:p>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35R(10’)</a:t>
                      </a:r>
                    </a:p>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35L(12’)</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13123’</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11155’</a:t>
                      </a:r>
                      <a:endParaRPr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16L/R(12’/11’)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17L(10’)</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17R(12’)</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216937">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APU Start, TUG Connect After Beacon L/T ON</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Ready for Intersection T/O</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192046320"/>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ZSPD(PVG) 13ft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China Eastern 130.5</a:t>
                      </a:r>
                      <a:endParaRPr dirty="0"/>
                    </a:p>
                    <a:p>
                      <a:pPr marL="0" marR="0" lvl="0" indent="0" algn="ctr" rtl="0">
                        <a:spcBef>
                          <a:spcPts val="0"/>
                        </a:spcBef>
                        <a:spcAft>
                          <a:spcPts val="0"/>
                        </a:spcAft>
                        <a:buNone/>
                      </a:pPr>
                      <a:r>
                        <a:rPr lang="en-US" sz="700" dirty="0">
                          <a:solidFill>
                            <a:srgbClr val="FF0000"/>
                          </a:solidFill>
                        </a:rPr>
                        <a:t>DCL </a:t>
                      </a:r>
                      <a:r>
                        <a:rPr lang="en-US" altLang="ko-KR" sz="700" dirty="0">
                          <a:solidFill>
                            <a:srgbClr val="FF0000"/>
                          </a:solidFill>
                        </a:rPr>
                        <a:t>1</a:t>
                      </a:r>
                      <a:r>
                        <a:rPr lang="en-US" sz="700" dirty="0">
                          <a:solidFill>
                            <a:srgbClr val="FF0000"/>
                          </a:solidFill>
                        </a:rPr>
                        <a:t>0</a:t>
                      </a:r>
                      <a:r>
                        <a:rPr lang="ko-KR" altLang="en-US" sz="700" dirty="0">
                          <a:solidFill>
                            <a:srgbClr val="FF0000"/>
                          </a:solidFill>
                        </a:rPr>
                        <a:t>분전</a:t>
                      </a:r>
                      <a:r>
                        <a:rPr lang="en-US" sz="700" dirty="0">
                          <a:solidFill>
                            <a:srgbClr val="FF0000"/>
                          </a:solidFill>
                        </a:rPr>
                        <a:t>, No READ BACK!</a:t>
                      </a:r>
                      <a:endParaRPr sz="700"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0837" y="2825736"/>
            <a:ext cx="1591782"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125.4 </a:t>
            </a:r>
            <a:r>
              <a:rPr kumimoji="1" lang="en-US" altLang="ko-Kore-KR" sz="700" b="1" u="sng" dirty="0">
                <a:solidFill>
                  <a:srgbClr val="C00000"/>
                </a:solidFill>
                <a:latin typeface="Gulim" panose="020B0600000101010101" pitchFamily="34" charset="-127"/>
                <a:ea typeface="Gulim" panose="020B0600000101010101" pitchFamily="34" charset="-127"/>
              </a:rPr>
              <a:t>(Without Instruction)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a:t>
            </a:r>
            <a:r>
              <a:rPr kumimoji="1" lang="en-US" altLang="ko-KR" sz="700" b="1" u="sng" dirty="0">
                <a:solidFill>
                  <a:srgbClr val="0070C0"/>
                </a:solidFill>
                <a:latin typeface="Gulim" panose="020B0600000101010101" pitchFamily="34" charset="-127"/>
                <a:ea typeface="Gulim" panose="020B0600000101010101" pitchFamily="34" charset="-127"/>
              </a:rPr>
              <a:t>125.62(</a:t>
            </a:r>
            <a:r>
              <a:rPr kumimoji="1" lang="en-US" altLang="ko-Kore-KR" sz="700" b="1" u="sng" dirty="0">
                <a:solidFill>
                  <a:srgbClr val="0070C0"/>
                </a:solidFill>
                <a:latin typeface="Gulim" panose="020B0600000101010101" pitchFamily="34" charset="-127"/>
                <a:ea typeface="Gulim" panose="020B0600000101010101" pitchFamily="34" charset="-127"/>
              </a:rPr>
              <a:t>119.975</a:t>
            </a:r>
            <a:r>
              <a:rPr kumimoji="1" lang="en-US" altLang="ko-KR" sz="700" b="1" u="sng" dirty="0">
                <a:solidFill>
                  <a:srgbClr val="0070C0"/>
                </a:solidFill>
                <a:latin typeface="Gulim" panose="020B0600000101010101" pitchFamily="34" charset="-127"/>
                <a:ea typeface="Gulim" panose="020B0600000101010101" pitchFamily="34" charset="-127"/>
              </a:rPr>
              <a:t>)</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120.95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128.17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125.5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sp>
        <p:nvSpPr>
          <p:cNvPr id="3" name="직사각형 2">
            <a:hlinkClick r:id="" action="ppaction://hlinkshowjump?jump=firstslide"/>
            <a:extLst>
              <a:ext uri="{FF2B5EF4-FFF2-40B4-BE49-F238E27FC236}">
                <a16:creationId xmlns:a16="http://schemas.microsoft.com/office/drawing/2014/main" id="{857B720D-0D1B-9121-09AB-6FDEA1F31352}"/>
              </a:ext>
            </a:extLst>
          </p:cNvPr>
          <p:cNvSpPr/>
          <p:nvPr/>
        </p:nvSpPr>
        <p:spPr>
          <a:xfrm>
            <a:off x="1657574" y="2847302"/>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E5BD0A1F-222D-F256-6A70-D874149F410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137;p4">
            <a:extLst>
              <a:ext uri="{FF2B5EF4-FFF2-40B4-BE49-F238E27FC236}">
                <a16:creationId xmlns:a16="http://schemas.microsoft.com/office/drawing/2014/main" id="{DFD006B3-CF59-4097-9785-492612F469A6}"/>
              </a:ext>
            </a:extLst>
          </p:cNvPr>
          <p:cNvGraphicFramePr/>
          <p:nvPr>
            <p:extLst>
              <p:ext uri="{D42A27DB-BD31-4B8C-83A1-F6EECF244321}">
                <p14:modId xmlns:p14="http://schemas.microsoft.com/office/powerpoint/2010/main" val="1968053431"/>
              </p:ext>
            </p:extLst>
          </p:nvPr>
        </p:nvGraphicFramePr>
        <p:xfrm>
          <a:off x="-3340" y="3767489"/>
          <a:ext cx="2339140" cy="174265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r" rtl="0">
                        <a:spcBef>
                          <a:spcPts val="0"/>
                        </a:spcBef>
                        <a:spcAft>
                          <a:spcPts val="0"/>
                        </a:spcAft>
                        <a:buNone/>
                      </a:pPr>
                      <a:r>
                        <a:rPr lang="en-US" sz="800" dirty="0"/>
                        <a:t>PUS : STAR </a:t>
                      </a:r>
                      <a:r>
                        <a:rPr lang="en-US" sz="800" dirty="0">
                          <a:solidFill>
                            <a:srgbClr val="FFC000"/>
                          </a:solidFill>
                        </a:rPr>
                        <a:t>(Tail Wind 36R 136000lbs F40)</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C00000"/>
                          </a:solidFill>
                          <a:hlinkClick r:id="rId7" action="ppaction://hlinksldjump">
                            <a:extLst>
                              <a:ext uri="{A12FA001-AC4F-418D-AE19-62706E023703}">
                                <ahyp:hlinkClr xmlns:ahyp="http://schemas.microsoft.com/office/drawing/2018/hyperlinkcolor" val="tx"/>
                              </a:ext>
                            </a:extLst>
                          </a:hlinkClick>
                        </a:rPr>
                        <a:t>18 Circling Click!!</a:t>
                      </a:r>
                      <a:endParaRPr lang="en-US" altLang="ko-Kore-K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18R(13’) 8530’</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18L(13’) 8999’</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R284, R280</a:t>
                      </a:r>
                      <a:endParaRPr sz="800" b="0" dirty="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tx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 : C6(5770’), C7 (6824’) / 18L : E4(5882’), 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8186478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428870"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126.17 – 120.72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 – 120.55 – 125.95 – 119.075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NKG APP 126.55 – 119.25 </a:t>
            </a:r>
          </a:p>
        </p:txBody>
      </p:sp>
      <p:graphicFrame>
        <p:nvGraphicFramePr>
          <p:cNvPr id="291" name="Google Shape;291;p18"/>
          <p:cNvGraphicFramePr/>
          <p:nvPr>
            <p:extLst>
              <p:ext uri="{D42A27DB-BD31-4B8C-83A1-F6EECF244321}">
                <p14:modId xmlns:p14="http://schemas.microsoft.com/office/powerpoint/2010/main" val="619649902"/>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304439633"/>
              </p:ext>
            </p:extLst>
          </p:nvPr>
        </p:nvGraphicFramePr>
        <p:xfrm>
          <a:off x="4472" y="3705686"/>
          <a:ext cx="2331400" cy="186457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719524">
                  <a:extLst>
                    <a:ext uri="{9D8B030D-6E8A-4147-A177-3AD203B41FA5}">
                      <a16:colId xmlns:a16="http://schemas.microsoft.com/office/drawing/2014/main" val="20001"/>
                    </a:ext>
                  </a:extLst>
                </a:gridCol>
                <a:gridCol w="446176">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NKG : STAR </a:t>
                      </a:r>
                      <a:r>
                        <a:rPr lang="en-US" sz="800" b="0" dirty="0">
                          <a:solidFill>
                            <a:srgbClr val="FFC000"/>
                          </a:solidFill>
                        </a:rPr>
                        <a:t>(‘D’ N31 34.0 E118 42.1 – R101, R289)</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301242">
                <a:tc>
                  <a:txBody>
                    <a:bodyPr/>
                    <a:lstStyle/>
                    <a:p>
                      <a:pPr marL="0" marR="0" lvl="0" indent="0" algn="ctr" rtl="0">
                        <a:spcBef>
                          <a:spcPts val="0"/>
                        </a:spcBef>
                        <a:spcAft>
                          <a:spcPts val="0"/>
                        </a:spcAft>
                        <a:buNone/>
                      </a:pPr>
                      <a:r>
                        <a:rPr lang="en-US" sz="800" b="1" dirty="0"/>
                        <a:t>07</a:t>
                      </a:r>
                    </a:p>
                    <a:p>
                      <a:pPr marL="0" marR="0" lvl="0" indent="0" algn="ctr" rtl="0">
                        <a:spcBef>
                          <a:spcPts val="0"/>
                        </a:spcBef>
                        <a:spcAft>
                          <a:spcPts val="0"/>
                        </a:spcAft>
                        <a:buNone/>
                      </a:pPr>
                      <a:r>
                        <a:rPr lang="en-US" sz="800" b="0" dirty="0"/>
                        <a:t>(06)</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ESB 71F/21A</a:t>
                      </a:r>
                    </a:p>
                    <a:p>
                      <a:pPr marL="0" marR="0" lvl="0" indent="0" algn="ctr" rtl="0">
                        <a:spcBef>
                          <a:spcPts val="0"/>
                        </a:spcBef>
                        <a:spcAft>
                          <a:spcPts val="0"/>
                        </a:spcAft>
                        <a:buNone/>
                      </a:pPr>
                      <a:r>
                        <a:rPr lang="en-US" sz="800" b="0" dirty="0"/>
                        <a:t>(ESB 61F/11A)</a:t>
                      </a:r>
                    </a:p>
                  </a:txBody>
                  <a:tcPr marL="36000" marR="36000" marT="36000" marB="36000" anchor="ctr"/>
                </a:tc>
                <a:tc>
                  <a:txBody>
                    <a:bodyPr/>
                    <a:lstStyle/>
                    <a:p>
                      <a:pPr marL="0" marR="0" lvl="0" indent="0" algn="ctr" rtl="0">
                        <a:spcBef>
                          <a:spcPts val="0"/>
                        </a:spcBef>
                        <a:spcAft>
                          <a:spcPts val="0"/>
                        </a:spcAft>
                        <a:buNone/>
                      </a:pPr>
                      <a:r>
                        <a:rPr lang="en-US" sz="800" b="1" dirty="0"/>
                        <a:t>SNQ</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07</a:t>
                      </a:r>
                    </a:p>
                    <a:p>
                      <a:pPr marL="0" marR="0" lvl="0" indent="0" algn="ctr" rtl="0">
                        <a:spcBef>
                          <a:spcPts val="0"/>
                        </a:spcBef>
                        <a:spcAft>
                          <a:spcPts val="0"/>
                        </a:spcAft>
                        <a:buNone/>
                      </a:pPr>
                      <a:r>
                        <a:rPr lang="en-US" sz="800" b="0" dirty="0"/>
                        <a:t>(ILS Z 06)</a:t>
                      </a:r>
                      <a:endParaRPr sz="800" b="0" dirty="0"/>
                    </a:p>
                  </a:txBody>
                  <a:tcPr marL="36000" marR="36000" marT="36000" marB="36000" anchor="ctr"/>
                </a:tc>
                <a:extLst>
                  <a:ext uri="{0D108BD9-81ED-4DB2-BD59-A6C34878D82A}">
                    <a16:rowId xmlns:a16="http://schemas.microsoft.com/office/drawing/2014/main" val="10001"/>
                  </a:ext>
                </a:extLst>
              </a:tr>
              <a:tr h="301242">
                <a:tc>
                  <a:txBody>
                    <a:bodyPr/>
                    <a:lstStyle/>
                    <a:p>
                      <a:pPr marL="0" marR="0" lvl="0" indent="0" algn="ctr" rtl="0">
                        <a:spcBef>
                          <a:spcPts val="0"/>
                        </a:spcBef>
                        <a:spcAft>
                          <a:spcPts val="0"/>
                        </a:spcAft>
                        <a:buNone/>
                      </a:pPr>
                      <a:r>
                        <a:rPr lang="en-US" sz="800" b="1" dirty="0"/>
                        <a:t>25</a:t>
                      </a:r>
                    </a:p>
                    <a:p>
                      <a:pPr marL="0" marR="0" lvl="0" indent="0" algn="ctr" rtl="0">
                        <a:spcBef>
                          <a:spcPts val="0"/>
                        </a:spcBef>
                        <a:spcAft>
                          <a:spcPts val="0"/>
                        </a:spcAft>
                        <a:buNone/>
                      </a:pPr>
                      <a:r>
                        <a:rPr lang="en-US" sz="800" b="0" dirty="0"/>
                        <a:t>(24)</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ESB 52F/22A</a:t>
                      </a:r>
                    </a:p>
                    <a:p>
                      <a:pPr marL="0" marR="0" lvl="0" indent="0" algn="ctr" rtl="0">
                        <a:spcBef>
                          <a:spcPts val="0"/>
                        </a:spcBef>
                        <a:spcAft>
                          <a:spcPts val="0"/>
                        </a:spcAft>
                        <a:buNone/>
                      </a:pPr>
                      <a:r>
                        <a:rPr lang="en-US" altLang="ko-Kore-KR" sz="800" b="0" dirty="0"/>
                        <a:t>(ESB 42F/12A)</a:t>
                      </a:r>
                    </a:p>
                  </a:txBody>
                  <a:tcPr marL="36000" marR="36000" marT="36000" marB="36000" anchor="ctr"/>
                </a:tc>
                <a:tc>
                  <a:txBody>
                    <a:bodyPr/>
                    <a:lstStyle/>
                    <a:p>
                      <a:pPr marL="0" marR="0" lvl="0" indent="0" algn="ctr" rtl="0">
                        <a:spcBef>
                          <a:spcPts val="0"/>
                        </a:spcBef>
                        <a:spcAft>
                          <a:spcPts val="0"/>
                        </a:spcAft>
                        <a:buNone/>
                      </a:pPr>
                      <a:r>
                        <a:rPr lang="en-US" sz="800" b="1" dirty="0"/>
                        <a:t>NJ210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25</a:t>
                      </a:r>
                    </a:p>
                    <a:p>
                      <a:pPr marL="0" marR="0" lvl="0" indent="0" algn="ctr" rtl="0">
                        <a:spcBef>
                          <a:spcPts val="0"/>
                        </a:spcBef>
                        <a:spcAft>
                          <a:spcPts val="0"/>
                        </a:spcAft>
                        <a:buNone/>
                      </a:pPr>
                      <a:r>
                        <a:rPr lang="en-US" altLang="ko-Kore-KR" sz="800" b="0" dirty="0"/>
                        <a:t>(ILS Z 24)</a:t>
                      </a:r>
                      <a:endParaRPr sz="800" b="1" dirty="0"/>
                    </a:p>
                  </a:txBody>
                  <a:tcPr marL="36000" marR="36000" marT="36000" marB="36000" anchor="ctr"/>
                </a:tc>
                <a:extLst>
                  <a:ext uri="{0D108BD9-81ED-4DB2-BD59-A6C34878D82A}">
                    <a16:rowId xmlns:a16="http://schemas.microsoft.com/office/drawing/2014/main" val="10002"/>
                  </a:ext>
                </a:extLst>
              </a:tr>
              <a:tr h="184957">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07(41’)      11811’      25(39’)</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06(43’)      11811’      24(38’)</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 : D5(6499’), D6(7582’), 25 : D2(6505’), D1(7582’)</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 : A5(6614’), A6(7860’), 24 : A3(6637’), A9(7864’)</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IAF, Missed App SPD APP</a:t>
                      </a:r>
                      <a:r>
                        <a:rPr lang="ko-KR" altLang="en-US" sz="800" dirty="0"/>
                        <a:t> </a:t>
                      </a:r>
                      <a:r>
                        <a:rPr lang="en-US" altLang="ko-KR" sz="800" dirty="0"/>
                        <a:t>:</a:t>
                      </a:r>
                      <a:r>
                        <a:rPr lang="ko-KR" altLang="en-US" sz="800" dirty="0"/>
                        <a:t> </a:t>
                      </a:r>
                      <a:r>
                        <a:rPr lang="en-US" altLang="ko-KR" sz="800" dirty="0"/>
                        <a:t>210kts or 205kts</a:t>
                      </a:r>
                    </a:p>
                    <a:p>
                      <a:pPr marL="0" marR="0" lvl="0" indent="0" algn="ctr" rtl="0">
                        <a:lnSpc>
                          <a:spcPct val="100000"/>
                        </a:lnSpc>
                        <a:spcBef>
                          <a:spcPts val="0"/>
                        </a:spcBef>
                        <a:spcAft>
                          <a:spcPts val="0"/>
                        </a:spcAft>
                        <a:buClr>
                          <a:schemeClr val="dk1"/>
                        </a:buClr>
                        <a:buSzPts val="800"/>
                        <a:buFont typeface="Calibri"/>
                        <a:buNone/>
                      </a:pPr>
                      <a:r>
                        <a:rPr lang="en-US" sz="800" dirty="0"/>
                        <a:t>Follow Me Car on C 13, APU off Procedure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4121388174"/>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ZSNJ(NKG) 49ft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DCAAF97-49DD-AE80-34AF-512BE900E983}"/>
              </a:ext>
            </a:extLst>
          </p:cNvPr>
          <p:cNvSpPr/>
          <p:nvPr/>
        </p:nvSpPr>
        <p:spPr>
          <a:xfrm>
            <a:off x="1669148" y="343760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BC0B007-1D05-0F91-185F-EF18A8FB3CE3}"/>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7107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B8B7E4DE-4422-34F1-D7EA-F356A7B42392}"/>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1644546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3729305340"/>
              </p:ext>
            </p:extLst>
          </p:nvPr>
        </p:nvGraphicFramePr>
        <p:xfrm>
          <a:off x="-4046" y="595076"/>
          <a:ext cx="2335723" cy="179257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05603">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1">
                  <a:txBody>
                    <a:bodyPr/>
                    <a:lstStyle/>
                    <a:p>
                      <a:pPr marL="0" marR="0" lvl="0" indent="0" algn="ctr" rtl="0">
                        <a:spcBef>
                          <a:spcPts val="0"/>
                        </a:spcBef>
                        <a:spcAft>
                          <a:spcPts val="0"/>
                        </a:spcAft>
                        <a:buNone/>
                      </a:pPr>
                      <a:r>
                        <a:rPr lang="en-US" sz="800" u="none" strike="noStrike" cap="none" dirty="0"/>
                        <a:t>NKG : SID (NADP 1) </a:t>
                      </a:r>
                    </a:p>
                    <a:p>
                      <a:pPr marL="0" marR="0" lvl="0" indent="0" algn="ctr" rtl="0">
                        <a:spcBef>
                          <a:spcPts val="0"/>
                        </a:spcBef>
                        <a:spcAft>
                          <a:spcPts val="0"/>
                        </a:spcAft>
                        <a:buNone/>
                      </a:pPr>
                      <a:r>
                        <a:rPr lang="en-US" sz="800" b="0" u="none" strike="noStrike" cap="none" dirty="0">
                          <a:solidFill>
                            <a:srgbClr val="FFC000"/>
                          </a:solidFill>
                        </a:rPr>
                        <a:t>(ATC Hold Expected Fuel Add!!)</a:t>
                      </a:r>
                      <a:endParaRPr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06</a:t>
                      </a:r>
                    </a:p>
                    <a:p>
                      <a:pPr marL="0" marR="0" lvl="0" indent="0" algn="ctr" rtl="0">
                        <a:spcBef>
                          <a:spcPts val="0"/>
                        </a:spcBef>
                        <a:spcAft>
                          <a:spcPts val="0"/>
                        </a:spcAft>
                        <a:buNone/>
                      </a:pPr>
                      <a:r>
                        <a:rPr lang="en-US" sz="800" b="0" u="none" strike="noStrike" cap="none" dirty="0"/>
                        <a:t>(07)</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ESB 61X/11D</a:t>
                      </a:r>
                    </a:p>
                    <a:p>
                      <a:pPr marL="0" marR="0" lvl="0" indent="0" algn="ctr" rtl="0">
                        <a:spcBef>
                          <a:spcPts val="0"/>
                        </a:spcBef>
                        <a:spcAft>
                          <a:spcPts val="0"/>
                        </a:spcAft>
                        <a:buNone/>
                      </a:pPr>
                      <a:r>
                        <a:rPr lang="en-US" sz="800" b="0" u="none" strike="noStrike" cap="none" dirty="0">
                          <a:solidFill>
                            <a:srgbClr val="0070C0"/>
                          </a:solidFill>
                        </a:rPr>
                        <a:t>(ESB 71X/21D)</a:t>
                      </a:r>
                      <a:endParaRPr sz="800" b="0"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064</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064</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sz="800" b="1" u="none" strike="noStrike" cap="none">
                          <a:solidFill>
                            <a:srgbClr val="C00000"/>
                          </a:solidFill>
                        </a:rPr>
                        <a:t>064</a:t>
                      </a:r>
                      <a:endParaRPr lang="ko-Kore-KR" altLang="en-US"/>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24</a:t>
                      </a:r>
                    </a:p>
                    <a:p>
                      <a:pPr marL="0" marR="0" lvl="0" indent="0" algn="ctr" rtl="0">
                        <a:spcBef>
                          <a:spcPts val="0"/>
                        </a:spcBef>
                        <a:spcAft>
                          <a:spcPts val="0"/>
                        </a:spcAft>
                        <a:buNone/>
                      </a:pPr>
                      <a:r>
                        <a:rPr lang="en-US" sz="800" b="1" u="none" strike="noStrike" cap="none" dirty="0"/>
                        <a:t>(25)</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ESB 42X/12D</a:t>
                      </a:r>
                    </a:p>
                    <a:p>
                      <a:pPr marL="0" marR="0" lvl="0" indent="0" algn="ctr" rtl="0">
                        <a:spcBef>
                          <a:spcPts val="0"/>
                        </a:spcBef>
                        <a:spcAft>
                          <a:spcPts val="0"/>
                        </a:spcAft>
                        <a:buNone/>
                      </a:pPr>
                      <a:r>
                        <a:rPr lang="en-US" altLang="ko-Kore-KR" sz="800" b="0" u="none" strike="noStrike" cap="none" dirty="0">
                          <a:solidFill>
                            <a:srgbClr val="0070C0"/>
                          </a:solidFill>
                        </a:rPr>
                        <a:t>(ESB 52X/22D)</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244</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244</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sz="800" b="1" u="none" strike="noStrike" cap="none" dirty="0">
                          <a:solidFill>
                            <a:srgbClr val="C00000"/>
                          </a:solidFill>
                        </a:rPr>
                        <a:t>244</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NJL 113.6</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108.7</a:t>
                      </a:r>
                      <a:endParaRPr dirty="0"/>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25 111.3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06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110.3</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24 110.9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06(43’) </a:t>
                      </a:r>
                    </a:p>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07(41’)</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11811’</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24(38’)</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25(39’)</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APU Start, TUG Connect After Beacon L/T ON</a:t>
                      </a:r>
                      <a:endParaRPr dirty="0">
                        <a:solidFill>
                          <a:srgbClr val="FF000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206454804"/>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ZSNJ(NKG) 49ft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endParaRPr dirty="0"/>
                    </a:p>
                    <a:p>
                      <a:pPr marL="0" marR="0" lvl="0" indent="0" algn="ctr" rtl="0">
                        <a:spcBef>
                          <a:spcPts val="0"/>
                        </a:spcBef>
                        <a:spcAft>
                          <a:spcPts val="0"/>
                        </a:spcAft>
                        <a:buNone/>
                      </a:pPr>
                      <a:r>
                        <a:rPr lang="en-US" sz="700" dirty="0">
                          <a:solidFill>
                            <a:srgbClr val="FF0000"/>
                          </a:solidFill>
                        </a:rPr>
                        <a:t>DCL </a:t>
                      </a:r>
                      <a:r>
                        <a:rPr lang="ko-KR" altLang="en-US" sz="700" dirty="0">
                          <a:solidFill>
                            <a:srgbClr val="FF0000"/>
                          </a:solidFill>
                        </a:rPr>
                        <a:t>가능</a:t>
                      </a:r>
                      <a:r>
                        <a:rPr lang="en-US" sz="700" dirty="0">
                          <a:solidFill>
                            <a:srgbClr val="FF0000"/>
                          </a:solidFill>
                        </a:rPr>
                        <a:t>, READ BACK!</a:t>
                      </a:r>
                      <a:endParaRPr sz="700" dirty="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7918" y="2370769"/>
            <a:ext cx="1933543"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NKG APP 126.55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119.075 – 125.95 -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20</a:t>
            </a:r>
            <a:r>
              <a:rPr kumimoji="1" lang="en-US" altLang="ko-Kore-KR" sz="700" b="1" u="sng" dirty="0">
                <a:solidFill>
                  <a:srgbClr val="0070C0"/>
                </a:solidFill>
                <a:latin typeface="Gulim" panose="020B0600000101010101" pitchFamily="34" charset="-127"/>
                <a:ea typeface="Gulim" panose="020B0600000101010101" pitchFamily="34" charset="-127"/>
              </a:rPr>
              <a:t>.55 - </a:t>
            </a:r>
            <a:r>
              <a:rPr kumimoji="1" lang="en-US" altLang="ko-KR" sz="700" b="1" u="sng" dirty="0">
                <a:solidFill>
                  <a:srgbClr val="0070C0"/>
                </a:solidFill>
                <a:latin typeface="Gulim" panose="020B0600000101010101" pitchFamily="34" charset="-127"/>
                <a:ea typeface="Gulim" panose="020B0600000101010101" pitchFamily="34" charset="-127"/>
              </a:rPr>
              <a:t>120.95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extLst>
              <p:ext uri="{D42A27DB-BD31-4B8C-83A1-F6EECF244321}">
                <p14:modId xmlns:p14="http://schemas.microsoft.com/office/powerpoint/2010/main" val="639451313"/>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B72E208F-F9E3-4DBD-EA14-654CF7F7CDE4}"/>
              </a:ext>
            </a:extLst>
          </p:cNvPr>
          <p:cNvSpPr/>
          <p:nvPr/>
        </p:nvSpPr>
        <p:spPr>
          <a:xfrm>
            <a:off x="1651787" y="307879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ECA2F9E-B6DB-CD38-1DE9-D46BCCC5931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6420950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21870"/>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128.7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a:t>
            </a:r>
            <a:r>
              <a:rPr kumimoji="1" lang="en-US" altLang="ko-KR" sz="700" b="1" u="sng" dirty="0">
                <a:solidFill>
                  <a:srgbClr val="0070C0"/>
                </a:solidFill>
                <a:latin typeface="Gulim" panose="020B0600000101010101" pitchFamily="34" charset="-127"/>
                <a:ea typeface="Gulim" panose="020B0600000101010101" pitchFamily="34" charset="-127"/>
              </a:rPr>
              <a:t>28</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5</a:t>
            </a:r>
            <a:r>
              <a:rPr kumimoji="1" lang="en-US" altLang="ko-Kore-KR" sz="700" b="1" u="sng" dirty="0">
                <a:solidFill>
                  <a:srgbClr val="0070C0"/>
                </a:solidFill>
                <a:latin typeface="Gulim" panose="020B0600000101010101" pitchFamily="34" charset="-127"/>
                <a:ea typeface="Gulim" panose="020B0600000101010101" pitchFamily="34" charset="-127"/>
              </a:rPr>
              <a:t>5 – 134.85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APP 1</a:t>
            </a:r>
            <a:r>
              <a:rPr kumimoji="1" lang="en-US" altLang="ko-KR" sz="700" b="1" u="sng" dirty="0">
                <a:solidFill>
                  <a:srgbClr val="0070C0"/>
                </a:solidFill>
                <a:latin typeface="Gulim" panose="020B0600000101010101" pitchFamily="34" charset="-127"/>
                <a:ea typeface="Gulim" panose="020B0600000101010101" pitchFamily="34" charset="-127"/>
              </a:rPr>
              <a:t>19</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77</a:t>
            </a:r>
            <a:r>
              <a:rPr kumimoji="1" lang="en-US" altLang="ko-Kore-KR" sz="700" b="1" u="sng" dirty="0">
                <a:solidFill>
                  <a:srgbClr val="0070C0"/>
                </a:solidFill>
                <a:latin typeface="Gulim" panose="020B0600000101010101" pitchFamily="34" charset="-127"/>
                <a:ea typeface="Gulim" panose="020B0600000101010101" pitchFamily="34" charset="-127"/>
              </a:rPr>
              <a:t> – 119.4 </a:t>
            </a:r>
          </a:p>
        </p:txBody>
      </p:sp>
      <p:graphicFrame>
        <p:nvGraphicFramePr>
          <p:cNvPr id="291" name="Google Shape;291;p18"/>
          <p:cNvGraphicFramePr/>
          <p:nvPr>
            <p:extLst>
              <p:ext uri="{D42A27DB-BD31-4B8C-83A1-F6EECF244321}">
                <p14:modId xmlns:p14="http://schemas.microsoft.com/office/powerpoint/2010/main" val="1746373860"/>
              </p:ext>
            </p:extLst>
          </p:nvPr>
        </p:nvGraphicFramePr>
        <p:xfrm>
          <a:off x="0" y="61494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1004166409"/>
              </p:ext>
            </p:extLst>
          </p:nvPr>
        </p:nvGraphicFramePr>
        <p:xfrm>
          <a:off x="4472" y="3705686"/>
          <a:ext cx="2331400" cy="181465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719524">
                  <a:extLst>
                    <a:ext uri="{9D8B030D-6E8A-4147-A177-3AD203B41FA5}">
                      <a16:colId xmlns:a16="http://schemas.microsoft.com/office/drawing/2014/main" val="20001"/>
                    </a:ext>
                  </a:extLst>
                </a:gridCol>
                <a:gridCol w="446176">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173813">
                <a:tc gridSpan="4">
                  <a:txBody>
                    <a:bodyPr/>
                    <a:lstStyle/>
                    <a:p>
                      <a:pPr marL="0" marR="0" lvl="0" indent="0" algn="ctr" rtl="0">
                        <a:spcBef>
                          <a:spcPts val="0"/>
                        </a:spcBef>
                        <a:spcAft>
                          <a:spcPts val="0"/>
                        </a:spcAft>
                        <a:buNone/>
                      </a:pPr>
                      <a:r>
                        <a:rPr lang="en-US" sz="800" dirty="0"/>
                        <a:t>TAO : STAR  </a:t>
                      </a:r>
                      <a:r>
                        <a:rPr lang="en-US" sz="800" b="0" dirty="0">
                          <a:solidFill>
                            <a:srgbClr val="FFC000"/>
                          </a:solidFill>
                        </a:rPr>
                        <a:t>(After AGAVO Direct IKEKA then LATUX)</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1513">
                <a:tc>
                  <a:txBody>
                    <a:bodyPr/>
                    <a:lstStyle/>
                    <a:p>
                      <a:pPr marL="0" marR="0" lvl="0" indent="0" algn="ctr" rtl="0">
                        <a:spcBef>
                          <a:spcPts val="0"/>
                        </a:spcBef>
                        <a:spcAft>
                          <a:spcPts val="0"/>
                        </a:spcAft>
                        <a:buNone/>
                      </a:pPr>
                      <a:r>
                        <a:rPr lang="en-US" altLang="ko-KR" sz="800" b="1" dirty="0"/>
                        <a:t>35</a:t>
                      </a:r>
                      <a:r>
                        <a:rPr lang="en-US" sz="800" b="0" dirty="0"/>
                        <a:t>(</a:t>
                      </a:r>
                      <a:r>
                        <a:rPr lang="en-US" altLang="ko-KR" sz="800" b="0" dirty="0"/>
                        <a:t>34</a:t>
                      </a:r>
                      <a:r>
                        <a:rPr lang="en-US" sz="800" b="0" dirty="0"/>
                        <a:t>)</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LAT 91A/01A</a:t>
                      </a:r>
                    </a:p>
                  </a:txBody>
                  <a:tcPr marL="36000" marR="36000" marT="36000" marB="36000" anchor="ctr"/>
                </a:tc>
                <a:tc>
                  <a:txBody>
                    <a:bodyPr/>
                    <a:lstStyle/>
                    <a:p>
                      <a:pPr marL="0" marR="0" lvl="0" indent="0" algn="ctr" rtl="0">
                        <a:spcBef>
                          <a:spcPts val="0"/>
                        </a:spcBef>
                        <a:spcAft>
                          <a:spcPts val="0"/>
                        </a:spcAft>
                        <a:buNone/>
                      </a:pPr>
                      <a:r>
                        <a:rPr lang="en-US" sz="800" b="1" dirty="0"/>
                        <a:t>JD405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35</a:t>
                      </a:r>
                      <a:r>
                        <a:rPr lang="en-US" sz="800" b="0" dirty="0"/>
                        <a:t>(34)</a:t>
                      </a:r>
                    </a:p>
                  </a:txBody>
                  <a:tcPr marL="36000" marR="36000" marT="36000" marB="36000" anchor="ctr"/>
                </a:tc>
                <a:extLst>
                  <a:ext uri="{0D108BD9-81ED-4DB2-BD59-A6C34878D82A}">
                    <a16:rowId xmlns:a16="http://schemas.microsoft.com/office/drawing/2014/main" val="10001"/>
                  </a:ext>
                </a:extLst>
              </a:tr>
              <a:tr h="157969">
                <a:tc>
                  <a:txBody>
                    <a:bodyPr/>
                    <a:lstStyle/>
                    <a:p>
                      <a:pPr marL="0" marR="0" lvl="0" indent="0" algn="ctr" rtl="0">
                        <a:spcBef>
                          <a:spcPts val="0"/>
                        </a:spcBef>
                        <a:spcAft>
                          <a:spcPts val="0"/>
                        </a:spcAft>
                        <a:buNone/>
                      </a:pPr>
                      <a:r>
                        <a:rPr lang="en-US" altLang="ko-KR" sz="800" b="1" dirty="0"/>
                        <a:t>17</a:t>
                      </a:r>
                      <a:r>
                        <a:rPr lang="en-US" sz="800" b="0" dirty="0"/>
                        <a:t>(</a:t>
                      </a:r>
                      <a:r>
                        <a:rPr lang="en-US" altLang="ko-KR" sz="800" b="0" dirty="0"/>
                        <a:t>16</a:t>
                      </a:r>
                      <a:r>
                        <a:rPr lang="en-US" sz="800" b="0" dirty="0"/>
                        <a:t>)</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LAT 81A/11A</a:t>
                      </a:r>
                    </a:p>
                  </a:txBody>
                  <a:tcPr marL="36000" marR="36000" marT="36000" marB="36000" anchor="ctr"/>
                </a:tc>
                <a:tc>
                  <a:txBody>
                    <a:bodyPr/>
                    <a:lstStyle/>
                    <a:p>
                      <a:pPr marL="0" marR="0" lvl="0" indent="0" algn="ctr" rtl="0">
                        <a:spcBef>
                          <a:spcPts val="0"/>
                        </a:spcBef>
                        <a:spcAft>
                          <a:spcPts val="0"/>
                        </a:spcAft>
                        <a:buNone/>
                      </a:pPr>
                      <a:r>
                        <a:rPr lang="en-US" sz="800" b="1" dirty="0"/>
                        <a:t>JD305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17</a:t>
                      </a:r>
                      <a:r>
                        <a:rPr lang="en-US" altLang="ko-Kore-KR" sz="800" b="0" dirty="0"/>
                        <a:t>(16)</a:t>
                      </a:r>
                      <a:endParaRPr sz="800" b="1" dirty="0"/>
                    </a:p>
                  </a:txBody>
                  <a:tcPr marL="36000" marR="36000" marT="36000" marB="36000" anchor="ctr"/>
                </a:tc>
                <a:extLst>
                  <a:ext uri="{0D108BD9-81ED-4DB2-BD59-A6C34878D82A}">
                    <a16:rowId xmlns:a16="http://schemas.microsoft.com/office/drawing/2014/main" val="10002"/>
                  </a:ext>
                </a:extLst>
              </a:tr>
              <a:tr h="157969">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35(27’)      11811’      17(29’)</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57969">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rgbClr val="00B050"/>
                          </a:solidFill>
                        </a:rPr>
                        <a:t>34(27’)      11811’      16(27’)</a:t>
                      </a:r>
                      <a:endParaRPr sz="800" b="0"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57969">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AVBIK R014, LAROP R159, R183 (</a:t>
                      </a:r>
                      <a:r>
                        <a:rPr kumimoji="0" lang="ko-Kore-KR" altLang="en-US" sz="800" b="1" i="0" u="none" strike="noStrike" kern="0" cap="none" spc="0" normalizeH="0" baseline="0" noProof="0" dirty="0">
                          <a:ln>
                            <a:noFill/>
                          </a:ln>
                          <a:solidFill>
                            <a:srgbClr val="C00000"/>
                          </a:solidFill>
                          <a:effectLst/>
                          <a:uLnTx/>
                          <a:uFillTx/>
                          <a:latin typeface="Calibri"/>
                          <a:cs typeface="Calibri"/>
                          <a:sym typeface="Arial"/>
                        </a:rPr>
                        <a:t>두점</a:t>
                      </a:r>
                      <a:r>
                        <a:rPr kumimoji="0" lang="ko-KR" altLang="en-US" sz="800" b="1" i="0" u="none" strike="noStrike" kern="0" cap="none" spc="0" normalizeH="0" baseline="0" noProof="0" dirty="0">
                          <a:ln>
                            <a:noFill/>
                          </a:ln>
                          <a:solidFill>
                            <a:srgbClr val="C00000"/>
                          </a:solidFill>
                          <a:effectLst/>
                          <a:uLnTx/>
                          <a:uFillTx/>
                          <a:latin typeface="Calibri"/>
                          <a:cs typeface="Calibri"/>
                          <a:sym typeface="Arial"/>
                        </a:rPr>
                        <a:t> 연결</a:t>
                      </a:r>
                      <a:r>
                        <a:rPr kumimoji="0" lang="en-US" altLang="ko-KR" sz="800" b="1" i="0" u="none" strike="noStrike" kern="0" cap="none" spc="0" normalizeH="0" baseline="0" noProof="0" dirty="0">
                          <a:ln>
                            <a:noFill/>
                          </a:ln>
                          <a:solidFill>
                            <a:srgbClr val="C00000"/>
                          </a:solidFill>
                          <a:effectLst/>
                          <a:uLnTx/>
                          <a:uFillTx/>
                          <a:latin typeface="Calibri"/>
                          <a:cs typeface="Calibri"/>
                          <a:sym typeface="Arial"/>
                        </a:rPr>
                        <a:t> )</a:t>
                      </a:r>
                      <a:endParaRPr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257286">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35 : S2(5255’), S4(6624’), 17 : S1(5282’), S3(6604’)</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 : R2(5278’), R4(6650’), 16 : R1(5318’), R3(6706’)</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57286">
                <a:tc gridSpan="4">
                  <a:txBody>
                    <a:bodyPr/>
                    <a:lstStyle/>
                    <a:p>
                      <a:pPr marL="0" marR="0" lvl="0" indent="0" algn="ctr" rtl="0">
                        <a:lnSpc>
                          <a:spcPct val="100000"/>
                        </a:lnSpc>
                        <a:spcBef>
                          <a:spcPts val="0"/>
                        </a:spcBef>
                        <a:spcAft>
                          <a:spcPts val="0"/>
                        </a:spcAft>
                        <a:buClr>
                          <a:schemeClr val="dk1"/>
                        </a:buClr>
                        <a:buSzPts val="800"/>
                        <a:buFont typeface="Calibri"/>
                        <a:buNone/>
                      </a:pPr>
                      <a:r>
                        <a:rPr lang="ko-KR" altLang="en-US" sz="800" dirty="0">
                          <a:solidFill>
                            <a:srgbClr val="0070C0"/>
                          </a:solidFill>
                        </a:rPr>
                        <a:t>위의 </a:t>
                      </a:r>
                      <a:r>
                        <a:rPr lang="en-US" altLang="ko-KR" sz="800" dirty="0">
                          <a:solidFill>
                            <a:srgbClr val="0070C0"/>
                          </a:solidFill>
                        </a:rPr>
                        <a:t>Point </a:t>
                      </a:r>
                      <a:r>
                        <a:rPr lang="ko-KR" altLang="en-US" sz="800" dirty="0">
                          <a:solidFill>
                            <a:srgbClr val="0070C0"/>
                          </a:solidFill>
                        </a:rPr>
                        <a:t>불가시 </a:t>
                      </a:r>
                      <a:r>
                        <a:rPr lang="en-US" altLang="ko-KR" sz="800" dirty="0">
                          <a:solidFill>
                            <a:srgbClr val="0070C0"/>
                          </a:solidFill>
                        </a:rPr>
                        <a:t>TWR</a:t>
                      </a:r>
                      <a:r>
                        <a:rPr lang="ko-KR" altLang="en-US" sz="800" dirty="0">
                          <a:solidFill>
                            <a:srgbClr val="0070C0"/>
                          </a:solidFill>
                        </a:rPr>
                        <a:t> 보고</a:t>
                      </a:r>
                      <a:r>
                        <a:rPr lang="en-US" altLang="ko-KR" sz="800" dirty="0"/>
                        <a:t>,  </a:t>
                      </a:r>
                      <a:r>
                        <a:rPr lang="en-US" altLang="ko-KR" sz="800" dirty="0">
                          <a:solidFill>
                            <a:srgbClr val="FF0000"/>
                          </a:solidFill>
                        </a:rPr>
                        <a:t>Apron CTC </a:t>
                      </a:r>
                      <a:r>
                        <a:rPr lang="ko-KR" altLang="en-US" sz="800" dirty="0">
                          <a:solidFill>
                            <a:srgbClr val="FF0000"/>
                          </a:solidFill>
                        </a:rPr>
                        <a:t>주의</a:t>
                      </a:r>
                      <a:endParaRPr lang="en-US" altLang="ko-KR" sz="800" dirty="0">
                        <a:solidFill>
                          <a:srgbClr val="FF0000"/>
                        </a:solidFill>
                      </a:endParaRPr>
                    </a:p>
                    <a:p>
                      <a:pPr marL="0" marR="0" lvl="0" indent="0" algn="ctr" rtl="0">
                        <a:lnSpc>
                          <a:spcPct val="100000"/>
                        </a:lnSpc>
                        <a:spcBef>
                          <a:spcPts val="0"/>
                        </a:spcBef>
                        <a:spcAft>
                          <a:spcPts val="0"/>
                        </a:spcAft>
                        <a:buClr>
                          <a:schemeClr val="dk1"/>
                        </a:buClr>
                        <a:buSzPts val="800"/>
                        <a:buFont typeface="Calibri"/>
                        <a:buNone/>
                      </a:pPr>
                      <a:r>
                        <a:rPr lang="en-US" altLang="ko-KR" sz="800" dirty="0"/>
                        <a:t> </a:t>
                      </a:r>
                      <a:r>
                        <a:rPr lang="en-US" sz="800" dirty="0"/>
                        <a:t>Follow Me Car on </a:t>
                      </a:r>
                      <a:r>
                        <a:rPr lang="en-US" sz="800" dirty="0" err="1"/>
                        <a:t>Lxx</a:t>
                      </a:r>
                      <a:r>
                        <a:rPr lang="en-US" sz="800" dirty="0"/>
                        <a:t> APU off Procedure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897201385"/>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ZSQD(TAO) 30ft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2354A7B-36AB-097D-3F10-173DF5226C8D}"/>
              </a:ext>
            </a:extLst>
          </p:cNvPr>
          <p:cNvSpPr/>
          <p:nvPr/>
        </p:nvSpPr>
        <p:spPr>
          <a:xfrm>
            <a:off x="1651787" y="337394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BC6CC48E-992D-2E1B-2E89-6F444175F83D}"/>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8154328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9190E0B1-16E2-F3B3-F774-AFEF578BCE99}"/>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0141043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925535433"/>
              </p:ext>
            </p:extLst>
          </p:nvPr>
        </p:nvGraphicFramePr>
        <p:xfrm>
          <a:off x="-4046" y="706220"/>
          <a:ext cx="2335723" cy="186457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05603">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1">
                  <a:txBody>
                    <a:bodyPr/>
                    <a:lstStyle/>
                    <a:p>
                      <a:pPr marL="0" marR="0" lvl="0" indent="0" algn="ctr" rtl="0">
                        <a:spcBef>
                          <a:spcPts val="0"/>
                        </a:spcBef>
                        <a:spcAft>
                          <a:spcPts val="0"/>
                        </a:spcAft>
                        <a:buNone/>
                      </a:pPr>
                      <a:r>
                        <a:rPr lang="en-US" sz="800" u="none" strike="noStrike" cap="none" dirty="0"/>
                        <a:t>TAO : SID (NADP 1) </a:t>
                      </a:r>
                      <a:r>
                        <a:rPr lang="en-US" sz="800" u="none" strike="noStrike" cap="none" dirty="0">
                          <a:solidFill>
                            <a:srgbClr val="FFC000"/>
                          </a:solidFill>
                        </a:rPr>
                        <a:t>Walk Around Ramp Pass &amp; PW</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34</a:t>
                      </a:r>
                      <a:endParaRPr lang="en-US" sz="800" b="1" u="none" strike="noStrike" cap="none" dirty="0"/>
                    </a:p>
                    <a:p>
                      <a:pPr marL="0" marR="0" lvl="0" indent="0" algn="ctr" rtl="0">
                        <a:spcBef>
                          <a:spcPts val="0"/>
                        </a:spcBef>
                        <a:spcAft>
                          <a:spcPts val="0"/>
                        </a:spcAft>
                        <a:buNone/>
                      </a:pPr>
                      <a:r>
                        <a:rPr lang="en-US" sz="800" b="0" u="none" strike="noStrike" cap="none" dirty="0"/>
                        <a:t>(</a:t>
                      </a:r>
                      <a:r>
                        <a:rPr lang="en-US" altLang="ko-KR" sz="800" b="0" u="none" strike="noStrike" cap="none" dirty="0"/>
                        <a:t>35</a:t>
                      </a:r>
                      <a:r>
                        <a:rPr lang="en-US" sz="800" b="0" u="none" strike="noStrike" cap="none" dirty="0"/>
                        <a:t>)</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LAT 91D/01D</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350</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350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 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350</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16</a:t>
                      </a:r>
                    </a:p>
                    <a:p>
                      <a:pPr marL="0" marR="0" lvl="0" indent="0" algn="ctr" rtl="0">
                        <a:spcBef>
                          <a:spcPts val="0"/>
                        </a:spcBef>
                        <a:spcAft>
                          <a:spcPts val="0"/>
                        </a:spcAft>
                        <a:buNone/>
                      </a:pPr>
                      <a:r>
                        <a:rPr lang="en-US" sz="800" b="0" u="none" strike="noStrike" cap="none" dirty="0"/>
                        <a:t>(17)</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LAT 81D/11D</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170</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170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 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170</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JDG 114.45</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17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110.15</a:t>
                      </a:r>
                      <a:endParaRPr dirty="0"/>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35 109.75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16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111.9</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34 108.55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a:solidFill>
                            <a:schemeClr val="lt1"/>
                          </a:solidFill>
                        </a:rPr>
                        <a:t>HUD</a:t>
                      </a:r>
                      <a:endParaRPr sz="800" u="none" strike="noStrike" cap="none">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34(27’)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35(27’)</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11811’</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16(27’)</a:t>
                      </a:r>
                    </a:p>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17(29’)</a:t>
                      </a: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1">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FIX : AVBIK R014, LAROP R159, R183 (</a:t>
                      </a:r>
                      <a:r>
                        <a:rPr kumimoji="0" lang="ko-KR" altLang="en-US" sz="800" b="0" i="0" u="none" strike="noStrike" kern="0" cap="none" spc="0" normalizeH="0" baseline="0" noProof="0" dirty="0" err="1">
                          <a:ln>
                            <a:noFill/>
                          </a:ln>
                          <a:solidFill>
                            <a:srgbClr val="000000"/>
                          </a:solidFill>
                          <a:effectLst/>
                          <a:uLnTx/>
                          <a:uFillTx/>
                          <a:latin typeface="Calibri"/>
                          <a:cs typeface="Calibri"/>
                          <a:sym typeface="Arial"/>
                        </a:rPr>
                        <a:t>두점</a:t>
                      </a:r>
                      <a:r>
                        <a:rPr kumimoji="0" lang="ko-KR" altLang="en-US" sz="800" b="0" i="0" u="none" strike="noStrike" kern="0" cap="none" spc="0" normalizeH="0" baseline="0" noProof="0" dirty="0">
                          <a:ln>
                            <a:noFill/>
                          </a:ln>
                          <a:solidFill>
                            <a:srgbClr val="000000"/>
                          </a:solidFill>
                          <a:effectLst/>
                          <a:uLnTx/>
                          <a:uFillTx/>
                          <a:latin typeface="Calibri"/>
                          <a:cs typeface="Calibri"/>
                          <a:sym typeface="Arial"/>
                        </a:rPr>
                        <a:t> 연결</a:t>
                      </a:r>
                      <a:r>
                        <a:rPr kumimoji="0" lang="en-US" altLang="ko-KR" sz="800" b="0" i="0" u="none" strike="noStrike" kern="0" cap="none" spc="0" normalizeH="0" baseline="0" noProof="0" dirty="0">
                          <a:ln>
                            <a:noFill/>
                          </a:ln>
                          <a:solidFill>
                            <a:srgbClr val="000000"/>
                          </a:solidFill>
                          <a:effectLst/>
                          <a:uLnTx/>
                          <a:uFillTx/>
                          <a:latin typeface="Calibri"/>
                          <a:cs typeface="Calibri"/>
                          <a:sym typeface="Arial"/>
                        </a:rPr>
                        <a:t>)</a:t>
                      </a:r>
                      <a:endParaRPr kumimoji="0" lang="ko-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236188796"/>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Heading 190, Join W209 -&gt;  DCT LATUX CRS 148</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622359418"/>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ZSQD(TAO) 30ft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endParaRPr dirty="0"/>
                    </a:p>
                    <a:p>
                      <a:pPr marL="0" marR="0" lvl="0" indent="0" algn="ctr" rtl="0">
                        <a:spcBef>
                          <a:spcPts val="0"/>
                        </a:spcBef>
                        <a:spcAft>
                          <a:spcPts val="0"/>
                        </a:spcAft>
                        <a:buNone/>
                      </a:pPr>
                      <a:r>
                        <a:rPr lang="en-US" sz="700" dirty="0">
                          <a:solidFill>
                            <a:srgbClr val="FF0000"/>
                          </a:solidFill>
                        </a:rPr>
                        <a:t>DCL </a:t>
                      </a:r>
                      <a:r>
                        <a:rPr lang="ko-KR" altLang="en-US" sz="700" dirty="0">
                          <a:solidFill>
                            <a:srgbClr val="FF0000"/>
                          </a:solidFill>
                        </a:rPr>
                        <a:t>가능</a:t>
                      </a:r>
                      <a:r>
                        <a:rPr lang="en-US" sz="700" dirty="0">
                          <a:solidFill>
                            <a:srgbClr val="FF0000"/>
                          </a:solidFill>
                        </a:rPr>
                        <a:t>, No READ BACK!</a:t>
                      </a:r>
                    </a:p>
                    <a:p>
                      <a:pPr marL="0" marR="0" lvl="0" indent="0" algn="ctr" rtl="0">
                        <a:spcBef>
                          <a:spcPts val="0"/>
                        </a:spcBef>
                        <a:spcAft>
                          <a:spcPts val="0"/>
                        </a:spcAft>
                        <a:buNone/>
                      </a:pPr>
                      <a:r>
                        <a:rPr lang="en-US" sz="700" dirty="0">
                          <a:solidFill>
                            <a:srgbClr val="FF0000"/>
                          </a:solidFill>
                        </a:rPr>
                        <a:t>(Voice 10</a:t>
                      </a:r>
                      <a:r>
                        <a:rPr lang="ko-KR" altLang="en-US" sz="700" dirty="0">
                          <a:solidFill>
                            <a:srgbClr val="FF0000"/>
                          </a:solidFill>
                        </a:rPr>
                        <a:t>분전</a:t>
                      </a:r>
                      <a:r>
                        <a:rPr lang="en-US" altLang="ko-KR" sz="700" dirty="0">
                          <a:solidFill>
                            <a:srgbClr val="FF0000"/>
                          </a:solidFill>
                        </a:rPr>
                        <a:t> </a:t>
                      </a:r>
                      <a:r>
                        <a:rPr lang="ko-KR" altLang="en-US" sz="700" dirty="0" err="1">
                          <a:solidFill>
                            <a:srgbClr val="FF0000"/>
                          </a:solidFill>
                        </a:rPr>
                        <a:t>부터</a:t>
                      </a:r>
                      <a:r>
                        <a:rPr lang="en-US" altLang="ko-KR" sz="700" dirty="0">
                          <a:solidFill>
                            <a:srgbClr val="FF0000"/>
                          </a:solidFill>
                        </a:rPr>
                        <a:t>)</a:t>
                      </a:r>
                      <a:endParaRPr sz="700" dirty="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2069" y="2620659"/>
            <a:ext cx="1345240"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APP 119.4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119.73</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TAO</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134.85 – DLC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128.7 – APP 119.75</a:t>
            </a: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extLst>
              <p:ext uri="{D42A27DB-BD31-4B8C-83A1-F6EECF244321}">
                <p14:modId xmlns:p14="http://schemas.microsoft.com/office/powerpoint/2010/main" val="3422518493"/>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8EAD61ED-F06C-861F-DFAF-3517618C08E7}"/>
              </a:ext>
            </a:extLst>
          </p:cNvPr>
          <p:cNvSpPr/>
          <p:nvPr/>
        </p:nvSpPr>
        <p:spPr>
          <a:xfrm>
            <a:off x="1651787" y="3078796"/>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C40C808-0869-8A3B-733B-1D7E7F429E8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086147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92214"/>
            <a:ext cx="183736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Final 119.0</a:t>
            </a:r>
          </a:p>
        </p:txBody>
      </p:sp>
      <p:graphicFrame>
        <p:nvGraphicFramePr>
          <p:cNvPr id="291" name="Google Shape;291;p18"/>
          <p:cNvGraphicFramePr/>
          <p:nvPr>
            <p:extLst>
              <p:ext uri="{D42A27DB-BD31-4B8C-83A1-F6EECF244321}">
                <p14:modId xmlns:p14="http://schemas.microsoft.com/office/powerpoint/2010/main" val="3311536212"/>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494330361"/>
              </p:ext>
            </p:extLst>
          </p:nvPr>
        </p:nvGraphicFramePr>
        <p:xfrm>
          <a:off x="4472" y="3705686"/>
          <a:ext cx="2333879" cy="1819000"/>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683738">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PEK : STAR </a:t>
                      </a:r>
                      <a:r>
                        <a:rPr lang="en-US" sz="800" dirty="0">
                          <a:solidFill>
                            <a:schemeClr val="accent4"/>
                          </a:solidFill>
                        </a:rPr>
                        <a:t>(RW01/19 main (RW36L/18R))</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01</a:t>
                      </a:r>
                      <a:r>
                        <a:rPr lang="en-US" sz="800" b="0" dirty="0"/>
                        <a:t>(36L)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a:t>
                      </a:r>
                      <a:r>
                        <a:rPr lang="en-US" sz="800" b="1" dirty="0" err="1"/>
                        <a:t>xZA</a:t>
                      </a:r>
                      <a:endParaRPr lang="en-US" sz="800" b="1" dirty="0"/>
                    </a:p>
                  </a:txBody>
                  <a:tcPr marL="36000" marR="36000" marT="36000" marB="36000" anchor="ctr"/>
                </a:tc>
                <a:tc>
                  <a:txBody>
                    <a:bodyPr/>
                    <a:lstStyle/>
                    <a:p>
                      <a:pPr marL="0" marR="0" lvl="0" indent="0" algn="ctr" rtl="0">
                        <a:spcBef>
                          <a:spcPts val="0"/>
                        </a:spcBef>
                        <a:spcAft>
                          <a:spcPts val="0"/>
                        </a:spcAft>
                        <a:buNone/>
                      </a:pPr>
                      <a:r>
                        <a:rPr lang="en-US" sz="800" b="1" dirty="0"/>
                        <a:t>AA421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01</a:t>
                      </a:r>
                      <a:r>
                        <a:rPr lang="en-US" sz="800" b="0" dirty="0"/>
                        <a:t>(Y 36L)</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19</a:t>
                      </a:r>
                      <a:r>
                        <a:rPr lang="en-US" sz="800" b="0" dirty="0"/>
                        <a:t>(</a:t>
                      </a:r>
                      <a:r>
                        <a:rPr lang="en-US" altLang="ko-KR" sz="800" b="0" dirty="0"/>
                        <a:t>18R)</a:t>
                      </a:r>
                      <a:r>
                        <a:rPr lang="en-US" sz="800" b="0" dirty="0"/>
                        <a:t>)</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a:t>
                      </a:r>
                      <a:r>
                        <a:rPr lang="en-US" altLang="ko-Kore-KR" sz="800" b="1" dirty="0" err="1"/>
                        <a:t>xZA</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AA521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19</a:t>
                      </a:r>
                      <a:r>
                        <a:rPr lang="en-US" altLang="ko-Kore-KR" sz="800" b="0" dirty="0"/>
                        <a:t>(Y 18R)</a:t>
                      </a:r>
                      <a:endParaRPr sz="800" b="1" dirty="0"/>
                    </a:p>
                  </a:txBody>
                  <a:tcPr marL="36000" marR="36000" marT="36000" marB="36000" anchor="ctr"/>
                </a:tc>
                <a:extLst>
                  <a:ext uri="{0D108BD9-81ED-4DB2-BD59-A6C34878D82A}">
                    <a16:rowId xmlns:a16="http://schemas.microsoft.com/office/drawing/2014/main" val="10002"/>
                  </a:ext>
                </a:extLst>
              </a:tr>
              <a:tr h="184957">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01(84’)      12467’      19(94’)</a:t>
                      </a:r>
                      <a:r>
                        <a:rPr lang="ko-KR" altLang="en-US" sz="800" b="1" dirty="0">
                          <a:solidFill>
                            <a:srgbClr val="00B050"/>
                          </a:solidFill>
                        </a:rPr>
                        <a:t> </a:t>
                      </a:r>
                      <a:r>
                        <a:rPr lang="en-US" altLang="ko-KR" sz="800" b="1" dirty="0">
                          <a:solidFill>
                            <a:srgbClr val="C00000"/>
                          </a:solidFill>
                        </a:rPr>
                        <a:t>3.2</a:t>
                      </a:r>
                      <a:r>
                        <a:rPr lang="ko-KR" altLang="en-US" sz="800" b="1" dirty="0">
                          <a:solidFill>
                            <a:srgbClr val="C00000"/>
                          </a:solidFill>
                        </a:rPr>
                        <a:t>도</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rgbClr val="00B050"/>
                          </a:solidFill>
                        </a:rPr>
                        <a:t>36L(107’)      10499’      18R(115’)     </a:t>
                      </a:r>
                      <a:endParaRPr sz="800" b="0"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/8(180kts), /6(160kts)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TMA Max 280kts</a:t>
                      </a:r>
                      <a:endParaRPr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01</a:t>
                      </a:r>
                      <a:r>
                        <a:rPr lang="en-US" sz="800" b="1" dirty="0">
                          <a:solidFill>
                            <a:schemeClr val="dk1"/>
                          </a:solidFill>
                        </a:rPr>
                        <a:t> : Q5(5223’), Q6(7024’), 19 :Q4(5298’), Q3(7103’)</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36L : P6(6276’), P7(7719’), 18R : P3(6223’), P2(7552’)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p>
                      <a:pPr marL="0" marR="0" lvl="0" indent="0" algn="ctr" rtl="0">
                        <a:lnSpc>
                          <a:spcPct val="100000"/>
                        </a:lnSpc>
                        <a:spcBef>
                          <a:spcPts val="0"/>
                        </a:spcBef>
                        <a:spcAft>
                          <a:spcPts val="0"/>
                        </a:spcAft>
                        <a:buClr>
                          <a:schemeClr val="dk1"/>
                        </a:buClr>
                        <a:buSzPts val="800"/>
                        <a:buFont typeface="Calibri"/>
                        <a:buNone/>
                      </a:pPr>
                      <a:r>
                        <a:rPr lang="en-US" altLang="ko-KR" sz="800" dirty="0"/>
                        <a:t>Standard TAXI RTE in Jeppesen Chart</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61046548"/>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ZBAA(PEK) 116ft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 China Beijing</a:t>
                      </a:r>
                    </a:p>
                    <a:p>
                      <a:pPr marL="0" marR="0" lvl="0" indent="0" algn="ctr" rtl="0">
                        <a:spcBef>
                          <a:spcPts val="0"/>
                        </a:spcBef>
                        <a:spcAft>
                          <a:spcPts val="0"/>
                        </a:spcAft>
                        <a:buNone/>
                      </a:pPr>
                      <a:r>
                        <a:rPr lang="en-US" sz="900" dirty="0"/>
                        <a:t>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A2CF453-B95D-2D55-3B07-D90D56DCEB3B}"/>
              </a:ext>
            </a:extLst>
          </p:cNvPr>
          <p:cNvSpPr/>
          <p:nvPr/>
        </p:nvSpPr>
        <p:spPr>
          <a:xfrm>
            <a:off x="1651787" y="337394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4396583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4" name="직사각형 3">
            <a:hlinkClick r:id="" action="ppaction://hlinkshowjump?jump=firstslide"/>
            <a:extLst>
              <a:ext uri="{FF2B5EF4-FFF2-40B4-BE49-F238E27FC236}">
                <a16:creationId xmlns:a16="http://schemas.microsoft.com/office/drawing/2014/main" id="{1FA0CAED-C5B8-22A0-6822-26CDA4767514}"/>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479959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985096044"/>
              </p:ext>
            </p:extLst>
          </p:nvPr>
        </p:nvGraphicFramePr>
        <p:xfrm>
          <a:off x="-4046" y="796960"/>
          <a:ext cx="2335723" cy="179257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05603">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1">
                  <a:txBody>
                    <a:bodyPr/>
                    <a:lstStyle/>
                    <a:p>
                      <a:pPr marL="0" marR="0" lvl="0" indent="0" algn="ctr" rtl="0">
                        <a:spcBef>
                          <a:spcPts val="0"/>
                        </a:spcBef>
                        <a:spcAft>
                          <a:spcPts val="0"/>
                        </a:spcAft>
                        <a:buNone/>
                      </a:pPr>
                      <a:r>
                        <a:rPr lang="en-US" sz="800" u="none" strike="noStrike" cap="none" dirty="0"/>
                        <a:t>PEK : SID (NADP 1)  </a:t>
                      </a:r>
                      <a:r>
                        <a:rPr lang="en-US" sz="800" u="none" strike="noStrike" cap="none" dirty="0">
                          <a:solidFill>
                            <a:schemeClr val="accent4"/>
                          </a:solidFill>
                        </a:rPr>
                        <a:t>RW36R/18L </a:t>
                      </a:r>
                      <a:r>
                        <a:rPr lang="en-US" sz="800" u="none" strike="noStrike" cap="none" dirty="0" err="1">
                          <a:solidFill>
                            <a:schemeClr val="accent4"/>
                          </a:solidFill>
                        </a:rPr>
                        <a:t>Intersec</a:t>
                      </a:r>
                      <a:r>
                        <a:rPr lang="en-US" sz="800" u="none" strike="noStrike" cap="none" dirty="0">
                          <a:solidFill>
                            <a:schemeClr val="accent4"/>
                          </a:solidFill>
                        </a:rPr>
                        <a:t> T/O W2, W7</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36R</a:t>
                      </a:r>
                      <a:endParaRPr lang="en-US" sz="800" b="1" u="none" strike="noStrike" cap="none" dirty="0"/>
                    </a:p>
                    <a:p>
                      <a:pPr marL="0" marR="0" lvl="0" indent="0" algn="ctr" rtl="0">
                        <a:spcBef>
                          <a:spcPts val="0"/>
                        </a:spcBef>
                        <a:spcAft>
                          <a:spcPts val="0"/>
                        </a:spcAft>
                        <a:buNone/>
                      </a:pPr>
                      <a:r>
                        <a:rPr lang="en-US" sz="800" b="0" u="none" strike="noStrike" cap="none" dirty="0"/>
                        <a:t>(01)</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MUGLO </a:t>
                      </a:r>
                      <a:r>
                        <a:rPr lang="en-US" sz="800" b="1" u="none" strike="noStrike" cap="none" dirty="0" err="1">
                          <a:solidFill>
                            <a:srgbClr val="0070C0"/>
                          </a:solidFill>
                        </a:rPr>
                        <a:t>xWD</a:t>
                      </a:r>
                      <a:r>
                        <a:rPr lang="en-US" sz="800" b="1" u="none" strike="noStrike" cap="none" dirty="0">
                          <a:solidFill>
                            <a:srgbClr val="0070C0"/>
                          </a:solidFill>
                        </a:rPr>
                        <a:t>(</a:t>
                      </a:r>
                      <a:r>
                        <a:rPr lang="en-US" sz="800" b="1" u="none" strike="noStrike" cap="none" dirty="0" err="1">
                          <a:solidFill>
                            <a:srgbClr val="0070C0"/>
                          </a:solidFill>
                        </a:rPr>
                        <a:t>xYD</a:t>
                      </a:r>
                      <a:r>
                        <a:rPr lang="en-US"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359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359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359</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18L</a:t>
                      </a:r>
                    </a:p>
                    <a:p>
                      <a:pPr marL="0" marR="0" lvl="0" indent="0" algn="ctr" rtl="0">
                        <a:spcBef>
                          <a:spcPts val="0"/>
                        </a:spcBef>
                        <a:spcAft>
                          <a:spcPts val="0"/>
                        </a:spcAft>
                        <a:buNone/>
                      </a:pPr>
                      <a:r>
                        <a:rPr lang="en-US" sz="800" b="0" u="none" strike="noStrike" cap="none" dirty="0"/>
                        <a:t>(19)</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MUGLO </a:t>
                      </a:r>
                      <a:r>
                        <a:rPr lang="en-US" altLang="ko-Kore-KR" sz="800" b="1" u="none" strike="noStrike" cap="none" dirty="0" err="1">
                          <a:solidFill>
                            <a:srgbClr val="0070C0"/>
                          </a:solidFill>
                        </a:rPr>
                        <a:t>xZD</a:t>
                      </a:r>
                      <a:r>
                        <a:rPr lang="en-US" altLang="ko-Kore-KR" sz="800" b="1" u="none" strike="noStrike" cap="none" dirty="0">
                          <a:solidFill>
                            <a:srgbClr val="0070C0"/>
                          </a:solidFill>
                        </a:rPr>
                        <a:t>(</a:t>
                      </a:r>
                      <a:r>
                        <a:rPr lang="en-US" altLang="ko-Kore-KR" sz="800" b="1" u="none" strike="noStrike" cap="none" dirty="0" err="1">
                          <a:solidFill>
                            <a:srgbClr val="0070C0"/>
                          </a:solidFill>
                        </a:rPr>
                        <a:t>xYD</a:t>
                      </a:r>
                      <a:r>
                        <a:rPr lang="en-US" altLang="ko-Kore-KR" sz="800" b="1" u="none" strike="noStrike" cap="none" dirty="0">
                          <a:solidFill>
                            <a:srgbClr val="0070C0"/>
                          </a:solidFill>
                        </a:rPr>
                        <a:t>)</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179</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179</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179</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PEK 114.7</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36R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111.55</a:t>
                      </a:r>
                      <a:endParaRPr dirty="0"/>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01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108.5</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rgbClr val="0070C0"/>
                        </a:buClr>
                        <a:buSzPts val="800"/>
                        <a:buFont typeface="Calibri"/>
                        <a:buNone/>
                      </a:pPr>
                      <a:r>
                        <a:rPr lang="en-US" sz="800" b="0" u="none" strike="noStrike" cap="none" dirty="0">
                          <a:solidFill>
                            <a:schemeClr val="tx1"/>
                          </a:solidFill>
                        </a:rPr>
                        <a:t>36R : PEK 325/11, 36L : PEK 326/13, 01 : PEK 323/9 R124</a:t>
                      </a:r>
                      <a:endParaRPr sz="800" b="0" u="none" strike="noStrike" cap="none" dirty="0">
                        <a:solidFill>
                          <a:schemeClr val="tx1"/>
                        </a:solidFill>
                      </a:endParaRP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186816789"/>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36R(98’)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01(84’)</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18L(110’)</a:t>
                      </a:r>
                    </a:p>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19(94’)</a:t>
                      </a: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COBT from ATIS “Enroute”, Bad </a:t>
                      </a:r>
                      <a:r>
                        <a:rPr lang="en-US" sz="800" b="1" u="none" strike="noStrike" cap="none" dirty="0" err="1">
                          <a:solidFill>
                            <a:srgbClr val="0070C0"/>
                          </a:solidFill>
                        </a:rPr>
                        <a:t>Wx</a:t>
                      </a:r>
                      <a:r>
                        <a:rPr lang="en-US" sz="800" b="1" u="none" strike="noStrike" cap="none" dirty="0">
                          <a:solidFill>
                            <a:srgbClr val="0070C0"/>
                          </a:solidFill>
                        </a:rPr>
                        <a:t> DOTRA SID</a:t>
                      </a:r>
                      <a:endParaRPr b="1"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190694353"/>
              </p:ext>
            </p:extLst>
          </p:nvPr>
        </p:nvGraphicFramePr>
        <p:xfrm>
          <a:off x="-2501" y="16504"/>
          <a:ext cx="2328850" cy="77273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ZBAA(PEK) 116ft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Beijing 132.0</a:t>
                      </a:r>
                      <a:endParaRPr sz="1200" dirty="0"/>
                    </a:p>
                    <a:p>
                      <a:pPr marL="0" marR="0" lvl="0" indent="0" algn="ctr" rtl="0">
                        <a:spcBef>
                          <a:spcPts val="0"/>
                        </a:spcBef>
                        <a:spcAft>
                          <a:spcPts val="0"/>
                        </a:spcAft>
                        <a:buNone/>
                      </a:pPr>
                      <a:r>
                        <a:rPr lang="en-US" sz="700" dirty="0">
                          <a:solidFill>
                            <a:srgbClr val="FF0000"/>
                          </a:solidFill>
                        </a:rPr>
                        <a:t>DCL 30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10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(COBT/STD 15</a:t>
                      </a:r>
                      <a:r>
                        <a:rPr lang="ko-KR" altLang="en-US" sz="700" dirty="0">
                          <a:solidFill>
                            <a:srgbClr val="FF0000"/>
                          </a:solidFill>
                        </a:rPr>
                        <a:t>분 차이  </a:t>
                      </a:r>
                      <a:r>
                        <a:rPr lang="en-US" altLang="ko-KR" sz="700" dirty="0">
                          <a:solidFill>
                            <a:srgbClr val="FF0000"/>
                          </a:solidFill>
                        </a:rPr>
                        <a:t>CTC Comm)</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998160" y="2492153"/>
            <a:ext cx="141256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124.4</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APP 120.6 – 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extLst>
              <p:ext uri="{D42A27DB-BD31-4B8C-83A1-F6EECF244321}">
                <p14:modId xmlns:p14="http://schemas.microsoft.com/office/powerpoint/2010/main" val="341255686"/>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3" name="그림 2" descr="텍스트, 지도, 도표, 라인이(가) 표시된 사진&#10;&#10;자동 생성된 설명">
            <a:extLst>
              <a:ext uri="{FF2B5EF4-FFF2-40B4-BE49-F238E27FC236}">
                <a16:creationId xmlns:a16="http://schemas.microsoft.com/office/drawing/2014/main" id="{9995A052-72E8-21E5-F8B4-8A7F91B0B578}"/>
              </a:ext>
            </a:extLst>
          </p:cNvPr>
          <p:cNvPicPr>
            <a:picLocks noChangeAspect="1"/>
          </p:cNvPicPr>
          <p:nvPr/>
        </p:nvPicPr>
        <p:blipFill>
          <a:blip r:embed="rId5"/>
          <a:stretch>
            <a:fillRect/>
          </a:stretch>
        </p:blipFill>
        <p:spPr>
          <a:xfrm>
            <a:off x="0" y="2557950"/>
            <a:ext cx="1029898" cy="855481"/>
          </a:xfrm>
          <a:prstGeom prst="rect">
            <a:avLst/>
          </a:prstGeom>
        </p:spPr>
      </p:pic>
      <p:sp>
        <p:nvSpPr>
          <p:cNvPr id="6" name="직사각형 5">
            <a:hlinkClick r:id="" action="ppaction://hlinkshowjump?jump=firstslide"/>
            <a:extLst>
              <a:ext uri="{FF2B5EF4-FFF2-40B4-BE49-F238E27FC236}">
                <a16:creationId xmlns:a16="http://schemas.microsoft.com/office/drawing/2014/main" id="{1C874613-6EE6-9A80-422F-0BB8DBCAA89B}"/>
              </a:ext>
            </a:extLst>
          </p:cNvPr>
          <p:cNvSpPr/>
          <p:nvPr/>
        </p:nvSpPr>
        <p:spPr>
          <a:xfrm>
            <a:off x="1663361" y="314824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6010626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56248"/>
            <a:ext cx="229101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 – 135.65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134.325(128.775)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SHE</a:t>
            </a:r>
            <a:r>
              <a:rPr kumimoji="1" lang="en-US" altLang="ko-Kore-KR" sz="700" b="1" u="sng" dirty="0">
                <a:solidFill>
                  <a:srgbClr val="0070C0"/>
                </a:solidFill>
                <a:latin typeface="Gulim" panose="020B0600000101010101" pitchFamily="34" charset="-127"/>
                <a:ea typeface="Gulim" panose="020B0600000101010101" pitchFamily="34" charset="-127"/>
              </a:rPr>
              <a:t> APP 12</a:t>
            </a:r>
            <a:r>
              <a:rPr kumimoji="1" lang="en-US" altLang="ko-KR" sz="700" b="1" u="sng" dirty="0">
                <a:solidFill>
                  <a:srgbClr val="0070C0"/>
                </a:solidFill>
                <a:latin typeface="Gulim" panose="020B0600000101010101" pitchFamily="34" charset="-127"/>
                <a:ea typeface="Gulim" panose="020B0600000101010101" pitchFamily="34" charset="-127"/>
              </a:rPr>
              <a:t>5.55</a:t>
            </a:r>
            <a:r>
              <a:rPr kumimoji="1" lang="en-US" altLang="ko-Kore-KR" sz="700" b="1" u="sng" dirty="0">
                <a:solidFill>
                  <a:srgbClr val="0070C0"/>
                </a:solidFill>
                <a:latin typeface="Gulim" panose="020B0600000101010101" pitchFamily="34" charset="-127"/>
                <a:ea typeface="Gulim" panose="020B0600000101010101" pitchFamily="34" charset="-127"/>
              </a:rPr>
              <a:t> – </a:t>
            </a:r>
            <a:r>
              <a:rPr kumimoji="1" lang="en-US" altLang="ko-KR" sz="700" b="1" u="sng" dirty="0">
                <a:solidFill>
                  <a:srgbClr val="0070C0"/>
                </a:solidFill>
                <a:latin typeface="Gulim" panose="020B0600000101010101" pitchFamily="34" charset="-127"/>
                <a:ea typeface="Gulim" panose="020B0600000101010101" pitchFamily="34" charset="-127"/>
              </a:rPr>
              <a:t>119.825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TWR</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118.1</a:t>
            </a: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1" name="Google Shape;291;p18"/>
          <p:cNvGraphicFramePr/>
          <p:nvPr>
            <p:extLst>
              <p:ext uri="{D42A27DB-BD31-4B8C-83A1-F6EECF244321}">
                <p14:modId xmlns:p14="http://schemas.microsoft.com/office/powerpoint/2010/main" val="3971744343"/>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t>333</a:t>
                      </a:r>
                      <a:endParaRPr sz="458"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1587443432"/>
              </p:ext>
            </p:extLst>
          </p:nvPr>
        </p:nvGraphicFramePr>
        <p:xfrm>
          <a:off x="4472" y="3916715"/>
          <a:ext cx="2307200" cy="1625080"/>
        </p:xfrm>
        <a:graphic>
          <a:graphicData uri="http://schemas.openxmlformats.org/drawingml/2006/table">
            <a:tbl>
              <a:tblPr firstRow="1" bandRow="1">
                <a:noFill/>
                <a:tableStyleId>{A521BE36-7E6F-4EC9-8D66-1CF97A6895EC}</a:tableStyleId>
              </a:tblPr>
              <a:tblGrid>
                <a:gridCol w="422969">
                  <a:extLst>
                    <a:ext uri="{9D8B030D-6E8A-4147-A177-3AD203B41FA5}">
                      <a16:colId xmlns:a16="http://schemas.microsoft.com/office/drawing/2014/main" val="20000"/>
                    </a:ext>
                  </a:extLst>
                </a:gridCol>
                <a:gridCol w="816940">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SHE : STAR </a:t>
                      </a:r>
                      <a:r>
                        <a:rPr lang="en-US" sz="800" dirty="0">
                          <a:solidFill>
                            <a:schemeClr val="accent4"/>
                          </a:solidFill>
                        </a:rPr>
                        <a:t>(CLR Limit TOSID Late Handoff to SHE)</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98270">
                <a:tc>
                  <a:txBody>
                    <a:bodyPr/>
                    <a:lstStyle/>
                    <a:p>
                      <a:pPr marL="0" marR="0" lvl="0" indent="0" algn="ctr" rtl="0">
                        <a:spcBef>
                          <a:spcPts val="0"/>
                        </a:spcBef>
                        <a:spcAft>
                          <a:spcPts val="0"/>
                        </a:spcAft>
                        <a:buNone/>
                      </a:pPr>
                      <a:r>
                        <a:rPr lang="en-US" sz="800" b="1" dirty="0"/>
                        <a:t>0</a:t>
                      </a:r>
                      <a:r>
                        <a:rPr lang="en-US" altLang="ko-KR" sz="800" b="1" dirty="0"/>
                        <a:t>6</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TOSID 62A, 61A </a:t>
                      </a:r>
                      <a:endParaRPr lang="en-US" sz="800" b="0" dirty="0"/>
                    </a:p>
                  </a:txBody>
                  <a:tcPr marL="36000" marR="36000" marT="36000" marB="36000" anchor="ctr"/>
                </a:tc>
                <a:tc>
                  <a:txBody>
                    <a:bodyPr/>
                    <a:lstStyle/>
                    <a:p>
                      <a:pPr marL="0" marR="0" lvl="0" indent="0" algn="ctr" rtl="0">
                        <a:spcBef>
                          <a:spcPts val="0"/>
                        </a:spcBef>
                        <a:spcAft>
                          <a:spcPts val="0"/>
                        </a:spcAft>
                        <a:buNone/>
                      </a:pPr>
                      <a:r>
                        <a:rPr lang="en-US" sz="800" b="1" dirty="0"/>
                        <a:t>TX504</a:t>
                      </a:r>
                    </a:p>
                  </a:txBody>
                  <a:tcPr marL="36000" marR="36000" marT="36000" marB="36000" anchor="ctr"/>
                </a:tc>
                <a:tc>
                  <a:txBody>
                    <a:bodyPr/>
                    <a:lstStyle/>
                    <a:p>
                      <a:pPr marL="0" marR="0" lvl="0" indent="0" algn="ctr" rtl="0">
                        <a:spcBef>
                          <a:spcPts val="0"/>
                        </a:spcBef>
                        <a:spcAft>
                          <a:spcPts val="0"/>
                        </a:spcAft>
                        <a:buNone/>
                      </a:pPr>
                      <a:r>
                        <a:rPr lang="en-US" sz="800" b="1" dirty="0"/>
                        <a:t>ILS Z 06</a:t>
                      </a:r>
                    </a:p>
                  </a:txBody>
                  <a:tcPr marL="36000" marR="36000" marT="36000" marB="36000" anchor="ctr"/>
                </a:tc>
                <a:extLst>
                  <a:ext uri="{0D108BD9-81ED-4DB2-BD59-A6C34878D82A}">
                    <a16:rowId xmlns:a16="http://schemas.microsoft.com/office/drawing/2014/main" val="10001"/>
                  </a:ext>
                </a:extLst>
              </a:tr>
              <a:tr h="181870">
                <a:tc>
                  <a:txBody>
                    <a:bodyPr/>
                    <a:lstStyle/>
                    <a:p>
                      <a:pPr marL="0" marR="0" lvl="0" indent="0" algn="ctr" rtl="0">
                        <a:spcBef>
                          <a:spcPts val="0"/>
                        </a:spcBef>
                        <a:spcAft>
                          <a:spcPts val="0"/>
                        </a:spcAft>
                        <a:buNone/>
                      </a:pPr>
                      <a:r>
                        <a:rPr lang="en-US" altLang="ko-KR" sz="800" b="1" dirty="0"/>
                        <a:t>24</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TOSID 72A, 11A </a:t>
                      </a:r>
                    </a:p>
                  </a:txBody>
                  <a:tcPr marL="36000" marR="36000" marT="36000" marB="36000" anchor="ctr"/>
                </a:tc>
                <a:tc>
                  <a:txBody>
                    <a:bodyPr/>
                    <a:lstStyle/>
                    <a:p>
                      <a:pPr marL="0" marR="0" lvl="0" indent="0" algn="ctr" rtl="0">
                        <a:spcBef>
                          <a:spcPts val="0"/>
                        </a:spcBef>
                        <a:spcAft>
                          <a:spcPts val="0"/>
                        </a:spcAft>
                        <a:buNone/>
                      </a:pPr>
                      <a:r>
                        <a:rPr lang="en-US" sz="800" b="1" dirty="0"/>
                        <a:t>TX662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24</a:t>
                      </a:r>
                      <a:endParaRPr sz="800" b="1" dirty="0"/>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06(170’)          10499’         24(198’)</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6134">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sz="800" b="1" i="0" u="none" strike="noStrike" kern="0" cap="none" spc="0" normalizeH="0" baseline="0" noProof="0" dirty="0">
                          <a:ln>
                            <a:noFill/>
                          </a:ln>
                          <a:solidFill>
                            <a:srgbClr val="FF0000"/>
                          </a:solidFill>
                          <a:effectLst/>
                          <a:uLnTx/>
                          <a:uFillTx/>
                          <a:latin typeface="Calibri"/>
                          <a:cs typeface="Calibri"/>
                          <a:sym typeface="Arial"/>
                        </a:rPr>
                        <a:t>Around TOSID – Present TRK or HDG – CTC SHE CTL </a:t>
                      </a:r>
                      <a:endParaRPr b="1" dirty="0">
                        <a:solidFill>
                          <a:srgbClr val="FF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175910">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06</a:t>
                      </a:r>
                      <a:r>
                        <a:rPr lang="en-US" sz="800" b="1" dirty="0">
                          <a:solidFill>
                            <a:schemeClr val="dk1"/>
                          </a:solidFill>
                        </a:rPr>
                        <a:t> : D(6210’), </a:t>
                      </a:r>
                      <a:r>
                        <a:rPr lang="en-US" sz="800" b="1" dirty="0">
                          <a:solidFill>
                            <a:srgbClr val="0070C0"/>
                          </a:solidFill>
                        </a:rPr>
                        <a:t>C(</a:t>
                      </a:r>
                      <a:r>
                        <a:rPr lang="en-US" sz="800" b="1">
                          <a:solidFill>
                            <a:srgbClr val="0070C0"/>
                          </a:solidFill>
                        </a:rPr>
                        <a:t>7854’), </a:t>
                      </a:r>
                      <a:r>
                        <a:rPr lang="en-US" sz="800" b="1">
                          <a:solidFill>
                            <a:schemeClr val="dk1"/>
                          </a:solidFill>
                        </a:rPr>
                        <a:t>24 </a:t>
                      </a:r>
                      <a:r>
                        <a:rPr lang="en-US" sz="800" b="1" dirty="0">
                          <a:solidFill>
                            <a:schemeClr val="dk1"/>
                          </a:solidFill>
                        </a:rPr>
                        <a:t>: J(6227’), </a:t>
                      </a:r>
                      <a:r>
                        <a:rPr lang="en-US" sz="800" b="1" dirty="0">
                          <a:solidFill>
                            <a:srgbClr val="0070C0"/>
                          </a:solidFill>
                        </a:rPr>
                        <a:t>K(</a:t>
                      </a:r>
                      <a:r>
                        <a:rPr lang="en-US" sz="800" b="1">
                          <a:solidFill>
                            <a:srgbClr val="0070C0"/>
                          </a:solidFill>
                        </a:rPr>
                        <a:t>7864’) - ATC</a:t>
                      </a:r>
                      <a:r>
                        <a:rPr lang="en-US" sz="800">
                          <a:solidFill>
                            <a:srgbClr val="0070C0"/>
                          </a:solidFill>
                        </a:rPr>
                        <a:t> </a:t>
                      </a:r>
                      <a:endParaRPr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06 : HP06(03), 24 : HP06(03) Follow Me Car</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Normally Remain Parking Brake SET!! </a:t>
                      </a:r>
                    </a:p>
                    <a:p>
                      <a:pPr marL="0" marR="0" lvl="0" indent="0" algn="ctr" rtl="0">
                        <a:lnSpc>
                          <a:spcPct val="100000"/>
                        </a:lnSpc>
                        <a:spcBef>
                          <a:spcPts val="0"/>
                        </a:spcBef>
                        <a:spcAft>
                          <a:spcPts val="0"/>
                        </a:spcAft>
                        <a:buClr>
                          <a:schemeClr val="dk1"/>
                        </a:buClr>
                        <a:buSzPts val="800"/>
                        <a:buFont typeface="Calibri"/>
                        <a:buNone/>
                      </a:pPr>
                      <a:r>
                        <a:rPr lang="en-US" sz="800" dirty="0"/>
                        <a:t>APU off Procedure</a:t>
                      </a:r>
                      <a:r>
                        <a:rPr lang="ko-KR" altLang="en-US" sz="800" dirty="0"/>
                        <a:t> </a:t>
                      </a:r>
                      <a:r>
                        <a:rPr lang="en-US" altLang="ko-KR" sz="800" dirty="0"/>
                        <a:t>(GND Air Cond’ &amp; GPU)</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68702482"/>
              </p:ext>
            </p:extLst>
          </p:nvPr>
        </p:nvGraphicFramePr>
        <p:xfrm>
          <a:off x="-2501" y="16504"/>
          <a:ext cx="2328850" cy="5898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ZYTX(SHE) 198ft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altLang="ko-Kore-KR" sz="800" dirty="0"/>
                        <a:t>China Southern Dispatch </a:t>
                      </a:r>
                      <a:r>
                        <a:rPr lang="en-US" altLang="ko-Kore-KR" sz="900" dirty="0"/>
                        <a:t>131.5</a:t>
                      </a:r>
                      <a:endParaRPr lang="en-US" altLang="ko-Kore-KR" sz="1400" dirty="0"/>
                    </a:p>
                  </a:txBody>
                  <a:tcPr marL="36000" marR="36000" marT="36000" marB="36000"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A8A73C37-CF59-7012-0D50-0A8C12736755}"/>
              </a:ext>
            </a:extLst>
          </p:cNvPr>
          <p:cNvSpPr/>
          <p:nvPr/>
        </p:nvSpPr>
        <p:spPr>
          <a:xfrm>
            <a:off x="1651787" y="3530206"/>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14567F3E-FC40-CA1E-0895-08D2D9D7CB93}"/>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95029069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18907048-779E-BBF8-5B86-73A6715D9097}"/>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7129758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632982756"/>
              </p:ext>
            </p:extLst>
          </p:nvPr>
        </p:nvGraphicFramePr>
        <p:xfrm>
          <a:off x="-4046" y="796960"/>
          <a:ext cx="2335723" cy="167065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67003">
                  <a:extLst>
                    <a:ext uri="{9D8B030D-6E8A-4147-A177-3AD203B41FA5}">
                      <a16:colId xmlns:a16="http://schemas.microsoft.com/office/drawing/2014/main" val="20004"/>
                    </a:ext>
                  </a:extLst>
                </a:gridCol>
                <a:gridCol w="61400">
                  <a:extLst>
                    <a:ext uri="{9D8B030D-6E8A-4147-A177-3AD203B41FA5}">
                      <a16:colId xmlns:a16="http://schemas.microsoft.com/office/drawing/2014/main" val="20005"/>
                    </a:ext>
                  </a:extLst>
                </a:gridCol>
                <a:gridCol w="299169">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SHE : SID (NADP 1)  </a:t>
                      </a:r>
                      <a:r>
                        <a:rPr lang="en-US" sz="800" u="none" strike="noStrike" cap="none" dirty="0">
                          <a:solidFill>
                            <a:schemeClr val="accent4"/>
                          </a:solidFill>
                        </a:rPr>
                        <a:t>A2, A8 </a:t>
                      </a:r>
                      <a:r>
                        <a:rPr lang="en-US" sz="800" u="none" strike="noStrike" cap="none" dirty="0" err="1">
                          <a:solidFill>
                            <a:schemeClr val="accent4"/>
                          </a:solidFill>
                        </a:rPr>
                        <a:t>Intersec</a:t>
                      </a:r>
                      <a:r>
                        <a:rPr lang="en-US" sz="800" u="none" strike="noStrike" cap="none" dirty="0">
                          <a:solidFill>
                            <a:schemeClr val="accent4"/>
                          </a:solidFill>
                        </a:rPr>
                        <a:t> T/O by ATC</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06</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TOSID 61,62D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056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056</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056</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24</a:t>
                      </a:r>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TOSID 71,72D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236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236</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ATIS/DCL</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236</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SEY 114.1</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06 110.5</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24 110.3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06(170’) </a:t>
                      </a: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10499’</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24(198’)</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chemeClr val="tx1"/>
                          </a:solidFill>
                        </a:rPr>
                        <a:t>ADT = CTOT See </a:t>
                      </a:r>
                      <a:r>
                        <a:rPr lang="en-US" sz="800" b="1" u="none" strike="noStrike" cap="none" dirty="0" err="1">
                          <a:solidFill>
                            <a:schemeClr val="tx1"/>
                          </a:solidFill>
                        </a:rPr>
                        <a:t>Eroute</a:t>
                      </a:r>
                      <a:r>
                        <a:rPr lang="en-US" sz="800" b="1" u="none" strike="noStrike" cap="none" dirty="0">
                          <a:solidFill>
                            <a:schemeClr val="tx1"/>
                          </a:solidFill>
                        </a:rPr>
                        <a:t> ATIS</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Follow </a:t>
                      </a:r>
                      <a:r>
                        <a:rPr lang="en-US" sz="800" b="1" u="none" strike="noStrike" cap="none" dirty="0" err="1">
                          <a:solidFill>
                            <a:srgbClr val="0070C0"/>
                          </a:solidFill>
                        </a:rPr>
                        <a:t>FollowMe</a:t>
                      </a:r>
                      <a:r>
                        <a:rPr lang="en-US" sz="800" b="1" u="none" strike="noStrike" cap="none" dirty="0">
                          <a:solidFill>
                            <a:srgbClr val="0070C0"/>
                          </a:solidFill>
                        </a:rPr>
                        <a:t> Car Until </a:t>
                      </a:r>
                      <a:r>
                        <a:rPr lang="en-US" sz="800" b="1" u="none" strike="noStrike" cap="none" dirty="0" err="1">
                          <a:solidFill>
                            <a:srgbClr val="0070C0"/>
                          </a:solidFill>
                        </a:rPr>
                        <a:t>HPxx</a:t>
                      </a:r>
                      <a:endParaRPr lang="en-US" sz="800" b="1" u="none" strike="noStrike" cap="none"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Be Careful “Hold short CAT I Hold line”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Maintain Present TRK/HDG Join A588(CRS 217)</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Offset R3 </a:t>
                      </a:r>
                      <a:r>
                        <a:rPr lang="en-US" sz="800" b="0" u="none" strike="noStrike" cap="none" dirty="0">
                          <a:solidFill>
                            <a:schemeClr val="tx1"/>
                          </a:solidFill>
                          <a:sym typeface="Wingdings" pitchFamily="2" charset="2"/>
                        </a:rPr>
                        <a:t> </a:t>
                      </a:r>
                      <a:r>
                        <a:rPr lang="en-US" sz="800" b="0" u="none" strike="noStrike" cap="none" dirty="0">
                          <a:solidFill>
                            <a:schemeClr val="tx1"/>
                          </a:solidFill>
                        </a:rPr>
                        <a:t>Active Fix DCT and EXE again!! </a:t>
                      </a:r>
                      <a:endParaRPr b="0" dirty="0">
                        <a:solidFill>
                          <a:schemeClr val="tx1"/>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058332410"/>
              </p:ext>
            </p:extLst>
          </p:nvPr>
        </p:nvGraphicFramePr>
        <p:xfrm>
          <a:off x="-2501" y="16504"/>
          <a:ext cx="2328850" cy="7879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ZYTX(SHE) 198ft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China Southern Dispatch 131.5</a:t>
                      </a:r>
                      <a:endParaRPr sz="1200" dirty="0"/>
                    </a:p>
                    <a:p>
                      <a:pPr marL="0" marR="0" lvl="0" indent="0" algn="ctr" rtl="0">
                        <a:spcBef>
                          <a:spcPts val="0"/>
                        </a:spcBef>
                        <a:spcAft>
                          <a:spcPts val="0"/>
                        </a:spcAft>
                        <a:buNone/>
                      </a:pPr>
                      <a:r>
                        <a:rPr lang="en-US" altLang="ko-Kore-KR" sz="700" dirty="0">
                          <a:solidFill>
                            <a:srgbClr val="FF0000"/>
                          </a:solidFill>
                        </a:rPr>
                        <a:t>DCL </a:t>
                      </a:r>
                      <a:r>
                        <a:rPr lang="ko-KR" altLang="en-US" sz="700" dirty="0">
                          <a:solidFill>
                            <a:srgbClr val="FF0000"/>
                          </a:solidFill>
                        </a:rPr>
                        <a:t>가능</a:t>
                      </a:r>
                      <a:r>
                        <a:rPr lang="en-US" altLang="ko-KR" sz="700" dirty="0">
                          <a:solidFill>
                            <a:srgbClr val="FF0000"/>
                          </a:solidFill>
                        </a:rPr>
                        <a:t>, 5</a:t>
                      </a:r>
                      <a:r>
                        <a:rPr lang="ko-KR" altLang="en-US" sz="700" dirty="0">
                          <a:solidFill>
                            <a:srgbClr val="FF0000"/>
                          </a:solidFill>
                        </a:rPr>
                        <a:t>분전 </a:t>
                      </a:r>
                      <a:r>
                        <a:rPr lang="en-US" altLang="ko-Kore-KR" sz="700" dirty="0">
                          <a:solidFill>
                            <a:srgbClr val="FF0000"/>
                          </a:solidFill>
                        </a:rPr>
                        <a:t>READ BACK!</a:t>
                      </a:r>
                    </a:p>
                    <a:p>
                      <a:pPr marL="0" marR="0" lvl="0" indent="0" algn="ctr" rtl="0">
                        <a:spcBef>
                          <a:spcPts val="0"/>
                        </a:spcBef>
                        <a:spcAft>
                          <a:spcPts val="0"/>
                        </a:spcAft>
                        <a:buNone/>
                      </a:pPr>
                      <a:r>
                        <a:rPr lang="en-US" altLang="ko-Kore-KR" sz="700" dirty="0">
                          <a:solidFill>
                            <a:srgbClr val="FF0000"/>
                          </a:solidFill>
                        </a:rPr>
                        <a:t>(Voice 10</a:t>
                      </a:r>
                      <a:r>
                        <a:rPr lang="ko-KR" altLang="en-US" sz="700" dirty="0">
                          <a:solidFill>
                            <a:srgbClr val="FF0000"/>
                          </a:solidFill>
                        </a:rPr>
                        <a:t>분전</a:t>
                      </a:r>
                      <a:r>
                        <a:rPr lang="en-US" altLang="ko-KR" sz="700">
                          <a:solidFill>
                            <a:srgbClr val="FF0000"/>
                          </a:solidFill>
                        </a:rPr>
                        <a:t>)</a:t>
                      </a:r>
                      <a:endParaRPr lang="ko-KR" altLang="en-US"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9087" y="2406392"/>
            <a:ext cx="1601721" cy="1017064"/>
          </a:xfrm>
          <a:prstGeom prst="rect">
            <a:avLst/>
          </a:prstGeom>
          <a:noFill/>
        </p:spPr>
        <p:txBody>
          <a:bodyPr wrap="none" tIns="36000" bIns="36000" rtlCol="0" anchor="ctr">
            <a:spAutoFit/>
          </a:bodyPr>
          <a:lstStyle/>
          <a:p>
            <a:pPr>
              <a:lnSpc>
                <a:spcPct val="150000"/>
              </a:lnSpc>
            </a:pPr>
            <a:r>
              <a:rPr kumimoji="1" lang="en-US" altLang="ko-Kore-KR" sz="700" b="1" dirty="0">
                <a:solidFill>
                  <a:srgbClr val="FF0000"/>
                </a:solidFill>
                <a:latin typeface="Gulim" panose="020B0600000101010101" pitchFamily="34" charset="-127"/>
                <a:ea typeface="Gulim" panose="020B0600000101010101" pitchFamily="34" charset="-127"/>
              </a:rPr>
              <a:t>CTC APP without TWR Instruction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119.825 – 125.55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DLC 134.325 – 135.65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132.8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extLst>
              <p:ext uri="{D42A27DB-BD31-4B8C-83A1-F6EECF244321}">
                <p14:modId xmlns:p14="http://schemas.microsoft.com/office/powerpoint/2010/main" val="75403935"/>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1CE2EF10-FF6E-C94B-2725-B3EBD91DA06B}"/>
              </a:ext>
            </a:extLst>
          </p:cNvPr>
          <p:cNvSpPr/>
          <p:nvPr/>
        </p:nvSpPr>
        <p:spPr>
          <a:xfrm>
            <a:off x="1651787" y="305564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3EAA5DA-A424-1E7F-0ED4-BD3DFCBFA1E2}"/>
              </a:ext>
            </a:extLst>
          </p:cNvPr>
          <p:cNvSpPr/>
          <p:nvPr/>
        </p:nvSpPr>
        <p:spPr>
          <a:xfrm>
            <a:off x="897266"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014163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496196"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126.17 – 120.72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a:t>
            </a:r>
            <a:r>
              <a:rPr kumimoji="1" lang="en-US" altLang="ko-KR" sz="700" b="1" u="sng" dirty="0">
                <a:solidFill>
                  <a:srgbClr val="0070C0"/>
                </a:solidFill>
                <a:latin typeface="Gulim" panose="020B0600000101010101" pitchFamily="34" charset="-127"/>
                <a:ea typeface="Gulim" panose="020B0600000101010101" pitchFamily="34" charset="-127"/>
              </a:rPr>
              <a:t>125.62(</a:t>
            </a:r>
            <a:r>
              <a:rPr kumimoji="1" lang="en-US" altLang="ko-Kore-KR" sz="700" b="1" u="sng" dirty="0">
                <a:solidFill>
                  <a:srgbClr val="0070C0"/>
                </a:solidFill>
                <a:latin typeface="Gulim" panose="020B0600000101010101" pitchFamily="34" charset="-127"/>
                <a:ea typeface="Gulim" panose="020B0600000101010101" pitchFamily="34" charset="-127"/>
              </a:rPr>
              <a:t>119.975</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en-US" altLang="ko-Kore-KR" sz="700" b="1" u="sng" dirty="0">
                <a:solidFill>
                  <a:srgbClr val="0070C0"/>
                </a:solidFill>
                <a:latin typeface="Gulim" panose="020B0600000101010101" pitchFamily="34" charset="-127"/>
                <a:ea typeface="Gulim" panose="020B0600000101010101" pitchFamily="34" charset="-127"/>
              </a:rPr>
              <a:t> – 125.4 </a:t>
            </a:r>
          </a:p>
        </p:txBody>
      </p:sp>
      <p:graphicFrame>
        <p:nvGraphicFramePr>
          <p:cNvPr id="291" name="Google Shape;291;p18"/>
          <p:cNvGraphicFramePr/>
          <p:nvPr>
            <p:extLst>
              <p:ext uri="{D42A27DB-BD31-4B8C-83A1-F6EECF244321}">
                <p14:modId xmlns:p14="http://schemas.microsoft.com/office/powerpoint/2010/main" val="2439771858"/>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682451258"/>
              </p:ext>
            </p:extLst>
          </p:nvPr>
        </p:nvGraphicFramePr>
        <p:xfrm>
          <a:off x="4472" y="3705686"/>
          <a:ext cx="2351640" cy="1832803"/>
        </p:xfrm>
        <a:graphic>
          <a:graphicData uri="http://schemas.openxmlformats.org/drawingml/2006/table">
            <a:tbl>
              <a:tblPr firstRow="1" bandRow="1">
                <a:noFill/>
                <a:tableStyleId>{A521BE36-7E6F-4EC9-8D66-1CF97A6895EC}</a:tableStyleId>
              </a:tblPr>
              <a:tblGrid>
                <a:gridCol w="664137">
                  <a:extLst>
                    <a:ext uri="{9D8B030D-6E8A-4147-A177-3AD203B41FA5}">
                      <a16:colId xmlns:a16="http://schemas.microsoft.com/office/drawing/2014/main" val="20000"/>
                    </a:ext>
                  </a:extLst>
                </a:gridCol>
                <a:gridCol w="694403">
                  <a:extLst>
                    <a:ext uri="{9D8B030D-6E8A-4147-A177-3AD203B41FA5}">
                      <a16:colId xmlns:a16="http://schemas.microsoft.com/office/drawing/2014/main" val="20001"/>
                    </a:ext>
                  </a:extLst>
                </a:gridCol>
                <a:gridCol w="430599">
                  <a:extLst>
                    <a:ext uri="{9D8B030D-6E8A-4147-A177-3AD203B41FA5}">
                      <a16:colId xmlns:a16="http://schemas.microsoft.com/office/drawing/2014/main" val="20002"/>
                    </a:ext>
                  </a:extLst>
                </a:gridCol>
                <a:gridCol w="562501">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PVG : STAR </a:t>
                      </a:r>
                      <a:r>
                        <a:rPr lang="en-US" sz="800" b="0" dirty="0">
                          <a:solidFill>
                            <a:srgbClr val="FFC000"/>
                          </a:solidFill>
                        </a:rPr>
                        <a:t>(North of ‘PVGNB’, R-276 Prohibited)</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12073">
                <a:tc>
                  <a:txBody>
                    <a:bodyPr/>
                    <a:lstStyle/>
                    <a:p>
                      <a:pPr marL="0" marR="0" lvl="0" indent="0" algn="ctr" rtl="0">
                        <a:spcBef>
                          <a:spcPts val="0"/>
                        </a:spcBef>
                        <a:spcAft>
                          <a:spcPts val="0"/>
                        </a:spcAft>
                        <a:buNone/>
                      </a:pPr>
                      <a:r>
                        <a:rPr lang="en-US" sz="800" b="1" dirty="0"/>
                        <a:t>34R</a:t>
                      </a:r>
                      <a:r>
                        <a:rPr lang="en-US" sz="800" b="0" dirty="0"/>
                        <a:t>(L)/35L(R)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 91A/92A</a:t>
                      </a:r>
                    </a:p>
                  </a:txBody>
                  <a:tcPr marL="36000" marR="36000" marT="36000" marB="36000" anchor="ctr"/>
                </a:tc>
                <a:tc>
                  <a:txBody>
                    <a:bodyPr/>
                    <a:lstStyle/>
                    <a:p>
                      <a:pPr marL="0" marR="0" lvl="0" indent="0" algn="ctr" rtl="0">
                        <a:spcBef>
                          <a:spcPts val="0"/>
                        </a:spcBef>
                        <a:spcAft>
                          <a:spcPts val="0"/>
                        </a:spcAft>
                        <a:buNone/>
                      </a:pPr>
                      <a:r>
                        <a:rPr lang="en-US" sz="800" b="1" dirty="0"/>
                        <a:t>MP2</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1"/>
                  </a:ext>
                </a:extLst>
              </a:tr>
              <a:tr h="155759">
                <a:tc>
                  <a:txBody>
                    <a:bodyPr/>
                    <a:lstStyle/>
                    <a:p>
                      <a:pPr marL="0" marR="0" lvl="0" indent="0" algn="ctr" rtl="0">
                        <a:spcBef>
                          <a:spcPts val="0"/>
                        </a:spcBef>
                        <a:spcAft>
                          <a:spcPts val="0"/>
                        </a:spcAft>
                        <a:buNone/>
                      </a:pPr>
                      <a:r>
                        <a:rPr lang="en-US" sz="800" b="1" dirty="0"/>
                        <a:t>16L(R)/</a:t>
                      </a:r>
                      <a:r>
                        <a:rPr lang="en-US" sz="800" b="0" dirty="0"/>
                        <a:t>17R(L)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 81A/82A</a:t>
                      </a:r>
                    </a:p>
                  </a:txBody>
                  <a:tcPr marL="36000" marR="36000" marT="36000" marB="36000" anchor="ctr"/>
                </a:tc>
                <a:tc>
                  <a:txBody>
                    <a:bodyPr/>
                    <a:lstStyle/>
                    <a:p>
                      <a:pPr marL="0" marR="0" lvl="0" indent="0" algn="ctr" rtl="0">
                        <a:spcBef>
                          <a:spcPts val="0"/>
                        </a:spcBef>
                        <a:spcAft>
                          <a:spcPts val="0"/>
                        </a:spcAft>
                        <a:buNone/>
                      </a:pPr>
                      <a:r>
                        <a:rPr lang="en-US" sz="800" b="1" dirty="0"/>
                        <a:t>MP1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2"/>
                  </a:ext>
                </a:extLst>
              </a:tr>
              <a:tr h="184957">
                <a:tc rowSpan="3">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34R/L(11’/12’)   12467’  16L/R(12’/11’)</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957">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35R(10’)      13123’     17L(10’)</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84957">
                <a:tc v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35L(12’)      11155’     17R(12’)</a:t>
                      </a: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435666460"/>
                  </a:ext>
                </a:extLst>
              </a:tr>
              <a:tr h="301242">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34R : G4(5603’), G5(6896’), 16L : G3(5577’), G2(6909’)</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35L : D4(5636’), D5(6932’), 17R : D3(5626’), D2(6942’)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Normally DUMET 6000m, </a:t>
                      </a:r>
                      <a:r>
                        <a:rPr lang="en-US" sz="800" dirty="0">
                          <a:solidFill>
                            <a:srgbClr val="0070C0"/>
                          </a:solidFill>
                        </a:rPr>
                        <a:t>ILS Ident /6 160kts</a:t>
                      </a:r>
                      <a:endParaRPr lang="en-US" altLang="ko-KR" sz="800"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dirty="0"/>
                        <a:t>Follow Me Car Insight – TAXI L/T </a:t>
                      </a:r>
                      <a:r>
                        <a:rPr lang="en-US" sz="800" dirty="0" err="1"/>
                        <a:t>off,APU</a:t>
                      </a:r>
                      <a:r>
                        <a:rPr lang="en-US" sz="800" dirty="0"/>
                        <a:t> off Procedure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948310"/>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ZSPD(PVG) 13ft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China Eastern </a:t>
                      </a:r>
                    </a:p>
                    <a:p>
                      <a:pPr marL="0" marR="0" lvl="0" indent="0" algn="ctr" rtl="0">
                        <a:spcBef>
                          <a:spcPts val="0"/>
                        </a:spcBef>
                        <a:spcAft>
                          <a:spcPts val="0"/>
                        </a:spcAft>
                        <a:buNone/>
                      </a:pPr>
                      <a:r>
                        <a:rPr lang="en-US" sz="900" dirty="0"/>
                        <a:t>130.5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F249E7A-A45C-54A1-0C09-872C49733B6D}"/>
              </a:ext>
            </a:extLst>
          </p:cNvPr>
          <p:cNvSpPr/>
          <p:nvPr/>
        </p:nvSpPr>
        <p:spPr>
          <a:xfrm>
            <a:off x="1651787" y="337394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E0FC5CB-5405-69E2-6AEE-ED1D46C77F2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7855555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4BFE20D2-9E22-107A-6D34-D5883DF23365}"/>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2439350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497413401"/>
              </p:ext>
            </p:extLst>
          </p:nvPr>
        </p:nvGraphicFramePr>
        <p:xfrm>
          <a:off x="-4045" y="595076"/>
          <a:ext cx="2300931" cy="2208250"/>
        </p:xfrm>
        <a:graphic>
          <a:graphicData uri="http://schemas.openxmlformats.org/drawingml/2006/table">
            <a:tbl>
              <a:tblPr firstRow="1" bandRow="1">
                <a:noFill/>
                <a:tableStyleId>{A521BE36-7E6F-4EC9-8D66-1CF97A6895EC}</a:tableStyleId>
              </a:tblPr>
              <a:tblGrid>
                <a:gridCol w="327184">
                  <a:extLst>
                    <a:ext uri="{9D8B030D-6E8A-4147-A177-3AD203B41FA5}">
                      <a16:colId xmlns:a16="http://schemas.microsoft.com/office/drawing/2014/main" val="20000"/>
                    </a:ext>
                  </a:extLst>
                </a:gridCol>
                <a:gridCol w="64140">
                  <a:extLst>
                    <a:ext uri="{9D8B030D-6E8A-4147-A177-3AD203B41FA5}">
                      <a16:colId xmlns:a16="http://schemas.microsoft.com/office/drawing/2014/main" val="20001"/>
                    </a:ext>
                  </a:extLst>
                </a:gridCol>
                <a:gridCol w="164703">
                  <a:extLst>
                    <a:ext uri="{9D8B030D-6E8A-4147-A177-3AD203B41FA5}">
                      <a16:colId xmlns:a16="http://schemas.microsoft.com/office/drawing/2014/main" val="20002"/>
                    </a:ext>
                  </a:extLst>
                </a:gridCol>
                <a:gridCol w="414479">
                  <a:extLst>
                    <a:ext uri="{9D8B030D-6E8A-4147-A177-3AD203B41FA5}">
                      <a16:colId xmlns:a16="http://schemas.microsoft.com/office/drawing/2014/main" val="20003"/>
                    </a:ext>
                  </a:extLst>
                </a:gridCol>
                <a:gridCol w="101537">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99187">
                  <a:extLst>
                    <a:ext uri="{9D8B030D-6E8A-4147-A177-3AD203B41FA5}">
                      <a16:colId xmlns:a16="http://schemas.microsoft.com/office/drawing/2014/main" val="20005"/>
                    </a:ext>
                  </a:extLst>
                </a:gridCol>
                <a:gridCol w="287650">
                  <a:extLst>
                    <a:ext uri="{9D8B030D-6E8A-4147-A177-3AD203B41FA5}">
                      <a16:colId xmlns:a16="http://schemas.microsoft.com/office/drawing/2014/main" val="20006"/>
                    </a:ext>
                  </a:extLst>
                </a:gridCol>
                <a:gridCol w="465890">
                  <a:extLst>
                    <a:ext uri="{9D8B030D-6E8A-4147-A177-3AD203B41FA5}">
                      <a16:colId xmlns:a16="http://schemas.microsoft.com/office/drawing/2014/main" val="20007"/>
                    </a:ext>
                  </a:extLst>
                </a:gridCol>
                <a:gridCol w="314761">
                  <a:extLst>
                    <a:ext uri="{9D8B030D-6E8A-4147-A177-3AD203B41FA5}">
                      <a16:colId xmlns:a16="http://schemas.microsoft.com/office/drawing/2014/main" val="448940902"/>
                    </a:ext>
                  </a:extLst>
                </a:gridCol>
              </a:tblGrid>
              <a:tr h="230296">
                <a:tc gridSpan="10">
                  <a:txBody>
                    <a:bodyPr/>
                    <a:lstStyle/>
                    <a:p>
                      <a:pPr marL="0" marR="0" lvl="0" indent="0" algn="ctr" rtl="0">
                        <a:spcBef>
                          <a:spcPts val="0"/>
                        </a:spcBef>
                        <a:spcAft>
                          <a:spcPts val="0"/>
                        </a:spcAft>
                        <a:buNone/>
                      </a:pPr>
                      <a:r>
                        <a:rPr lang="en-US" sz="800" u="none" strike="noStrike" cap="none" dirty="0"/>
                        <a:t>PVG : SID (NADP 1) </a:t>
                      </a:r>
                    </a:p>
                    <a:p>
                      <a:pPr marL="0" marR="0" lvl="0" indent="0" algn="ctr" rtl="0">
                        <a:spcBef>
                          <a:spcPts val="0"/>
                        </a:spcBef>
                        <a:spcAft>
                          <a:spcPts val="0"/>
                        </a:spcAft>
                        <a:buNone/>
                      </a:pPr>
                      <a:r>
                        <a:rPr lang="en-US" sz="800" b="0" u="none" strike="noStrike" cap="none" dirty="0">
                          <a:solidFill>
                            <a:srgbClr val="FFC000"/>
                          </a:solidFill>
                        </a:rPr>
                        <a:t>(ATC Hold Expected Fuel Add!!)</a:t>
                      </a:r>
                      <a:endParaRPr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16937">
                <a:tc>
                  <a:txBody>
                    <a:bodyPr/>
                    <a:lstStyle/>
                    <a:p>
                      <a:pPr marL="0" marR="0" lvl="0" indent="0" algn="ctr" rtl="0">
                        <a:spcBef>
                          <a:spcPts val="0"/>
                        </a:spcBef>
                        <a:spcAft>
                          <a:spcPts val="0"/>
                        </a:spcAft>
                        <a:buNone/>
                      </a:pPr>
                      <a:r>
                        <a:rPr lang="en-US" sz="800" b="1" u="none" strike="noStrike" cap="none" dirty="0"/>
                        <a:t>34L/R</a:t>
                      </a:r>
                    </a:p>
                    <a:p>
                      <a:pPr marL="0" marR="0" lvl="0" indent="0" algn="ctr" rtl="0">
                        <a:spcBef>
                          <a:spcPts val="0"/>
                        </a:spcBef>
                        <a:spcAft>
                          <a:spcPts val="0"/>
                        </a:spcAft>
                        <a:buNone/>
                      </a:pPr>
                      <a:r>
                        <a:rPr lang="en-US" sz="800" b="0" u="none" strike="noStrike" cap="none" dirty="0"/>
                        <a:t>35R/L</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LAM 92D</a:t>
                      </a:r>
                    </a:p>
                    <a:p>
                      <a:pPr marL="0" marR="0" lvl="0" indent="0" algn="ctr" rtl="0">
                        <a:spcBef>
                          <a:spcPts val="0"/>
                        </a:spcBef>
                        <a:spcAft>
                          <a:spcPts val="0"/>
                        </a:spcAft>
                        <a:buNone/>
                      </a:pPr>
                      <a:r>
                        <a:rPr lang="en-US" sz="800" b="0" u="none" strike="noStrike" cap="none" dirty="0">
                          <a:solidFill>
                            <a:srgbClr val="0070C0"/>
                          </a:solidFill>
                        </a:rPr>
                        <a:t>(LAM 91D)</a:t>
                      </a:r>
                      <a:endParaRPr sz="800" b="0" u="none" strike="noStrike" cap="none"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348</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348</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36000" marB="36000" anchor="ctr"/>
                </a:tc>
                <a:tc>
                  <a:txBody>
                    <a:bodyPr/>
                    <a:lstStyle/>
                    <a:p>
                      <a:pPr algn="ctr"/>
                      <a:r>
                        <a:rPr lang="en-US" altLang="ko-Kore-KR" sz="800" b="1" u="none" strike="noStrike" cap="none" dirty="0">
                          <a:solidFill>
                            <a:srgbClr val="C00000"/>
                          </a:solidFill>
                        </a:rPr>
                        <a:t>348</a:t>
                      </a:r>
                      <a:endParaRPr lang="ko-Kore-KR" altLang="en-US" dirty="0"/>
                    </a:p>
                  </a:txBody>
                  <a:tcPr marL="0" marR="0" marT="36000" marB="36000" anchor="ctr"/>
                </a:tc>
                <a:extLst>
                  <a:ext uri="{0D108BD9-81ED-4DB2-BD59-A6C34878D82A}">
                    <a16:rowId xmlns:a16="http://schemas.microsoft.com/office/drawing/2014/main" val="10001"/>
                  </a:ext>
                </a:extLst>
              </a:tr>
              <a:tr h="216937">
                <a:tc>
                  <a:txBody>
                    <a:bodyPr/>
                    <a:lstStyle/>
                    <a:p>
                      <a:pPr marL="0" marR="0" lvl="0" indent="0" algn="ctr" rtl="0">
                        <a:spcBef>
                          <a:spcPts val="0"/>
                        </a:spcBef>
                        <a:spcAft>
                          <a:spcPts val="0"/>
                        </a:spcAft>
                        <a:buNone/>
                      </a:pPr>
                      <a:r>
                        <a:rPr lang="en-US" sz="800" b="1" u="none" strike="noStrike" cap="none" dirty="0"/>
                        <a:t>16R/L</a:t>
                      </a:r>
                    </a:p>
                    <a:p>
                      <a:pPr marL="0" marR="0" lvl="0" indent="0" algn="ctr" rtl="0">
                        <a:spcBef>
                          <a:spcPts val="0"/>
                        </a:spcBef>
                        <a:spcAft>
                          <a:spcPts val="0"/>
                        </a:spcAft>
                        <a:buNone/>
                      </a:pPr>
                      <a:r>
                        <a:rPr lang="en-US" sz="800" b="0" u="none" strike="noStrike" cap="none" dirty="0"/>
                        <a:t>17L/R</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LAM 82D</a:t>
                      </a:r>
                    </a:p>
                    <a:p>
                      <a:pPr marL="0" marR="0" lvl="0" indent="0" algn="ctr" rtl="0">
                        <a:spcBef>
                          <a:spcPts val="0"/>
                        </a:spcBef>
                        <a:spcAft>
                          <a:spcPts val="0"/>
                        </a:spcAft>
                        <a:buNone/>
                      </a:pPr>
                      <a:r>
                        <a:rPr lang="en-US" altLang="ko-Kore-KR" sz="800" b="0" u="none" strike="noStrike" cap="none" dirty="0">
                          <a:solidFill>
                            <a:srgbClr val="0070C0"/>
                          </a:solidFill>
                        </a:rPr>
                        <a:t>(LAM 81D)</a:t>
                      </a: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168</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168</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36000" marB="36000" anchor="ctr"/>
                </a:tc>
                <a:tc>
                  <a:txBody>
                    <a:bodyPr/>
                    <a:lstStyle/>
                    <a:p>
                      <a:pPr algn="ctr"/>
                      <a:r>
                        <a:rPr lang="en-US" sz="800" b="1" u="none" strike="noStrike" cap="none" dirty="0">
                          <a:solidFill>
                            <a:srgbClr val="C00000"/>
                          </a:solidFill>
                        </a:rPr>
                        <a:t>168</a:t>
                      </a:r>
                      <a:endParaRPr lang="ko-Kore-KR" altLang="en-US" dirty="0"/>
                    </a:p>
                  </a:txBody>
                  <a:tcPr marL="0" marR="0" marT="36000" marB="36000" anchor="ctr"/>
                </a:tc>
                <a:extLst>
                  <a:ext uri="{0D108BD9-81ED-4DB2-BD59-A6C34878D82A}">
                    <a16:rowId xmlns:a16="http://schemas.microsoft.com/office/drawing/2014/main" val="10002"/>
                  </a:ext>
                </a:extLst>
              </a:tr>
              <a:tr h="167483">
                <a:tc rowSpan="2"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PUD 116.9</a:t>
                      </a:r>
                      <a:endParaRPr sz="800" b="1" u="none" strike="noStrike" cap="none" dirty="0">
                        <a:solidFill>
                          <a:srgbClr val="0070C0"/>
                        </a:solidFill>
                      </a:endParaRPr>
                    </a:p>
                  </a:txBody>
                  <a:tcPr marL="0" marR="0" marT="0" marB="0" anchor="ctr"/>
                </a:tc>
                <a:tc rowSpan="2" hMerge="1">
                  <a:txBody>
                    <a:bodyPr/>
                    <a:lstStyle/>
                    <a:p>
                      <a:endParaRPr lang="ko-Kore-KR"/>
                    </a:p>
                  </a:txBody>
                  <a:tcPr/>
                </a:tc>
                <a:tc rowSpan="2"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34R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108.9</a:t>
                      </a:r>
                      <a:endParaRPr dirty="0"/>
                    </a:p>
                  </a:txBody>
                  <a:tcPr marL="0" marR="0" marT="0" marB="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35L 108.1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p>
                  </a:txBody>
                  <a:tcP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34L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108.3</a:t>
                      </a:r>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35R 111.9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0003"/>
                  </a:ext>
                </a:extLst>
              </a:tr>
              <a:tr h="167483">
                <a:tc gridSpan="3" vMerge="1">
                  <a:txBody>
                    <a:bodyPr/>
                    <a:lstStyle/>
                    <a:p>
                      <a:pPr marL="0" marR="0" lvl="0" indent="0" algn="ctr" rtl="0">
                        <a:lnSpc>
                          <a:spcPct val="100000"/>
                        </a:lnSpc>
                        <a:spcBef>
                          <a:spcPts val="0"/>
                        </a:spcBef>
                        <a:spcAft>
                          <a:spcPts val="0"/>
                        </a:spcAft>
                        <a:buClr>
                          <a:srgbClr val="0070C0"/>
                        </a:buClr>
                        <a:buSzPts val="800"/>
                        <a:buFont typeface="Calibri"/>
                        <a:buNone/>
                      </a:pPr>
                      <a:endParaRPr sz="800" b="1" u="none" strike="noStrike" cap="none" dirty="0">
                        <a:solidFill>
                          <a:srgbClr val="0070C0"/>
                        </a:solidFill>
                      </a:endParaRPr>
                    </a:p>
                  </a:txBody>
                  <a:tcPr marL="36000" marR="36000" marT="0" marB="0" anchor="ctr"/>
                </a:tc>
                <a:tc hMerge="1" vMerge="1">
                  <a:txBody>
                    <a:bodyPr/>
                    <a:lstStyle/>
                    <a:p>
                      <a:endParaRPr lang="ko-Kore-KR" altLang="en-US"/>
                    </a:p>
                  </a:txBody>
                  <a:tcPr/>
                </a:tc>
                <a:tc hMerge="1" vMerge="1">
                  <a:txBody>
                    <a:bodyPr/>
                    <a:lstStyle/>
                    <a:p>
                      <a:endParaRPr lang="ko-Kore-KR" altLang="en-US"/>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16L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111.5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ltLang="en-US"/>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17R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ltLang="en-US"/>
                    </a:p>
                  </a:txBody>
                  <a:tcPr/>
                </a:tc>
                <a:tc hMerge="1">
                  <a:txBody>
                    <a:bodyPr/>
                    <a:lstStyle/>
                    <a:p>
                      <a:endParaRPr lang="ko-Kore-KR" altLang="en-US"/>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16R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108.7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17L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724225180"/>
                  </a:ext>
                </a:extLst>
              </a:tr>
              <a:tr h="300679">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34R/L(11’/12’) </a:t>
                      </a:r>
                    </a:p>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35R(10’)</a:t>
                      </a:r>
                    </a:p>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35L(12’)</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13123’</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11155’</a:t>
                      </a:r>
                      <a:endParaRPr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16L/R(12’/11’)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17L(10’)</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17R(12’)</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216937">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APU Start, TUG Connect After Beacon L/T ON</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Ready for Intersection T/O</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4277932761"/>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ZSPD(PVG) 13ft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China Eastern 130.5</a:t>
                      </a:r>
                      <a:endParaRPr dirty="0"/>
                    </a:p>
                    <a:p>
                      <a:pPr marL="0" marR="0" lvl="0" indent="0" algn="ctr" rtl="0">
                        <a:spcBef>
                          <a:spcPts val="0"/>
                        </a:spcBef>
                        <a:spcAft>
                          <a:spcPts val="0"/>
                        </a:spcAft>
                        <a:buNone/>
                      </a:pPr>
                      <a:r>
                        <a:rPr lang="en-US" sz="700" dirty="0">
                          <a:solidFill>
                            <a:srgbClr val="FF0000"/>
                          </a:solidFill>
                        </a:rPr>
                        <a:t>DCL 10</a:t>
                      </a:r>
                      <a:r>
                        <a:rPr lang="ko-KR" altLang="en-US" sz="700" dirty="0">
                          <a:solidFill>
                            <a:srgbClr val="FF0000"/>
                          </a:solidFill>
                        </a:rPr>
                        <a:t>분전</a:t>
                      </a:r>
                      <a:r>
                        <a:rPr lang="en-US" sz="700" dirty="0">
                          <a:solidFill>
                            <a:srgbClr val="FF0000"/>
                          </a:solidFill>
                        </a:rPr>
                        <a:t>, No READ BACK!</a:t>
                      </a:r>
                      <a:endParaRPr sz="700"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0837" y="2823127"/>
            <a:ext cx="1710405" cy="538609"/>
          </a:xfrm>
          <a:prstGeom prst="rect">
            <a:avLst/>
          </a:prstGeom>
          <a:noFill/>
        </p:spPr>
        <p:txBody>
          <a:bodyPr wrap="none" lIns="0" tIns="0" rIns="0" bIns="0" rtlCol="0" anchor="ctr">
            <a:spAutoFit/>
          </a:bodyPr>
          <a:lstStyle/>
          <a:p>
            <a:r>
              <a:rPr kumimoji="1" lang="en-US" altLang="ko-Kore-KR" sz="700" b="1" u="sng" dirty="0">
                <a:solidFill>
                  <a:srgbClr val="0070C0"/>
                </a:solidFill>
                <a:latin typeface="Gulim" panose="020B0600000101010101" pitchFamily="34" charset="-127"/>
                <a:ea typeface="Gulim" panose="020B0600000101010101" pitchFamily="34" charset="-127"/>
              </a:rPr>
              <a:t>SHA APP 125.4 </a:t>
            </a:r>
            <a:r>
              <a:rPr kumimoji="1" lang="en-US" altLang="ko-Kore-KR" sz="700" b="1" u="sng" dirty="0">
                <a:solidFill>
                  <a:srgbClr val="C00000"/>
                </a:solidFill>
                <a:latin typeface="Gulim" panose="020B0600000101010101" pitchFamily="34" charset="-127"/>
                <a:ea typeface="Gulim" panose="020B0600000101010101" pitchFamily="34" charset="-127"/>
              </a:rPr>
              <a:t>(Without Instruction)</a:t>
            </a:r>
          </a:p>
          <a:p>
            <a:r>
              <a:rPr kumimoji="1" lang="en-US" altLang="ko-Kore-KR" sz="700" b="1" u="sng" dirty="0">
                <a:solidFill>
                  <a:srgbClr val="0070C0"/>
                </a:solidFill>
                <a:latin typeface="Gulim" panose="020B0600000101010101" pitchFamily="34" charset="-127"/>
                <a:ea typeface="Gulim" panose="020B0600000101010101" pitchFamily="34" charset="-127"/>
              </a:rPr>
              <a:t>SHA </a:t>
            </a:r>
            <a:r>
              <a:rPr kumimoji="1" lang="en-US" altLang="ko-Kore-KR" sz="700" b="1" u="sng">
                <a:solidFill>
                  <a:srgbClr val="0070C0"/>
                </a:solidFill>
                <a:latin typeface="Gulim" panose="020B0600000101010101" pitchFamily="34" charset="-127"/>
                <a:ea typeface="Gulim" panose="020B0600000101010101" pitchFamily="34" charset="-127"/>
              </a:rPr>
              <a:t>APP </a:t>
            </a:r>
            <a:r>
              <a:rPr kumimoji="1" lang="en-US" altLang="ko-KR" sz="700" b="1" u="sng">
                <a:solidFill>
                  <a:srgbClr val="0070C0"/>
                </a:solidFill>
                <a:latin typeface="Gulim" panose="020B0600000101010101" pitchFamily="34" charset="-127"/>
                <a:ea typeface="Gulim" panose="020B0600000101010101" pitchFamily="34" charset="-127"/>
              </a:rPr>
              <a:t>125.62(</a:t>
            </a:r>
            <a:r>
              <a:rPr kumimoji="1" lang="en-US" altLang="ko-Kore-KR" sz="700" b="1" u="sng">
                <a:solidFill>
                  <a:srgbClr val="0070C0"/>
                </a:solidFill>
                <a:latin typeface="Gulim" panose="020B0600000101010101" pitchFamily="34" charset="-127"/>
                <a:ea typeface="Gulim" panose="020B0600000101010101" pitchFamily="34" charset="-127"/>
              </a:rPr>
              <a:t>119.975</a:t>
            </a:r>
            <a:r>
              <a:rPr kumimoji="1" lang="en-US" altLang="ko-KR" sz="700" b="1" u="sng">
                <a:solidFill>
                  <a:srgbClr val="0070C0"/>
                </a:solidFill>
                <a:latin typeface="Gulim" panose="020B0600000101010101" pitchFamily="34" charset="-127"/>
                <a:ea typeface="Gulim" panose="020B0600000101010101" pitchFamily="34" charset="-127"/>
              </a:rPr>
              <a:t>)</a:t>
            </a:r>
            <a:endParaRPr kumimoji="1" lang="en-US" altLang="ko-Kore-KR" sz="700" b="1" u="sng" dirty="0">
              <a:solidFill>
                <a:srgbClr val="0070C0"/>
              </a:solidFill>
              <a:latin typeface="Gulim" panose="020B0600000101010101" pitchFamily="34" charset="-127"/>
              <a:ea typeface="Gulim" panose="020B0600000101010101" pitchFamily="34" charset="-127"/>
            </a:endParaRPr>
          </a:p>
          <a:p>
            <a:r>
              <a:rPr kumimoji="1" lang="en-US" altLang="ko-Kore-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120.95</a:t>
            </a:r>
          </a:p>
          <a:p>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a:p>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extLst>
              <p:ext uri="{D42A27DB-BD31-4B8C-83A1-F6EECF244321}">
                <p14:modId xmlns:p14="http://schemas.microsoft.com/office/powerpoint/2010/main" val="1048583957"/>
              </p:ext>
            </p:extLst>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857B720D-0D1B-9121-09AB-6FDEA1F31352}"/>
              </a:ext>
            </a:extLst>
          </p:cNvPr>
          <p:cNvSpPr/>
          <p:nvPr/>
        </p:nvSpPr>
        <p:spPr>
          <a:xfrm>
            <a:off x="1657574" y="2847302"/>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E5BD0A1F-222D-F256-6A70-D874149F410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99804552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45720"/>
            <a:ext cx="2291012"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 – 135.65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128.77 – SHE 119.3 – 118.9</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YNJ TWR 118.75</a:t>
            </a:r>
          </a:p>
        </p:txBody>
      </p:sp>
      <p:graphicFrame>
        <p:nvGraphicFramePr>
          <p:cNvPr id="291" name="Google Shape;291;p18"/>
          <p:cNvGraphicFramePr/>
          <p:nvPr>
            <p:extLst>
              <p:ext uri="{D42A27DB-BD31-4B8C-83A1-F6EECF244321}">
                <p14:modId xmlns:p14="http://schemas.microsoft.com/office/powerpoint/2010/main" val="1475866777"/>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1503814499"/>
              </p:ext>
            </p:extLst>
          </p:nvPr>
        </p:nvGraphicFramePr>
        <p:xfrm>
          <a:off x="-1706" y="3694129"/>
          <a:ext cx="2341562" cy="1869978"/>
        </p:xfrm>
        <a:graphic>
          <a:graphicData uri="http://schemas.openxmlformats.org/drawingml/2006/table">
            <a:tbl>
              <a:tblPr firstRow="1" bandRow="1">
                <a:noFill/>
                <a:tableStyleId>{A521BE36-7E6F-4EC9-8D66-1CF97A6895EC}</a:tableStyleId>
              </a:tblPr>
              <a:tblGrid>
                <a:gridCol w="324487">
                  <a:extLst>
                    <a:ext uri="{9D8B030D-6E8A-4147-A177-3AD203B41FA5}">
                      <a16:colId xmlns:a16="http://schemas.microsoft.com/office/drawing/2014/main" val="20000"/>
                    </a:ext>
                  </a:extLst>
                </a:gridCol>
                <a:gridCol w="949784">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99800">
                <a:tc gridSpan="4">
                  <a:txBody>
                    <a:bodyPr/>
                    <a:lstStyle/>
                    <a:p>
                      <a:pPr marL="0" marR="0" lvl="0" indent="0" algn="ctr" rtl="0">
                        <a:spcBef>
                          <a:spcPts val="0"/>
                        </a:spcBef>
                        <a:spcAft>
                          <a:spcPts val="0"/>
                        </a:spcAft>
                        <a:buNone/>
                      </a:pPr>
                      <a:r>
                        <a:rPr lang="en-US" sz="800" dirty="0"/>
                        <a:t>YNJ : RNP STAR </a:t>
                      </a:r>
                      <a:r>
                        <a:rPr lang="en-US" sz="800" dirty="0">
                          <a:solidFill>
                            <a:schemeClr val="accent4"/>
                          </a:solidFill>
                        </a:rPr>
                        <a:t>(RW09 main for L/D)</a:t>
                      </a:r>
                    </a:p>
                    <a:p>
                      <a:pPr marL="0" marR="0" lvl="0" indent="0" algn="ctr" rtl="0">
                        <a:spcBef>
                          <a:spcPts val="0"/>
                        </a:spcBef>
                        <a:spcAft>
                          <a:spcPts val="0"/>
                        </a:spcAft>
                        <a:buNone/>
                      </a:pPr>
                      <a:r>
                        <a:rPr lang="en-US" sz="800" dirty="0">
                          <a:solidFill>
                            <a:srgbClr val="C00000"/>
                          </a:solidFill>
                        </a:rPr>
                        <a:t>CHK NAV DATA </a:t>
                      </a:r>
                      <a:r>
                        <a:rPr lang="en-US" sz="800" dirty="0">
                          <a:solidFill>
                            <a:schemeClr val="accent4"/>
                          </a:solidFill>
                        </a:rPr>
                        <a:t>for Holding Area(Expect Hold Mil Train)</a:t>
                      </a:r>
                      <a:endParaRPr sz="800" b="0" dirty="0">
                        <a:solidFill>
                          <a:schemeClr val="accent4"/>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99800">
                <a:tc>
                  <a:txBody>
                    <a:bodyPr/>
                    <a:lstStyle/>
                    <a:p>
                      <a:pPr marL="0" marR="0" lvl="0" indent="0" algn="ctr" rtl="0">
                        <a:spcBef>
                          <a:spcPts val="0"/>
                        </a:spcBef>
                        <a:spcAft>
                          <a:spcPts val="0"/>
                        </a:spcAft>
                        <a:buNone/>
                      </a:pPr>
                      <a:r>
                        <a:rPr lang="en-US" sz="800" b="1" dirty="0"/>
                        <a:t>09</a:t>
                      </a:r>
                      <a:endParaRPr sz="800" b="1" dirty="0"/>
                    </a:p>
                  </a:txBody>
                  <a:tcPr marL="36000" marR="36000" marT="0" marB="0" anchor="ctr"/>
                </a:tc>
                <a:tc>
                  <a:txBody>
                    <a:bodyPr/>
                    <a:lstStyle/>
                    <a:p>
                      <a:pPr marL="0" marR="0" lvl="0" indent="0" algn="ctr" rtl="0">
                        <a:spcBef>
                          <a:spcPts val="0"/>
                        </a:spcBef>
                        <a:spcAft>
                          <a:spcPts val="0"/>
                        </a:spcAft>
                        <a:buNone/>
                      </a:pPr>
                      <a:r>
                        <a:rPr lang="en-US" sz="800" b="1" dirty="0"/>
                        <a:t>KAN/OMB 09A</a:t>
                      </a:r>
                    </a:p>
                    <a:p>
                      <a:pPr marL="0" marR="0" lvl="0" indent="0" algn="ctr" rtl="0">
                        <a:spcBef>
                          <a:spcPts val="0"/>
                        </a:spcBef>
                        <a:spcAft>
                          <a:spcPts val="0"/>
                        </a:spcAft>
                        <a:buNone/>
                      </a:pPr>
                      <a:r>
                        <a:rPr lang="en-US" sz="800" b="0" dirty="0">
                          <a:solidFill>
                            <a:srgbClr val="0070C0"/>
                          </a:solidFill>
                        </a:rPr>
                        <a:t>(KAN/OMB 04(02)A)</a:t>
                      </a:r>
                    </a:p>
                  </a:txBody>
                  <a:tcPr marL="0" marR="0" marT="0" marB="0" anchor="ctr"/>
                </a:tc>
                <a:tc>
                  <a:txBody>
                    <a:bodyPr/>
                    <a:lstStyle/>
                    <a:p>
                      <a:pPr marL="0" marR="0" lvl="0" indent="0" algn="ctr" rtl="0">
                        <a:spcBef>
                          <a:spcPts val="0"/>
                        </a:spcBef>
                        <a:spcAft>
                          <a:spcPts val="0"/>
                        </a:spcAft>
                        <a:buNone/>
                      </a:pPr>
                      <a:r>
                        <a:rPr lang="en-US" sz="800" b="1" dirty="0"/>
                        <a:t>YJ504</a:t>
                      </a:r>
                    </a:p>
                    <a:p>
                      <a:pPr marL="0" marR="0" lvl="0" indent="0" algn="ctr" rtl="0">
                        <a:spcBef>
                          <a:spcPts val="0"/>
                        </a:spcBef>
                        <a:spcAft>
                          <a:spcPts val="0"/>
                        </a:spcAft>
                        <a:buNone/>
                      </a:pPr>
                      <a:r>
                        <a:rPr lang="en-US" sz="800" b="0" dirty="0">
                          <a:solidFill>
                            <a:srgbClr val="0070C0"/>
                          </a:solidFill>
                        </a:rPr>
                        <a:t>(D267T)</a:t>
                      </a:r>
                      <a:endParaRPr sz="800" b="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800" b="1" dirty="0"/>
                        <a:t>ILS Z 09</a:t>
                      </a:r>
                    </a:p>
                    <a:p>
                      <a:pPr marL="0" marR="0" lvl="0" indent="0" algn="ctr" rtl="0">
                        <a:spcBef>
                          <a:spcPts val="0"/>
                        </a:spcBef>
                        <a:spcAft>
                          <a:spcPts val="0"/>
                        </a:spcAft>
                        <a:buNone/>
                      </a:pPr>
                      <a:r>
                        <a:rPr lang="en-US" sz="800" b="0" dirty="0">
                          <a:solidFill>
                            <a:srgbClr val="0070C0"/>
                          </a:solidFill>
                        </a:rPr>
                        <a:t>(VOR </a:t>
                      </a:r>
                      <a:r>
                        <a:rPr lang="en-US" altLang="ko-KR" sz="800" b="0" dirty="0">
                          <a:solidFill>
                            <a:srgbClr val="0070C0"/>
                          </a:solidFill>
                        </a:rPr>
                        <a:t>4</a:t>
                      </a:r>
                      <a:r>
                        <a:rPr lang="ko-KR" altLang="en-US" sz="800" b="0" dirty="0">
                          <a:solidFill>
                            <a:srgbClr val="0070C0"/>
                          </a:solidFill>
                        </a:rPr>
                        <a:t>도 </a:t>
                      </a:r>
                      <a:r>
                        <a:rPr lang="en-US" altLang="ko-KR" sz="800" b="0" dirty="0">
                          <a:solidFill>
                            <a:srgbClr val="0070C0"/>
                          </a:solidFill>
                        </a:rPr>
                        <a:t>off)</a:t>
                      </a:r>
                      <a:endParaRPr lang="en-US" sz="800" b="0" dirty="0">
                        <a:solidFill>
                          <a:srgbClr val="0070C0"/>
                        </a:solidFill>
                      </a:endParaRPr>
                    </a:p>
                  </a:txBody>
                  <a:tcPr marL="36000" marR="36000" marT="0" marB="0" anchor="ctr"/>
                </a:tc>
                <a:extLst>
                  <a:ext uri="{0D108BD9-81ED-4DB2-BD59-A6C34878D82A}">
                    <a16:rowId xmlns:a16="http://schemas.microsoft.com/office/drawing/2014/main" val="10001"/>
                  </a:ext>
                </a:extLst>
              </a:tr>
              <a:tr h="299800">
                <a:tc>
                  <a:txBody>
                    <a:bodyPr/>
                    <a:lstStyle/>
                    <a:p>
                      <a:pPr marL="0" marR="0" lvl="0" indent="0" algn="ctr" rtl="0">
                        <a:spcBef>
                          <a:spcPts val="0"/>
                        </a:spcBef>
                        <a:spcAft>
                          <a:spcPts val="0"/>
                        </a:spcAft>
                        <a:buNone/>
                      </a:pPr>
                      <a:r>
                        <a:rPr lang="en-US" sz="800" b="0" dirty="0"/>
                        <a:t>27</a:t>
                      </a:r>
                      <a:endParaRPr sz="800" b="0" dirty="0"/>
                    </a:p>
                  </a:txBody>
                  <a:tcPr marL="36000" marR="36000" marT="0" marB="0" anchor="ctr"/>
                </a:tc>
                <a:tc>
                  <a:txBody>
                    <a:bodyPr/>
                    <a:lstStyle/>
                    <a:p>
                      <a:pPr marL="0" marR="0" lvl="0" indent="0" algn="ctr" rtl="0">
                        <a:spcBef>
                          <a:spcPts val="0"/>
                        </a:spcBef>
                        <a:spcAft>
                          <a:spcPts val="0"/>
                        </a:spcAft>
                        <a:buNone/>
                      </a:pPr>
                      <a:r>
                        <a:rPr lang="en-US" altLang="ko-Kore-KR" sz="800" b="1" dirty="0"/>
                        <a:t>KAN/OMB 19</a:t>
                      </a:r>
                      <a:r>
                        <a:rPr lang="en-US" altLang="ko-Kore-KR" sz="800" b="0" dirty="0"/>
                        <a:t>(18</a:t>
                      </a:r>
                      <a:r>
                        <a:rPr lang="en-US" altLang="ko-Kore-KR" sz="800" b="1" dirty="0"/>
                        <a:t>)A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0" dirty="0">
                          <a:solidFill>
                            <a:srgbClr val="0070C0"/>
                          </a:solidFill>
                        </a:rPr>
                        <a:t>(KAN/OMB 11(12)A)</a:t>
                      </a:r>
                    </a:p>
                  </a:txBody>
                  <a:tcPr marL="36000" marR="36000" marT="0" marB="0" anchor="ctr"/>
                </a:tc>
                <a:tc>
                  <a:txBody>
                    <a:bodyPr/>
                    <a:lstStyle/>
                    <a:p>
                      <a:pPr marL="0" marR="0" lvl="0" indent="0" algn="ctr" rtl="0">
                        <a:spcBef>
                          <a:spcPts val="0"/>
                        </a:spcBef>
                        <a:spcAft>
                          <a:spcPts val="0"/>
                        </a:spcAft>
                        <a:buNone/>
                      </a:pPr>
                      <a:r>
                        <a:rPr lang="en-US" sz="800" b="1" dirty="0"/>
                        <a:t>YJ604</a:t>
                      </a:r>
                    </a:p>
                    <a:p>
                      <a:pPr marL="0" marR="0" lvl="0" indent="0" algn="ctr" rtl="0">
                        <a:spcBef>
                          <a:spcPts val="0"/>
                        </a:spcBef>
                        <a:spcAft>
                          <a:spcPts val="0"/>
                        </a:spcAft>
                        <a:buNone/>
                      </a:pPr>
                      <a:r>
                        <a:rPr lang="en-US" sz="800" b="0" dirty="0">
                          <a:solidFill>
                            <a:srgbClr val="0070C0"/>
                          </a:solidFill>
                        </a:rPr>
                        <a:t>(D341N)</a:t>
                      </a:r>
                      <a:endParaRPr sz="800" b="0" dirty="0">
                        <a:solidFill>
                          <a:srgbClr val="0070C0"/>
                        </a:solidFill>
                      </a:endParaRPr>
                    </a:p>
                  </a:txBody>
                  <a:tcPr marL="0" marR="0" marT="0" marB="0" anchor="ctr"/>
                </a:tc>
                <a:tc>
                  <a:txBody>
                    <a:bodyPr/>
                    <a:lstStyle/>
                    <a:p>
                      <a:pPr marL="0" marR="0" lvl="0" indent="0" algn="ctr" rtl="0">
                        <a:spcBef>
                          <a:spcPts val="0"/>
                        </a:spcBef>
                        <a:spcAft>
                          <a:spcPts val="0"/>
                        </a:spcAft>
                        <a:buNone/>
                      </a:pPr>
                      <a:r>
                        <a:rPr lang="en-US" sz="800" b="1" dirty="0"/>
                        <a:t>ILS Z 27</a:t>
                      </a:r>
                    </a:p>
                    <a:p>
                      <a:pPr marL="0" marR="0" lvl="0" indent="0" algn="ctr" rtl="0">
                        <a:spcBef>
                          <a:spcPts val="0"/>
                        </a:spcBef>
                        <a:spcAft>
                          <a:spcPts val="0"/>
                        </a:spcAft>
                        <a:buNone/>
                      </a:pPr>
                      <a:r>
                        <a:rPr lang="en-US" sz="800" b="0" dirty="0">
                          <a:solidFill>
                            <a:srgbClr val="0070C0"/>
                          </a:solidFill>
                        </a:rPr>
                        <a:t>(VOR 4</a:t>
                      </a:r>
                      <a:r>
                        <a:rPr lang="ko-KR" altLang="en-US" sz="800" b="0" dirty="0">
                          <a:solidFill>
                            <a:srgbClr val="0070C0"/>
                          </a:solidFill>
                        </a:rPr>
                        <a:t>도 </a:t>
                      </a:r>
                      <a:r>
                        <a:rPr lang="en-US" altLang="ko-KR" sz="800" b="0" dirty="0">
                          <a:solidFill>
                            <a:srgbClr val="0070C0"/>
                          </a:solidFill>
                        </a:rPr>
                        <a:t>off)</a:t>
                      </a:r>
                      <a:endParaRPr sz="800" b="0" dirty="0">
                        <a:solidFill>
                          <a:srgbClr val="0070C0"/>
                        </a:solidFill>
                      </a:endParaRPr>
                    </a:p>
                  </a:txBody>
                  <a:tcPr marL="36000" marR="36000" marT="0" marB="0" anchor="ctr"/>
                </a:tc>
                <a:extLst>
                  <a:ext uri="{0D108BD9-81ED-4DB2-BD59-A6C34878D82A}">
                    <a16:rowId xmlns:a16="http://schemas.microsoft.com/office/drawing/2014/main" val="10002"/>
                  </a:ext>
                </a:extLst>
              </a:tr>
              <a:tr h="18407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09(621’)      8530’      27(597’)</a:t>
                      </a:r>
                      <a:r>
                        <a:rPr lang="ko-KR" altLang="en-US" sz="800" b="1" dirty="0">
                          <a:solidFill>
                            <a:srgbClr val="00B050"/>
                          </a:solidFill>
                        </a:rPr>
                        <a:t> </a:t>
                      </a:r>
                      <a:r>
                        <a:rPr lang="en-US" altLang="ko-KR" sz="800" b="1" dirty="0">
                          <a:solidFill>
                            <a:srgbClr val="C00000"/>
                          </a:solidFill>
                        </a:rPr>
                        <a:t>3.3</a:t>
                      </a:r>
                      <a:r>
                        <a:rPr lang="ko-KR" altLang="en-US" sz="800" b="1" dirty="0">
                          <a:solidFill>
                            <a:srgbClr val="C00000"/>
                          </a:solidFill>
                        </a:rPr>
                        <a:t>도</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8407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DPRKK(N43 01.6/E129 52.0) R100, R200</a:t>
                      </a:r>
                    </a:p>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RWY27  /12 </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(Do not overshoot 12DME ARC)</a:t>
                      </a:r>
                      <a:endParaRPr sz="800" b="1" dirty="0">
                        <a:solidFill>
                          <a:srgbClr val="0070C0"/>
                        </a:solidFill>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462406190"/>
                  </a:ext>
                </a:extLst>
              </a:tr>
              <a:tr h="16086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chemeClr val="dk1"/>
                          </a:solidFill>
                        </a:rPr>
                        <a:t>  09</a:t>
                      </a:r>
                      <a:r>
                        <a:rPr lang="en-US" sz="800" b="1" dirty="0">
                          <a:solidFill>
                            <a:schemeClr val="dk1"/>
                          </a:solidFill>
                        </a:rPr>
                        <a:t> : </a:t>
                      </a:r>
                      <a:r>
                        <a:rPr lang="en-US" sz="800" b="1" dirty="0">
                          <a:solidFill>
                            <a:srgbClr val="00B050"/>
                          </a:solidFill>
                        </a:rPr>
                        <a:t>C(5330’),</a:t>
                      </a:r>
                      <a:r>
                        <a:rPr lang="en-US" sz="800" b="1" dirty="0">
                          <a:solidFill>
                            <a:schemeClr val="dk1"/>
                          </a:solidFill>
                        </a:rPr>
                        <a:t>180 BACK(8530’),  27 : B(7400’),A (8350’)</a:t>
                      </a:r>
                      <a:r>
                        <a:rPr lang="en-US" sz="800" dirty="0">
                          <a:solidFill>
                            <a:schemeClr val="dk1"/>
                          </a:solidFill>
                        </a:rPr>
                        <a:t> </a:t>
                      </a:r>
                      <a:endParaRPr dirty="0"/>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6200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Expect Hold Due to MIL Train</a:t>
                      </a:r>
                      <a:r>
                        <a:rPr lang="en-US" sz="800" dirty="0">
                          <a:solidFill>
                            <a:srgbClr val="C00000"/>
                          </a:solidFill>
                        </a:rPr>
                        <a:t>(ADD FUEL 30min)</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PAX Window must closed Between APP and DEP.</a:t>
                      </a:r>
                    </a:p>
                    <a:p>
                      <a:pPr marL="0" marR="0" lvl="0" indent="0" algn="ctr" rtl="0">
                        <a:lnSpc>
                          <a:spcPct val="100000"/>
                        </a:lnSpc>
                        <a:spcBef>
                          <a:spcPts val="0"/>
                        </a:spcBef>
                        <a:spcAft>
                          <a:spcPts val="0"/>
                        </a:spcAft>
                        <a:buClr>
                          <a:schemeClr val="dk1"/>
                        </a:buClr>
                        <a:buSzPts val="800"/>
                        <a:buFont typeface="Calibri"/>
                        <a:buNone/>
                      </a:pPr>
                      <a:r>
                        <a:rPr lang="en-US" sz="800" dirty="0">
                          <a:solidFill>
                            <a:schemeClr val="tx1"/>
                          </a:solidFill>
                        </a:rPr>
                        <a:t>Parking Brake Remain SET (Winter)</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665345525"/>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ZYYJ(YNJ) </a:t>
                      </a:r>
                      <a:r>
                        <a:rPr lang="en-US" sz="1300" dirty="0">
                          <a:solidFill>
                            <a:srgbClr val="FF0000"/>
                          </a:solidFill>
                          <a:hlinkClick r:id="rId4">
                            <a:extLst>
                              <a:ext uri="{A12FA001-AC4F-418D-AE19-62706E023703}">
                                <ahyp:hlinkClr xmlns:ahyp="http://schemas.microsoft.com/office/drawing/2018/hyperlinkcolor" val="tx"/>
                              </a:ext>
                            </a:extLst>
                          </a:hlinkClick>
                        </a:rPr>
                        <a:t>624ft</a:t>
                      </a:r>
                      <a:endParaRPr sz="13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800" dirty="0">
                          <a:solidFill>
                            <a:srgbClr val="FF0000"/>
                          </a:solidFill>
                        </a:rPr>
                        <a:t>No D-ATIS</a:t>
                      </a:r>
                      <a:endParaRPr sz="800" dirty="0">
                        <a:solidFill>
                          <a:srgbClr val="FF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7F8FC769-31D3-C65B-0A4D-8512B1FC1D77}"/>
              </a:ext>
            </a:extLst>
          </p:cNvPr>
          <p:cNvSpPr/>
          <p:nvPr/>
        </p:nvSpPr>
        <p:spPr>
          <a:xfrm>
            <a:off x="1651787" y="339958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F4EF24A-3648-E4B6-92DD-3A591532AC2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6020685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4" name="TextBox 3">
            <a:extLst>
              <a:ext uri="{FF2B5EF4-FFF2-40B4-BE49-F238E27FC236}">
                <a16:creationId xmlns:a16="http://schemas.microsoft.com/office/drawing/2014/main" id="{D83B9E08-9399-887D-087F-8AD383B55718}"/>
              </a:ext>
            </a:extLst>
          </p:cNvPr>
          <p:cNvSpPr txBox="1"/>
          <p:nvPr/>
        </p:nvSpPr>
        <p:spPr>
          <a:xfrm>
            <a:off x="24681" y="5030270"/>
            <a:ext cx="1624948" cy="261610"/>
          </a:xfrm>
          <a:prstGeom prst="rect">
            <a:avLst/>
          </a:prstGeom>
          <a:noFill/>
        </p:spPr>
        <p:txBody>
          <a:bodyPr wrap="square" rtlCol="0">
            <a:spAutoFit/>
          </a:bodyPr>
          <a:lstStyle/>
          <a:p>
            <a:r>
              <a:rPr kumimoji="1" lang="en-US" altLang="ko-Kore-KR" sz="1050" dirty="0">
                <a:solidFill>
                  <a:srgbClr val="C00000"/>
                </a:solidFill>
              </a:rPr>
              <a:t>QFE Next Page</a:t>
            </a:r>
            <a:endParaRPr kumimoji="1" lang="ko-Kore-KR" altLang="en-US" sz="1050" dirty="0">
              <a:solidFill>
                <a:srgbClr val="C00000"/>
              </a:solidFill>
            </a:endParaRPr>
          </a:p>
        </p:txBody>
      </p:sp>
      <p:sp>
        <p:nvSpPr>
          <p:cNvPr id="6" name="직사각형 5">
            <a:hlinkClick r:id="" action="ppaction://hlinkshowjump?jump=firstslide"/>
            <a:extLst>
              <a:ext uri="{FF2B5EF4-FFF2-40B4-BE49-F238E27FC236}">
                <a16:creationId xmlns:a16="http://schemas.microsoft.com/office/drawing/2014/main" id="{27EB1F91-A32C-4EF8-0E55-67221839AEA3}"/>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737136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377;p28">
            <a:extLst>
              <a:ext uri="{FF2B5EF4-FFF2-40B4-BE49-F238E27FC236}">
                <a16:creationId xmlns:a16="http://schemas.microsoft.com/office/drawing/2014/main" id="{3BC43B3A-BAD2-E13A-4922-2BB962CCA02E}"/>
              </a:ext>
            </a:extLst>
          </p:cNvPr>
          <p:cNvGraphicFramePr/>
          <p:nvPr>
            <p:extLst>
              <p:ext uri="{D42A27DB-BD31-4B8C-83A1-F6EECF244321}">
                <p14:modId xmlns:p14="http://schemas.microsoft.com/office/powerpoint/2010/main" val="2144243983"/>
              </p:ext>
            </p:extLst>
          </p:nvPr>
        </p:nvGraphicFramePr>
        <p:xfrm>
          <a:off x="7" y="822012"/>
          <a:ext cx="2328850" cy="4692960"/>
        </p:xfrm>
        <a:graphic>
          <a:graphicData uri="http://schemas.openxmlformats.org/drawingml/2006/table">
            <a:tbl>
              <a:tblPr firstRow="1" bandRow="1">
                <a:noFill/>
                <a:tableStyleId>{A521BE36-7E6F-4EC9-8D66-1CF97A6895EC}</a:tableStyleId>
              </a:tblPr>
              <a:tblGrid>
                <a:gridCol w="1013216">
                  <a:extLst>
                    <a:ext uri="{9D8B030D-6E8A-4147-A177-3AD203B41FA5}">
                      <a16:colId xmlns:a16="http://schemas.microsoft.com/office/drawing/2014/main" val="20000"/>
                    </a:ext>
                  </a:extLst>
                </a:gridCol>
                <a:gridCol w="1315634">
                  <a:extLst>
                    <a:ext uri="{9D8B030D-6E8A-4147-A177-3AD203B41FA5}">
                      <a16:colId xmlns:a16="http://schemas.microsoft.com/office/drawing/2014/main" val="2543703711"/>
                    </a:ext>
                  </a:extLst>
                </a:gridCol>
              </a:tblGrid>
              <a:tr h="101600">
                <a:tc>
                  <a:txBody>
                    <a:bodyPr/>
                    <a:lstStyle/>
                    <a:p>
                      <a:pPr marL="0" marR="0" lvl="0" indent="0" algn="ctr" rtl="0">
                        <a:spcBef>
                          <a:spcPts val="0"/>
                        </a:spcBef>
                        <a:spcAft>
                          <a:spcPts val="0"/>
                        </a:spcAft>
                        <a:buNone/>
                      </a:pPr>
                      <a:r>
                        <a:rPr lang="en-US" sz="800" dirty="0"/>
                        <a:t>Height based on QFE</a:t>
                      </a:r>
                    </a:p>
                    <a:p>
                      <a:pPr marL="0" marR="0" lvl="0" indent="0" algn="ctr" rtl="0">
                        <a:spcBef>
                          <a:spcPts val="0"/>
                        </a:spcBef>
                        <a:spcAft>
                          <a:spcPts val="0"/>
                        </a:spcAft>
                        <a:buNone/>
                      </a:pPr>
                      <a:r>
                        <a:rPr lang="en-US" sz="800" dirty="0"/>
                        <a:t>(instructed by ATC)</a:t>
                      </a:r>
                      <a:endParaRPr sz="800" dirty="0"/>
                    </a:p>
                  </a:txBody>
                  <a:tcPr marL="36000" marR="36000" marT="36000" marB="36000" anchor="ctr"/>
                </a:tc>
                <a:tc>
                  <a:txBody>
                    <a:bodyPr/>
                    <a:lstStyle/>
                    <a:p>
                      <a:pPr marL="0" marR="0" lvl="0" indent="0" algn="ctr" rtl="0">
                        <a:spcBef>
                          <a:spcPts val="0"/>
                        </a:spcBef>
                        <a:spcAft>
                          <a:spcPts val="0"/>
                        </a:spcAft>
                        <a:buNone/>
                      </a:pPr>
                      <a:r>
                        <a:rPr lang="en-US" sz="800" dirty="0"/>
                        <a:t>Altitude base on QNH</a:t>
                      </a:r>
                    </a:p>
                    <a:p>
                      <a:pPr marL="0" marR="0" lvl="0" indent="0" algn="ctr" rtl="0">
                        <a:spcBef>
                          <a:spcPts val="0"/>
                        </a:spcBef>
                        <a:spcAft>
                          <a:spcPts val="0"/>
                        </a:spcAft>
                        <a:buNone/>
                      </a:pPr>
                      <a:r>
                        <a:rPr lang="en-US" sz="800" dirty="0"/>
                        <a:t>(Set Altitude : QFE + </a:t>
                      </a:r>
                      <a:r>
                        <a:rPr lang="en-US" sz="800" dirty="0" err="1"/>
                        <a:t>Elev</a:t>
                      </a:r>
                      <a:r>
                        <a:rPr lang="en-US" sz="800" dirty="0"/>
                        <a:t> SET)</a:t>
                      </a:r>
                      <a:endParaRPr sz="800" dirty="0"/>
                    </a:p>
                  </a:txBody>
                  <a:tcPr marL="36000" marR="0" marT="36000" marB="36000" anchor="ct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solidFill>
                            <a:srgbClr val="C00000"/>
                          </a:solidFill>
                        </a:rPr>
                        <a:t>xxx m on QFE</a:t>
                      </a:r>
                      <a:endParaRPr sz="800" b="1"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C00000"/>
                          </a:solidFill>
                        </a:rPr>
                        <a:t>xxx m plus Elevation Set</a:t>
                      </a:r>
                      <a:endParaRPr sz="800" b="1" dirty="0">
                        <a:solidFill>
                          <a:srgbClr val="C00000"/>
                        </a:solidFill>
                      </a:endParaRPr>
                    </a:p>
                  </a:txBody>
                  <a:tcPr marL="36000" marR="0" marT="36000" marB="36000" anchor="ctr"/>
                </a:tc>
                <a:extLst>
                  <a:ext uri="{0D108BD9-81ED-4DB2-BD59-A6C34878D82A}">
                    <a16:rowId xmlns:a16="http://schemas.microsoft.com/office/drawing/2014/main" val="1359757106"/>
                  </a:ext>
                </a:extLst>
              </a:tr>
              <a:tr h="101600">
                <a:tc>
                  <a:txBody>
                    <a:bodyPr/>
                    <a:lstStyle/>
                    <a:p>
                      <a:pPr marL="0" marR="0" lvl="0" indent="0" algn="ctr" rtl="0">
                        <a:spcBef>
                          <a:spcPts val="0"/>
                        </a:spcBef>
                        <a:spcAft>
                          <a:spcPts val="0"/>
                        </a:spcAft>
                        <a:buNone/>
                      </a:pPr>
                      <a:r>
                        <a:rPr lang="en-US" sz="900" b="1" dirty="0">
                          <a:solidFill>
                            <a:schemeClr val="tx1"/>
                          </a:solidFill>
                        </a:rPr>
                        <a:t>3000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10500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900" b="1" dirty="0">
                          <a:solidFill>
                            <a:schemeClr val="tx1"/>
                          </a:solidFill>
                        </a:rPr>
                        <a:t>2700 m </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9500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37287468"/>
                  </a:ext>
                </a:extLst>
              </a:tr>
              <a:tr h="101600">
                <a:tc>
                  <a:txBody>
                    <a:bodyPr/>
                    <a:lstStyle/>
                    <a:p>
                      <a:pPr marL="0" marR="0" lvl="0" indent="0" algn="ctr" rtl="0">
                        <a:spcBef>
                          <a:spcPts val="0"/>
                        </a:spcBef>
                        <a:spcAft>
                          <a:spcPts val="0"/>
                        </a:spcAft>
                        <a:buNone/>
                      </a:pPr>
                      <a:r>
                        <a:rPr lang="en-US" sz="900" b="1" dirty="0">
                          <a:solidFill>
                            <a:schemeClr val="tx1"/>
                          </a:solidFill>
                        </a:rPr>
                        <a:t>2400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8500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946654343"/>
                  </a:ext>
                </a:extLst>
              </a:tr>
              <a:tr h="101600">
                <a:tc>
                  <a:txBody>
                    <a:bodyPr/>
                    <a:lstStyle/>
                    <a:p>
                      <a:pPr marL="0" marR="0" lvl="0" indent="0" algn="ctr" rtl="0">
                        <a:spcBef>
                          <a:spcPts val="0"/>
                        </a:spcBef>
                        <a:spcAft>
                          <a:spcPts val="0"/>
                        </a:spcAft>
                        <a:buNone/>
                      </a:pPr>
                      <a:r>
                        <a:rPr lang="en-US" sz="900" b="1" dirty="0">
                          <a:solidFill>
                            <a:schemeClr val="tx1"/>
                          </a:solidFill>
                        </a:rPr>
                        <a:t>2100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7500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3387768838"/>
                  </a:ext>
                </a:extLst>
              </a:tr>
              <a:tr h="101600">
                <a:tc>
                  <a:txBody>
                    <a:bodyPr/>
                    <a:lstStyle/>
                    <a:p>
                      <a:pPr marL="0" marR="0" lvl="0" indent="0" algn="ctr" rtl="0">
                        <a:spcBef>
                          <a:spcPts val="0"/>
                        </a:spcBef>
                        <a:spcAft>
                          <a:spcPts val="0"/>
                        </a:spcAft>
                        <a:buNone/>
                      </a:pPr>
                      <a:r>
                        <a:rPr lang="en-US" sz="900" b="1" dirty="0">
                          <a:solidFill>
                            <a:schemeClr val="tx1"/>
                          </a:solidFill>
                        </a:rPr>
                        <a:t>1800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6500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822905070"/>
                  </a:ext>
                </a:extLst>
              </a:tr>
              <a:tr h="101600">
                <a:tc>
                  <a:txBody>
                    <a:bodyPr/>
                    <a:lstStyle/>
                    <a:p>
                      <a:pPr marL="0" marR="0" lvl="0" indent="0" algn="ctr" rtl="0">
                        <a:spcBef>
                          <a:spcPts val="0"/>
                        </a:spcBef>
                        <a:spcAft>
                          <a:spcPts val="0"/>
                        </a:spcAft>
                        <a:buNone/>
                      </a:pPr>
                      <a:r>
                        <a:rPr lang="en-US" sz="900" b="1" dirty="0">
                          <a:solidFill>
                            <a:schemeClr val="tx1"/>
                          </a:solidFill>
                        </a:rPr>
                        <a:t>1500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5600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475050887"/>
                  </a:ext>
                </a:extLst>
              </a:tr>
              <a:tr h="101600">
                <a:tc>
                  <a:txBody>
                    <a:bodyPr/>
                    <a:lstStyle/>
                    <a:p>
                      <a:pPr marL="0" marR="0" lvl="0" indent="0" algn="ctr" rtl="0">
                        <a:spcBef>
                          <a:spcPts val="0"/>
                        </a:spcBef>
                        <a:spcAft>
                          <a:spcPts val="0"/>
                        </a:spcAft>
                        <a:buNone/>
                      </a:pPr>
                      <a:r>
                        <a:rPr lang="en-US" sz="900" b="1" dirty="0">
                          <a:solidFill>
                            <a:schemeClr val="tx1"/>
                          </a:solidFill>
                        </a:rPr>
                        <a:t>1200 m </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4600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820777377"/>
                  </a:ext>
                </a:extLst>
              </a:tr>
              <a:tr h="101600">
                <a:tc>
                  <a:txBody>
                    <a:bodyPr/>
                    <a:lstStyle/>
                    <a:p>
                      <a:pPr marL="0" marR="0" lvl="0" indent="0" algn="ctr" rtl="0">
                        <a:spcBef>
                          <a:spcPts val="0"/>
                        </a:spcBef>
                        <a:spcAft>
                          <a:spcPts val="0"/>
                        </a:spcAft>
                        <a:buNone/>
                      </a:pPr>
                      <a:r>
                        <a:rPr lang="en-US" sz="900" b="1" dirty="0">
                          <a:solidFill>
                            <a:schemeClr val="tx1"/>
                          </a:solidFill>
                        </a:rPr>
                        <a:t>1100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4200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638046599"/>
                  </a:ext>
                </a:extLst>
              </a:tr>
              <a:tr h="101600">
                <a:tc>
                  <a:txBody>
                    <a:bodyPr/>
                    <a:lstStyle/>
                    <a:p>
                      <a:pPr marL="0" marR="0" lvl="0" indent="0" algn="ctr" rtl="0">
                        <a:spcBef>
                          <a:spcPts val="0"/>
                        </a:spcBef>
                        <a:spcAft>
                          <a:spcPts val="0"/>
                        </a:spcAft>
                        <a:buNone/>
                      </a:pPr>
                      <a:r>
                        <a:rPr lang="en-US" sz="900" b="1" dirty="0">
                          <a:solidFill>
                            <a:schemeClr val="tx1"/>
                          </a:solidFill>
                        </a:rPr>
                        <a:t>1000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3900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510201310"/>
                  </a:ext>
                </a:extLst>
              </a:tr>
              <a:tr h="101600">
                <a:tc>
                  <a:txBody>
                    <a:bodyPr/>
                    <a:lstStyle/>
                    <a:p>
                      <a:pPr marL="0" marR="0" lvl="0" indent="0" algn="ctr" rtl="0">
                        <a:spcBef>
                          <a:spcPts val="0"/>
                        </a:spcBef>
                        <a:spcAft>
                          <a:spcPts val="0"/>
                        </a:spcAft>
                        <a:buNone/>
                      </a:pPr>
                      <a:r>
                        <a:rPr lang="en-US" sz="900" b="1" dirty="0">
                          <a:solidFill>
                            <a:schemeClr val="tx1"/>
                          </a:solidFill>
                        </a:rPr>
                        <a:t>850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3400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03320928"/>
                  </a:ext>
                </a:extLst>
              </a:tr>
              <a:tr h="101600">
                <a:tc>
                  <a:txBody>
                    <a:bodyPr/>
                    <a:lstStyle/>
                    <a:p>
                      <a:pPr marL="0" marR="0" lvl="0" indent="0" algn="ctr" rtl="0">
                        <a:spcBef>
                          <a:spcPts val="0"/>
                        </a:spcBef>
                        <a:spcAft>
                          <a:spcPts val="0"/>
                        </a:spcAft>
                        <a:buNone/>
                      </a:pPr>
                      <a:r>
                        <a:rPr lang="en-US" sz="900" b="1" dirty="0">
                          <a:solidFill>
                            <a:schemeClr val="tx1"/>
                          </a:solidFill>
                        </a:rPr>
                        <a:t>800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3200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574889312"/>
                  </a:ext>
                </a:extLst>
              </a:tr>
              <a:tr h="101600">
                <a:tc>
                  <a:txBody>
                    <a:bodyPr/>
                    <a:lstStyle/>
                    <a:p>
                      <a:pPr marL="0" marR="0" lvl="0" indent="0" algn="ctr" rtl="0">
                        <a:spcBef>
                          <a:spcPts val="0"/>
                        </a:spcBef>
                        <a:spcAft>
                          <a:spcPts val="0"/>
                        </a:spcAft>
                        <a:buNone/>
                      </a:pPr>
                      <a:r>
                        <a:rPr lang="en-US" sz="900" b="1" dirty="0">
                          <a:solidFill>
                            <a:schemeClr val="tx1"/>
                          </a:solidFill>
                        </a:rPr>
                        <a:t>750 m </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3100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570264682"/>
                  </a:ext>
                </a:extLst>
              </a:tr>
              <a:tr h="101600">
                <a:tc>
                  <a:txBody>
                    <a:bodyPr/>
                    <a:lstStyle/>
                    <a:p>
                      <a:pPr marL="0" marR="0" lvl="0" indent="0" algn="ctr" rtl="0">
                        <a:spcBef>
                          <a:spcPts val="0"/>
                        </a:spcBef>
                        <a:spcAft>
                          <a:spcPts val="0"/>
                        </a:spcAft>
                        <a:buNone/>
                      </a:pPr>
                      <a:r>
                        <a:rPr lang="en-US" sz="900" b="1" dirty="0">
                          <a:solidFill>
                            <a:schemeClr val="tx1"/>
                          </a:solidFill>
                        </a:rPr>
                        <a:t>550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2400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849956985"/>
                  </a:ext>
                </a:extLst>
              </a:tr>
              <a:tr h="101600">
                <a:tc>
                  <a:txBody>
                    <a:bodyPr/>
                    <a:lstStyle/>
                    <a:p>
                      <a:pPr marL="0" marR="0" lvl="0" indent="0" algn="ctr" rtl="0">
                        <a:spcBef>
                          <a:spcPts val="0"/>
                        </a:spcBef>
                        <a:spcAft>
                          <a:spcPts val="0"/>
                        </a:spcAft>
                        <a:buNone/>
                      </a:pPr>
                      <a:r>
                        <a:rPr lang="en-US" sz="900" b="1" dirty="0">
                          <a:solidFill>
                            <a:schemeClr val="tx1"/>
                          </a:solidFill>
                        </a:rPr>
                        <a:t>515 m </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2300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707927096"/>
                  </a:ext>
                </a:extLst>
              </a:tr>
              <a:tr h="101600">
                <a:tc>
                  <a:txBody>
                    <a:bodyPr/>
                    <a:lstStyle/>
                    <a:p>
                      <a:pPr marL="0" marR="0" lvl="0" indent="0" algn="ctr" rtl="0">
                        <a:spcBef>
                          <a:spcPts val="0"/>
                        </a:spcBef>
                        <a:spcAft>
                          <a:spcPts val="0"/>
                        </a:spcAft>
                        <a:buNone/>
                      </a:pPr>
                      <a:r>
                        <a:rPr lang="en-US" sz="900" b="1" dirty="0">
                          <a:solidFill>
                            <a:schemeClr val="tx1"/>
                          </a:solidFill>
                        </a:rPr>
                        <a:t>500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2300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2285190659"/>
                  </a:ext>
                </a:extLst>
              </a:tr>
              <a:tr h="101600">
                <a:tc>
                  <a:txBody>
                    <a:bodyPr/>
                    <a:lstStyle/>
                    <a:p>
                      <a:pPr marL="0" marR="0" lvl="0" indent="0" algn="ctr" rtl="0">
                        <a:spcBef>
                          <a:spcPts val="0"/>
                        </a:spcBef>
                        <a:spcAft>
                          <a:spcPts val="0"/>
                        </a:spcAft>
                        <a:buNone/>
                      </a:pPr>
                      <a:r>
                        <a:rPr lang="en-US" sz="900" b="1" dirty="0">
                          <a:solidFill>
                            <a:schemeClr val="tx1"/>
                          </a:solidFill>
                        </a:rPr>
                        <a:t>425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2000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959726209"/>
                  </a:ext>
                </a:extLst>
              </a:tr>
              <a:tr h="101600">
                <a:tc>
                  <a:txBody>
                    <a:bodyPr/>
                    <a:lstStyle/>
                    <a:p>
                      <a:pPr marL="0" marR="0" lvl="0" indent="0" algn="ctr" rtl="0">
                        <a:spcBef>
                          <a:spcPts val="0"/>
                        </a:spcBef>
                        <a:spcAft>
                          <a:spcPts val="0"/>
                        </a:spcAft>
                        <a:buNone/>
                      </a:pPr>
                      <a:r>
                        <a:rPr lang="en-US" sz="900" b="1" dirty="0">
                          <a:solidFill>
                            <a:schemeClr val="tx1"/>
                          </a:solidFill>
                        </a:rPr>
                        <a:t>355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1800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3066265468"/>
                  </a:ext>
                </a:extLst>
              </a:tr>
              <a:tr h="101600">
                <a:tc>
                  <a:txBody>
                    <a:bodyPr/>
                    <a:lstStyle/>
                    <a:p>
                      <a:pPr marL="0" marR="0" lvl="0" indent="0" algn="ctr" rtl="0">
                        <a:spcBef>
                          <a:spcPts val="0"/>
                        </a:spcBef>
                        <a:spcAft>
                          <a:spcPts val="0"/>
                        </a:spcAft>
                        <a:buNone/>
                      </a:pPr>
                      <a:r>
                        <a:rPr lang="en-US" sz="900" b="1" dirty="0">
                          <a:solidFill>
                            <a:schemeClr val="tx1"/>
                          </a:solidFill>
                        </a:rPr>
                        <a:t>200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1300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573489271"/>
                  </a:ext>
                </a:extLst>
              </a:tr>
              <a:tr h="101600">
                <a:tc>
                  <a:txBody>
                    <a:bodyPr/>
                    <a:lstStyle/>
                    <a:p>
                      <a:pPr marL="0" marR="0" lvl="0" indent="0" algn="ctr" rtl="0">
                        <a:spcBef>
                          <a:spcPts val="0"/>
                        </a:spcBef>
                        <a:spcAft>
                          <a:spcPts val="0"/>
                        </a:spcAft>
                        <a:buNone/>
                      </a:pPr>
                      <a:r>
                        <a:rPr lang="en-US" sz="900" b="1" dirty="0">
                          <a:solidFill>
                            <a:schemeClr val="tx1"/>
                          </a:solidFill>
                        </a:rPr>
                        <a:t>100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1000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1928050573"/>
                  </a:ext>
                </a:extLst>
              </a:tr>
              <a:tr h="101600">
                <a:tc>
                  <a:txBody>
                    <a:bodyPr/>
                    <a:lstStyle/>
                    <a:p>
                      <a:pPr marL="0" marR="0" lvl="0" indent="0" algn="ctr" rtl="0">
                        <a:spcBef>
                          <a:spcPts val="0"/>
                        </a:spcBef>
                        <a:spcAft>
                          <a:spcPts val="0"/>
                        </a:spcAft>
                        <a:buNone/>
                      </a:pPr>
                      <a:r>
                        <a:rPr lang="en-US" sz="900" b="1" dirty="0">
                          <a:solidFill>
                            <a:schemeClr val="tx1"/>
                          </a:solidFill>
                        </a:rPr>
                        <a:t>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623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4087151422"/>
                  </a:ext>
                </a:extLst>
              </a:tr>
            </a:tbl>
          </a:graphicData>
        </a:graphic>
      </p:graphicFrame>
      <p:graphicFrame>
        <p:nvGraphicFramePr>
          <p:cNvPr id="5" name="Google Shape;381;p28">
            <a:extLst>
              <a:ext uri="{FF2B5EF4-FFF2-40B4-BE49-F238E27FC236}">
                <a16:creationId xmlns:a16="http://schemas.microsoft.com/office/drawing/2014/main" id="{574A80DF-A9B9-C95F-1A2C-D48963F2FF8A}"/>
              </a:ext>
            </a:extLst>
          </p:cNvPr>
          <p:cNvGraphicFramePr/>
          <p:nvPr>
            <p:extLst>
              <p:ext uri="{D42A27DB-BD31-4B8C-83A1-F6EECF244321}">
                <p14:modId xmlns:p14="http://schemas.microsoft.com/office/powerpoint/2010/main" val="3490243799"/>
              </p:ext>
            </p:extLst>
          </p:nvPr>
        </p:nvGraphicFramePr>
        <p:xfrm>
          <a:off x="7" y="0"/>
          <a:ext cx="2328850" cy="8229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solidFill>
                            <a:srgbClr val="C00000"/>
                          </a:solidFill>
                        </a:rPr>
                        <a:t>YNJ</a:t>
                      </a:r>
                      <a:r>
                        <a:rPr lang="en-US" sz="1000" dirty="0"/>
                        <a:t>  Altitude / Height Conversion Table</a:t>
                      </a:r>
                      <a:endParaRPr sz="1000" dirty="0"/>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err="1">
                          <a:solidFill>
                            <a:srgbClr val="C00000"/>
                          </a:solidFill>
                        </a:rPr>
                        <a:t>xxxx</a:t>
                      </a:r>
                      <a:r>
                        <a:rPr lang="en-US" altLang="ko-Kore-KR" sz="800" b="1" dirty="0">
                          <a:solidFill>
                            <a:srgbClr val="C00000"/>
                          </a:solidFill>
                        </a:rPr>
                        <a:t> meters on STD </a:t>
                      </a:r>
                      <a:r>
                        <a:rPr lang="ko-KR" altLang="en-US" sz="800" b="1" dirty="0">
                          <a:solidFill>
                            <a:srgbClr val="C00000"/>
                          </a:solidFill>
                        </a:rPr>
                        <a:t>이후 적용</a:t>
                      </a:r>
                      <a:endParaRPr lang="en-US" sz="800" b="1" dirty="0">
                        <a:solidFill>
                          <a:srgbClr val="0070C0"/>
                        </a:solidFill>
                      </a:endParaRPr>
                    </a:p>
                    <a:p>
                      <a:pPr marL="0" marR="0" lvl="0" indent="0" algn="l" rtl="0">
                        <a:spcBef>
                          <a:spcPts val="0"/>
                        </a:spcBef>
                        <a:spcAft>
                          <a:spcPts val="0"/>
                        </a:spcAft>
                        <a:buNone/>
                      </a:pPr>
                      <a:r>
                        <a:rPr lang="en-US" sz="800" b="1" dirty="0" err="1">
                          <a:solidFill>
                            <a:srgbClr val="0070C0"/>
                          </a:solidFill>
                        </a:rPr>
                        <a:t>xxxx</a:t>
                      </a:r>
                      <a:r>
                        <a:rPr lang="en-US" sz="800" b="1" dirty="0">
                          <a:solidFill>
                            <a:srgbClr val="0070C0"/>
                          </a:solidFill>
                        </a:rPr>
                        <a:t> meters on QFE </a:t>
                      </a:r>
                      <a:r>
                        <a:rPr lang="en-US" sz="800" b="1" dirty="0" err="1">
                          <a:solidFill>
                            <a:srgbClr val="0070C0"/>
                          </a:solidFill>
                        </a:rPr>
                        <a:t>xxxx</a:t>
                      </a:r>
                      <a:r>
                        <a:rPr lang="en-US" sz="800" b="1" dirty="0">
                          <a:solidFill>
                            <a:srgbClr val="0070C0"/>
                          </a:solidFill>
                        </a:rPr>
                        <a:t> -&gt; REQ QNH </a:t>
                      </a:r>
                    </a:p>
                    <a:p>
                      <a:pPr marL="0" marR="0" lvl="0" indent="0" algn="l" rtl="0">
                        <a:spcBef>
                          <a:spcPts val="0"/>
                        </a:spcBef>
                        <a:spcAft>
                          <a:spcPts val="0"/>
                        </a:spcAft>
                        <a:buNone/>
                      </a:pPr>
                      <a:r>
                        <a:rPr lang="en-US" sz="800" b="1" dirty="0">
                          <a:solidFill>
                            <a:srgbClr val="0070C0"/>
                          </a:solidFill>
                        </a:rPr>
                        <a:t>-&gt; QNH xxx SET</a:t>
                      </a:r>
                      <a:r>
                        <a:rPr lang="ko-KR" altLang="en-US" sz="800" b="1" dirty="0">
                          <a:solidFill>
                            <a:srgbClr val="0070C0"/>
                          </a:solidFill>
                        </a:rPr>
                        <a:t>후 </a:t>
                      </a:r>
                      <a:r>
                        <a:rPr lang="en-US" altLang="ko-KR" sz="800" b="1" dirty="0">
                          <a:solidFill>
                            <a:srgbClr val="0070C0"/>
                          </a:solidFill>
                        </a:rPr>
                        <a:t>Conversion Table </a:t>
                      </a:r>
                      <a:r>
                        <a:rPr lang="ko-KR" altLang="en-US" sz="800" b="1" dirty="0">
                          <a:solidFill>
                            <a:srgbClr val="0070C0"/>
                          </a:solidFill>
                        </a:rPr>
                        <a:t>사용</a:t>
                      </a:r>
                      <a:endParaRPr lang="en-US" altLang="ko-KR" sz="800" b="1" dirty="0">
                        <a:solidFill>
                          <a:srgbClr val="0070C0"/>
                        </a:solidFill>
                      </a:endParaRPr>
                    </a:p>
                    <a:p>
                      <a:pPr marL="0" marR="0" lvl="0" indent="0" algn="l" rtl="0">
                        <a:spcBef>
                          <a:spcPts val="0"/>
                        </a:spcBef>
                        <a:spcAft>
                          <a:spcPts val="0"/>
                        </a:spcAft>
                        <a:buNone/>
                      </a:pPr>
                      <a:r>
                        <a:rPr lang="en-US" altLang="ko-KR" sz="800" b="1" dirty="0">
                          <a:solidFill>
                            <a:srgbClr val="00B050"/>
                          </a:solidFill>
                        </a:rPr>
                        <a:t>YNJ A/P Elevation : 623ft = 22.5hPa</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154773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962440562"/>
              </p:ext>
            </p:extLst>
          </p:nvPr>
        </p:nvGraphicFramePr>
        <p:xfrm>
          <a:off x="-4046" y="586900"/>
          <a:ext cx="2324402" cy="203641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171299">
                  <a:extLst>
                    <a:ext uri="{9D8B030D-6E8A-4147-A177-3AD203B41FA5}">
                      <a16:colId xmlns:a16="http://schemas.microsoft.com/office/drawing/2014/main" val="20002"/>
                    </a:ext>
                  </a:extLst>
                </a:gridCol>
                <a:gridCol w="431077">
                  <a:extLst>
                    <a:ext uri="{9D8B030D-6E8A-4147-A177-3AD203B41FA5}">
                      <a16:colId xmlns:a16="http://schemas.microsoft.com/office/drawing/2014/main" val="20003"/>
                    </a:ext>
                  </a:extLst>
                </a:gridCol>
                <a:gridCol w="167003">
                  <a:extLst>
                    <a:ext uri="{9D8B030D-6E8A-4147-A177-3AD203B41FA5}">
                      <a16:colId xmlns:a16="http://schemas.microsoft.com/office/drawing/2014/main" val="20004"/>
                    </a:ext>
                  </a:extLst>
                </a:gridCol>
                <a:gridCol w="61400">
                  <a:extLst>
                    <a:ext uri="{9D8B030D-6E8A-4147-A177-3AD203B41FA5}">
                      <a16:colId xmlns:a16="http://schemas.microsoft.com/office/drawing/2014/main" val="20005"/>
                    </a:ext>
                  </a:extLst>
                </a:gridCol>
                <a:gridCol w="332657">
                  <a:extLst>
                    <a:ext uri="{9D8B030D-6E8A-4147-A177-3AD203B41FA5}">
                      <a16:colId xmlns:a16="http://schemas.microsoft.com/office/drawing/2014/main" val="20006"/>
                    </a:ext>
                  </a:extLst>
                </a:gridCol>
                <a:gridCol w="273273">
                  <a:extLst>
                    <a:ext uri="{9D8B030D-6E8A-4147-A177-3AD203B41FA5}">
                      <a16:colId xmlns:a16="http://schemas.microsoft.com/office/drawing/2014/main" val="20007"/>
                    </a:ext>
                  </a:extLst>
                </a:gridCol>
                <a:gridCol w="330520">
                  <a:extLst>
                    <a:ext uri="{9D8B030D-6E8A-4147-A177-3AD203B41FA5}">
                      <a16:colId xmlns:a16="http://schemas.microsoft.com/office/drawing/2014/main" val="20008"/>
                    </a:ext>
                  </a:extLst>
                </a:gridCol>
                <a:gridCol w="248003">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YNJ : RNP SID (NADP 1) </a:t>
                      </a:r>
                      <a:r>
                        <a:rPr lang="en-US" sz="800" u="none" strike="noStrike" cap="none" dirty="0">
                          <a:solidFill>
                            <a:schemeClr val="accent4"/>
                          </a:solidFill>
                        </a:rPr>
                        <a:t>RW27 Main</a:t>
                      </a:r>
                    </a:p>
                    <a:p>
                      <a:pPr marL="0" marR="0" lvl="0" indent="0" algn="ctr" rtl="0">
                        <a:spcBef>
                          <a:spcPts val="0"/>
                        </a:spcBef>
                        <a:spcAft>
                          <a:spcPts val="0"/>
                        </a:spcAft>
                        <a:buNone/>
                      </a:pPr>
                      <a:r>
                        <a:rPr lang="en-US" sz="800" u="none" strike="noStrike" cap="none" dirty="0">
                          <a:solidFill>
                            <a:schemeClr val="accent4"/>
                          </a:solidFill>
                        </a:rPr>
                        <a:t>CTOT from GND Staff due to Mil Train </a:t>
                      </a:r>
                      <a:r>
                        <a:rPr lang="en-US" sz="800" u="none" strike="noStrike" cap="none" dirty="0">
                          <a:solidFill>
                            <a:srgbClr val="C00000"/>
                          </a:solidFill>
                        </a:rPr>
                        <a:t>(ADD Fuel)</a:t>
                      </a:r>
                    </a:p>
                    <a:p>
                      <a:pPr marL="0" marR="0" lvl="0" indent="0" algn="ctr" rtl="0">
                        <a:spcBef>
                          <a:spcPts val="0"/>
                        </a:spcBef>
                        <a:spcAft>
                          <a:spcPts val="0"/>
                        </a:spcAft>
                        <a:buNone/>
                      </a:pPr>
                      <a:r>
                        <a:rPr lang="en-US" sz="800" u="none" strike="noStrike" cap="none" dirty="0">
                          <a:solidFill>
                            <a:schemeClr val="accent4"/>
                          </a:solidFill>
                        </a:rPr>
                        <a:t>Consider Improve C/B &amp; NO Bleed T/O (in Summer)</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27</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KANVU 19D (11D)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271</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271</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ATC/6500ft</a:t>
                      </a:r>
                    </a:p>
                    <a:p>
                      <a:pPr marL="0" marR="0" lvl="0" indent="0" algn="ctr" rtl="0">
                        <a:spcBef>
                          <a:spcPts val="0"/>
                        </a:spcBef>
                        <a:spcAft>
                          <a:spcPts val="0"/>
                        </a:spcAft>
                        <a:buNone/>
                      </a:pPr>
                      <a:r>
                        <a:rPr lang="en-US" sz="800" b="1" u="none" strike="noStrike" cap="none" dirty="0">
                          <a:solidFill>
                            <a:srgbClr val="0070C0"/>
                          </a:solidFill>
                        </a:rPr>
                        <a:t>(1800mQFE)</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271</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u="none" strike="noStrike" cap="none" dirty="0"/>
                        <a:t>09</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KANVU 09D</a:t>
                      </a:r>
                    </a:p>
                    <a:p>
                      <a:pPr marL="0" marR="0" lvl="0" indent="0" algn="ctr" rtl="0">
                        <a:spcBef>
                          <a:spcPts val="0"/>
                        </a:spcBef>
                        <a:spcAft>
                          <a:spcPts val="0"/>
                        </a:spcAft>
                        <a:buNone/>
                      </a:pPr>
                      <a:r>
                        <a:rPr lang="en-US" altLang="ko-Kore-KR" sz="800" b="1" u="none" strike="noStrike" cap="none" dirty="0">
                          <a:solidFill>
                            <a:srgbClr val="0070C0"/>
                          </a:solidFill>
                        </a:rPr>
                        <a:t>(01D)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091</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091</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ATC/6500ft</a:t>
                      </a:r>
                    </a:p>
                    <a:p>
                      <a:pPr marL="0" marR="0" lvl="0" indent="0" algn="ctr" rtl="0">
                        <a:spcBef>
                          <a:spcPts val="0"/>
                        </a:spcBef>
                        <a:spcAft>
                          <a:spcPts val="0"/>
                        </a:spcAft>
                        <a:buNone/>
                      </a:pPr>
                      <a:r>
                        <a:rPr lang="en-US" sz="800" b="0" u="none" strike="noStrike" cap="none" dirty="0">
                          <a:solidFill>
                            <a:srgbClr val="C00000"/>
                          </a:solidFill>
                        </a:rPr>
                        <a:t>SPD 200kts</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091</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YNJ 113.1</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09 108.7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27 109.3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altLang="ko-Kore-KR" sz="800" u="none" strike="noStrike" cap="none" dirty="0">
                          <a:solidFill>
                            <a:schemeClr val="lt1"/>
                          </a:solidFill>
                        </a:rPr>
                        <a:t>FIX</a:t>
                      </a:r>
                      <a:endParaRPr sz="800" b="0" u="none" strike="noStrike" cap="none" dirty="0">
                        <a:solidFill>
                          <a:schemeClr val="tx1"/>
                        </a:solidFill>
                      </a:endParaRPr>
                    </a:p>
                  </a:txBody>
                  <a:tcPr marL="0" marR="0" marT="0" marB="0" anchor="ctr">
                    <a:solidFill>
                      <a:schemeClr val="accent1"/>
                    </a:solidFill>
                  </a:tcPr>
                </a:tc>
                <a:tc hMerge="1">
                  <a:txBody>
                    <a:bodyPr/>
                    <a:lstStyle/>
                    <a:p>
                      <a:endParaRPr lang="ko-Kore-KR" altLang="en-US"/>
                    </a:p>
                  </a:txBody>
                  <a:tcPr/>
                </a:tc>
                <a:tc gridSpan="8">
                  <a:txBody>
                    <a:bodyPr/>
                    <a:lstStyle/>
                    <a:p>
                      <a:pPr marL="0" marR="0" lvl="0" indent="0" algn="ctr" defTabSz="914400"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27 : YNJ 271/3.6, YNJ 073/10</a:t>
                      </a:r>
                      <a:r>
                        <a:rPr kumimoji="0" lang="en-US" altLang="ko-KR" sz="800" b="0" i="0" u="none" strike="noStrike" kern="0" cap="none" spc="0" normalizeH="0" baseline="0" noProof="0" dirty="0">
                          <a:ln>
                            <a:noFill/>
                          </a:ln>
                          <a:solidFill>
                            <a:srgbClr val="000000"/>
                          </a:solidFill>
                          <a:effectLst/>
                          <a:uLnTx/>
                          <a:uFillTx/>
                          <a:latin typeface="Calibri"/>
                          <a:cs typeface="Calibri"/>
                          <a:sym typeface="Arial"/>
                        </a:rPr>
                        <a:t> (MAX 162kts)</a:t>
                      </a:r>
                      <a:endParaRPr kumimoji="0" lang="en-US" altLang="ko-Kore-KR" sz="800" b="0" i="0" u="none" strike="noStrike" kern="0" cap="none" spc="0" normalizeH="0" baseline="0" noProof="0" dirty="0">
                        <a:ln>
                          <a:noFill/>
                        </a:ln>
                        <a:solidFill>
                          <a:srgbClr val="000000"/>
                        </a:solidFill>
                        <a:effectLst/>
                        <a:uLnTx/>
                        <a:uFillTx/>
                        <a:latin typeface="Calibri"/>
                        <a:cs typeface="Calibri"/>
                        <a:sym typeface="Arial"/>
                      </a:endParaRPr>
                    </a:p>
                    <a:p>
                      <a:pPr marL="0" marR="0" lvl="0" indent="0" algn="ctr" defTabSz="914400" rtl="0" eaLnBrk="1" fontAlgn="auto" latinLnBrk="0" hangingPunct="1">
                        <a:lnSpc>
                          <a:spcPct val="100000"/>
                        </a:lnSpc>
                        <a:spcBef>
                          <a:spcPts val="0"/>
                        </a:spcBef>
                        <a:spcAft>
                          <a:spcPts val="0"/>
                        </a:spcAft>
                        <a:buClr>
                          <a:srgbClr val="0070C0"/>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09 : YNJ 091/4.5, YNJ 287/11 (MAX 162kts)</a:t>
                      </a:r>
                    </a:p>
                  </a:txBody>
                  <a:tcPr marL="0" marR="0" marT="0" marB="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186816789"/>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27(597’) </a:t>
                      </a:r>
                      <a:r>
                        <a:rPr lang="en-US" sz="800" b="1" u="none" strike="noStrike" cap="none" dirty="0">
                          <a:solidFill>
                            <a:srgbClr val="C00000"/>
                          </a:solidFill>
                          <a:latin typeface="Calibri"/>
                          <a:ea typeface="Calibri"/>
                          <a:cs typeface="Calibri"/>
                          <a:sym typeface="Calibri"/>
                        </a:rPr>
                        <a:t>3.3</a:t>
                      </a:r>
                      <a:r>
                        <a:rPr lang="ko-KR" altLang="en-US" sz="800" b="1" u="none" strike="noStrike" cap="none" dirty="0">
                          <a:solidFill>
                            <a:srgbClr val="C00000"/>
                          </a:solidFill>
                          <a:latin typeface="Calibri"/>
                          <a:ea typeface="Calibri"/>
                          <a:cs typeface="Calibri"/>
                          <a:sym typeface="Calibri"/>
                        </a:rPr>
                        <a:t>도</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8530</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09</a:t>
                      </a:r>
                      <a:r>
                        <a:rPr lang="en-US" sz="800" b="1" u="none" strike="noStrike" cap="none" dirty="0">
                          <a:solidFill>
                            <a:srgbClr val="00B050"/>
                          </a:solidFill>
                          <a:latin typeface="Calibri"/>
                          <a:ea typeface="Calibri"/>
                          <a:cs typeface="Calibri"/>
                          <a:sym typeface="Calibri"/>
                        </a:rPr>
                        <a:t>(</a:t>
                      </a:r>
                      <a:r>
                        <a:rPr lang="en-US" altLang="ko-KR" sz="800" b="1" u="none" strike="noStrike" cap="none" dirty="0">
                          <a:solidFill>
                            <a:srgbClr val="00B050"/>
                          </a:solidFill>
                          <a:latin typeface="Calibri"/>
                          <a:ea typeface="Calibri"/>
                          <a:cs typeface="Calibri"/>
                          <a:sym typeface="Calibri"/>
                        </a:rPr>
                        <a:t>621</a:t>
                      </a:r>
                      <a:r>
                        <a:rPr lang="en-US" sz="800" b="1" u="none" strike="noStrike" cap="none" dirty="0">
                          <a:solidFill>
                            <a:srgbClr val="00B050"/>
                          </a:solidFill>
                          <a:latin typeface="Calibri"/>
                          <a:ea typeface="Calibri"/>
                          <a:cs typeface="Calibri"/>
                          <a:sym typeface="Calibri"/>
                        </a:rPr>
                        <a:t>’)</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C00000"/>
                          </a:solidFill>
                        </a:rPr>
                        <a:t>Must Check MTOW</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RWY 27 180 Back(Clockwise)</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ZYYJ(YNJ) </a:t>
                      </a:r>
                      <a:r>
                        <a:rPr lang="en-US" altLang="ko-Kore-KR" sz="1300" dirty="0">
                          <a:solidFill>
                            <a:srgbClr val="C00000"/>
                          </a:solidFill>
                          <a:hlinkClick r:id="rId3">
                            <a:extLst>
                              <a:ext uri="{A12FA001-AC4F-418D-AE19-62706E023703}">
                                <ahyp:hlinkClr xmlns:ahyp="http://schemas.microsoft.com/office/drawing/2018/hyperlinkcolor" val="tx"/>
                              </a:ext>
                            </a:extLst>
                          </a:hlinkClick>
                        </a:rPr>
                        <a:t>624ft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altLang="ko-KR" sz="700" dirty="0">
                          <a:solidFill>
                            <a:srgbClr val="FF0000"/>
                          </a:solidFill>
                        </a:rPr>
                        <a:t>TWR 118.75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1250078" y="2537716"/>
            <a:ext cx="1136850"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YNJ 118.75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SHE 132.35 – 119.3</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128.77 – </a:t>
            </a:r>
            <a:r>
              <a:rPr kumimoji="1" lang="en-US" altLang="ko-Kore-KR" sz="700" b="1" u="sng" dirty="0">
                <a:solidFill>
                  <a:srgbClr val="0070C0"/>
                </a:solidFill>
                <a:latin typeface="Gulim" panose="020B0600000101010101" pitchFamily="34" charset="-127"/>
                <a:ea typeface="Gulim" panose="020B0600000101010101" pitchFamily="34" charset="-127"/>
              </a:rPr>
              <a:t>135.65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132.95 - ICN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pic>
        <p:nvPicPr>
          <p:cNvPr id="7" name="그림 6" descr="지도, 텍스트, 아틀라스이(가) 표시된 사진&#10;&#10;자동 생성된 설명">
            <a:extLst>
              <a:ext uri="{FF2B5EF4-FFF2-40B4-BE49-F238E27FC236}">
                <a16:creationId xmlns:a16="http://schemas.microsoft.com/office/drawing/2014/main" id="{F19609A6-7271-6D23-5630-D75089A2600E}"/>
              </a:ext>
            </a:extLst>
          </p:cNvPr>
          <p:cNvPicPr>
            <a:picLocks noChangeAspect="1"/>
          </p:cNvPicPr>
          <p:nvPr/>
        </p:nvPicPr>
        <p:blipFill>
          <a:blip r:embed="rId5"/>
          <a:stretch>
            <a:fillRect/>
          </a:stretch>
        </p:blipFill>
        <p:spPr>
          <a:xfrm>
            <a:off x="0" y="2617765"/>
            <a:ext cx="1311394" cy="602996"/>
          </a:xfrm>
          <a:prstGeom prst="rect">
            <a:avLst/>
          </a:prstGeom>
        </p:spPr>
      </p:pic>
      <p:sp>
        <p:nvSpPr>
          <p:cNvPr id="3" name="직사각형 2">
            <a:hlinkClick r:id="" action="ppaction://hlinkshowjump?jump=firstslide"/>
            <a:extLst>
              <a:ext uri="{FF2B5EF4-FFF2-40B4-BE49-F238E27FC236}">
                <a16:creationId xmlns:a16="http://schemas.microsoft.com/office/drawing/2014/main" id="{15D96964-DA7D-DB70-8854-38CF355C9A8D}"/>
              </a:ext>
            </a:extLst>
          </p:cNvPr>
          <p:cNvSpPr/>
          <p:nvPr/>
        </p:nvSpPr>
        <p:spPr>
          <a:xfrm>
            <a:off x="1651787" y="314824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14700386-C099-B304-A62F-487E189607C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52579268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34798"/>
            <a:ext cx="2496196"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126.17 – 120.72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 – 120.55 - SHA APP 125.62 – 119.7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HGH APP 119.82 – 120.4 – 125.55</a:t>
            </a:r>
          </a:p>
        </p:txBody>
      </p:sp>
      <p:graphicFrame>
        <p:nvGraphicFramePr>
          <p:cNvPr id="291" name="Google Shape;291;p18"/>
          <p:cNvGraphicFramePr/>
          <p:nvPr>
            <p:extLst>
              <p:ext uri="{D42A27DB-BD31-4B8C-83A1-F6EECF244321}">
                <p14:modId xmlns:p14="http://schemas.microsoft.com/office/powerpoint/2010/main" val="1040567968"/>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16L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641533169"/>
              </p:ext>
            </p:extLst>
          </p:nvPr>
        </p:nvGraphicFramePr>
        <p:xfrm>
          <a:off x="4472" y="3681982"/>
          <a:ext cx="2311025" cy="1921330"/>
        </p:xfrm>
        <a:graphic>
          <a:graphicData uri="http://schemas.openxmlformats.org/drawingml/2006/table">
            <a:tbl>
              <a:tblPr firstRow="1" bandRow="1">
                <a:noFill/>
                <a:tableStyleId>{A521BE36-7E6F-4EC9-8D66-1CF97A6895EC}</a:tableStyleId>
              </a:tblPr>
              <a:tblGrid>
                <a:gridCol w="482225">
                  <a:extLst>
                    <a:ext uri="{9D8B030D-6E8A-4147-A177-3AD203B41FA5}">
                      <a16:colId xmlns:a16="http://schemas.microsoft.com/office/drawing/2014/main" val="20000"/>
                    </a:ext>
                  </a:extLst>
                </a:gridCol>
                <a:gridCol w="876315">
                  <a:extLst>
                    <a:ext uri="{9D8B030D-6E8A-4147-A177-3AD203B41FA5}">
                      <a16:colId xmlns:a16="http://schemas.microsoft.com/office/drawing/2014/main" val="20001"/>
                    </a:ext>
                  </a:extLst>
                </a:gridCol>
                <a:gridCol w="430599">
                  <a:extLst>
                    <a:ext uri="{9D8B030D-6E8A-4147-A177-3AD203B41FA5}">
                      <a16:colId xmlns:a16="http://schemas.microsoft.com/office/drawing/2014/main" val="20002"/>
                    </a:ext>
                  </a:extLst>
                </a:gridCol>
                <a:gridCol w="521886">
                  <a:extLst>
                    <a:ext uri="{9D8B030D-6E8A-4147-A177-3AD203B41FA5}">
                      <a16:colId xmlns:a16="http://schemas.microsoft.com/office/drawing/2014/main" val="20003"/>
                    </a:ext>
                  </a:extLst>
                </a:gridCol>
              </a:tblGrid>
              <a:tr h="261302">
                <a:tc gridSpan="4">
                  <a:txBody>
                    <a:bodyPr/>
                    <a:lstStyle/>
                    <a:p>
                      <a:pPr marL="0" marR="0" lvl="0" indent="0" algn="l" rtl="0">
                        <a:spcBef>
                          <a:spcPts val="0"/>
                        </a:spcBef>
                        <a:spcAft>
                          <a:spcPts val="0"/>
                        </a:spcAft>
                        <a:buNone/>
                      </a:pPr>
                      <a:r>
                        <a:rPr lang="en-US" sz="800" dirty="0"/>
                        <a:t>HGH : STAR </a:t>
                      </a:r>
                      <a:r>
                        <a:rPr lang="en-US" sz="800" b="0" dirty="0">
                          <a:solidFill>
                            <a:srgbClr val="FFC000"/>
                          </a:solidFill>
                        </a:rPr>
                        <a:t>- STAR, APP, Missed APP Keep Track </a:t>
                      </a:r>
                      <a:r>
                        <a:rPr lang="en-US" sz="800" b="0" dirty="0" err="1">
                          <a:solidFill>
                            <a:srgbClr val="FFC000"/>
                          </a:solidFill>
                        </a:rPr>
                        <a:t>Cauton</a:t>
                      </a:r>
                      <a:r>
                        <a:rPr lang="en-US" sz="800" b="0" dirty="0">
                          <a:solidFill>
                            <a:srgbClr val="FFC000"/>
                          </a:solidFill>
                        </a:rPr>
                        <a:t> Military Traffic </a:t>
                      </a:r>
                      <a:r>
                        <a:rPr lang="en-US" sz="800" b="0" dirty="0">
                          <a:solidFill>
                            <a:srgbClr val="FF0000"/>
                          </a:solidFill>
                        </a:rPr>
                        <a:t>(Missed APP ALT In ATIS)</a:t>
                      </a:r>
                      <a:endParaRPr sz="800" b="0" dirty="0">
                        <a:solidFill>
                          <a:srgbClr val="FF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51128">
                <a:tc>
                  <a:txBody>
                    <a:bodyPr/>
                    <a:lstStyle/>
                    <a:p>
                      <a:pPr marL="0" marR="0" lvl="0" indent="0" algn="ctr" rtl="0">
                        <a:spcBef>
                          <a:spcPts val="0"/>
                        </a:spcBef>
                        <a:spcAft>
                          <a:spcPts val="0"/>
                        </a:spcAft>
                        <a:buNone/>
                      </a:pPr>
                      <a:r>
                        <a:rPr lang="en-US" sz="800" b="1" dirty="0"/>
                        <a:t>07/06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OKT, SUP 91A</a:t>
                      </a:r>
                    </a:p>
                  </a:txBody>
                  <a:tcPr marL="36000" marR="36000" marT="36000" marB="36000" anchor="ctr"/>
                </a:tc>
                <a:tc>
                  <a:txBody>
                    <a:bodyPr/>
                    <a:lstStyle/>
                    <a:p>
                      <a:pPr marL="0" marR="0" lvl="0" indent="0" algn="ctr" rtl="0">
                        <a:spcBef>
                          <a:spcPts val="0"/>
                        </a:spcBef>
                        <a:spcAft>
                          <a:spcPts val="0"/>
                        </a:spcAft>
                        <a:buNone/>
                      </a:pPr>
                      <a:r>
                        <a:rPr lang="en-US" sz="800" b="1" dirty="0"/>
                        <a:t>HC410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1"/>
                  </a:ext>
                </a:extLst>
              </a:tr>
              <a:tr h="151128">
                <a:tc>
                  <a:txBody>
                    <a:bodyPr/>
                    <a:lstStyle/>
                    <a:p>
                      <a:pPr marL="0" marR="0" lvl="0" indent="0" algn="ctr" rtl="0">
                        <a:spcBef>
                          <a:spcPts val="0"/>
                        </a:spcBef>
                        <a:spcAft>
                          <a:spcPts val="0"/>
                        </a:spcAft>
                        <a:buNone/>
                      </a:pPr>
                      <a:r>
                        <a:rPr lang="en-US" sz="800" b="1" dirty="0"/>
                        <a:t>25/24</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OKT, SUP 81A</a:t>
                      </a:r>
                    </a:p>
                  </a:txBody>
                  <a:tcPr marL="36000" marR="36000" marT="36000" marB="36000" anchor="ctr"/>
                </a:tc>
                <a:tc>
                  <a:txBody>
                    <a:bodyPr/>
                    <a:lstStyle/>
                    <a:p>
                      <a:pPr marL="0" marR="0" lvl="0" indent="0" algn="ctr" rtl="0">
                        <a:spcBef>
                          <a:spcPts val="0"/>
                        </a:spcBef>
                        <a:spcAft>
                          <a:spcPts val="0"/>
                        </a:spcAft>
                        <a:buNone/>
                      </a:pPr>
                      <a:r>
                        <a:rPr lang="en-US" sz="800" b="1" dirty="0"/>
                        <a:t>HC305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xx</a:t>
                      </a:r>
                    </a:p>
                  </a:txBody>
                  <a:tcPr marL="36000" marR="36000" marT="36000" marB="36000" anchor="ctr"/>
                </a:tc>
                <a:extLst>
                  <a:ext uri="{0D108BD9-81ED-4DB2-BD59-A6C34878D82A}">
                    <a16:rowId xmlns:a16="http://schemas.microsoft.com/office/drawing/2014/main" val="10002"/>
                  </a:ext>
                </a:extLst>
              </a:tr>
              <a:tr h="151128">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06(22’)          11155’          24(22’)</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51128">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07(22’)           11811’         25(22’)</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5112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C00000"/>
                          </a:solidFill>
                        </a:rPr>
                        <a:t>APP SPD REST in APP Chart</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111095565"/>
                  </a:ext>
                </a:extLst>
              </a:tr>
              <a:tr h="34116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06 : C5(5613’), C6(6899’), 24 : C4(5613’), C3(6981’)</a:t>
                      </a:r>
                      <a:endParaRPr sz="80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07 : A5(6266’), </a:t>
                      </a:r>
                      <a:r>
                        <a:rPr lang="en-US" sz="800" b="1" dirty="0">
                          <a:solidFill>
                            <a:srgbClr val="FF0000"/>
                          </a:solidFill>
                        </a:rPr>
                        <a:t>A6(7565’)</a:t>
                      </a:r>
                      <a:r>
                        <a:rPr lang="en-US" sz="800" b="1" dirty="0">
                          <a:solidFill>
                            <a:schemeClr val="dk1"/>
                          </a:solidFill>
                        </a:rPr>
                        <a:t>, 25 : A4(6250’), </a:t>
                      </a:r>
                      <a:r>
                        <a:rPr lang="en-US" sz="800" b="1" dirty="0">
                          <a:solidFill>
                            <a:srgbClr val="FF0000"/>
                          </a:solidFill>
                        </a:rPr>
                        <a:t>A3(7555’) TWR </a:t>
                      </a:r>
                      <a:r>
                        <a:rPr lang="en-US" sz="800" b="1" dirty="0" err="1">
                          <a:solidFill>
                            <a:srgbClr val="FF0000"/>
                          </a:solidFill>
                        </a:rPr>
                        <a:t>Permisson</a:t>
                      </a:r>
                      <a:r>
                        <a:rPr lang="en-US" sz="800" b="1" dirty="0">
                          <a:solidFill>
                            <a:srgbClr val="FF0000"/>
                          </a:solidFill>
                        </a:rPr>
                        <a:t>   </a:t>
                      </a:r>
                      <a:r>
                        <a:rPr lang="ko-KR" altLang="en-US" sz="800" b="1" dirty="0">
                          <a:solidFill>
                            <a:srgbClr val="FF0000"/>
                          </a:solidFill>
                        </a:rPr>
                        <a:t> </a:t>
                      </a:r>
                      <a:r>
                        <a:rPr lang="en-US" altLang="ko-KR" sz="800" b="0" dirty="0">
                          <a:solidFill>
                            <a:schemeClr val="accent1"/>
                          </a:solidFill>
                        </a:rPr>
                        <a:t>Report RWY Vacated</a:t>
                      </a:r>
                      <a:endParaRPr lang="en-US" sz="800" b="0" dirty="0">
                        <a:solidFill>
                          <a:schemeClr val="accent1"/>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5944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altLang="ko-KR" sz="700" dirty="0"/>
                        <a:t>TAXI RTE In Jeppesen Chart, </a:t>
                      </a:r>
                      <a:r>
                        <a:rPr lang="en-US" sz="700" dirty="0"/>
                        <a:t>Follow Me Car, APU off</a:t>
                      </a:r>
                      <a:endParaRPr dirty="0"/>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847130966"/>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ZSHC(HGH) 22ft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700" dirty="0"/>
                        <a:t>Hangzhou Reporting Office</a:t>
                      </a:r>
                    </a:p>
                    <a:p>
                      <a:pPr marL="0" marR="0" lvl="0" indent="0" algn="ctr" rtl="0">
                        <a:spcBef>
                          <a:spcPts val="0"/>
                        </a:spcBef>
                        <a:spcAft>
                          <a:spcPts val="0"/>
                        </a:spcAft>
                        <a:buNone/>
                      </a:pPr>
                      <a:r>
                        <a:rPr lang="en-US" sz="900" dirty="0"/>
                        <a:t>130.65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5D544921-59D8-2C59-3286-145F4315D9D9}"/>
              </a:ext>
            </a:extLst>
          </p:cNvPr>
          <p:cNvSpPr/>
          <p:nvPr/>
        </p:nvSpPr>
        <p:spPr>
          <a:xfrm>
            <a:off x="1651787" y="342024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0A987965-3A09-D2F6-CA7C-EAA8074C7BDE}"/>
              </a:ext>
            </a:extLst>
          </p:cNvPr>
          <p:cNvSpPr/>
          <p:nvPr/>
        </p:nvSpPr>
        <p:spPr>
          <a:xfrm>
            <a:off x="820538" y="26372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68589741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049B192A-52FC-825F-D237-334CAD1FDCC8}"/>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02740686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3" name="그림 2">
            <a:extLst>
              <a:ext uri="{FF2B5EF4-FFF2-40B4-BE49-F238E27FC236}">
                <a16:creationId xmlns:a16="http://schemas.microsoft.com/office/drawing/2014/main" id="{F3B6882F-FDE6-F4CD-5407-162E3DE90BE5}"/>
              </a:ext>
            </a:extLst>
          </p:cNvPr>
          <p:cNvPicPr>
            <a:picLocks noChangeAspect="1"/>
          </p:cNvPicPr>
          <p:nvPr/>
        </p:nvPicPr>
        <p:blipFill>
          <a:blip r:embed="rId3"/>
          <a:stretch>
            <a:fillRect/>
          </a:stretch>
        </p:blipFill>
        <p:spPr>
          <a:xfrm>
            <a:off x="316" y="2535825"/>
            <a:ext cx="832968" cy="631595"/>
          </a:xfrm>
          <a:prstGeom prst="rect">
            <a:avLst/>
          </a:prstGeom>
        </p:spPr>
      </p:pic>
      <p:graphicFrame>
        <p:nvGraphicFramePr>
          <p:cNvPr id="117" name="Google Shape;117;p3"/>
          <p:cNvGraphicFramePr/>
          <p:nvPr>
            <p:extLst>
              <p:ext uri="{D42A27DB-BD31-4B8C-83A1-F6EECF244321}">
                <p14:modId xmlns:p14="http://schemas.microsoft.com/office/powerpoint/2010/main" val="1548670728"/>
              </p:ext>
            </p:extLst>
          </p:nvPr>
        </p:nvGraphicFramePr>
        <p:xfrm>
          <a:off x="-4045" y="860542"/>
          <a:ext cx="2339846" cy="1693166"/>
        </p:xfrm>
        <a:graphic>
          <a:graphicData uri="http://schemas.openxmlformats.org/drawingml/2006/table">
            <a:tbl>
              <a:tblPr firstRow="1" bandRow="1">
                <a:noFill/>
                <a:tableStyleId>{A521BE36-7E6F-4EC9-8D66-1CF97A6895EC}</a:tableStyleId>
              </a:tblPr>
              <a:tblGrid>
                <a:gridCol w="332717">
                  <a:extLst>
                    <a:ext uri="{9D8B030D-6E8A-4147-A177-3AD203B41FA5}">
                      <a16:colId xmlns:a16="http://schemas.microsoft.com/office/drawing/2014/main" val="20000"/>
                    </a:ext>
                  </a:extLst>
                </a:gridCol>
                <a:gridCol w="65225">
                  <a:extLst>
                    <a:ext uri="{9D8B030D-6E8A-4147-A177-3AD203B41FA5}">
                      <a16:colId xmlns:a16="http://schemas.microsoft.com/office/drawing/2014/main" val="20001"/>
                    </a:ext>
                  </a:extLst>
                </a:gridCol>
                <a:gridCol w="167489">
                  <a:extLst>
                    <a:ext uri="{9D8B030D-6E8A-4147-A177-3AD203B41FA5}">
                      <a16:colId xmlns:a16="http://schemas.microsoft.com/office/drawing/2014/main" val="20002"/>
                    </a:ext>
                  </a:extLst>
                </a:gridCol>
                <a:gridCol w="421489">
                  <a:extLst>
                    <a:ext uri="{9D8B030D-6E8A-4147-A177-3AD203B41FA5}">
                      <a16:colId xmlns:a16="http://schemas.microsoft.com/office/drawing/2014/main" val="20003"/>
                    </a:ext>
                  </a:extLst>
                </a:gridCol>
                <a:gridCol w="103254">
                  <a:extLst>
                    <a:ext uri="{9D8B030D-6E8A-4147-A177-3AD203B41FA5}">
                      <a16:colId xmlns:a16="http://schemas.microsoft.com/office/drawing/2014/main" val="20004"/>
                    </a:ext>
                  </a:extLst>
                </a:gridCol>
                <a:gridCol w="163304">
                  <a:extLst>
                    <a:ext uri="{9D8B030D-6E8A-4147-A177-3AD203B41FA5}">
                      <a16:colId xmlns:a16="http://schemas.microsoft.com/office/drawing/2014/main" val="2940550374"/>
                    </a:ext>
                  </a:extLst>
                </a:gridCol>
                <a:gridCol w="292515">
                  <a:extLst>
                    <a:ext uri="{9D8B030D-6E8A-4147-A177-3AD203B41FA5}">
                      <a16:colId xmlns:a16="http://schemas.microsoft.com/office/drawing/2014/main" val="20006"/>
                    </a:ext>
                  </a:extLst>
                </a:gridCol>
                <a:gridCol w="473769">
                  <a:extLst>
                    <a:ext uri="{9D8B030D-6E8A-4147-A177-3AD203B41FA5}">
                      <a16:colId xmlns:a16="http://schemas.microsoft.com/office/drawing/2014/main" val="20007"/>
                    </a:ext>
                  </a:extLst>
                </a:gridCol>
                <a:gridCol w="320084">
                  <a:extLst>
                    <a:ext uri="{9D8B030D-6E8A-4147-A177-3AD203B41FA5}">
                      <a16:colId xmlns:a16="http://schemas.microsoft.com/office/drawing/2014/main" val="448940902"/>
                    </a:ext>
                  </a:extLst>
                </a:gridCol>
              </a:tblGrid>
              <a:tr h="156088">
                <a:tc gridSpan="9">
                  <a:txBody>
                    <a:bodyPr/>
                    <a:lstStyle/>
                    <a:p>
                      <a:pPr marL="0" marR="0" lvl="0" indent="0" algn="ctr" rtl="0">
                        <a:spcBef>
                          <a:spcPts val="0"/>
                        </a:spcBef>
                        <a:spcAft>
                          <a:spcPts val="0"/>
                        </a:spcAft>
                        <a:buNone/>
                      </a:pPr>
                      <a:r>
                        <a:rPr lang="en-US" sz="800" u="none" strike="noStrike" cap="none" dirty="0"/>
                        <a:t>HGH: SID (NADP 1) </a:t>
                      </a:r>
                    </a:p>
                  </a:txBody>
                  <a:tcPr marL="36000" marR="72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31048">
                <a:tc>
                  <a:txBody>
                    <a:bodyPr/>
                    <a:lstStyle/>
                    <a:p>
                      <a:pPr marL="0" marR="0" lvl="0" indent="0" algn="ctr" rtl="0">
                        <a:spcBef>
                          <a:spcPts val="0"/>
                        </a:spcBef>
                        <a:spcAft>
                          <a:spcPts val="0"/>
                        </a:spcAft>
                        <a:buNone/>
                      </a:pPr>
                      <a:r>
                        <a:rPr lang="en-US" sz="800" b="1" u="none" strike="noStrike" cap="none" dirty="0"/>
                        <a:t>07/06</a:t>
                      </a:r>
                      <a:endParaRPr sz="800" b="0" u="none" strike="noStrike" cap="none" dirty="0"/>
                    </a:p>
                  </a:txBody>
                  <a:tcPr marL="0" marR="0" marT="36000" marB="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OKT, SUP 91D</a:t>
                      </a: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069</a:t>
                      </a:r>
                      <a:endParaRPr sz="458" b="1" u="none" strike="noStrike" cap="none" dirty="0">
                        <a:solidFill>
                          <a:srgbClr val="C00000"/>
                        </a:solidFill>
                      </a:endParaRPr>
                    </a:p>
                  </a:txBody>
                  <a:tcPr marL="0" marR="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069</a:t>
                      </a:r>
                      <a:endParaRPr sz="800" b="1" u="none" strike="noStrike" cap="none" dirty="0"/>
                    </a:p>
                  </a:txBody>
                  <a:tcPr marL="0" marR="0" marT="0" marB="0" anchor="ctr"/>
                </a:tc>
                <a:tc>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0" marB="0" anchor="ctr"/>
                </a:tc>
                <a:tc>
                  <a:txBody>
                    <a:bodyPr/>
                    <a:lstStyle/>
                    <a:p>
                      <a:pPr algn="ctr"/>
                      <a:r>
                        <a:rPr lang="en-US" altLang="ko-Kore-KR" sz="800" b="1" u="none" strike="noStrike" cap="none" dirty="0">
                          <a:solidFill>
                            <a:srgbClr val="C00000"/>
                          </a:solidFill>
                        </a:rPr>
                        <a:t>069</a:t>
                      </a:r>
                      <a:endParaRPr lang="ko-Kore-KR" altLang="en-US" dirty="0"/>
                    </a:p>
                  </a:txBody>
                  <a:tcPr marL="0" marR="0" marT="36000" marB="36000" anchor="ctr"/>
                </a:tc>
                <a:extLst>
                  <a:ext uri="{0D108BD9-81ED-4DB2-BD59-A6C34878D82A}">
                    <a16:rowId xmlns:a16="http://schemas.microsoft.com/office/drawing/2014/main" val="10001"/>
                  </a:ext>
                </a:extLst>
              </a:tr>
              <a:tr h="231048">
                <a:tc>
                  <a:txBody>
                    <a:bodyPr/>
                    <a:lstStyle/>
                    <a:p>
                      <a:pPr marL="0" marR="0" lvl="0" indent="0" algn="ctr" rtl="0">
                        <a:spcBef>
                          <a:spcPts val="0"/>
                        </a:spcBef>
                        <a:spcAft>
                          <a:spcPts val="0"/>
                        </a:spcAft>
                        <a:buNone/>
                      </a:pPr>
                      <a:r>
                        <a:rPr lang="en-US" sz="800" b="1" u="none" strike="noStrike" cap="none" dirty="0"/>
                        <a:t>25/24</a:t>
                      </a:r>
                    </a:p>
                  </a:txBody>
                  <a:tcPr marL="0" marR="0" marT="36000" marB="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SUP 81D</a:t>
                      </a: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249</a:t>
                      </a:r>
                      <a:endParaRPr sz="458" b="1" u="none" strike="noStrike" cap="none" dirty="0">
                        <a:solidFill>
                          <a:srgbClr val="C00000"/>
                        </a:solidFill>
                      </a:endParaRPr>
                    </a:p>
                  </a:txBody>
                  <a:tcPr marL="0" marR="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249</a:t>
                      </a:r>
                      <a:endParaRPr sz="800" b="1" u="none" strike="noStrike" cap="none" dirty="0"/>
                    </a:p>
                  </a:txBody>
                  <a:tcPr marL="0" marR="0" marT="0" marB="0" anchor="ctr"/>
                </a:tc>
                <a:tc>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0" marB="0" anchor="ctr"/>
                </a:tc>
                <a:tc>
                  <a:txBody>
                    <a:bodyPr/>
                    <a:lstStyle/>
                    <a:p>
                      <a:pPr algn="ctr"/>
                      <a:r>
                        <a:rPr lang="en-US" altLang="ko-Kore-KR" sz="800" b="1" u="none" strike="noStrike" cap="none" dirty="0">
                          <a:solidFill>
                            <a:srgbClr val="C00000"/>
                          </a:solidFill>
                        </a:rPr>
                        <a:t>249</a:t>
                      </a:r>
                      <a:endParaRPr lang="ko-Kore-KR" altLang="en-US" dirty="0"/>
                    </a:p>
                  </a:txBody>
                  <a:tcPr marL="0" marR="0" marT="36000" marB="36000" anchor="ctr"/>
                </a:tc>
                <a:extLst>
                  <a:ext uri="{0D108BD9-81ED-4DB2-BD59-A6C34878D82A}">
                    <a16:rowId xmlns:a16="http://schemas.microsoft.com/office/drawing/2014/main" val="10002"/>
                  </a:ext>
                </a:extLst>
              </a:tr>
              <a:tr h="178378">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HGH 113.0</a:t>
                      </a:r>
                      <a:endParaRPr sz="800" b="1" u="none" strike="noStrike" cap="none" dirty="0">
                        <a:solidFill>
                          <a:srgbClr val="0070C0"/>
                        </a:solidFill>
                      </a:endParaRP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06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110.5</a:t>
                      </a:r>
                      <a:endParaRPr dirty="0"/>
                    </a:p>
                  </a:txBody>
                  <a:tcPr marL="0" marR="0" marT="0" marB="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07 </a:t>
                      </a:r>
                    </a:p>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110.35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24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111.5</a:t>
                      </a:r>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25 108.5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0003"/>
                  </a:ext>
                </a:extLst>
              </a:tr>
              <a:tr h="15608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altLang="ko-Kore-KR" sz="800" u="none" strike="noStrike" cap="none" dirty="0">
                          <a:solidFill>
                            <a:schemeClr val="lt1"/>
                          </a:solidFill>
                        </a:rPr>
                        <a:t>FIX</a:t>
                      </a:r>
                    </a:p>
                  </a:txBody>
                  <a:tcPr marL="0" marR="0" marT="0" marB="0" anchor="ctr">
                    <a:solidFill>
                      <a:schemeClr val="accent1"/>
                    </a:solidFill>
                  </a:tcPr>
                </a:tc>
                <a:tc hMerge="1">
                  <a:txBody>
                    <a:bodyPr/>
                    <a:lstStyle/>
                    <a:p>
                      <a:endParaRPr lang="ko-Kore-KR" altLang="en-US"/>
                    </a:p>
                  </a:txBody>
                  <a:tcPr/>
                </a:tc>
                <a:tc gridSpan="7">
                  <a:txBody>
                    <a:bodyPr/>
                    <a:lstStyle/>
                    <a:p>
                      <a:pPr algn="ctr"/>
                      <a:r>
                        <a:rPr lang="en-US" altLang="ko-Kore-KR" sz="800" b="0" u="none" strike="noStrike" cap="none" dirty="0">
                          <a:solidFill>
                            <a:schemeClr val="tx1"/>
                          </a:solidFill>
                        </a:rPr>
                        <a:t>24/25 : HGH 249/5.5, R020</a:t>
                      </a:r>
                      <a:endParaRPr lang="ko-Kore-KR" altLang="en-US" dirty="0"/>
                    </a:p>
                  </a:txBody>
                  <a:tcPr marL="0" marR="0" marT="0" marB="0" anchor="ct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0" marR="0" marT="0" marB="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0" marR="0" marT="0" marB="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3372556726"/>
                  </a:ext>
                </a:extLst>
              </a:tr>
              <a:tr h="141859">
                <a:tc rowSpan="2"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0" anchor="ctr">
                    <a:solidFill>
                      <a:schemeClr val="accent1"/>
                    </a:solidFill>
                  </a:tcPr>
                </a:tc>
                <a:tc rowSpan="2" hMerge="1">
                  <a:txBody>
                    <a:bodyPr/>
                    <a:lstStyle/>
                    <a:p>
                      <a:endParaRPr lang="ko-Kore-KR"/>
                    </a:p>
                  </a:txBody>
                  <a:tcPr/>
                </a:tc>
                <a:tc gridSpan="7">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06(22’)          11155’          24(22’)</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16L/R(12’/11’)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17L(10’)</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141859">
                <a:tc gridSpan="2"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0" marR="0" marT="36000" marB="36000" anchor="ctr">
                    <a:solidFill>
                      <a:schemeClr val="accent1"/>
                    </a:solidFill>
                  </a:tcPr>
                </a:tc>
                <a:tc hMerge="1" vMerge="1">
                  <a:txBody>
                    <a:bodyPr/>
                    <a:lstStyle/>
                    <a:p>
                      <a:endParaRPr lang="ko-Kore-KR" altLang="en-US"/>
                    </a:p>
                  </a:txBody>
                  <a:tcPr/>
                </a:tc>
                <a:tc gridSpan="7">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07(22’)           11811’         25(22’)</a:t>
                      </a: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ltLang="en-US" dirty="0"/>
                    </a:p>
                  </a:txBody>
                  <a:tcPr/>
                </a:tc>
                <a:extLst>
                  <a:ext uri="{0D108BD9-81ED-4DB2-BD59-A6C34878D82A}">
                    <a16:rowId xmlns:a16="http://schemas.microsoft.com/office/drawing/2014/main" val="1571217085"/>
                  </a:ext>
                </a:extLst>
              </a:tr>
              <a:tr h="267567">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APU Start, TUG Connect After Beacon L/T ON</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t>Red/Blue </a:t>
                      </a:r>
                      <a:r>
                        <a:rPr lang="en-US" sz="800" u="none" strike="noStrike" cap="none" dirty="0" err="1"/>
                        <a:t>PushBack</a:t>
                      </a:r>
                      <a:r>
                        <a:rPr lang="en-US" sz="800" u="none" strike="noStrike" cap="none" dirty="0"/>
                        <a:t>, Verify RWY </a:t>
                      </a:r>
                      <a:r>
                        <a:rPr lang="en-US" altLang="ko-KR" sz="800" u="none" strike="noStrike" cap="none" dirty="0"/>
                        <a:t>&amp;</a:t>
                      </a:r>
                      <a:r>
                        <a:rPr lang="ko-KR" altLang="en-US" sz="800" u="none" strike="noStrike" cap="none" dirty="0"/>
                        <a:t> </a:t>
                      </a:r>
                      <a:r>
                        <a:rPr lang="en-US" sz="800" u="none" strike="noStrike" cap="none" dirty="0"/>
                        <a:t>Direction</a:t>
                      </a:r>
                    </a:p>
                    <a:p>
                      <a:pPr marL="0" marR="0" lvl="0" indent="0" algn="ctr" rtl="0">
                        <a:lnSpc>
                          <a:spcPct val="100000"/>
                        </a:lnSpc>
                        <a:spcBef>
                          <a:spcPts val="0"/>
                        </a:spcBef>
                        <a:spcAft>
                          <a:spcPts val="0"/>
                        </a:spcAft>
                        <a:buClr>
                          <a:schemeClr val="dk1"/>
                        </a:buClr>
                        <a:buSzPts val="800"/>
                        <a:buFont typeface="Calibri"/>
                        <a:buNone/>
                      </a:pPr>
                      <a:r>
                        <a:rPr lang="en-US" altLang="ko-Kore-KR" sz="800" b="0" u="none" strike="noStrike" cap="none" dirty="0">
                          <a:solidFill>
                            <a:srgbClr val="00B050"/>
                          </a:solidFill>
                        </a:rPr>
                        <a:t>After T/O, Report T/O RWY</a:t>
                      </a:r>
                      <a:endParaRPr lang="en-US" sz="800" u="none" strike="noStrike" cap="none" dirty="0">
                        <a:solidFill>
                          <a:srgbClr val="00B050"/>
                        </a:solidFill>
                      </a:endParaRP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155905173"/>
              </p:ext>
            </p:extLst>
          </p:nvPr>
        </p:nvGraphicFramePr>
        <p:xfrm>
          <a:off x="-2501" y="16504"/>
          <a:ext cx="2328850" cy="8379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ZSHC(HGH) 22ft</a:t>
                      </a:r>
                      <a:endParaRP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5">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700" dirty="0"/>
                        <a:t>Hangzhou Reporting Office</a:t>
                      </a:r>
                    </a:p>
                    <a:p>
                      <a:pPr marL="0" marR="0" lvl="0" indent="0" algn="ctr" rtl="0">
                        <a:spcBef>
                          <a:spcPts val="0"/>
                        </a:spcBef>
                        <a:spcAft>
                          <a:spcPts val="0"/>
                        </a:spcAft>
                        <a:buNone/>
                      </a:pPr>
                      <a:r>
                        <a:rPr lang="en-US" sz="900" dirty="0"/>
                        <a:t>130.65 </a:t>
                      </a:r>
                    </a:p>
                    <a:p>
                      <a:pPr marL="0" marR="0" lvl="0" indent="0" algn="ctr" rtl="0">
                        <a:spcBef>
                          <a:spcPts val="0"/>
                        </a:spcBef>
                        <a:spcAft>
                          <a:spcPts val="0"/>
                        </a:spcAft>
                        <a:buNone/>
                      </a:pPr>
                      <a:r>
                        <a:rPr lang="en-US" sz="800" dirty="0">
                          <a:solidFill>
                            <a:srgbClr val="FF0000"/>
                          </a:solidFill>
                        </a:rPr>
                        <a:t>DCL(NO Readback)</a:t>
                      </a:r>
                    </a:p>
                    <a:p>
                      <a:pPr marL="0" marR="0" lvl="0" indent="0" algn="ctr" rtl="0">
                        <a:spcBef>
                          <a:spcPts val="0"/>
                        </a:spcBef>
                        <a:spcAft>
                          <a:spcPts val="0"/>
                        </a:spcAft>
                        <a:buNone/>
                      </a:pPr>
                      <a:r>
                        <a:rPr lang="en-US" sz="800" dirty="0">
                          <a:solidFill>
                            <a:srgbClr val="FF0000"/>
                          </a:solidFill>
                        </a:rPr>
                        <a:t>Voice 10min</a:t>
                      </a:r>
                      <a:r>
                        <a:rPr lang="ko-KR" altLang="en-US" sz="800" dirty="0">
                          <a:solidFill>
                            <a:srgbClr val="FF0000"/>
                          </a:solidFill>
                        </a:rPr>
                        <a:t>전</a:t>
                      </a:r>
                      <a:endParaRPr sz="800" dirty="0">
                        <a:solidFill>
                          <a:srgbClr val="FF0000"/>
                        </a:solidFill>
                      </a:endParaRPr>
                    </a:p>
                  </a:txBody>
                  <a:tcPr marL="36000" marR="3600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625517" y="2723165"/>
            <a:ext cx="1710405"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HGH APP 120.4 – 119.82</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APP 119.975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120.55 - 120.95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6" name="직사각형 5">
            <a:hlinkClick r:id="" action="ppaction://hlinkshowjump?jump=firstslide"/>
            <a:extLst>
              <a:ext uri="{FF2B5EF4-FFF2-40B4-BE49-F238E27FC236}">
                <a16:creationId xmlns:a16="http://schemas.microsoft.com/office/drawing/2014/main" id="{DEA72C02-893D-80AB-C1B5-D0AD7E61DEE9}"/>
              </a:ext>
            </a:extLst>
          </p:cNvPr>
          <p:cNvSpPr/>
          <p:nvPr/>
        </p:nvSpPr>
        <p:spPr>
          <a:xfrm>
            <a:off x="1651787" y="289938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04A13C61-F219-F854-BFC9-F82AA1917851}"/>
              </a:ext>
            </a:extLst>
          </p:cNvPr>
          <p:cNvSpPr/>
          <p:nvPr/>
        </p:nvSpPr>
        <p:spPr>
          <a:xfrm>
            <a:off x="865296" y="378826"/>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20674814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293811"/>
            <a:ext cx="1917513"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a:t>
            </a:r>
          </a:p>
          <a:p>
            <a:pPr>
              <a:lnSpc>
                <a:spcPct val="150000"/>
              </a:lnSpc>
            </a:pPr>
            <a:r>
              <a:rPr kumimoji="1" lang="en-US" altLang="ko-Kore-KR" sz="700" b="1" u="sng" dirty="0">
                <a:solidFill>
                  <a:srgbClr val="C00000"/>
                </a:solidFill>
                <a:latin typeface="Gulim" panose="020B0600000101010101" pitchFamily="34" charset="-127"/>
                <a:ea typeface="Gulim" panose="020B0600000101010101" pitchFamily="34" charset="-127"/>
              </a:rPr>
              <a:t>WHE TWR 118.65 </a:t>
            </a:r>
            <a:r>
              <a:rPr kumimoji="1" lang="en-US" altLang="ko-Kore-KR" sz="700" b="1" u="sng" dirty="0">
                <a:solidFill>
                  <a:srgbClr val="0070C0"/>
                </a:solidFill>
                <a:latin typeface="Gulim" panose="020B0600000101010101" pitchFamily="34" charset="-127"/>
                <a:ea typeface="Gulim" panose="020B0600000101010101" pitchFamily="34" charset="-127"/>
              </a:rPr>
              <a:t>(130.0)</a:t>
            </a:r>
          </a:p>
        </p:txBody>
      </p:sp>
      <p:graphicFrame>
        <p:nvGraphicFramePr>
          <p:cNvPr id="291" name="Google Shape;291;p18"/>
          <p:cNvGraphicFramePr/>
          <p:nvPr>
            <p:extLst>
              <p:ext uri="{D42A27DB-BD31-4B8C-83A1-F6EECF244321}">
                <p14:modId xmlns:p14="http://schemas.microsoft.com/office/powerpoint/2010/main" val="3362332743"/>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107163590"/>
              </p:ext>
            </p:extLst>
          </p:nvPr>
        </p:nvGraphicFramePr>
        <p:xfrm>
          <a:off x="-1706" y="3951218"/>
          <a:ext cx="2333879" cy="1599967"/>
        </p:xfrm>
        <a:graphic>
          <a:graphicData uri="http://schemas.openxmlformats.org/drawingml/2006/table">
            <a:tbl>
              <a:tblPr firstRow="1" bandRow="1">
                <a:noFill/>
                <a:tableStyleId>{A521BE36-7E6F-4EC9-8D66-1CF97A6895EC}</a:tableStyleId>
              </a:tblPr>
              <a:tblGrid>
                <a:gridCol w="316804">
                  <a:extLst>
                    <a:ext uri="{9D8B030D-6E8A-4147-A177-3AD203B41FA5}">
                      <a16:colId xmlns:a16="http://schemas.microsoft.com/office/drawing/2014/main" val="20000"/>
                    </a:ext>
                  </a:extLst>
                </a:gridCol>
                <a:gridCol w="846676">
                  <a:extLst>
                    <a:ext uri="{9D8B030D-6E8A-4147-A177-3AD203B41FA5}">
                      <a16:colId xmlns:a16="http://schemas.microsoft.com/office/drawing/2014/main" val="20001"/>
                    </a:ext>
                  </a:extLst>
                </a:gridCol>
                <a:gridCol w="473558">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99800">
                <a:tc gridSpan="4">
                  <a:txBody>
                    <a:bodyPr/>
                    <a:lstStyle/>
                    <a:p>
                      <a:pPr marL="0" marR="0" lvl="0" indent="0" algn="ctr" rtl="0">
                        <a:spcBef>
                          <a:spcPts val="0"/>
                        </a:spcBef>
                        <a:spcAft>
                          <a:spcPts val="0"/>
                        </a:spcAft>
                        <a:buNone/>
                      </a:pPr>
                      <a:r>
                        <a:rPr lang="en-US" sz="800" dirty="0"/>
                        <a:t>WEH </a:t>
                      </a:r>
                      <a:r>
                        <a:rPr lang="en-US" sz="800" dirty="0">
                          <a:solidFill>
                            <a:srgbClr val="C00000"/>
                          </a:solidFill>
                        </a:rPr>
                        <a:t>(TL 69) </a:t>
                      </a:r>
                      <a:r>
                        <a:rPr lang="en-US" sz="800" dirty="0"/>
                        <a:t>: RNAV STAR </a:t>
                      </a:r>
                      <a:r>
                        <a:rPr lang="en-US" sz="800" dirty="0">
                          <a:solidFill>
                            <a:srgbClr val="00B050"/>
                          </a:solidFill>
                        </a:rPr>
                        <a:t>(QFE but QNH Operation</a:t>
                      </a:r>
                      <a:r>
                        <a:rPr lang="en-US" altLang="ko-KR" sz="800" dirty="0">
                          <a:solidFill>
                            <a:srgbClr val="00B050"/>
                          </a:solidFill>
                        </a:rPr>
                        <a:t>)</a:t>
                      </a:r>
                      <a:endParaRPr lang="en-US" sz="800" dirty="0">
                        <a:solidFill>
                          <a:srgbClr val="00B050"/>
                        </a:solidFill>
                      </a:endParaRPr>
                    </a:p>
                    <a:p>
                      <a:pPr marL="0" marR="0" lvl="0" indent="0" algn="ctr" rtl="0">
                        <a:spcBef>
                          <a:spcPts val="0"/>
                        </a:spcBef>
                        <a:spcAft>
                          <a:spcPts val="0"/>
                        </a:spcAft>
                        <a:buNone/>
                      </a:pPr>
                      <a:r>
                        <a:rPr lang="en-US" sz="800" dirty="0">
                          <a:solidFill>
                            <a:schemeClr val="accent4"/>
                          </a:solidFill>
                        </a:rPr>
                        <a:t>Around AGAVO ATIS 126.25 get RWY, APP info</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5092">
                <a:tc>
                  <a:txBody>
                    <a:bodyPr/>
                    <a:lstStyle/>
                    <a:p>
                      <a:pPr marL="0" marR="0" lvl="0" indent="0" algn="ctr" rtl="0">
                        <a:spcBef>
                          <a:spcPts val="0"/>
                        </a:spcBef>
                        <a:spcAft>
                          <a:spcPts val="0"/>
                        </a:spcAft>
                        <a:buNone/>
                      </a:pPr>
                      <a:r>
                        <a:rPr lang="en-US" sz="800" b="1" dirty="0"/>
                        <a:t>03</a:t>
                      </a:r>
                      <a:endParaRPr sz="800" b="1" dirty="0"/>
                    </a:p>
                  </a:txBody>
                  <a:tcPr marL="36000" marR="36000" marT="0" marB="0" anchor="ctr"/>
                </a:tc>
                <a:tc>
                  <a:txBody>
                    <a:bodyPr/>
                    <a:lstStyle/>
                    <a:p>
                      <a:pPr marL="0" marR="0" lvl="0" indent="0" algn="ctr" rtl="0">
                        <a:spcBef>
                          <a:spcPts val="0"/>
                        </a:spcBef>
                        <a:spcAft>
                          <a:spcPts val="0"/>
                        </a:spcAft>
                        <a:buNone/>
                      </a:pPr>
                      <a:r>
                        <a:rPr lang="en-US" sz="800" b="1" dirty="0"/>
                        <a:t>IKE xx F</a:t>
                      </a:r>
                    </a:p>
                  </a:txBody>
                  <a:tcPr marL="36000" marR="36000" marT="0" marB="0" anchor="ctr"/>
                </a:tc>
                <a:tc>
                  <a:txBody>
                    <a:bodyPr/>
                    <a:lstStyle/>
                    <a:p>
                      <a:pPr marL="0" marR="0" lvl="0" indent="0" algn="ctr" rtl="0">
                        <a:spcBef>
                          <a:spcPts val="0"/>
                        </a:spcBef>
                        <a:spcAft>
                          <a:spcPts val="0"/>
                        </a:spcAft>
                        <a:buNone/>
                      </a:pPr>
                      <a:r>
                        <a:rPr lang="en-US" sz="800" b="1" dirty="0"/>
                        <a:t>WH106</a:t>
                      </a:r>
                    </a:p>
                  </a:txBody>
                  <a:tcPr marL="36000" marR="36000" marT="0" marB="0" anchor="ctr"/>
                </a:tc>
                <a:tc>
                  <a:txBody>
                    <a:bodyPr/>
                    <a:lstStyle/>
                    <a:p>
                      <a:pPr marL="0" marR="0" lvl="0" indent="0" algn="ctr" rtl="0">
                        <a:spcBef>
                          <a:spcPts val="0"/>
                        </a:spcBef>
                        <a:spcAft>
                          <a:spcPts val="0"/>
                        </a:spcAft>
                        <a:buNone/>
                      </a:pPr>
                      <a:r>
                        <a:rPr lang="en-US" sz="800" b="1" dirty="0"/>
                        <a:t>RNP ILS Z 03</a:t>
                      </a:r>
                      <a:endParaRPr lang="en-US" sz="800" b="0" dirty="0"/>
                    </a:p>
                  </a:txBody>
                  <a:tcPr marL="36000" marR="36000" marT="0" marB="0" anchor="ctr"/>
                </a:tc>
                <a:extLst>
                  <a:ext uri="{0D108BD9-81ED-4DB2-BD59-A6C34878D82A}">
                    <a16:rowId xmlns:a16="http://schemas.microsoft.com/office/drawing/2014/main" val="10001"/>
                  </a:ext>
                </a:extLst>
              </a:tr>
              <a:tr h="163444">
                <a:tc>
                  <a:txBody>
                    <a:bodyPr/>
                    <a:lstStyle/>
                    <a:p>
                      <a:pPr marL="0" marR="0" lvl="0" indent="0" algn="ctr" rtl="0">
                        <a:spcBef>
                          <a:spcPts val="0"/>
                        </a:spcBef>
                        <a:spcAft>
                          <a:spcPts val="0"/>
                        </a:spcAft>
                        <a:buNone/>
                      </a:pPr>
                      <a:r>
                        <a:rPr lang="en-US" sz="800" b="1" dirty="0"/>
                        <a:t>21</a:t>
                      </a:r>
                      <a:endParaRPr sz="800" b="1"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IKE xx F</a:t>
                      </a:r>
                    </a:p>
                  </a:txBody>
                  <a:tcPr marL="36000" marR="36000" marT="0" marB="0" anchor="ctr"/>
                </a:tc>
                <a:tc>
                  <a:txBody>
                    <a:bodyPr/>
                    <a:lstStyle/>
                    <a:p>
                      <a:pPr marL="0" marR="0" lvl="0" indent="0" algn="ctr" rtl="0">
                        <a:spcBef>
                          <a:spcPts val="0"/>
                        </a:spcBef>
                        <a:spcAft>
                          <a:spcPts val="0"/>
                        </a:spcAft>
                        <a:buNone/>
                      </a:pPr>
                      <a:r>
                        <a:rPr lang="en-US" altLang="ko-Kore-KR" sz="800" b="1" dirty="0"/>
                        <a:t>WH206</a:t>
                      </a:r>
                    </a:p>
                  </a:txBody>
                  <a:tcPr marL="36000" marR="36000" marT="0" marB="0" anchor="ctr"/>
                </a:tc>
                <a:tc>
                  <a:txBody>
                    <a:bodyPr/>
                    <a:lstStyle/>
                    <a:p>
                      <a:pPr marL="0" marR="0" lvl="0" indent="0" algn="ctr" rtl="0">
                        <a:spcBef>
                          <a:spcPts val="0"/>
                        </a:spcBef>
                        <a:spcAft>
                          <a:spcPts val="0"/>
                        </a:spcAft>
                        <a:buNone/>
                      </a:pPr>
                      <a:r>
                        <a:rPr lang="en-US" sz="800" b="1" dirty="0"/>
                        <a:t>RNP ILS Z 21</a:t>
                      </a:r>
                      <a:endParaRPr sz="800" b="1" dirty="0"/>
                    </a:p>
                  </a:txBody>
                  <a:tcPr marL="36000" marR="36000" marT="0" marB="0" anchor="ctr"/>
                </a:tc>
                <a:extLst>
                  <a:ext uri="{0D108BD9-81ED-4DB2-BD59-A6C34878D82A}">
                    <a16:rowId xmlns:a16="http://schemas.microsoft.com/office/drawing/2014/main" val="10002"/>
                  </a:ext>
                </a:extLst>
              </a:tr>
              <a:tr h="18407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03(113’)          8530’          21(146’)</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60867">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03</a:t>
                      </a:r>
                      <a:r>
                        <a:rPr lang="en-US" sz="800" b="1" dirty="0">
                          <a:solidFill>
                            <a:schemeClr val="dk1"/>
                          </a:solidFill>
                        </a:rPr>
                        <a:t> : B(6500’), C(5300</a:t>
                      </a:r>
                      <a:r>
                        <a:rPr lang="en-US" altLang="ko-KR" sz="800" b="1" dirty="0">
                          <a:solidFill>
                            <a:schemeClr val="dk1"/>
                          </a:solidFill>
                        </a:rPr>
                        <a:t>’), </a:t>
                      </a:r>
                      <a:r>
                        <a:rPr lang="en-US" sz="800" b="1" dirty="0">
                          <a:solidFill>
                            <a:schemeClr val="dk1"/>
                          </a:solidFill>
                        </a:rPr>
                        <a:t>21 : D(7300’) </a:t>
                      </a:r>
                      <a:r>
                        <a:rPr lang="en-US" sz="800" b="1" dirty="0">
                          <a:solidFill>
                            <a:srgbClr val="0070C0"/>
                          </a:solidFill>
                        </a:rPr>
                        <a:t>90 Turn Vacate</a:t>
                      </a:r>
                      <a:r>
                        <a:rPr lang="en-US" sz="800" dirty="0">
                          <a:solidFill>
                            <a:schemeClr val="dk1"/>
                          </a:solidFill>
                        </a:rPr>
                        <a:t> </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C00000"/>
                          </a:solidFill>
                        </a:rPr>
                        <a:t>180 Back No Terminal Side Turn</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6200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RWY 21 Short Track Miles -&gt; Req one Orbit WH113</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0" dirty="0">
                          <a:solidFill>
                            <a:srgbClr val="C00000"/>
                          </a:solidFill>
                        </a:rPr>
                        <a:t>Watch MLDW Due to RWY 21 </a:t>
                      </a:r>
                      <a:r>
                        <a:rPr lang="en-US" altLang="ko-Kore-KR" sz="800" b="0" dirty="0" err="1">
                          <a:solidFill>
                            <a:srgbClr val="C00000"/>
                          </a:solidFill>
                        </a:rPr>
                        <a:t>ShortCut</a:t>
                      </a:r>
                      <a:endParaRPr lang="en-US" altLang="ko-Kore-KR" sz="800" b="0" dirty="0">
                        <a:solidFill>
                          <a:srgbClr val="C00000"/>
                        </a:solidFill>
                      </a:endParaRP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dirty="0">
                          <a:solidFill>
                            <a:srgbClr val="C00000"/>
                          </a:solidFill>
                        </a:rPr>
                        <a:t>Descend Published Report Published = CLR APP</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PAX Window must closed Between APP and DEP </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967153133"/>
              </p:ext>
            </p:extLst>
          </p:nvPr>
        </p:nvGraphicFramePr>
        <p:xfrm>
          <a:off x="-2501" y="12087"/>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bg1"/>
                          </a:solidFill>
                          <a:hlinkClick r:id="rId4">
                            <a:extLst>
                              <a:ext uri="{A12FA001-AC4F-418D-AE19-62706E023703}">
                                <ahyp:hlinkClr xmlns:ahyp="http://schemas.microsoft.com/office/drawing/2018/hyperlinkcolor" val="tx"/>
                              </a:ext>
                            </a:extLst>
                          </a:hlinkClick>
                        </a:rPr>
                        <a:t>ZSWH(WEH)146ft</a:t>
                      </a:r>
                      <a:endParaRPr sz="12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800" dirty="0">
                          <a:solidFill>
                            <a:srgbClr val="FF0000"/>
                          </a:solidFill>
                        </a:rPr>
                        <a:t>No D-ATIS</a:t>
                      </a:r>
                      <a:endParaRPr sz="800" dirty="0">
                        <a:solidFill>
                          <a:srgbClr val="FF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E23E752-ACE1-7421-5106-79D1E7E0EF39}"/>
              </a:ext>
            </a:extLst>
          </p:cNvPr>
          <p:cNvSpPr/>
          <p:nvPr/>
        </p:nvSpPr>
        <p:spPr>
          <a:xfrm>
            <a:off x="1651787" y="358807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476D46B-565B-EB4B-5B7D-1257109BE448}"/>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8562943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1261518" y="3548722"/>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rgbClr val="C00000"/>
              </a:solidFill>
            </a:endParaRPr>
          </a:p>
        </p:txBody>
      </p:sp>
      <p:sp>
        <p:nvSpPr>
          <p:cNvPr id="5" name="TextBox 4">
            <a:extLst>
              <a:ext uri="{FF2B5EF4-FFF2-40B4-BE49-F238E27FC236}">
                <a16:creationId xmlns:a16="http://schemas.microsoft.com/office/drawing/2014/main" id="{5FC66845-A7AA-98C4-534C-70B808775E8B}"/>
              </a:ext>
            </a:extLst>
          </p:cNvPr>
          <p:cNvSpPr txBox="1"/>
          <p:nvPr/>
        </p:nvSpPr>
        <p:spPr>
          <a:xfrm>
            <a:off x="984456" y="3513354"/>
            <a:ext cx="338554" cy="412870"/>
          </a:xfrm>
          <a:prstGeom prst="rect">
            <a:avLst/>
          </a:prstGeom>
          <a:noFill/>
        </p:spPr>
        <p:txBody>
          <a:bodyPr wrap="none" rtlCol="0">
            <a:spAutoFit/>
          </a:bodyPr>
          <a:lstStyle/>
          <a:p>
            <a:r>
              <a:rPr kumimoji="1" lang="en-US" altLang="ko-Kore-KR" sz="900" b="1" dirty="0">
                <a:solidFill>
                  <a:srgbClr val="C00000"/>
                </a:solidFill>
              </a:rPr>
              <a:t>TL</a:t>
            </a:r>
          </a:p>
          <a:p>
            <a:pPr algn="dist">
              <a:lnSpc>
                <a:spcPct val="150000"/>
              </a:lnSpc>
            </a:pPr>
            <a:r>
              <a:rPr kumimoji="1" lang="en-US" altLang="ko-Kore-KR" sz="900" b="1" dirty="0">
                <a:solidFill>
                  <a:srgbClr val="C00000"/>
                </a:solidFill>
              </a:rPr>
              <a:t>TA</a:t>
            </a:r>
            <a:endParaRPr kumimoji="1" lang="ko-Kore-KR" altLang="en-US" sz="900" b="1" dirty="0">
              <a:solidFill>
                <a:srgbClr val="C00000"/>
              </a:solidFill>
            </a:endParaRPr>
          </a:p>
        </p:txBody>
      </p:sp>
      <p:sp>
        <p:nvSpPr>
          <p:cNvPr id="4" name="TextBox 3">
            <a:extLst>
              <a:ext uri="{FF2B5EF4-FFF2-40B4-BE49-F238E27FC236}">
                <a16:creationId xmlns:a16="http://schemas.microsoft.com/office/drawing/2014/main" id="{D83B9E08-9399-887D-087F-8AD383B55718}"/>
              </a:ext>
            </a:extLst>
          </p:cNvPr>
          <p:cNvSpPr txBox="1"/>
          <p:nvPr/>
        </p:nvSpPr>
        <p:spPr>
          <a:xfrm>
            <a:off x="24681" y="5030270"/>
            <a:ext cx="1624948" cy="261610"/>
          </a:xfrm>
          <a:prstGeom prst="rect">
            <a:avLst/>
          </a:prstGeom>
          <a:noFill/>
        </p:spPr>
        <p:txBody>
          <a:bodyPr wrap="square" rtlCol="0">
            <a:spAutoFit/>
          </a:bodyPr>
          <a:lstStyle/>
          <a:p>
            <a:r>
              <a:rPr kumimoji="1" lang="en-US" altLang="ko-Kore-KR" sz="1050" dirty="0">
                <a:solidFill>
                  <a:srgbClr val="C00000"/>
                </a:solidFill>
              </a:rPr>
              <a:t>QFE Next Page</a:t>
            </a:r>
            <a:endParaRPr kumimoji="1" lang="ko-Kore-KR" altLang="en-US" sz="1050" dirty="0">
              <a:solidFill>
                <a:srgbClr val="C00000"/>
              </a:solidFill>
            </a:endParaRPr>
          </a:p>
        </p:txBody>
      </p:sp>
      <p:sp>
        <p:nvSpPr>
          <p:cNvPr id="6" name="직사각형 5">
            <a:hlinkClick r:id="" action="ppaction://hlinkshowjump?jump=firstslide"/>
            <a:extLst>
              <a:ext uri="{FF2B5EF4-FFF2-40B4-BE49-F238E27FC236}">
                <a16:creationId xmlns:a16="http://schemas.microsoft.com/office/drawing/2014/main" id="{EAF21F4E-8C9C-427D-21CD-DFB14BD167E9}"/>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171061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oogle Shape;377;p28">
            <a:extLst>
              <a:ext uri="{FF2B5EF4-FFF2-40B4-BE49-F238E27FC236}">
                <a16:creationId xmlns:a16="http://schemas.microsoft.com/office/drawing/2014/main" id="{3BC43B3A-BAD2-E13A-4922-2BB962CCA02E}"/>
              </a:ext>
            </a:extLst>
          </p:cNvPr>
          <p:cNvGraphicFramePr/>
          <p:nvPr>
            <p:extLst>
              <p:ext uri="{D42A27DB-BD31-4B8C-83A1-F6EECF244321}">
                <p14:modId xmlns:p14="http://schemas.microsoft.com/office/powerpoint/2010/main" val="4118335596"/>
              </p:ext>
            </p:extLst>
          </p:nvPr>
        </p:nvGraphicFramePr>
        <p:xfrm>
          <a:off x="7" y="822012"/>
          <a:ext cx="2328850" cy="4692960"/>
        </p:xfrm>
        <a:graphic>
          <a:graphicData uri="http://schemas.openxmlformats.org/drawingml/2006/table">
            <a:tbl>
              <a:tblPr firstRow="1" bandRow="1">
                <a:noFill/>
                <a:tableStyleId>{A521BE36-7E6F-4EC9-8D66-1CF97A6895EC}</a:tableStyleId>
              </a:tblPr>
              <a:tblGrid>
                <a:gridCol w="1013216">
                  <a:extLst>
                    <a:ext uri="{9D8B030D-6E8A-4147-A177-3AD203B41FA5}">
                      <a16:colId xmlns:a16="http://schemas.microsoft.com/office/drawing/2014/main" val="20000"/>
                    </a:ext>
                  </a:extLst>
                </a:gridCol>
                <a:gridCol w="657817">
                  <a:extLst>
                    <a:ext uri="{9D8B030D-6E8A-4147-A177-3AD203B41FA5}">
                      <a16:colId xmlns:a16="http://schemas.microsoft.com/office/drawing/2014/main" val="2543703711"/>
                    </a:ext>
                  </a:extLst>
                </a:gridCol>
                <a:gridCol w="657817">
                  <a:extLst>
                    <a:ext uri="{9D8B030D-6E8A-4147-A177-3AD203B41FA5}">
                      <a16:colId xmlns:a16="http://schemas.microsoft.com/office/drawing/2014/main" val="2409258293"/>
                    </a:ext>
                  </a:extLst>
                </a:gridCol>
              </a:tblGrid>
              <a:tr h="101600">
                <a:tc>
                  <a:txBody>
                    <a:bodyPr/>
                    <a:lstStyle/>
                    <a:p>
                      <a:pPr marL="0" marR="0" lvl="0" indent="0" algn="ctr" rtl="0">
                        <a:spcBef>
                          <a:spcPts val="0"/>
                        </a:spcBef>
                        <a:spcAft>
                          <a:spcPts val="0"/>
                        </a:spcAft>
                        <a:buNone/>
                      </a:pPr>
                      <a:r>
                        <a:rPr lang="en-US" sz="800" dirty="0"/>
                        <a:t>Height based on QFE</a:t>
                      </a:r>
                    </a:p>
                    <a:p>
                      <a:pPr marL="0" marR="0" lvl="0" indent="0" algn="ctr" rtl="0">
                        <a:spcBef>
                          <a:spcPts val="0"/>
                        </a:spcBef>
                        <a:spcAft>
                          <a:spcPts val="0"/>
                        </a:spcAft>
                        <a:buNone/>
                      </a:pPr>
                      <a:r>
                        <a:rPr lang="en-US" sz="800" dirty="0"/>
                        <a:t>(instructed by ATC)</a:t>
                      </a:r>
                      <a:endParaRPr sz="800" dirty="0"/>
                    </a:p>
                  </a:txBody>
                  <a:tcPr marL="36000" marR="36000" marT="36000" marB="36000" anchor="ctr"/>
                </a:tc>
                <a:tc gridSpan="2">
                  <a:txBody>
                    <a:bodyPr/>
                    <a:lstStyle/>
                    <a:p>
                      <a:pPr marL="0" marR="0" lvl="0" indent="0" algn="ctr" rtl="0">
                        <a:spcBef>
                          <a:spcPts val="0"/>
                        </a:spcBef>
                        <a:spcAft>
                          <a:spcPts val="0"/>
                        </a:spcAft>
                        <a:buNone/>
                      </a:pPr>
                      <a:r>
                        <a:rPr lang="en-US" sz="800" dirty="0"/>
                        <a:t>Altitude base on QNH</a:t>
                      </a:r>
                    </a:p>
                    <a:p>
                      <a:pPr marL="0" marR="0" lvl="0" indent="0" algn="ctr" rtl="0">
                        <a:spcBef>
                          <a:spcPts val="0"/>
                        </a:spcBef>
                        <a:spcAft>
                          <a:spcPts val="0"/>
                        </a:spcAft>
                        <a:buNone/>
                      </a:pPr>
                      <a:r>
                        <a:rPr lang="en-US" sz="800" dirty="0"/>
                        <a:t>(Set Altitude : QFE + </a:t>
                      </a:r>
                      <a:r>
                        <a:rPr lang="en-US" sz="800" dirty="0" err="1"/>
                        <a:t>Elev</a:t>
                      </a:r>
                      <a:r>
                        <a:rPr lang="en-US" sz="800" dirty="0"/>
                        <a:t> SET)</a:t>
                      </a:r>
                      <a:endParaRPr sz="800" dirty="0"/>
                    </a:p>
                  </a:txBody>
                  <a:tcPr marL="36000" marR="0" marT="36000" marB="36000" anchor="ct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solidFill>
                            <a:srgbClr val="C00000"/>
                          </a:solidFill>
                        </a:rPr>
                        <a:t>xxx m on QFE</a:t>
                      </a:r>
                      <a:endParaRPr sz="800" b="1" dirty="0">
                        <a:solidFill>
                          <a:srgbClr val="C00000"/>
                        </a:solidFill>
                      </a:endParaRPr>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C00000"/>
                          </a:solidFill>
                        </a:rPr>
                        <a:t>xxx m plus Elevation Set</a:t>
                      </a:r>
                      <a:endParaRPr sz="800" b="1" dirty="0">
                        <a:solidFill>
                          <a:srgbClr val="C00000"/>
                        </a:solidFill>
                      </a:endParaRPr>
                    </a:p>
                  </a:txBody>
                  <a:tcPr marL="36000" marR="0" marT="36000" marB="36000" anchor="ctr"/>
                </a:tc>
                <a:tc hMerge="1">
                  <a:txBody>
                    <a:bodyPr/>
                    <a:lstStyle/>
                    <a:p>
                      <a:endParaRPr lang="ko-Kore-KR" altLang="en-US"/>
                    </a:p>
                  </a:txBody>
                  <a:tcPr/>
                </a:tc>
                <a:extLst>
                  <a:ext uri="{0D108BD9-81ED-4DB2-BD59-A6C34878D82A}">
                    <a16:rowId xmlns:a16="http://schemas.microsoft.com/office/drawing/2014/main" val="1359757106"/>
                  </a:ext>
                </a:extLst>
              </a:tr>
              <a:tr h="101600">
                <a:tc>
                  <a:txBody>
                    <a:bodyPr/>
                    <a:lstStyle/>
                    <a:p>
                      <a:pPr marL="0" marR="0" lvl="0" indent="0" algn="ctr" rtl="0">
                        <a:spcBef>
                          <a:spcPts val="0"/>
                        </a:spcBef>
                        <a:spcAft>
                          <a:spcPts val="0"/>
                        </a:spcAft>
                        <a:buNone/>
                      </a:pPr>
                      <a:r>
                        <a:rPr lang="en-US" sz="900" b="1" dirty="0">
                          <a:solidFill>
                            <a:schemeClr val="tx1"/>
                          </a:solidFill>
                        </a:rPr>
                        <a:t>2400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8000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946654343"/>
                  </a:ext>
                </a:extLst>
              </a:tr>
              <a:tr h="101600">
                <a:tc>
                  <a:txBody>
                    <a:bodyPr/>
                    <a:lstStyle/>
                    <a:p>
                      <a:pPr marL="0" marR="0" lvl="0" indent="0" algn="ctr" rtl="0">
                        <a:spcBef>
                          <a:spcPts val="0"/>
                        </a:spcBef>
                        <a:spcAft>
                          <a:spcPts val="0"/>
                        </a:spcAft>
                        <a:buNone/>
                      </a:pPr>
                      <a:r>
                        <a:rPr lang="en-US" sz="900" b="1" dirty="0">
                          <a:solidFill>
                            <a:schemeClr val="tx1"/>
                          </a:solidFill>
                        </a:rPr>
                        <a:t>2100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7000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387768838"/>
                  </a:ext>
                </a:extLst>
              </a:tr>
              <a:tr h="101600">
                <a:tc>
                  <a:txBody>
                    <a:bodyPr/>
                    <a:lstStyle/>
                    <a:p>
                      <a:pPr marL="0" marR="0" lvl="0" indent="0" algn="ctr" rtl="0">
                        <a:spcBef>
                          <a:spcPts val="0"/>
                        </a:spcBef>
                        <a:spcAft>
                          <a:spcPts val="0"/>
                        </a:spcAft>
                        <a:buNone/>
                      </a:pPr>
                      <a:r>
                        <a:rPr lang="en-US" sz="900" b="1" dirty="0">
                          <a:solidFill>
                            <a:schemeClr val="tx1"/>
                          </a:solidFill>
                        </a:rPr>
                        <a:t>1800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6000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822905070"/>
                  </a:ext>
                </a:extLst>
              </a:tr>
              <a:tr h="101600">
                <a:tc>
                  <a:txBody>
                    <a:bodyPr/>
                    <a:lstStyle/>
                    <a:p>
                      <a:pPr marL="0" marR="0" lvl="0" indent="0" algn="ctr" rtl="0">
                        <a:spcBef>
                          <a:spcPts val="0"/>
                        </a:spcBef>
                        <a:spcAft>
                          <a:spcPts val="0"/>
                        </a:spcAft>
                        <a:buNone/>
                      </a:pPr>
                      <a:r>
                        <a:rPr lang="en-US" sz="900" b="1" dirty="0">
                          <a:solidFill>
                            <a:schemeClr val="tx1"/>
                          </a:solidFill>
                        </a:rPr>
                        <a:t>1500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5100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475050887"/>
                  </a:ext>
                </a:extLst>
              </a:tr>
              <a:tr h="101600">
                <a:tc>
                  <a:txBody>
                    <a:bodyPr/>
                    <a:lstStyle/>
                    <a:p>
                      <a:pPr marL="0" marR="0" lvl="0" indent="0" algn="ctr" rtl="0">
                        <a:spcBef>
                          <a:spcPts val="0"/>
                        </a:spcBef>
                        <a:spcAft>
                          <a:spcPts val="0"/>
                        </a:spcAft>
                        <a:buNone/>
                      </a:pPr>
                      <a:r>
                        <a:rPr lang="en-US" sz="900" b="1" dirty="0">
                          <a:solidFill>
                            <a:schemeClr val="tx1"/>
                          </a:solidFill>
                        </a:rPr>
                        <a:t>1200 m </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4100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820777377"/>
                  </a:ext>
                </a:extLst>
              </a:tr>
              <a:tr h="101600">
                <a:tc>
                  <a:txBody>
                    <a:bodyPr/>
                    <a:lstStyle/>
                    <a:p>
                      <a:pPr marL="0" marR="0" lvl="0" indent="0" algn="ctr" rtl="0">
                        <a:spcBef>
                          <a:spcPts val="0"/>
                        </a:spcBef>
                        <a:spcAft>
                          <a:spcPts val="0"/>
                        </a:spcAft>
                        <a:buNone/>
                      </a:pPr>
                      <a:r>
                        <a:rPr lang="en-US" sz="900" b="1" dirty="0">
                          <a:solidFill>
                            <a:schemeClr val="tx1"/>
                          </a:solidFill>
                        </a:rPr>
                        <a:t>1100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3700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638046599"/>
                  </a:ext>
                </a:extLst>
              </a:tr>
              <a:tr h="101600">
                <a:tc>
                  <a:txBody>
                    <a:bodyPr/>
                    <a:lstStyle/>
                    <a:p>
                      <a:pPr marL="0" marR="0" lvl="0" indent="0" algn="ctr" rtl="0">
                        <a:spcBef>
                          <a:spcPts val="0"/>
                        </a:spcBef>
                        <a:spcAft>
                          <a:spcPts val="0"/>
                        </a:spcAft>
                        <a:buNone/>
                      </a:pPr>
                      <a:r>
                        <a:rPr lang="en-US" sz="900" b="1" dirty="0">
                          <a:solidFill>
                            <a:schemeClr val="tx1"/>
                          </a:solidFill>
                        </a:rPr>
                        <a:t>1000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3400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510201310"/>
                  </a:ext>
                </a:extLst>
              </a:tr>
              <a:tr h="101600">
                <a:tc>
                  <a:txBody>
                    <a:bodyPr/>
                    <a:lstStyle/>
                    <a:p>
                      <a:pPr marL="0" marR="0" lvl="0" indent="0" algn="ctr" rtl="0">
                        <a:spcBef>
                          <a:spcPts val="0"/>
                        </a:spcBef>
                        <a:spcAft>
                          <a:spcPts val="0"/>
                        </a:spcAft>
                        <a:buNone/>
                      </a:pPr>
                      <a:r>
                        <a:rPr lang="en-US" sz="900" b="1" dirty="0">
                          <a:solidFill>
                            <a:schemeClr val="tx1"/>
                          </a:solidFill>
                        </a:rPr>
                        <a:t>900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3100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22080042"/>
                  </a:ext>
                </a:extLst>
              </a:tr>
              <a:tr h="101600">
                <a:tc>
                  <a:txBody>
                    <a:bodyPr/>
                    <a:lstStyle/>
                    <a:p>
                      <a:pPr marL="0" marR="0" lvl="0" indent="0" algn="ctr" rtl="0">
                        <a:spcBef>
                          <a:spcPts val="0"/>
                        </a:spcBef>
                        <a:spcAft>
                          <a:spcPts val="0"/>
                        </a:spcAft>
                        <a:buNone/>
                      </a:pPr>
                      <a:r>
                        <a:rPr lang="en-US" sz="900" b="1" dirty="0">
                          <a:solidFill>
                            <a:schemeClr val="tx1"/>
                          </a:solidFill>
                        </a:rPr>
                        <a:t>800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2700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574889312"/>
                  </a:ext>
                </a:extLst>
              </a:tr>
              <a:tr h="101600">
                <a:tc>
                  <a:txBody>
                    <a:bodyPr/>
                    <a:lstStyle/>
                    <a:p>
                      <a:pPr marL="0" marR="0" lvl="0" indent="0" algn="ctr" rtl="0">
                        <a:spcBef>
                          <a:spcPts val="0"/>
                        </a:spcBef>
                        <a:spcAft>
                          <a:spcPts val="0"/>
                        </a:spcAft>
                        <a:buNone/>
                      </a:pPr>
                      <a:r>
                        <a:rPr lang="en-US" sz="900" b="1" dirty="0">
                          <a:solidFill>
                            <a:schemeClr val="tx1"/>
                          </a:solidFill>
                        </a:rPr>
                        <a:t>700 m </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2400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570264682"/>
                  </a:ext>
                </a:extLst>
              </a:tr>
              <a:tr h="101600">
                <a:tc>
                  <a:txBody>
                    <a:bodyPr/>
                    <a:lstStyle/>
                    <a:p>
                      <a:pPr marL="0" marR="0" lvl="0" indent="0" algn="ctr" rtl="0">
                        <a:spcBef>
                          <a:spcPts val="0"/>
                        </a:spcBef>
                        <a:spcAft>
                          <a:spcPts val="0"/>
                        </a:spcAft>
                        <a:buNone/>
                      </a:pPr>
                      <a:r>
                        <a:rPr lang="en-US" sz="900" b="1" dirty="0">
                          <a:solidFill>
                            <a:schemeClr val="tx1"/>
                          </a:solidFill>
                        </a:rPr>
                        <a:t>600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2100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849956985"/>
                  </a:ext>
                </a:extLst>
              </a:tr>
              <a:tr h="101600">
                <a:tc>
                  <a:txBody>
                    <a:bodyPr/>
                    <a:lstStyle/>
                    <a:p>
                      <a:pPr marL="0" marR="0" lvl="0" indent="0" algn="ctr" rtl="0">
                        <a:spcBef>
                          <a:spcPts val="0"/>
                        </a:spcBef>
                        <a:spcAft>
                          <a:spcPts val="0"/>
                        </a:spcAft>
                        <a:buNone/>
                      </a:pPr>
                      <a:r>
                        <a:rPr lang="en-US" sz="900" b="1" dirty="0">
                          <a:solidFill>
                            <a:schemeClr val="tx1"/>
                          </a:solidFill>
                        </a:rPr>
                        <a:t>550 m </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1900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707927096"/>
                  </a:ext>
                </a:extLst>
              </a:tr>
              <a:tr h="101600">
                <a:tc>
                  <a:txBody>
                    <a:bodyPr/>
                    <a:lstStyle/>
                    <a:p>
                      <a:pPr marL="0" marR="0" lvl="0" indent="0" algn="ctr" rtl="0">
                        <a:spcBef>
                          <a:spcPts val="0"/>
                        </a:spcBef>
                        <a:spcAft>
                          <a:spcPts val="0"/>
                        </a:spcAft>
                        <a:buNone/>
                      </a:pPr>
                      <a:r>
                        <a:rPr lang="en-US" sz="900" b="1" dirty="0">
                          <a:solidFill>
                            <a:schemeClr val="tx1"/>
                          </a:solidFill>
                        </a:rPr>
                        <a:t>500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1800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285190659"/>
                  </a:ext>
                </a:extLst>
              </a:tr>
              <a:tr h="101600">
                <a:tc>
                  <a:txBody>
                    <a:bodyPr/>
                    <a:lstStyle/>
                    <a:p>
                      <a:pPr marL="0" marR="0" lvl="0" indent="0" algn="ctr" rtl="0">
                        <a:spcBef>
                          <a:spcPts val="0"/>
                        </a:spcBef>
                        <a:spcAft>
                          <a:spcPts val="0"/>
                        </a:spcAft>
                        <a:buNone/>
                      </a:pPr>
                      <a:r>
                        <a:rPr lang="en-US" sz="900" b="1" dirty="0">
                          <a:solidFill>
                            <a:schemeClr val="tx1"/>
                          </a:solidFill>
                        </a:rPr>
                        <a:t>400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1400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959726209"/>
                  </a:ext>
                </a:extLst>
              </a:tr>
              <a:tr h="101600">
                <a:tc>
                  <a:txBody>
                    <a:bodyPr/>
                    <a:lstStyle/>
                    <a:p>
                      <a:pPr marL="0" marR="0" lvl="0" indent="0" algn="ctr" rtl="0">
                        <a:spcBef>
                          <a:spcPts val="0"/>
                        </a:spcBef>
                        <a:spcAft>
                          <a:spcPts val="0"/>
                        </a:spcAft>
                        <a:buNone/>
                      </a:pPr>
                      <a:r>
                        <a:rPr lang="en-US" sz="900" b="1" dirty="0">
                          <a:solidFill>
                            <a:schemeClr val="tx1"/>
                          </a:solidFill>
                        </a:rPr>
                        <a:t>350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1300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066265468"/>
                  </a:ext>
                </a:extLst>
              </a:tr>
              <a:tr h="101600">
                <a:tc>
                  <a:txBody>
                    <a:bodyPr/>
                    <a:lstStyle/>
                    <a:p>
                      <a:pPr marL="0" marR="0" lvl="0" indent="0" algn="ctr" rtl="0">
                        <a:spcBef>
                          <a:spcPts val="0"/>
                        </a:spcBef>
                        <a:spcAft>
                          <a:spcPts val="0"/>
                        </a:spcAft>
                        <a:buNone/>
                      </a:pPr>
                      <a:r>
                        <a:rPr lang="en-US" sz="900" b="1" dirty="0">
                          <a:solidFill>
                            <a:schemeClr val="tx1"/>
                          </a:solidFill>
                        </a:rPr>
                        <a:t>300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1100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337676885"/>
                  </a:ext>
                </a:extLst>
              </a:tr>
              <a:tr h="101600">
                <a:tc>
                  <a:txBody>
                    <a:bodyPr/>
                    <a:lstStyle/>
                    <a:p>
                      <a:pPr marL="0" marR="0" lvl="0" indent="0" algn="ctr" rtl="0">
                        <a:spcBef>
                          <a:spcPts val="0"/>
                        </a:spcBef>
                        <a:spcAft>
                          <a:spcPts val="0"/>
                        </a:spcAft>
                        <a:buNone/>
                      </a:pPr>
                      <a:r>
                        <a:rPr lang="en-US" sz="900" b="1" dirty="0">
                          <a:solidFill>
                            <a:schemeClr val="tx1"/>
                          </a:solidFill>
                        </a:rPr>
                        <a:t>280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1000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138402347"/>
                  </a:ext>
                </a:extLst>
              </a:tr>
              <a:tr h="101600">
                <a:tc>
                  <a:txBody>
                    <a:bodyPr/>
                    <a:lstStyle/>
                    <a:p>
                      <a:pPr marL="0" marR="0" lvl="0" indent="0" algn="ctr" rtl="0">
                        <a:spcBef>
                          <a:spcPts val="0"/>
                        </a:spcBef>
                        <a:spcAft>
                          <a:spcPts val="0"/>
                        </a:spcAft>
                        <a:buNone/>
                      </a:pPr>
                      <a:r>
                        <a:rPr lang="en-US" sz="900" b="1" dirty="0">
                          <a:solidFill>
                            <a:schemeClr val="tx1"/>
                          </a:solidFill>
                        </a:rPr>
                        <a:t>200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800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573489271"/>
                  </a:ext>
                </a:extLst>
              </a:tr>
              <a:tr h="101600">
                <a:tc>
                  <a:txBody>
                    <a:bodyPr/>
                    <a:lstStyle/>
                    <a:p>
                      <a:pPr marL="0" marR="0" lvl="0" indent="0" algn="ctr" rtl="0">
                        <a:spcBef>
                          <a:spcPts val="0"/>
                        </a:spcBef>
                        <a:spcAft>
                          <a:spcPts val="0"/>
                        </a:spcAft>
                        <a:buNone/>
                      </a:pPr>
                      <a:r>
                        <a:rPr lang="en-US" sz="900" b="1" dirty="0">
                          <a:solidFill>
                            <a:schemeClr val="tx1"/>
                          </a:solidFill>
                        </a:rPr>
                        <a:t>100 m</a:t>
                      </a:r>
                      <a:endParaRPr sz="900" b="1" dirty="0">
                        <a:solidFill>
                          <a:schemeClr val="tx1"/>
                        </a:solidFill>
                      </a:endParaRPr>
                    </a:p>
                  </a:txBody>
                  <a:tcPr marL="36000" marR="36000" marT="36000" marB="36000" anchor="ctr"/>
                </a:tc>
                <a:tc gridSpan="2">
                  <a:txBody>
                    <a:bodyPr/>
                    <a:lstStyle/>
                    <a:p>
                      <a:pPr algn="ctr"/>
                      <a:r>
                        <a:rPr lang="en-US" altLang="ko-Kore-KR" sz="900" b="1" dirty="0">
                          <a:solidFill>
                            <a:srgbClr val="0070C0"/>
                          </a:solidFill>
                        </a:rPr>
                        <a:t>400 ft</a:t>
                      </a:r>
                      <a:endParaRPr lang="ko-Kore-KR" altLang="en-US" sz="900" b="1" dirty="0">
                        <a:solidFill>
                          <a:srgbClr val="0070C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928050573"/>
                  </a:ext>
                </a:extLst>
              </a:tr>
              <a:tr h="101600">
                <a:tc>
                  <a:txBody>
                    <a:bodyPr/>
                    <a:lstStyle/>
                    <a:p>
                      <a:pPr marL="0" marR="0" lvl="0" indent="0" algn="ctr" rtl="0">
                        <a:spcBef>
                          <a:spcPts val="0"/>
                        </a:spcBef>
                        <a:spcAft>
                          <a:spcPts val="0"/>
                        </a:spcAft>
                        <a:buNone/>
                      </a:pPr>
                      <a:r>
                        <a:rPr lang="en-US" sz="900" b="1" dirty="0">
                          <a:solidFill>
                            <a:schemeClr val="tx1"/>
                          </a:solidFill>
                        </a:rPr>
                        <a:t>0 m</a:t>
                      </a:r>
                      <a:endParaRPr sz="900" b="1" dirty="0">
                        <a:solidFill>
                          <a:schemeClr val="tx1"/>
                        </a:solidFill>
                      </a:endParaRPr>
                    </a:p>
                  </a:txBody>
                  <a:tcPr marL="36000" marR="36000" marT="36000" marB="36000" anchor="ctr"/>
                </a:tc>
                <a:tc>
                  <a:txBody>
                    <a:bodyPr/>
                    <a:lstStyle/>
                    <a:p>
                      <a:pPr algn="ctr"/>
                      <a:r>
                        <a:rPr lang="en-US" altLang="ko-Kore-KR" sz="900" b="1" dirty="0">
                          <a:solidFill>
                            <a:srgbClr val="0070C0"/>
                          </a:solidFill>
                        </a:rPr>
                        <a:t>03 : 113 ft</a:t>
                      </a:r>
                      <a:endParaRPr lang="ko-Kore-KR" altLang="en-US" sz="900" b="1" dirty="0">
                        <a:solidFill>
                          <a:srgbClr val="0070C0"/>
                        </a:solidFill>
                      </a:endParaRPr>
                    </a:p>
                  </a:txBody>
                  <a:tcPr marL="36000" marR="36000" marT="36000" marB="36000" anchor="ctr"/>
                </a:tc>
                <a:tc>
                  <a:txBody>
                    <a:bodyPr/>
                    <a:lstStyle/>
                    <a:p>
                      <a:pPr algn="ctr"/>
                      <a:r>
                        <a:rPr lang="en-US" altLang="ko-Kore-KR" sz="900" b="1" dirty="0">
                          <a:solidFill>
                            <a:srgbClr val="0070C0"/>
                          </a:solidFill>
                        </a:rPr>
                        <a:t>21 : 146 ft</a:t>
                      </a:r>
                      <a:endParaRPr lang="ko-Kore-KR" altLang="en-US" sz="900" b="1" dirty="0">
                        <a:solidFill>
                          <a:srgbClr val="0070C0"/>
                        </a:solidFill>
                      </a:endParaRPr>
                    </a:p>
                  </a:txBody>
                  <a:tcPr marL="36000" marR="36000" marT="36000" marB="36000" anchor="ctr"/>
                </a:tc>
                <a:extLst>
                  <a:ext uri="{0D108BD9-81ED-4DB2-BD59-A6C34878D82A}">
                    <a16:rowId xmlns:a16="http://schemas.microsoft.com/office/drawing/2014/main" val="4087151422"/>
                  </a:ext>
                </a:extLst>
              </a:tr>
            </a:tbl>
          </a:graphicData>
        </a:graphic>
      </p:graphicFrame>
      <p:graphicFrame>
        <p:nvGraphicFramePr>
          <p:cNvPr id="5" name="Google Shape;381;p28">
            <a:extLst>
              <a:ext uri="{FF2B5EF4-FFF2-40B4-BE49-F238E27FC236}">
                <a16:creationId xmlns:a16="http://schemas.microsoft.com/office/drawing/2014/main" id="{574A80DF-A9B9-C95F-1A2C-D48963F2FF8A}"/>
              </a:ext>
            </a:extLst>
          </p:cNvPr>
          <p:cNvGraphicFramePr/>
          <p:nvPr>
            <p:extLst>
              <p:ext uri="{D42A27DB-BD31-4B8C-83A1-F6EECF244321}">
                <p14:modId xmlns:p14="http://schemas.microsoft.com/office/powerpoint/2010/main" val="1404247137"/>
              </p:ext>
            </p:extLst>
          </p:nvPr>
        </p:nvGraphicFramePr>
        <p:xfrm>
          <a:off x="7" y="0"/>
          <a:ext cx="2328850" cy="8229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solidFill>
                            <a:srgbClr val="C00000"/>
                          </a:solidFill>
                        </a:rPr>
                        <a:t>WEH</a:t>
                      </a:r>
                      <a:r>
                        <a:rPr lang="en-US" sz="1000" dirty="0"/>
                        <a:t>  Altitude / Height Conversion Table</a:t>
                      </a:r>
                      <a:endParaRPr sz="1000" dirty="0"/>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err="1">
                          <a:solidFill>
                            <a:srgbClr val="C00000"/>
                          </a:solidFill>
                        </a:rPr>
                        <a:t>xxxx</a:t>
                      </a:r>
                      <a:r>
                        <a:rPr lang="en-US" altLang="ko-Kore-KR" sz="800" b="1" dirty="0">
                          <a:solidFill>
                            <a:srgbClr val="C00000"/>
                          </a:solidFill>
                        </a:rPr>
                        <a:t> meters on STD </a:t>
                      </a:r>
                      <a:r>
                        <a:rPr lang="ko-KR" altLang="en-US" sz="800" b="1" dirty="0">
                          <a:solidFill>
                            <a:srgbClr val="C00000"/>
                          </a:solidFill>
                        </a:rPr>
                        <a:t>이후 적용</a:t>
                      </a:r>
                      <a:endParaRPr lang="en-US" sz="800" b="1" dirty="0">
                        <a:solidFill>
                          <a:srgbClr val="0070C0"/>
                        </a:solidFill>
                      </a:endParaRPr>
                    </a:p>
                    <a:p>
                      <a:pPr marL="0" marR="0" lvl="0" indent="0" algn="l" rtl="0">
                        <a:spcBef>
                          <a:spcPts val="0"/>
                        </a:spcBef>
                        <a:spcAft>
                          <a:spcPts val="0"/>
                        </a:spcAft>
                        <a:buNone/>
                      </a:pPr>
                      <a:r>
                        <a:rPr lang="en-US" sz="800" b="1" dirty="0" err="1">
                          <a:solidFill>
                            <a:srgbClr val="0070C0"/>
                          </a:solidFill>
                        </a:rPr>
                        <a:t>xxxx</a:t>
                      </a:r>
                      <a:r>
                        <a:rPr lang="en-US" sz="800" b="1" dirty="0">
                          <a:solidFill>
                            <a:srgbClr val="0070C0"/>
                          </a:solidFill>
                        </a:rPr>
                        <a:t> meters on QFE </a:t>
                      </a:r>
                      <a:r>
                        <a:rPr lang="en-US" sz="800" b="1" dirty="0" err="1">
                          <a:solidFill>
                            <a:srgbClr val="0070C0"/>
                          </a:solidFill>
                        </a:rPr>
                        <a:t>xxxx</a:t>
                      </a:r>
                      <a:r>
                        <a:rPr lang="en-US" sz="800" b="1" dirty="0">
                          <a:solidFill>
                            <a:srgbClr val="0070C0"/>
                          </a:solidFill>
                        </a:rPr>
                        <a:t> -&gt; REQ QNH </a:t>
                      </a:r>
                    </a:p>
                    <a:p>
                      <a:pPr marL="0" marR="0" lvl="0" indent="0" algn="l" rtl="0">
                        <a:spcBef>
                          <a:spcPts val="0"/>
                        </a:spcBef>
                        <a:spcAft>
                          <a:spcPts val="0"/>
                        </a:spcAft>
                        <a:buNone/>
                      </a:pPr>
                      <a:r>
                        <a:rPr lang="en-US" sz="800" b="1" dirty="0">
                          <a:solidFill>
                            <a:srgbClr val="0070C0"/>
                          </a:solidFill>
                        </a:rPr>
                        <a:t>-&gt; QNH xxx SET</a:t>
                      </a:r>
                      <a:r>
                        <a:rPr lang="ko-KR" altLang="en-US" sz="800" b="1" dirty="0">
                          <a:solidFill>
                            <a:srgbClr val="0070C0"/>
                          </a:solidFill>
                        </a:rPr>
                        <a:t>후 </a:t>
                      </a:r>
                      <a:r>
                        <a:rPr lang="en-US" altLang="ko-KR" sz="800" b="1" dirty="0">
                          <a:solidFill>
                            <a:srgbClr val="0070C0"/>
                          </a:solidFill>
                        </a:rPr>
                        <a:t>Conversion Table </a:t>
                      </a:r>
                      <a:r>
                        <a:rPr lang="ko-KR" altLang="en-US" sz="800" b="1" dirty="0">
                          <a:solidFill>
                            <a:srgbClr val="0070C0"/>
                          </a:solidFill>
                        </a:rPr>
                        <a:t>사용</a:t>
                      </a:r>
                      <a:endParaRPr lang="en-US" altLang="ko-KR" sz="800" b="1" dirty="0">
                        <a:solidFill>
                          <a:srgbClr val="0070C0"/>
                        </a:solidFill>
                      </a:endParaRPr>
                    </a:p>
                    <a:p>
                      <a:pPr marL="0" marR="0" lvl="0" indent="0" algn="l" rtl="0">
                        <a:spcBef>
                          <a:spcPts val="0"/>
                        </a:spcBef>
                        <a:spcAft>
                          <a:spcPts val="0"/>
                        </a:spcAft>
                        <a:buNone/>
                      </a:pPr>
                      <a:r>
                        <a:rPr lang="en-US" altLang="ko-KR" sz="800" b="1" dirty="0">
                          <a:solidFill>
                            <a:srgbClr val="00B050"/>
                          </a:solidFill>
                        </a:rPr>
                        <a:t>03 </a:t>
                      </a:r>
                      <a:r>
                        <a:rPr lang="en-US" altLang="ko-KR" sz="800" b="1" dirty="0" err="1">
                          <a:solidFill>
                            <a:srgbClr val="00B050"/>
                          </a:solidFill>
                        </a:rPr>
                        <a:t>Elev</a:t>
                      </a:r>
                      <a:r>
                        <a:rPr lang="en-US" altLang="ko-KR" sz="800" b="1" dirty="0">
                          <a:solidFill>
                            <a:srgbClr val="00B050"/>
                          </a:solidFill>
                        </a:rPr>
                        <a:t> : 113ft = 4.0hPa, 21 </a:t>
                      </a:r>
                      <a:r>
                        <a:rPr lang="en-US" altLang="ko-KR" sz="800" b="1" dirty="0" err="1">
                          <a:solidFill>
                            <a:srgbClr val="00B050"/>
                          </a:solidFill>
                        </a:rPr>
                        <a:t>Elev</a:t>
                      </a:r>
                      <a:r>
                        <a:rPr lang="en-US" altLang="ko-KR" sz="800" b="1" dirty="0">
                          <a:solidFill>
                            <a:srgbClr val="00B050"/>
                          </a:solidFill>
                        </a:rPr>
                        <a:t> : 146ft = 5.2hPa</a:t>
                      </a:r>
                    </a:p>
                  </a:txBody>
                  <a:tcPr marL="91450" marR="91450" marT="45725" marB="45725"/>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235794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309956683"/>
              </p:ext>
            </p:extLst>
          </p:nvPr>
        </p:nvGraphicFramePr>
        <p:xfrm>
          <a:off x="4919" y="568970"/>
          <a:ext cx="2300363" cy="1914490"/>
        </p:xfrm>
        <a:graphic>
          <a:graphicData uri="http://schemas.openxmlformats.org/drawingml/2006/table">
            <a:tbl>
              <a:tblPr firstRow="1" bandRow="1">
                <a:noFill/>
                <a:tableStyleId>{A521BE36-7E6F-4EC9-8D66-1CF97A6895EC}</a:tableStyleId>
              </a:tblPr>
              <a:tblGrid>
                <a:gridCol w="228062">
                  <a:extLst>
                    <a:ext uri="{9D8B030D-6E8A-4147-A177-3AD203B41FA5}">
                      <a16:colId xmlns:a16="http://schemas.microsoft.com/office/drawing/2014/main" val="20000"/>
                    </a:ext>
                  </a:extLst>
                </a:gridCol>
                <a:gridCol w="62747">
                  <a:extLst>
                    <a:ext uri="{9D8B030D-6E8A-4147-A177-3AD203B41FA5}">
                      <a16:colId xmlns:a16="http://schemas.microsoft.com/office/drawing/2014/main" val="20001"/>
                    </a:ext>
                  </a:extLst>
                </a:gridCol>
                <a:gridCol w="230994">
                  <a:extLst>
                    <a:ext uri="{9D8B030D-6E8A-4147-A177-3AD203B41FA5}">
                      <a16:colId xmlns:a16="http://schemas.microsoft.com/office/drawing/2014/main" val="20002"/>
                    </a:ext>
                  </a:extLst>
                </a:gridCol>
                <a:gridCol w="331870">
                  <a:extLst>
                    <a:ext uri="{9D8B030D-6E8A-4147-A177-3AD203B41FA5}">
                      <a16:colId xmlns:a16="http://schemas.microsoft.com/office/drawing/2014/main" val="20003"/>
                    </a:ext>
                  </a:extLst>
                </a:gridCol>
                <a:gridCol w="157087">
                  <a:extLst>
                    <a:ext uri="{9D8B030D-6E8A-4147-A177-3AD203B41FA5}">
                      <a16:colId xmlns:a16="http://schemas.microsoft.com/office/drawing/2014/main" val="20004"/>
                    </a:ext>
                  </a:extLst>
                </a:gridCol>
                <a:gridCol w="74893">
                  <a:extLst>
                    <a:ext uri="{9D8B030D-6E8A-4147-A177-3AD203B41FA5}">
                      <a16:colId xmlns:a16="http://schemas.microsoft.com/office/drawing/2014/main" val="20005"/>
                    </a:ext>
                  </a:extLst>
                </a:gridCol>
                <a:gridCol w="231979">
                  <a:extLst>
                    <a:ext uri="{9D8B030D-6E8A-4147-A177-3AD203B41FA5}">
                      <a16:colId xmlns:a16="http://schemas.microsoft.com/office/drawing/2014/main" val="20006"/>
                    </a:ext>
                  </a:extLst>
                </a:gridCol>
                <a:gridCol w="366946">
                  <a:extLst>
                    <a:ext uri="{9D8B030D-6E8A-4147-A177-3AD203B41FA5}">
                      <a16:colId xmlns:a16="http://schemas.microsoft.com/office/drawing/2014/main" val="20007"/>
                    </a:ext>
                  </a:extLst>
                </a:gridCol>
                <a:gridCol w="340361">
                  <a:extLst>
                    <a:ext uri="{9D8B030D-6E8A-4147-A177-3AD203B41FA5}">
                      <a16:colId xmlns:a16="http://schemas.microsoft.com/office/drawing/2014/main" val="20008"/>
                    </a:ext>
                  </a:extLst>
                </a:gridCol>
                <a:gridCol w="275424">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WEH </a:t>
                      </a:r>
                      <a:r>
                        <a:rPr lang="en-US" sz="800" u="none" strike="noStrike" cap="none" dirty="0">
                          <a:solidFill>
                            <a:srgbClr val="C00000"/>
                          </a:solidFill>
                        </a:rPr>
                        <a:t>(TA 4930’) </a:t>
                      </a:r>
                      <a:r>
                        <a:rPr lang="en-US" sz="800" u="none" strike="noStrike" cap="none" dirty="0"/>
                        <a:t>: RNP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03</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IKE xx X</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026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026</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4500m(14800’)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026</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21</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IKE xx X</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206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206</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ATC</a:t>
                      </a:r>
                    </a:p>
                    <a:p>
                      <a:pPr marL="0" marR="0" lvl="0" indent="0" algn="ctr" rtl="0">
                        <a:spcBef>
                          <a:spcPts val="0"/>
                        </a:spcBef>
                        <a:spcAft>
                          <a:spcPts val="0"/>
                        </a:spcAft>
                        <a:buNone/>
                      </a:pPr>
                      <a:r>
                        <a:rPr lang="en-US" altLang="ko-Kore-KR" sz="800" b="1" u="none" strike="noStrike" cap="none" dirty="0">
                          <a:solidFill>
                            <a:srgbClr val="0070C0"/>
                          </a:solidFill>
                        </a:rPr>
                        <a:t>4500m(14800’)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206</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WHE 115.8</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03 110.1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21 110.7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03(113’)</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8530</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21(146’)</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RWY03/21 Expect C – Taxi down on RWY – 180 Back</a:t>
                      </a:r>
                    </a:p>
                    <a:p>
                      <a:pPr marL="0" marR="0" lvl="0" indent="0" algn="ctr" rtl="0">
                        <a:lnSpc>
                          <a:spcPct val="100000"/>
                        </a:lnSpc>
                        <a:spcBef>
                          <a:spcPts val="0"/>
                        </a:spcBef>
                        <a:spcAft>
                          <a:spcPts val="0"/>
                        </a:spcAft>
                        <a:buClr>
                          <a:schemeClr val="dk1"/>
                        </a:buClr>
                        <a:buSzPts val="800"/>
                        <a:buFont typeface="Calibri"/>
                        <a:buNone/>
                      </a:pPr>
                      <a:r>
                        <a:rPr lang="en-US" altLang="ko-Kore-KR" sz="800" b="0" dirty="0">
                          <a:solidFill>
                            <a:schemeClr val="tx1"/>
                          </a:solidFill>
                        </a:rPr>
                        <a:t>Taxi to RWY21 via B -&gt; Confirm 180 Back!!!</a:t>
                      </a:r>
                    </a:p>
                    <a:p>
                      <a:pPr marL="0" marR="0" lvl="0" indent="0" algn="ctr" rtl="0">
                        <a:lnSpc>
                          <a:spcPct val="100000"/>
                        </a:lnSpc>
                        <a:spcBef>
                          <a:spcPts val="0"/>
                        </a:spcBef>
                        <a:spcAft>
                          <a:spcPts val="0"/>
                        </a:spcAft>
                        <a:buClr>
                          <a:schemeClr val="dk1"/>
                        </a:buClr>
                        <a:buSzPts val="800"/>
                        <a:buFont typeface="Calibri"/>
                        <a:buNone/>
                      </a:pPr>
                      <a:r>
                        <a:rPr lang="en-US" altLang="ko-Kore-KR" sz="800" dirty="0">
                          <a:solidFill>
                            <a:srgbClr val="C00000"/>
                          </a:solidFill>
                        </a:rPr>
                        <a:t>180 Back No Terminal Side Turn</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dirty="0">
                          <a:solidFill>
                            <a:srgbClr val="0070C0"/>
                          </a:solidFill>
                        </a:rPr>
                        <a:t>PAX Window must closed Between APP and DEP </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4287823038"/>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bg1"/>
                          </a:solidFill>
                          <a:hlinkClick r:id="rId3">
                            <a:extLst>
                              <a:ext uri="{A12FA001-AC4F-418D-AE19-62706E023703}">
                                <ahyp:hlinkClr xmlns:ahyp="http://schemas.microsoft.com/office/drawing/2018/hyperlinkcolor" val="tx"/>
                              </a:ext>
                            </a:extLst>
                          </a:hlinkClick>
                        </a:rPr>
                        <a:t>ZSWH(WEH)146ft</a:t>
                      </a:r>
                      <a:endParaRPr lang="en-US" altLang="ko-Kore-KR" sz="12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altLang="ko-KR" sz="700" dirty="0">
                          <a:solidFill>
                            <a:srgbClr val="FF0000"/>
                          </a:solidFill>
                        </a:rPr>
                        <a:t>-5 Min, TWR 118.65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50119" y="2509276"/>
            <a:ext cx="748923"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C00000"/>
                </a:solidFill>
                <a:latin typeface="Gulim" panose="020B0600000101010101" pitchFamily="34" charset="-127"/>
                <a:ea typeface="Gulim" panose="020B0600000101010101" pitchFamily="34" charset="-127"/>
              </a:rPr>
              <a:t>TWR 118.65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TGU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FCAC7CD4-98E6-8004-ECC6-D82BC228CB84}"/>
              </a:ext>
            </a:extLst>
          </p:cNvPr>
          <p:cNvSpPr/>
          <p:nvPr/>
        </p:nvSpPr>
        <p:spPr>
          <a:xfrm>
            <a:off x="1651787" y="304985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8726A69-B260-0DB1-8F3C-79808AA2BAA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7455660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16083" y="3136641"/>
            <a:ext cx="223971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 – 128.15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125.6 – 120.35 – 133.65 – 134.15 - 126.7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125.3 – 120.95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XIY APP 119.05 – 120.2 – 125.1</a:t>
            </a:r>
          </a:p>
        </p:txBody>
      </p:sp>
      <p:graphicFrame>
        <p:nvGraphicFramePr>
          <p:cNvPr id="291" name="Google Shape;291;p18"/>
          <p:cNvGraphicFramePr/>
          <p:nvPr>
            <p:extLst>
              <p:ext uri="{D42A27DB-BD31-4B8C-83A1-F6EECF244321}">
                <p14:modId xmlns:p14="http://schemas.microsoft.com/office/powerpoint/2010/main" val="1338440718"/>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2015755674"/>
              </p:ext>
            </p:extLst>
          </p:nvPr>
        </p:nvGraphicFramePr>
        <p:xfrm>
          <a:off x="-1706" y="4004222"/>
          <a:ext cx="2333879" cy="1537816"/>
        </p:xfrm>
        <a:graphic>
          <a:graphicData uri="http://schemas.openxmlformats.org/drawingml/2006/table">
            <a:tbl>
              <a:tblPr firstRow="1" bandRow="1">
                <a:noFill/>
                <a:tableStyleId>{A521BE36-7E6F-4EC9-8D66-1CF97A6895EC}</a:tableStyleId>
              </a:tblPr>
              <a:tblGrid>
                <a:gridCol w="430193">
                  <a:extLst>
                    <a:ext uri="{9D8B030D-6E8A-4147-A177-3AD203B41FA5}">
                      <a16:colId xmlns:a16="http://schemas.microsoft.com/office/drawing/2014/main" val="20000"/>
                    </a:ext>
                  </a:extLst>
                </a:gridCol>
                <a:gridCol w="733287">
                  <a:extLst>
                    <a:ext uri="{9D8B030D-6E8A-4147-A177-3AD203B41FA5}">
                      <a16:colId xmlns:a16="http://schemas.microsoft.com/office/drawing/2014/main" val="20001"/>
                    </a:ext>
                  </a:extLst>
                </a:gridCol>
                <a:gridCol w="348974">
                  <a:extLst>
                    <a:ext uri="{9D8B030D-6E8A-4147-A177-3AD203B41FA5}">
                      <a16:colId xmlns:a16="http://schemas.microsoft.com/office/drawing/2014/main" val="20002"/>
                    </a:ext>
                  </a:extLst>
                </a:gridCol>
                <a:gridCol w="821425">
                  <a:extLst>
                    <a:ext uri="{9D8B030D-6E8A-4147-A177-3AD203B41FA5}">
                      <a16:colId xmlns:a16="http://schemas.microsoft.com/office/drawing/2014/main" val="20003"/>
                    </a:ext>
                  </a:extLst>
                </a:gridCol>
              </a:tblGrid>
              <a:tr h="299800">
                <a:tc gridSpan="4">
                  <a:txBody>
                    <a:bodyPr/>
                    <a:lstStyle/>
                    <a:p>
                      <a:pPr marL="0" marR="0" lvl="0" indent="0" algn="ctr" rtl="0">
                        <a:spcBef>
                          <a:spcPts val="0"/>
                        </a:spcBef>
                        <a:spcAft>
                          <a:spcPts val="0"/>
                        </a:spcAft>
                        <a:buNone/>
                      </a:pPr>
                      <a:r>
                        <a:rPr lang="en-US" sz="800" dirty="0"/>
                        <a:t>XIY </a:t>
                      </a:r>
                      <a:r>
                        <a:rPr lang="en-US" sz="800" dirty="0">
                          <a:solidFill>
                            <a:schemeClr val="bg1"/>
                          </a:solidFill>
                        </a:rPr>
                        <a:t>(TL 118) </a:t>
                      </a:r>
                      <a:r>
                        <a:rPr lang="en-US" sz="800" dirty="0"/>
                        <a:t>: RNAV STAR </a:t>
                      </a:r>
                      <a:r>
                        <a:rPr lang="en-US" sz="800" dirty="0">
                          <a:solidFill>
                            <a:srgbClr val="FF0000"/>
                          </a:solidFill>
                        </a:rPr>
                        <a:t>(</a:t>
                      </a:r>
                      <a:r>
                        <a:rPr lang="en-US" sz="800" dirty="0" err="1">
                          <a:solidFill>
                            <a:srgbClr val="FF0000"/>
                          </a:solidFill>
                        </a:rPr>
                        <a:t>Spd</a:t>
                      </a:r>
                      <a:r>
                        <a:rPr lang="en-US" sz="800" dirty="0">
                          <a:solidFill>
                            <a:srgbClr val="FF0000"/>
                          </a:solidFill>
                        </a:rPr>
                        <a:t> Restriction at REF Page)</a:t>
                      </a:r>
                      <a:r>
                        <a:rPr lang="en-US" sz="800" dirty="0"/>
                        <a:t> </a:t>
                      </a:r>
                    </a:p>
                    <a:p>
                      <a:pPr marL="0" marR="0" lvl="0" indent="0" algn="ctr" rtl="0">
                        <a:spcBef>
                          <a:spcPts val="0"/>
                        </a:spcBef>
                        <a:spcAft>
                          <a:spcPts val="0"/>
                        </a:spcAft>
                        <a:buNone/>
                      </a:pPr>
                      <a:r>
                        <a:rPr lang="en-US" sz="800" dirty="0">
                          <a:solidFill>
                            <a:schemeClr val="accent4"/>
                          </a:solidFill>
                        </a:rPr>
                        <a:t>Req ILS APP instead of Visual APP</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5092">
                <a:tc>
                  <a:txBody>
                    <a:bodyPr/>
                    <a:lstStyle/>
                    <a:p>
                      <a:pPr marL="0" marR="0" lvl="0" indent="0" algn="ctr" rtl="0">
                        <a:spcBef>
                          <a:spcPts val="0"/>
                        </a:spcBef>
                        <a:spcAft>
                          <a:spcPts val="0"/>
                        </a:spcAft>
                        <a:buNone/>
                      </a:pPr>
                      <a:r>
                        <a:rPr lang="en-US" sz="800" b="1" dirty="0"/>
                        <a:t>05L</a:t>
                      </a:r>
                      <a:r>
                        <a:rPr lang="en-US" sz="800" b="0" dirty="0"/>
                        <a:t>/R</a:t>
                      </a:r>
                      <a:endParaRPr sz="800" b="0" dirty="0"/>
                    </a:p>
                  </a:txBody>
                  <a:tcPr marL="36000" marR="36000" marT="0" marB="0" anchor="ctr"/>
                </a:tc>
                <a:tc>
                  <a:txBody>
                    <a:bodyPr/>
                    <a:lstStyle/>
                    <a:p>
                      <a:pPr marL="0" marR="0" lvl="0" indent="0" algn="ctr" rtl="0">
                        <a:spcBef>
                          <a:spcPts val="0"/>
                        </a:spcBef>
                        <a:spcAft>
                          <a:spcPts val="0"/>
                        </a:spcAft>
                        <a:buNone/>
                      </a:pPr>
                      <a:r>
                        <a:rPr lang="en-US" sz="800" b="1" dirty="0"/>
                        <a:t>LOVRA xx W</a:t>
                      </a:r>
                    </a:p>
                  </a:txBody>
                  <a:tcPr marL="36000" marR="36000" marT="0" marB="0" anchor="ctr"/>
                </a:tc>
                <a:tc>
                  <a:txBody>
                    <a:bodyPr/>
                    <a:lstStyle/>
                    <a:p>
                      <a:pPr marL="0" marR="0" lvl="0" indent="0" algn="ctr" rtl="0">
                        <a:spcBef>
                          <a:spcPts val="0"/>
                        </a:spcBef>
                        <a:spcAft>
                          <a:spcPts val="0"/>
                        </a:spcAft>
                        <a:buNone/>
                      </a:pPr>
                      <a:r>
                        <a:rPr lang="en-US" sz="800" b="1" dirty="0"/>
                        <a:t>XY906</a:t>
                      </a:r>
                    </a:p>
                  </a:txBody>
                  <a:tcPr marL="36000" marR="36000" marT="0" marB="0" anchor="ctr"/>
                </a:tc>
                <a:tc>
                  <a:txBody>
                    <a:bodyPr/>
                    <a:lstStyle/>
                    <a:p>
                      <a:pPr marL="0" marR="0" lvl="0" indent="0" algn="ctr" rtl="0">
                        <a:spcBef>
                          <a:spcPts val="0"/>
                        </a:spcBef>
                        <a:spcAft>
                          <a:spcPts val="0"/>
                        </a:spcAft>
                        <a:buNone/>
                      </a:pPr>
                      <a:r>
                        <a:rPr lang="en-US" sz="800" b="1" dirty="0"/>
                        <a:t>RNAV ILS Z 05L/R</a:t>
                      </a:r>
                      <a:endParaRPr lang="en-US" sz="800" b="0" dirty="0"/>
                    </a:p>
                  </a:txBody>
                  <a:tcPr marL="36000" marR="36000" marT="0" marB="0" anchor="ctr"/>
                </a:tc>
                <a:extLst>
                  <a:ext uri="{0D108BD9-81ED-4DB2-BD59-A6C34878D82A}">
                    <a16:rowId xmlns:a16="http://schemas.microsoft.com/office/drawing/2014/main" val="10001"/>
                  </a:ext>
                </a:extLst>
              </a:tr>
              <a:tr h="163444">
                <a:tc>
                  <a:txBody>
                    <a:bodyPr/>
                    <a:lstStyle/>
                    <a:p>
                      <a:pPr marL="0" marR="0" lvl="0" indent="0" algn="ctr" rtl="0">
                        <a:spcBef>
                          <a:spcPts val="0"/>
                        </a:spcBef>
                        <a:spcAft>
                          <a:spcPts val="0"/>
                        </a:spcAft>
                        <a:buNone/>
                      </a:pPr>
                      <a:r>
                        <a:rPr lang="en-US" sz="800" b="1" dirty="0"/>
                        <a:t>23R</a:t>
                      </a:r>
                      <a:r>
                        <a:rPr lang="en-US" sz="800" b="0" dirty="0"/>
                        <a:t>/L</a:t>
                      </a:r>
                      <a:endParaRPr sz="800" b="0"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LOVRA xx Y</a:t>
                      </a:r>
                    </a:p>
                  </a:txBody>
                  <a:tcPr marL="36000" marR="36000" marT="0" marB="0" anchor="ctr"/>
                </a:tc>
                <a:tc>
                  <a:txBody>
                    <a:bodyPr/>
                    <a:lstStyle/>
                    <a:p>
                      <a:pPr marL="0" marR="0" lvl="0" indent="0" algn="ctr" rtl="0">
                        <a:spcBef>
                          <a:spcPts val="0"/>
                        </a:spcBef>
                        <a:spcAft>
                          <a:spcPts val="0"/>
                        </a:spcAft>
                        <a:buNone/>
                      </a:pPr>
                      <a:r>
                        <a:rPr lang="en-US" altLang="ko-Kore-KR" sz="800" b="1" dirty="0"/>
                        <a:t>XY801</a:t>
                      </a:r>
                    </a:p>
                  </a:txBody>
                  <a:tcPr marL="36000" marR="36000" marT="0" marB="0" anchor="ctr"/>
                </a:tc>
                <a:tc>
                  <a:txBody>
                    <a:bodyPr/>
                    <a:lstStyle/>
                    <a:p>
                      <a:pPr marL="0" marR="0" lvl="0" indent="0" algn="ctr" rtl="0">
                        <a:spcBef>
                          <a:spcPts val="0"/>
                        </a:spcBef>
                        <a:spcAft>
                          <a:spcPts val="0"/>
                        </a:spcAft>
                        <a:buNone/>
                      </a:pPr>
                      <a:r>
                        <a:rPr lang="en-US" sz="800" b="1" dirty="0"/>
                        <a:t>RNAV ILS Z 23R/L</a:t>
                      </a:r>
                      <a:endParaRPr sz="800" b="1" dirty="0"/>
                    </a:p>
                  </a:txBody>
                  <a:tcPr marL="36000" marR="36000" marT="0" marB="0" anchor="ctr"/>
                </a:tc>
                <a:extLst>
                  <a:ext uri="{0D108BD9-81ED-4DB2-BD59-A6C34878D82A}">
                    <a16:rowId xmlns:a16="http://schemas.microsoft.com/office/drawing/2014/main" val="10002"/>
                  </a:ext>
                </a:extLst>
              </a:tr>
              <a:tr h="92036">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05L(1562’)          9843’          23R(1569’)</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0">
                <a:tc vMerge="1">
                  <a:txBody>
                    <a:bodyPr/>
                    <a:lstStyle/>
                    <a:p>
                      <a:endParaRPr lang="ko-Kore-KR" altLang="en-US"/>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05R(1556’)          12467’          23L(1538’)</a:t>
                      </a:r>
                      <a:endParaRPr lang="en-US" altLang="ko-Kore-KR" sz="800" b="1" dirty="0">
                        <a:solidFill>
                          <a:srgbClr val="C00000"/>
                        </a:solidFill>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84078636"/>
                  </a:ext>
                </a:extLst>
              </a:tr>
              <a:tr h="160867">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05L</a:t>
                      </a:r>
                      <a:r>
                        <a:rPr lang="en-US" sz="800" b="1" dirty="0">
                          <a:solidFill>
                            <a:schemeClr val="dk1"/>
                          </a:solidFill>
                        </a:rPr>
                        <a:t> : A3(6778’), A2(9032</a:t>
                      </a:r>
                      <a:r>
                        <a:rPr lang="en-US" altLang="ko-KR" sz="800" b="1" dirty="0">
                          <a:solidFill>
                            <a:schemeClr val="dk1"/>
                          </a:solidFill>
                        </a:rPr>
                        <a:t>’), </a:t>
                      </a:r>
                      <a:r>
                        <a:rPr lang="en-US" sz="800" b="1" dirty="0">
                          <a:solidFill>
                            <a:schemeClr val="dk1"/>
                          </a:solidFill>
                        </a:rPr>
                        <a:t>23R : A6(5544’), A7(6512’)</a:t>
                      </a: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 </a:t>
                      </a:r>
                      <a:r>
                        <a:rPr lang="en-US" altLang="ko-KR" sz="800" b="1" dirty="0">
                          <a:solidFill>
                            <a:schemeClr val="dk1"/>
                          </a:solidFill>
                        </a:rPr>
                        <a:t>05R</a:t>
                      </a:r>
                      <a:r>
                        <a:rPr lang="en-US" altLang="ko-Kore-KR" sz="800" b="1" dirty="0">
                          <a:solidFill>
                            <a:schemeClr val="dk1"/>
                          </a:solidFill>
                        </a:rPr>
                        <a:t> : D4(5613’), D3(7322</a:t>
                      </a:r>
                      <a:r>
                        <a:rPr lang="en-US" altLang="ko-KR" sz="800" b="1" dirty="0">
                          <a:solidFill>
                            <a:schemeClr val="dk1"/>
                          </a:solidFill>
                        </a:rPr>
                        <a:t>’), </a:t>
                      </a:r>
                      <a:r>
                        <a:rPr lang="en-US" altLang="ko-Kore-KR" sz="800" b="1" dirty="0">
                          <a:solidFill>
                            <a:schemeClr val="dk1"/>
                          </a:solidFill>
                        </a:rPr>
                        <a:t>23L : D5(5646’), D6(7408’)</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6200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Follow Me Car, CTC Apron before Gate in</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“Closing to xx TWY, apply to change to xx Freq”</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Taxi RTE in Jeppesen Chart. </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34980095"/>
              </p:ext>
            </p:extLst>
          </p:nvPr>
        </p:nvGraphicFramePr>
        <p:xfrm>
          <a:off x="-2501" y="12087"/>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bg1"/>
                          </a:solidFill>
                          <a:hlinkClick r:id="rId4">
                            <a:extLst>
                              <a:ext uri="{A12FA001-AC4F-418D-AE19-62706E023703}">
                                <ahyp:hlinkClr xmlns:ahyp="http://schemas.microsoft.com/office/drawing/2018/hyperlinkcolor" val="tx"/>
                              </a:ext>
                            </a:extLst>
                          </a:hlinkClick>
                        </a:rPr>
                        <a:t>ZLXY(XIY)</a:t>
                      </a:r>
                      <a:r>
                        <a:rPr lang="en-US" sz="1200" dirty="0">
                          <a:solidFill>
                            <a:srgbClr val="C00000"/>
                          </a:solidFill>
                          <a:hlinkClick r:id="rId4">
                            <a:extLst>
                              <a:ext uri="{A12FA001-AC4F-418D-AE19-62706E023703}">
                                <ahyp:hlinkClr xmlns:ahyp="http://schemas.microsoft.com/office/drawing/2018/hyperlinkcolor" val="tx"/>
                              </a:ext>
                            </a:extLst>
                          </a:hlinkClick>
                        </a:rPr>
                        <a:t>1572ft</a:t>
                      </a:r>
                      <a:endParaRPr sz="12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Airport Operation Center 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A856CD2-FE31-6284-01C8-D7D16E5D0A5D}"/>
              </a:ext>
            </a:extLst>
          </p:cNvPr>
          <p:cNvSpPr/>
          <p:nvPr/>
        </p:nvSpPr>
        <p:spPr>
          <a:xfrm>
            <a:off x="1651787" y="369803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009EB74-6D91-1AA6-A9DA-65019232BABA}"/>
              </a:ext>
            </a:extLst>
          </p:cNvPr>
          <p:cNvSpPr/>
          <p:nvPr/>
        </p:nvSpPr>
        <p:spPr>
          <a:xfrm>
            <a:off x="852508"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2978834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68822" y="3180964"/>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rgbClr val="C00000"/>
              </a:solidFill>
            </a:endParaRPr>
          </a:p>
        </p:txBody>
      </p:sp>
      <p:sp>
        <p:nvSpPr>
          <p:cNvPr id="5" name="TextBox 4">
            <a:extLst>
              <a:ext uri="{FF2B5EF4-FFF2-40B4-BE49-F238E27FC236}">
                <a16:creationId xmlns:a16="http://schemas.microsoft.com/office/drawing/2014/main" id="{5FC66845-A7AA-98C4-534C-70B808775E8B}"/>
              </a:ext>
            </a:extLst>
          </p:cNvPr>
          <p:cNvSpPr txBox="1"/>
          <p:nvPr/>
        </p:nvSpPr>
        <p:spPr>
          <a:xfrm>
            <a:off x="1015375" y="3142296"/>
            <a:ext cx="338554" cy="412870"/>
          </a:xfrm>
          <a:prstGeom prst="rect">
            <a:avLst/>
          </a:prstGeom>
          <a:noFill/>
        </p:spPr>
        <p:txBody>
          <a:bodyPr wrap="none" rtlCol="0">
            <a:spAutoFit/>
          </a:bodyPr>
          <a:lstStyle/>
          <a:p>
            <a:r>
              <a:rPr kumimoji="1" lang="en-US" altLang="ko-Kore-KR" sz="900" b="1" dirty="0">
                <a:solidFill>
                  <a:srgbClr val="C00000"/>
                </a:solidFill>
              </a:rPr>
              <a:t>TL</a:t>
            </a:r>
          </a:p>
          <a:p>
            <a:pPr algn="dist">
              <a:lnSpc>
                <a:spcPct val="150000"/>
              </a:lnSpc>
            </a:pPr>
            <a:r>
              <a:rPr kumimoji="1" lang="en-US" altLang="ko-Kore-KR" sz="900" b="1" dirty="0">
                <a:solidFill>
                  <a:srgbClr val="C00000"/>
                </a:solidFill>
              </a:rPr>
              <a:t>TA</a:t>
            </a:r>
            <a:endParaRPr kumimoji="1" lang="ko-Kore-KR" altLang="en-US" sz="900" b="1" dirty="0">
              <a:solidFill>
                <a:srgbClr val="C00000"/>
              </a:solidFill>
            </a:endParaRPr>
          </a:p>
        </p:txBody>
      </p:sp>
      <p:sp>
        <p:nvSpPr>
          <p:cNvPr id="4" name="직사각형 3">
            <a:hlinkClick r:id="" action="ppaction://hlinkshowjump?jump=firstslide"/>
            <a:extLst>
              <a:ext uri="{FF2B5EF4-FFF2-40B4-BE49-F238E27FC236}">
                <a16:creationId xmlns:a16="http://schemas.microsoft.com/office/drawing/2014/main" id="{AB986224-3CA1-75D5-0CA8-58CC5B2A8016}"/>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99742792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그림 5" descr="도표, 라인, 원, 폰트이(가) 표시된 사진&#10;&#10;자동 생성된 설명">
            <a:extLst>
              <a:ext uri="{FF2B5EF4-FFF2-40B4-BE49-F238E27FC236}">
                <a16:creationId xmlns:a16="http://schemas.microsoft.com/office/drawing/2014/main" id="{79E91389-E6D4-6BB5-D030-8522DB1AF16C}"/>
              </a:ext>
            </a:extLst>
          </p:cNvPr>
          <p:cNvPicPr>
            <a:picLocks noChangeAspect="1"/>
          </p:cNvPicPr>
          <p:nvPr/>
        </p:nvPicPr>
        <p:blipFill>
          <a:blip r:embed="rId3"/>
          <a:stretch>
            <a:fillRect/>
          </a:stretch>
        </p:blipFill>
        <p:spPr>
          <a:xfrm>
            <a:off x="-4046" y="2634634"/>
            <a:ext cx="818867" cy="487272"/>
          </a:xfrm>
          <a:prstGeom prst="rect">
            <a:avLst/>
          </a:prstGeom>
        </p:spPr>
      </p:pic>
      <p:graphicFrame>
        <p:nvGraphicFramePr>
          <p:cNvPr id="117" name="Google Shape;117;p3"/>
          <p:cNvGraphicFramePr/>
          <p:nvPr>
            <p:extLst>
              <p:ext uri="{D42A27DB-BD31-4B8C-83A1-F6EECF244321}">
                <p14:modId xmlns:p14="http://schemas.microsoft.com/office/powerpoint/2010/main" val="812185731"/>
              </p:ext>
            </p:extLst>
          </p:nvPr>
        </p:nvGraphicFramePr>
        <p:xfrm>
          <a:off x="-4046" y="692910"/>
          <a:ext cx="2334438" cy="1936570"/>
        </p:xfrm>
        <a:graphic>
          <a:graphicData uri="http://schemas.openxmlformats.org/drawingml/2006/table">
            <a:tbl>
              <a:tblPr firstRow="1" bandRow="1">
                <a:noFill/>
                <a:tableStyleId>{A521BE36-7E6F-4EC9-8D66-1CF97A6895EC}</a:tableStyleId>
              </a:tblPr>
              <a:tblGrid>
                <a:gridCol w="233594">
                  <a:extLst>
                    <a:ext uri="{9D8B030D-6E8A-4147-A177-3AD203B41FA5}">
                      <a16:colId xmlns:a16="http://schemas.microsoft.com/office/drawing/2014/main" val="20000"/>
                    </a:ext>
                  </a:extLst>
                </a:gridCol>
                <a:gridCol w="64269">
                  <a:extLst>
                    <a:ext uri="{9D8B030D-6E8A-4147-A177-3AD203B41FA5}">
                      <a16:colId xmlns:a16="http://schemas.microsoft.com/office/drawing/2014/main" val="20001"/>
                    </a:ext>
                  </a:extLst>
                </a:gridCol>
                <a:gridCol w="236597">
                  <a:extLst>
                    <a:ext uri="{9D8B030D-6E8A-4147-A177-3AD203B41FA5}">
                      <a16:colId xmlns:a16="http://schemas.microsoft.com/office/drawing/2014/main" val="20002"/>
                    </a:ext>
                  </a:extLst>
                </a:gridCol>
                <a:gridCol w="339920">
                  <a:extLst>
                    <a:ext uri="{9D8B030D-6E8A-4147-A177-3AD203B41FA5}">
                      <a16:colId xmlns:a16="http://schemas.microsoft.com/office/drawing/2014/main" val="20003"/>
                    </a:ext>
                  </a:extLst>
                </a:gridCol>
                <a:gridCol w="107959">
                  <a:extLst>
                    <a:ext uri="{9D8B030D-6E8A-4147-A177-3AD203B41FA5}">
                      <a16:colId xmlns:a16="http://schemas.microsoft.com/office/drawing/2014/main" val="20004"/>
                    </a:ext>
                  </a:extLst>
                </a:gridCol>
                <a:gridCol w="138110">
                  <a:extLst>
                    <a:ext uri="{9D8B030D-6E8A-4147-A177-3AD203B41FA5}">
                      <a16:colId xmlns:a16="http://schemas.microsoft.com/office/drawing/2014/main" val="456969378"/>
                    </a:ext>
                  </a:extLst>
                </a:gridCol>
                <a:gridCol w="237606">
                  <a:extLst>
                    <a:ext uri="{9D8B030D-6E8A-4147-A177-3AD203B41FA5}">
                      <a16:colId xmlns:a16="http://schemas.microsoft.com/office/drawing/2014/main" val="20006"/>
                    </a:ext>
                  </a:extLst>
                </a:gridCol>
                <a:gridCol w="80625">
                  <a:extLst>
                    <a:ext uri="{9D8B030D-6E8A-4147-A177-3AD203B41FA5}">
                      <a16:colId xmlns:a16="http://schemas.microsoft.com/office/drawing/2014/main" val="20007"/>
                    </a:ext>
                  </a:extLst>
                </a:gridCol>
                <a:gridCol w="447879">
                  <a:extLst>
                    <a:ext uri="{9D8B030D-6E8A-4147-A177-3AD203B41FA5}">
                      <a16:colId xmlns:a16="http://schemas.microsoft.com/office/drawing/2014/main" val="585746357"/>
                    </a:ext>
                  </a:extLst>
                </a:gridCol>
                <a:gridCol w="165775">
                  <a:extLst>
                    <a:ext uri="{9D8B030D-6E8A-4147-A177-3AD203B41FA5}">
                      <a16:colId xmlns:a16="http://schemas.microsoft.com/office/drawing/2014/main" val="2630083129"/>
                    </a:ext>
                  </a:extLst>
                </a:gridCol>
                <a:gridCol w="282104">
                  <a:extLst>
                    <a:ext uri="{9D8B030D-6E8A-4147-A177-3AD203B41FA5}">
                      <a16:colId xmlns:a16="http://schemas.microsoft.com/office/drawing/2014/main" val="448940902"/>
                    </a:ext>
                  </a:extLst>
                </a:gridCol>
              </a:tblGrid>
              <a:tr h="147257">
                <a:tc gridSpan="11">
                  <a:txBody>
                    <a:bodyPr/>
                    <a:lstStyle/>
                    <a:p>
                      <a:pPr marL="0" marR="0" lvl="0" indent="0" algn="ctr" rtl="0">
                        <a:spcBef>
                          <a:spcPts val="0"/>
                        </a:spcBef>
                        <a:spcAft>
                          <a:spcPts val="0"/>
                        </a:spcAft>
                        <a:buNone/>
                      </a:pPr>
                      <a:r>
                        <a:rPr lang="en-US" sz="800" u="none" strike="noStrike" cap="none" dirty="0"/>
                        <a:t>XIY (TA 9850’)</a:t>
                      </a:r>
                      <a:r>
                        <a:rPr lang="en-US" sz="800" u="none" strike="noStrike" cap="none" dirty="0">
                          <a:solidFill>
                            <a:srgbClr val="C00000"/>
                          </a:solidFill>
                        </a:rPr>
                        <a:t> </a:t>
                      </a:r>
                      <a:r>
                        <a:rPr lang="en-US" sz="800" u="none" strike="noStrike" cap="none" dirty="0"/>
                        <a:t>: RNAV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17976">
                <a:tc>
                  <a:txBody>
                    <a:bodyPr/>
                    <a:lstStyle/>
                    <a:p>
                      <a:pPr marL="0" marR="0" lvl="0" indent="0" algn="ctr" rtl="0">
                        <a:spcBef>
                          <a:spcPts val="0"/>
                        </a:spcBef>
                        <a:spcAft>
                          <a:spcPts val="0"/>
                        </a:spcAft>
                        <a:buNone/>
                      </a:pPr>
                      <a:r>
                        <a:rPr lang="en-US" sz="800" b="1" u="none" strike="noStrike" cap="none" dirty="0"/>
                        <a:t>05L</a:t>
                      </a:r>
                      <a:r>
                        <a:rPr lang="en-US" sz="800" b="0" u="none" strike="noStrike" cap="none" dirty="0"/>
                        <a:t>/R</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WJC xx W</a:t>
                      </a:r>
                      <a:r>
                        <a:rPr lang="en-US" sz="800" b="0" u="none" strike="noStrike" cap="none" dirty="0">
                          <a:solidFill>
                            <a:srgbClr val="0070C0"/>
                          </a:solidFill>
                        </a:rPr>
                        <a:t>/Z</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052</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052</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1500m(4900’)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algn="ctr"/>
                      <a:r>
                        <a:rPr lang="en-US" altLang="ko-Kore-KR" sz="800" b="1" u="none" strike="noStrike" cap="none" dirty="0">
                          <a:solidFill>
                            <a:srgbClr val="C00000"/>
                          </a:solidFill>
                        </a:rPr>
                        <a:t>052</a:t>
                      </a:r>
                      <a:endParaRPr lang="ko-Kore-KR" altLang="en-US" dirty="0"/>
                    </a:p>
                  </a:txBody>
                  <a:tcPr marL="36000" marR="36000" marT="36000" marB="36000" anchor="ctr"/>
                </a:tc>
                <a:extLst>
                  <a:ext uri="{0D108BD9-81ED-4DB2-BD59-A6C34878D82A}">
                    <a16:rowId xmlns:a16="http://schemas.microsoft.com/office/drawing/2014/main" val="10001"/>
                  </a:ext>
                </a:extLst>
              </a:tr>
              <a:tr h="217976">
                <a:tc>
                  <a:txBody>
                    <a:bodyPr/>
                    <a:lstStyle/>
                    <a:p>
                      <a:pPr marL="0" marR="0" lvl="0" indent="0" algn="ctr" rtl="0">
                        <a:spcBef>
                          <a:spcPts val="0"/>
                        </a:spcBef>
                        <a:spcAft>
                          <a:spcPts val="0"/>
                        </a:spcAft>
                        <a:buNone/>
                      </a:pPr>
                      <a:r>
                        <a:rPr lang="en-US" sz="800" b="1" u="none" strike="noStrike" cap="none" dirty="0"/>
                        <a:t>23R</a:t>
                      </a:r>
                      <a:r>
                        <a:rPr lang="en-US" sz="800" b="0" u="none" strike="noStrike" cap="none" dirty="0"/>
                        <a:t>/L</a:t>
                      </a:r>
                      <a:endParaRPr sz="800" b="0"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WJC xx X</a:t>
                      </a:r>
                      <a:r>
                        <a:rPr lang="en-US" altLang="ko-Kore-KR" sz="800" b="0" u="none" strike="noStrike" cap="none" dirty="0">
                          <a:solidFill>
                            <a:srgbClr val="0070C0"/>
                          </a:solidFill>
                        </a:rPr>
                        <a:t>/Y</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232</a:t>
                      </a:r>
                      <a:endParaRPr sz="458" b="1" u="none" strike="noStrike" cap="none" dirty="0">
                        <a:solidFill>
                          <a:srgbClr val="C00000"/>
                        </a:solidFill>
                      </a:endParaRPr>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232</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ATC</a:t>
                      </a:r>
                    </a:p>
                    <a:p>
                      <a:pPr marL="0" marR="0" lvl="0" indent="0" algn="ctr" rtl="0">
                        <a:spcBef>
                          <a:spcPts val="0"/>
                        </a:spcBef>
                        <a:spcAft>
                          <a:spcPts val="0"/>
                        </a:spcAft>
                        <a:buNone/>
                      </a:pPr>
                      <a:r>
                        <a:rPr lang="en-US" altLang="ko-Kore-KR" sz="800" b="1" u="none" strike="noStrike" cap="none" dirty="0">
                          <a:solidFill>
                            <a:srgbClr val="0070C0"/>
                          </a:solidFill>
                        </a:rPr>
                        <a:t>1500m(4900’)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algn="ctr"/>
                      <a:r>
                        <a:rPr lang="en-US" altLang="ko-Kore-KR" sz="800" b="1" u="none" strike="noStrike" cap="none" dirty="0">
                          <a:solidFill>
                            <a:srgbClr val="C00000"/>
                          </a:solidFill>
                        </a:rPr>
                        <a:t>232</a:t>
                      </a:r>
                      <a:endParaRPr lang="ko-Kore-KR" altLang="en-US" dirty="0"/>
                    </a:p>
                  </a:txBody>
                  <a:tcPr marL="36000" marR="36000" marT="36000" marB="36000" anchor="ctr"/>
                </a:tc>
                <a:extLst>
                  <a:ext uri="{0D108BD9-81ED-4DB2-BD59-A6C34878D82A}">
                    <a16:rowId xmlns:a16="http://schemas.microsoft.com/office/drawing/2014/main" val="10002"/>
                  </a:ext>
                </a:extLst>
              </a:tr>
              <a:tr h="217976">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LCZ 109.0</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109.9</a:t>
                      </a:r>
                    </a:p>
                  </a:txBody>
                  <a:tcPr marL="36000" marR="36000" marT="36000" marB="3600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110.3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21 110.7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33833">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9">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23R/L : LCZ /18 </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023647479"/>
                  </a:ext>
                </a:extLst>
              </a:tr>
              <a:tr h="133833">
                <a:tc rowSpan="2"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rowSpan="2" hMerge="1">
                  <a:txBody>
                    <a:bodyPr/>
                    <a:lstStyle/>
                    <a:p>
                      <a:endParaRPr lang="ko-Kore-KR"/>
                    </a:p>
                  </a:txBody>
                  <a:tcPr/>
                </a:tc>
                <a:tc gridSpan="9">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05L(1562’)          9843’          23R(1569’)</a:t>
                      </a:r>
                      <a:endParaRPr lang="en-US" altLang="ko-Kore-K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133833">
                <a:tc gridSpan="2"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hMerge="1" vMerge="1">
                  <a:txBody>
                    <a:bodyPr/>
                    <a:lstStyle/>
                    <a:p>
                      <a:endParaRPr lang="ko-Kore-KR" altLang="en-US"/>
                    </a:p>
                  </a:txBody>
                  <a:tcPr/>
                </a:tc>
                <a:tc gridSpan="9">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05R(1556’)          12467’          23L(1538’)</a:t>
                      </a:r>
                      <a:endParaRPr lang="en-US" altLang="ko-Kore-K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dirty="0"/>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18466261"/>
                  </a:ext>
                </a:extLst>
              </a:tr>
              <a:tr h="136405">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FF0000"/>
                          </a:solidFill>
                        </a:rPr>
                        <a:t>NOTAM TO Perf</a:t>
                      </a:r>
                      <a:r>
                        <a:rPr lang="en-US" altLang="ko-Kore-KR" sz="800" b="1" dirty="0">
                          <a:solidFill>
                            <a:srgbClr val="0070C0"/>
                          </a:solidFill>
                        </a:rPr>
                        <a:t>, ADT = CTOT</a:t>
                      </a:r>
                      <a:endParaRPr lang="en-US" altLang="ko-Kore-KR" sz="800"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845494477"/>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bg1"/>
                          </a:solidFill>
                          <a:hlinkClick r:id="rId4">
                            <a:extLst>
                              <a:ext uri="{A12FA001-AC4F-418D-AE19-62706E023703}">
                                <ahyp:hlinkClr xmlns:ahyp="http://schemas.microsoft.com/office/drawing/2018/hyperlinkcolor" val="tx"/>
                              </a:ext>
                            </a:extLst>
                          </a:hlinkClick>
                        </a:rPr>
                        <a:t>ZLXY(XIY)</a:t>
                      </a:r>
                      <a:r>
                        <a:rPr lang="en-US" altLang="ko-Kore-KR" sz="1200" dirty="0">
                          <a:solidFill>
                            <a:srgbClr val="C00000"/>
                          </a:solidFill>
                          <a:hlinkClick r:id="rId4">
                            <a:extLst>
                              <a:ext uri="{A12FA001-AC4F-418D-AE19-62706E023703}">
                                <ahyp:hlinkClr xmlns:ahyp="http://schemas.microsoft.com/office/drawing/2018/hyperlinkcolor" val="tx"/>
                              </a:ext>
                            </a:extLst>
                          </a:hlinkClick>
                        </a:rPr>
                        <a:t>1572ft</a:t>
                      </a:r>
                      <a:endParaRPr lang="en-US" altLang="ko-Kore-KR" sz="12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5">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800" dirty="0"/>
                        <a:t>Airport Operation Center 132.0</a:t>
                      </a:r>
                    </a:p>
                    <a:p>
                      <a:pPr marL="0" marR="0" lvl="0" indent="0" algn="ctr" rtl="0">
                        <a:spcBef>
                          <a:spcPts val="0"/>
                        </a:spcBef>
                        <a:spcAft>
                          <a:spcPts val="0"/>
                        </a:spcAft>
                        <a:buNone/>
                      </a:pPr>
                      <a:r>
                        <a:rPr lang="en-US" altLang="ko-KR" sz="700" dirty="0">
                          <a:solidFill>
                            <a:srgbClr val="FF0000"/>
                          </a:solidFill>
                        </a:rPr>
                        <a:t>DCL -30~10 Min, Read Back</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620492" y="2737843"/>
            <a:ext cx="1794081"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119.9- XIY 120.95 – 124.1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126.7 – 134.15 – 128.3 – 120.35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123.2 - 132.95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TAE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4AB538F5-03F3-C5A0-114C-C38C1B3D58AD}"/>
              </a:ext>
            </a:extLst>
          </p:cNvPr>
          <p:cNvSpPr/>
          <p:nvPr/>
        </p:nvSpPr>
        <p:spPr>
          <a:xfrm>
            <a:off x="1651787" y="312509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53AC9E1A-44C6-BA36-C536-ED6640435CB5}"/>
              </a:ext>
            </a:extLst>
          </p:cNvPr>
          <p:cNvSpPr/>
          <p:nvPr/>
        </p:nvSpPr>
        <p:spPr>
          <a:xfrm>
            <a:off x="890872" y="32766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4886344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16083" y="3136641"/>
            <a:ext cx="2268570"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133.725 – 128.15 – PEK 127.35 – 127.5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132.2 – SHA 118.9 – WUH 119.7 - 134.35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CSX 132.55 – 125.6 – 119.65</a:t>
            </a:r>
          </a:p>
          <a:p>
            <a:pPr>
              <a:lnSpc>
                <a:spcPct val="150000"/>
              </a:lnSpc>
            </a:pPr>
            <a:r>
              <a:rPr kumimoji="1" lang="en-US" altLang="ko-Kore-KR" sz="700" b="1" u="sng" dirty="0">
                <a:solidFill>
                  <a:srgbClr val="FF0000"/>
                </a:solidFill>
                <a:latin typeface="Gulim" panose="020B0600000101010101" pitchFamily="34" charset="-127"/>
                <a:ea typeface="Gulim" panose="020B0600000101010101" pitchFamily="34" charset="-127"/>
              </a:rPr>
              <a:t>HUH TWR 118.55(118.175)</a:t>
            </a:r>
          </a:p>
        </p:txBody>
      </p:sp>
      <p:graphicFrame>
        <p:nvGraphicFramePr>
          <p:cNvPr id="291" name="Google Shape;291;p18"/>
          <p:cNvGraphicFramePr/>
          <p:nvPr>
            <p:extLst>
              <p:ext uri="{D42A27DB-BD31-4B8C-83A1-F6EECF244321}">
                <p14:modId xmlns:p14="http://schemas.microsoft.com/office/powerpoint/2010/main" val="1818370097"/>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dirty="0"/>
                        <a:t>ICN : SID (33/34 NADP 1, 15/16 NADP 2)</a:t>
                      </a:r>
                      <a:endParaRPr sz="800" dirty="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689268254"/>
              </p:ext>
            </p:extLst>
          </p:nvPr>
        </p:nvGraphicFramePr>
        <p:xfrm>
          <a:off x="-1706" y="4004222"/>
          <a:ext cx="2333879" cy="1537816"/>
        </p:xfrm>
        <a:graphic>
          <a:graphicData uri="http://schemas.openxmlformats.org/drawingml/2006/table">
            <a:tbl>
              <a:tblPr firstRow="1" bandRow="1">
                <a:noFill/>
                <a:tableStyleId>{A521BE36-7E6F-4EC9-8D66-1CF97A6895EC}</a:tableStyleId>
              </a:tblPr>
              <a:tblGrid>
                <a:gridCol w="430193">
                  <a:extLst>
                    <a:ext uri="{9D8B030D-6E8A-4147-A177-3AD203B41FA5}">
                      <a16:colId xmlns:a16="http://schemas.microsoft.com/office/drawing/2014/main" val="20000"/>
                    </a:ext>
                  </a:extLst>
                </a:gridCol>
                <a:gridCol w="623936">
                  <a:extLst>
                    <a:ext uri="{9D8B030D-6E8A-4147-A177-3AD203B41FA5}">
                      <a16:colId xmlns:a16="http://schemas.microsoft.com/office/drawing/2014/main" val="20001"/>
                    </a:ext>
                  </a:extLst>
                </a:gridCol>
                <a:gridCol w="458325">
                  <a:extLst>
                    <a:ext uri="{9D8B030D-6E8A-4147-A177-3AD203B41FA5}">
                      <a16:colId xmlns:a16="http://schemas.microsoft.com/office/drawing/2014/main" val="20002"/>
                    </a:ext>
                  </a:extLst>
                </a:gridCol>
                <a:gridCol w="821425">
                  <a:extLst>
                    <a:ext uri="{9D8B030D-6E8A-4147-A177-3AD203B41FA5}">
                      <a16:colId xmlns:a16="http://schemas.microsoft.com/office/drawing/2014/main" val="20003"/>
                    </a:ext>
                  </a:extLst>
                </a:gridCol>
              </a:tblGrid>
              <a:tr h="299800">
                <a:tc gridSpan="4">
                  <a:txBody>
                    <a:bodyPr/>
                    <a:lstStyle/>
                    <a:p>
                      <a:pPr marL="0" marR="0" lvl="0" indent="0" algn="ctr" rtl="0">
                        <a:spcBef>
                          <a:spcPts val="0"/>
                        </a:spcBef>
                        <a:spcAft>
                          <a:spcPts val="0"/>
                        </a:spcAft>
                        <a:buNone/>
                      </a:pPr>
                      <a:r>
                        <a:rPr lang="en-US" sz="800" dirty="0"/>
                        <a:t>CSX </a:t>
                      </a:r>
                      <a:r>
                        <a:rPr lang="en-US" sz="800" dirty="0">
                          <a:solidFill>
                            <a:schemeClr val="bg1"/>
                          </a:solidFill>
                        </a:rPr>
                        <a:t>(TL 118) </a:t>
                      </a:r>
                      <a:r>
                        <a:rPr lang="en-US" sz="800" dirty="0"/>
                        <a:t>: RNAV STAR </a:t>
                      </a:r>
                    </a:p>
                    <a:p>
                      <a:pPr marL="0" marR="0" lvl="0" indent="0" algn="ctr" rtl="0">
                        <a:spcBef>
                          <a:spcPts val="0"/>
                        </a:spcBef>
                        <a:spcAft>
                          <a:spcPts val="0"/>
                        </a:spcAft>
                        <a:buNone/>
                      </a:pPr>
                      <a:r>
                        <a:rPr lang="en-US" sz="800" dirty="0">
                          <a:solidFill>
                            <a:schemeClr val="accent4"/>
                          </a:solidFill>
                        </a:rPr>
                        <a:t>After OLMIB 6600M, STAR or RDR </a:t>
                      </a:r>
                      <a:r>
                        <a:rPr lang="en-US" sz="800" dirty="0" err="1">
                          <a:solidFill>
                            <a:schemeClr val="accent4"/>
                          </a:solidFill>
                        </a:rPr>
                        <a:t>Vec</a:t>
                      </a:r>
                      <a:r>
                        <a:rPr lang="en-US" sz="800" dirty="0">
                          <a:solidFill>
                            <a:schemeClr val="accent4"/>
                          </a:solidFill>
                        </a:rPr>
                        <a:t> before GUSIV</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5092">
                <a:tc>
                  <a:txBody>
                    <a:bodyPr/>
                    <a:lstStyle/>
                    <a:p>
                      <a:pPr marL="0" marR="0" lvl="0" indent="0" algn="ctr" rtl="0">
                        <a:spcBef>
                          <a:spcPts val="0"/>
                        </a:spcBef>
                        <a:spcAft>
                          <a:spcPts val="0"/>
                        </a:spcAft>
                        <a:buNone/>
                      </a:pPr>
                      <a:r>
                        <a:rPr lang="en-US" sz="800" b="1" dirty="0"/>
                        <a:t>18L</a:t>
                      </a:r>
                      <a:r>
                        <a:rPr lang="en-US" sz="800" b="0" dirty="0"/>
                        <a:t>/R</a:t>
                      </a:r>
                      <a:endParaRPr sz="800" b="0" dirty="0"/>
                    </a:p>
                  </a:txBody>
                  <a:tcPr marL="36000" marR="36000" marT="0" marB="0" anchor="ctr"/>
                </a:tc>
                <a:tc>
                  <a:txBody>
                    <a:bodyPr/>
                    <a:lstStyle/>
                    <a:p>
                      <a:pPr marL="0" marR="0" lvl="0" indent="0" algn="ctr" rtl="0">
                        <a:spcBef>
                          <a:spcPts val="0"/>
                        </a:spcBef>
                        <a:spcAft>
                          <a:spcPts val="0"/>
                        </a:spcAft>
                        <a:buNone/>
                      </a:pPr>
                      <a:r>
                        <a:rPr lang="en-US" sz="800" b="1" dirty="0"/>
                        <a:t>PEX xx W</a:t>
                      </a:r>
                    </a:p>
                  </a:txBody>
                  <a:tcPr marL="36000" marR="36000" marT="0" marB="0" anchor="ctr"/>
                </a:tc>
                <a:tc>
                  <a:txBody>
                    <a:bodyPr/>
                    <a:lstStyle/>
                    <a:p>
                      <a:pPr marL="0" marR="0" lvl="0" indent="0" algn="ctr" rtl="0">
                        <a:spcBef>
                          <a:spcPts val="0"/>
                        </a:spcBef>
                        <a:spcAft>
                          <a:spcPts val="0"/>
                        </a:spcAft>
                        <a:buNone/>
                      </a:pPr>
                      <a:r>
                        <a:rPr lang="en-US" sz="800" b="1" dirty="0"/>
                        <a:t>HA366</a:t>
                      </a:r>
                    </a:p>
                  </a:txBody>
                  <a:tcPr marL="36000" marR="36000" marT="0" marB="0" anchor="ctr"/>
                </a:tc>
                <a:tc>
                  <a:txBody>
                    <a:bodyPr/>
                    <a:lstStyle/>
                    <a:p>
                      <a:pPr marL="0" marR="0" lvl="0" indent="0" algn="ctr" rtl="0">
                        <a:spcBef>
                          <a:spcPts val="0"/>
                        </a:spcBef>
                        <a:spcAft>
                          <a:spcPts val="0"/>
                        </a:spcAft>
                        <a:buNone/>
                      </a:pPr>
                      <a:r>
                        <a:rPr lang="en-US" sz="800" b="1" dirty="0"/>
                        <a:t>RNAV ILS Z 18L/R</a:t>
                      </a:r>
                      <a:endParaRPr lang="en-US" sz="800" b="0" dirty="0"/>
                    </a:p>
                  </a:txBody>
                  <a:tcPr marL="36000" marR="36000" marT="0" marB="0" anchor="ctr"/>
                </a:tc>
                <a:extLst>
                  <a:ext uri="{0D108BD9-81ED-4DB2-BD59-A6C34878D82A}">
                    <a16:rowId xmlns:a16="http://schemas.microsoft.com/office/drawing/2014/main" val="10001"/>
                  </a:ext>
                </a:extLst>
              </a:tr>
              <a:tr h="163444">
                <a:tc>
                  <a:txBody>
                    <a:bodyPr/>
                    <a:lstStyle/>
                    <a:p>
                      <a:pPr marL="0" marR="0" lvl="0" indent="0" algn="ctr" rtl="0">
                        <a:spcBef>
                          <a:spcPts val="0"/>
                        </a:spcBef>
                        <a:spcAft>
                          <a:spcPts val="0"/>
                        </a:spcAft>
                        <a:buNone/>
                      </a:pPr>
                      <a:r>
                        <a:rPr lang="en-US" sz="800" b="1" dirty="0"/>
                        <a:t>36R</a:t>
                      </a:r>
                      <a:r>
                        <a:rPr lang="en-US" sz="800" b="0" dirty="0"/>
                        <a:t>/L</a:t>
                      </a:r>
                      <a:endParaRPr sz="800" b="0"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PEX xx X</a:t>
                      </a:r>
                    </a:p>
                  </a:txBody>
                  <a:tcPr marL="36000" marR="36000" marT="0" marB="0" anchor="ctr"/>
                </a:tc>
                <a:tc>
                  <a:txBody>
                    <a:bodyPr/>
                    <a:lstStyle/>
                    <a:p>
                      <a:pPr marL="0" marR="0" lvl="0" indent="0" algn="ctr" rtl="0">
                        <a:spcBef>
                          <a:spcPts val="0"/>
                        </a:spcBef>
                        <a:spcAft>
                          <a:spcPts val="0"/>
                        </a:spcAft>
                        <a:buNone/>
                      </a:pPr>
                      <a:r>
                        <a:rPr lang="en-US" altLang="ko-Kore-KR" sz="800" b="1" dirty="0"/>
                        <a:t>HA383</a:t>
                      </a:r>
                    </a:p>
                  </a:txBody>
                  <a:tcPr marL="36000" marR="36000" marT="0" marB="0" anchor="ctr"/>
                </a:tc>
                <a:tc>
                  <a:txBody>
                    <a:bodyPr/>
                    <a:lstStyle/>
                    <a:p>
                      <a:pPr marL="0" marR="0" lvl="0" indent="0" algn="ctr" rtl="0">
                        <a:spcBef>
                          <a:spcPts val="0"/>
                        </a:spcBef>
                        <a:spcAft>
                          <a:spcPts val="0"/>
                        </a:spcAft>
                        <a:buNone/>
                      </a:pPr>
                      <a:r>
                        <a:rPr lang="en-US" sz="800" b="1" dirty="0"/>
                        <a:t>RNAV ILS Z 36R/L</a:t>
                      </a:r>
                      <a:endParaRPr sz="800" b="1" dirty="0"/>
                    </a:p>
                  </a:txBody>
                  <a:tcPr marL="36000" marR="36000" marT="0" marB="0" anchor="ctr"/>
                </a:tc>
                <a:extLst>
                  <a:ext uri="{0D108BD9-81ED-4DB2-BD59-A6C34878D82A}">
                    <a16:rowId xmlns:a16="http://schemas.microsoft.com/office/drawing/2014/main" val="10002"/>
                  </a:ext>
                </a:extLst>
              </a:tr>
              <a:tr h="92036">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18L(212’)          12467’          36R(188’)</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0">
                <a:tc vMerge="1">
                  <a:txBody>
                    <a:bodyPr/>
                    <a:lstStyle/>
                    <a:p>
                      <a:endParaRPr lang="ko-Kore-KR" altLang="en-US"/>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18R(219’)          10499’          36L(198’)</a:t>
                      </a:r>
                      <a:endParaRPr lang="en-US" altLang="ko-Kore-KR" sz="800" b="1" dirty="0">
                        <a:solidFill>
                          <a:srgbClr val="C00000"/>
                        </a:solidFill>
                      </a:endParaRPr>
                    </a:p>
                  </a:txBody>
                  <a:tcPr marL="36000" marR="36000" marT="0" marB="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84078636"/>
                  </a:ext>
                </a:extLst>
              </a:tr>
              <a:tr h="160867">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18L</a:t>
                      </a:r>
                      <a:r>
                        <a:rPr lang="en-US" sz="800" b="1" dirty="0">
                          <a:solidFill>
                            <a:schemeClr val="dk1"/>
                          </a:solidFill>
                        </a:rPr>
                        <a:t> : C9(5629’),C7(6948</a:t>
                      </a:r>
                      <a:r>
                        <a:rPr lang="en-US" altLang="ko-KR" sz="800" b="1" dirty="0">
                          <a:solidFill>
                            <a:schemeClr val="dk1"/>
                          </a:solidFill>
                        </a:rPr>
                        <a:t>’),36</a:t>
                      </a:r>
                      <a:r>
                        <a:rPr lang="en-US" sz="800" b="1" dirty="0">
                          <a:solidFill>
                            <a:schemeClr val="dk1"/>
                          </a:solidFill>
                        </a:rPr>
                        <a:t>R : C11(5675’),C13(6961’)</a:t>
                      </a: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 18</a:t>
                      </a:r>
                      <a:r>
                        <a:rPr lang="en-US" altLang="ko-KR" sz="800" b="1" dirty="0">
                          <a:solidFill>
                            <a:schemeClr val="dk1"/>
                          </a:solidFill>
                        </a:rPr>
                        <a:t>R</a:t>
                      </a:r>
                      <a:r>
                        <a:rPr lang="en-US" altLang="ko-Kore-KR" sz="800" b="1" dirty="0">
                          <a:solidFill>
                            <a:schemeClr val="dk1"/>
                          </a:solidFill>
                        </a:rPr>
                        <a:t> : B4(5167’), B3(6427</a:t>
                      </a:r>
                      <a:r>
                        <a:rPr lang="en-US" altLang="ko-KR" sz="800" b="1" dirty="0">
                          <a:solidFill>
                            <a:schemeClr val="dk1"/>
                          </a:solidFill>
                        </a:rPr>
                        <a:t>’), 36</a:t>
                      </a:r>
                      <a:r>
                        <a:rPr lang="en-US" altLang="ko-Kore-KR" sz="800" b="1" dirty="0">
                          <a:solidFill>
                            <a:schemeClr val="dk1"/>
                          </a:solidFill>
                        </a:rPr>
                        <a:t>L : B5(5206’), B6(6443’)</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6200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Position Report to GND first CTC </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TWY T9 less 29.2m , Follow Me Car</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APU Procedure but APU available cabin 26</a:t>
                      </a:r>
                      <a:r>
                        <a:rPr lang="ko-KR" altLang="en-US" sz="800" dirty="0">
                          <a:solidFill>
                            <a:srgbClr val="0070C0"/>
                          </a:solidFill>
                        </a:rPr>
                        <a:t>도 </a:t>
                      </a:r>
                      <a:r>
                        <a:rPr lang="ko-KR" altLang="en-US" sz="800" dirty="0" err="1">
                          <a:solidFill>
                            <a:srgbClr val="0070C0"/>
                          </a:solidFill>
                        </a:rPr>
                        <a:t>이하시</a:t>
                      </a:r>
                      <a:endParaRPr lang="en-US" sz="800" dirty="0">
                        <a:solidFill>
                          <a:srgbClr val="0070C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764217243"/>
              </p:ext>
            </p:extLst>
          </p:nvPr>
        </p:nvGraphicFramePr>
        <p:xfrm>
          <a:off x="-2501" y="12087"/>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ZGHA(CSX)220ft</a:t>
                      </a:r>
                      <a:endParaRP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Changsha Reporting Office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A856CD2-FE31-6284-01C8-D7D16E5D0A5D}"/>
              </a:ext>
            </a:extLst>
          </p:cNvPr>
          <p:cNvSpPr/>
          <p:nvPr/>
        </p:nvSpPr>
        <p:spPr>
          <a:xfrm>
            <a:off x="1651787" y="369803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009EB74-6D91-1AA6-A9DA-65019232BABA}"/>
              </a:ext>
            </a:extLst>
          </p:cNvPr>
          <p:cNvSpPr/>
          <p:nvPr/>
        </p:nvSpPr>
        <p:spPr>
          <a:xfrm>
            <a:off x="82950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0240110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68822" y="3180964"/>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solidFill>
                <a:srgbClr val="C00000"/>
              </a:solidFill>
            </a:endParaRPr>
          </a:p>
        </p:txBody>
      </p:sp>
      <p:sp>
        <p:nvSpPr>
          <p:cNvPr id="5" name="TextBox 4">
            <a:extLst>
              <a:ext uri="{FF2B5EF4-FFF2-40B4-BE49-F238E27FC236}">
                <a16:creationId xmlns:a16="http://schemas.microsoft.com/office/drawing/2014/main" id="{5FC66845-A7AA-98C4-534C-70B808775E8B}"/>
              </a:ext>
            </a:extLst>
          </p:cNvPr>
          <p:cNvSpPr txBox="1"/>
          <p:nvPr/>
        </p:nvSpPr>
        <p:spPr>
          <a:xfrm>
            <a:off x="1015375" y="3142296"/>
            <a:ext cx="338554" cy="412870"/>
          </a:xfrm>
          <a:prstGeom prst="rect">
            <a:avLst/>
          </a:prstGeom>
          <a:noFill/>
        </p:spPr>
        <p:txBody>
          <a:bodyPr wrap="none" rtlCol="0">
            <a:spAutoFit/>
          </a:bodyPr>
          <a:lstStyle/>
          <a:p>
            <a:r>
              <a:rPr kumimoji="1" lang="en-US" altLang="ko-Kore-KR" sz="900" b="1" dirty="0">
                <a:solidFill>
                  <a:srgbClr val="C00000"/>
                </a:solidFill>
              </a:rPr>
              <a:t>TL</a:t>
            </a:r>
          </a:p>
          <a:p>
            <a:pPr algn="dist">
              <a:lnSpc>
                <a:spcPct val="150000"/>
              </a:lnSpc>
            </a:pPr>
            <a:r>
              <a:rPr kumimoji="1" lang="en-US" altLang="ko-Kore-KR" sz="900" b="1" dirty="0">
                <a:solidFill>
                  <a:srgbClr val="C00000"/>
                </a:solidFill>
              </a:rPr>
              <a:t>TA</a:t>
            </a:r>
            <a:endParaRPr kumimoji="1" lang="ko-Kore-KR" altLang="en-US" sz="900" b="1" dirty="0">
              <a:solidFill>
                <a:srgbClr val="C00000"/>
              </a:solidFill>
            </a:endParaRPr>
          </a:p>
        </p:txBody>
      </p:sp>
      <p:sp>
        <p:nvSpPr>
          <p:cNvPr id="4" name="직사각형 3">
            <a:hlinkClick r:id="" action="ppaction://hlinkshowjump?jump=firstslide"/>
            <a:extLst>
              <a:ext uri="{FF2B5EF4-FFF2-40B4-BE49-F238E27FC236}">
                <a16:creationId xmlns:a16="http://schemas.microsoft.com/office/drawing/2014/main" id="{AB986224-3CA1-75D5-0CA8-58CC5B2A8016}"/>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560758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204834433"/>
              </p:ext>
            </p:extLst>
          </p:nvPr>
        </p:nvGraphicFramePr>
        <p:xfrm>
          <a:off x="-4047" y="692910"/>
          <a:ext cx="2342652" cy="1618922"/>
        </p:xfrm>
        <a:graphic>
          <a:graphicData uri="http://schemas.openxmlformats.org/drawingml/2006/table">
            <a:tbl>
              <a:tblPr firstRow="1" bandRow="1">
                <a:noFill/>
                <a:tableStyleId>{A521BE36-7E6F-4EC9-8D66-1CF97A6895EC}</a:tableStyleId>
              </a:tblPr>
              <a:tblGrid>
                <a:gridCol w="279603">
                  <a:extLst>
                    <a:ext uri="{9D8B030D-6E8A-4147-A177-3AD203B41FA5}">
                      <a16:colId xmlns:a16="http://schemas.microsoft.com/office/drawing/2014/main" val="20000"/>
                    </a:ext>
                  </a:extLst>
                </a:gridCol>
                <a:gridCol w="174073">
                  <a:extLst>
                    <a:ext uri="{9D8B030D-6E8A-4147-A177-3AD203B41FA5}">
                      <a16:colId xmlns:a16="http://schemas.microsoft.com/office/drawing/2014/main" val="20002"/>
                    </a:ext>
                  </a:extLst>
                </a:gridCol>
                <a:gridCol w="149721">
                  <a:extLst>
                    <a:ext uri="{9D8B030D-6E8A-4147-A177-3AD203B41FA5}">
                      <a16:colId xmlns:a16="http://schemas.microsoft.com/office/drawing/2014/main" val="1994765097"/>
                    </a:ext>
                  </a:extLst>
                </a:gridCol>
                <a:gridCol w="372124">
                  <a:extLst>
                    <a:ext uri="{9D8B030D-6E8A-4147-A177-3AD203B41FA5}">
                      <a16:colId xmlns:a16="http://schemas.microsoft.com/office/drawing/2014/main" val="3574586511"/>
                    </a:ext>
                  </a:extLst>
                </a:gridCol>
                <a:gridCol w="200613">
                  <a:extLst>
                    <a:ext uri="{9D8B030D-6E8A-4147-A177-3AD203B41FA5}">
                      <a16:colId xmlns:a16="http://schemas.microsoft.com/office/drawing/2014/main" val="456969378"/>
                    </a:ext>
                  </a:extLst>
                </a:gridCol>
                <a:gridCol w="71153">
                  <a:extLst>
                    <a:ext uri="{9D8B030D-6E8A-4147-A177-3AD203B41FA5}">
                      <a16:colId xmlns:a16="http://schemas.microsoft.com/office/drawing/2014/main" val="3691084646"/>
                    </a:ext>
                  </a:extLst>
                </a:gridCol>
                <a:gridCol w="290946">
                  <a:extLst>
                    <a:ext uri="{9D8B030D-6E8A-4147-A177-3AD203B41FA5}">
                      <a16:colId xmlns:a16="http://schemas.microsoft.com/office/drawing/2014/main" val="20006"/>
                    </a:ext>
                  </a:extLst>
                </a:gridCol>
                <a:gridCol w="231683">
                  <a:extLst>
                    <a:ext uri="{9D8B030D-6E8A-4147-A177-3AD203B41FA5}">
                      <a16:colId xmlns:a16="http://schemas.microsoft.com/office/drawing/2014/main" val="585746357"/>
                    </a:ext>
                  </a:extLst>
                </a:gridCol>
                <a:gridCol w="336965">
                  <a:extLst>
                    <a:ext uri="{9D8B030D-6E8A-4147-A177-3AD203B41FA5}">
                      <a16:colId xmlns:a16="http://schemas.microsoft.com/office/drawing/2014/main" val="3290678495"/>
                    </a:ext>
                  </a:extLst>
                </a:gridCol>
                <a:gridCol w="235771">
                  <a:extLst>
                    <a:ext uri="{9D8B030D-6E8A-4147-A177-3AD203B41FA5}">
                      <a16:colId xmlns:a16="http://schemas.microsoft.com/office/drawing/2014/main" val="448940902"/>
                    </a:ext>
                  </a:extLst>
                </a:gridCol>
              </a:tblGrid>
              <a:tr h="147257">
                <a:tc gridSpan="10">
                  <a:txBody>
                    <a:bodyPr/>
                    <a:lstStyle/>
                    <a:p>
                      <a:pPr marL="0" marR="0" lvl="0" indent="0" algn="ctr" rtl="0">
                        <a:spcBef>
                          <a:spcPts val="0"/>
                        </a:spcBef>
                        <a:spcAft>
                          <a:spcPts val="0"/>
                        </a:spcAft>
                        <a:buNone/>
                      </a:pPr>
                      <a:r>
                        <a:rPr lang="en-US" sz="800" u="none" strike="noStrike" cap="none" dirty="0"/>
                        <a:t>XIY (TA 9850’)</a:t>
                      </a:r>
                      <a:r>
                        <a:rPr lang="en-US" sz="800" u="none" strike="noStrike" cap="none" dirty="0">
                          <a:solidFill>
                            <a:srgbClr val="C00000"/>
                          </a:solidFill>
                        </a:rPr>
                        <a:t> </a:t>
                      </a:r>
                      <a:r>
                        <a:rPr lang="en-US" sz="800" u="none" strike="noStrike" cap="none" dirty="0"/>
                        <a:t>: RNAV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17976">
                <a:tc gridSpan="2">
                  <a:txBody>
                    <a:bodyPr/>
                    <a:lstStyle/>
                    <a:p>
                      <a:pPr marL="0" marR="0" lvl="0" indent="0" algn="ctr" rtl="0">
                        <a:spcBef>
                          <a:spcPts val="0"/>
                        </a:spcBef>
                        <a:spcAft>
                          <a:spcPts val="0"/>
                        </a:spcAft>
                        <a:buNone/>
                      </a:pPr>
                      <a:r>
                        <a:rPr lang="en-US" sz="800" b="1" u="none" strike="noStrike" cap="none" dirty="0"/>
                        <a:t>18R</a:t>
                      </a:r>
                      <a:r>
                        <a:rPr lang="en-US" sz="800" b="0" u="none" strike="noStrike" cap="none" dirty="0"/>
                        <a:t>/L</a:t>
                      </a:r>
                    </a:p>
                  </a:txBody>
                  <a:tcPr marL="36000" marR="36000" marT="36000" marB="36000" anchor="ctr"/>
                </a:tc>
                <a:tc hMerge="1">
                  <a:txBody>
                    <a:bodyPr/>
                    <a:lstStyle/>
                    <a:p>
                      <a:pPr algn="ctr"/>
                      <a:r>
                        <a:rPr lang="en-US" sz="800" b="1" u="none" strike="noStrike" cap="none" dirty="0">
                          <a:solidFill>
                            <a:srgbClr val="0070C0"/>
                          </a:solidFill>
                        </a:rPr>
                        <a:t>OPO xx W</a:t>
                      </a:r>
                      <a:endParaRPr lang="ko-Kore-KR" dirty="0"/>
                    </a:p>
                  </a:txBody>
                  <a:tcPr marL="36000" marR="36000" marT="36000" marB="36000" anchor="ctr"/>
                </a:tc>
                <a:tc gridSpan="2">
                  <a:txBody>
                    <a:bodyPr/>
                    <a:lstStyle/>
                    <a:p>
                      <a:r>
                        <a:rPr lang="en-US" sz="800" b="1" u="none" strike="noStrike" cap="none">
                          <a:solidFill>
                            <a:srgbClr val="0070C0"/>
                          </a:solidFill>
                        </a:rPr>
                        <a:t>OPO xx W</a:t>
                      </a:r>
                      <a:endParaRPr lang="ko-Kore-KR" altLang="en-US"/>
                    </a:p>
                  </a:txBody>
                  <a:tcPr marL="36000" marR="36000" marT="36000" marB="36000" anchor="ctr"/>
                </a:tc>
                <a:tc hMerge="1">
                  <a:txBody>
                    <a:bodyPr/>
                    <a:lstStyle/>
                    <a:p>
                      <a:endParaRPr lang="ko-Kore-KR" altLang="en-US"/>
                    </a:p>
                  </a:txBody>
                  <a:tcPr/>
                </a:tc>
                <a:tc gridSpan="2">
                  <a:txBody>
                    <a:bodyPr/>
                    <a:lstStyle/>
                    <a:p>
                      <a:r>
                        <a:rPr lang="en-US" sz="800" b="1" u="none" strike="noStrike" cap="none">
                          <a:solidFill>
                            <a:srgbClr val="C00000"/>
                          </a:solidFill>
                        </a:rPr>
                        <a:t>181</a:t>
                      </a:r>
                      <a:endParaRPr lang="ko-Kore-KR" altLang="en-US"/>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181</a:t>
                      </a:r>
                      <a:endParaRPr sz="800" b="1" u="none" strike="noStrike" cap="none" dirty="0"/>
                    </a:p>
                  </a:txBody>
                  <a:tcPr marL="36000" marR="36000" marT="36000" marB="36000" anchor="ctr"/>
                </a:tc>
                <a:tc gridSpan="2">
                  <a:txBody>
                    <a:bodyPr/>
                    <a:lstStyle/>
                    <a:p>
                      <a:r>
                        <a:rPr lang="en-US" sz="800" b="1" u="none" strike="noStrike" cap="none">
                          <a:solidFill>
                            <a:srgbClr val="0070C0"/>
                          </a:solidFill>
                        </a:rPr>
                        <a:t>ATC(900m)</a:t>
                      </a:r>
                      <a:endParaRPr lang="ko-Kore-KR" altLang="en-US"/>
                    </a:p>
                  </a:txBody>
                  <a:tcPr marL="36000" marR="36000" marT="36000" marB="3600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181</a:t>
                      </a:r>
                      <a:endParaRPr lang="ko-Kore-KR" altLang="en-US" dirty="0"/>
                    </a:p>
                  </a:txBody>
                  <a:tcPr marL="36000" marR="36000" marT="36000" marB="36000" anchor="ctr"/>
                </a:tc>
                <a:extLst>
                  <a:ext uri="{0D108BD9-81ED-4DB2-BD59-A6C34878D82A}">
                    <a16:rowId xmlns:a16="http://schemas.microsoft.com/office/drawing/2014/main" val="10001"/>
                  </a:ext>
                </a:extLst>
              </a:tr>
              <a:tr h="0">
                <a:tc gridSpan="2">
                  <a:txBody>
                    <a:bodyPr/>
                    <a:lstStyle/>
                    <a:p>
                      <a:pPr marL="0" marR="0" lvl="0" indent="0" algn="ctr" rtl="0">
                        <a:spcBef>
                          <a:spcPts val="0"/>
                        </a:spcBef>
                        <a:spcAft>
                          <a:spcPts val="0"/>
                        </a:spcAft>
                        <a:buNone/>
                      </a:pPr>
                      <a:r>
                        <a:rPr lang="en-US" sz="800" b="1" u="none" strike="noStrike" cap="none" dirty="0"/>
                        <a:t>36L</a:t>
                      </a:r>
                      <a:r>
                        <a:rPr lang="en-US" sz="800" b="0" u="none" strike="noStrike" cap="none" dirty="0"/>
                        <a:t>/R</a:t>
                      </a:r>
                      <a:endParaRPr sz="800" b="0" u="none" strike="noStrike" cap="none" dirty="0"/>
                    </a:p>
                  </a:txBody>
                  <a:tcPr marL="36000" marR="36000" marT="36000" marB="36000" anchor="ctr"/>
                </a:tc>
                <a:tc hMerge="1">
                  <a:txBody>
                    <a:bodyPr/>
                    <a:lstStyle/>
                    <a:p>
                      <a:pPr algn="ctr"/>
                      <a:r>
                        <a:rPr lang="en-US" altLang="ko-Kore-KR" sz="800" b="1" u="none" strike="noStrike" cap="none" dirty="0">
                          <a:solidFill>
                            <a:srgbClr val="0070C0"/>
                          </a:solidFill>
                        </a:rPr>
                        <a:t>OPO xx X</a:t>
                      </a:r>
                      <a:endParaRPr lang="ko-Kore-KR" dirty="0"/>
                    </a:p>
                  </a:txBody>
                  <a:tcPr marL="36000" marR="36000" marT="36000" marB="36000" anchor="ctr"/>
                </a:tc>
                <a:tc gridSpan="2">
                  <a:txBody>
                    <a:bodyPr/>
                    <a:lstStyle/>
                    <a:p>
                      <a:r>
                        <a:rPr lang="en-US" altLang="ko-Kore-KR" sz="800" b="1" u="none" strike="noStrike" cap="none" dirty="0">
                          <a:solidFill>
                            <a:srgbClr val="0070C0"/>
                          </a:solidFill>
                        </a:rPr>
                        <a:t>OPO xx X</a:t>
                      </a:r>
                      <a:endParaRPr lang="ko-Kore-KR" altLang="en-US" dirty="0"/>
                    </a:p>
                  </a:txBody>
                  <a:tcPr marL="36000" marR="36000" marT="36000" marB="36000" anchor="ctr"/>
                </a:tc>
                <a:tc hMerge="1">
                  <a:txBody>
                    <a:bodyPr/>
                    <a:lstStyle/>
                    <a:p>
                      <a:endParaRPr lang="ko-Kore-KR" altLang="en-US"/>
                    </a:p>
                  </a:txBody>
                  <a:tcPr/>
                </a:tc>
                <a:tc gridSpan="2">
                  <a:txBody>
                    <a:bodyPr/>
                    <a:lstStyle/>
                    <a:p>
                      <a:r>
                        <a:rPr lang="en-US" sz="800" b="1" u="none" strike="noStrike" cap="none" dirty="0">
                          <a:solidFill>
                            <a:srgbClr val="C00000"/>
                          </a:solidFill>
                        </a:rPr>
                        <a:t>001</a:t>
                      </a:r>
                      <a:endParaRPr lang="ko-Kore-KR" altLang="en-US"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001</a:t>
                      </a:r>
                      <a:endParaRPr sz="800" b="1" u="none" strike="noStrike" cap="none" dirty="0"/>
                    </a:p>
                  </a:txBody>
                  <a:tcPr marL="36000" marR="36000" marT="36000" marB="36000" anchor="ctr"/>
                </a:tc>
                <a:tc gridSpan="2">
                  <a:txBody>
                    <a:bodyPr/>
                    <a:lstStyle/>
                    <a:p>
                      <a:r>
                        <a:rPr lang="en-US" altLang="ko-Kore-KR" sz="800" b="1" u="none" strike="noStrike" cap="none" dirty="0">
                          <a:solidFill>
                            <a:srgbClr val="0070C0"/>
                          </a:solidFill>
                        </a:rPr>
                        <a:t>ATC(900m)</a:t>
                      </a:r>
                      <a:endParaRPr lang="ko-Kore-KR" altLang="en-US" dirty="0"/>
                    </a:p>
                  </a:txBody>
                  <a:tcPr marL="36000" marR="36000" marT="36000" marB="3600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001</a:t>
                      </a:r>
                      <a:endParaRPr lang="ko-Kore-KR" altLang="en-US" dirty="0"/>
                    </a:p>
                  </a:txBody>
                  <a:tcPr marL="36000" marR="36000" marT="36000" marB="36000" anchor="ctr"/>
                </a:tc>
                <a:extLst>
                  <a:ext uri="{0D108BD9-81ED-4DB2-BD59-A6C34878D82A}">
                    <a16:rowId xmlns:a16="http://schemas.microsoft.com/office/drawing/2014/main" val="10002"/>
                  </a:ext>
                </a:extLst>
              </a:tr>
              <a:tr h="217976">
                <a:tc gridSpan="3">
                  <a:txBody>
                    <a:bodyPr/>
                    <a:lstStyle/>
                    <a:p>
                      <a:pPr marL="0" marR="0" lvl="0" indent="0" algn="ctr" rtl="0">
                        <a:lnSpc>
                          <a:spcPct val="100000"/>
                        </a:lnSpc>
                        <a:spcBef>
                          <a:spcPts val="0"/>
                        </a:spcBef>
                        <a:spcAft>
                          <a:spcPts val="0"/>
                        </a:spcAft>
                        <a:buClr>
                          <a:srgbClr val="0070C0"/>
                        </a:buClr>
                        <a:buSzPts val="800"/>
                        <a:buFont typeface="Calibri"/>
                        <a:buNone/>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18R 110.3</a:t>
                      </a:r>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0070C0"/>
                        </a:buClr>
                        <a:buSzPts val="800"/>
                        <a:buFont typeface="Calibri"/>
                        <a:buNone/>
                      </a:pPr>
                      <a:endParaRPr sz="800" b="1" u="none" strike="noStrike" cap="none" dirty="0">
                        <a:solidFill>
                          <a:srgbClr val="0070C0"/>
                        </a:solidFill>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36L 109.9</a:t>
                      </a: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18R 110.3</a:t>
                      </a:r>
                    </a:p>
                  </a:txBody>
                  <a:tcPr marL="36000" marR="36000" marT="36000" marB="36000" anchor="ct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36L 109.9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36R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3383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36000" marR="36000" marT="36000" marB="36000" anchor="ctr">
                    <a:solidFill>
                      <a:schemeClr val="accent1"/>
                    </a:solidFill>
                  </a:tcPr>
                </a:tc>
                <a:tc gridSpan="9">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36L/R : LYH217/8.5, R190 </a:t>
                      </a:r>
                      <a:r>
                        <a:rPr lang="en-US" sz="800" b="1" u="none" strike="noStrike" cap="none" dirty="0">
                          <a:solidFill>
                            <a:srgbClr val="0070C0"/>
                          </a:solidFill>
                          <a:latin typeface="Calibri"/>
                          <a:ea typeface="Calibri"/>
                          <a:cs typeface="Calibri"/>
                          <a:sym typeface="Calibri"/>
                        </a:rPr>
                        <a:t>(LYH 113.55 for EO)</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023647479"/>
                  </a:ext>
                </a:extLst>
              </a:tr>
              <a:tr h="13383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9">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18R(219’)          10499’          36L(198’)</a:t>
                      </a:r>
                      <a:endParaRPr lang="en-US" altLang="ko-Kore-K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133833">
                <a:tc>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9">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18L(212’)          12467’          36R(188’)</a:t>
                      </a:r>
                      <a:endParaRPr lang="en-US" altLang="ko-Kore-K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dirty="0"/>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2518466261"/>
                  </a:ext>
                </a:extLst>
              </a:tr>
              <a:tr h="13640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CTC DEP 119.65 without TWR Instruction</a:t>
                      </a:r>
                      <a:endParaRPr lang="en-US" altLang="ko-Kore-KR" sz="800"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dirty="0"/>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2084727226"/>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ZGHA(CSX)220ft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800" dirty="0"/>
                        <a:t>Changsha Reporting Office 132.0</a:t>
                      </a:r>
                    </a:p>
                    <a:p>
                      <a:pPr marL="0" marR="0" lvl="0" indent="0" algn="ctr" rtl="0">
                        <a:spcBef>
                          <a:spcPts val="0"/>
                        </a:spcBef>
                        <a:spcAft>
                          <a:spcPts val="0"/>
                        </a:spcAft>
                        <a:buNone/>
                      </a:pPr>
                      <a:r>
                        <a:rPr lang="en-US" altLang="ko-KR" sz="700" dirty="0">
                          <a:solidFill>
                            <a:srgbClr val="FF0000"/>
                          </a:solidFill>
                        </a:rPr>
                        <a:t>DCL -20m, Read Back</a:t>
                      </a:r>
                    </a:p>
                  </a:txBody>
                  <a:tcPr marL="0" marR="0" marT="36000" marB="36000" anchor="ctr"/>
                </a:tc>
                <a:tc>
                  <a:txBody>
                    <a:bodyPr/>
                    <a:lstStyle/>
                    <a:p>
                      <a:pPr marL="0" marR="0" lvl="0" indent="0" algn="ctr" rtl="0">
                        <a:spcBef>
                          <a:spcPts val="0"/>
                        </a:spcBef>
                        <a:spcAft>
                          <a:spcPts val="0"/>
                        </a:spcAft>
                        <a:buNone/>
                      </a:pPr>
                      <a:r>
                        <a:rPr lang="en-US" sz="900" dirty="0"/>
                        <a:t>KE ICN 131.15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666500" y="2271735"/>
            <a:ext cx="1587294"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119.65- CSX 132.55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WUH 134.35 – 120.975 – 135.65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125.775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132.4 - 125.325 - 120.55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120.95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4AB538F5-03F3-C5A0-114C-C38C1B3D58AD}"/>
              </a:ext>
            </a:extLst>
          </p:cNvPr>
          <p:cNvSpPr/>
          <p:nvPr/>
        </p:nvSpPr>
        <p:spPr>
          <a:xfrm>
            <a:off x="1651787" y="312509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53AC9E1A-44C6-BA36-C536-ED6640435CB5}"/>
              </a:ext>
            </a:extLst>
          </p:cNvPr>
          <p:cNvSpPr/>
          <p:nvPr/>
        </p:nvSpPr>
        <p:spPr>
          <a:xfrm>
            <a:off x="890872" y="344920"/>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a:extLst>
              <a:ext uri="{FF2B5EF4-FFF2-40B4-BE49-F238E27FC236}">
                <a16:creationId xmlns:a16="http://schemas.microsoft.com/office/drawing/2014/main" id="{05BE487A-EE0C-7027-8052-DEFA65E0A972}"/>
              </a:ext>
            </a:extLst>
          </p:cNvPr>
          <p:cNvPicPr>
            <a:picLocks noChangeAspect="1"/>
          </p:cNvPicPr>
          <p:nvPr/>
        </p:nvPicPr>
        <p:blipFill>
          <a:blip r:embed="rId7"/>
          <a:stretch>
            <a:fillRect/>
          </a:stretch>
        </p:blipFill>
        <p:spPr>
          <a:xfrm>
            <a:off x="6145" y="2313175"/>
            <a:ext cx="699076" cy="690142"/>
          </a:xfrm>
          <a:prstGeom prst="rect">
            <a:avLst/>
          </a:prstGeom>
        </p:spPr>
      </p:pic>
    </p:spTree>
    <p:extLst>
      <p:ext uri="{BB962C8B-B14F-4D97-AF65-F5344CB8AC3E}">
        <p14:creationId xmlns:p14="http://schemas.microsoft.com/office/powerpoint/2010/main" val="218264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521844" cy="532316"/>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124.52(125.72) - </a:t>
            </a:r>
            <a:r>
              <a:rPr kumimoji="1" lang="en-US" altLang="ko-Kore-KR" sz="700" b="1" u="sng" dirty="0">
                <a:solidFill>
                  <a:srgbClr val="0070C0"/>
                </a:solidFill>
                <a:latin typeface="Gulim" panose="020B0600000101010101" pitchFamily="34" charset="-127"/>
                <a:ea typeface="Gulim" panose="020B0600000101010101" pitchFamily="34" charset="-127"/>
              </a:rPr>
              <a:t>FUK 127.5 - TPE 125.5 – 126.7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129.1 - HKG RDR 121.3 – 126.5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122.0 – Final 119.1 – 119.35</a:t>
            </a:r>
          </a:p>
        </p:txBody>
      </p:sp>
      <p:graphicFrame>
        <p:nvGraphicFramePr>
          <p:cNvPr id="291" name="Google Shape;291;p18"/>
          <p:cNvGraphicFramePr/>
          <p:nvPr>
            <p:extLst>
              <p:ext uri="{D42A27DB-BD31-4B8C-83A1-F6EECF244321}">
                <p14:modId xmlns:p14="http://schemas.microsoft.com/office/powerpoint/2010/main" val="4157552187"/>
              </p:ext>
            </p:extLst>
          </p:nvPr>
        </p:nvGraphicFramePr>
        <p:xfrm>
          <a:off x="0" y="635155"/>
          <a:ext cx="2332925" cy="251833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76621">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0521">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60521">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60521">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60521">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6144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6144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6144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60521">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12303’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60521">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0521">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4201029949"/>
              </p:ext>
            </p:extLst>
          </p:nvPr>
        </p:nvGraphicFramePr>
        <p:xfrm>
          <a:off x="4472" y="3700084"/>
          <a:ext cx="2351640" cy="1842490"/>
        </p:xfrm>
        <a:graphic>
          <a:graphicData uri="http://schemas.openxmlformats.org/drawingml/2006/table">
            <a:tbl>
              <a:tblPr firstRow="1" bandRow="1">
                <a:noFill/>
                <a:tableStyleId>{A521BE36-7E6F-4EC9-8D66-1CF97A6895EC}</a:tableStyleId>
              </a:tblPr>
              <a:tblGrid>
                <a:gridCol w="410654">
                  <a:extLst>
                    <a:ext uri="{9D8B030D-6E8A-4147-A177-3AD203B41FA5}">
                      <a16:colId xmlns:a16="http://schemas.microsoft.com/office/drawing/2014/main" val="20000"/>
                    </a:ext>
                  </a:extLst>
                </a:gridCol>
                <a:gridCol w="796594">
                  <a:extLst>
                    <a:ext uri="{9D8B030D-6E8A-4147-A177-3AD203B41FA5}">
                      <a16:colId xmlns:a16="http://schemas.microsoft.com/office/drawing/2014/main" val="20001"/>
                    </a:ext>
                  </a:extLst>
                </a:gridCol>
                <a:gridCol w="291711">
                  <a:extLst>
                    <a:ext uri="{9D8B030D-6E8A-4147-A177-3AD203B41FA5}">
                      <a16:colId xmlns:a16="http://schemas.microsoft.com/office/drawing/2014/main" val="20002"/>
                    </a:ext>
                  </a:extLst>
                </a:gridCol>
                <a:gridCol w="106586">
                  <a:extLst>
                    <a:ext uri="{9D8B030D-6E8A-4147-A177-3AD203B41FA5}">
                      <a16:colId xmlns:a16="http://schemas.microsoft.com/office/drawing/2014/main" val="2302053776"/>
                    </a:ext>
                  </a:extLst>
                </a:gridCol>
                <a:gridCol w="746095">
                  <a:extLst>
                    <a:ext uri="{9D8B030D-6E8A-4147-A177-3AD203B41FA5}">
                      <a16:colId xmlns:a16="http://schemas.microsoft.com/office/drawing/2014/main" val="20003"/>
                    </a:ext>
                  </a:extLst>
                </a:gridCol>
              </a:tblGrid>
              <a:tr h="257788">
                <a:tc gridSpan="5">
                  <a:txBody>
                    <a:bodyPr/>
                    <a:lstStyle/>
                    <a:p>
                      <a:pPr marL="0" marR="0" lvl="0" indent="0" algn="ctr" rtl="0">
                        <a:spcBef>
                          <a:spcPts val="0"/>
                        </a:spcBef>
                        <a:spcAft>
                          <a:spcPts val="0"/>
                        </a:spcAft>
                        <a:buNone/>
                      </a:pPr>
                      <a:r>
                        <a:rPr lang="en-US" sz="800" dirty="0"/>
                        <a:t>HKG : </a:t>
                      </a:r>
                      <a:r>
                        <a:rPr lang="en-US" sz="800" dirty="0">
                          <a:solidFill>
                            <a:srgbClr val="FFC000"/>
                          </a:solidFill>
                        </a:rPr>
                        <a:t>Terminal Tx RTE + STAR Chart </a:t>
                      </a:r>
                      <a:r>
                        <a:rPr lang="en-US" sz="800" dirty="0">
                          <a:solidFill>
                            <a:schemeClr val="bg1"/>
                          </a:solidFill>
                        </a:rPr>
                        <a:t>(TL110)</a:t>
                      </a:r>
                    </a:p>
                    <a:p>
                      <a:pPr marL="0" marR="0" lvl="0" indent="0" algn="ctr" rtl="0">
                        <a:spcBef>
                          <a:spcPts val="0"/>
                        </a:spcBef>
                        <a:spcAft>
                          <a:spcPts val="0"/>
                        </a:spcAft>
                        <a:buNone/>
                      </a:pPr>
                      <a:r>
                        <a:rPr lang="en-US" altLang="ko-Kore-KR" sz="800" b="0" dirty="0">
                          <a:solidFill>
                            <a:srgbClr val="C00000"/>
                          </a:solidFill>
                        </a:rPr>
                        <a:t>ENPET FL260, </a:t>
                      </a:r>
                      <a:r>
                        <a:rPr lang="en-US" sz="800" b="0" dirty="0">
                          <a:solidFill>
                            <a:srgbClr val="FFC000"/>
                          </a:solidFill>
                        </a:rPr>
                        <a:t>RWY25R After TOPUN - </a:t>
                      </a:r>
                      <a:r>
                        <a:rPr lang="en-US" sz="800" b="1" dirty="0">
                          <a:solidFill>
                            <a:srgbClr val="FFC000"/>
                          </a:solidFill>
                        </a:rPr>
                        <a:t>APP Mode</a:t>
                      </a:r>
                      <a:endParaRPr sz="800" b="0"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87476">
                <a:tc>
                  <a:txBody>
                    <a:bodyPr/>
                    <a:lstStyle/>
                    <a:p>
                      <a:pPr marL="0" marR="0" lvl="0" indent="0" algn="ctr" rtl="0">
                        <a:spcBef>
                          <a:spcPts val="0"/>
                        </a:spcBef>
                        <a:spcAft>
                          <a:spcPts val="0"/>
                        </a:spcAft>
                        <a:buNone/>
                      </a:pPr>
                      <a:r>
                        <a:rPr lang="en-US" sz="800" b="1" dirty="0"/>
                        <a:t>07L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ABBEY </a:t>
                      </a:r>
                      <a:r>
                        <a:rPr lang="en-US" sz="800" b="1" dirty="0" err="1"/>
                        <a:t>xxA</a:t>
                      </a:r>
                      <a:endParaRPr lang="en-US" sz="800" b="1" dirty="0"/>
                    </a:p>
                    <a:p>
                      <a:pPr marL="0" marR="0" lvl="0" indent="0" algn="ctr" rtl="0">
                        <a:spcBef>
                          <a:spcPts val="0"/>
                        </a:spcBef>
                        <a:spcAft>
                          <a:spcPts val="0"/>
                        </a:spcAft>
                        <a:buNone/>
                      </a:pPr>
                      <a:r>
                        <a:rPr lang="en-US" sz="800" b="1" dirty="0"/>
                        <a:t>SIERA </a:t>
                      </a:r>
                      <a:r>
                        <a:rPr lang="en-US" sz="800" b="1" dirty="0" err="1"/>
                        <a:t>xxA</a:t>
                      </a:r>
                      <a:r>
                        <a:rPr lang="en-US" sz="800" b="1" dirty="0"/>
                        <a:t>/C</a:t>
                      </a:r>
                    </a:p>
                  </a:txBody>
                  <a:tcPr marL="36000" marR="36000" marT="0" marB="0" anchor="ctr"/>
                </a:tc>
                <a:tc gridSpan="2">
                  <a:txBody>
                    <a:bodyPr/>
                    <a:lstStyle/>
                    <a:p>
                      <a:pPr marL="0" marR="0" lvl="0" indent="0" algn="ctr" rtl="0">
                        <a:spcBef>
                          <a:spcPts val="0"/>
                        </a:spcBef>
                        <a:spcAft>
                          <a:spcPts val="0"/>
                        </a:spcAft>
                        <a:buNone/>
                      </a:pPr>
                      <a:r>
                        <a:rPr lang="en-US" sz="800" b="1" dirty="0"/>
                        <a:t>LIMES</a:t>
                      </a:r>
                      <a:endParaRPr sz="800" b="1" dirty="0"/>
                    </a:p>
                  </a:txBody>
                  <a:tcPr marL="36000" marR="3600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dirty="0"/>
                        <a:t>ILS 07L</a:t>
                      </a:r>
                      <a:r>
                        <a:rPr lang="en-US" sz="800" b="0" dirty="0"/>
                        <a:t>(R)</a:t>
                      </a:r>
                    </a:p>
                  </a:txBody>
                  <a:tcPr marL="36000" marR="36000" marT="36000" marB="36000" anchor="ctr"/>
                </a:tc>
                <a:extLst>
                  <a:ext uri="{0D108BD9-81ED-4DB2-BD59-A6C34878D82A}">
                    <a16:rowId xmlns:a16="http://schemas.microsoft.com/office/drawing/2014/main" val="10001"/>
                  </a:ext>
                </a:extLst>
              </a:tr>
              <a:tr h="242833">
                <a:tc>
                  <a:txBody>
                    <a:bodyPr/>
                    <a:lstStyle/>
                    <a:p>
                      <a:pPr marL="0" marR="0" lvl="0" indent="0" algn="ctr" rtl="0">
                        <a:spcBef>
                          <a:spcPts val="0"/>
                        </a:spcBef>
                        <a:spcAft>
                          <a:spcPts val="0"/>
                        </a:spcAft>
                        <a:buNone/>
                      </a:pPr>
                      <a:r>
                        <a:rPr lang="en-US" sz="800" b="1" dirty="0"/>
                        <a:t>25R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ABBEY </a:t>
                      </a:r>
                      <a:r>
                        <a:rPr lang="en-US" altLang="ko-Kore-KR" sz="800" b="1" dirty="0" err="1"/>
                        <a:t>xxB</a:t>
                      </a:r>
                      <a:endParaRPr lang="en-US" altLang="ko-Kore-KR" sz="800" b="1" dirty="0"/>
                    </a:p>
                    <a:p>
                      <a:pPr marL="0" marR="0" lvl="0" indent="0" algn="ctr" rtl="0">
                        <a:spcBef>
                          <a:spcPts val="0"/>
                        </a:spcBef>
                        <a:spcAft>
                          <a:spcPts val="0"/>
                        </a:spcAft>
                        <a:buNone/>
                      </a:pPr>
                      <a:r>
                        <a:rPr lang="en-US" altLang="ko-Kore-KR" sz="800" b="1" dirty="0"/>
                        <a:t>SIERA </a:t>
                      </a:r>
                      <a:r>
                        <a:rPr lang="en-US" altLang="ko-Kore-KR" sz="800" b="1" dirty="0" err="1"/>
                        <a:t>xxB</a:t>
                      </a:r>
                      <a:r>
                        <a:rPr lang="en-US" altLang="ko-Kore-KR" sz="800" b="1" dirty="0"/>
                        <a:t>/D</a:t>
                      </a:r>
                    </a:p>
                  </a:txBody>
                  <a:tcPr marL="36000" marR="36000" marT="0" marB="0" anchor="ctr"/>
                </a:tc>
                <a:tc gridSpan="2">
                  <a:txBody>
                    <a:bodyPr/>
                    <a:lstStyle/>
                    <a:p>
                      <a:pPr marL="0" marR="0" lvl="0" indent="0" algn="ctr" rtl="0">
                        <a:spcBef>
                          <a:spcPts val="0"/>
                        </a:spcBef>
                        <a:spcAft>
                          <a:spcPts val="0"/>
                        </a:spcAft>
                        <a:buNone/>
                      </a:pPr>
                      <a:r>
                        <a:rPr lang="en-US" sz="800" b="1" dirty="0"/>
                        <a:t>TD</a:t>
                      </a:r>
                      <a:endParaRPr sz="800" b="1" dirty="0"/>
                    </a:p>
                  </a:txBody>
                  <a:tcPr marL="36000" marR="3600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dirty="0">
                          <a:solidFill>
                            <a:srgbClr val="C00000"/>
                          </a:solidFill>
                        </a:rPr>
                        <a:t>RNAV </a:t>
                      </a:r>
                      <a:r>
                        <a:rPr lang="en-US" sz="800" b="1" dirty="0" err="1">
                          <a:solidFill>
                            <a:srgbClr val="C00000"/>
                          </a:solidFill>
                        </a:rPr>
                        <a:t>tx</a:t>
                      </a:r>
                      <a:r>
                        <a:rPr lang="en-US" sz="800" b="1" dirty="0"/>
                        <a:t> ILS 25R</a:t>
                      </a:r>
                    </a:p>
                    <a:p>
                      <a:pPr marL="0" marR="0" lvl="0" indent="0" algn="ctr" rtl="0">
                        <a:spcBef>
                          <a:spcPts val="0"/>
                        </a:spcBef>
                        <a:spcAft>
                          <a:spcPts val="0"/>
                        </a:spcAft>
                        <a:buNone/>
                      </a:pPr>
                      <a:r>
                        <a:rPr lang="en-US" sz="800" b="1" dirty="0"/>
                        <a:t>ILS 25L</a:t>
                      </a:r>
                    </a:p>
                  </a:txBody>
                  <a:tcPr marL="36000" marR="36000" marT="36000" marB="36000" anchor="ctr"/>
                </a:tc>
                <a:extLst>
                  <a:ext uri="{0D108BD9-81ED-4DB2-BD59-A6C34878D82A}">
                    <a16:rowId xmlns:a16="http://schemas.microsoft.com/office/drawing/2014/main" val="10002"/>
                  </a:ext>
                </a:extLst>
              </a:tr>
              <a:tr h="14909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07L(23’)         11896’ </a:t>
                      </a:r>
                      <a:r>
                        <a:rPr lang="en-US" sz="800" b="1" dirty="0">
                          <a:solidFill>
                            <a:srgbClr val="C00000"/>
                          </a:solidFill>
                        </a:rPr>
                        <a:t>DIS TH</a:t>
                      </a:r>
                      <a:r>
                        <a:rPr lang="en-US" sz="800" b="1" dirty="0">
                          <a:solidFill>
                            <a:srgbClr val="00B050"/>
                          </a:solidFill>
                        </a:rPr>
                        <a:t>        25R (23’)</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4"/>
                  </a:ext>
                </a:extLst>
              </a:tr>
              <a:tr h="149095">
                <a:tc vMerge="1">
                  <a:txBody>
                    <a:bodyPr/>
                    <a:lstStyle/>
                    <a:p>
                      <a:pPr marL="0" marR="0" lvl="0" indent="0" algn="ctr" rtl="0">
                        <a:lnSpc>
                          <a:spcPct val="100000"/>
                        </a:lnSpc>
                        <a:spcBef>
                          <a:spcPts val="0"/>
                        </a:spcBef>
                        <a:spcAft>
                          <a:spcPts val="0"/>
                        </a:spcAft>
                        <a:buClr>
                          <a:schemeClr val="lt1"/>
                        </a:buClr>
                        <a:buSzPts val="800"/>
                        <a:buFont typeface="Calibri"/>
                        <a:buNone/>
                      </a:pP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07R(27’) 11942’ </a:t>
                      </a:r>
                      <a:r>
                        <a:rPr lang="en-US" sz="800" b="1" dirty="0">
                          <a:solidFill>
                            <a:srgbClr val="C00000"/>
                          </a:solidFill>
                        </a:rPr>
                        <a:t>DIS TH</a:t>
                      </a:r>
                      <a:endParaRPr sz="800" b="1"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12467’     25L(27’)</a:t>
                      </a:r>
                      <a:endParaRPr sz="800" b="1" dirty="0">
                        <a:solidFill>
                          <a:srgbClr val="00B05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42833">
                <a:tc gridSpan="5">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07L : C7(5882’), C8(7194’),   25R : C6(5882’), C5(7211’)</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07R : J7(6916’), J8(7998’),     25L : J5(6916’), J4(8192’)</a:t>
                      </a:r>
                      <a:r>
                        <a:rPr lang="en-US" sz="800" dirty="0">
                          <a:solidFill>
                            <a:schemeClr val="dk1"/>
                          </a:solidFill>
                        </a:rPr>
                        <a:t> </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234811">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Confirm Chart SPD vs ATC SPD (ATC First)</a:t>
                      </a:r>
                      <a:endParaRPr lang="en-US" altLang="ko-KR" sz="800" b="1" dirty="0">
                        <a:solidFill>
                          <a:srgbClr val="C00000"/>
                        </a:solidFill>
                      </a:endParaRPr>
                    </a:p>
                    <a:p>
                      <a:pPr marL="0" marR="0" lvl="0" indent="0" algn="ctr" rtl="0">
                        <a:lnSpc>
                          <a:spcPct val="100000"/>
                        </a:lnSpc>
                        <a:spcBef>
                          <a:spcPts val="0"/>
                        </a:spcBef>
                        <a:spcAft>
                          <a:spcPts val="0"/>
                        </a:spcAft>
                        <a:buClr>
                          <a:schemeClr val="dk1"/>
                        </a:buClr>
                        <a:buSzPts val="800"/>
                        <a:buFont typeface="Calibri"/>
                        <a:buNone/>
                      </a:pPr>
                      <a:r>
                        <a:rPr lang="en-US" sz="800" dirty="0" err="1">
                          <a:solidFill>
                            <a:srgbClr val="0070C0"/>
                          </a:solidFill>
                        </a:rPr>
                        <a:t>xxR</a:t>
                      </a:r>
                      <a:r>
                        <a:rPr lang="en-US" sz="800" dirty="0">
                          <a:solidFill>
                            <a:srgbClr val="0070C0"/>
                          </a:solidFill>
                        </a:rPr>
                        <a:t> Dash Line for B737, APU BAN off Procedure</a:t>
                      </a:r>
                      <a:endParaRPr dirty="0">
                        <a:solidFill>
                          <a:srgbClr val="0070C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69290036"/>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VHHH(HKG) 28ft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HAS FLT Dispatch</a:t>
                      </a:r>
                    </a:p>
                    <a:p>
                      <a:pPr marL="0" marR="0" lvl="0" indent="0" algn="ctr" rtl="0">
                        <a:spcBef>
                          <a:spcPts val="0"/>
                        </a:spcBef>
                        <a:spcAft>
                          <a:spcPts val="0"/>
                        </a:spcAft>
                        <a:buNone/>
                      </a:pPr>
                      <a:r>
                        <a:rPr lang="en-US" sz="900" dirty="0"/>
                        <a:t>131.6</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F249E7A-A45C-54A1-0C09-872C49733B6D}"/>
              </a:ext>
            </a:extLst>
          </p:cNvPr>
          <p:cNvSpPr/>
          <p:nvPr/>
        </p:nvSpPr>
        <p:spPr>
          <a:xfrm>
            <a:off x="1674227" y="341321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E0FC5CB-5405-69E2-6AEE-ED1D46C77F2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8232790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6" name="그림 5">
            <a:extLst>
              <a:ext uri="{FF2B5EF4-FFF2-40B4-BE49-F238E27FC236}">
                <a16:creationId xmlns:a16="http://schemas.microsoft.com/office/drawing/2014/main" id="{ACE50AE8-CC83-E9FB-37A0-3FD0CCE99F9B}"/>
              </a:ext>
            </a:extLst>
          </p:cNvPr>
          <p:cNvPicPr>
            <a:picLocks noChangeAspect="1"/>
          </p:cNvPicPr>
          <p:nvPr/>
        </p:nvPicPr>
        <p:blipFill>
          <a:blip r:embed="rId3"/>
          <a:stretch>
            <a:fillRect/>
          </a:stretch>
        </p:blipFill>
        <p:spPr>
          <a:xfrm>
            <a:off x="-8111" y="2490164"/>
            <a:ext cx="756864" cy="628119"/>
          </a:xfrm>
          <a:prstGeom prst="rect">
            <a:avLst/>
          </a:prstGeom>
        </p:spPr>
      </p:pic>
      <p:graphicFrame>
        <p:nvGraphicFramePr>
          <p:cNvPr id="117" name="Google Shape;117;p3"/>
          <p:cNvGraphicFramePr/>
          <p:nvPr>
            <p:extLst>
              <p:ext uri="{D42A27DB-BD31-4B8C-83A1-F6EECF244321}">
                <p14:modId xmlns:p14="http://schemas.microsoft.com/office/powerpoint/2010/main" val="2380361153"/>
              </p:ext>
            </p:extLst>
          </p:nvPr>
        </p:nvGraphicFramePr>
        <p:xfrm>
          <a:off x="7175" y="707276"/>
          <a:ext cx="2300931" cy="1798702"/>
        </p:xfrm>
        <a:graphic>
          <a:graphicData uri="http://schemas.openxmlformats.org/drawingml/2006/table">
            <a:tbl>
              <a:tblPr firstRow="1" bandRow="1">
                <a:noFill/>
                <a:tableStyleId>{A521BE36-7E6F-4EC9-8D66-1CF97A6895EC}</a:tableStyleId>
              </a:tblPr>
              <a:tblGrid>
                <a:gridCol w="327184">
                  <a:extLst>
                    <a:ext uri="{9D8B030D-6E8A-4147-A177-3AD203B41FA5}">
                      <a16:colId xmlns:a16="http://schemas.microsoft.com/office/drawing/2014/main" val="20000"/>
                    </a:ext>
                  </a:extLst>
                </a:gridCol>
                <a:gridCol w="64140">
                  <a:extLst>
                    <a:ext uri="{9D8B030D-6E8A-4147-A177-3AD203B41FA5}">
                      <a16:colId xmlns:a16="http://schemas.microsoft.com/office/drawing/2014/main" val="20001"/>
                    </a:ext>
                  </a:extLst>
                </a:gridCol>
                <a:gridCol w="164703">
                  <a:extLst>
                    <a:ext uri="{9D8B030D-6E8A-4147-A177-3AD203B41FA5}">
                      <a16:colId xmlns:a16="http://schemas.microsoft.com/office/drawing/2014/main" val="20002"/>
                    </a:ext>
                  </a:extLst>
                </a:gridCol>
                <a:gridCol w="414479">
                  <a:extLst>
                    <a:ext uri="{9D8B030D-6E8A-4147-A177-3AD203B41FA5}">
                      <a16:colId xmlns:a16="http://schemas.microsoft.com/office/drawing/2014/main" val="20003"/>
                    </a:ext>
                  </a:extLst>
                </a:gridCol>
                <a:gridCol w="101537">
                  <a:extLst>
                    <a:ext uri="{9D8B030D-6E8A-4147-A177-3AD203B41FA5}">
                      <a16:colId xmlns:a16="http://schemas.microsoft.com/office/drawing/2014/main" val="20004"/>
                    </a:ext>
                  </a:extLst>
                </a:gridCol>
                <a:gridCol w="61400">
                  <a:extLst>
                    <a:ext uri="{9D8B030D-6E8A-4147-A177-3AD203B41FA5}">
                      <a16:colId xmlns:a16="http://schemas.microsoft.com/office/drawing/2014/main" val="2940550374"/>
                    </a:ext>
                  </a:extLst>
                </a:gridCol>
                <a:gridCol w="99187">
                  <a:extLst>
                    <a:ext uri="{9D8B030D-6E8A-4147-A177-3AD203B41FA5}">
                      <a16:colId xmlns:a16="http://schemas.microsoft.com/office/drawing/2014/main" val="20005"/>
                    </a:ext>
                  </a:extLst>
                </a:gridCol>
                <a:gridCol w="287650">
                  <a:extLst>
                    <a:ext uri="{9D8B030D-6E8A-4147-A177-3AD203B41FA5}">
                      <a16:colId xmlns:a16="http://schemas.microsoft.com/office/drawing/2014/main" val="20006"/>
                    </a:ext>
                  </a:extLst>
                </a:gridCol>
                <a:gridCol w="465890">
                  <a:extLst>
                    <a:ext uri="{9D8B030D-6E8A-4147-A177-3AD203B41FA5}">
                      <a16:colId xmlns:a16="http://schemas.microsoft.com/office/drawing/2014/main" val="20007"/>
                    </a:ext>
                  </a:extLst>
                </a:gridCol>
                <a:gridCol w="314761">
                  <a:extLst>
                    <a:ext uri="{9D8B030D-6E8A-4147-A177-3AD203B41FA5}">
                      <a16:colId xmlns:a16="http://schemas.microsoft.com/office/drawing/2014/main" val="448940902"/>
                    </a:ext>
                  </a:extLst>
                </a:gridCol>
              </a:tblGrid>
              <a:tr h="398225">
                <a:tc gridSpan="10">
                  <a:txBody>
                    <a:bodyPr/>
                    <a:lstStyle/>
                    <a:p>
                      <a:pPr marL="0" marR="0" lvl="0" indent="0" algn="ctr" rtl="0">
                        <a:spcBef>
                          <a:spcPts val="0"/>
                        </a:spcBef>
                        <a:spcAft>
                          <a:spcPts val="0"/>
                        </a:spcAft>
                        <a:buNone/>
                      </a:pPr>
                      <a:r>
                        <a:rPr lang="en-US" sz="800" u="none" strike="noStrike" cap="none" dirty="0"/>
                        <a:t>HKG : SID + </a:t>
                      </a:r>
                      <a:r>
                        <a:rPr lang="en-US" sz="800" u="none" strike="noStrike" cap="none" dirty="0">
                          <a:solidFill>
                            <a:srgbClr val="FFC000"/>
                          </a:solidFill>
                        </a:rPr>
                        <a:t>Terminal Tx RTE Chart</a:t>
                      </a:r>
                      <a:r>
                        <a:rPr lang="en-US" sz="800" u="none" strike="noStrike" cap="none" dirty="0"/>
                        <a:t> TA 9000</a:t>
                      </a:r>
                    </a:p>
                    <a:p>
                      <a:pPr marL="0" marR="0" lvl="0" indent="0" algn="ctr" rtl="0">
                        <a:spcBef>
                          <a:spcPts val="0"/>
                        </a:spcBef>
                        <a:spcAft>
                          <a:spcPts val="0"/>
                        </a:spcAft>
                        <a:buNone/>
                      </a:pPr>
                      <a:r>
                        <a:rPr lang="en-US" sz="800" b="0" u="none" strike="noStrike" cap="none" dirty="0">
                          <a:solidFill>
                            <a:srgbClr val="FFC000"/>
                          </a:solidFill>
                        </a:rPr>
                        <a:t>NADP2 : 1000 SPD INTV (Vzf+10~20kts), 1500 CLB TH </a:t>
                      </a:r>
                    </a:p>
                    <a:p>
                      <a:pPr marL="0" marR="0" lvl="0" indent="0" algn="ctr" rtl="0">
                        <a:spcBef>
                          <a:spcPts val="0"/>
                        </a:spcBef>
                        <a:spcAft>
                          <a:spcPts val="0"/>
                        </a:spcAft>
                        <a:buNone/>
                      </a:pPr>
                      <a:r>
                        <a:rPr lang="en-US" sz="700" b="0" u="none" strike="noStrike" cap="none" dirty="0">
                          <a:solidFill>
                            <a:schemeClr val="bg1"/>
                          </a:solidFill>
                        </a:rPr>
                        <a:t>(NADP 1/2 for 07L/R)</a:t>
                      </a:r>
                      <a:endParaRPr sz="700" b="0" u="none" strike="noStrike" cap="none" dirty="0">
                        <a:solidFill>
                          <a:schemeClr val="bg1"/>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84579">
                <a:tc>
                  <a:txBody>
                    <a:bodyPr/>
                    <a:lstStyle/>
                    <a:p>
                      <a:pPr marL="0" marR="0" lvl="0" indent="0" algn="ctr" rtl="0">
                        <a:spcBef>
                          <a:spcPts val="0"/>
                        </a:spcBef>
                        <a:spcAft>
                          <a:spcPts val="0"/>
                        </a:spcAft>
                        <a:buNone/>
                      </a:pPr>
                      <a:r>
                        <a:rPr lang="en-US" sz="800" b="1" u="none" strike="noStrike" cap="none" dirty="0"/>
                        <a:t>07L</a:t>
                      </a:r>
                      <a:r>
                        <a:rPr lang="en-US" sz="800" b="0" u="none" strike="noStrike" cap="none" dirty="0"/>
                        <a:t>(R)</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OCEAN </a:t>
                      </a:r>
                      <a:r>
                        <a:rPr lang="en-US" sz="800" b="1" u="none" strike="noStrike" cap="none" dirty="0" err="1">
                          <a:solidFill>
                            <a:srgbClr val="0070C0"/>
                          </a:solidFill>
                        </a:rPr>
                        <a:t>xxE</a:t>
                      </a:r>
                      <a:r>
                        <a:rPr lang="en-US" sz="800" b="0" u="none" strike="noStrike" cap="none" dirty="0">
                          <a:solidFill>
                            <a:srgbClr val="0070C0"/>
                          </a:solidFill>
                        </a:rPr>
                        <a:t>(A)</a:t>
                      </a:r>
                    </a:p>
                    <a:p>
                      <a:pPr marL="0" marR="0" lvl="0" indent="0" algn="ctr" rtl="0">
                        <a:spcBef>
                          <a:spcPts val="0"/>
                        </a:spcBef>
                        <a:spcAft>
                          <a:spcPts val="0"/>
                        </a:spcAft>
                        <a:buNone/>
                      </a:pPr>
                      <a:r>
                        <a:rPr lang="en-US" sz="800" b="0" u="none" strike="noStrike" cap="none" dirty="0">
                          <a:solidFill>
                            <a:srgbClr val="0070C0"/>
                          </a:solidFill>
                        </a:rPr>
                        <a:t>(RASSE </a:t>
                      </a:r>
                      <a:r>
                        <a:rPr lang="en-US" sz="800" b="0" u="none" strike="noStrike" cap="none" dirty="0" err="1">
                          <a:solidFill>
                            <a:srgbClr val="0070C0"/>
                          </a:solidFill>
                        </a:rPr>
                        <a:t>xxZ</a:t>
                      </a:r>
                      <a:r>
                        <a:rPr lang="en-US" sz="800" b="0" u="none" strike="noStrike" cap="none" dirty="0">
                          <a:solidFill>
                            <a:srgbClr val="0070C0"/>
                          </a:solidFill>
                        </a:rPr>
                        <a:t>/X)</a:t>
                      </a:r>
                      <a:endParaRPr sz="800" b="0" u="none" strike="noStrike" cap="none"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074</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074</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5000</a:t>
                      </a:r>
                    </a:p>
                  </a:txBody>
                  <a:tcPr marL="0" marR="0" marT="36000" marB="36000" anchor="ctr"/>
                </a:tc>
                <a:tc>
                  <a:txBody>
                    <a:bodyPr/>
                    <a:lstStyle/>
                    <a:p>
                      <a:pPr algn="ctr"/>
                      <a:r>
                        <a:rPr lang="en-US" altLang="ko-Kore-KR" sz="800" b="1" u="none" strike="noStrike" cap="none" dirty="0">
                          <a:solidFill>
                            <a:srgbClr val="C00000"/>
                          </a:solidFill>
                        </a:rPr>
                        <a:t>074</a:t>
                      </a:r>
                      <a:endParaRPr lang="ko-Kore-KR" altLang="en-US" dirty="0"/>
                    </a:p>
                  </a:txBody>
                  <a:tcPr marL="0" marR="0" marT="36000" marB="36000" anchor="ctr"/>
                </a:tc>
                <a:extLst>
                  <a:ext uri="{0D108BD9-81ED-4DB2-BD59-A6C34878D82A}">
                    <a16:rowId xmlns:a16="http://schemas.microsoft.com/office/drawing/2014/main" val="10001"/>
                  </a:ext>
                </a:extLst>
              </a:tr>
              <a:tr h="174727">
                <a:tc>
                  <a:txBody>
                    <a:bodyPr/>
                    <a:lstStyle/>
                    <a:p>
                      <a:pPr marL="0" marR="0" lvl="0" indent="0" algn="ctr" rtl="0">
                        <a:spcBef>
                          <a:spcPts val="0"/>
                        </a:spcBef>
                        <a:spcAft>
                          <a:spcPts val="0"/>
                        </a:spcAft>
                        <a:buNone/>
                      </a:pPr>
                      <a:r>
                        <a:rPr lang="en-US" sz="800" b="1" u="none" strike="noStrike" cap="none" dirty="0"/>
                        <a:t>25R</a:t>
                      </a:r>
                      <a:r>
                        <a:rPr lang="en-US" sz="800" b="0" u="none" strike="noStrike" cap="none" dirty="0"/>
                        <a:t>(L)</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OCEAN </a:t>
                      </a:r>
                      <a:r>
                        <a:rPr lang="en-US" altLang="ko-Kore-KR" sz="800" b="1" u="none" strike="noStrike" cap="none" dirty="0" err="1">
                          <a:solidFill>
                            <a:srgbClr val="0070C0"/>
                          </a:solidFill>
                        </a:rPr>
                        <a:t>xxB</a:t>
                      </a:r>
                      <a:r>
                        <a:rPr lang="en-US" altLang="ko-Kore-KR" sz="800" b="1" u="none" strike="noStrike" cap="none" dirty="0">
                          <a:solidFill>
                            <a:srgbClr val="0070C0"/>
                          </a:solidFill>
                        </a:rPr>
                        <a:t>/F</a:t>
                      </a:r>
                    </a:p>
                  </a:txBody>
                  <a:tcPr marL="0" marR="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C00000"/>
                          </a:solidFill>
                        </a:rPr>
                        <a:t>254</a:t>
                      </a:r>
                      <a:endParaRPr sz="458" b="1" u="none" strike="noStrike" cap="none" dirty="0">
                        <a:solidFill>
                          <a:srgbClr val="C00000"/>
                        </a:solidFill>
                      </a:endParaRPr>
                    </a:p>
                  </a:txBody>
                  <a:tcPr marL="0" marR="0" marT="36000" marB="36000" anchor="ctr"/>
                </a:tc>
                <a:tc hMerge="1">
                  <a:txBody>
                    <a:bodyPr/>
                    <a:lstStyle/>
                    <a:p>
                      <a:endParaRPr lang="ko-Kore-KR" altLang="en-US"/>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254</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5000</a:t>
                      </a:r>
                    </a:p>
                  </a:txBody>
                  <a:tcPr marL="0" marR="0" marT="36000" marB="36000" anchor="ctr"/>
                </a:tc>
                <a:tc>
                  <a:txBody>
                    <a:bodyPr/>
                    <a:lstStyle/>
                    <a:p>
                      <a:pPr algn="ctr"/>
                      <a:r>
                        <a:rPr lang="en-US" altLang="ko-Kore-KR" sz="800" b="1" u="none" strike="noStrike" cap="none" dirty="0">
                          <a:solidFill>
                            <a:srgbClr val="C00000"/>
                          </a:solidFill>
                        </a:rPr>
                        <a:t>254</a:t>
                      </a:r>
                      <a:endParaRPr lang="ko-Kore-KR" altLang="en-US" dirty="0"/>
                    </a:p>
                  </a:txBody>
                  <a:tcPr marL="0" marR="0" marT="36000" marB="36000" anchor="ctr"/>
                </a:tc>
                <a:extLst>
                  <a:ext uri="{0D108BD9-81ED-4DB2-BD59-A6C34878D82A}">
                    <a16:rowId xmlns:a16="http://schemas.microsoft.com/office/drawing/2014/main" val="10002"/>
                  </a:ext>
                </a:extLst>
              </a:tr>
              <a:tr h="219706">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SMT 114.8</a:t>
                      </a:r>
                      <a:endParaRPr sz="800" b="1" u="none" strike="noStrike" cap="none" dirty="0">
                        <a:solidFill>
                          <a:srgbClr val="0070C0"/>
                        </a:solidFill>
                      </a:endParaRP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07L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111.5</a:t>
                      </a:r>
                      <a:endParaRPr dirty="0"/>
                    </a:p>
                  </a:txBody>
                  <a:tcPr marL="0" marR="0" marT="0" marB="0" anchor="ctr"/>
                </a:tc>
                <a:tc hMerge="1">
                  <a:txBody>
                    <a:bodyPr/>
                    <a:lstStyle/>
                    <a:p>
                      <a:endParaRPr lang="ko-Kore-KR"/>
                    </a:p>
                  </a:txBody>
                  <a:tcP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25R 108.75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lang="ko-Kore-KR"/>
                    </a:p>
                  </a:txBody>
                  <a:tcP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07R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110.9</a:t>
                      </a:r>
                      <a:endParaRPr dirty="0"/>
                    </a:p>
                  </a:txBody>
                  <a:tcPr marL="0" marR="0" marT="0" marB="0" anchor="ct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25L 110.9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extLst>
                  <a:ext uri="{0D108BD9-81ED-4DB2-BD59-A6C34878D82A}">
                    <a16:rowId xmlns:a16="http://schemas.microsoft.com/office/drawing/2014/main" val="10003"/>
                  </a:ext>
                </a:extLst>
              </a:tr>
              <a:tr h="174727">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07R/L(27’/23’) </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p>
                  </a:txBody>
                  <a:tcPr marL="0" marR="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25L/R(27’/23’)</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192242">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 O</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ltLang="en-US"/>
                    </a:p>
                  </a:txBody>
                  <a:tcPr/>
                </a:tc>
                <a:tc gridSpan="8">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07L(R) : LKC R105(SMT /3), LKC105/9.5 R185</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25R(L) : ITFR(ITFL)254/10, R156</a:t>
                      </a: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754822849"/>
                  </a:ext>
                </a:extLst>
              </a:tr>
              <a:tr h="165372">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SID – Tx RTE Chart Many SPD Restriction</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836173499"/>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VHHH(HKG) 28ft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5">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HAS FLT </a:t>
                      </a:r>
                      <a:r>
                        <a:rPr lang="en-US" sz="900" dirty="0" err="1"/>
                        <a:t>Disp</a:t>
                      </a:r>
                      <a:r>
                        <a:rPr lang="en-US" sz="900" dirty="0"/>
                        <a:t> 131.6</a:t>
                      </a:r>
                      <a:endParaRPr dirty="0"/>
                    </a:p>
                    <a:p>
                      <a:pPr marL="0" marR="0" lvl="0" indent="0" algn="ctr" rtl="0">
                        <a:spcBef>
                          <a:spcPts val="0"/>
                        </a:spcBef>
                        <a:spcAft>
                          <a:spcPts val="0"/>
                        </a:spcAft>
                        <a:buNone/>
                      </a:pPr>
                      <a:r>
                        <a:rPr lang="en-US" sz="700" dirty="0">
                          <a:solidFill>
                            <a:srgbClr val="FF0000"/>
                          </a:solidFill>
                        </a:rPr>
                        <a:t>DCL 20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sz="700" dirty="0">
                          <a:solidFill>
                            <a:srgbClr val="FF0000"/>
                          </a:solidFill>
                        </a:rPr>
                        <a:t>5</a:t>
                      </a:r>
                      <a:r>
                        <a:rPr lang="ko-KR" altLang="en-US" sz="700" dirty="0">
                          <a:solidFill>
                            <a:srgbClr val="FF0000"/>
                          </a:solidFill>
                        </a:rPr>
                        <a:t>분 차이시 </a:t>
                      </a:r>
                      <a:r>
                        <a:rPr lang="en-US" altLang="ko-KR" sz="700" dirty="0">
                          <a:solidFill>
                            <a:srgbClr val="FF0000"/>
                          </a:solidFill>
                        </a:rPr>
                        <a:t>CTC Comm</a:t>
                      </a:r>
                      <a:endParaRPr sz="700" dirty="0">
                        <a:solidFill>
                          <a:srgbClr val="FF0000"/>
                        </a:solidFill>
                      </a:endParaRPr>
                    </a:p>
                  </a:txBody>
                  <a:tcPr marL="36000" marR="36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794992" y="2499092"/>
            <a:ext cx="1498808"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DEP 123.8 – RDR 118.925 </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 – 126.7 – 123.6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 </a:t>
            </a:r>
            <a:r>
              <a:rPr kumimoji="1" lang="en-US" altLang="ko-KR" sz="700" b="1" u="sng" dirty="0">
                <a:solidFill>
                  <a:srgbClr val="0070C0"/>
                </a:solidFill>
                <a:latin typeface="Gulim" panose="020B0600000101010101" pitchFamily="34" charset="-127"/>
                <a:ea typeface="Gulim" panose="020B0600000101010101" pitchFamily="34" charset="-127"/>
              </a:rPr>
              <a:t>ICN 125.725(124.52)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857B720D-0D1B-9121-09AB-6FDEA1F31352}"/>
              </a:ext>
            </a:extLst>
          </p:cNvPr>
          <p:cNvSpPr/>
          <p:nvPr/>
        </p:nvSpPr>
        <p:spPr>
          <a:xfrm>
            <a:off x="1657574" y="309974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E5BD0A1F-222D-F256-6A70-D874149F410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8511511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46724"/>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133.72 – 128.15 – PEK 125.6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TSN APP 119.27 – </a:t>
            </a:r>
            <a:r>
              <a:rPr kumimoji="1" lang="en-US" altLang="ko-Kore-KR" sz="700" b="1" u="sng" dirty="0">
                <a:solidFill>
                  <a:srgbClr val="FF0000"/>
                </a:solidFill>
                <a:latin typeface="Gulim" panose="020B0600000101010101" pitchFamily="34" charset="-127"/>
                <a:ea typeface="Gulim" panose="020B0600000101010101" pitchFamily="34" charset="-127"/>
              </a:rPr>
              <a:t>TWR 118.425(130.0)</a:t>
            </a:r>
          </a:p>
        </p:txBody>
      </p:sp>
      <p:graphicFrame>
        <p:nvGraphicFramePr>
          <p:cNvPr id="291" name="Google Shape;291;p18"/>
          <p:cNvGraphicFramePr/>
          <p:nvPr>
            <p:extLst>
              <p:ext uri="{D42A27DB-BD31-4B8C-83A1-F6EECF244321}">
                <p14:modId xmlns:p14="http://schemas.microsoft.com/office/powerpoint/2010/main" val="1065032155"/>
              </p:ext>
            </p:extLst>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970969007"/>
              </p:ext>
            </p:extLst>
          </p:nvPr>
        </p:nvGraphicFramePr>
        <p:xfrm>
          <a:off x="4472" y="3705689"/>
          <a:ext cx="2333879" cy="1817999"/>
        </p:xfrm>
        <a:graphic>
          <a:graphicData uri="http://schemas.openxmlformats.org/drawingml/2006/table">
            <a:tbl>
              <a:tblPr firstRow="1" bandRow="1">
                <a:noFill/>
                <a:tableStyleId>{A521BE36-7E6F-4EC9-8D66-1CF97A6895EC}</a:tableStyleId>
              </a:tblPr>
              <a:tblGrid>
                <a:gridCol w="476174">
                  <a:extLst>
                    <a:ext uri="{9D8B030D-6E8A-4147-A177-3AD203B41FA5}">
                      <a16:colId xmlns:a16="http://schemas.microsoft.com/office/drawing/2014/main" val="20000"/>
                    </a:ext>
                  </a:extLst>
                </a:gridCol>
                <a:gridCol w="790414">
                  <a:extLst>
                    <a:ext uri="{9D8B030D-6E8A-4147-A177-3AD203B41FA5}">
                      <a16:colId xmlns:a16="http://schemas.microsoft.com/office/drawing/2014/main" val="20001"/>
                    </a:ext>
                  </a:extLst>
                </a:gridCol>
                <a:gridCol w="370450">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177180">
                <a:tc gridSpan="4">
                  <a:txBody>
                    <a:bodyPr/>
                    <a:lstStyle/>
                    <a:p>
                      <a:pPr marL="0" marR="0" lvl="0" indent="0" algn="ctr" rtl="0">
                        <a:spcBef>
                          <a:spcPts val="0"/>
                        </a:spcBef>
                        <a:spcAft>
                          <a:spcPts val="0"/>
                        </a:spcAft>
                        <a:buNone/>
                      </a:pPr>
                      <a:r>
                        <a:rPr lang="en-US" sz="800" dirty="0"/>
                        <a:t>TSN : STAR </a:t>
                      </a:r>
                      <a:r>
                        <a:rPr lang="en-US" sz="800" dirty="0">
                          <a:solidFill>
                            <a:schemeClr val="accent4"/>
                          </a:solidFill>
                        </a:rPr>
                        <a:t>(Missed App 1970’ Initially)</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62270">
                <a:tc>
                  <a:txBody>
                    <a:bodyPr/>
                    <a:lstStyle/>
                    <a:p>
                      <a:pPr marL="0" marR="0" lvl="0" indent="0" algn="ctr" rtl="0">
                        <a:spcBef>
                          <a:spcPts val="0"/>
                        </a:spcBef>
                        <a:spcAft>
                          <a:spcPts val="0"/>
                        </a:spcAft>
                        <a:buNone/>
                      </a:pPr>
                      <a:r>
                        <a:rPr lang="en-US" sz="800" b="1" dirty="0"/>
                        <a:t>16L</a:t>
                      </a:r>
                      <a:r>
                        <a:rPr lang="en-US" sz="800" b="0" dirty="0"/>
                        <a:t>/16R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DUMAP </a:t>
                      </a:r>
                      <a:r>
                        <a:rPr lang="en-US" sz="800" b="1" dirty="0" err="1"/>
                        <a:t>xK</a:t>
                      </a:r>
                      <a:r>
                        <a:rPr lang="en-US" sz="800" b="0" dirty="0"/>
                        <a:t>/R/H</a:t>
                      </a:r>
                    </a:p>
                  </a:txBody>
                  <a:tcPr marL="36000" marR="36000" marT="36000" marB="36000" anchor="ctr"/>
                </a:tc>
                <a:tc>
                  <a:txBody>
                    <a:bodyPr/>
                    <a:lstStyle/>
                    <a:p>
                      <a:pPr marL="0" marR="0" lvl="0" indent="0" algn="ctr" rtl="0">
                        <a:spcBef>
                          <a:spcPts val="0"/>
                        </a:spcBef>
                        <a:spcAft>
                          <a:spcPts val="0"/>
                        </a:spcAft>
                        <a:buNone/>
                      </a:pPr>
                      <a:r>
                        <a:rPr lang="en-US" sz="800" b="1" dirty="0"/>
                        <a:t>TJ960</a:t>
                      </a:r>
                    </a:p>
                    <a:p>
                      <a:pPr marL="0" marR="0" lvl="0" indent="0" algn="ctr" rtl="0">
                        <a:spcBef>
                          <a:spcPts val="0"/>
                        </a:spcBef>
                        <a:spcAft>
                          <a:spcPts val="0"/>
                        </a:spcAft>
                        <a:buNone/>
                      </a:pPr>
                      <a:r>
                        <a:rPr lang="en-US" sz="800" b="0" dirty="0"/>
                        <a:t>TJ919</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ILS 16L</a:t>
                      </a:r>
                      <a:r>
                        <a:rPr lang="en-US" sz="800" b="0" dirty="0"/>
                        <a:t>/16R</a:t>
                      </a:r>
                    </a:p>
                  </a:txBody>
                  <a:tcPr marL="36000" marR="36000" marT="36000" marB="36000" anchor="ctr"/>
                </a:tc>
                <a:extLst>
                  <a:ext uri="{0D108BD9-81ED-4DB2-BD59-A6C34878D82A}">
                    <a16:rowId xmlns:a16="http://schemas.microsoft.com/office/drawing/2014/main" val="10001"/>
                  </a:ext>
                </a:extLst>
              </a:tr>
              <a:tr h="262270">
                <a:tc>
                  <a:txBody>
                    <a:bodyPr/>
                    <a:lstStyle/>
                    <a:p>
                      <a:pPr marL="0" marR="0" lvl="0" indent="0" algn="ctr" rtl="0">
                        <a:spcBef>
                          <a:spcPts val="0"/>
                        </a:spcBef>
                        <a:spcAft>
                          <a:spcPts val="0"/>
                        </a:spcAft>
                        <a:buNone/>
                      </a:pPr>
                      <a:r>
                        <a:rPr lang="en-US" sz="800" b="1" dirty="0"/>
                        <a:t>34R</a:t>
                      </a:r>
                      <a:r>
                        <a:rPr lang="en-US" sz="800" b="0" dirty="0"/>
                        <a:t>/34L</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DUMAP </a:t>
                      </a:r>
                      <a:r>
                        <a:rPr lang="en-US" altLang="ko-Kore-KR" sz="800" b="1" dirty="0" err="1"/>
                        <a:t>xQ</a:t>
                      </a:r>
                      <a:endParaRPr lang="en-US" altLang="ko-Kore-KR" sz="800" b="1" dirty="0"/>
                    </a:p>
                  </a:txBody>
                  <a:tcPr marL="36000" marR="36000" marT="36000" marB="36000" anchor="ctr"/>
                </a:tc>
                <a:tc>
                  <a:txBody>
                    <a:bodyPr/>
                    <a:lstStyle/>
                    <a:p>
                      <a:pPr marL="0" marR="0" lvl="0" indent="0" algn="ctr" rtl="0">
                        <a:spcBef>
                          <a:spcPts val="0"/>
                        </a:spcBef>
                        <a:spcAft>
                          <a:spcPts val="0"/>
                        </a:spcAft>
                        <a:buNone/>
                      </a:pPr>
                      <a:r>
                        <a:rPr lang="en-US" sz="800" b="1" dirty="0"/>
                        <a:t>TJ841</a:t>
                      </a:r>
                    </a:p>
                  </a:txBody>
                  <a:tcPr marL="36000" marR="36000" marT="36000" marB="36000" anchor="ctr"/>
                </a:tc>
                <a:tc>
                  <a:txBody>
                    <a:bodyPr/>
                    <a:lstStyle/>
                    <a:p>
                      <a:pPr marL="0" marR="0" lvl="0" indent="0" algn="ctr" rtl="0">
                        <a:spcBef>
                          <a:spcPts val="0"/>
                        </a:spcBef>
                        <a:spcAft>
                          <a:spcPts val="0"/>
                        </a:spcAft>
                        <a:buNone/>
                      </a:pPr>
                      <a:r>
                        <a:rPr lang="en-US" sz="800" b="1" dirty="0"/>
                        <a:t>ILS 34R</a:t>
                      </a:r>
                      <a:r>
                        <a:rPr lang="en-US" altLang="ko-Kore-KR" sz="800" b="0" dirty="0"/>
                        <a:t>/34L</a:t>
                      </a:r>
                      <a:endParaRPr sz="800" b="1" dirty="0"/>
                    </a:p>
                  </a:txBody>
                  <a:tcPr marL="36000" marR="36000" marT="36000" marB="36000" anchor="ctr"/>
                </a:tc>
                <a:extLst>
                  <a:ext uri="{0D108BD9-81ED-4DB2-BD59-A6C34878D82A}">
                    <a16:rowId xmlns:a16="http://schemas.microsoft.com/office/drawing/2014/main" val="10002"/>
                  </a:ext>
                </a:extLst>
              </a:tr>
              <a:tr h="161029">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16L(4’)          10 499’         34R(5’)</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61029">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FF0000"/>
                          </a:solidFill>
                        </a:rPr>
                        <a:t>DIS TH</a:t>
                      </a:r>
                      <a:r>
                        <a:rPr lang="en-US" sz="800" b="0" dirty="0">
                          <a:solidFill>
                            <a:srgbClr val="00B050"/>
                          </a:solidFill>
                        </a:rPr>
                        <a:t> 16R(5’)    10499’/11811’    34L(6’)     </a:t>
                      </a:r>
                      <a:endParaRPr sz="800" b="0"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61029">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err="1">
                          <a:ln>
                            <a:noFill/>
                          </a:ln>
                          <a:solidFill>
                            <a:srgbClr val="000000"/>
                          </a:solidFill>
                          <a:effectLst/>
                          <a:uLnTx/>
                          <a:uFillTx/>
                          <a:latin typeface="Calibri"/>
                          <a:cs typeface="Calibri"/>
                          <a:sym typeface="Arial"/>
                        </a:rPr>
                        <a:t>RWxx</a:t>
                      </a: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 /8, </a:t>
                      </a:r>
                      <a:r>
                        <a:rPr kumimoji="0" lang="en-US" altLang="ko-Kore-KR" sz="800" b="1" i="0" u="none" strike="noStrike" kern="0" cap="none" spc="0" normalizeH="0" baseline="0" noProof="0" dirty="0" err="1">
                          <a:ln>
                            <a:noFill/>
                          </a:ln>
                          <a:solidFill>
                            <a:srgbClr val="0070C0"/>
                          </a:solidFill>
                          <a:effectLst/>
                          <a:uLnTx/>
                          <a:uFillTx/>
                          <a:latin typeface="Calibri"/>
                          <a:cs typeface="Calibri"/>
                          <a:sym typeface="Arial"/>
                        </a:rPr>
                        <a:t>RWxx</a:t>
                      </a: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 /6 </a:t>
                      </a:r>
                      <a:r>
                        <a:rPr kumimoji="0" lang="en-US" altLang="ko-Kore-KR" sz="800" b="1" i="0" u="none" strike="noStrike" kern="0" cap="none" spc="0" normalizeH="0" baseline="0" noProof="0">
                          <a:ln>
                            <a:noFill/>
                          </a:ln>
                          <a:solidFill>
                            <a:srgbClr val="0070C0"/>
                          </a:solidFill>
                          <a:effectLst/>
                          <a:uLnTx/>
                          <a:uFillTx/>
                          <a:latin typeface="Calibri"/>
                          <a:cs typeface="Calibri"/>
                          <a:sym typeface="Arial"/>
                        </a:rPr>
                        <a:t>160kts</a:t>
                      </a:r>
                      <a:r>
                        <a:rPr kumimoji="0" lang="en-US" altLang="ko-KR" sz="800" b="1" i="0" u="none" strike="noStrike" kern="0" cap="none" spc="0" normalizeH="0" baseline="0" noProof="0">
                          <a:ln>
                            <a:noFill/>
                          </a:ln>
                          <a:solidFill>
                            <a:srgbClr val="0070C0"/>
                          </a:solidFill>
                          <a:effectLst/>
                          <a:uLnTx/>
                          <a:uFillTx/>
                          <a:latin typeface="Calibri"/>
                          <a:cs typeface="Calibri"/>
                          <a:sym typeface="Arial"/>
                        </a:rPr>
                        <a:t>(JEPP REF)</a:t>
                      </a:r>
                      <a:r>
                        <a:rPr kumimoji="0" lang="en-US" altLang="ko-Kore-KR" sz="800" b="1" i="0" u="none" strike="noStrike" kern="0" cap="none" spc="0" normalizeH="0" baseline="0" noProof="0">
                          <a:ln>
                            <a:noFill/>
                          </a:ln>
                          <a:solidFill>
                            <a:srgbClr val="0070C0"/>
                          </a:solidFill>
                          <a:effectLst/>
                          <a:uLnTx/>
                          <a:uFillTx/>
                          <a:latin typeface="Calibri"/>
                          <a:cs typeface="Calibri"/>
                          <a:sym typeface="Arial"/>
                        </a:rPr>
                        <a:t> </a:t>
                      </a:r>
                      <a:endParaRPr b="1" dirty="0">
                        <a:solidFill>
                          <a:srgbClr val="0070C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26227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16L :W3(6269’),W2(9809’), 34R :W7(6443’),W8(7591’)</a:t>
                      </a:r>
                      <a:endParaRPr sz="800" b="1"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16R :B4(5177’),B3(7191’), 34L :B5(5183’),B6(7201’)</a:t>
                      </a:r>
                      <a:r>
                        <a:rPr lang="en-US" sz="800" b="1" dirty="0">
                          <a:solidFill>
                            <a:schemeClr val="dk1"/>
                          </a:solidFill>
                        </a:rPr>
                        <a:t> </a:t>
                      </a:r>
                      <a:endParaRPr b="1"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2891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Follow me car on D, TAXI SPD Max 27kts</a:t>
                      </a:r>
                      <a:endParaRPr lang="en-US" altLang="ko-KR" sz="800"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840082249"/>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ZBTJ(TSN) 6ft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Air China Tianjin</a:t>
                      </a:r>
                    </a:p>
                    <a:p>
                      <a:pPr marL="0" marR="0" lvl="0" indent="0" algn="ctr" rtl="0">
                        <a:spcBef>
                          <a:spcPts val="0"/>
                        </a:spcBef>
                        <a:spcAft>
                          <a:spcPts val="0"/>
                        </a:spcAft>
                        <a:buNone/>
                      </a:pPr>
                      <a:r>
                        <a:rPr lang="en-US" sz="900" dirty="0"/>
                        <a:t>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A2CF453-B95D-2D55-3B07-D90D56DCEB3B}"/>
              </a:ext>
            </a:extLst>
          </p:cNvPr>
          <p:cNvSpPr/>
          <p:nvPr/>
        </p:nvSpPr>
        <p:spPr>
          <a:xfrm>
            <a:off x="1651787" y="325670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3255610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4" name="직사각형 3">
            <a:hlinkClick r:id="" action="ppaction://hlinkshowjump?jump=firstslide"/>
            <a:extLst>
              <a:ext uri="{FF2B5EF4-FFF2-40B4-BE49-F238E27FC236}">
                <a16:creationId xmlns:a16="http://schemas.microsoft.com/office/drawing/2014/main" id="{1FA0CAED-C5B8-22A0-6822-26CDA4767514}"/>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3442580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4116751183"/>
              </p:ext>
            </p:extLst>
          </p:nvPr>
        </p:nvGraphicFramePr>
        <p:xfrm>
          <a:off x="-3431" y="676135"/>
          <a:ext cx="2335723" cy="1792570"/>
        </p:xfrm>
        <a:graphic>
          <a:graphicData uri="http://schemas.openxmlformats.org/drawingml/2006/table">
            <a:tbl>
              <a:tblPr firstRow="1" bandRow="1">
                <a:noFill/>
                <a:tableStyleId>{A521BE36-7E6F-4EC9-8D66-1CF97A6895EC}</a:tableStyleId>
              </a:tblPr>
              <a:tblGrid>
                <a:gridCol w="309170">
                  <a:extLst>
                    <a:ext uri="{9D8B030D-6E8A-4147-A177-3AD203B41FA5}">
                      <a16:colId xmlns:a16="http://schemas.microsoft.com/office/drawing/2014/main" val="20000"/>
                    </a:ext>
                  </a:extLst>
                </a:gridCol>
                <a:gridCol w="171299">
                  <a:extLst>
                    <a:ext uri="{9D8B030D-6E8A-4147-A177-3AD203B41FA5}">
                      <a16:colId xmlns:a16="http://schemas.microsoft.com/office/drawing/2014/main" val="20002"/>
                    </a:ext>
                  </a:extLst>
                </a:gridCol>
                <a:gridCol w="490116">
                  <a:extLst>
                    <a:ext uri="{9D8B030D-6E8A-4147-A177-3AD203B41FA5}">
                      <a16:colId xmlns:a16="http://schemas.microsoft.com/office/drawing/2014/main" val="20003"/>
                    </a:ext>
                  </a:extLst>
                </a:gridCol>
                <a:gridCol w="107964">
                  <a:extLst>
                    <a:ext uri="{9D8B030D-6E8A-4147-A177-3AD203B41FA5}">
                      <a16:colId xmlns:a16="http://schemas.microsoft.com/office/drawing/2014/main" val="488815992"/>
                    </a:ext>
                  </a:extLst>
                </a:gridCol>
                <a:gridCol w="167528">
                  <a:extLst>
                    <a:ext uri="{9D8B030D-6E8A-4147-A177-3AD203B41FA5}">
                      <a16:colId xmlns:a16="http://schemas.microsoft.com/office/drawing/2014/main" val="20005"/>
                    </a:ext>
                  </a:extLst>
                </a:gridCol>
                <a:gridCol w="310662">
                  <a:extLst>
                    <a:ext uri="{9D8B030D-6E8A-4147-A177-3AD203B41FA5}">
                      <a16:colId xmlns:a16="http://schemas.microsoft.com/office/drawing/2014/main" val="20006"/>
                    </a:ext>
                  </a:extLst>
                </a:gridCol>
                <a:gridCol w="155652">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9">
                  <a:txBody>
                    <a:bodyPr/>
                    <a:lstStyle/>
                    <a:p>
                      <a:pPr marL="0" marR="0" lvl="0" indent="0" algn="ctr" rtl="0">
                        <a:spcBef>
                          <a:spcPts val="0"/>
                        </a:spcBef>
                        <a:spcAft>
                          <a:spcPts val="0"/>
                        </a:spcAft>
                        <a:buNone/>
                      </a:pPr>
                      <a:r>
                        <a:rPr lang="en-US" sz="800" u="none" strike="noStrike" cap="none" dirty="0"/>
                        <a:t>TSN : SID (NADP 1)  </a:t>
                      </a:r>
                      <a:r>
                        <a:rPr lang="en-US" sz="800" u="none" strike="noStrike" cap="none" dirty="0">
                          <a:solidFill>
                            <a:schemeClr val="accent4"/>
                          </a:solidFill>
                        </a:rPr>
                        <a:t>Caution 600</a:t>
                      </a:r>
                      <a:r>
                        <a:rPr lang="en-US" altLang="ko-KR" sz="800" u="none" strike="noStrike" cap="none" dirty="0">
                          <a:solidFill>
                            <a:schemeClr val="accent4"/>
                          </a:solidFill>
                        </a:rPr>
                        <a:t>m Level Off – SPD Inc</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16R</a:t>
                      </a:r>
                      <a:endParaRPr lang="en-US" sz="800" b="1" u="none" strike="noStrike" cap="none" dirty="0"/>
                    </a:p>
                    <a:p>
                      <a:pPr marL="0" marR="0" lvl="0" indent="0" algn="ctr" rtl="0">
                        <a:spcBef>
                          <a:spcPts val="0"/>
                        </a:spcBef>
                        <a:spcAft>
                          <a:spcPts val="0"/>
                        </a:spcAft>
                        <a:buNone/>
                      </a:pPr>
                      <a:r>
                        <a:rPr lang="en-US" sz="800" b="0" u="none" strike="noStrike" cap="none" dirty="0"/>
                        <a:t>/16L</a:t>
                      </a:r>
                      <a:endParaRPr sz="800" b="0" u="none" strike="noStrike" cap="none" dirty="0"/>
                    </a:p>
                  </a:txBody>
                  <a:tcPr marL="36000" marR="36000" marT="36000" marB="36000" anchor="ctr"/>
                </a:tc>
                <a:tc gridSpan="2">
                  <a:txBody>
                    <a:bodyPr/>
                    <a:lstStyle/>
                    <a:p>
                      <a:pPr algn="ctr"/>
                      <a:r>
                        <a:rPr lang="en-US" sz="800" b="1" u="none" strike="noStrike" cap="none" dirty="0">
                          <a:solidFill>
                            <a:srgbClr val="0070C0"/>
                          </a:solidFill>
                        </a:rPr>
                        <a:t>MUGLO </a:t>
                      </a:r>
                      <a:r>
                        <a:rPr lang="en-US" sz="800" b="1" u="none" strike="noStrike" cap="none" dirty="0" err="1">
                          <a:solidFill>
                            <a:srgbClr val="0070C0"/>
                          </a:solidFill>
                        </a:rPr>
                        <a:t>xT</a:t>
                      </a:r>
                      <a:endParaRPr lang="ko-Kore-KR" dirty="0"/>
                    </a:p>
                  </a:txBody>
                  <a:tcPr marL="36000" marR="36000" marT="36000" marB="36000" anchor="ctr"/>
                </a:tc>
                <a:tc hMerge="1">
                  <a:txBody>
                    <a:bodyPr/>
                    <a:lstStyle/>
                    <a:p>
                      <a:endParaRPr lang="ko-Kore-KR"/>
                    </a:p>
                  </a:txBody>
                  <a:tcPr/>
                </a:tc>
                <a:tc gridSpan="2">
                  <a:txBody>
                    <a:bodyPr/>
                    <a:lstStyle/>
                    <a:p>
                      <a:pPr algn="ctr"/>
                      <a:r>
                        <a:rPr lang="en-US" altLang="ko-Kore-KR" sz="800" b="1" u="none" strike="noStrike" cap="none">
                          <a:solidFill>
                            <a:srgbClr val="C00000"/>
                          </a:solidFill>
                        </a:rPr>
                        <a:t>161</a:t>
                      </a:r>
                      <a:endParaRPr lang="ko-Kore-KR"/>
                    </a:p>
                  </a:txBody>
                  <a:tcPr marL="36000" marR="36000" marT="36000" marB="36000" anchor="ctr"/>
                </a:tc>
                <a:tc hMerge="1">
                  <a:txBody>
                    <a:bodyPr/>
                    <a:lstStyle/>
                    <a:p>
                      <a:r>
                        <a:rPr lang="en-US" altLang="ko-Kore-KR" sz="800" b="1" u="none" strike="noStrike" cap="none">
                          <a:solidFill>
                            <a:srgbClr val="C00000"/>
                          </a:solidFill>
                        </a:rPr>
                        <a:t>161</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161</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600m</a:t>
                      </a:r>
                    </a:p>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161</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34L</a:t>
                      </a:r>
                    </a:p>
                    <a:p>
                      <a:pPr marL="0" marR="0" lvl="0" indent="0" algn="ctr" rtl="0">
                        <a:spcBef>
                          <a:spcPts val="0"/>
                        </a:spcBef>
                        <a:spcAft>
                          <a:spcPts val="0"/>
                        </a:spcAft>
                        <a:buNone/>
                      </a:pPr>
                      <a:r>
                        <a:rPr lang="en-US" sz="800" b="0" u="none" strike="noStrike" cap="none" dirty="0"/>
                        <a:t>/34R</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MUGLO </a:t>
                      </a:r>
                      <a:r>
                        <a:rPr lang="en-US" altLang="ko-Kore-KR" sz="800" b="1" u="none" strike="noStrike" cap="none" dirty="0" err="1">
                          <a:solidFill>
                            <a:srgbClr val="0070C0"/>
                          </a:solidFill>
                        </a:rPr>
                        <a:t>xW</a:t>
                      </a:r>
                      <a:r>
                        <a:rPr lang="en-US" altLang="ko-Kore-KR" sz="800" b="1" u="none" strike="noStrike" cap="none" dirty="0">
                          <a:solidFill>
                            <a:srgbClr val="0070C0"/>
                          </a:solidFill>
                        </a:rPr>
                        <a:t>/R</a:t>
                      </a:r>
                    </a:p>
                  </a:txBody>
                  <a:tcPr marL="36000" marR="36000" marT="36000" marB="36000" anchor="ctr"/>
                </a:tc>
                <a:tc hMerge="1">
                  <a:txBody>
                    <a:bodyPr/>
                    <a:lstStyle/>
                    <a:p>
                      <a:endParaRPr lang="ko-Kore-KR"/>
                    </a:p>
                  </a:txBody>
                  <a:tcPr/>
                </a:tc>
                <a:tc gridSpan="2">
                  <a:txBody>
                    <a:bodyPr/>
                    <a:lstStyle/>
                    <a:p>
                      <a:pPr algn="ctr"/>
                      <a:r>
                        <a:rPr lang="en-US" altLang="ko-Kore-KR" sz="800" b="1" u="none" strike="noStrike" cap="none">
                          <a:solidFill>
                            <a:srgbClr val="C00000"/>
                          </a:solidFill>
                        </a:rPr>
                        <a:t>341</a:t>
                      </a:r>
                      <a:endParaRPr lang="en-US" altLang="ko-Kore-KR" sz="800" b="0" u="none" strike="noStrike" cap="none" dirty="0">
                        <a:solidFill>
                          <a:srgbClr val="0070C0"/>
                        </a:solidFill>
                      </a:endParaRPr>
                    </a:p>
                  </a:txBody>
                  <a:tcPr marL="36000" marR="36000" marT="36000" marB="36000" anchor="ctr"/>
                </a:tc>
                <a:tc hMerge="1">
                  <a:txBody>
                    <a:bodyPr/>
                    <a:lstStyle/>
                    <a:p>
                      <a:r>
                        <a:rPr lang="en-US" altLang="ko-Kore-KR" sz="800" b="1" u="none" strike="noStrike" cap="none">
                          <a:solidFill>
                            <a:srgbClr val="C00000"/>
                          </a:solidFill>
                        </a:rPr>
                        <a:t>341</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341</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600m</a:t>
                      </a:r>
                    </a:p>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341</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TAJ 112.1</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16L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109.7</a:t>
                      </a:r>
                      <a:endParaRPr dirty="0"/>
                    </a:p>
                  </a:txBody>
                  <a:tcPr marL="36000" marR="36000" marT="36000" marB="36000" anchor="ctr"/>
                </a:tc>
                <a:tc gridSpan="3">
                  <a:txBody>
                    <a:bodyPr/>
                    <a:lstStyle/>
                    <a:p>
                      <a:pPr marL="0" marR="0" lvl="0" indent="0" algn="ctr" rtl="0">
                        <a:lnSpc>
                          <a:spcPct val="100000"/>
                        </a:lnSpc>
                        <a:spcBef>
                          <a:spcPts val="0"/>
                        </a:spcBef>
                        <a:spcAft>
                          <a:spcPts val="0"/>
                        </a:spcAft>
                        <a:buClr>
                          <a:srgbClr val="C00000"/>
                        </a:buClr>
                        <a:buSzPts val="800"/>
                        <a:buFont typeface="Calibri"/>
                        <a:buNone/>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34R 111.5</a:t>
                      </a:r>
                      <a:endParaRPr dirty="0"/>
                    </a:p>
                  </a:txBody>
                  <a:tcPr marL="36000" marR="36000" marT="36000" marB="36000" anchor="ctr"/>
                </a:tc>
                <a:tc hMerge="1">
                  <a:txBody>
                    <a:bodyPr/>
                    <a:lstStyle/>
                    <a:p>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lang="ko-Kore-KR" dirty="0"/>
                    </a:p>
                  </a:txBody>
                  <a:tcPr marL="36000" marR="36000" marT="36000" marB="36000" anchor="ct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16R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110.9</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34L 110.5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16R(5’)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16L(4’)</a:t>
                      </a:r>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lang="en-US" sz="800" b="0" u="none" strike="noStrike" cap="none" dirty="0">
                        <a:solidFill>
                          <a:srgbClr val="00B050"/>
                        </a:solidFill>
                        <a:latin typeface="Calibri"/>
                        <a:ea typeface="Calibri"/>
                        <a:cs typeface="Calibri"/>
                        <a:sym typeface="Calibri"/>
                      </a:endParaRP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11811’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10499</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34L(6’)</a:t>
                      </a:r>
                    </a:p>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34R(5’)</a:t>
                      </a: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15700">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16R : Do not pass A11 </a:t>
                      </a:r>
                    </a:p>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Confirm Parking Brake Release before Push back</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515392825"/>
              </p:ext>
            </p:extLst>
          </p:nvPr>
        </p:nvGraphicFramePr>
        <p:xfrm>
          <a:off x="-2501" y="16504"/>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ZBTJ(TSN) 6ft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Air China Tianjin 132.0</a:t>
                      </a:r>
                      <a:endParaRPr sz="1200" dirty="0"/>
                    </a:p>
                    <a:p>
                      <a:pPr marL="0" marR="0" lvl="0" indent="0" algn="ctr" rtl="0">
                        <a:spcBef>
                          <a:spcPts val="0"/>
                        </a:spcBef>
                        <a:spcAft>
                          <a:spcPts val="0"/>
                        </a:spcAft>
                        <a:buNone/>
                      </a:pPr>
                      <a:r>
                        <a:rPr lang="en-US" sz="700" dirty="0">
                          <a:solidFill>
                            <a:srgbClr val="FF0000"/>
                          </a:solidFill>
                        </a:rPr>
                        <a:t>DCL 30</a:t>
                      </a:r>
                      <a:r>
                        <a:rPr lang="ko-KR" altLang="en-US" sz="700" dirty="0">
                          <a:solidFill>
                            <a:srgbClr val="FF0000"/>
                          </a:solidFill>
                        </a:rPr>
                        <a:t>분전</a:t>
                      </a:r>
                      <a:r>
                        <a:rPr lang="en-US" altLang="ko-KR" sz="700" dirty="0">
                          <a:solidFill>
                            <a:srgbClr val="FF0000"/>
                          </a:solidFill>
                        </a:rPr>
                        <a:t>,</a:t>
                      </a:r>
                      <a:r>
                        <a:rPr lang="ko-KR" altLang="en-US" sz="700" dirty="0">
                          <a:solidFill>
                            <a:srgbClr val="FF0000"/>
                          </a:solidFill>
                        </a:rPr>
                        <a:t> </a:t>
                      </a:r>
                      <a:r>
                        <a:rPr lang="en-US" altLang="ko-KR" sz="700" dirty="0">
                          <a:solidFill>
                            <a:srgbClr val="FF0000"/>
                          </a:solidFill>
                        </a:rPr>
                        <a:t>Voice 10</a:t>
                      </a:r>
                      <a:r>
                        <a:rPr lang="ko-KR" altLang="en-US" sz="700" dirty="0">
                          <a:solidFill>
                            <a:srgbClr val="FF0000"/>
                          </a:solidFill>
                        </a:rPr>
                        <a:t>분전</a:t>
                      </a:r>
                      <a:endParaRPr lang="en-US" altLang="ko-KR" sz="700" dirty="0">
                        <a:solidFill>
                          <a:srgbClr val="FF0000"/>
                        </a:solidFill>
                      </a:endParaRPr>
                    </a:p>
                    <a:p>
                      <a:pPr marL="0" marR="0" lvl="0" indent="0" algn="ctr" rtl="0">
                        <a:spcBef>
                          <a:spcPts val="0"/>
                        </a:spcBef>
                        <a:spcAft>
                          <a:spcPts val="0"/>
                        </a:spcAft>
                        <a:buNone/>
                      </a:pPr>
                      <a:r>
                        <a:rPr lang="en-US" altLang="ko-KR" sz="700" dirty="0">
                          <a:solidFill>
                            <a:srgbClr val="FF0000"/>
                          </a:solidFill>
                        </a:rPr>
                        <a:t>(Read Back!)</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20971" y="2439767"/>
            <a:ext cx="1226618"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125.6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123.2 – </a:t>
            </a:r>
            <a:r>
              <a:rPr kumimoji="1" lang="en-US" altLang="ko-Kore-KR" sz="700" b="1" u="sng" dirty="0">
                <a:solidFill>
                  <a:srgbClr val="0070C0"/>
                </a:solidFill>
                <a:latin typeface="Gulim" panose="020B0600000101010101" pitchFamily="34" charset="-127"/>
                <a:ea typeface="Gulim" panose="020B0600000101010101" pitchFamily="34" charset="-127"/>
              </a:rPr>
              <a:t>132.95</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128.7 – APP 119.75</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6" name="직사각형 5">
            <a:hlinkClick r:id="" action="ppaction://hlinkshowjump?jump=firstslide"/>
            <a:extLst>
              <a:ext uri="{FF2B5EF4-FFF2-40B4-BE49-F238E27FC236}">
                <a16:creationId xmlns:a16="http://schemas.microsoft.com/office/drawing/2014/main" id="{1C874613-6EE6-9A80-422F-0BB8DBCAA89B}"/>
              </a:ext>
            </a:extLst>
          </p:cNvPr>
          <p:cNvSpPr/>
          <p:nvPr/>
        </p:nvSpPr>
        <p:spPr>
          <a:xfrm>
            <a:off x="1663361" y="3072038"/>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137388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838" y="3192214"/>
            <a:ext cx="2517036"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128.7 – DLC 132.95- </a:t>
            </a:r>
            <a:r>
              <a:rPr kumimoji="1" lang="en-US" altLang="ko-Kore-KR" sz="700" b="1" u="sng" dirty="0">
                <a:solidFill>
                  <a:srgbClr val="0070C0"/>
                </a:solidFill>
                <a:latin typeface="Gulim" panose="020B0600000101010101" pitchFamily="34" charset="-127"/>
                <a:ea typeface="Gulim" panose="020B0600000101010101" pitchFamily="34" charset="-127"/>
              </a:rPr>
              <a:t>TAO 133.05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128.55 - 128.15 – PEK 127.35 – TAO 128.35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CGO 119.35 – 120.72 - APP 126.35</a:t>
            </a:r>
            <a:endParaRPr kumimoji="1" lang="en-US" altLang="ko-Kore-KR" sz="700" b="1" u="sng" dirty="0">
              <a:solidFill>
                <a:srgbClr val="FF0000"/>
              </a:solidFill>
              <a:latin typeface="Gulim" panose="020B0600000101010101" pitchFamily="34" charset="-127"/>
              <a:ea typeface="Gulim" panose="020B0600000101010101" pitchFamily="34" charset="-127"/>
            </a:endParaRPr>
          </a:p>
        </p:txBody>
      </p:sp>
      <p:graphicFrame>
        <p:nvGraphicFramePr>
          <p:cNvPr id="291" name="Google Shape;291;p18"/>
          <p:cNvGraphicFramePr/>
          <p:nvPr/>
        </p:nvGraphicFramePr>
        <p:xfrm>
          <a:off x="0" y="62890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488881374"/>
              </p:ext>
            </p:extLst>
          </p:nvPr>
        </p:nvGraphicFramePr>
        <p:xfrm>
          <a:off x="0" y="3759696"/>
          <a:ext cx="2333879" cy="1795925"/>
        </p:xfrm>
        <a:graphic>
          <a:graphicData uri="http://schemas.openxmlformats.org/drawingml/2006/table">
            <a:tbl>
              <a:tblPr firstRow="1" bandRow="1">
                <a:noFill/>
                <a:tableStyleId>{A521BE36-7E6F-4EC9-8D66-1CF97A6895EC}</a:tableStyleId>
              </a:tblPr>
              <a:tblGrid>
                <a:gridCol w="476174">
                  <a:extLst>
                    <a:ext uri="{9D8B030D-6E8A-4147-A177-3AD203B41FA5}">
                      <a16:colId xmlns:a16="http://schemas.microsoft.com/office/drawing/2014/main" val="20000"/>
                    </a:ext>
                  </a:extLst>
                </a:gridCol>
                <a:gridCol w="771957">
                  <a:extLst>
                    <a:ext uri="{9D8B030D-6E8A-4147-A177-3AD203B41FA5}">
                      <a16:colId xmlns:a16="http://schemas.microsoft.com/office/drawing/2014/main" val="20001"/>
                    </a:ext>
                  </a:extLst>
                </a:gridCol>
                <a:gridCol w="388907">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0">
                <a:tc gridSpan="4">
                  <a:txBody>
                    <a:bodyPr/>
                    <a:lstStyle/>
                    <a:p>
                      <a:pPr marL="0" marR="0" lvl="0" indent="0" algn="ctr" rtl="0">
                        <a:spcBef>
                          <a:spcPts val="0"/>
                        </a:spcBef>
                        <a:spcAft>
                          <a:spcPts val="0"/>
                        </a:spcAft>
                        <a:buNone/>
                      </a:pPr>
                      <a:r>
                        <a:rPr lang="en-US" altLang="ko-KR" sz="800" dirty="0"/>
                        <a:t>CGO</a:t>
                      </a:r>
                      <a:r>
                        <a:rPr lang="en-US" sz="800" dirty="0"/>
                        <a:t> : STAR   </a:t>
                      </a:r>
                      <a:r>
                        <a:rPr lang="en-US" sz="800" dirty="0" err="1">
                          <a:solidFill>
                            <a:srgbClr val="7030A0"/>
                          </a:solidFill>
                        </a:rPr>
                        <a:t>xxL</a:t>
                      </a:r>
                      <a:r>
                        <a:rPr lang="en-US" sz="800" dirty="0">
                          <a:solidFill>
                            <a:srgbClr val="7030A0"/>
                          </a:solidFill>
                        </a:rPr>
                        <a:t>/R L/D RWY Freq CHG ATIS</a:t>
                      </a:r>
                    </a:p>
                    <a:p>
                      <a:pPr marL="0" marR="0" lvl="0" indent="0" algn="ctr" rtl="0">
                        <a:spcBef>
                          <a:spcPts val="0"/>
                        </a:spcBef>
                        <a:spcAft>
                          <a:spcPts val="0"/>
                        </a:spcAft>
                        <a:buNone/>
                      </a:pPr>
                      <a:r>
                        <a:rPr lang="en-US" sz="800" dirty="0">
                          <a:solidFill>
                            <a:schemeClr val="accent4"/>
                          </a:solidFill>
                        </a:rPr>
                        <a:t>(Caution 12R/30L LOC false Capture, Fluctuation)</a:t>
                      </a:r>
                      <a:endParaRPr sz="800" b="0" dirty="0">
                        <a:solidFill>
                          <a:schemeClr val="accent4"/>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13864">
                <a:tc>
                  <a:txBody>
                    <a:bodyPr/>
                    <a:lstStyle/>
                    <a:p>
                      <a:pPr marL="0" marR="0" lvl="0" indent="0" algn="ctr" rtl="0">
                        <a:spcBef>
                          <a:spcPts val="0"/>
                        </a:spcBef>
                        <a:spcAft>
                          <a:spcPts val="0"/>
                        </a:spcAft>
                        <a:buNone/>
                      </a:pPr>
                      <a:r>
                        <a:rPr lang="en-US" sz="800" b="1" dirty="0"/>
                        <a:t>1</a:t>
                      </a:r>
                      <a:r>
                        <a:rPr lang="en-US" altLang="ko-KR" sz="800" b="1" dirty="0"/>
                        <a:t>2L</a:t>
                      </a:r>
                      <a:r>
                        <a:rPr lang="en-US" sz="800" b="0" dirty="0"/>
                        <a:t>/12R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NOP </a:t>
                      </a:r>
                      <a:r>
                        <a:rPr lang="en-US" sz="800" b="1" dirty="0" err="1"/>
                        <a:t>xxU</a:t>
                      </a:r>
                      <a:r>
                        <a:rPr lang="en-US" sz="800" b="1" dirty="0"/>
                        <a:t> RNAV</a:t>
                      </a:r>
                    </a:p>
                  </a:txBody>
                  <a:tcPr marL="36000" marR="36000" marT="36000" marB="36000" anchor="ctr"/>
                </a:tc>
                <a:tc>
                  <a:txBody>
                    <a:bodyPr/>
                    <a:lstStyle/>
                    <a:p>
                      <a:pPr marL="0" marR="0" lvl="0" indent="0" algn="ctr" rtl="0">
                        <a:spcBef>
                          <a:spcPts val="0"/>
                        </a:spcBef>
                        <a:spcAft>
                          <a:spcPts val="0"/>
                        </a:spcAft>
                        <a:buNone/>
                      </a:pPr>
                      <a:r>
                        <a:rPr lang="en-US" sz="800" b="1" dirty="0"/>
                        <a:t>DZY</a:t>
                      </a:r>
                    </a:p>
                  </a:txBody>
                  <a:tcPr marL="36000" marR="36000" marT="36000" marB="36000" anchor="ctr"/>
                </a:tc>
                <a:tc>
                  <a:txBody>
                    <a:bodyPr/>
                    <a:lstStyle/>
                    <a:p>
                      <a:pPr marL="0" marR="0" lvl="0" indent="0" algn="ctr" rtl="0">
                        <a:spcBef>
                          <a:spcPts val="0"/>
                        </a:spcBef>
                        <a:spcAft>
                          <a:spcPts val="0"/>
                        </a:spcAft>
                        <a:buNone/>
                      </a:pPr>
                      <a:r>
                        <a:rPr lang="en-US" sz="800" b="1" dirty="0"/>
                        <a:t>ILS Z 12L</a:t>
                      </a:r>
                      <a:r>
                        <a:rPr lang="en-US" sz="800" b="0" dirty="0"/>
                        <a:t>/12R</a:t>
                      </a:r>
                    </a:p>
                  </a:txBody>
                  <a:tcPr marL="36000" marR="36000" marT="36000" marB="36000" anchor="ctr"/>
                </a:tc>
                <a:extLst>
                  <a:ext uri="{0D108BD9-81ED-4DB2-BD59-A6C34878D82A}">
                    <a16:rowId xmlns:a16="http://schemas.microsoft.com/office/drawing/2014/main" val="10001"/>
                  </a:ext>
                </a:extLst>
              </a:tr>
              <a:tr h="143270">
                <a:tc>
                  <a:txBody>
                    <a:bodyPr/>
                    <a:lstStyle/>
                    <a:p>
                      <a:pPr marL="0" marR="0" lvl="0" indent="0" algn="ctr" rtl="0">
                        <a:spcBef>
                          <a:spcPts val="0"/>
                        </a:spcBef>
                        <a:spcAft>
                          <a:spcPts val="0"/>
                        </a:spcAft>
                        <a:buNone/>
                      </a:pPr>
                      <a:r>
                        <a:rPr lang="en-US" sz="800" b="1" dirty="0"/>
                        <a:t>30L</a:t>
                      </a:r>
                      <a:r>
                        <a:rPr lang="en-US" sz="800" b="0" dirty="0"/>
                        <a:t>/30R</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NOP </a:t>
                      </a:r>
                      <a:r>
                        <a:rPr lang="en-US" altLang="ko-Kore-KR" sz="800" b="1" dirty="0" err="1"/>
                        <a:t>xxV</a:t>
                      </a:r>
                      <a:r>
                        <a:rPr lang="en-US" altLang="ko-Kore-KR" sz="800" b="1" dirty="0"/>
                        <a:t> RNAV</a:t>
                      </a:r>
                    </a:p>
                  </a:txBody>
                  <a:tcPr marL="36000" marR="36000" marT="36000" marB="36000" anchor="ctr"/>
                </a:tc>
                <a:tc>
                  <a:txBody>
                    <a:bodyPr/>
                    <a:lstStyle/>
                    <a:p>
                      <a:pPr marL="0" marR="0" lvl="0" indent="0" algn="ctr" rtl="0">
                        <a:spcBef>
                          <a:spcPts val="0"/>
                        </a:spcBef>
                        <a:spcAft>
                          <a:spcPts val="0"/>
                        </a:spcAft>
                        <a:buNone/>
                      </a:pPr>
                      <a:r>
                        <a:rPr lang="en-US" sz="800" b="1" dirty="0"/>
                        <a:t>CC527</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30L</a:t>
                      </a:r>
                      <a:r>
                        <a:rPr lang="en-US" altLang="ko-Kore-KR" sz="800" b="0" dirty="0"/>
                        <a:t>/30R</a:t>
                      </a:r>
                      <a:endParaRPr sz="800" b="1" dirty="0"/>
                    </a:p>
                  </a:txBody>
                  <a:tcPr marL="36000" marR="36000" marT="36000" marB="36000" anchor="ctr"/>
                </a:tc>
                <a:extLst>
                  <a:ext uri="{0D108BD9-81ED-4DB2-BD59-A6C34878D82A}">
                    <a16:rowId xmlns:a16="http://schemas.microsoft.com/office/drawing/2014/main" val="10002"/>
                  </a:ext>
                </a:extLst>
              </a:tr>
              <a:tr h="169791">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12L(496’)          11811’         30R(484’)</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69791">
                <a:tc v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12R(494’).         11155’          30L(484’)     </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69791">
                <a:tc gridSpan="4">
                  <a:txBody>
                    <a:bodyPr/>
                    <a:lstStyle/>
                    <a:p>
                      <a:pPr marL="0" marR="0" lvl="0" indent="0" algn="l"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FIX : </a:t>
                      </a:r>
                      <a:r>
                        <a:rPr kumimoji="0" lang="en-US" altLang="ko-Kore-KR" sz="800" b="0" i="0" u="none" strike="noStrike" kern="0" cap="none" spc="0" normalizeH="0" baseline="0" noProof="0" dirty="0">
                          <a:ln>
                            <a:noFill/>
                          </a:ln>
                          <a:solidFill>
                            <a:srgbClr val="0070C0"/>
                          </a:solidFill>
                          <a:effectLst/>
                          <a:uLnTx/>
                          <a:uFillTx/>
                          <a:latin typeface="Calibri"/>
                          <a:cs typeface="Calibri"/>
                          <a:sym typeface="Arial"/>
                        </a:rPr>
                        <a:t>ILS Ident /8 (180kts) /6 (160kts) </a:t>
                      </a:r>
                      <a:r>
                        <a:rPr kumimoji="0" lang="en-US" altLang="ko-Kore-KR" sz="800" b="0" i="0" u="none" strike="noStrike" kern="0" cap="none" spc="0" normalizeH="0" baseline="0" noProof="0" dirty="0">
                          <a:ln>
                            <a:noFill/>
                          </a:ln>
                          <a:solidFill>
                            <a:srgbClr val="C00000"/>
                          </a:solidFill>
                          <a:effectLst/>
                          <a:uLnTx/>
                          <a:uFillTx/>
                          <a:latin typeface="Calibri"/>
                          <a:cs typeface="Calibri"/>
                          <a:sym typeface="Arial"/>
                        </a:rPr>
                        <a:t>APP SPD in JEPP</a:t>
                      </a:r>
                      <a:endParaRPr dirty="0">
                        <a:solidFill>
                          <a:srgbClr val="C00000"/>
                        </a:solidFill>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501193734"/>
                  </a:ext>
                </a:extLst>
              </a:tr>
              <a:tr h="276540">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12L : D7(5853’),D8(6955’), </a:t>
                      </a:r>
                      <a:r>
                        <a:rPr lang="en-US" sz="800" b="0" dirty="0">
                          <a:solidFill>
                            <a:schemeClr val="dk1"/>
                          </a:solidFill>
                        </a:rPr>
                        <a:t>30R :D6(5833’),D5(6935’)</a:t>
                      </a:r>
                      <a:endParaRPr sz="800" b="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12R :H7(5702’),H8(6883’), </a:t>
                      </a:r>
                      <a:r>
                        <a:rPr lang="en-US" sz="800" b="1" dirty="0">
                          <a:solidFill>
                            <a:schemeClr val="dk1"/>
                          </a:solidFill>
                        </a:rPr>
                        <a:t>30L :H5(5672’),H4(6932’) </a:t>
                      </a:r>
                      <a:endParaRPr b="1"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55251">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Follow me car, APU Off But 26</a:t>
                      </a:r>
                      <a:r>
                        <a:rPr lang="ko-KR" altLang="en-US" sz="800" dirty="0"/>
                        <a:t>도 이하 사용가능</a:t>
                      </a:r>
                      <a:endParaRPr lang="en-US" altLang="ko-KR" sz="800"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846113286"/>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ZHCC(CGO) </a:t>
                      </a:r>
                      <a:r>
                        <a:rPr lang="en-US" sz="1300" dirty="0">
                          <a:solidFill>
                            <a:srgbClr val="FF0000"/>
                          </a:solidFill>
                          <a:hlinkClick r:id="rId4">
                            <a:extLst>
                              <a:ext uri="{A12FA001-AC4F-418D-AE19-62706E023703}">
                                <ahyp:hlinkClr xmlns:ahyp="http://schemas.microsoft.com/office/drawing/2018/hyperlinkcolor" val="tx"/>
                              </a:ext>
                            </a:extLst>
                          </a:hlinkClick>
                        </a:rPr>
                        <a:t>496ft</a:t>
                      </a:r>
                      <a:endParaRPr sz="13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Zhengzhou AOC</a:t>
                      </a:r>
                    </a:p>
                    <a:p>
                      <a:pPr marL="0" marR="0" lvl="0" indent="0" algn="ctr" rtl="0">
                        <a:spcBef>
                          <a:spcPts val="0"/>
                        </a:spcBef>
                        <a:spcAft>
                          <a:spcPts val="0"/>
                        </a:spcAft>
                        <a:buNone/>
                      </a:pPr>
                      <a:r>
                        <a:rPr lang="en-US" sz="900" dirty="0"/>
                        <a:t>132.0</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A2CF453-B95D-2D55-3B07-D90D56DCEB3B}"/>
              </a:ext>
            </a:extLst>
          </p:cNvPr>
          <p:cNvSpPr/>
          <p:nvPr/>
        </p:nvSpPr>
        <p:spPr>
          <a:xfrm>
            <a:off x="1657574" y="349465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CC8AB46B-539E-FFA8-5737-4E90D549BD6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54599347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4" name="직사각형 3">
            <a:hlinkClick r:id="" action="ppaction://hlinkshowjump?jump=firstslide"/>
            <a:extLst>
              <a:ext uri="{FF2B5EF4-FFF2-40B4-BE49-F238E27FC236}">
                <a16:creationId xmlns:a16="http://schemas.microsoft.com/office/drawing/2014/main" id="{1FA0CAED-C5B8-22A0-6822-26CDA4767514}"/>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87191039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1372567521"/>
              </p:ext>
            </p:extLst>
          </p:nvPr>
        </p:nvGraphicFramePr>
        <p:xfrm>
          <a:off x="-3431" y="581398"/>
          <a:ext cx="2335724" cy="1864570"/>
        </p:xfrm>
        <a:graphic>
          <a:graphicData uri="http://schemas.openxmlformats.org/drawingml/2006/table">
            <a:tbl>
              <a:tblPr firstRow="1" bandRow="1">
                <a:noFill/>
                <a:tableStyleId>{A521BE36-7E6F-4EC9-8D66-1CF97A6895EC}</a:tableStyleId>
              </a:tblPr>
              <a:tblGrid>
                <a:gridCol w="309170">
                  <a:extLst>
                    <a:ext uri="{9D8B030D-6E8A-4147-A177-3AD203B41FA5}">
                      <a16:colId xmlns:a16="http://schemas.microsoft.com/office/drawing/2014/main" val="20000"/>
                    </a:ext>
                  </a:extLst>
                </a:gridCol>
                <a:gridCol w="171299">
                  <a:extLst>
                    <a:ext uri="{9D8B030D-6E8A-4147-A177-3AD203B41FA5}">
                      <a16:colId xmlns:a16="http://schemas.microsoft.com/office/drawing/2014/main" val="20002"/>
                    </a:ext>
                  </a:extLst>
                </a:gridCol>
                <a:gridCol w="490116">
                  <a:extLst>
                    <a:ext uri="{9D8B030D-6E8A-4147-A177-3AD203B41FA5}">
                      <a16:colId xmlns:a16="http://schemas.microsoft.com/office/drawing/2014/main" val="20003"/>
                    </a:ext>
                  </a:extLst>
                </a:gridCol>
                <a:gridCol w="107964">
                  <a:extLst>
                    <a:ext uri="{9D8B030D-6E8A-4147-A177-3AD203B41FA5}">
                      <a16:colId xmlns:a16="http://schemas.microsoft.com/office/drawing/2014/main" val="488815992"/>
                    </a:ext>
                  </a:extLst>
                </a:gridCol>
                <a:gridCol w="167528">
                  <a:extLst>
                    <a:ext uri="{9D8B030D-6E8A-4147-A177-3AD203B41FA5}">
                      <a16:colId xmlns:a16="http://schemas.microsoft.com/office/drawing/2014/main" val="20005"/>
                    </a:ext>
                  </a:extLst>
                </a:gridCol>
                <a:gridCol w="76370">
                  <a:extLst>
                    <a:ext uri="{9D8B030D-6E8A-4147-A177-3AD203B41FA5}">
                      <a16:colId xmlns:a16="http://schemas.microsoft.com/office/drawing/2014/main" val="20006"/>
                    </a:ext>
                  </a:extLst>
                </a:gridCol>
                <a:gridCol w="234293">
                  <a:extLst>
                    <a:ext uri="{9D8B030D-6E8A-4147-A177-3AD203B41FA5}">
                      <a16:colId xmlns:a16="http://schemas.microsoft.com/office/drawing/2014/main" val="1210640370"/>
                    </a:ext>
                  </a:extLst>
                </a:gridCol>
                <a:gridCol w="155652">
                  <a:extLst>
                    <a:ext uri="{9D8B030D-6E8A-4147-A177-3AD203B41FA5}">
                      <a16:colId xmlns:a16="http://schemas.microsoft.com/office/drawing/2014/main" val="20007"/>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CGO : SID (NADP 1)  </a:t>
                      </a:r>
                      <a:r>
                        <a:rPr lang="en-US" sz="800" u="none" strike="noStrike" cap="none" dirty="0">
                          <a:solidFill>
                            <a:schemeClr val="accent4"/>
                          </a:solidFill>
                        </a:rPr>
                        <a:t>Lower ALT – Consider Add Fuel</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u="none" strike="noStrike" cap="none" dirty="0"/>
                        <a:t>12R</a:t>
                      </a:r>
                      <a:endParaRPr lang="en-US" sz="800" b="1" u="none" strike="noStrike" cap="none" dirty="0"/>
                    </a:p>
                    <a:p>
                      <a:pPr marL="0" marR="0" lvl="0" indent="0" algn="ctr" rtl="0">
                        <a:spcBef>
                          <a:spcPts val="0"/>
                        </a:spcBef>
                        <a:spcAft>
                          <a:spcPts val="0"/>
                        </a:spcAft>
                        <a:buNone/>
                      </a:pPr>
                      <a:r>
                        <a:rPr lang="en-US" sz="800" b="0" u="none" strike="noStrike" cap="none" dirty="0"/>
                        <a:t>/12L</a:t>
                      </a:r>
                      <a:endParaRPr sz="800" b="0" u="none" strike="noStrike" cap="none" dirty="0"/>
                    </a:p>
                  </a:txBody>
                  <a:tcPr marL="36000" marR="36000" marT="36000" marB="36000" anchor="ctr"/>
                </a:tc>
                <a:tc gridSpan="2">
                  <a:txBody>
                    <a:bodyPr/>
                    <a:lstStyle/>
                    <a:p>
                      <a:pPr algn="ctr"/>
                      <a:r>
                        <a:rPr lang="en-US" sz="800" b="1" u="none" strike="noStrike" cap="none" dirty="0">
                          <a:solidFill>
                            <a:srgbClr val="0070C0"/>
                          </a:solidFill>
                        </a:rPr>
                        <a:t>OKT </a:t>
                      </a:r>
                      <a:r>
                        <a:rPr lang="en-US" sz="800" b="1" u="none" strike="noStrike" cap="none" dirty="0" err="1">
                          <a:solidFill>
                            <a:srgbClr val="0070C0"/>
                          </a:solidFill>
                        </a:rPr>
                        <a:t>xX</a:t>
                      </a:r>
                      <a:r>
                        <a:rPr lang="en-US" sz="800" b="1" u="none" strike="noStrike" cap="none" dirty="0">
                          <a:solidFill>
                            <a:srgbClr val="0070C0"/>
                          </a:solidFill>
                        </a:rPr>
                        <a:t> RNAV</a:t>
                      </a:r>
                      <a:endParaRPr lang="ko-Kore-KR" dirty="0"/>
                    </a:p>
                  </a:txBody>
                  <a:tcPr marL="36000" marR="36000" marT="36000" marB="36000" anchor="ctr"/>
                </a:tc>
                <a:tc hMerge="1">
                  <a:txBody>
                    <a:bodyPr/>
                    <a:lstStyle/>
                    <a:p>
                      <a:endParaRPr lang="ko-Kore-KR"/>
                    </a:p>
                  </a:txBody>
                  <a:tcPr/>
                </a:tc>
                <a:tc gridSpan="2">
                  <a:txBody>
                    <a:bodyPr/>
                    <a:lstStyle/>
                    <a:p>
                      <a:pPr algn="ctr"/>
                      <a:r>
                        <a:rPr lang="en-US" altLang="ko-Kore-KR" sz="800" b="1" u="none" strike="noStrike" cap="none" dirty="0">
                          <a:solidFill>
                            <a:srgbClr val="C00000"/>
                          </a:solidFill>
                        </a:rPr>
                        <a:t>116</a:t>
                      </a:r>
                      <a:endParaRPr lang="ko-Kore-KR" dirty="0"/>
                    </a:p>
                  </a:txBody>
                  <a:tcPr marL="36000" marR="36000" marT="36000" marB="36000" anchor="ctr"/>
                </a:tc>
                <a:tc hMerge="1">
                  <a:txBody>
                    <a:bodyPr/>
                    <a:lstStyle/>
                    <a:p>
                      <a:r>
                        <a:rPr lang="en-US" altLang="ko-Kore-KR" sz="800" b="1" u="none" strike="noStrike" cap="none">
                          <a:solidFill>
                            <a:srgbClr val="C00000"/>
                          </a:solidFill>
                        </a:rPr>
                        <a:t>161</a:t>
                      </a:r>
                      <a:endParaRPr lang="ko-Kore-K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116</a:t>
                      </a:r>
                      <a:endParaRPr sz="800" b="1" u="none" strike="noStrike" cap="none"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70C0"/>
                          </a:solidFill>
                        </a:rPr>
                        <a:t>1200m</a:t>
                      </a:r>
                    </a:p>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116</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30R</a:t>
                      </a:r>
                    </a:p>
                    <a:p>
                      <a:pPr marL="0" marR="0" lvl="0" indent="0" algn="ctr" rtl="0">
                        <a:spcBef>
                          <a:spcPts val="0"/>
                        </a:spcBef>
                        <a:spcAft>
                          <a:spcPts val="0"/>
                        </a:spcAft>
                        <a:buNone/>
                      </a:pPr>
                      <a:r>
                        <a:rPr lang="en-US" sz="800" b="0" u="none" strike="noStrike" cap="none" dirty="0"/>
                        <a:t>/30L</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OKT </a:t>
                      </a:r>
                      <a:r>
                        <a:rPr lang="en-US" altLang="ko-Kore-KR" sz="800" b="1" u="none" strike="noStrike" cap="none" dirty="0" err="1">
                          <a:solidFill>
                            <a:srgbClr val="0070C0"/>
                          </a:solidFill>
                        </a:rPr>
                        <a:t>xY</a:t>
                      </a:r>
                      <a:r>
                        <a:rPr lang="en-US" altLang="ko-Kore-KR" sz="800" b="1" u="none" strike="noStrike" cap="none" dirty="0">
                          <a:solidFill>
                            <a:srgbClr val="0070C0"/>
                          </a:solidFill>
                        </a:rPr>
                        <a:t> RNAV</a:t>
                      </a:r>
                      <a:endParaRPr lang="en-US" altLang="ko-Kore-KR" sz="800" b="0"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algn="ctr"/>
                      <a:r>
                        <a:rPr lang="en-US" altLang="ko-Kore-KR" sz="800" b="1" u="none" strike="noStrike" cap="none" dirty="0">
                          <a:solidFill>
                            <a:srgbClr val="C00000"/>
                          </a:solidFill>
                        </a:rPr>
                        <a:t>296</a:t>
                      </a:r>
                      <a:endParaRPr lang="en-US" altLang="ko-Kore-KR" sz="800" b="0" u="none" strike="noStrike" cap="none" dirty="0">
                        <a:solidFill>
                          <a:srgbClr val="0070C0"/>
                        </a:solidFill>
                      </a:endParaRPr>
                    </a:p>
                  </a:txBody>
                  <a:tcPr marL="36000" marR="36000" marT="36000" marB="36000" anchor="ctr"/>
                </a:tc>
                <a:tc hMerge="1">
                  <a:txBody>
                    <a:bodyPr/>
                    <a:lstStyle/>
                    <a:p>
                      <a:r>
                        <a:rPr lang="en-US" altLang="ko-Kore-KR" sz="800" b="1" u="none" strike="noStrike" cap="none">
                          <a:solidFill>
                            <a:srgbClr val="C00000"/>
                          </a:solidFill>
                        </a:rPr>
                        <a:t>341</a:t>
                      </a:r>
                      <a:endParaRPr lang="ko-Kore-KR"/>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296</a:t>
                      </a:r>
                      <a:endParaRPr sz="800" b="1" u="none" strike="noStrike" cap="none"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70C0"/>
                          </a:solidFill>
                        </a:rPr>
                        <a:t>1200m</a:t>
                      </a:r>
                    </a:p>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296</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CGO 114.5</a:t>
                      </a:r>
                      <a:endParaRPr sz="800" b="1" u="none" strike="noStrike" cap="none"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12L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108.5</a:t>
                      </a:r>
                      <a:endParaRPr dirty="0"/>
                    </a:p>
                  </a:txBody>
                  <a:tcPr marL="36000" marR="36000" marT="36000" marB="36000" anchor="ctr"/>
                </a:tc>
                <a:tc gridSpan="4">
                  <a:txBody>
                    <a:bodyPr/>
                    <a:lstStyle/>
                    <a:p>
                      <a:pPr marL="0" marR="0" lvl="0" indent="0" algn="ctr" rtl="0">
                        <a:lnSpc>
                          <a:spcPct val="100000"/>
                        </a:lnSpc>
                        <a:spcBef>
                          <a:spcPts val="0"/>
                        </a:spcBef>
                        <a:spcAft>
                          <a:spcPts val="0"/>
                        </a:spcAft>
                        <a:buClr>
                          <a:srgbClr val="C00000"/>
                        </a:buClr>
                        <a:buSzPts val="800"/>
                        <a:buFont typeface="Calibri"/>
                        <a:buNone/>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30R 110.7</a:t>
                      </a:r>
                      <a:endParaRPr dirty="0"/>
                    </a:p>
                  </a:txBody>
                  <a:tcPr marL="36000" marR="36000" marT="36000" marB="36000" anchor="ctr"/>
                </a:tc>
                <a:tc hMerge="1">
                  <a:txBody>
                    <a:bodyPr/>
                    <a:lstStyle/>
                    <a:p>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18L 109.3</a:t>
                      </a:r>
                      <a:endParaRPr lang="ko-Kore-KR" dirty="0"/>
                    </a:p>
                  </a:txBody>
                  <a:tcPr marL="36000" marR="36000" marT="36000" marB="3600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12R </a:t>
                      </a:r>
                    </a:p>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110.3</a:t>
                      </a:r>
                      <a:endParaRPr dirty="0"/>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30L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12R(494’) </a:t>
                      </a:r>
                    </a:p>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rgbClr val="00B050"/>
                          </a:solidFill>
                          <a:latin typeface="Calibri"/>
                          <a:ea typeface="Calibri"/>
                          <a:cs typeface="Calibri"/>
                          <a:sym typeface="Calibri"/>
                        </a:rPr>
                        <a:t>12L(496’)</a:t>
                      </a:r>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lang="en-US" sz="800" b="0" u="none" strike="noStrike" cap="none" dirty="0">
                        <a:solidFill>
                          <a:srgbClr val="00B050"/>
                        </a:solidFill>
                        <a:latin typeface="Calibri"/>
                        <a:ea typeface="Calibri"/>
                        <a:cs typeface="Calibri"/>
                        <a:sym typeface="Calibri"/>
                      </a:endParaRPr>
                    </a:p>
                  </a:txBody>
                  <a:tcPr marL="36000" marR="36000" marT="36000" marB="36000" anchor="ctr"/>
                </a:tc>
                <a:tc gridSpan="4">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11155’</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11811’</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0" u="none" strike="noStrike" cap="none" dirty="0">
                          <a:solidFill>
                            <a:srgbClr val="00B050"/>
                          </a:solidFill>
                          <a:latin typeface="Calibri"/>
                          <a:ea typeface="Calibri"/>
                          <a:cs typeface="Calibri"/>
                          <a:sym typeface="Calibri"/>
                        </a:rPr>
                        <a:t>30L(484’)</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30R(484’)</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30L : CGO 296/4, R180 </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30R : CGO /4, CRS 070</a:t>
                      </a:r>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sz="800" b="0"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25082982"/>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Req Pushback to Apron 121.7</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p:cNvGraphicFramePr/>
          <p:nvPr>
            <p:extLst>
              <p:ext uri="{D42A27DB-BD31-4B8C-83A1-F6EECF244321}">
                <p14:modId xmlns:p14="http://schemas.microsoft.com/office/powerpoint/2010/main" val="3152076322"/>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ZHCC(CGO) </a:t>
                      </a:r>
                      <a:r>
                        <a:rPr lang="en-US" altLang="ko-Kore-KR" sz="1200" dirty="0">
                          <a:solidFill>
                            <a:srgbClr val="FF0000"/>
                          </a:solidFill>
                          <a:hlinkClick r:id="rId3">
                            <a:extLst>
                              <a:ext uri="{A12FA001-AC4F-418D-AE19-62706E023703}">
                                <ahyp:hlinkClr xmlns:ahyp="http://schemas.microsoft.com/office/drawing/2018/hyperlinkcolor" val="tx"/>
                              </a:ext>
                            </a:extLst>
                          </a:hlinkClick>
                        </a:rPr>
                        <a:t>496ft</a:t>
                      </a:r>
                      <a:endParaRPr lang="en-US" altLang="ko-Kore-KR" sz="1300" dirty="0">
                        <a:solidFill>
                          <a:srgbClr val="FF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Zhengzhou AOC 132.0</a:t>
                      </a:r>
                      <a:endParaRPr sz="1200" dirty="0"/>
                    </a:p>
                    <a:p>
                      <a:pPr marL="0" marR="0" lvl="0" indent="0" algn="ctr" rtl="0">
                        <a:spcBef>
                          <a:spcPts val="0"/>
                        </a:spcBef>
                        <a:spcAft>
                          <a:spcPts val="0"/>
                        </a:spcAft>
                        <a:buNone/>
                      </a:pPr>
                      <a:r>
                        <a:rPr lang="en-US" sz="700" dirty="0">
                          <a:solidFill>
                            <a:srgbClr val="FF0000"/>
                          </a:solidFill>
                        </a:rPr>
                        <a:t>DCL </a:t>
                      </a:r>
                      <a:r>
                        <a:rPr lang="en-US" altLang="ko-KR" sz="700" dirty="0">
                          <a:solidFill>
                            <a:srgbClr val="FF0000"/>
                          </a:solidFill>
                        </a:rPr>
                        <a:t>(Read Back!)</a:t>
                      </a:r>
                      <a:endParaRPr sz="700"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586954" y="2445968"/>
            <a:ext cx="1741909" cy="855482"/>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126.35</a:t>
            </a:r>
            <a:r>
              <a:rPr kumimoji="1" lang="en-US" altLang="ko-Kore-KR" sz="700" b="1" u="sng" dirty="0">
                <a:solidFill>
                  <a:srgbClr val="C00000"/>
                </a:solidFill>
                <a:latin typeface="Gulim" panose="020B0600000101010101" pitchFamily="34" charset="-127"/>
                <a:ea typeface="Gulim" panose="020B0600000101010101" pitchFamily="34" charset="-127"/>
              </a:rPr>
              <a:t>(AUTO or NOT)</a:t>
            </a:r>
            <a:r>
              <a:rPr kumimoji="1" lang="en-US" altLang="ko-Kore-KR" sz="7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CGO 124.2 – 119.35</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TAO 128.35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 – PEK 127.35 – 128.15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 132.95 - ICN 128.7</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6" name="직사각형 5">
            <a:hlinkClick r:id="" action="ppaction://hlinkshowjump?jump=firstslide"/>
            <a:extLst>
              <a:ext uri="{FF2B5EF4-FFF2-40B4-BE49-F238E27FC236}">
                <a16:creationId xmlns:a16="http://schemas.microsoft.com/office/drawing/2014/main" id="{1C874613-6EE6-9A80-422F-0BB8DBCAA89B}"/>
              </a:ext>
            </a:extLst>
          </p:cNvPr>
          <p:cNvSpPr/>
          <p:nvPr/>
        </p:nvSpPr>
        <p:spPr>
          <a:xfrm>
            <a:off x="1663361" y="3100497"/>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0F145D3-6C4D-B2CD-0787-EABF57347616}"/>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9" name="그림 8" descr="텍스트, 스크린샷, 소프트웨어, 도표이(가) 표시된 사진&#10;&#10;자동 생성된 설명">
            <a:extLst>
              <a:ext uri="{FF2B5EF4-FFF2-40B4-BE49-F238E27FC236}">
                <a16:creationId xmlns:a16="http://schemas.microsoft.com/office/drawing/2014/main" id="{98C5E6F4-394E-6412-4449-3BC7BF7D0ACF}"/>
              </a:ext>
            </a:extLst>
          </p:cNvPr>
          <p:cNvPicPr>
            <a:picLocks noChangeAspect="1"/>
          </p:cNvPicPr>
          <p:nvPr/>
        </p:nvPicPr>
        <p:blipFill rotWithShape="1">
          <a:blip r:embed="rId7"/>
          <a:srcRect l="49649" t="31341" r="20715" b="11205"/>
          <a:stretch/>
        </p:blipFill>
        <p:spPr>
          <a:xfrm>
            <a:off x="0" y="2445969"/>
            <a:ext cx="647775" cy="941858"/>
          </a:xfrm>
          <a:prstGeom prst="rect">
            <a:avLst/>
          </a:prstGeom>
        </p:spPr>
      </p:pic>
    </p:spTree>
    <p:extLst>
      <p:ext uri="{BB962C8B-B14F-4D97-AF65-F5344CB8AC3E}">
        <p14:creationId xmlns:p14="http://schemas.microsoft.com/office/powerpoint/2010/main" val="22707062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5987" y="3151645"/>
            <a:ext cx="2496196"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126.17 – 120.72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 – 120.55 – 125.32 – 132.32 - 120.1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GZU 124.9 – 133.5 - WUH 134.35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119.3 - CHS 123.9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DYG TWR 118.45</a:t>
            </a:r>
          </a:p>
        </p:txBody>
      </p:sp>
      <p:graphicFrame>
        <p:nvGraphicFramePr>
          <p:cNvPr id="291" name="Google Shape;291;p18"/>
          <p:cNvGraphicFramePr/>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1915221272"/>
              </p:ext>
            </p:extLst>
          </p:nvPr>
        </p:nvGraphicFramePr>
        <p:xfrm>
          <a:off x="1525" y="4082615"/>
          <a:ext cx="2331400" cy="1465704"/>
        </p:xfrm>
        <a:graphic>
          <a:graphicData uri="http://schemas.openxmlformats.org/drawingml/2006/table">
            <a:tbl>
              <a:tblPr firstRow="1" bandRow="1">
                <a:noFill/>
                <a:tableStyleId>{A521BE36-7E6F-4EC9-8D66-1CF97A6895EC}</a:tableStyleId>
              </a:tblPr>
              <a:tblGrid>
                <a:gridCol w="582850">
                  <a:extLst>
                    <a:ext uri="{9D8B030D-6E8A-4147-A177-3AD203B41FA5}">
                      <a16:colId xmlns:a16="http://schemas.microsoft.com/office/drawing/2014/main" val="20000"/>
                    </a:ext>
                  </a:extLst>
                </a:gridCol>
                <a:gridCol w="719524">
                  <a:extLst>
                    <a:ext uri="{9D8B030D-6E8A-4147-A177-3AD203B41FA5}">
                      <a16:colId xmlns:a16="http://schemas.microsoft.com/office/drawing/2014/main" val="20001"/>
                    </a:ext>
                  </a:extLst>
                </a:gridCol>
                <a:gridCol w="446176">
                  <a:extLst>
                    <a:ext uri="{9D8B030D-6E8A-4147-A177-3AD203B41FA5}">
                      <a16:colId xmlns:a16="http://schemas.microsoft.com/office/drawing/2014/main" val="20002"/>
                    </a:ext>
                  </a:extLst>
                </a:gridCol>
                <a:gridCol w="582850">
                  <a:extLst>
                    <a:ext uri="{9D8B030D-6E8A-4147-A177-3AD203B41FA5}">
                      <a16:colId xmlns:a16="http://schemas.microsoft.com/office/drawing/2014/main" val="20003"/>
                    </a:ext>
                  </a:extLst>
                </a:gridCol>
              </a:tblGrid>
              <a:tr h="203508">
                <a:tc gridSpan="4">
                  <a:txBody>
                    <a:bodyPr/>
                    <a:lstStyle/>
                    <a:p>
                      <a:pPr marL="0" marR="0" lvl="0" indent="0" algn="ctr" rtl="0">
                        <a:spcBef>
                          <a:spcPts val="0"/>
                        </a:spcBef>
                        <a:spcAft>
                          <a:spcPts val="0"/>
                        </a:spcAft>
                        <a:buNone/>
                      </a:pPr>
                      <a:r>
                        <a:rPr lang="en-US" sz="800" dirty="0"/>
                        <a:t>DYG : STAR </a:t>
                      </a:r>
                      <a:r>
                        <a:rPr lang="en-US" sz="800" b="1" dirty="0">
                          <a:solidFill>
                            <a:srgbClr val="C00000"/>
                          </a:solidFill>
                        </a:rPr>
                        <a:t>High Terr</a:t>
                      </a:r>
                      <a:r>
                        <a:rPr lang="en-US" sz="800" b="0" dirty="0">
                          <a:solidFill>
                            <a:srgbClr val="FFC000"/>
                          </a:solidFill>
                        </a:rPr>
                        <a:t>, ATIS within 100NM</a:t>
                      </a:r>
                    </a:p>
                    <a:p>
                      <a:pPr marL="0" marR="0" lvl="0" indent="0" algn="ctr" rtl="0">
                        <a:spcBef>
                          <a:spcPts val="0"/>
                        </a:spcBef>
                        <a:spcAft>
                          <a:spcPts val="0"/>
                        </a:spcAft>
                        <a:buNone/>
                      </a:pPr>
                      <a:r>
                        <a:rPr lang="en-US" sz="800" b="0" dirty="0">
                          <a:solidFill>
                            <a:srgbClr val="FFC000"/>
                          </a:solidFill>
                        </a:rPr>
                        <a:t>DYG TWR no RDR Service KEEP FLT PLAN RTE</a:t>
                      </a:r>
                      <a:endParaRPr sz="800" b="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2814">
                <a:tc>
                  <a:txBody>
                    <a:bodyPr/>
                    <a:lstStyle/>
                    <a:p>
                      <a:pPr marL="0" marR="0" lvl="0" indent="0" algn="ctr" rtl="0">
                        <a:spcBef>
                          <a:spcPts val="0"/>
                        </a:spcBef>
                        <a:spcAft>
                          <a:spcPts val="0"/>
                        </a:spcAft>
                        <a:buNone/>
                      </a:pPr>
                      <a:r>
                        <a:rPr lang="en-US" sz="800" b="1" dirty="0"/>
                        <a:t>08</a:t>
                      </a:r>
                    </a:p>
                  </a:txBody>
                  <a:tcPr marL="36000" marR="36000" marT="36000" marB="36000" anchor="ctr"/>
                </a:tc>
                <a:tc>
                  <a:txBody>
                    <a:bodyPr/>
                    <a:lstStyle/>
                    <a:p>
                      <a:pPr marL="0" marR="0" lvl="0" indent="0" algn="ctr" rtl="0">
                        <a:spcBef>
                          <a:spcPts val="0"/>
                        </a:spcBef>
                        <a:spcAft>
                          <a:spcPts val="0"/>
                        </a:spcAft>
                        <a:buNone/>
                      </a:pPr>
                      <a:r>
                        <a:rPr lang="en-US" sz="800" b="1" dirty="0"/>
                        <a:t>LIN </a:t>
                      </a:r>
                      <a:r>
                        <a:rPr lang="en-US" sz="800" b="1" dirty="0" err="1"/>
                        <a:t>xxA</a:t>
                      </a:r>
                      <a:r>
                        <a:rPr lang="en-US" sz="800" b="1" dirty="0"/>
                        <a:t> RNP</a:t>
                      </a:r>
                      <a:endParaRPr lang="en-US" sz="800" b="0" dirty="0"/>
                    </a:p>
                  </a:txBody>
                  <a:tcPr marL="36000" marR="36000" marT="36000" marB="36000" anchor="ctr"/>
                </a:tc>
                <a:tc>
                  <a:txBody>
                    <a:bodyPr/>
                    <a:lstStyle/>
                    <a:p>
                      <a:pPr marL="0" marR="0" lvl="0" indent="0" algn="ctr" rtl="0">
                        <a:spcBef>
                          <a:spcPts val="0"/>
                        </a:spcBef>
                        <a:spcAft>
                          <a:spcPts val="0"/>
                        </a:spcAft>
                        <a:buNone/>
                      </a:pPr>
                      <a:r>
                        <a:rPr lang="en-US" sz="800" b="1" dirty="0"/>
                        <a:t>JX001</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X 08</a:t>
                      </a:r>
                    </a:p>
                  </a:txBody>
                  <a:tcPr marL="36000" marR="36000" marT="36000" marB="36000" anchor="ctr"/>
                </a:tc>
                <a:extLst>
                  <a:ext uri="{0D108BD9-81ED-4DB2-BD59-A6C34878D82A}">
                    <a16:rowId xmlns:a16="http://schemas.microsoft.com/office/drawing/2014/main" val="10001"/>
                  </a:ext>
                </a:extLst>
              </a:tr>
              <a:tr h="141637">
                <a:tc>
                  <a:txBody>
                    <a:bodyPr/>
                    <a:lstStyle/>
                    <a:p>
                      <a:pPr marL="0" marR="0" lvl="0" indent="0" algn="ctr" rtl="0">
                        <a:spcBef>
                          <a:spcPts val="0"/>
                        </a:spcBef>
                        <a:spcAft>
                          <a:spcPts val="0"/>
                        </a:spcAft>
                        <a:buNone/>
                      </a:pPr>
                      <a:r>
                        <a:rPr lang="en-US" sz="800" b="0" dirty="0"/>
                        <a:t>26</a:t>
                      </a:r>
                    </a:p>
                  </a:txBody>
                  <a:tcPr marL="36000" marR="36000" marT="36000" marB="36000" anchor="ctr"/>
                </a:tc>
                <a:tc>
                  <a:txBody>
                    <a:bodyPr/>
                    <a:lstStyle/>
                    <a:p>
                      <a:pPr marL="0" marR="0" lvl="0" indent="0" algn="ctr" rtl="0">
                        <a:spcBef>
                          <a:spcPts val="0"/>
                        </a:spcBef>
                        <a:spcAft>
                          <a:spcPts val="0"/>
                        </a:spcAft>
                        <a:buNone/>
                      </a:pPr>
                      <a:r>
                        <a:rPr lang="en-US" altLang="ko-Kore-KR" sz="800" b="0" dirty="0"/>
                        <a:t>LIN </a:t>
                      </a:r>
                      <a:r>
                        <a:rPr lang="en-US" altLang="ko-Kore-KR" sz="800" b="0" dirty="0" err="1"/>
                        <a:t>xxA</a:t>
                      </a:r>
                      <a:r>
                        <a:rPr lang="en-US" altLang="ko-Kore-KR" sz="800" b="0" dirty="0"/>
                        <a:t> RNP</a:t>
                      </a:r>
                    </a:p>
                  </a:txBody>
                  <a:tcPr marL="36000" marR="36000" marT="36000" marB="36000" anchor="ctr"/>
                </a:tc>
                <a:tc>
                  <a:txBody>
                    <a:bodyPr/>
                    <a:lstStyle/>
                    <a:p>
                      <a:pPr marL="0" marR="0" lvl="0" indent="0" algn="ctr" rtl="0">
                        <a:spcBef>
                          <a:spcPts val="0"/>
                        </a:spcBef>
                        <a:spcAft>
                          <a:spcPts val="0"/>
                        </a:spcAft>
                        <a:buNone/>
                      </a:pPr>
                      <a:r>
                        <a:rPr lang="en-US" sz="800" b="0" dirty="0"/>
                        <a:t>DG944</a:t>
                      </a:r>
                      <a:endParaRPr sz="800" b="0" dirty="0"/>
                    </a:p>
                  </a:txBody>
                  <a:tcPr marL="36000" marR="36000" marT="36000" marB="36000" anchor="ctr"/>
                </a:tc>
                <a:tc>
                  <a:txBody>
                    <a:bodyPr/>
                    <a:lstStyle/>
                    <a:p>
                      <a:pPr marL="0" marR="0" lvl="0" indent="0" algn="ctr" rtl="0">
                        <a:spcBef>
                          <a:spcPts val="0"/>
                        </a:spcBef>
                        <a:spcAft>
                          <a:spcPts val="0"/>
                        </a:spcAft>
                        <a:buNone/>
                      </a:pPr>
                      <a:r>
                        <a:rPr lang="en-US" sz="800" b="0" dirty="0"/>
                        <a:t>ILS X 26</a:t>
                      </a:r>
                    </a:p>
                  </a:txBody>
                  <a:tcPr marL="36000" marR="36000" marT="36000" marB="36000" anchor="ctr"/>
                </a:tc>
                <a:extLst>
                  <a:ext uri="{0D108BD9-81ED-4DB2-BD59-A6C34878D82A}">
                    <a16:rowId xmlns:a16="http://schemas.microsoft.com/office/drawing/2014/main" val="10002"/>
                  </a:ext>
                </a:extLst>
              </a:tr>
              <a:tr h="184957">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08(713’) </a:t>
                      </a:r>
                      <a:r>
                        <a:rPr lang="en-US" sz="800" b="1" dirty="0">
                          <a:solidFill>
                            <a:srgbClr val="C00000"/>
                          </a:solidFill>
                        </a:rPr>
                        <a:t>3.2</a:t>
                      </a:r>
                      <a:r>
                        <a:rPr lang="ko-KR" altLang="en-US" sz="800" b="1" dirty="0">
                          <a:solidFill>
                            <a:srgbClr val="C00000"/>
                          </a:solidFill>
                        </a:rPr>
                        <a:t>도</a:t>
                      </a:r>
                      <a:r>
                        <a:rPr lang="en-US" sz="800" b="1" dirty="0">
                          <a:solidFill>
                            <a:srgbClr val="C00000"/>
                          </a:solidFill>
                        </a:rPr>
                        <a:t>      </a:t>
                      </a:r>
                      <a:r>
                        <a:rPr lang="en-US" sz="800" b="1" dirty="0">
                          <a:solidFill>
                            <a:srgbClr val="00B050"/>
                          </a:solidFill>
                        </a:rPr>
                        <a:t>8530’     26(665’) </a:t>
                      </a:r>
                      <a:r>
                        <a:rPr lang="en-US" sz="800" b="1" dirty="0">
                          <a:solidFill>
                            <a:srgbClr val="C00000"/>
                          </a:solidFill>
                        </a:rPr>
                        <a:t>3.2도</a:t>
                      </a:r>
                      <a:endParaRPr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7005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a:t>
                      </a:r>
                      <a:r>
                        <a:rPr lang="en-US" altLang="ko-KR" sz="800" b="1" dirty="0">
                          <a:solidFill>
                            <a:schemeClr val="dk1"/>
                          </a:solidFill>
                        </a:rPr>
                        <a:t>8</a:t>
                      </a:r>
                      <a:r>
                        <a:rPr lang="en-US" sz="800" b="1" dirty="0">
                          <a:solidFill>
                            <a:schemeClr val="dk1"/>
                          </a:solidFill>
                        </a:rPr>
                        <a:t> : J(6530’), </a:t>
                      </a:r>
                      <a:r>
                        <a:rPr lang="en-US" sz="800" b="0" dirty="0" err="1">
                          <a:solidFill>
                            <a:schemeClr val="dk1"/>
                          </a:solidFill>
                        </a:rPr>
                        <a:t>DownSlope</a:t>
                      </a:r>
                      <a:r>
                        <a:rPr lang="en-US" sz="800" b="0" dirty="0">
                          <a:solidFill>
                            <a:schemeClr val="dk1"/>
                          </a:solidFill>
                        </a:rPr>
                        <a:t> 0.65%</a:t>
                      </a:r>
                      <a:r>
                        <a:rPr lang="en-US" sz="800" b="1" dirty="0">
                          <a:solidFill>
                            <a:schemeClr val="dk1"/>
                          </a:solidFill>
                        </a:rPr>
                        <a:t>  2</a:t>
                      </a:r>
                      <a:r>
                        <a:rPr lang="en-US" altLang="ko-KR" sz="800" b="1" dirty="0">
                          <a:solidFill>
                            <a:schemeClr val="dk1"/>
                          </a:solidFill>
                        </a:rPr>
                        <a:t>6</a:t>
                      </a:r>
                      <a:r>
                        <a:rPr lang="en-US" sz="800" b="1" dirty="0">
                          <a:solidFill>
                            <a:schemeClr val="dk1"/>
                          </a:solidFill>
                        </a:rPr>
                        <a:t> : B(6530’)</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301242">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C00000"/>
                          </a:solidFill>
                        </a:rPr>
                        <a:t>Do not Intercept RWY08 inside DYG 11NM(FIX)</a:t>
                      </a:r>
                    </a:p>
                    <a:p>
                      <a:pPr marL="0" marR="0" lvl="0" indent="0" algn="ctr" rtl="0">
                        <a:lnSpc>
                          <a:spcPct val="100000"/>
                        </a:lnSpc>
                        <a:spcBef>
                          <a:spcPts val="0"/>
                        </a:spcBef>
                        <a:spcAft>
                          <a:spcPts val="0"/>
                        </a:spcAft>
                        <a:buClr>
                          <a:schemeClr val="dk1"/>
                        </a:buClr>
                        <a:buSzPts val="800"/>
                        <a:buFont typeface="Calibri"/>
                        <a:buNone/>
                      </a:pPr>
                      <a:r>
                        <a:rPr lang="en-US" sz="800" dirty="0"/>
                        <a:t>RWY Grooved (AIP), Follow Me Car on A</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736091327"/>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ZGDY(DYG) </a:t>
                      </a:r>
                      <a:r>
                        <a:rPr lang="en-US" sz="1200" dirty="0">
                          <a:solidFill>
                            <a:srgbClr val="FF0000"/>
                          </a:solidFill>
                          <a:hlinkClick r:id="rId4">
                            <a:extLst>
                              <a:ext uri="{A12FA001-AC4F-418D-AE19-62706E023703}">
                                <ahyp:hlinkClr xmlns:ahyp="http://schemas.microsoft.com/office/drawing/2018/hyperlinkcolor" val="tx"/>
                              </a:ext>
                            </a:extLst>
                          </a:hlinkClick>
                        </a:rPr>
                        <a:t>713ft</a:t>
                      </a:r>
                      <a:endParaRPr sz="13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DCAAF97-49DD-AE80-34AF-512BE900E983}"/>
              </a:ext>
            </a:extLst>
          </p:cNvPr>
          <p:cNvSpPr/>
          <p:nvPr/>
        </p:nvSpPr>
        <p:spPr>
          <a:xfrm>
            <a:off x="1669148" y="352822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BC0B007-1D05-0F91-185F-EF18A8FB3CE3}"/>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9467519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7" name="Google Shape;397;p30"/>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ABCDBC-383F-5581-5E39-83905EACA8B3}"/>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9EEFEB8-F9E4-386F-27B1-F3014416BF74}"/>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FC66845-A7AA-98C4-534C-70B808775E8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B8B7E4DE-4422-34F1-D7EA-F356A7B42392}"/>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33842237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7" name="Google Shape;117;p3"/>
          <p:cNvGraphicFramePr/>
          <p:nvPr>
            <p:extLst>
              <p:ext uri="{D42A27DB-BD31-4B8C-83A1-F6EECF244321}">
                <p14:modId xmlns:p14="http://schemas.microsoft.com/office/powerpoint/2010/main" val="2283296557"/>
              </p:ext>
            </p:extLst>
          </p:nvPr>
        </p:nvGraphicFramePr>
        <p:xfrm>
          <a:off x="0" y="578251"/>
          <a:ext cx="2335724" cy="1548730"/>
        </p:xfrm>
        <a:graphic>
          <a:graphicData uri="http://schemas.openxmlformats.org/drawingml/2006/table">
            <a:tbl>
              <a:tblPr firstRow="1" bandRow="1">
                <a:noFill/>
                <a:tableStyleId>{A521BE36-7E6F-4EC9-8D66-1CF97A6895EC}</a:tableStyleId>
              </a:tblPr>
              <a:tblGrid>
                <a:gridCol w="242461">
                  <a:extLst>
                    <a:ext uri="{9D8B030D-6E8A-4147-A177-3AD203B41FA5}">
                      <a16:colId xmlns:a16="http://schemas.microsoft.com/office/drawing/2014/main" val="20000"/>
                    </a:ext>
                  </a:extLst>
                </a:gridCol>
                <a:gridCol w="66709">
                  <a:extLst>
                    <a:ext uri="{9D8B030D-6E8A-4147-A177-3AD203B41FA5}">
                      <a16:colId xmlns:a16="http://schemas.microsoft.com/office/drawing/2014/main" val="20001"/>
                    </a:ext>
                  </a:extLst>
                </a:gridCol>
                <a:gridCol w="469404">
                  <a:extLst>
                    <a:ext uri="{9D8B030D-6E8A-4147-A177-3AD203B41FA5}">
                      <a16:colId xmlns:a16="http://schemas.microsoft.com/office/drawing/2014/main" val="20002"/>
                    </a:ext>
                  </a:extLst>
                </a:gridCol>
                <a:gridCol w="132972">
                  <a:extLst>
                    <a:ext uri="{9D8B030D-6E8A-4147-A177-3AD203B41FA5}">
                      <a16:colId xmlns:a16="http://schemas.microsoft.com/office/drawing/2014/main" val="924808566"/>
                    </a:ext>
                  </a:extLst>
                </a:gridCol>
                <a:gridCol w="167003">
                  <a:extLst>
                    <a:ext uri="{9D8B030D-6E8A-4147-A177-3AD203B41FA5}">
                      <a16:colId xmlns:a16="http://schemas.microsoft.com/office/drawing/2014/main" val="20004"/>
                    </a:ext>
                  </a:extLst>
                </a:gridCol>
                <a:gridCol w="61400">
                  <a:extLst>
                    <a:ext uri="{9D8B030D-6E8A-4147-A177-3AD203B41FA5}">
                      <a16:colId xmlns:a16="http://schemas.microsoft.com/office/drawing/2014/main" val="20005"/>
                    </a:ext>
                  </a:extLst>
                </a:gridCol>
                <a:gridCol w="182498">
                  <a:extLst>
                    <a:ext uri="{9D8B030D-6E8A-4147-A177-3AD203B41FA5}">
                      <a16:colId xmlns:a16="http://schemas.microsoft.com/office/drawing/2014/main" val="20006"/>
                    </a:ext>
                  </a:extLst>
                </a:gridCol>
                <a:gridCol w="116672">
                  <a:extLst>
                    <a:ext uri="{9D8B030D-6E8A-4147-A177-3AD203B41FA5}">
                      <a16:colId xmlns:a16="http://schemas.microsoft.com/office/drawing/2014/main" val="484641046"/>
                    </a:ext>
                  </a:extLst>
                </a:gridCol>
                <a:gridCol w="118031">
                  <a:extLst>
                    <a:ext uri="{9D8B030D-6E8A-4147-A177-3AD203B41FA5}">
                      <a16:colId xmlns:a16="http://schemas.microsoft.com/office/drawing/2014/main" val="20007"/>
                    </a:ext>
                  </a:extLst>
                </a:gridCol>
                <a:gridCol w="155242">
                  <a:extLst>
                    <a:ext uri="{9D8B030D-6E8A-4147-A177-3AD203B41FA5}">
                      <a16:colId xmlns:a16="http://schemas.microsoft.com/office/drawing/2014/main" val="4194299910"/>
                    </a:ext>
                  </a:extLst>
                </a:gridCol>
                <a:gridCol w="211274">
                  <a:extLst>
                    <a:ext uri="{9D8B030D-6E8A-4147-A177-3AD203B41FA5}">
                      <a16:colId xmlns:a16="http://schemas.microsoft.com/office/drawing/2014/main" val="20008"/>
                    </a:ext>
                  </a:extLst>
                </a:gridCol>
                <a:gridCol w="412058">
                  <a:extLst>
                    <a:ext uri="{9D8B030D-6E8A-4147-A177-3AD203B41FA5}">
                      <a16:colId xmlns:a16="http://schemas.microsoft.com/office/drawing/2014/main" val="448940902"/>
                    </a:ext>
                  </a:extLst>
                </a:gridCol>
              </a:tblGrid>
              <a:tr h="0">
                <a:tc gridSpan="12">
                  <a:txBody>
                    <a:bodyPr/>
                    <a:lstStyle/>
                    <a:p>
                      <a:pPr marL="0" marR="0" lvl="0" indent="0" algn="ctr" rtl="0">
                        <a:spcBef>
                          <a:spcPts val="0"/>
                        </a:spcBef>
                        <a:spcAft>
                          <a:spcPts val="0"/>
                        </a:spcAft>
                        <a:buNone/>
                      </a:pPr>
                      <a:r>
                        <a:rPr lang="en-US" sz="800" u="none" strike="noStrike" cap="none" dirty="0"/>
                        <a:t>DYG : SID (NADP 1) </a:t>
                      </a:r>
                    </a:p>
                    <a:p>
                      <a:pPr marL="0" marR="0" lvl="0" indent="0" algn="ctr" rtl="0">
                        <a:spcBef>
                          <a:spcPts val="0"/>
                        </a:spcBef>
                        <a:spcAft>
                          <a:spcPts val="0"/>
                        </a:spcAft>
                        <a:buNone/>
                      </a:pPr>
                      <a:r>
                        <a:rPr lang="en-US" sz="800" b="0" u="none" strike="noStrike" cap="none" dirty="0">
                          <a:solidFill>
                            <a:srgbClr val="FFC000"/>
                          </a:solidFill>
                        </a:rPr>
                        <a:t>(RWY Grooved AIP)</a:t>
                      </a:r>
                      <a:endParaRPr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u="none" strike="noStrike" cap="none" dirty="0"/>
                        <a:t>08</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LIN </a:t>
                      </a:r>
                      <a:r>
                        <a:rPr lang="en-US" sz="800" b="1" u="none" strike="noStrike" cap="none" dirty="0" err="1">
                          <a:solidFill>
                            <a:srgbClr val="0070C0"/>
                          </a:solidFill>
                        </a:rPr>
                        <a:t>xxD</a:t>
                      </a:r>
                      <a:endParaRPr lang="en-US"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079</a:t>
                      </a:r>
                      <a:endParaRPr sz="458" b="1" u="none" strike="noStrike" cap="none"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t>079</a:t>
                      </a:r>
                      <a:endParaRPr sz="800" b="1" u="none" strike="noStrike" cap="none" dirty="0"/>
                    </a:p>
                  </a:txBody>
                  <a:tcPr marL="36000" marR="36000" marT="36000" marB="36000" anchor="ct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(2400m)</a:t>
                      </a:r>
                      <a:endParaRPr lang="ko-Kore-KR" dirty="0"/>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sz="800" b="1" u="none" strike="noStrike" cap="none" dirty="0">
                          <a:solidFill>
                            <a:srgbClr val="C00000"/>
                          </a:solidFill>
                        </a:rPr>
                        <a:t>079</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0" u="none" strike="noStrike" cap="none" dirty="0"/>
                        <a:t>26</a:t>
                      </a:r>
                    </a:p>
                  </a:txBody>
                  <a:tcPr marL="36000" marR="36000" marT="36000" marB="36000" anchor="ctr"/>
                </a:tc>
                <a:tc gridSpan="3">
                  <a:txBody>
                    <a:bodyPr/>
                    <a:lstStyle/>
                    <a:p>
                      <a:pPr marL="0" marR="0" lvl="0" indent="0" algn="ctr" rtl="0">
                        <a:spcBef>
                          <a:spcPts val="0"/>
                        </a:spcBef>
                        <a:spcAft>
                          <a:spcPts val="0"/>
                        </a:spcAft>
                        <a:buNone/>
                      </a:pPr>
                      <a:r>
                        <a:rPr lang="en-US" altLang="ko-Kore-KR" sz="800" b="0" u="none" strike="noStrike" cap="none" dirty="0">
                          <a:solidFill>
                            <a:srgbClr val="0070C0"/>
                          </a:solidFill>
                        </a:rPr>
                        <a:t>LIN </a:t>
                      </a:r>
                      <a:r>
                        <a:rPr lang="en-US" altLang="ko-Kore-KR" sz="800" b="0" u="none" strike="noStrike" cap="none" dirty="0" err="1">
                          <a:solidFill>
                            <a:srgbClr val="0070C0"/>
                          </a:solidFill>
                        </a:rPr>
                        <a:t>xxD</a:t>
                      </a:r>
                      <a:endParaRPr lang="en-US" altLang="ko-Kore-KR" sz="800" b="0"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0" u="none" strike="noStrike" cap="none" dirty="0">
                          <a:solidFill>
                            <a:srgbClr val="C00000"/>
                          </a:solidFill>
                        </a:rPr>
                        <a:t>259</a:t>
                      </a:r>
                      <a:endParaRPr sz="458" b="0" u="none" strike="noStrike" cap="none"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0" u="none" strike="noStrike" cap="none" dirty="0"/>
                        <a:t>259</a:t>
                      </a:r>
                      <a:endParaRPr sz="800" b="0" u="none" strike="noStrike" cap="none" dirty="0"/>
                    </a:p>
                  </a:txBody>
                  <a:tcPr marL="36000" marR="36000" marT="36000" marB="36000" anchor="ct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0" u="none" strike="noStrike" cap="none" dirty="0">
                          <a:solidFill>
                            <a:srgbClr val="0070C0"/>
                          </a:solidFill>
                        </a:rPr>
                        <a:t>ATC</a:t>
                      </a:r>
                    </a:p>
                    <a:p>
                      <a:pPr marL="0" marR="0" lvl="0" indent="0" algn="ctr" rtl="0">
                        <a:spcBef>
                          <a:spcPts val="0"/>
                        </a:spcBef>
                        <a:spcAft>
                          <a:spcPts val="0"/>
                        </a:spcAft>
                        <a:buNone/>
                      </a:pPr>
                      <a:r>
                        <a:rPr lang="en-US" sz="800" b="0" u="none" strike="noStrike" cap="none" dirty="0">
                          <a:solidFill>
                            <a:srgbClr val="0070C0"/>
                          </a:solidFill>
                        </a:rPr>
                        <a:t>(2400m)</a:t>
                      </a:r>
                      <a:endParaRPr lang="ko-Kore-KR" b="0" dirty="0"/>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sz="800" b="0" u="none" strike="noStrike" cap="none" dirty="0">
                          <a:solidFill>
                            <a:srgbClr val="C00000"/>
                          </a:solidFill>
                        </a:rPr>
                        <a:t>259</a:t>
                      </a:r>
                      <a:endParaRPr lang="ko-Kore-KR" altLang="en-US" b="0"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DYG 114.4</a:t>
                      </a:r>
                    </a:p>
                  </a:txBody>
                  <a:tcPr marL="36000" marR="36000" marT="36000" marB="36000" anchor="ctr"/>
                </a:tc>
                <a:tc hMerge="1">
                  <a:txBody>
                    <a:bodyPr/>
                    <a:lstStyle/>
                    <a:p>
                      <a:endParaRPr lang="ko-Kore-KR"/>
                    </a:p>
                  </a:txBody>
                  <a:tcPr/>
                </a:tc>
                <a:tc hMerge="1">
                  <a:txBody>
                    <a:bodyPr/>
                    <a:lstStyle/>
                    <a:p>
                      <a:endParaRPr lang="ko-Kore-KR"/>
                    </a:p>
                  </a:txBody>
                  <a:tcPr/>
                </a:tc>
                <a:tc gridSpan="6">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08 109.7</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26 108.9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08(713’) </a:t>
                      </a:r>
                    </a:p>
                  </a:txBody>
                  <a:tcPr marL="36000" marR="36000" marT="36000" marB="36000" anchor="ctr"/>
                </a:tc>
                <a:tc hMerge="1">
                  <a:txBody>
                    <a:bodyPr/>
                    <a:lstStyle/>
                    <a:p>
                      <a:endParaRPr lang="ko-Kore-KR" altLang="en-US"/>
                    </a:p>
                  </a:txBody>
                  <a:tcPr/>
                </a:tc>
                <a:tc hMerge="1">
                  <a:txBody>
                    <a:bodyPr/>
                    <a:lstStyle/>
                    <a:p>
                      <a:endParaRPr lang="ko-Kore-KR"/>
                    </a:p>
                  </a:txBody>
                  <a:tcPr/>
                </a:tc>
                <a:tc gridSpan="5">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8530’</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24(665’)</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08 : DYG 079/8, R055</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5">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26 : DYG, R250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328502685"/>
                  </a:ext>
                </a:extLst>
              </a:tr>
            </a:tbl>
          </a:graphicData>
        </a:graphic>
      </p:graphicFrame>
      <p:graphicFrame>
        <p:nvGraphicFramePr>
          <p:cNvPr id="119" name="Google Shape;119;p3"/>
          <p:cNvGraphicFramePr/>
          <p:nvPr>
            <p:extLst>
              <p:ext uri="{D42A27DB-BD31-4B8C-83A1-F6EECF244321}">
                <p14:modId xmlns:p14="http://schemas.microsoft.com/office/powerpoint/2010/main" val="1008559832"/>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ZGDY(DYG) </a:t>
                      </a:r>
                      <a:r>
                        <a:rPr lang="en-US" altLang="ko-Kore-KR" sz="1200" dirty="0">
                          <a:solidFill>
                            <a:srgbClr val="FF0000"/>
                          </a:solidFill>
                          <a:hlinkClick r:id="rId3">
                            <a:extLst>
                              <a:ext uri="{A12FA001-AC4F-418D-AE19-62706E023703}">
                                <ahyp:hlinkClr xmlns:ahyp="http://schemas.microsoft.com/office/drawing/2018/hyperlinkcolor" val="tx"/>
                              </a:ext>
                            </a:extLst>
                          </a:hlinkClick>
                        </a:rPr>
                        <a:t>713ft</a:t>
                      </a:r>
                      <a:endParaRPr lang="en-US" altLang="ko-Kore-KR" sz="1300" dirty="0">
                        <a:solidFill>
                          <a:srgbClr val="FF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endParaRPr dirty="0"/>
                    </a:p>
                    <a:p>
                      <a:pPr marL="0" marR="0" lvl="0" indent="0" algn="ctr" rtl="0">
                        <a:spcBef>
                          <a:spcPts val="0"/>
                        </a:spcBef>
                        <a:spcAft>
                          <a:spcPts val="0"/>
                        </a:spcAft>
                        <a:buNone/>
                      </a:pPr>
                      <a:r>
                        <a:rPr lang="en-US" sz="700" dirty="0">
                          <a:solidFill>
                            <a:srgbClr val="FF0000"/>
                          </a:solidFill>
                        </a:rPr>
                        <a:t>Voice TWR</a:t>
                      </a:r>
                      <a:endParaRPr sz="700" dirty="0">
                        <a:solidFill>
                          <a:srgbClr val="FF0000"/>
                        </a:solidFill>
                      </a:endParaRPr>
                    </a:p>
                  </a:txBody>
                  <a:tcPr marL="72000" marR="72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BA009CD-0CE1-2081-CE8C-F9EB8DF1D6DE}"/>
              </a:ext>
            </a:extLst>
          </p:cNvPr>
          <p:cNvSpPr txBox="1"/>
          <p:nvPr/>
        </p:nvSpPr>
        <p:spPr>
          <a:xfrm>
            <a:off x="-15566" y="2376477"/>
            <a:ext cx="2390398" cy="1017064"/>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118.45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CHS 123.9</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GZU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124.9 – 133.5 - </a:t>
            </a:r>
            <a:r>
              <a:rPr kumimoji="1" lang="en-US" altLang="ko-Kore-KR" sz="700" b="1" u="sng" dirty="0">
                <a:solidFill>
                  <a:srgbClr val="0070C0"/>
                </a:solidFill>
                <a:latin typeface="Gulim" panose="020B0600000101010101" pitchFamily="34" charset="-127"/>
                <a:ea typeface="Gulim" panose="020B0600000101010101" pitchFamily="34" charset="-127"/>
              </a:rPr>
              <a:t>133.25 – SHA </a:t>
            </a:r>
            <a:r>
              <a:rPr kumimoji="1" lang="en-US" altLang="ko-KR" sz="700" b="1" u="sng" dirty="0">
                <a:solidFill>
                  <a:srgbClr val="0070C0"/>
                </a:solidFill>
                <a:latin typeface="Gulim" panose="020B0600000101010101" pitchFamily="34" charset="-127"/>
                <a:ea typeface="Gulim" panose="020B0600000101010101" pitchFamily="34" charset="-127"/>
              </a:rPr>
              <a:t>120.1 – 132.32</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128.12 – 125.32 – 126.17 – 120.55 – 120.95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B72E208F-F9E3-4DBD-EA14-654CF7F7CDE4}"/>
              </a:ext>
            </a:extLst>
          </p:cNvPr>
          <p:cNvSpPr/>
          <p:nvPr/>
        </p:nvSpPr>
        <p:spPr>
          <a:xfrm>
            <a:off x="1651787" y="3136463"/>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ECA2F9E-B6DB-CD38-1DE9-D46BCCC5931C}"/>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지도, 텍스트, 아틀라스이(가) 표시된 사진&#10;&#10;자동 생성된 설명">
            <a:extLst>
              <a:ext uri="{FF2B5EF4-FFF2-40B4-BE49-F238E27FC236}">
                <a16:creationId xmlns:a16="http://schemas.microsoft.com/office/drawing/2014/main" id="{9F632F4C-60D3-9EE8-7A8D-0CA4319CC3A5}"/>
              </a:ext>
            </a:extLst>
          </p:cNvPr>
          <p:cNvPicPr>
            <a:picLocks noChangeAspect="1"/>
          </p:cNvPicPr>
          <p:nvPr/>
        </p:nvPicPr>
        <p:blipFill>
          <a:blip r:embed="rId7"/>
          <a:stretch>
            <a:fillRect/>
          </a:stretch>
        </p:blipFill>
        <p:spPr>
          <a:xfrm>
            <a:off x="1235676" y="2123530"/>
            <a:ext cx="1090673" cy="646750"/>
          </a:xfrm>
          <a:prstGeom prst="rect">
            <a:avLst/>
          </a:prstGeom>
        </p:spPr>
      </p:pic>
    </p:spTree>
    <p:extLst>
      <p:ext uri="{BB962C8B-B14F-4D97-AF65-F5344CB8AC3E}">
        <p14:creationId xmlns:p14="http://schemas.microsoft.com/office/powerpoint/2010/main" val="10356917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6FF77275-DC2D-7782-8A56-C3FCD4C1523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EC30C3-708C-B4A4-6427-5E6725C26554}"/>
              </a:ext>
            </a:extLst>
          </p:cNvPr>
          <p:cNvSpPr txBox="1"/>
          <p:nvPr/>
        </p:nvSpPr>
        <p:spPr>
          <a:xfrm>
            <a:off x="-55838" y="3280623"/>
            <a:ext cx="1887055"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132.8 – DLC 132.95</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123.85 – 119.6</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118.25</a:t>
            </a:r>
          </a:p>
        </p:txBody>
      </p:sp>
      <p:graphicFrame>
        <p:nvGraphicFramePr>
          <p:cNvPr id="291" name="Google Shape;291;p18">
            <a:extLst>
              <a:ext uri="{FF2B5EF4-FFF2-40B4-BE49-F238E27FC236}">
                <a16:creationId xmlns:a16="http://schemas.microsoft.com/office/drawing/2014/main" id="{184C1080-0236-2052-E1E9-648A12C011AE}"/>
              </a:ext>
            </a:extLst>
          </p:cNvPr>
          <p:cNvGraphicFramePr/>
          <p:nvPr>
            <p:extLst>
              <p:ext uri="{D42A27DB-BD31-4B8C-83A1-F6EECF244321}">
                <p14:modId xmlns:p14="http://schemas.microsoft.com/office/powerpoint/2010/main" val="1283395981"/>
              </p:ext>
            </p:extLst>
          </p:nvPr>
        </p:nvGraphicFramePr>
        <p:xfrm>
          <a:off x="0" y="606927"/>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a:extLst>
              <a:ext uri="{FF2B5EF4-FFF2-40B4-BE49-F238E27FC236}">
                <a16:creationId xmlns:a16="http://schemas.microsoft.com/office/drawing/2014/main" id="{425BFED1-9719-706B-35CE-6D6E3D9DD94C}"/>
              </a:ext>
            </a:extLst>
          </p:cNvPr>
          <p:cNvGraphicFramePr/>
          <p:nvPr>
            <p:extLst>
              <p:ext uri="{D42A27DB-BD31-4B8C-83A1-F6EECF244321}">
                <p14:modId xmlns:p14="http://schemas.microsoft.com/office/powerpoint/2010/main" val="1131657253"/>
              </p:ext>
            </p:extLst>
          </p:nvPr>
        </p:nvGraphicFramePr>
        <p:xfrm>
          <a:off x="-1706" y="3819333"/>
          <a:ext cx="2333880" cy="1742818"/>
        </p:xfrm>
        <a:graphic>
          <a:graphicData uri="http://schemas.openxmlformats.org/drawingml/2006/table">
            <a:tbl>
              <a:tblPr firstRow="1" bandRow="1">
                <a:noFill/>
                <a:tableStyleId>{A521BE36-7E6F-4EC9-8D66-1CF97A6895EC}</a:tableStyleId>
              </a:tblPr>
              <a:tblGrid>
                <a:gridCol w="316804">
                  <a:extLst>
                    <a:ext uri="{9D8B030D-6E8A-4147-A177-3AD203B41FA5}">
                      <a16:colId xmlns:a16="http://schemas.microsoft.com/office/drawing/2014/main" val="20000"/>
                    </a:ext>
                  </a:extLst>
                </a:gridCol>
                <a:gridCol w="696017">
                  <a:extLst>
                    <a:ext uri="{9D8B030D-6E8A-4147-A177-3AD203B41FA5}">
                      <a16:colId xmlns:a16="http://schemas.microsoft.com/office/drawing/2014/main" val="20001"/>
                    </a:ext>
                  </a:extLst>
                </a:gridCol>
                <a:gridCol w="624218">
                  <a:extLst>
                    <a:ext uri="{9D8B030D-6E8A-4147-A177-3AD203B41FA5}">
                      <a16:colId xmlns:a16="http://schemas.microsoft.com/office/drawing/2014/main" val="20002"/>
                    </a:ext>
                  </a:extLst>
                </a:gridCol>
                <a:gridCol w="696841">
                  <a:extLst>
                    <a:ext uri="{9D8B030D-6E8A-4147-A177-3AD203B41FA5}">
                      <a16:colId xmlns:a16="http://schemas.microsoft.com/office/drawing/2014/main" val="20003"/>
                    </a:ext>
                  </a:extLst>
                </a:gridCol>
              </a:tblGrid>
              <a:tr h="299800">
                <a:tc gridSpan="4">
                  <a:txBody>
                    <a:bodyPr/>
                    <a:lstStyle/>
                    <a:p>
                      <a:pPr marL="0" marR="0" lvl="0" indent="0" algn="ctr" rtl="0">
                        <a:spcBef>
                          <a:spcPts val="0"/>
                        </a:spcBef>
                        <a:spcAft>
                          <a:spcPts val="0"/>
                        </a:spcAft>
                        <a:buNone/>
                      </a:pPr>
                      <a:r>
                        <a:rPr lang="en-US" sz="800" dirty="0"/>
                        <a:t>DLC</a:t>
                      </a:r>
                      <a:r>
                        <a:rPr lang="en-US" sz="800" dirty="0">
                          <a:solidFill>
                            <a:srgbClr val="C00000"/>
                          </a:solidFill>
                        </a:rPr>
                        <a:t> </a:t>
                      </a:r>
                      <a:r>
                        <a:rPr lang="en-US" sz="800" dirty="0"/>
                        <a:t>: RNAV(PMS) STAR </a:t>
                      </a:r>
                      <a:r>
                        <a:rPr lang="en-US" sz="700" dirty="0">
                          <a:solidFill>
                            <a:srgbClr val="C00000"/>
                          </a:solidFill>
                        </a:rPr>
                        <a:t>CHK RWY 10 TL107 CAT C/D</a:t>
                      </a:r>
                      <a:endParaRPr lang="en-US" sz="800" dirty="0">
                        <a:solidFill>
                          <a:srgbClr val="C00000"/>
                        </a:solidFill>
                      </a:endParaRPr>
                    </a:p>
                    <a:p>
                      <a:pPr marL="0" marR="0" lvl="0" indent="0" algn="ctr" rtl="0">
                        <a:spcBef>
                          <a:spcPts val="0"/>
                        </a:spcBef>
                        <a:spcAft>
                          <a:spcPts val="0"/>
                        </a:spcAft>
                        <a:buNone/>
                      </a:pPr>
                      <a:r>
                        <a:rPr lang="en-US" sz="700" dirty="0">
                          <a:solidFill>
                            <a:schemeClr val="accent4"/>
                          </a:solidFill>
                        </a:rPr>
                        <a:t>If Over MLDW, Report DLC -32NM for Holding or Missed APP</a:t>
                      </a:r>
                      <a:endParaRPr lang="en-US" sz="800" dirty="0">
                        <a:solidFill>
                          <a:schemeClr val="accent4"/>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5092">
                <a:tc>
                  <a:txBody>
                    <a:bodyPr/>
                    <a:lstStyle/>
                    <a:p>
                      <a:pPr marL="0" marR="0" lvl="0" indent="0" algn="ctr" rtl="0">
                        <a:spcBef>
                          <a:spcPts val="0"/>
                        </a:spcBef>
                        <a:spcAft>
                          <a:spcPts val="0"/>
                        </a:spcAft>
                        <a:buNone/>
                      </a:pPr>
                      <a:r>
                        <a:rPr lang="en-US" sz="800" b="1" dirty="0"/>
                        <a:t>10</a:t>
                      </a:r>
                      <a:endParaRPr sz="800" b="1" dirty="0"/>
                    </a:p>
                  </a:txBody>
                  <a:tcPr marL="36000" marR="36000" marT="0" marB="0" anchor="ctr"/>
                </a:tc>
                <a:tc>
                  <a:txBody>
                    <a:bodyPr/>
                    <a:lstStyle/>
                    <a:p>
                      <a:pPr marL="0" marR="0" lvl="0" indent="0" algn="ctr" rtl="0">
                        <a:spcBef>
                          <a:spcPts val="0"/>
                        </a:spcBef>
                        <a:spcAft>
                          <a:spcPts val="0"/>
                        </a:spcAft>
                        <a:buNone/>
                      </a:pPr>
                      <a:r>
                        <a:rPr lang="en-US" sz="800" b="1" dirty="0"/>
                        <a:t>RUPID xx A</a:t>
                      </a:r>
                    </a:p>
                  </a:txBody>
                  <a:tcPr marL="36000" marR="36000" marT="0" marB="0" anchor="ctr"/>
                </a:tc>
                <a:tc>
                  <a:txBody>
                    <a:bodyPr/>
                    <a:lstStyle/>
                    <a:p>
                      <a:pPr marL="0" marR="0" lvl="0" indent="0" algn="ctr" rtl="0">
                        <a:spcBef>
                          <a:spcPts val="0"/>
                        </a:spcBef>
                        <a:spcAft>
                          <a:spcPts val="0"/>
                        </a:spcAft>
                        <a:buNone/>
                      </a:pPr>
                      <a:r>
                        <a:rPr lang="en-US" sz="800" b="1" dirty="0"/>
                        <a:t>TL107</a:t>
                      </a:r>
                      <a:r>
                        <a:rPr lang="en-US" sz="800" b="1" dirty="0">
                          <a:solidFill>
                            <a:srgbClr val="0070C0"/>
                          </a:solidFill>
                        </a:rPr>
                        <a:t>(PMS)</a:t>
                      </a:r>
                    </a:p>
                    <a:p>
                      <a:pPr marL="0" marR="0" lvl="0" indent="0" algn="ctr" rtl="0">
                        <a:spcBef>
                          <a:spcPts val="0"/>
                        </a:spcBef>
                        <a:spcAft>
                          <a:spcPts val="0"/>
                        </a:spcAft>
                        <a:buNone/>
                      </a:pPr>
                      <a:r>
                        <a:rPr lang="en-US" sz="800" b="1" dirty="0">
                          <a:solidFill>
                            <a:srgbClr val="C00000"/>
                          </a:solidFill>
                        </a:rPr>
                        <a:t>CHK ALT</a:t>
                      </a:r>
                    </a:p>
                    <a:p>
                      <a:pPr marL="0" marR="0" lvl="0" indent="0" algn="ctr" rtl="0">
                        <a:spcBef>
                          <a:spcPts val="0"/>
                        </a:spcBef>
                        <a:spcAft>
                          <a:spcPts val="0"/>
                        </a:spcAft>
                        <a:buNone/>
                      </a:pPr>
                      <a:r>
                        <a:rPr lang="en-US" sz="800" b="1" dirty="0"/>
                        <a:t>TL106</a:t>
                      </a:r>
                    </a:p>
                  </a:txBody>
                  <a:tcPr marL="36000" marR="36000" marT="0" marB="0" anchor="ctr"/>
                </a:tc>
                <a:tc>
                  <a:txBody>
                    <a:bodyPr/>
                    <a:lstStyle/>
                    <a:p>
                      <a:pPr marL="0" marR="0" lvl="0" indent="0" algn="ctr" rtl="0">
                        <a:spcBef>
                          <a:spcPts val="0"/>
                        </a:spcBef>
                        <a:spcAft>
                          <a:spcPts val="0"/>
                        </a:spcAft>
                        <a:buNone/>
                      </a:pPr>
                      <a:r>
                        <a:rPr lang="en-US" sz="800" b="1" dirty="0"/>
                        <a:t>RNAV ILS Z 10</a:t>
                      </a:r>
                    </a:p>
                    <a:p>
                      <a:pPr marL="0" marR="0" lvl="0" indent="0" algn="ctr" rtl="0">
                        <a:spcBef>
                          <a:spcPts val="0"/>
                        </a:spcBef>
                        <a:spcAft>
                          <a:spcPts val="0"/>
                        </a:spcAft>
                        <a:buNone/>
                      </a:pPr>
                      <a:r>
                        <a:rPr lang="en-US" sz="800" b="1" dirty="0">
                          <a:solidFill>
                            <a:srgbClr val="C00000"/>
                          </a:solidFill>
                        </a:rPr>
                        <a:t>OFF SET LOC</a:t>
                      </a:r>
                      <a:endParaRPr lang="en-US" sz="800" b="0" dirty="0">
                        <a:solidFill>
                          <a:srgbClr val="C00000"/>
                        </a:solidFill>
                      </a:endParaRPr>
                    </a:p>
                  </a:txBody>
                  <a:tcPr marL="36000" marR="36000" marT="0" marB="0" anchor="ctr"/>
                </a:tc>
                <a:extLst>
                  <a:ext uri="{0D108BD9-81ED-4DB2-BD59-A6C34878D82A}">
                    <a16:rowId xmlns:a16="http://schemas.microsoft.com/office/drawing/2014/main" val="10001"/>
                  </a:ext>
                </a:extLst>
              </a:tr>
              <a:tr h="163444">
                <a:tc>
                  <a:txBody>
                    <a:bodyPr/>
                    <a:lstStyle/>
                    <a:p>
                      <a:pPr marL="0" marR="0" lvl="0" indent="0" algn="ctr" rtl="0">
                        <a:spcBef>
                          <a:spcPts val="0"/>
                        </a:spcBef>
                        <a:spcAft>
                          <a:spcPts val="0"/>
                        </a:spcAft>
                        <a:buNone/>
                      </a:pPr>
                      <a:r>
                        <a:rPr lang="en-US" sz="800" b="1" dirty="0"/>
                        <a:t>28</a:t>
                      </a:r>
                      <a:endParaRPr sz="800" b="1" dirty="0"/>
                    </a:p>
                  </a:txBody>
                  <a:tcPr marL="36000" marR="3600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RUPID xx A</a:t>
                      </a:r>
                    </a:p>
                  </a:txBody>
                  <a:tcPr marL="36000" marR="36000" marT="0" marB="0" anchor="ctr"/>
                </a:tc>
                <a:tc>
                  <a:txBody>
                    <a:bodyPr/>
                    <a:lstStyle/>
                    <a:p>
                      <a:pPr marL="0" marR="0" lvl="0" indent="0" algn="ctr" rtl="0">
                        <a:spcBef>
                          <a:spcPts val="0"/>
                        </a:spcBef>
                        <a:spcAft>
                          <a:spcPts val="0"/>
                        </a:spcAft>
                        <a:buNone/>
                      </a:pPr>
                      <a:r>
                        <a:rPr lang="en-US" altLang="ko-Kore-KR" sz="800" b="1" dirty="0"/>
                        <a:t>TL307</a:t>
                      </a:r>
                      <a:r>
                        <a:rPr lang="en-US" altLang="ko-Kore-KR" sz="800" b="1" dirty="0">
                          <a:solidFill>
                            <a:srgbClr val="0070C0"/>
                          </a:solidFill>
                        </a:rPr>
                        <a:t>(PMS)</a:t>
                      </a:r>
                    </a:p>
                    <a:p>
                      <a:pPr marL="0" marR="0" lvl="0" indent="0" algn="ctr" rtl="0">
                        <a:spcBef>
                          <a:spcPts val="0"/>
                        </a:spcBef>
                        <a:spcAft>
                          <a:spcPts val="0"/>
                        </a:spcAft>
                        <a:buNone/>
                      </a:pPr>
                      <a:r>
                        <a:rPr lang="en-US" altLang="ko-Kore-KR" sz="800" b="1" dirty="0"/>
                        <a:t>TL304</a:t>
                      </a:r>
                    </a:p>
                  </a:txBody>
                  <a:tcPr marL="36000" marR="36000" marT="0" marB="0" anchor="ctr"/>
                </a:tc>
                <a:tc>
                  <a:txBody>
                    <a:bodyPr/>
                    <a:lstStyle/>
                    <a:p>
                      <a:pPr marL="0" marR="0" lvl="0" indent="0" algn="ctr" rtl="0">
                        <a:spcBef>
                          <a:spcPts val="0"/>
                        </a:spcBef>
                        <a:spcAft>
                          <a:spcPts val="0"/>
                        </a:spcAft>
                        <a:buNone/>
                      </a:pPr>
                      <a:r>
                        <a:rPr lang="en-US" sz="800" b="1" dirty="0"/>
                        <a:t>RNAV ILS Z 28</a:t>
                      </a:r>
                      <a:endParaRPr sz="800" b="1" dirty="0"/>
                    </a:p>
                  </a:txBody>
                  <a:tcPr marL="36000" marR="36000" marT="0" marB="0" anchor="ctr"/>
                </a:tc>
                <a:extLst>
                  <a:ext uri="{0D108BD9-81ED-4DB2-BD59-A6C34878D82A}">
                    <a16:rowId xmlns:a16="http://schemas.microsoft.com/office/drawing/2014/main" val="10002"/>
                  </a:ext>
                </a:extLst>
              </a:tr>
              <a:tr h="184071">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0" marB="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10(106’)  10171’   </a:t>
                      </a:r>
                      <a:r>
                        <a:rPr lang="en-US" sz="800" b="1" dirty="0">
                          <a:solidFill>
                            <a:srgbClr val="C00000"/>
                          </a:solidFill>
                        </a:rPr>
                        <a:t>DIS TH   </a:t>
                      </a:r>
                      <a:r>
                        <a:rPr lang="en-US" altLang="ko-Kore-KR" sz="800" b="1" dirty="0">
                          <a:solidFill>
                            <a:srgbClr val="00B050"/>
                          </a:solidFill>
                        </a:rPr>
                        <a:t>28(89’)  9843’</a:t>
                      </a:r>
                      <a:endParaRPr sz="800" b="1"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60867">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  10</a:t>
                      </a:r>
                      <a:r>
                        <a:rPr lang="en-US" altLang="ko-KR" sz="800" b="1" dirty="0">
                          <a:solidFill>
                            <a:srgbClr val="C00000"/>
                          </a:solidFill>
                        </a:rPr>
                        <a:t>(3.3/3.5)</a:t>
                      </a:r>
                      <a:r>
                        <a:rPr lang="en-US" sz="800" b="1" dirty="0">
                          <a:solidFill>
                            <a:schemeClr val="dk1"/>
                          </a:solidFill>
                        </a:rPr>
                        <a:t> : E(5469’),D(6535</a:t>
                      </a:r>
                      <a:r>
                        <a:rPr lang="en-US" altLang="ko-KR" sz="800" b="1" dirty="0">
                          <a:solidFill>
                            <a:schemeClr val="dk1"/>
                          </a:solidFill>
                        </a:rPr>
                        <a:t>’), </a:t>
                      </a:r>
                      <a:r>
                        <a:rPr lang="en-US" sz="800" b="1" dirty="0">
                          <a:solidFill>
                            <a:schemeClr val="dk1"/>
                          </a:solidFill>
                        </a:rPr>
                        <a:t>28 : F(5393’),G(6555’)</a:t>
                      </a:r>
                      <a:endParaRPr lang="en-US" sz="800" dirty="0">
                        <a:solidFill>
                          <a:srgbClr val="C0000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62007">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RWY 10 Align After DA Due Terrain </a:t>
                      </a:r>
                      <a:r>
                        <a:rPr lang="en-US" sz="800" dirty="0">
                          <a:solidFill>
                            <a:srgbClr val="0070C0"/>
                          </a:solidFill>
                        </a:rPr>
                        <a:t>(</a:t>
                      </a:r>
                      <a:r>
                        <a:rPr lang="en-US" sz="800" dirty="0">
                          <a:solidFill>
                            <a:srgbClr val="C00000"/>
                          </a:solidFill>
                        </a:rPr>
                        <a:t>NO AUTO L/D</a:t>
                      </a:r>
                      <a:r>
                        <a:rPr lang="en-US" sz="800" dirty="0">
                          <a:solidFill>
                            <a:srgbClr val="0070C0"/>
                          </a:solidFill>
                        </a:rPr>
                        <a:t>)</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AA47F5"/>
                          </a:solidFill>
                        </a:rPr>
                        <a:t>Align by Visual Follow GS </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 </a:t>
                      </a:r>
                      <a:r>
                        <a:rPr lang="en-US" sz="700" b="1" dirty="0">
                          <a:solidFill>
                            <a:schemeClr val="tx1"/>
                          </a:solidFill>
                        </a:rPr>
                        <a:t>Parking Brake Remain SET </a:t>
                      </a:r>
                      <a:r>
                        <a:rPr lang="en-US" sz="600" b="1" dirty="0">
                          <a:solidFill>
                            <a:srgbClr val="0070C0"/>
                          </a:solidFill>
                        </a:rPr>
                        <a:t>(After All Offload then REQ Release) </a:t>
                      </a:r>
                      <a:endParaRPr lang="en-US" sz="800" b="1" dirty="0">
                        <a:solidFill>
                          <a:srgbClr val="0070C0"/>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rgbClr val="FF0000"/>
                          </a:solidFill>
                        </a:rPr>
                        <a:t>TAXI SPD Max 16kts</a:t>
                      </a:r>
                      <a:r>
                        <a:rPr lang="en-US" sz="800" b="0" dirty="0">
                          <a:solidFill>
                            <a:schemeClr val="tx1"/>
                          </a:solidFill>
                        </a:rPr>
                        <a:t>, APU off Procedure</a:t>
                      </a: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2B7D9463-A88C-657E-36E3-FFACA0B4A960}"/>
              </a:ext>
            </a:extLst>
          </p:cNvPr>
          <p:cNvGraphicFramePr/>
          <p:nvPr>
            <p:extLst>
              <p:ext uri="{D42A27DB-BD31-4B8C-83A1-F6EECF244321}">
                <p14:modId xmlns:p14="http://schemas.microsoft.com/office/powerpoint/2010/main" val="3790648043"/>
              </p:ext>
            </p:extLst>
          </p:nvPr>
        </p:nvGraphicFramePr>
        <p:xfrm>
          <a:off x="-2501" y="12087"/>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bg1"/>
                          </a:solidFill>
                          <a:hlinkClick r:id="rId4">
                            <a:extLst>
                              <a:ext uri="{A12FA001-AC4F-418D-AE19-62706E023703}">
                                <ahyp:hlinkClr xmlns:ahyp="http://schemas.microsoft.com/office/drawing/2018/hyperlinkcolor" val="tx"/>
                              </a:ext>
                            </a:extLst>
                          </a:hlinkClick>
                        </a:rPr>
                        <a:t>ZYTL(DLC) 107ft</a:t>
                      </a:r>
                      <a:endParaRPr sz="12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8A4BC288-4472-D50A-E876-6EB1EB95F6A1}"/>
              </a:ext>
            </a:extLst>
          </p:cNvPr>
          <p:cNvSpPr/>
          <p:nvPr/>
        </p:nvSpPr>
        <p:spPr>
          <a:xfrm>
            <a:off x="1651787" y="3504553"/>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F97D4F3D-FF0C-FDED-A507-17DB62A3B3BA}"/>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9288576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899C8511-836F-F239-6741-D6AC626F5ADC}"/>
            </a:ext>
          </a:extLst>
        </p:cNvPr>
        <p:cNvGrpSpPr/>
        <p:nvPr/>
      </p:nvGrpSpPr>
      <p:grpSpPr>
        <a:xfrm>
          <a:off x="0" y="0"/>
          <a:ext cx="0" cy="0"/>
          <a:chOff x="0" y="0"/>
          <a:chExt cx="0" cy="0"/>
        </a:xfrm>
      </p:grpSpPr>
      <p:pic>
        <p:nvPicPr>
          <p:cNvPr id="397" name="Google Shape;397;p30">
            <a:extLst>
              <a:ext uri="{FF2B5EF4-FFF2-40B4-BE49-F238E27FC236}">
                <a16:creationId xmlns:a16="http://schemas.microsoft.com/office/drawing/2014/main" id="{FEE7959D-3C0C-154D-04C3-CBA939701D9A}"/>
              </a:ext>
            </a:extLst>
          </p:cNvPr>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6664E036-24A6-4740-3AAE-4CBCE7AE3EA0}"/>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74B2AF9A-775E-6F54-8C97-508EFCD60E7D}"/>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68703358-AEE5-EB43-CBCB-FFC25292DE8A}"/>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029DFFA1-BE25-8CB2-ACDF-27EE6789585C}"/>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09095466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2AE82B88-A031-A9EF-D496-D553CF650928}"/>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1646C4F2-3ED5-5AF0-F68C-A238C964F7CB}"/>
              </a:ext>
            </a:extLst>
          </p:cNvPr>
          <p:cNvGraphicFramePr/>
          <p:nvPr>
            <p:extLst>
              <p:ext uri="{D42A27DB-BD31-4B8C-83A1-F6EECF244321}">
                <p14:modId xmlns:p14="http://schemas.microsoft.com/office/powerpoint/2010/main" val="3886795127"/>
              </p:ext>
            </p:extLst>
          </p:nvPr>
        </p:nvGraphicFramePr>
        <p:xfrm>
          <a:off x="4919" y="705249"/>
          <a:ext cx="2300363" cy="1864570"/>
        </p:xfrm>
        <a:graphic>
          <a:graphicData uri="http://schemas.openxmlformats.org/drawingml/2006/table">
            <a:tbl>
              <a:tblPr firstRow="1" bandRow="1">
                <a:noFill/>
                <a:tableStyleId>{A521BE36-7E6F-4EC9-8D66-1CF97A6895EC}</a:tableStyleId>
              </a:tblPr>
              <a:tblGrid>
                <a:gridCol w="228062">
                  <a:extLst>
                    <a:ext uri="{9D8B030D-6E8A-4147-A177-3AD203B41FA5}">
                      <a16:colId xmlns:a16="http://schemas.microsoft.com/office/drawing/2014/main" val="20000"/>
                    </a:ext>
                  </a:extLst>
                </a:gridCol>
                <a:gridCol w="62747">
                  <a:extLst>
                    <a:ext uri="{9D8B030D-6E8A-4147-A177-3AD203B41FA5}">
                      <a16:colId xmlns:a16="http://schemas.microsoft.com/office/drawing/2014/main" val="20001"/>
                    </a:ext>
                  </a:extLst>
                </a:gridCol>
                <a:gridCol w="230994">
                  <a:extLst>
                    <a:ext uri="{9D8B030D-6E8A-4147-A177-3AD203B41FA5}">
                      <a16:colId xmlns:a16="http://schemas.microsoft.com/office/drawing/2014/main" val="20002"/>
                    </a:ext>
                  </a:extLst>
                </a:gridCol>
                <a:gridCol w="331870">
                  <a:extLst>
                    <a:ext uri="{9D8B030D-6E8A-4147-A177-3AD203B41FA5}">
                      <a16:colId xmlns:a16="http://schemas.microsoft.com/office/drawing/2014/main" val="20003"/>
                    </a:ext>
                  </a:extLst>
                </a:gridCol>
                <a:gridCol w="157087">
                  <a:extLst>
                    <a:ext uri="{9D8B030D-6E8A-4147-A177-3AD203B41FA5}">
                      <a16:colId xmlns:a16="http://schemas.microsoft.com/office/drawing/2014/main" val="20004"/>
                    </a:ext>
                  </a:extLst>
                </a:gridCol>
                <a:gridCol w="74893">
                  <a:extLst>
                    <a:ext uri="{9D8B030D-6E8A-4147-A177-3AD203B41FA5}">
                      <a16:colId xmlns:a16="http://schemas.microsoft.com/office/drawing/2014/main" val="20005"/>
                    </a:ext>
                  </a:extLst>
                </a:gridCol>
                <a:gridCol w="231979">
                  <a:extLst>
                    <a:ext uri="{9D8B030D-6E8A-4147-A177-3AD203B41FA5}">
                      <a16:colId xmlns:a16="http://schemas.microsoft.com/office/drawing/2014/main" val="20006"/>
                    </a:ext>
                  </a:extLst>
                </a:gridCol>
                <a:gridCol w="366946">
                  <a:extLst>
                    <a:ext uri="{9D8B030D-6E8A-4147-A177-3AD203B41FA5}">
                      <a16:colId xmlns:a16="http://schemas.microsoft.com/office/drawing/2014/main" val="20007"/>
                    </a:ext>
                  </a:extLst>
                </a:gridCol>
                <a:gridCol w="340361">
                  <a:extLst>
                    <a:ext uri="{9D8B030D-6E8A-4147-A177-3AD203B41FA5}">
                      <a16:colId xmlns:a16="http://schemas.microsoft.com/office/drawing/2014/main" val="20008"/>
                    </a:ext>
                  </a:extLst>
                </a:gridCol>
                <a:gridCol w="275424">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DLC</a:t>
                      </a:r>
                      <a:r>
                        <a:rPr lang="en-US" sz="800" u="none" strike="noStrike" cap="none" dirty="0">
                          <a:solidFill>
                            <a:srgbClr val="C00000"/>
                          </a:solidFill>
                        </a:rPr>
                        <a:t> </a:t>
                      </a:r>
                      <a:r>
                        <a:rPr lang="en-US" sz="800" u="none" strike="noStrike" cap="none" dirty="0"/>
                        <a:t>: RNP SID (NADP 1)</a:t>
                      </a:r>
                      <a:endParaRPr lang="en-US" sz="800" u="none" strike="noStrike" cap="none" dirty="0">
                        <a:solidFill>
                          <a:schemeClr val="accent4"/>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10</a:t>
                      </a:r>
                    </a:p>
                  </a:txBody>
                  <a:tcPr marL="36000" marR="3600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SANKO xx 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103</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103</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900m(3000’)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103</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28</a:t>
                      </a:r>
                      <a:endParaRPr sz="800" b="1" u="none" strike="noStrike" cap="none" dirty="0"/>
                    </a:p>
                  </a:txBody>
                  <a:tcPr marL="36000" marR="3600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SANKO xx D</a:t>
                      </a: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283</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283</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altLang="ko-Kore-KR" sz="800" b="1" u="none" strike="noStrike" cap="none" dirty="0">
                          <a:solidFill>
                            <a:srgbClr val="0070C0"/>
                          </a:solidFill>
                        </a:rPr>
                        <a:t>ATC</a:t>
                      </a:r>
                    </a:p>
                    <a:p>
                      <a:pPr marL="0" marR="0" lvl="0" indent="0" algn="ctr" rtl="0">
                        <a:spcBef>
                          <a:spcPts val="0"/>
                        </a:spcBef>
                        <a:spcAft>
                          <a:spcPts val="0"/>
                        </a:spcAft>
                        <a:buNone/>
                      </a:pPr>
                      <a:r>
                        <a:rPr lang="en-US" altLang="ko-Kore-KR" sz="800" b="1" u="none" strike="noStrike" cap="none" dirty="0">
                          <a:solidFill>
                            <a:srgbClr val="0070C0"/>
                          </a:solidFill>
                        </a:rPr>
                        <a:t>900m(3000’)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283</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DBL 115.4</a:t>
                      </a:r>
                      <a:endParaRPr sz="800" b="1" u="none" strike="noStrike" cap="none"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10 109.1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28 111.1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10(106’)</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10827’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28(89’)</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hMerge="1">
                  <a:txBody>
                    <a:bodyPr/>
                    <a:lstStyle/>
                    <a:p>
                      <a:endParaRPr lang="ko-Kore-KR" altLang="en-US"/>
                    </a:p>
                  </a:txBody>
                  <a:tcPr/>
                </a:tc>
                <a:tc gridSpan="8">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28 : DBL 283/2.9, DBL 280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265820102"/>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altLang="ko-Kore-KR" sz="800" b="1" dirty="0" err="1">
                          <a:solidFill>
                            <a:srgbClr val="C00000"/>
                          </a:solidFill>
                        </a:rPr>
                        <a:t>PushBack</a:t>
                      </a:r>
                      <a:r>
                        <a:rPr lang="en-US" altLang="ko-Kore-KR" sz="800" b="1" dirty="0">
                          <a:solidFill>
                            <a:srgbClr val="C00000"/>
                          </a:solidFill>
                        </a:rPr>
                        <a:t> Facing West (RWY28 180Back)</a:t>
                      </a: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C00000"/>
                          </a:solidFill>
                        </a:rPr>
                        <a:t>TAXI SPD 16kts</a:t>
                      </a:r>
                    </a:p>
                    <a:p>
                      <a:pPr marL="0" marR="0" lvl="0" indent="0" algn="ctr" rtl="0">
                        <a:lnSpc>
                          <a:spcPct val="100000"/>
                        </a:lnSpc>
                        <a:spcBef>
                          <a:spcPts val="0"/>
                        </a:spcBef>
                        <a:spcAft>
                          <a:spcPts val="0"/>
                        </a:spcAft>
                        <a:buClr>
                          <a:schemeClr val="dk1"/>
                        </a:buClr>
                        <a:buSzPts val="800"/>
                        <a:buFont typeface="Calibri"/>
                        <a:buNone/>
                      </a:pPr>
                      <a:r>
                        <a:rPr lang="en-US" altLang="ko-Kore-KR" sz="800" b="1" dirty="0">
                          <a:solidFill>
                            <a:srgbClr val="0070C0"/>
                          </a:solidFill>
                        </a:rPr>
                        <a:t>RWY28 Hold Short C/B – HP3/HP3</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5CCFD6AD-7902-F336-4C89-5CED28736803}"/>
              </a:ext>
            </a:extLst>
          </p:cNvPr>
          <p:cNvGraphicFramePr/>
          <p:nvPr>
            <p:extLst>
              <p:ext uri="{D42A27DB-BD31-4B8C-83A1-F6EECF244321}">
                <p14:modId xmlns:p14="http://schemas.microsoft.com/office/powerpoint/2010/main" val="3105987276"/>
              </p:ext>
            </p:extLst>
          </p:nvPr>
        </p:nvGraphicFramePr>
        <p:xfrm>
          <a:off x="-2501" y="16504"/>
          <a:ext cx="2328850" cy="666055"/>
        </p:xfrm>
        <a:graphic>
          <a:graphicData uri="http://schemas.openxmlformats.org/drawingml/2006/table">
            <a:tbl>
              <a:tblPr firstRow="1" bandRow="1">
                <a:noFill/>
                <a:tableStyleId>{A521BE36-7E6F-4EC9-8D66-1CF97A6895EC}</a:tableStyleId>
              </a:tblPr>
              <a:tblGrid>
                <a:gridCol w="1171878">
                  <a:extLst>
                    <a:ext uri="{9D8B030D-6E8A-4147-A177-3AD203B41FA5}">
                      <a16:colId xmlns:a16="http://schemas.microsoft.com/office/drawing/2014/main" val="20000"/>
                    </a:ext>
                  </a:extLst>
                </a:gridCol>
                <a:gridCol w="1156972">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bg1"/>
                          </a:solidFill>
                          <a:hlinkClick r:id="rId3">
                            <a:extLst>
                              <a:ext uri="{A12FA001-AC4F-418D-AE19-62706E023703}">
                                <ahyp:hlinkClr xmlns:ahyp="http://schemas.microsoft.com/office/drawing/2018/hyperlinkcolor" val="tx"/>
                              </a:ext>
                            </a:extLst>
                          </a:hlinkClick>
                        </a:rPr>
                        <a:t>ZYTL(DLC)107ft</a:t>
                      </a:r>
                      <a:endParaRPr lang="en-US" altLang="ko-Kore-KR" sz="12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altLang="ko-KR" sz="700" b="1" dirty="0">
                          <a:solidFill>
                            <a:srgbClr val="FF0000"/>
                          </a:solidFill>
                        </a:rPr>
                        <a:t>DCL 20min(</a:t>
                      </a:r>
                      <a:r>
                        <a:rPr lang="en-US" altLang="ko-KR" sz="700" b="1" dirty="0" err="1">
                          <a:solidFill>
                            <a:srgbClr val="FF0000"/>
                          </a:solidFill>
                        </a:rPr>
                        <a:t>ReadBack</a:t>
                      </a:r>
                      <a:r>
                        <a:rPr lang="en-US" altLang="ko-KR" sz="700" b="1" dirty="0">
                          <a:solidFill>
                            <a:srgbClr val="FF0000"/>
                          </a:solidFill>
                        </a:rPr>
                        <a:t> to GND)</a:t>
                      </a:r>
                      <a:r>
                        <a:rPr lang="ko-KR" altLang="en-US" sz="700" b="1" dirty="0">
                          <a:solidFill>
                            <a:srgbClr val="FF0000"/>
                          </a:solidFill>
                        </a:rPr>
                        <a:t> </a:t>
                      </a:r>
                      <a:r>
                        <a:rPr lang="en-US" altLang="ko-KR" sz="700" b="1" dirty="0">
                          <a:solidFill>
                            <a:srgbClr val="FF0000"/>
                          </a:solidFill>
                        </a:rPr>
                        <a:t>Voice 10min(GND)</a:t>
                      </a:r>
                      <a:endParaRPr lang="en-US" altLang="ko-KR" sz="600" b="1" dirty="0">
                        <a:solidFill>
                          <a:srgbClr val="FF0000"/>
                        </a:solidFill>
                      </a:endParaRP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73070BD7-0C1A-83AC-8136-EF8CBE88DCDB}"/>
              </a:ext>
            </a:extLst>
          </p:cNvPr>
          <p:cNvSpPr txBox="1"/>
          <p:nvPr/>
        </p:nvSpPr>
        <p:spPr>
          <a:xfrm>
            <a:off x="969470" y="2622118"/>
            <a:ext cx="708848"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118.25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123.85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DLC</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TGU 132.8 </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5561BE8A-EE22-E068-7878-1E854D00D852}"/>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5D0FA613-9312-F2DD-DC23-51909AB28B98}"/>
              </a:ext>
            </a:extLst>
          </p:cNvPr>
          <p:cNvSpPr/>
          <p:nvPr/>
        </p:nvSpPr>
        <p:spPr>
          <a:xfrm>
            <a:off x="1651787" y="304985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534D4E9-7B50-AB61-FEC1-B03789F420CB}"/>
              </a:ext>
            </a:extLst>
          </p:cNvPr>
          <p:cNvSpPr/>
          <p:nvPr/>
        </p:nvSpPr>
        <p:spPr>
          <a:xfrm>
            <a:off x="847312" y="183398"/>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7" name="그림 6" descr="텍스트, 라인, 폰트, 도표이(가) 표시된 사진&#10;&#10;자동 생성된 설명">
            <a:extLst>
              <a:ext uri="{FF2B5EF4-FFF2-40B4-BE49-F238E27FC236}">
                <a16:creationId xmlns:a16="http://schemas.microsoft.com/office/drawing/2014/main" id="{FD37E064-C7D6-A385-2859-C7566E24ACFF}"/>
              </a:ext>
            </a:extLst>
          </p:cNvPr>
          <p:cNvPicPr>
            <a:picLocks noChangeAspect="1"/>
          </p:cNvPicPr>
          <p:nvPr/>
        </p:nvPicPr>
        <p:blipFill>
          <a:blip r:embed="rId7"/>
          <a:stretch>
            <a:fillRect/>
          </a:stretch>
        </p:blipFill>
        <p:spPr>
          <a:xfrm>
            <a:off x="4919" y="2568389"/>
            <a:ext cx="964551" cy="705378"/>
          </a:xfrm>
          <a:prstGeom prst="rect">
            <a:avLst/>
          </a:prstGeom>
        </p:spPr>
      </p:pic>
    </p:spTree>
    <p:extLst>
      <p:ext uri="{BB962C8B-B14F-4D97-AF65-F5344CB8AC3E}">
        <p14:creationId xmlns:p14="http://schemas.microsoft.com/office/powerpoint/2010/main" val="73488371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22FF73A4-94AA-8A00-AF77-9E8843AFDC0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179AF4B-23CD-124F-C0C8-9DC20C1A596A}"/>
              </a:ext>
            </a:extLst>
          </p:cNvPr>
          <p:cNvSpPr txBox="1"/>
          <p:nvPr/>
        </p:nvSpPr>
        <p:spPr>
          <a:xfrm>
            <a:off x="-77262" y="3211794"/>
            <a:ext cx="2496196"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126.17 – 120.72 – 124.52(125.72)</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 120.95 – 120.55 - 125.32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NKG 126.55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HFE APP 124.45 – 119.85</a:t>
            </a:r>
          </a:p>
        </p:txBody>
      </p:sp>
      <p:graphicFrame>
        <p:nvGraphicFramePr>
          <p:cNvPr id="291" name="Google Shape;291;p18">
            <a:extLst>
              <a:ext uri="{FF2B5EF4-FFF2-40B4-BE49-F238E27FC236}">
                <a16:creationId xmlns:a16="http://schemas.microsoft.com/office/drawing/2014/main" id="{5225E797-C66F-3829-5728-529E7A13D967}"/>
              </a:ext>
            </a:extLst>
          </p:cNvPr>
          <p:cNvGraphicFramePr/>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16L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a:extLst>
              <a:ext uri="{FF2B5EF4-FFF2-40B4-BE49-F238E27FC236}">
                <a16:creationId xmlns:a16="http://schemas.microsoft.com/office/drawing/2014/main" id="{8FA9982D-D6D8-0E82-9799-7C6E20D0059A}"/>
              </a:ext>
            </a:extLst>
          </p:cNvPr>
          <p:cNvGraphicFramePr/>
          <p:nvPr>
            <p:extLst>
              <p:ext uri="{D42A27DB-BD31-4B8C-83A1-F6EECF244321}">
                <p14:modId xmlns:p14="http://schemas.microsoft.com/office/powerpoint/2010/main" val="3377336891"/>
              </p:ext>
            </p:extLst>
          </p:nvPr>
        </p:nvGraphicFramePr>
        <p:xfrm>
          <a:off x="15324" y="3912947"/>
          <a:ext cx="2311025" cy="1655410"/>
        </p:xfrm>
        <a:graphic>
          <a:graphicData uri="http://schemas.openxmlformats.org/drawingml/2006/table">
            <a:tbl>
              <a:tblPr firstRow="1" bandRow="1">
                <a:noFill/>
                <a:tableStyleId>{A521BE36-7E6F-4EC9-8D66-1CF97A6895EC}</a:tableStyleId>
              </a:tblPr>
              <a:tblGrid>
                <a:gridCol w="482225">
                  <a:extLst>
                    <a:ext uri="{9D8B030D-6E8A-4147-A177-3AD203B41FA5}">
                      <a16:colId xmlns:a16="http://schemas.microsoft.com/office/drawing/2014/main" val="20000"/>
                    </a:ext>
                  </a:extLst>
                </a:gridCol>
                <a:gridCol w="876315">
                  <a:extLst>
                    <a:ext uri="{9D8B030D-6E8A-4147-A177-3AD203B41FA5}">
                      <a16:colId xmlns:a16="http://schemas.microsoft.com/office/drawing/2014/main" val="20001"/>
                    </a:ext>
                  </a:extLst>
                </a:gridCol>
                <a:gridCol w="430599">
                  <a:extLst>
                    <a:ext uri="{9D8B030D-6E8A-4147-A177-3AD203B41FA5}">
                      <a16:colId xmlns:a16="http://schemas.microsoft.com/office/drawing/2014/main" val="20002"/>
                    </a:ext>
                  </a:extLst>
                </a:gridCol>
                <a:gridCol w="521886">
                  <a:extLst>
                    <a:ext uri="{9D8B030D-6E8A-4147-A177-3AD203B41FA5}">
                      <a16:colId xmlns:a16="http://schemas.microsoft.com/office/drawing/2014/main" val="20003"/>
                    </a:ext>
                  </a:extLst>
                </a:gridCol>
              </a:tblGrid>
              <a:tr h="261302">
                <a:tc gridSpan="4">
                  <a:txBody>
                    <a:bodyPr/>
                    <a:lstStyle/>
                    <a:p>
                      <a:pPr marL="0" marR="0" lvl="0" indent="0" algn="ctr" rtl="0">
                        <a:spcBef>
                          <a:spcPts val="0"/>
                        </a:spcBef>
                        <a:spcAft>
                          <a:spcPts val="0"/>
                        </a:spcAft>
                        <a:buNone/>
                      </a:pPr>
                      <a:r>
                        <a:rPr lang="en-US" sz="800" dirty="0"/>
                        <a:t>HFE : STAR   </a:t>
                      </a:r>
                      <a:r>
                        <a:rPr lang="en-US" sz="800" b="0" dirty="0">
                          <a:solidFill>
                            <a:srgbClr val="FFC000"/>
                          </a:solidFill>
                        </a:rPr>
                        <a:t>SA CAT I not Approved</a:t>
                      </a:r>
                    </a:p>
                    <a:p>
                      <a:pPr marL="0" marR="0" lvl="0" indent="0" algn="ctr" rtl="0">
                        <a:spcBef>
                          <a:spcPts val="0"/>
                        </a:spcBef>
                        <a:spcAft>
                          <a:spcPts val="0"/>
                        </a:spcAft>
                        <a:buNone/>
                      </a:pPr>
                      <a:r>
                        <a:rPr lang="en-US" sz="800" b="0" dirty="0">
                          <a:solidFill>
                            <a:srgbClr val="FFC000"/>
                          </a:solidFill>
                        </a:rPr>
                        <a:t>RVR 550 </a:t>
                      </a:r>
                      <a:r>
                        <a:rPr lang="en-US" sz="800" b="0" dirty="0" err="1">
                          <a:solidFill>
                            <a:srgbClr val="FFC000"/>
                          </a:solidFill>
                        </a:rPr>
                        <a:t>Wx</a:t>
                      </a:r>
                      <a:r>
                        <a:rPr lang="en-US" sz="800" b="0" dirty="0">
                          <a:solidFill>
                            <a:srgbClr val="FFC000"/>
                          </a:solidFill>
                        </a:rPr>
                        <a:t> Min (with HUD or AP or FD)</a:t>
                      </a:r>
                    </a:p>
                    <a:p>
                      <a:pPr marL="0" marR="0" lvl="0" indent="0" algn="ctr" rtl="0">
                        <a:spcBef>
                          <a:spcPts val="0"/>
                        </a:spcBef>
                        <a:spcAft>
                          <a:spcPts val="0"/>
                        </a:spcAft>
                        <a:buNone/>
                      </a:pPr>
                      <a:r>
                        <a:rPr lang="en-US" sz="800" b="1" dirty="0">
                          <a:solidFill>
                            <a:srgbClr val="FF0000"/>
                          </a:solidFill>
                        </a:rPr>
                        <a:t>DCT “VEMEX”</a:t>
                      </a:r>
                      <a:endParaRPr sz="800" b="1" dirty="0">
                        <a:solidFill>
                          <a:srgbClr val="FF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51128">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MAD 01A</a:t>
                      </a:r>
                    </a:p>
                  </a:txBody>
                  <a:tcPr marL="36000" marR="36000" marT="36000" marB="36000" anchor="ctr"/>
                </a:tc>
                <a:tc>
                  <a:txBody>
                    <a:bodyPr/>
                    <a:lstStyle/>
                    <a:p>
                      <a:pPr marL="0" marR="0" lvl="0" indent="0" algn="ctr" rtl="0">
                        <a:spcBef>
                          <a:spcPts val="0"/>
                        </a:spcBef>
                        <a:spcAft>
                          <a:spcPts val="0"/>
                        </a:spcAft>
                        <a:buNone/>
                      </a:pPr>
                      <a:r>
                        <a:rPr lang="en-US" sz="800" b="1" dirty="0"/>
                        <a:t>OF205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15</a:t>
                      </a:r>
                    </a:p>
                  </a:txBody>
                  <a:tcPr marL="36000" marR="36000" marT="36000" marB="36000" anchor="ctr"/>
                </a:tc>
                <a:extLst>
                  <a:ext uri="{0D108BD9-81ED-4DB2-BD59-A6C34878D82A}">
                    <a16:rowId xmlns:a16="http://schemas.microsoft.com/office/drawing/2014/main" val="10001"/>
                  </a:ext>
                </a:extLst>
              </a:tr>
              <a:tr h="151128">
                <a:tc>
                  <a:txBody>
                    <a:bodyPr/>
                    <a:lstStyle/>
                    <a:p>
                      <a:pPr marL="0" marR="0" lvl="0" indent="0" algn="ctr" rtl="0">
                        <a:spcBef>
                          <a:spcPts val="0"/>
                        </a:spcBef>
                        <a:spcAft>
                          <a:spcPts val="0"/>
                        </a:spcAft>
                        <a:buNone/>
                      </a:pPr>
                      <a:r>
                        <a:rPr lang="en-US" sz="800" b="0" dirty="0"/>
                        <a:t>33</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MAD 02A, </a:t>
                      </a:r>
                      <a:r>
                        <a:rPr lang="en-US" altLang="ko-Kore-KR" sz="800" b="1" dirty="0">
                          <a:solidFill>
                            <a:srgbClr val="0070C0"/>
                          </a:solidFill>
                        </a:rPr>
                        <a:t>RDR </a:t>
                      </a:r>
                      <a:r>
                        <a:rPr lang="en-US" altLang="ko-Kore-KR" sz="800" b="1" dirty="0" err="1">
                          <a:solidFill>
                            <a:srgbClr val="0070C0"/>
                          </a:solidFill>
                        </a:rPr>
                        <a:t>Vec</a:t>
                      </a:r>
                      <a:endParaRPr lang="en-US" altLang="ko-Kore-K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t>OF108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ILS Z 33</a:t>
                      </a:r>
                    </a:p>
                  </a:txBody>
                  <a:tcPr marL="36000" marR="36000" marT="36000" marB="36000" anchor="ctr"/>
                </a:tc>
                <a:extLst>
                  <a:ext uri="{0D108BD9-81ED-4DB2-BD59-A6C34878D82A}">
                    <a16:rowId xmlns:a16="http://schemas.microsoft.com/office/drawing/2014/main" val="10002"/>
                  </a:ext>
                </a:extLst>
              </a:tr>
              <a:tr h="151128">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15(200’)          11155’          33(208’)</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34116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15 : A5(5500’), A6(6500’), 33 : </a:t>
                      </a:r>
                      <a:r>
                        <a:rPr lang="en-US" sz="800" b="1" dirty="0">
                          <a:solidFill>
                            <a:srgbClr val="C00000"/>
                          </a:solidFill>
                        </a:rPr>
                        <a:t>A4(5500’)</a:t>
                      </a:r>
                      <a:r>
                        <a:rPr lang="en-US" sz="800" b="1" dirty="0">
                          <a:solidFill>
                            <a:schemeClr val="dk1"/>
                          </a:solidFill>
                        </a:rPr>
                        <a:t>, A3(6500’)</a:t>
                      </a:r>
                      <a:endParaRPr lang="en-US" sz="800" b="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altLang="ko-KR" sz="800" b="1" dirty="0">
                          <a:solidFill>
                            <a:srgbClr val="C00000"/>
                          </a:solidFill>
                        </a:rPr>
                        <a:t>No AMM                  TWR CLR</a:t>
                      </a:r>
                      <a:endParaRPr lang="en-US" altLang="ko-KR" sz="800" b="0" dirty="0">
                        <a:solidFill>
                          <a:schemeClr val="accent1"/>
                        </a:solidFill>
                      </a:endParaRPr>
                    </a:p>
                    <a:p>
                      <a:pPr marL="0" marR="0" lvl="0" indent="0" algn="ctr" rtl="0">
                        <a:lnSpc>
                          <a:spcPct val="100000"/>
                        </a:lnSpc>
                        <a:spcBef>
                          <a:spcPts val="0"/>
                        </a:spcBef>
                        <a:spcAft>
                          <a:spcPts val="0"/>
                        </a:spcAft>
                        <a:buClr>
                          <a:schemeClr val="dk1"/>
                        </a:buClr>
                        <a:buSzPts val="800"/>
                        <a:buFont typeface="Calibri"/>
                        <a:buNone/>
                      </a:pPr>
                      <a:r>
                        <a:rPr lang="en-US" altLang="ko-KR" sz="800" b="0" dirty="0">
                          <a:solidFill>
                            <a:schemeClr val="accent1"/>
                          </a:solidFill>
                        </a:rPr>
                        <a:t>Report Vacating RWY, TWY to TWR</a:t>
                      </a:r>
                      <a:endParaRPr lang="en-US" sz="800" b="0" dirty="0">
                        <a:solidFill>
                          <a:schemeClr val="accent1"/>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159445">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700" dirty="0"/>
                        <a:t>Follow Me Car H(F/G), Report Marshaller Insight</a:t>
                      </a:r>
                      <a:endParaRPr dirty="0"/>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F6586E72-9505-A68D-6163-26752AF9602E}"/>
              </a:ext>
            </a:extLst>
          </p:cNvPr>
          <p:cNvGraphicFramePr/>
          <p:nvPr>
            <p:extLst>
              <p:ext uri="{D42A27DB-BD31-4B8C-83A1-F6EECF244321}">
                <p14:modId xmlns:p14="http://schemas.microsoft.com/office/powerpoint/2010/main" val="2391305844"/>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300" dirty="0">
                          <a:solidFill>
                            <a:schemeClr val="bg1"/>
                          </a:solidFill>
                          <a:hlinkClick r:id="rId4">
                            <a:extLst>
                              <a:ext uri="{A12FA001-AC4F-418D-AE19-62706E023703}">
                                <ahyp:hlinkClr xmlns:ahyp="http://schemas.microsoft.com/office/drawing/2018/hyperlinkcolor" val="tx"/>
                              </a:ext>
                            </a:extLst>
                          </a:hlinkClick>
                        </a:rPr>
                        <a:t>ZSOF(HFE) 207ft</a:t>
                      </a:r>
                      <a:endParaRP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endParaRPr sz="105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7442CBE-0134-C613-4BC2-54B56810AE98}"/>
              </a:ext>
            </a:extLst>
          </p:cNvPr>
          <p:cNvSpPr/>
          <p:nvPr/>
        </p:nvSpPr>
        <p:spPr>
          <a:xfrm>
            <a:off x="1651787" y="342024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179B37DD-EE7B-8538-714F-0B0E69584813}"/>
              </a:ext>
            </a:extLst>
          </p:cNvPr>
          <p:cNvSpPr/>
          <p:nvPr/>
        </p:nvSpPr>
        <p:spPr>
          <a:xfrm>
            <a:off x="820538" y="26372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8432654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F7A00444-65D0-C212-1393-2F2732621E75}"/>
            </a:ext>
          </a:extLst>
        </p:cNvPr>
        <p:cNvGrpSpPr/>
        <p:nvPr/>
      </p:nvGrpSpPr>
      <p:grpSpPr>
        <a:xfrm>
          <a:off x="0" y="0"/>
          <a:ext cx="0" cy="0"/>
          <a:chOff x="0" y="0"/>
          <a:chExt cx="0" cy="0"/>
        </a:xfrm>
      </p:grpSpPr>
      <p:pic>
        <p:nvPicPr>
          <p:cNvPr id="397" name="Google Shape;397;p30">
            <a:extLst>
              <a:ext uri="{FF2B5EF4-FFF2-40B4-BE49-F238E27FC236}">
                <a16:creationId xmlns:a16="http://schemas.microsoft.com/office/drawing/2014/main" id="{A399D77B-6746-0424-93E8-059E004A92D3}"/>
              </a:ext>
            </a:extLst>
          </p:cNvPr>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EE64775F-96C4-F314-6FEE-E605479C8C58}"/>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9DD16C1B-B2BE-39D5-6D32-5D55F65E2F0F}"/>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876B962A-9955-6973-4956-E17DED997C74}"/>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19C970C1-71C2-3ACD-C30C-D0B0C078B529}"/>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922710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777628F0-D372-0CA9-C296-D7E3A92D9F89}"/>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61CFE0C6-4258-86C9-1D05-8493D3F270E7}"/>
              </a:ext>
            </a:extLst>
          </p:cNvPr>
          <p:cNvGraphicFramePr/>
          <p:nvPr>
            <p:extLst>
              <p:ext uri="{D42A27DB-BD31-4B8C-83A1-F6EECF244321}">
                <p14:modId xmlns:p14="http://schemas.microsoft.com/office/powerpoint/2010/main" val="3585104227"/>
              </p:ext>
            </p:extLst>
          </p:nvPr>
        </p:nvGraphicFramePr>
        <p:xfrm>
          <a:off x="-4159" y="622988"/>
          <a:ext cx="2339846" cy="1300783"/>
        </p:xfrm>
        <a:graphic>
          <a:graphicData uri="http://schemas.openxmlformats.org/drawingml/2006/table">
            <a:tbl>
              <a:tblPr firstRow="1" bandRow="1">
                <a:noFill/>
                <a:tableStyleId>{A521BE36-7E6F-4EC9-8D66-1CF97A6895EC}</a:tableStyleId>
              </a:tblPr>
              <a:tblGrid>
                <a:gridCol w="332717">
                  <a:extLst>
                    <a:ext uri="{9D8B030D-6E8A-4147-A177-3AD203B41FA5}">
                      <a16:colId xmlns:a16="http://schemas.microsoft.com/office/drawing/2014/main" val="20000"/>
                    </a:ext>
                  </a:extLst>
                </a:gridCol>
                <a:gridCol w="65225">
                  <a:extLst>
                    <a:ext uri="{9D8B030D-6E8A-4147-A177-3AD203B41FA5}">
                      <a16:colId xmlns:a16="http://schemas.microsoft.com/office/drawing/2014/main" val="20001"/>
                    </a:ext>
                  </a:extLst>
                </a:gridCol>
                <a:gridCol w="167489">
                  <a:extLst>
                    <a:ext uri="{9D8B030D-6E8A-4147-A177-3AD203B41FA5}">
                      <a16:colId xmlns:a16="http://schemas.microsoft.com/office/drawing/2014/main" val="20002"/>
                    </a:ext>
                  </a:extLst>
                </a:gridCol>
                <a:gridCol w="421489">
                  <a:extLst>
                    <a:ext uri="{9D8B030D-6E8A-4147-A177-3AD203B41FA5}">
                      <a16:colId xmlns:a16="http://schemas.microsoft.com/office/drawing/2014/main" val="20003"/>
                    </a:ext>
                  </a:extLst>
                </a:gridCol>
                <a:gridCol w="266558">
                  <a:extLst>
                    <a:ext uri="{9D8B030D-6E8A-4147-A177-3AD203B41FA5}">
                      <a16:colId xmlns:a16="http://schemas.microsoft.com/office/drawing/2014/main" val="20004"/>
                    </a:ext>
                  </a:extLst>
                </a:gridCol>
                <a:gridCol w="292515">
                  <a:extLst>
                    <a:ext uri="{9D8B030D-6E8A-4147-A177-3AD203B41FA5}">
                      <a16:colId xmlns:a16="http://schemas.microsoft.com/office/drawing/2014/main" val="20006"/>
                    </a:ext>
                  </a:extLst>
                </a:gridCol>
                <a:gridCol w="473769">
                  <a:extLst>
                    <a:ext uri="{9D8B030D-6E8A-4147-A177-3AD203B41FA5}">
                      <a16:colId xmlns:a16="http://schemas.microsoft.com/office/drawing/2014/main" val="20007"/>
                    </a:ext>
                  </a:extLst>
                </a:gridCol>
                <a:gridCol w="320084">
                  <a:extLst>
                    <a:ext uri="{9D8B030D-6E8A-4147-A177-3AD203B41FA5}">
                      <a16:colId xmlns:a16="http://schemas.microsoft.com/office/drawing/2014/main" val="448940902"/>
                    </a:ext>
                  </a:extLst>
                </a:gridCol>
              </a:tblGrid>
              <a:tr h="146740">
                <a:tc gridSpan="8">
                  <a:txBody>
                    <a:bodyPr/>
                    <a:lstStyle/>
                    <a:p>
                      <a:pPr marL="0" marR="0" lvl="0" indent="0" algn="ctr" rtl="0">
                        <a:spcBef>
                          <a:spcPts val="0"/>
                        </a:spcBef>
                        <a:spcAft>
                          <a:spcPts val="0"/>
                        </a:spcAft>
                        <a:buNone/>
                      </a:pPr>
                      <a:r>
                        <a:rPr lang="en-US" sz="800" u="none" strike="noStrike" cap="none" dirty="0"/>
                        <a:t>HFE: SID (NADP 1) </a:t>
                      </a:r>
                    </a:p>
                  </a:txBody>
                  <a:tcPr marL="36000" marR="72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29237">
                <a:tc>
                  <a:txBody>
                    <a:bodyPr/>
                    <a:lstStyle/>
                    <a:p>
                      <a:pPr marL="0" marR="0" lvl="0" indent="0" algn="ctr" rtl="0">
                        <a:spcBef>
                          <a:spcPts val="0"/>
                        </a:spcBef>
                        <a:spcAft>
                          <a:spcPts val="0"/>
                        </a:spcAft>
                        <a:buNone/>
                      </a:pPr>
                      <a:r>
                        <a:rPr lang="en-US" sz="800" b="1" u="none" strike="noStrike" cap="none" dirty="0"/>
                        <a:t>15</a:t>
                      </a:r>
                      <a:endParaRPr sz="800" b="0" u="none" strike="noStrike" cap="none" dirty="0"/>
                    </a:p>
                  </a:txBody>
                  <a:tcPr marL="0" marR="0" marT="36000" marB="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MAD 01/03D</a:t>
                      </a:r>
                    </a:p>
                  </a:txBody>
                  <a:tcPr marL="0" marR="0" marT="0" marB="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154</a:t>
                      </a:r>
                      <a:endParaRPr sz="458" b="1" u="none" strike="noStrike" cap="none"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sz="800" b="1" u="none" strike="noStrike" cap="none" dirty="0"/>
                        <a:t>154</a:t>
                      </a:r>
                      <a:endParaRPr sz="800" b="1" u="none" strike="noStrike" cap="none" dirty="0"/>
                    </a:p>
                  </a:txBody>
                  <a:tcPr marL="0" marR="0" marT="0" marB="0" anchor="ctr"/>
                </a:tc>
                <a:tc>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0" marB="0" anchor="ctr"/>
                </a:tc>
                <a:tc>
                  <a:txBody>
                    <a:bodyPr/>
                    <a:lstStyle/>
                    <a:p>
                      <a:pPr algn="ctr"/>
                      <a:r>
                        <a:rPr lang="en-US" altLang="ko-Kore-KR" sz="800" b="1" u="none" strike="noStrike" cap="none" dirty="0">
                          <a:solidFill>
                            <a:srgbClr val="C00000"/>
                          </a:solidFill>
                        </a:rPr>
                        <a:t>154</a:t>
                      </a:r>
                      <a:endParaRPr lang="ko-Kore-KR" altLang="en-US" dirty="0"/>
                    </a:p>
                  </a:txBody>
                  <a:tcPr marL="0" marR="0" marT="36000" marB="36000" anchor="ctr"/>
                </a:tc>
                <a:extLst>
                  <a:ext uri="{0D108BD9-81ED-4DB2-BD59-A6C34878D82A}">
                    <a16:rowId xmlns:a16="http://schemas.microsoft.com/office/drawing/2014/main" val="10001"/>
                  </a:ext>
                </a:extLst>
              </a:tr>
              <a:tr h="229237">
                <a:tc>
                  <a:txBody>
                    <a:bodyPr/>
                    <a:lstStyle/>
                    <a:p>
                      <a:pPr marL="0" marR="0" lvl="0" indent="0" algn="ctr" rtl="0">
                        <a:spcBef>
                          <a:spcPts val="0"/>
                        </a:spcBef>
                        <a:spcAft>
                          <a:spcPts val="0"/>
                        </a:spcAft>
                        <a:buNone/>
                      </a:pPr>
                      <a:r>
                        <a:rPr lang="en-US" sz="800" b="0" u="none" strike="noStrike" cap="none" dirty="0"/>
                        <a:t>33</a:t>
                      </a:r>
                    </a:p>
                  </a:txBody>
                  <a:tcPr marL="0" marR="0" marT="36000" marB="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MAD 02/04D</a:t>
                      </a:r>
                    </a:p>
                  </a:txBody>
                  <a:tcPr marL="0" marR="0" marT="0" marB="0" anchor="ctr"/>
                </a:tc>
                <a:tc hMerge="1">
                  <a:txBody>
                    <a:bodyPr/>
                    <a:lstStyle/>
                    <a:p>
                      <a:endParaRPr lang="ko-Kore-KR"/>
                    </a:p>
                  </a:txBody>
                  <a:tcP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solidFill>
                            <a:srgbClr val="C00000"/>
                          </a:solidFill>
                        </a:rPr>
                        <a:t>334</a:t>
                      </a:r>
                      <a:endParaRPr sz="458" b="1" u="none" strike="noStrike" cap="none"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sz="800" b="1" u="none" strike="noStrike" cap="none" dirty="0"/>
                        <a:t>334</a:t>
                      </a:r>
                      <a:endParaRPr sz="800" b="1" u="none" strike="noStrike" cap="none" dirty="0"/>
                    </a:p>
                  </a:txBody>
                  <a:tcPr marL="0" marR="0" marT="0" marB="0" anchor="ctr"/>
                </a:tc>
                <a:tc>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lang="ko-Kore-KR" dirty="0"/>
                    </a:p>
                  </a:txBody>
                  <a:tcPr marL="0" marR="0" marT="0" marB="0" anchor="ctr"/>
                </a:tc>
                <a:tc>
                  <a:txBody>
                    <a:bodyPr/>
                    <a:lstStyle/>
                    <a:p>
                      <a:pPr algn="ctr"/>
                      <a:r>
                        <a:rPr lang="en-US" altLang="ko-Kore-KR" sz="800" b="1" u="none" strike="noStrike" cap="none" dirty="0">
                          <a:solidFill>
                            <a:srgbClr val="C00000"/>
                          </a:solidFill>
                        </a:rPr>
                        <a:t>334</a:t>
                      </a:r>
                      <a:endParaRPr lang="ko-Kore-KR" altLang="en-US" dirty="0"/>
                    </a:p>
                  </a:txBody>
                  <a:tcPr marL="0" marR="0" marT="36000" marB="36000" anchor="ctr"/>
                </a:tc>
                <a:extLst>
                  <a:ext uri="{0D108BD9-81ED-4DB2-BD59-A6C34878D82A}">
                    <a16:rowId xmlns:a16="http://schemas.microsoft.com/office/drawing/2014/main" val="10002"/>
                  </a:ext>
                </a:extLst>
              </a:tr>
              <a:tr h="164587">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XQH 109.8</a:t>
                      </a:r>
                      <a:endParaRPr sz="800" b="1" u="none" strike="noStrike" cap="none" dirty="0">
                        <a:solidFill>
                          <a:srgbClr val="0070C0"/>
                        </a:solidFill>
                      </a:endParaRPr>
                    </a:p>
                  </a:txBody>
                  <a:tcPr marL="0" marR="0" marT="0" marB="0" anchor="ctr"/>
                </a:tc>
                <a:tc hMerge="1">
                  <a:txBody>
                    <a:bodyPr/>
                    <a:lstStyle/>
                    <a:p>
                      <a:endParaRPr lang="ko-Kore-KR"/>
                    </a:p>
                  </a:txBody>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15    109.3</a:t>
                      </a: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33    108.5</a:t>
                      </a:r>
                    </a:p>
                  </a:txBody>
                  <a:tcPr marL="0" marR="0" marT="0" marB="0" anchor="ctr"/>
                </a:tc>
                <a:tc hMerge="1">
                  <a:txBody>
                    <a:bodyPr/>
                    <a:lstStyle/>
                    <a:p>
                      <a:endParaRPr dirty="0"/>
                    </a:p>
                  </a:txBody>
                  <a:tcPr marL="0" marR="0" marT="0" marB="0" anchor="ctr"/>
                </a:tc>
                <a:extLst>
                  <a:ext uri="{0D108BD9-81ED-4DB2-BD59-A6C34878D82A}">
                    <a16:rowId xmlns:a16="http://schemas.microsoft.com/office/drawing/2014/main" val="10003"/>
                  </a:ext>
                </a:extLst>
              </a:tr>
              <a:tr h="146132">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0" anchor="ctr">
                    <a:solidFill>
                      <a:schemeClr val="accent1"/>
                    </a:solidFill>
                  </a:tcPr>
                </a:tc>
                <a:tc hMerge="1">
                  <a:txBody>
                    <a:bodyPr/>
                    <a:lstStyle/>
                    <a:p>
                      <a:endParaRPr lang="ko-Kore-KR"/>
                    </a:p>
                  </a:txBody>
                  <a:tcPr/>
                </a:tc>
                <a:tc gridSpan="6">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15(200’)          11155’          33(208’)</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16L/R(12’/11’)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17L(10’)</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343856">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solidFill>
                            <a:srgbClr val="00B050"/>
                          </a:solidFill>
                        </a:rPr>
                        <a:t>Confirm Pushback Direction &amp; RWY</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A2BCE2B1-C74D-3AFF-60FB-3D3D12DC5B1E}"/>
              </a:ext>
            </a:extLst>
          </p:cNvPr>
          <p:cNvGraphicFramePr/>
          <p:nvPr>
            <p:extLst>
              <p:ext uri="{D42A27DB-BD31-4B8C-83A1-F6EECF244321}">
                <p14:modId xmlns:p14="http://schemas.microsoft.com/office/powerpoint/2010/main" val="4029514188"/>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bg1"/>
                          </a:solidFill>
                          <a:hlinkClick r:id="rId3">
                            <a:extLst>
                              <a:ext uri="{A12FA001-AC4F-418D-AE19-62706E023703}">
                                <ahyp:hlinkClr xmlns:ahyp="http://schemas.microsoft.com/office/drawing/2018/hyperlinkcolor" val="tx"/>
                              </a:ext>
                            </a:extLst>
                          </a:hlinkClick>
                        </a:rPr>
                        <a:t>ZSOF(HFE) 207ft</a:t>
                      </a:r>
                      <a:endParaRP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800" dirty="0">
                          <a:solidFill>
                            <a:srgbClr val="FF0000"/>
                          </a:solidFill>
                        </a:rPr>
                        <a:t>DCL(NO Readback)</a:t>
                      </a:r>
                    </a:p>
                  </a:txBody>
                  <a:tcPr marL="36000" marR="3600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0EB04AD8-D9E4-76EC-E5FB-300A9A730A73}"/>
              </a:ext>
            </a:extLst>
          </p:cNvPr>
          <p:cNvSpPr txBox="1"/>
          <p:nvPr/>
        </p:nvSpPr>
        <p:spPr>
          <a:xfrm>
            <a:off x="32545" y="2128974"/>
            <a:ext cx="1710405"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HFE APP 119.85</a:t>
            </a:r>
            <a:r>
              <a:rPr kumimoji="1" lang="en-US" altLang="ko-Kore-KR" sz="700" b="1" u="sng" dirty="0">
                <a:solidFill>
                  <a:srgbClr val="C0000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- 124.45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NKG APP 126.55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SHA</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132.4 - 120.55 - 120.95</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 126.17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119.75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597B4D83-CABC-3458-4491-C849AB332E79}"/>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6" name="직사각형 5">
            <a:hlinkClick r:id="" action="ppaction://hlinkshowjump?jump=firstslide"/>
            <a:extLst>
              <a:ext uri="{FF2B5EF4-FFF2-40B4-BE49-F238E27FC236}">
                <a16:creationId xmlns:a16="http://schemas.microsoft.com/office/drawing/2014/main" id="{54003D5B-CD63-500B-2937-F0A8F12629AB}"/>
              </a:ext>
            </a:extLst>
          </p:cNvPr>
          <p:cNvSpPr/>
          <p:nvPr/>
        </p:nvSpPr>
        <p:spPr>
          <a:xfrm>
            <a:off x="1651787" y="289938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C3EF7D9C-B8AB-C70B-000C-0CCBC7A1B98A}"/>
              </a:ext>
            </a:extLst>
          </p:cNvPr>
          <p:cNvSpPr/>
          <p:nvPr/>
        </p:nvSpPr>
        <p:spPr>
          <a:xfrm>
            <a:off x="844824" y="32423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24063729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55657D24-EF04-788C-A1E9-7789054D118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A0A2667-F766-B4F2-F036-D649D29449F8}"/>
              </a:ext>
            </a:extLst>
          </p:cNvPr>
          <p:cNvSpPr txBox="1"/>
          <p:nvPr/>
        </p:nvSpPr>
        <p:spPr>
          <a:xfrm>
            <a:off x="-77262" y="3102610"/>
            <a:ext cx="2547492"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128.7 – DLC 132.95 – TAO 128.55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PEK 127.35 – 127.5 - 132.2 – CAN 18.9 – 133.5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CAN 135.35 – 132.35 – 128.72 – CHD 132.25 – 133.65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KMG 134.35 - APP 120.35 – 119.0</a:t>
            </a:r>
          </a:p>
        </p:txBody>
      </p:sp>
      <p:graphicFrame>
        <p:nvGraphicFramePr>
          <p:cNvPr id="292" name="Google Shape;292;p18">
            <a:extLst>
              <a:ext uri="{FF2B5EF4-FFF2-40B4-BE49-F238E27FC236}">
                <a16:creationId xmlns:a16="http://schemas.microsoft.com/office/drawing/2014/main" id="{665C0695-28F6-DD44-D6A8-CC9C5617F8DF}"/>
              </a:ext>
            </a:extLst>
          </p:cNvPr>
          <p:cNvGraphicFramePr/>
          <p:nvPr>
            <p:extLst>
              <p:ext uri="{D42A27DB-BD31-4B8C-83A1-F6EECF244321}">
                <p14:modId xmlns:p14="http://schemas.microsoft.com/office/powerpoint/2010/main" val="754019103"/>
              </p:ext>
            </p:extLst>
          </p:nvPr>
        </p:nvGraphicFramePr>
        <p:xfrm>
          <a:off x="15324" y="3815434"/>
          <a:ext cx="2311025" cy="1773130"/>
        </p:xfrm>
        <a:graphic>
          <a:graphicData uri="http://schemas.openxmlformats.org/drawingml/2006/table">
            <a:tbl>
              <a:tblPr firstRow="1" bandRow="1">
                <a:noFill/>
                <a:tableStyleId>{A521BE36-7E6F-4EC9-8D66-1CF97A6895EC}</a:tableStyleId>
              </a:tblPr>
              <a:tblGrid>
                <a:gridCol w="482225">
                  <a:extLst>
                    <a:ext uri="{9D8B030D-6E8A-4147-A177-3AD203B41FA5}">
                      <a16:colId xmlns:a16="http://schemas.microsoft.com/office/drawing/2014/main" val="20000"/>
                    </a:ext>
                  </a:extLst>
                </a:gridCol>
                <a:gridCol w="662511">
                  <a:extLst>
                    <a:ext uri="{9D8B030D-6E8A-4147-A177-3AD203B41FA5}">
                      <a16:colId xmlns:a16="http://schemas.microsoft.com/office/drawing/2014/main" val="20001"/>
                    </a:ext>
                  </a:extLst>
                </a:gridCol>
                <a:gridCol w="251889">
                  <a:extLst>
                    <a:ext uri="{9D8B030D-6E8A-4147-A177-3AD203B41FA5}">
                      <a16:colId xmlns:a16="http://schemas.microsoft.com/office/drawing/2014/main" val="20002"/>
                    </a:ext>
                  </a:extLst>
                </a:gridCol>
                <a:gridCol w="392514">
                  <a:extLst>
                    <a:ext uri="{9D8B030D-6E8A-4147-A177-3AD203B41FA5}">
                      <a16:colId xmlns:a16="http://schemas.microsoft.com/office/drawing/2014/main" val="1537120119"/>
                    </a:ext>
                  </a:extLst>
                </a:gridCol>
                <a:gridCol w="521886">
                  <a:extLst>
                    <a:ext uri="{9D8B030D-6E8A-4147-A177-3AD203B41FA5}">
                      <a16:colId xmlns:a16="http://schemas.microsoft.com/office/drawing/2014/main" val="20003"/>
                    </a:ext>
                  </a:extLst>
                </a:gridCol>
              </a:tblGrid>
              <a:tr h="287250">
                <a:tc gridSpan="5">
                  <a:txBody>
                    <a:bodyPr/>
                    <a:lstStyle/>
                    <a:p>
                      <a:pPr marL="0" marR="0" lvl="0" indent="0" algn="ctr" rtl="0">
                        <a:spcBef>
                          <a:spcPts val="0"/>
                        </a:spcBef>
                        <a:spcAft>
                          <a:spcPts val="0"/>
                        </a:spcAft>
                        <a:buNone/>
                      </a:pPr>
                      <a:r>
                        <a:rPr lang="en-US" sz="800" dirty="0"/>
                        <a:t>KMG : STAR no VOR at A/P </a:t>
                      </a:r>
                      <a:r>
                        <a:rPr lang="en-US" sz="900" dirty="0">
                          <a:solidFill>
                            <a:srgbClr val="C00000"/>
                          </a:solidFill>
                        </a:rPr>
                        <a:t>LD ALT 6900 </a:t>
                      </a:r>
                      <a:r>
                        <a:rPr lang="en-US" sz="900" dirty="0" err="1">
                          <a:solidFill>
                            <a:srgbClr val="C00000"/>
                          </a:solidFill>
                        </a:rPr>
                        <a:t>ini</a:t>
                      </a:r>
                      <a:r>
                        <a:rPr lang="en-US" sz="900" dirty="0">
                          <a:solidFill>
                            <a:srgbClr val="C00000"/>
                          </a:solidFill>
                        </a:rPr>
                        <a:t> DES</a:t>
                      </a:r>
                      <a:endParaRPr lang="en-US" sz="800" b="0" dirty="0">
                        <a:solidFill>
                          <a:srgbClr val="C00000"/>
                        </a:solidFill>
                      </a:endParaRPr>
                    </a:p>
                    <a:p>
                      <a:pPr marL="0" marR="0" lvl="0" indent="0" algn="ctr" rtl="0">
                        <a:spcBef>
                          <a:spcPts val="0"/>
                        </a:spcBef>
                        <a:spcAft>
                          <a:spcPts val="0"/>
                        </a:spcAft>
                        <a:buNone/>
                      </a:pPr>
                      <a:r>
                        <a:rPr lang="en-US" sz="900" b="1" dirty="0">
                          <a:solidFill>
                            <a:srgbClr val="FFC000"/>
                          </a:solidFill>
                        </a:rPr>
                        <a:t>CHK LD Limit </a:t>
                      </a:r>
                      <a:r>
                        <a:rPr lang="en-US" sz="900" b="1" dirty="0">
                          <a:solidFill>
                            <a:srgbClr val="C00000"/>
                          </a:solidFill>
                          <a:hlinkClick r:id="rId3" action="ppaction://hlinksldjump">
                            <a:extLst>
                              <a:ext uri="{A12FA001-AC4F-418D-AE19-62706E023703}">
                                <ahyp:hlinkClr xmlns:ahyp="http://schemas.microsoft.com/office/drawing/2018/hyperlinkcolor" val="tx"/>
                              </a:ext>
                            </a:extLst>
                          </a:hlinkClick>
                        </a:rPr>
                        <a:t>NO ENG BLEED L/D</a:t>
                      </a:r>
                      <a:r>
                        <a:rPr lang="en-US" sz="900" b="1" dirty="0">
                          <a:solidFill>
                            <a:srgbClr val="C00000"/>
                          </a:solidFill>
                        </a:rPr>
                        <a:t>, </a:t>
                      </a:r>
                      <a:r>
                        <a:rPr lang="en-US" sz="900" b="1" dirty="0">
                          <a:solidFill>
                            <a:schemeClr val="accent2"/>
                          </a:solidFill>
                          <a:hlinkClick r:id="rId4" action="ppaction://hlinksldjump">
                            <a:extLst>
                              <a:ext uri="{A12FA001-AC4F-418D-AE19-62706E023703}">
                                <ahyp:hlinkClr xmlns:ahyp="http://schemas.microsoft.com/office/drawing/2018/hyperlinkcolor" val="tx"/>
                              </a:ext>
                            </a:extLst>
                          </a:hlinkClick>
                        </a:rPr>
                        <a:t>FLAP 15 L/D</a:t>
                      </a:r>
                      <a:endParaRPr lang="en-US" sz="900" b="1" dirty="0">
                        <a:solidFill>
                          <a:schemeClr val="accent2"/>
                        </a:solidFill>
                      </a:endParaRPr>
                    </a:p>
                  </a:txBody>
                  <a:tcPr marL="36000" marR="3600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0"/>
                  </a:ext>
                </a:extLst>
              </a:tr>
              <a:tr h="166136">
                <a:tc>
                  <a:txBody>
                    <a:bodyPr/>
                    <a:lstStyle/>
                    <a:p>
                      <a:pPr marL="0" marR="0" lvl="0" indent="0" algn="ctr" rtl="0">
                        <a:spcBef>
                          <a:spcPts val="0"/>
                        </a:spcBef>
                        <a:spcAft>
                          <a:spcPts val="0"/>
                        </a:spcAft>
                        <a:buNone/>
                      </a:pPr>
                      <a:r>
                        <a:rPr lang="en-US" sz="800" b="1" dirty="0"/>
                        <a:t>03/04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XIS 2J </a:t>
                      </a:r>
                      <a:r>
                        <a:rPr lang="en-US" sz="800" b="0" dirty="0"/>
                        <a:t>(1,3J)</a:t>
                      </a:r>
                    </a:p>
                  </a:txBody>
                  <a:tcPr marL="36000" marR="36000" marT="36000" marB="36000" anchor="ctr"/>
                </a:tc>
                <a:tc gridSpan="2">
                  <a:txBody>
                    <a:bodyPr/>
                    <a:lstStyle/>
                    <a:p>
                      <a:pPr marL="0" marR="0" lvl="0" indent="0" algn="ctr" rtl="0">
                        <a:spcBef>
                          <a:spcPts val="0"/>
                        </a:spcBef>
                        <a:spcAft>
                          <a:spcPts val="0"/>
                        </a:spcAft>
                        <a:buNone/>
                      </a:pPr>
                      <a:r>
                        <a:rPr lang="en-US" sz="800" b="1" dirty="0"/>
                        <a:t>MP3 </a:t>
                      </a:r>
                      <a:r>
                        <a:rPr lang="en-US" sz="800" b="0" dirty="0"/>
                        <a:t>(XSJ)</a:t>
                      </a:r>
                      <a:endParaRPr sz="800" b="0"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dirty="0"/>
                        <a:t>ILS Z</a:t>
                      </a:r>
                    </a:p>
                  </a:txBody>
                  <a:tcPr marL="36000" marR="36000" marT="36000" marB="36000" anchor="ctr"/>
                </a:tc>
                <a:extLst>
                  <a:ext uri="{0D108BD9-81ED-4DB2-BD59-A6C34878D82A}">
                    <a16:rowId xmlns:a16="http://schemas.microsoft.com/office/drawing/2014/main" val="10001"/>
                  </a:ext>
                </a:extLst>
              </a:tr>
              <a:tr h="166136">
                <a:tc>
                  <a:txBody>
                    <a:bodyPr/>
                    <a:lstStyle/>
                    <a:p>
                      <a:pPr marL="0" marR="0" lvl="0" indent="0" algn="ctr" rtl="0">
                        <a:spcBef>
                          <a:spcPts val="0"/>
                        </a:spcBef>
                        <a:spcAft>
                          <a:spcPts val="0"/>
                        </a:spcAft>
                        <a:buNone/>
                      </a:pPr>
                      <a:r>
                        <a:rPr lang="en-US" sz="800" b="0" dirty="0"/>
                        <a:t>21/22</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XIS 2L </a:t>
                      </a:r>
                      <a:r>
                        <a:rPr lang="en-US" altLang="ko-Kore-KR" sz="800" b="0" dirty="0"/>
                        <a:t>(1,3L)</a:t>
                      </a:r>
                      <a:endParaRPr lang="en-US" altLang="ko-Kore-KR" sz="800" b="0" dirty="0">
                        <a:solidFill>
                          <a:srgbClr val="0070C0"/>
                        </a:solidFill>
                      </a:endParaRPr>
                    </a:p>
                  </a:txBody>
                  <a:tcPr marL="36000" marR="36000" marT="36000" marB="36000" anchor="ctr"/>
                </a:tc>
                <a:tc gridSpan="2">
                  <a:txBody>
                    <a:bodyPr/>
                    <a:lstStyle/>
                    <a:p>
                      <a:pPr marL="0" marR="0" lvl="0" indent="0" algn="ctr" rtl="0">
                        <a:spcBef>
                          <a:spcPts val="0"/>
                        </a:spcBef>
                        <a:spcAft>
                          <a:spcPts val="0"/>
                        </a:spcAft>
                        <a:buNone/>
                      </a:pPr>
                      <a:r>
                        <a:rPr lang="en-US" sz="800" b="1" dirty="0"/>
                        <a:t>MP1</a:t>
                      </a:r>
                      <a:r>
                        <a:rPr lang="en-US" sz="800" b="0" dirty="0"/>
                        <a:t> (MP2)</a:t>
                      </a:r>
                      <a:endParaRPr sz="800" b="0" dirty="0"/>
                    </a:p>
                  </a:txBody>
                  <a:tcPr marL="36000" marR="36000" marT="36000" marB="3600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dirty="0"/>
                        <a:t>ILS Z</a:t>
                      </a:r>
                    </a:p>
                  </a:txBody>
                  <a:tcPr marL="36000" marR="36000" marT="36000" marB="36000" anchor="ctr"/>
                </a:tc>
                <a:extLst>
                  <a:ext uri="{0D108BD9-81ED-4DB2-BD59-A6C34878D82A}">
                    <a16:rowId xmlns:a16="http://schemas.microsoft.com/office/drawing/2014/main" val="10002"/>
                  </a:ext>
                </a:extLst>
              </a:tr>
              <a:tr h="27058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03(6896’)    11352’</a:t>
                      </a: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04(6885’)    14764’</a:t>
                      </a:r>
                      <a:endParaRPr sz="800" b="1" dirty="0">
                        <a:solidFill>
                          <a:srgbClr val="00B050"/>
                        </a:solidFill>
                      </a:endParaRPr>
                    </a:p>
                  </a:txBody>
                  <a:tcPr marL="36000" marR="36000" marT="36000" marB="36000" anchor="ct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11352’     21(6887’)</a:t>
                      </a: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13123’     22(6879’)</a:t>
                      </a:r>
                      <a:endParaRPr sz="800" b="1" dirty="0">
                        <a:solidFill>
                          <a:srgbClr val="00B05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4"/>
                  </a:ext>
                </a:extLst>
              </a:tr>
              <a:tr h="166136">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0" dirty="0">
                          <a:solidFill>
                            <a:schemeClr val="tx1"/>
                          </a:solidFill>
                        </a:rPr>
                        <a:t>RWY21/22 /8 170kts, /6 160kts</a:t>
                      </a:r>
                      <a:endParaRPr sz="800" b="0" dirty="0">
                        <a:solidFill>
                          <a:schemeClr val="tx1"/>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664524519"/>
                  </a:ext>
                </a:extLst>
              </a:tr>
              <a:tr h="270587">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03 : F4(5994’), F3(7227’),     21 : F7(5892’), F8(7204’)</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ore-KR" sz="800" b="1" dirty="0">
                          <a:solidFill>
                            <a:schemeClr val="dk1"/>
                          </a:solidFill>
                        </a:rPr>
                        <a:t>04 : C5(6482’), C4(716’),       22 : C6(6509’), C7(7726’)</a:t>
                      </a:r>
                      <a:endParaRPr lang="en-US" sz="800" b="0" dirty="0">
                        <a:solidFill>
                          <a:schemeClr val="dk1"/>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6"/>
                  </a:ext>
                </a:extLst>
              </a:tr>
              <a:tr h="166136">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700" dirty="0"/>
                        <a:t>Follow Me Car </a:t>
                      </a:r>
                      <a:r>
                        <a:rPr lang="en-US" sz="700" b="1" dirty="0"/>
                        <a:t>D7</a:t>
                      </a:r>
                      <a:r>
                        <a:rPr lang="en-US" sz="700" dirty="0"/>
                        <a:t>, </a:t>
                      </a:r>
                      <a:r>
                        <a:rPr lang="en-US" sz="800" b="1" dirty="0"/>
                        <a:t>R East only, Q West Only</a:t>
                      </a:r>
                      <a:endParaRPr b="1" dirty="0"/>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3EF6D167-24A1-9215-ABD7-487F64DC0C52}"/>
              </a:ext>
            </a:extLst>
          </p:cNvPr>
          <p:cNvGraphicFramePr/>
          <p:nvPr>
            <p:extLst>
              <p:ext uri="{D42A27DB-BD31-4B8C-83A1-F6EECF244321}">
                <p14:modId xmlns:p14="http://schemas.microsoft.com/office/powerpoint/2010/main" val="1576007282"/>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5">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100" dirty="0">
                          <a:solidFill>
                            <a:schemeClr val="bg1"/>
                          </a:solidFill>
                          <a:hlinkClick r:id="rId6">
                            <a:extLst>
                              <a:ext uri="{A12FA001-AC4F-418D-AE19-62706E023703}">
                                <ahyp:hlinkClr xmlns:ahyp="http://schemas.microsoft.com/office/drawing/2018/hyperlinkcolor" val="tx"/>
                              </a:ext>
                            </a:extLst>
                          </a:hlinkClick>
                        </a:rPr>
                        <a:t>ZPPP(KMG) </a:t>
                      </a:r>
                      <a:r>
                        <a:rPr lang="en-US" sz="700" dirty="0">
                          <a:solidFill>
                            <a:srgbClr val="FF0000"/>
                          </a:solidFill>
                        </a:rPr>
                        <a:t>CHK below</a:t>
                      </a:r>
                      <a:endParaRPr sz="13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KMG 133.35</a:t>
                      </a:r>
                    </a:p>
                    <a:p>
                      <a:pPr marL="0" marR="0" lvl="0" indent="0" algn="ctr" rtl="0">
                        <a:spcBef>
                          <a:spcPts val="0"/>
                        </a:spcBef>
                        <a:spcAft>
                          <a:spcPts val="0"/>
                        </a:spcAft>
                        <a:buNone/>
                      </a:pPr>
                      <a:r>
                        <a:rPr lang="en-US" sz="700" dirty="0">
                          <a:solidFill>
                            <a:srgbClr val="FF0000"/>
                          </a:solidFill>
                        </a:rPr>
                        <a:t>LD ALT 6000ft for T/O</a:t>
                      </a:r>
                      <a:endParaRPr sz="900" dirty="0">
                        <a:solidFill>
                          <a:srgbClr val="FF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57245724-33D4-02A8-C4A0-C832FF8FFE59}"/>
              </a:ext>
            </a:extLst>
          </p:cNvPr>
          <p:cNvSpPr/>
          <p:nvPr/>
        </p:nvSpPr>
        <p:spPr>
          <a:xfrm>
            <a:off x="1610843" y="354990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9235581E-ACC7-00F2-10B7-543CD2C385F8}"/>
              </a:ext>
            </a:extLst>
          </p:cNvPr>
          <p:cNvSpPr/>
          <p:nvPr/>
        </p:nvSpPr>
        <p:spPr>
          <a:xfrm>
            <a:off x="820538" y="26372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8"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5" name="Google Shape;291;p18">
            <a:extLst>
              <a:ext uri="{FF2B5EF4-FFF2-40B4-BE49-F238E27FC236}">
                <a16:creationId xmlns:a16="http://schemas.microsoft.com/office/drawing/2014/main" id="{5049F2F4-85AA-4A63-9F66-7192D50846FA}"/>
              </a:ext>
            </a:extLst>
          </p:cNvPr>
          <p:cNvGraphicFramePr/>
          <p:nvPr>
            <p:extLst>
              <p:ext uri="{D42A27DB-BD31-4B8C-83A1-F6EECF244321}">
                <p14:modId xmlns:p14="http://schemas.microsoft.com/office/powerpoint/2010/main" val="1961500826"/>
              </p:ext>
            </p:extLst>
          </p:nvPr>
        </p:nvGraphicFramePr>
        <p:xfrm>
          <a:off x="0" y="606927"/>
          <a:ext cx="2332925" cy="2525112"/>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81611">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00702">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NOPIK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65056">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NOPIK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65056">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BINIL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65056">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BINIL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68829">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68829">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6882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P518 R068, R278</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altLang="ko-Kore-KR" sz="800" dirty="0"/>
                        <a:t>P518 R068, R278</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65056">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65056">
                <a:tc vMerge="1">
                  <a:txBody>
                    <a:bodyPr/>
                    <a:lstStyle/>
                    <a:p>
                      <a:endParaRPr lang="ko-Kore-KR"/>
                    </a:p>
                  </a:txBody>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34R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5056">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6191683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DB7FAE1E-B18C-74EC-9B2A-076C45F4034E}"/>
            </a:ext>
          </a:extLst>
        </p:cNvPr>
        <p:cNvGrpSpPr/>
        <p:nvPr/>
      </p:nvGrpSpPr>
      <p:grpSpPr>
        <a:xfrm>
          <a:off x="0" y="0"/>
          <a:ext cx="0" cy="0"/>
          <a:chOff x="0" y="0"/>
          <a:chExt cx="0" cy="0"/>
        </a:xfrm>
      </p:grpSpPr>
      <p:pic>
        <p:nvPicPr>
          <p:cNvPr id="397" name="Google Shape;397;p30">
            <a:extLst>
              <a:ext uri="{FF2B5EF4-FFF2-40B4-BE49-F238E27FC236}">
                <a16:creationId xmlns:a16="http://schemas.microsoft.com/office/drawing/2014/main" id="{BD773260-2EF4-64FA-451C-67FFE2E4B96F}"/>
              </a:ext>
            </a:extLst>
          </p:cNvPr>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100FAE85-9FD7-AAA7-8D18-E346FB76BA1D}"/>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BA9A2C8C-327C-FB35-BE2C-6164DD8593E3}"/>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19387D75-AA7B-0E17-26E2-A9031A8B166B}"/>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C698FB7A-3563-0A57-494B-50A15AA05870}"/>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7195776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C9E1F807-0D99-3574-03F6-F70BD7E5E072}"/>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E8309597-2BC1-0786-685C-C832E85B0122}"/>
              </a:ext>
            </a:extLst>
          </p:cNvPr>
          <p:cNvGraphicFramePr/>
          <p:nvPr>
            <p:extLst>
              <p:ext uri="{D42A27DB-BD31-4B8C-83A1-F6EECF244321}">
                <p14:modId xmlns:p14="http://schemas.microsoft.com/office/powerpoint/2010/main" val="1012195289"/>
              </p:ext>
            </p:extLst>
          </p:nvPr>
        </p:nvGraphicFramePr>
        <p:xfrm>
          <a:off x="-4159" y="643460"/>
          <a:ext cx="2339848" cy="1555803"/>
        </p:xfrm>
        <a:graphic>
          <a:graphicData uri="http://schemas.openxmlformats.org/drawingml/2006/table">
            <a:tbl>
              <a:tblPr firstRow="1" bandRow="1">
                <a:noFill/>
                <a:tableStyleId>{A521BE36-7E6F-4EC9-8D66-1CF97A6895EC}</a:tableStyleId>
              </a:tblPr>
              <a:tblGrid>
                <a:gridCol w="332717">
                  <a:extLst>
                    <a:ext uri="{9D8B030D-6E8A-4147-A177-3AD203B41FA5}">
                      <a16:colId xmlns:a16="http://schemas.microsoft.com/office/drawing/2014/main" val="20000"/>
                    </a:ext>
                  </a:extLst>
                </a:gridCol>
                <a:gridCol w="65225">
                  <a:extLst>
                    <a:ext uri="{9D8B030D-6E8A-4147-A177-3AD203B41FA5}">
                      <a16:colId xmlns:a16="http://schemas.microsoft.com/office/drawing/2014/main" val="20001"/>
                    </a:ext>
                  </a:extLst>
                </a:gridCol>
                <a:gridCol w="187020">
                  <a:extLst>
                    <a:ext uri="{9D8B030D-6E8A-4147-A177-3AD203B41FA5}">
                      <a16:colId xmlns:a16="http://schemas.microsoft.com/office/drawing/2014/main" val="20002"/>
                    </a:ext>
                  </a:extLst>
                </a:gridCol>
                <a:gridCol w="401959">
                  <a:extLst>
                    <a:ext uri="{9D8B030D-6E8A-4147-A177-3AD203B41FA5}">
                      <a16:colId xmlns:a16="http://schemas.microsoft.com/office/drawing/2014/main" val="2691487666"/>
                    </a:ext>
                  </a:extLst>
                </a:gridCol>
                <a:gridCol w="183003">
                  <a:extLst>
                    <a:ext uri="{9D8B030D-6E8A-4147-A177-3AD203B41FA5}">
                      <a16:colId xmlns:a16="http://schemas.microsoft.com/office/drawing/2014/main" val="20004"/>
                    </a:ext>
                  </a:extLst>
                </a:gridCol>
                <a:gridCol w="83555">
                  <a:extLst>
                    <a:ext uri="{9D8B030D-6E8A-4147-A177-3AD203B41FA5}">
                      <a16:colId xmlns:a16="http://schemas.microsoft.com/office/drawing/2014/main" val="3936429666"/>
                    </a:ext>
                  </a:extLst>
                </a:gridCol>
                <a:gridCol w="292515">
                  <a:extLst>
                    <a:ext uri="{9D8B030D-6E8A-4147-A177-3AD203B41FA5}">
                      <a16:colId xmlns:a16="http://schemas.microsoft.com/office/drawing/2014/main" val="20006"/>
                    </a:ext>
                  </a:extLst>
                </a:gridCol>
                <a:gridCol w="208892">
                  <a:extLst>
                    <a:ext uri="{9D8B030D-6E8A-4147-A177-3AD203B41FA5}">
                      <a16:colId xmlns:a16="http://schemas.microsoft.com/office/drawing/2014/main" val="20007"/>
                    </a:ext>
                  </a:extLst>
                </a:gridCol>
                <a:gridCol w="264878">
                  <a:extLst>
                    <a:ext uri="{9D8B030D-6E8A-4147-A177-3AD203B41FA5}">
                      <a16:colId xmlns:a16="http://schemas.microsoft.com/office/drawing/2014/main" val="89384936"/>
                    </a:ext>
                  </a:extLst>
                </a:gridCol>
                <a:gridCol w="320084">
                  <a:extLst>
                    <a:ext uri="{9D8B030D-6E8A-4147-A177-3AD203B41FA5}">
                      <a16:colId xmlns:a16="http://schemas.microsoft.com/office/drawing/2014/main" val="448940902"/>
                    </a:ext>
                  </a:extLst>
                </a:gridCol>
              </a:tblGrid>
              <a:tr h="146740">
                <a:tc gridSpan="10">
                  <a:txBody>
                    <a:bodyPr/>
                    <a:lstStyle/>
                    <a:p>
                      <a:pPr marL="0" marR="0" lvl="0" indent="0" algn="ctr" rtl="0">
                        <a:spcBef>
                          <a:spcPts val="0"/>
                        </a:spcBef>
                        <a:spcAft>
                          <a:spcPts val="0"/>
                        </a:spcAft>
                        <a:buNone/>
                      </a:pPr>
                      <a:r>
                        <a:rPr lang="en-US" sz="800" u="none" strike="noStrike" cap="none" dirty="0"/>
                        <a:t>KMG: SID (NADP 1)  </a:t>
                      </a:r>
                      <a:r>
                        <a:rPr lang="en-US" sz="800" u="none" strike="noStrike" cap="none" dirty="0">
                          <a:solidFill>
                            <a:srgbClr val="FF0000"/>
                          </a:solidFill>
                        </a:rPr>
                        <a:t>Check T/O Perf</a:t>
                      </a:r>
                    </a:p>
                    <a:p>
                      <a:pPr marL="0" marR="0" lvl="0" indent="0" algn="ctr" rtl="0">
                        <a:spcBef>
                          <a:spcPts val="0"/>
                        </a:spcBef>
                        <a:spcAft>
                          <a:spcPts val="0"/>
                        </a:spcAft>
                        <a:buNone/>
                      </a:pPr>
                      <a:r>
                        <a:rPr lang="en-US" sz="800" u="none" strike="noStrike" cap="none" dirty="0">
                          <a:solidFill>
                            <a:srgbClr val="FFC000"/>
                          </a:solidFill>
                        </a:rPr>
                        <a:t>Report SID to TWR Initial CTC</a:t>
                      </a:r>
                    </a:p>
                  </a:txBody>
                  <a:tcPr marL="36000" marR="72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29237">
                <a:tc>
                  <a:txBody>
                    <a:bodyPr/>
                    <a:lstStyle/>
                    <a:p>
                      <a:pPr marL="0" marR="0" lvl="0" indent="0" algn="ctr" rtl="0">
                        <a:spcBef>
                          <a:spcPts val="0"/>
                        </a:spcBef>
                        <a:spcAft>
                          <a:spcPts val="0"/>
                        </a:spcAft>
                        <a:buNone/>
                      </a:pPr>
                      <a:r>
                        <a:rPr lang="en-US" sz="800" b="1" u="none" strike="noStrike" cap="none" dirty="0"/>
                        <a:t>03/04</a:t>
                      </a:r>
                      <a:endParaRPr sz="800" b="0" u="none" strike="noStrike" cap="none" dirty="0"/>
                    </a:p>
                  </a:txBody>
                  <a:tcPr marL="0" marR="0" marT="36000" marB="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NOD x W/X</a:t>
                      </a:r>
                    </a:p>
                  </a:txBody>
                  <a:tcPr marL="0" marR="0" marT="0" marB="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040</a:t>
                      </a:r>
                      <a:endParaRPr sz="458" b="1" u="none" strike="noStrike" cap="none" dirty="0">
                        <a:solidFill>
                          <a:srgbClr val="C00000"/>
                        </a:solidFill>
                      </a:endParaRPr>
                    </a:p>
                  </a:txBody>
                  <a:tcPr marL="0" marR="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040</a:t>
                      </a:r>
                      <a:endParaRPr sz="800" b="1" u="none" strike="noStrike" cap="none" dirty="0"/>
                    </a:p>
                  </a:txBody>
                  <a:tcPr marL="0" marR="0" marT="0" marB="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(3000m)</a:t>
                      </a:r>
                      <a:endParaRPr lang="ko-Kore-KR" dirty="0"/>
                    </a:p>
                  </a:txBody>
                  <a:tcPr marL="0" marR="0" marT="0" marB="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040</a:t>
                      </a:r>
                      <a:endParaRPr lang="ko-Kore-KR" altLang="en-US" dirty="0"/>
                    </a:p>
                  </a:txBody>
                  <a:tcPr marL="0" marR="0" marT="36000" marB="36000" anchor="ctr"/>
                </a:tc>
                <a:extLst>
                  <a:ext uri="{0D108BD9-81ED-4DB2-BD59-A6C34878D82A}">
                    <a16:rowId xmlns:a16="http://schemas.microsoft.com/office/drawing/2014/main" val="10001"/>
                  </a:ext>
                </a:extLst>
              </a:tr>
              <a:tr h="229237">
                <a:tc>
                  <a:txBody>
                    <a:bodyPr/>
                    <a:lstStyle/>
                    <a:p>
                      <a:pPr marL="0" marR="0" lvl="0" indent="0" algn="ctr" rtl="0">
                        <a:spcBef>
                          <a:spcPts val="0"/>
                        </a:spcBef>
                        <a:spcAft>
                          <a:spcPts val="0"/>
                        </a:spcAft>
                        <a:buNone/>
                      </a:pPr>
                      <a:r>
                        <a:rPr lang="en-US" sz="800" b="1" u="none" strike="noStrike" cap="none" dirty="0"/>
                        <a:t>21/22</a:t>
                      </a:r>
                    </a:p>
                  </a:txBody>
                  <a:tcPr marL="0" marR="0" marT="36000" marB="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NOD x Y/Z</a:t>
                      </a:r>
                    </a:p>
                  </a:txBody>
                  <a:tcPr marL="0" marR="0" marT="0" marB="0" anchor="ctr"/>
                </a:tc>
                <a:tc hMerge="1">
                  <a:txBody>
                    <a:bodyPr/>
                    <a:lstStyle/>
                    <a:p>
                      <a:endParaRPr lang="ko-Kore-KR"/>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220</a:t>
                      </a:r>
                      <a:endParaRPr sz="458" b="1" u="none" strike="noStrike" cap="none" dirty="0">
                        <a:solidFill>
                          <a:srgbClr val="C00000"/>
                        </a:solidFill>
                      </a:endParaRPr>
                    </a:p>
                  </a:txBody>
                  <a:tcPr marL="0" marR="0" marT="0" marB="0" anchor="ctr"/>
                </a:tc>
                <a:tc hMerge="1">
                  <a:txBody>
                    <a:bodyPr/>
                    <a:lstStyle/>
                    <a:p>
                      <a:endParaRPr lang="ko-Kore-KR" altLang="en-US"/>
                    </a:p>
                  </a:txBody>
                  <a:tcPr/>
                </a:tc>
                <a:tc>
                  <a:txBody>
                    <a:bodyPr/>
                    <a:lstStyle/>
                    <a:p>
                      <a:pPr marL="0" marR="0" lvl="0" indent="0" algn="ctr" rtl="0">
                        <a:spcBef>
                          <a:spcPts val="0"/>
                        </a:spcBef>
                        <a:spcAft>
                          <a:spcPts val="0"/>
                        </a:spcAft>
                        <a:buNone/>
                      </a:pPr>
                      <a:r>
                        <a:rPr lang="en-US" sz="800" b="1" u="none" strike="noStrike" cap="none" dirty="0"/>
                        <a:t>220</a:t>
                      </a:r>
                      <a:endParaRPr sz="800" b="1" u="none" strike="noStrike" cap="none" dirty="0"/>
                    </a:p>
                  </a:txBody>
                  <a:tcPr marL="0" marR="0" marT="0" marB="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(3000m)</a:t>
                      </a:r>
                      <a:endParaRPr lang="ko-Kore-KR" dirty="0"/>
                    </a:p>
                  </a:txBody>
                  <a:tcPr marL="0" marR="0" marT="0" marB="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220</a:t>
                      </a:r>
                      <a:endParaRPr lang="ko-Kore-KR" altLang="en-US" dirty="0"/>
                    </a:p>
                  </a:txBody>
                  <a:tcPr marL="0" marR="0" marT="36000" marB="36000" anchor="ctr"/>
                </a:tc>
                <a:extLst>
                  <a:ext uri="{0D108BD9-81ED-4DB2-BD59-A6C34878D82A}">
                    <a16:rowId xmlns:a16="http://schemas.microsoft.com/office/drawing/2014/main" val="10002"/>
                  </a:ext>
                </a:extLst>
              </a:tr>
              <a:tr h="164587">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C00000"/>
                          </a:solidFill>
                        </a:rPr>
                        <a:t>03 111.3</a:t>
                      </a: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C00000"/>
                          </a:solidFill>
                        </a:rPr>
                        <a:t>04 109.3</a:t>
                      </a:r>
                    </a:p>
                  </a:txBody>
                  <a:tcPr marL="0" marR="0" marT="0" marB="0" anchor="ct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C00000"/>
                          </a:solidFill>
                        </a:rPr>
                        <a:t>21 110.1</a:t>
                      </a:r>
                    </a:p>
                  </a:txBody>
                  <a:tcPr marL="0" marR="0" marT="0" marB="0" anchor="ctr"/>
                </a:tc>
                <a:tc hMerge="1">
                  <a:txBody>
                    <a:bodyPr/>
                    <a:lstStyle/>
                    <a:p>
                      <a:endParaRPr lang="ko-Kore-KR"/>
                    </a:p>
                  </a:txBody>
                  <a:tcPr/>
                </a:tc>
                <a:tc hMerge="1">
                  <a:txBody>
                    <a:bodyPr/>
                    <a:lstStyle/>
                    <a:p>
                      <a:endParaRPr dirty="0"/>
                    </a:p>
                  </a:txBody>
                  <a:tcPr marL="0" marR="0" marT="0" marB="0" anchor="ctr"/>
                </a:tc>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C00000"/>
                          </a:solidFill>
                        </a:rPr>
                        <a:t>22 108.5</a:t>
                      </a:r>
                    </a:p>
                  </a:txBody>
                  <a:tcPr marL="0" marR="0" marT="0" marB="0" anchor="ctr"/>
                </a:tc>
                <a:tc hMerge="1">
                  <a:txBody>
                    <a:bodyPr/>
                    <a:lstStyle/>
                    <a:p>
                      <a:endParaRPr dirty="0"/>
                    </a:p>
                  </a:txBody>
                  <a:tcPr marL="0" marR="0" marT="0" marB="0" anchor="ctr"/>
                </a:tc>
                <a:extLst>
                  <a:ext uri="{0D108BD9-81ED-4DB2-BD59-A6C34878D82A}">
                    <a16:rowId xmlns:a16="http://schemas.microsoft.com/office/drawing/2014/main" val="10003"/>
                  </a:ext>
                </a:extLst>
              </a:tr>
              <a:tr h="146132">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0" anchor="ctr">
                    <a:solidFill>
                      <a:schemeClr val="accent1"/>
                    </a:solidFill>
                  </a:tcPr>
                </a:tc>
                <a:tc hMerge="1">
                  <a:txBody>
                    <a:bodyPr/>
                    <a:lstStyle/>
                    <a:p>
                      <a:endParaRPr lang="ko-Kore-KR"/>
                    </a:p>
                  </a:txBody>
                  <a:tcPr/>
                </a:tc>
                <a:tc gridSpan="8">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03(6896’)            13123’            21(6887’)</a:t>
                      </a:r>
                    </a:p>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04(6885’)            14764’            22(6879’)       </a:t>
                      </a:r>
                    </a:p>
                  </a:txBody>
                  <a:tcPr marL="0" marR="0" marT="0" marB="0" anchor="ct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16L/R(12’/11’)</a:t>
                      </a:r>
                    </a:p>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17L(10’)</a:t>
                      </a:r>
                    </a:p>
                  </a:txBody>
                  <a:tcPr marL="0" marR="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343856">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solidFill>
                            <a:srgbClr val="00B050"/>
                          </a:solidFill>
                        </a:rPr>
                        <a:t>Pushback After 5min, Eng Start After Pushback</a:t>
                      </a:r>
                    </a:p>
                    <a:p>
                      <a:pPr marL="0" marR="0" lvl="0" indent="0" algn="ctr" rtl="0">
                        <a:lnSpc>
                          <a:spcPct val="100000"/>
                        </a:lnSpc>
                        <a:spcBef>
                          <a:spcPts val="0"/>
                        </a:spcBef>
                        <a:spcAft>
                          <a:spcPts val="0"/>
                        </a:spcAft>
                        <a:buClr>
                          <a:schemeClr val="dk1"/>
                        </a:buClr>
                        <a:buSzPts val="800"/>
                        <a:buFont typeface="Calibri"/>
                        <a:buNone/>
                      </a:pPr>
                      <a:r>
                        <a:rPr lang="en-US" sz="800" u="none" strike="noStrike" cap="none" dirty="0">
                          <a:solidFill>
                            <a:schemeClr val="tx1"/>
                          </a:solidFill>
                        </a:rPr>
                        <a:t>Watch STOPBAR L/T, Don’t Confuse J, C1, C2</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86851603-C2B9-746F-A760-C9423ACB89B5}"/>
              </a:ext>
            </a:extLst>
          </p:cNvPr>
          <p:cNvGraphicFramePr/>
          <p:nvPr>
            <p:extLst>
              <p:ext uri="{D42A27DB-BD31-4B8C-83A1-F6EECF244321}">
                <p14:modId xmlns:p14="http://schemas.microsoft.com/office/powerpoint/2010/main" val="213548295"/>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100" dirty="0">
                          <a:solidFill>
                            <a:schemeClr val="bg1"/>
                          </a:solidFill>
                          <a:hlinkClick r:id="rId3">
                            <a:extLst>
                              <a:ext uri="{A12FA001-AC4F-418D-AE19-62706E023703}">
                                <ahyp:hlinkClr xmlns:ahyp="http://schemas.microsoft.com/office/drawing/2018/hyperlinkcolor" val="tx"/>
                              </a:ext>
                            </a:extLst>
                          </a:hlinkClick>
                        </a:rPr>
                        <a:t>ZPPP(KMG) </a:t>
                      </a:r>
                      <a:r>
                        <a:rPr lang="en-US" sz="1100" dirty="0">
                          <a:solidFill>
                            <a:srgbClr val="FF0000"/>
                          </a:solidFill>
                          <a:hlinkClick r:id="rId3">
                            <a:extLst>
                              <a:ext uri="{A12FA001-AC4F-418D-AE19-62706E023703}">
                                <ahyp:hlinkClr xmlns:ahyp="http://schemas.microsoft.com/office/drawing/2018/hyperlinkcolor" val="tx"/>
                              </a:ext>
                            </a:extLst>
                          </a:hlinkClick>
                        </a:rPr>
                        <a:t>6901ft</a:t>
                      </a:r>
                      <a:endParaRPr sz="1100" dirty="0">
                        <a:solidFill>
                          <a:srgbClr val="FF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KMG 133.35</a:t>
                      </a:r>
                    </a:p>
                    <a:p>
                      <a:pPr marL="0" marR="0" lvl="0" indent="0" algn="ctr" rtl="0">
                        <a:spcBef>
                          <a:spcPts val="0"/>
                        </a:spcBef>
                        <a:spcAft>
                          <a:spcPts val="0"/>
                        </a:spcAft>
                        <a:buNone/>
                      </a:pPr>
                      <a:r>
                        <a:rPr lang="en-US" sz="800" dirty="0">
                          <a:solidFill>
                            <a:srgbClr val="FF0000"/>
                          </a:solidFill>
                        </a:rPr>
                        <a:t>DCL 10-30min TOBT</a:t>
                      </a:r>
                    </a:p>
                  </a:txBody>
                  <a:tcPr marL="36000" marR="3600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8926328A-E9B9-D486-502B-D68E01ED0134}"/>
              </a:ext>
            </a:extLst>
          </p:cNvPr>
          <p:cNvSpPr txBox="1"/>
          <p:nvPr/>
        </p:nvSpPr>
        <p:spPr>
          <a:xfrm>
            <a:off x="32545" y="2281540"/>
            <a:ext cx="1380186" cy="13644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KMG APP 124.25</a:t>
            </a:r>
            <a:r>
              <a:rPr kumimoji="1" lang="en-US" altLang="ko-Kore-KR" sz="700" b="1" u="sng" dirty="0">
                <a:solidFill>
                  <a:srgbClr val="C00000"/>
                </a:solidFill>
                <a:latin typeface="Gulim" panose="020B0600000101010101" pitchFamily="34" charset="-127"/>
                <a:ea typeface="Gulim" panose="020B0600000101010101" pitchFamily="34" charset="-127"/>
              </a:rPr>
              <a:t> </a:t>
            </a:r>
            <a:r>
              <a:rPr kumimoji="1" lang="en-US" altLang="ko-Kore-KR" sz="700" b="1" u="sng" dirty="0">
                <a:solidFill>
                  <a:srgbClr val="0070C0"/>
                </a:solidFill>
                <a:latin typeface="Gulim" panose="020B0600000101010101" pitchFamily="34" charset="-127"/>
                <a:ea typeface="Gulim" panose="020B0600000101010101" pitchFamily="34" charset="-127"/>
              </a:rPr>
              <a:t>– KMG 125.75</a:t>
            </a:r>
          </a:p>
        </p:txBody>
      </p:sp>
      <p:sp>
        <p:nvSpPr>
          <p:cNvPr id="6" name="직사각형 5">
            <a:hlinkClick r:id="" action="ppaction://hlinkshowjump?jump=firstslide"/>
            <a:extLst>
              <a:ext uri="{FF2B5EF4-FFF2-40B4-BE49-F238E27FC236}">
                <a16:creationId xmlns:a16="http://schemas.microsoft.com/office/drawing/2014/main" id="{BCD12EC5-2C4E-47F2-1E10-686FD8FE7030}"/>
              </a:ext>
            </a:extLst>
          </p:cNvPr>
          <p:cNvSpPr/>
          <p:nvPr/>
        </p:nvSpPr>
        <p:spPr>
          <a:xfrm>
            <a:off x="1651787" y="2899389"/>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09BD212-F7DA-E363-F1F3-3E28935E209E}"/>
              </a:ext>
            </a:extLst>
          </p:cNvPr>
          <p:cNvSpPr/>
          <p:nvPr/>
        </p:nvSpPr>
        <p:spPr>
          <a:xfrm>
            <a:off x="844824" y="32423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3" name="Google Shape;303;p19">
            <a:extLst>
              <a:ext uri="{FF2B5EF4-FFF2-40B4-BE49-F238E27FC236}">
                <a16:creationId xmlns:a16="http://schemas.microsoft.com/office/drawing/2014/main" id="{C1F55D7A-A272-9D92-C849-FD4500C03132}"/>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xA</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PAMBI</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REBIT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REBIT 170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dirty="0"/>
                        <a:t>RWY /8, /5 , P518 R068, R278</a:t>
                      </a:r>
                      <a:endParaRPr sz="458" dirty="0"/>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a:solidFill>
                            <a:schemeClr val="dk1"/>
                          </a:solidFill>
                          <a:latin typeface="Calibri"/>
                          <a:ea typeface="Calibri"/>
                          <a:cs typeface="Calibri"/>
                          <a:sym typeface="Calibri"/>
                        </a:rPr>
                        <a:t>15L : </a:t>
                      </a:r>
                      <a:r>
                        <a:rPr lang="en-US" altLang="ko-Kore-KR" sz="800" b="1">
                          <a:solidFill>
                            <a:srgbClr val="0070C0"/>
                          </a:solidFill>
                          <a:latin typeface="Calibri"/>
                          <a:ea typeface="Calibri"/>
                          <a:cs typeface="Calibri"/>
                          <a:sym typeface="Calibri"/>
                        </a:rPr>
                        <a:t>C2(7522’), </a:t>
                      </a:r>
                      <a:r>
                        <a:rPr lang="en-US" altLang="ko-Kore-KR" sz="800" b="1">
                          <a:solidFill>
                            <a:schemeClr val="dk1"/>
                          </a:solidFill>
                          <a:latin typeface="Calibri"/>
                          <a:ea typeface="Calibri"/>
                          <a:cs typeface="Calibri"/>
                          <a:sym typeface="Calibri"/>
                        </a:rPr>
                        <a:t>C1(8536’), 15R : </a:t>
                      </a:r>
                      <a:r>
                        <a:rPr lang="en-US" altLang="ko-Kore-KR" sz="800" b="1">
                          <a:solidFill>
                            <a:srgbClr val="0070C0"/>
                          </a:solidFill>
                          <a:latin typeface="Calibri"/>
                          <a:ea typeface="Calibri"/>
                          <a:cs typeface="Calibri"/>
                          <a:sym typeface="Calibri"/>
                        </a:rPr>
                        <a:t>B3(</a:t>
                      </a:r>
                      <a:r>
                        <a:rPr lang="en-US" altLang="ko-KR" sz="800" b="1">
                          <a:solidFill>
                            <a:srgbClr val="0070C0"/>
                          </a:solidFill>
                          <a:latin typeface="Calibri"/>
                          <a:ea typeface="Calibri"/>
                          <a:cs typeface="Calibri"/>
                          <a:sym typeface="Calibri"/>
                        </a:rPr>
                        <a:t>7454</a:t>
                      </a:r>
                      <a:r>
                        <a:rPr lang="en-US" altLang="ko-Kore-KR" sz="800" b="1">
                          <a:solidFill>
                            <a:srgbClr val="0070C0"/>
                          </a:solidFill>
                          <a:latin typeface="Calibri"/>
                          <a:ea typeface="Calibri"/>
                          <a:cs typeface="Calibri"/>
                          <a:sym typeface="Calibri"/>
                        </a:rPr>
                        <a:t>‘), </a:t>
                      </a:r>
                      <a:r>
                        <a:rPr lang="en-US" altLang="ko-Kore-KR" sz="800" b="1">
                          <a:solidFill>
                            <a:schemeClr val="dk1"/>
                          </a:solidFill>
                          <a:latin typeface="Calibri"/>
                          <a:ea typeface="Calibri"/>
                          <a:cs typeface="Calibri"/>
                          <a:sym typeface="Calibri"/>
                        </a:rPr>
                        <a:t>B2(</a:t>
                      </a:r>
                      <a:r>
                        <a:rPr lang="en-US" altLang="ko-KR" sz="800" b="1">
                          <a:solidFill>
                            <a:schemeClr val="dk1"/>
                          </a:solidFill>
                          <a:latin typeface="Calibri"/>
                          <a:ea typeface="Calibri"/>
                          <a:cs typeface="Calibri"/>
                          <a:sym typeface="Calibri"/>
                        </a:rPr>
                        <a:t>8641</a:t>
                      </a:r>
                      <a:r>
                        <a:rPr lang="en-US" altLang="ko-Kore-KR" sz="800" b="1">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76172627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89">
          <a:extLst>
            <a:ext uri="{FF2B5EF4-FFF2-40B4-BE49-F238E27FC236}">
              <a16:creationId xmlns:a16="http://schemas.microsoft.com/office/drawing/2014/main" id="{A6C4FA8D-AB36-64AD-0C41-22D8EBAD41B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F06C4E-F900-1E16-77CC-12579246C61F}"/>
              </a:ext>
            </a:extLst>
          </p:cNvPr>
          <p:cNvSpPr txBox="1"/>
          <p:nvPr/>
        </p:nvSpPr>
        <p:spPr>
          <a:xfrm>
            <a:off x="-69798" y="3164294"/>
            <a:ext cx="2521844" cy="532316"/>
          </a:xfrm>
          <a:prstGeom prst="rect">
            <a:avLst/>
          </a:prstGeom>
          <a:noFill/>
        </p:spPr>
        <p:txBody>
          <a:bodyPr wrap="none" tIns="36000" bIns="36000" rtlCol="0" anchor="ctr">
            <a:spAutoFit/>
          </a:bodyPr>
          <a:lstStyle/>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124.52(125.72) - </a:t>
            </a:r>
            <a:r>
              <a:rPr kumimoji="1" lang="en-US" altLang="ko-Kore-KR" sz="700" b="1" u="sng" dirty="0">
                <a:solidFill>
                  <a:srgbClr val="0070C0"/>
                </a:solidFill>
                <a:latin typeface="Gulim" panose="020B0600000101010101" pitchFamily="34" charset="-127"/>
                <a:ea typeface="Gulim" panose="020B0600000101010101" pitchFamily="34" charset="-127"/>
              </a:rPr>
              <a:t>FUK 127.5 - TPE 125.5 – 126.7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129.1 - HKG RDR 121.3 – 126.3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ZUI APP 123.85 – MFM TWR 118.0</a:t>
            </a:r>
          </a:p>
        </p:txBody>
      </p:sp>
      <p:graphicFrame>
        <p:nvGraphicFramePr>
          <p:cNvPr id="291" name="Google Shape;291;p18">
            <a:extLst>
              <a:ext uri="{FF2B5EF4-FFF2-40B4-BE49-F238E27FC236}">
                <a16:creationId xmlns:a16="http://schemas.microsoft.com/office/drawing/2014/main" id="{B142E5DB-4913-0E81-A18E-599BE55C006A}"/>
              </a:ext>
            </a:extLst>
          </p:cNvPr>
          <p:cNvGraphicFramePr/>
          <p:nvPr/>
        </p:nvGraphicFramePr>
        <p:xfrm>
          <a:off x="0" y="635155"/>
          <a:ext cx="2332925" cy="251833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76621">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0521">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60521">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60521">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60521">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6144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6144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61443">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60521">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12303’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60521">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60521">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a:extLst>
              <a:ext uri="{FF2B5EF4-FFF2-40B4-BE49-F238E27FC236}">
                <a16:creationId xmlns:a16="http://schemas.microsoft.com/office/drawing/2014/main" id="{F5602DF1-B5B4-1FC1-A507-6E71D395C268}"/>
              </a:ext>
            </a:extLst>
          </p:cNvPr>
          <p:cNvGraphicFramePr/>
          <p:nvPr>
            <p:extLst>
              <p:ext uri="{D42A27DB-BD31-4B8C-83A1-F6EECF244321}">
                <p14:modId xmlns:p14="http://schemas.microsoft.com/office/powerpoint/2010/main" val="3237722462"/>
              </p:ext>
            </p:extLst>
          </p:nvPr>
        </p:nvGraphicFramePr>
        <p:xfrm>
          <a:off x="4472" y="3748852"/>
          <a:ext cx="2314285" cy="1792570"/>
        </p:xfrm>
        <a:graphic>
          <a:graphicData uri="http://schemas.openxmlformats.org/drawingml/2006/table">
            <a:tbl>
              <a:tblPr firstRow="1" bandRow="1">
                <a:noFill/>
                <a:tableStyleId>{A521BE36-7E6F-4EC9-8D66-1CF97A6895EC}</a:tableStyleId>
              </a:tblPr>
              <a:tblGrid>
                <a:gridCol w="404129">
                  <a:extLst>
                    <a:ext uri="{9D8B030D-6E8A-4147-A177-3AD203B41FA5}">
                      <a16:colId xmlns:a16="http://schemas.microsoft.com/office/drawing/2014/main" val="20000"/>
                    </a:ext>
                  </a:extLst>
                </a:gridCol>
                <a:gridCol w="569330">
                  <a:extLst>
                    <a:ext uri="{9D8B030D-6E8A-4147-A177-3AD203B41FA5}">
                      <a16:colId xmlns:a16="http://schemas.microsoft.com/office/drawing/2014/main" val="20001"/>
                    </a:ext>
                  </a:extLst>
                </a:gridCol>
                <a:gridCol w="377946">
                  <a:extLst>
                    <a:ext uri="{9D8B030D-6E8A-4147-A177-3AD203B41FA5}">
                      <a16:colId xmlns:a16="http://schemas.microsoft.com/office/drawing/2014/main" val="20002"/>
                    </a:ext>
                  </a:extLst>
                </a:gridCol>
                <a:gridCol w="962880">
                  <a:extLst>
                    <a:ext uri="{9D8B030D-6E8A-4147-A177-3AD203B41FA5}">
                      <a16:colId xmlns:a16="http://schemas.microsoft.com/office/drawing/2014/main" val="2302053776"/>
                    </a:ext>
                  </a:extLst>
                </a:gridCol>
              </a:tblGrid>
              <a:tr h="257788">
                <a:tc gridSpan="4">
                  <a:txBody>
                    <a:bodyPr/>
                    <a:lstStyle/>
                    <a:p>
                      <a:pPr marL="0" marR="0" lvl="0" indent="0" algn="ctr" rtl="0">
                        <a:spcBef>
                          <a:spcPts val="0"/>
                        </a:spcBef>
                        <a:spcAft>
                          <a:spcPts val="0"/>
                        </a:spcAft>
                        <a:buNone/>
                      </a:pPr>
                      <a:r>
                        <a:rPr lang="en-US" sz="800" dirty="0"/>
                        <a:t>MFM : </a:t>
                      </a:r>
                      <a:r>
                        <a:rPr lang="en-US" sz="800" dirty="0">
                          <a:solidFill>
                            <a:schemeClr val="bg1"/>
                          </a:solidFill>
                        </a:rPr>
                        <a:t>STAR</a:t>
                      </a:r>
                      <a:r>
                        <a:rPr lang="en-US" sz="800" dirty="0">
                          <a:solidFill>
                            <a:srgbClr val="FFC000"/>
                          </a:solidFill>
                        </a:rPr>
                        <a:t> </a:t>
                      </a:r>
                      <a:r>
                        <a:rPr lang="en-US" sz="800" dirty="0">
                          <a:solidFill>
                            <a:schemeClr val="bg1"/>
                          </a:solidFill>
                        </a:rPr>
                        <a:t>(TL ATC) </a:t>
                      </a:r>
                      <a:r>
                        <a:rPr lang="en-US" sz="800" dirty="0">
                          <a:solidFill>
                            <a:schemeClr val="tx1"/>
                          </a:solidFill>
                        </a:rPr>
                        <a:t>Missed APP See Meter Table</a:t>
                      </a:r>
                    </a:p>
                    <a:p>
                      <a:pPr marL="0" marR="0" lvl="0" indent="0" algn="ctr" rtl="0">
                        <a:spcBef>
                          <a:spcPts val="0"/>
                        </a:spcBef>
                        <a:spcAft>
                          <a:spcPts val="0"/>
                        </a:spcAft>
                        <a:buNone/>
                      </a:pPr>
                      <a:r>
                        <a:rPr lang="en-US" sz="800" b="0" dirty="0">
                          <a:solidFill>
                            <a:srgbClr val="FFC000"/>
                          </a:solidFill>
                        </a:rPr>
                        <a:t>ZAO R231 North X,  FL110 250kts, App 190kts</a:t>
                      </a:r>
                      <a:endParaRPr sz="800" b="0" dirty="0">
                        <a:solidFill>
                          <a:srgbClr val="C00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87476">
                <a:tc>
                  <a:txBody>
                    <a:bodyPr/>
                    <a:lstStyle/>
                    <a:p>
                      <a:pPr marL="0" marR="0" lvl="0" indent="0" algn="ctr" rtl="0">
                        <a:spcBef>
                          <a:spcPts val="0"/>
                        </a:spcBef>
                        <a:spcAft>
                          <a:spcPts val="0"/>
                        </a:spcAft>
                        <a:buNone/>
                      </a:pPr>
                      <a:r>
                        <a:rPr lang="en-US" sz="800" b="1" dirty="0"/>
                        <a:t>34</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SMT xx</a:t>
                      </a:r>
                      <a:r>
                        <a:rPr lang="ko-KR" altLang="en-US" sz="800" b="1" dirty="0"/>
                        <a:t> </a:t>
                      </a:r>
                      <a:r>
                        <a:rPr lang="en-US" altLang="ko-KR" sz="800" b="1" dirty="0"/>
                        <a:t>A</a:t>
                      </a:r>
                      <a:endParaRPr lang="en-US" sz="800" b="1" dirty="0"/>
                    </a:p>
                  </a:txBody>
                  <a:tcPr marL="36000" marR="36000" marT="0" marB="0" anchor="ctr"/>
                </a:tc>
                <a:tc>
                  <a:txBody>
                    <a:bodyPr/>
                    <a:lstStyle/>
                    <a:p>
                      <a:pPr marL="0" marR="0" lvl="0" indent="0" algn="ctr" rtl="0">
                        <a:spcBef>
                          <a:spcPts val="0"/>
                        </a:spcBef>
                        <a:spcAft>
                          <a:spcPts val="0"/>
                        </a:spcAft>
                        <a:buNone/>
                      </a:pPr>
                      <a:r>
                        <a:rPr lang="en-US" sz="800" b="1" dirty="0"/>
                        <a:t>HAZEL</a:t>
                      </a:r>
                      <a:endParaRPr sz="800" b="1" dirty="0"/>
                    </a:p>
                  </a:txBody>
                  <a:tcPr marL="36000" marR="36000" marT="0" marB="0" anchor="ctr"/>
                </a:tc>
                <a:tc>
                  <a:txBody>
                    <a:bodyPr/>
                    <a:lstStyle/>
                    <a:p>
                      <a:pPr algn="ctr"/>
                      <a:r>
                        <a:rPr lang="en-US" sz="800" b="1"/>
                        <a:t>ILS Z 34</a:t>
                      </a:r>
                      <a:endParaRPr lang="ko-Kore-KR" altLang="en-US"/>
                    </a:p>
                  </a:txBody>
                  <a:tcPr marL="36000" marR="36000" marT="36000" marB="36000" anchor="ctr"/>
                </a:tc>
                <a:extLst>
                  <a:ext uri="{0D108BD9-81ED-4DB2-BD59-A6C34878D82A}">
                    <a16:rowId xmlns:a16="http://schemas.microsoft.com/office/drawing/2014/main" val="10001"/>
                  </a:ext>
                </a:extLst>
              </a:tr>
              <a:tr h="0">
                <a:tc>
                  <a:txBody>
                    <a:bodyPr/>
                    <a:lstStyle/>
                    <a:p>
                      <a:pPr marL="0" marR="0" lvl="0" indent="0" algn="ctr" rtl="0">
                        <a:spcBef>
                          <a:spcPts val="0"/>
                        </a:spcBef>
                        <a:spcAft>
                          <a:spcPts val="0"/>
                        </a:spcAft>
                        <a:buNone/>
                      </a:pPr>
                      <a:r>
                        <a:rPr lang="en-US" sz="800" b="0" dirty="0"/>
                        <a:t>16</a:t>
                      </a:r>
                      <a:endParaRPr sz="800" b="0" dirty="0"/>
                    </a:p>
                  </a:txBody>
                  <a:tcPr marL="36000" marR="36000" marT="36000" marB="36000" anchor="ctr"/>
                </a:tc>
                <a:tc>
                  <a:txBody>
                    <a:bodyPr/>
                    <a:lstStyle/>
                    <a:p>
                      <a:pPr marL="0" marR="0" lvl="0" indent="0" algn="ctr" rtl="0">
                        <a:spcBef>
                          <a:spcPts val="0"/>
                        </a:spcBef>
                        <a:spcAft>
                          <a:spcPts val="0"/>
                        </a:spcAft>
                        <a:buNone/>
                      </a:pPr>
                      <a:r>
                        <a:rPr lang="en-US" altLang="ko-Kore-KR" sz="800" b="1" dirty="0"/>
                        <a:t>SMT xx B</a:t>
                      </a:r>
                    </a:p>
                  </a:txBody>
                  <a:tcPr marL="36000" marR="36000" marT="0" marB="0" anchor="ctr"/>
                </a:tc>
                <a:tc>
                  <a:txBody>
                    <a:bodyPr/>
                    <a:lstStyle/>
                    <a:p>
                      <a:pPr marL="0" marR="0" lvl="0" indent="0" algn="ctr" rtl="0">
                        <a:spcBef>
                          <a:spcPts val="0"/>
                        </a:spcBef>
                        <a:spcAft>
                          <a:spcPts val="0"/>
                        </a:spcAft>
                        <a:buNone/>
                      </a:pPr>
                      <a:r>
                        <a:rPr lang="en-US" sz="800" b="1" dirty="0"/>
                        <a:t>ZUM</a:t>
                      </a:r>
                      <a:endParaRPr sz="800" b="1" dirty="0"/>
                    </a:p>
                  </a:txBody>
                  <a:tcPr marL="36000" marR="36000" marT="0" marB="0" anchor="ctr"/>
                </a:tc>
                <a:tc>
                  <a:txBody>
                    <a:bodyPr/>
                    <a:lstStyle/>
                    <a:p>
                      <a:pPr algn="ctr"/>
                      <a:r>
                        <a:rPr lang="en-US" sz="800" b="1" dirty="0">
                          <a:solidFill>
                            <a:srgbClr val="C00000"/>
                          </a:solidFill>
                        </a:rPr>
                        <a:t>Offset 54 LOC Z 16 1000ft Turn Final </a:t>
                      </a:r>
                    </a:p>
                    <a:p>
                      <a:pPr algn="ctr"/>
                      <a:r>
                        <a:rPr lang="en-US" sz="800" b="1" dirty="0">
                          <a:solidFill>
                            <a:srgbClr val="C00000"/>
                          </a:solidFill>
                        </a:rPr>
                        <a:t>NAV CHG (GS Warn)</a:t>
                      </a:r>
                    </a:p>
                  </a:txBody>
                  <a:tcPr marL="36000" marR="36000" marT="36000" marB="36000" anchor="ctr"/>
                </a:tc>
                <a:extLst>
                  <a:ext uri="{0D108BD9-81ED-4DB2-BD59-A6C34878D82A}">
                    <a16:rowId xmlns:a16="http://schemas.microsoft.com/office/drawing/2014/main" val="10002"/>
                  </a:ext>
                </a:extLst>
              </a:tr>
              <a:tr h="14909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34(20’) 9613’ </a:t>
                      </a:r>
                      <a:r>
                        <a:rPr lang="en-US" sz="800" b="1" dirty="0">
                          <a:solidFill>
                            <a:srgbClr val="C00000"/>
                          </a:solidFill>
                        </a:rPr>
                        <a:t>DIS TH</a:t>
                      </a:r>
                      <a:endParaRPr sz="800" b="1" dirty="0">
                        <a:solidFill>
                          <a:srgbClr val="00B050"/>
                        </a:solidFill>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dirty="0">
                          <a:solidFill>
                            <a:srgbClr val="00B050"/>
                          </a:solidFill>
                        </a:rPr>
                        <a:t>9400’ </a:t>
                      </a:r>
                      <a:r>
                        <a:rPr lang="en-US" altLang="ko-Kore-KR" sz="800" b="1" dirty="0">
                          <a:solidFill>
                            <a:srgbClr val="C00000"/>
                          </a:solidFill>
                        </a:rPr>
                        <a:t>DIS TH</a:t>
                      </a:r>
                      <a:r>
                        <a:rPr lang="en-US" altLang="ko-Kore-KR" sz="800" b="1" dirty="0">
                          <a:solidFill>
                            <a:srgbClr val="00B050"/>
                          </a:solidFill>
                        </a:rPr>
                        <a:t> 16(20’)</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49095">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chemeClr val="tx1"/>
                          </a:solidFill>
                        </a:rPr>
                        <a:t>ZAO R231, </a:t>
                      </a:r>
                      <a:r>
                        <a:rPr lang="en-US" sz="800" b="1" dirty="0" err="1">
                          <a:solidFill>
                            <a:schemeClr val="tx1"/>
                          </a:solidFill>
                        </a:rPr>
                        <a:t>RWxx</a:t>
                      </a:r>
                      <a:r>
                        <a:rPr lang="en-US" sz="800" b="1" dirty="0">
                          <a:solidFill>
                            <a:schemeClr val="tx1"/>
                          </a:solidFill>
                        </a:rPr>
                        <a:t> /8</a:t>
                      </a:r>
                      <a:endParaRPr sz="800" b="1" dirty="0">
                        <a:solidFill>
                          <a:schemeClr val="tx1"/>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926462761"/>
                  </a:ext>
                </a:extLst>
              </a:tr>
              <a:tr h="186514">
                <a:tc gridSpan="4">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  34 : G(9074’)                                 16 : E(7020’), </a:t>
                      </a:r>
                      <a:r>
                        <a:rPr lang="en-US" sz="800" b="1" dirty="0">
                          <a:solidFill>
                            <a:srgbClr val="0070C0"/>
                          </a:solidFill>
                        </a:rPr>
                        <a:t>D(8989’)</a:t>
                      </a:r>
                      <a:endParaRPr sz="800"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r h="234811">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In Apron, Caution Wingtip &amp; Jet Blast</a:t>
                      </a:r>
                    </a:p>
                    <a:p>
                      <a:pPr marL="0" marR="0" lvl="0" indent="0" algn="ctr" rtl="0">
                        <a:lnSpc>
                          <a:spcPct val="100000"/>
                        </a:lnSpc>
                        <a:spcBef>
                          <a:spcPts val="0"/>
                        </a:spcBef>
                        <a:spcAft>
                          <a:spcPts val="0"/>
                        </a:spcAft>
                        <a:buClr>
                          <a:schemeClr val="dk1"/>
                        </a:buClr>
                        <a:buSzPts val="800"/>
                        <a:buFont typeface="Calibri"/>
                        <a:buNone/>
                      </a:pPr>
                      <a:r>
                        <a:rPr lang="en-US" sz="800" dirty="0">
                          <a:solidFill>
                            <a:srgbClr val="0070C0"/>
                          </a:solidFill>
                        </a:rPr>
                        <a:t>Advanced VDGS</a:t>
                      </a:r>
                      <a:endParaRPr dirty="0">
                        <a:solidFill>
                          <a:srgbClr val="0070C0"/>
                        </a:solidFill>
                      </a:endParaRPr>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a:extLst>
              <a:ext uri="{FF2B5EF4-FFF2-40B4-BE49-F238E27FC236}">
                <a16:creationId xmlns:a16="http://schemas.microsoft.com/office/drawing/2014/main" id="{32211FFD-03EB-93D5-28A6-B9931AD7D7D5}"/>
              </a:ext>
            </a:extLst>
          </p:cNvPr>
          <p:cNvGraphicFramePr/>
          <p:nvPr>
            <p:extLst>
              <p:ext uri="{D42A27DB-BD31-4B8C-83A1-F6EECF244321}">
                <p14:modId xmlns:p14="http://schemas.microsoft.com/office/powerpoint/2010/main" val="287805698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sz="1200" dirty="0">
                          <a:solidFill>
                            <a:schemeClr val="bg1"/>
                          </a:solidFill>
                          <a:hlinkClick r:id="rId4">
                            <a:extLst>
                              <a:ext uri="{A12FA001-AC4F-418D-AE19-62706E023703}">
                                <ahyp:hlinkClr xmlns:ahyp="http://schemas.microsoft.com/office/drawing/2018/hyperlinkcolor" val="tx"/>
                              </a:ext>
                            </a:extLst>
                          </a:hlinkClick>
                        </a:rPr>
                        <a:t>VMMC(MFM) 20ft</a:t>
                      </a:r>
                      <a:endParaRPr sz="12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ICN 131.5</a:t>
                      </a:r>
                      <a:endParaRPr dirty="0"/>
                    </a:p>
                    <a:p>
                      <a:pPr marL="0" marR="0" lvl="0" indent="0" algn="ctr" rtl="0">
                        <a:lnSpc>
                          <a:spcPct val="100000"/>
                        </a:lnSpc>
                        <a:spcBef>
                          <a:spcPts val="0"/>
                        </a:spcBef>
                        <a:spcAft>
                          <a:spcPts val="0"/>
                        </a:spcAft>
                        <a:buClr>
                          <a:srgbClr val="FF0000"/>
                        </a:buClr>
                        <a:buSzPts val="600"/>
                        <a:buFont typeface="Calibri"/>
                        <a:buNone/>
                      </a:pPr>
                      <a:r>
                        <a:rPr lang="en-US" sz="600" dirty="0">
                          <a:solidFill>
                            <a:srgbClr val="FF0000"/>
                          </a:solidFill>
                          <a:latin typeface="Calibri"/>
                          <a:ea typeface="Calibri"/>
                          <a:cs typeface="Calibri"/>
                          <a:sym typeface="Calibri"/>
                        </a:rPr>
                        <a:t>DCL -10분 TOBT 5분 </a:t>
                      </a:r>
                      <a:r>
                        <a:rPr lang="en-US" sz="600" dirty="0" err="1">
                          <a:solidFill>
                            <a:srgbClr val="FF0000"/>
                          </a:solidFill>
                          <a:latin typeface="Calibri"/>
                          <a:ea typeface="Calibri"/>
                          <a:cs typeface="Calibri"/>
                          <a:sym typeface="Calibri"/>
                        </a:rPr>
                        <a:t>차이시</a:t>
                      </a:r>
                      <a:r>
                        <a:rPr lang="en-US" sz="600" dirty="0">
                          <a:solidFill>
                            <a:srgbClr val="FF0000"/>
                          </a:solidFill>
                          <a:latin typeface="Calibri"/>
                          <a:ea typeface="Calibri"/>
                          <a:cs typeface="Calibri"/>
                          <a:sym typeface="Calibri"/>
                        </a:rPr>
                        <a:t> CTC Comm</a:t>
                      </a:r>
                      <a:endParaRPr sz="90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Menzies OCD</a:t>
                      </a:r>
                    </a:p>
                    <a:p>
                      <a:pPr marL="0" marR="0" lvl="0" indent="0" algn="ctr" rtl="0">
                        <a:spcBef>
                          <a:spcPts val="0"/>
                        </a:spcBef>
                        <a:spcAft>
                          <a:spcPts val="0"/>
                        </a:spcAft>
                        <a:buNone/>
                      </a:pPr>
                      <a:r>
                        <a:rPr lang="en-US" sz="900" dirty="0"/>
                        <a:t>130.55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84EDC834-7773-59FE-97E5-43CCAFAC5156}"/>
              </a:ext>
            </a:extLst>
          </p:cNvPr>
          <p:cNvSpPr/>
          <p:nvPr/>
        </p:nvSpPr>
        <p:spPr>
          <a:xfrm>
            <a:off x="1674227" y="344979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8AC1BBEA-1CB8-4E77-8A50-538B7C56BE5B}"/>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82860190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395">
          <a:extLst>
            <a:ext uri="{FF2B5EF4-FFF2-40B4-BE49-F238E27FC236}">
              <a16:creationId xmlns:a16="http://schemas.microsoft.com/office/drawing/2014/main" id="{F83C628C-ADA9-9C15-F3DF-99D5B8F9D34F}"/>
            </a:ext>
          </a:extLst>
        </p:cNvPr>
        <p:cNvGrpSpPr/>
        <p:nvPr/>
      </p:nvGrpSpPr>
      <p:grpSpPr>
        <a:xfrm>
          <a:off x="0" y="0"/>
          <a:ext cx="0" cy="0"/>
          <a:chOff x="0" y="0"/>
          <a:chExt cx="0" cy="0"/>
        </a:xfrm>
      </p:grpSpPr>
      <p:pic>
        <p:nvPicPr>
          <p:cNvPr id="397" name="Google Shape;397;p30">
            <a:extLst>
              <a:ext uri="{FF2B5EF4-FFF2-40B4-BE49-F238E27FC236}">
                <a16:creationId xmlns:a16="http://schemas.microsoft.com/office/drawing/2014/main" id="{41E6EB93-FEF2-1C9F-6F4E-33AE81F21184}"/>
              </a:ext>
            </a:extLst>
          </p:cNvPr>
          <p:cNvPicPr preferRelativeResize="0"/>
          <p:nvPr/>
        </p:nvPicPr>
        <p:blipFill rotWithShape="1">
          <a:blip r:embed="rId3">
            <a:alphaModFix/>
          </a:blip>
          <a:srcRect/>
          <a:stretch/>
        </p:blipFill>
        <p:spPr>
          <a:xfrm>
            <a:off x="-1" y="-9795"/>
            <a:ext cx="2328863" cy="5064777"/>
          </a:xfrm>
          <a:prstGeom prst="rect">
            <a:avLst/>
          </a:prstGeom>
          <a:noFill/>
          <a:ln>
            <a:noFill/>
          </a:ln>
        </p:spPr>
      </p:pic>
      <p:sp>
        <p:nvSpPr>
          <p:cNvPr id="2" name="TextBox 1">
            <a:extLst>
              <a:ext uri="{FF2B5EF4-FFF2-40B4-BE49-F238E27FC236}">
                <a16:creationId xmlns:a16="http://schemas.microsoft.com/office/drawing/2014/main" id="{7A3035EA-DF68-8BC5-1CAC-01163F9A72E6}"/>
              </a:ext>
            </a:extLst>
          </p:cNvPr>
          <p:cNvSpPr txBox="1"/>
          <p:nvPr/>
        </p:nvSpPr>
        <p:spPr>
          <a:xfrm>
            <a:off x="1278611" y="4006314"/>
            <a:ext cx="1031051" cy="230832"/>
          </a:xfrm>
          <a:prstGeom prst="rect">
            <a:avLst/>
          </a:prstGeom>
          <a:noFill/>
        </p:spPr>
        <p:txBody>
          <a:bodyPr wrap="none" rtlCol="0">
            <a:spAutoFit/>
          </a:bodyPr>
          <a:lstStyle/>
          <a:p>
            <a:r>
              <a:rPr kumimoji="1" lang="en-US" altLang="ko-Kore-KR" sz="900" b="1" dirty="0">
                <a:solidFill>
                  <a:srgbClr val="0070C0"/>
                </a:solidFill>
              </a:rPr>
              <a:t>550M       1800ft</a:t>
            </a:r>
            <a:endParaRPr kumimoji="1" lang="ko-Kore-KR" altLang="en-US" sz="900" b="1" dirty="0">
              <a:solidFill>
                <a:srgbClr val="0070C0"/>
              </a:solidFill>
            </a:endParaRPr>
          </a:p>
        </p:txBody>
      </p:sp>
      <p:sp>
        <p:nvSpPr>
          <p:cNvPr id="3" name="직사각형 2">
            <a:extLst>
              <a:ext uri="{FF2B5EF4-FFF2-40B4-BE49-F238E27FC236}">
                <a16:creationId xmlns:a16="http://schemas.microsoft.com/office/drawing/2014/main" id="{A356E31E-69CF-997F-3FEB-698A82473E0E}"/>
              </a:ext>
            </a:extLst>
          </p:cNvPr>
          <p:cNvSpPr/>
          <p:nvPr/>
        </p:nvSpPr>
        <p:spPr>
          <a:xfrm>
            <a:off x="55571" y="3177666"/>
            <a:ext cx="1000283" cy="333428"/>
          </a:xfrm>
          <a:prstGeom prst="rect">
            <a:avLst/>
          </a:prstGeom>
          <a:noFill/>
          <a:ln w="349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 name="TextBox 4">
            <a:extLst>
              <a:ext uri="{FF2B5EF4-FFF2-40B4-BE49-F238E27FC236}">
                <a16:creationId xmlns:a16="http://schemas.microsoft.com/office/drawing/2014/main" id="{54A2AC44-241B-5D7B-FAF8-A7E46034948A}"/>
              </a:ext>
            </a:extLst>
          </p:cNvPr>
          <p:cNvSpPr txBox="1"/>
          <p:nvPr/>
        </p:nvSpPr>
        <p:spPr>
          <a:xfrm>
            <a:off x="997707" y="3142302"/>
            <a:ext cx="330540" cy="412870"/>
          </a:xfrm>
          <a:prstGeom prst="rect">
            <a:avLst/>
          </a:prstGeom>
          <a:noFill/>
        </p:spPr>
        <p:txBody>
          <a:bodyPr wrap="none" rtlCol="0">
            <a:spAutoFit/>
          </a:bodyPr>
          <a:lstStyle/>
          <a:p>
            <a:r>
              <a:rPr kumimoji="1" lang="en-US" altLang="ko-Kore-KR" sz="900" b="1" dirty="0">
                <a:solidFill>
                  <a:srgbClr val="0070C0"/>
                </a:solidFill>
              </a:rPr>
              <a:t>TL</a:t>
            </a:r>
          </a:p>
          <a:p>
            <a:pPr algn="dist">
              <a:lnSpc>
                <a:spcPct val="150000"/>
              </a:lnSpc>
            </a:pPr>
            <a:r>
              <a:rPr kumimoji="1" lang="en-US" altLang="ko-Kore-KR" sz="900" b="1" dirty="0">
                <a:solidFill>
                  <a:srgbClr val="0070C0"/>
                </a:solidFill>
              </a:rPr>
              <a:t>TA</a:t>
            </a:r>
            <a:endParaRPr kumimoji="1" lang="ko-Kore-KR" altLang="en-US" sz="900" b="1" dirty="0">
              <a:solidFill>
                <a:srgbClr val="0070C0"/>
              </a:solidFill>
            </a:endParaRPr>
          </a:p>
        </p:txBody>
      </p:sp>
      <p:sp>
        <p:nvSpPr>
          <p:cNvPr id="6" name="직사각형 5">
            <a:hlinkClick r:id="" action="ppaction://hlinkshowjump?jump=firstslide"/>
            <a:extLst>
              <a:ext uri="{FF2B5EF4-FFF2-40B4-BE49-F238E27FC236}">
                <a16:creationId xmlns:a16="http://schemas.microsoft.com/office/drawing/2014/main" id="{C44C2A75-2A01-AD59-CAF2-E45F45E3F830}"/>
              </a:ext>
            </a:extLst>
          </p:cNvPr>
          <p:cNvSpPr/>
          <p:nvPr/>
        </p:nvSpPr>
        <p:spPr>
          <a:xfrm>
            <a:off x="847353" y="5277971"/>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70219058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BBD43E86-00FC-2B4E-604E-A003C28493DD}"/>
            </a:ext>
          </a:extLst>
        </p:cNvPr>
        <p:cNvGrpSpPr/>
        <p:nvPr/>
      </p:nvGrpSpPr>
      <p:grpSpPr>
        <a:xfrm>
          <a:off x="0" y="0"/>
          <a:ext cx="0" cy="0"/>
          <a:chOff x="0" y="0"/>
          <a:chExt cx="0" cy="0"/>
        </a:xfrm>
      </p:grpSpPr>
      <p:graphicFrame>
        <p:nvGraphicFramePr>
          <p:cNvPr id="117" name="Google Shape;117;p3">
            <a:extLst>
              <a:ext uri="{FF2B5EF4-FFF2-40B4-BE49-F238E27FC236}">
                <a16:creationId xmlns:a16="http://schemas.microsoft.com/office/drawing/2014/main" id="{0E119484-5864-648E-E57B-28487A91C003}"/>
              </a:ext>
            </a:extLst>
          </p:cNvPr>
          <p:cNvGraphicFramePr/>
          <p:nvPr>
            <p:extLst>
              <p:ext uri="{D42A27DB-BD31-4B8C-83A1-F6EECF244321}">
                <p14:modId xmlns:p14="http://schemas.microsoft.com/office/powerpoint/2010/main" val="2126187328"/>
              </p:ext>
            </p:extLst>
          </p:nvPr>
        </p:nvGraphicFramePr>
        <p:xfrm>
          <a:off x="7175" y="603644"/>
          <a:ext cx="2300931" cy="1771855"/>
        </p:xfrm>
        <a:graphic>
          <a:graphicData uri="http://schemas.openxmlformats.org/drawingml/2006/table">
            <a:tbl>
              <a:tblPr firstRow="1" bandRow="1">
                <a:noFill/>
                <a:tableStyleId>{A521BE36-7E6F-4EC9-8D66-1CF97A6895EC}</a:tableStyleId>
              </a:tblPr>
              <a:tblGrid>
                <a:gridCol w="327184">
                  <a:extLst>
                    <a:ext uri="{9D8B030D-6E8A-4147-A177-3AD203B41FA5}">
                      <a16:colId xmlns:a16="http://schemas.microsoft.com/office/drawing/2014/main" val="20000"/>
                    </a:ext>
                  </a:extLst>
                </a:gridCol>
                <a:gridCol w="64140">
                  <a:extLst>
                    <a:ext uri="{9D8B030D-6E8A-4147-A177-3AD203B41FA5}">
                      <a16:colId xmlns:a16="http://schemas.microsoft.com/office/drawing/2014/main" val="20001"/>
                    </a:ext>
                  </a:extLst>
                </a:gridCol>
                <a:gridCol w="164703">
                  <a:extLst>
                    <a:ext uri="{9D8B030D-6E8A-4147-A177-3AD203B41FA5}">
                      <a16:colId xmlns:a16="http://schemas.microsoft.com/office/drawing/2014/main" val="20002"/>
                    </a:ext>
                  </a:extLst>
                </a:gridCol>
                <a:gridCol w="414479">
                  <a:extLst>
                    <a:ext uri="{9D8B030D-6E8A-4147-A177-3AD203B41FA5}">
                      <a16:colId xmlns:a16="http://schemas.microsoft.com/office/drawing/2014/main" val="20003"/>
                    </a:ext>
                  </a:extLst>
                </a:gridCol>
                <a:gridCol w="162937">
                  <a:extLst>
                    <a:ext uri="{9D8B030D-6E8A-4147-A177-3AD203B41FA5}">
                      <a16:colId xmlns:a16="http://schemas.microsoft.com/office/drawing/2014/main" val="20004"/>
                    </a:ext>
                  </a:extLst>
                </a:gridCol>
                <a:gridCol w="99187">
                  <a:extLst>
                    <a:ext uri="{9D8B030D-6E8A-4147-A177-3AD203B41FA5}">
                      <a16:colId xmlns:a16="http://schemas.microsoft.com/office/drawing/2014/main" val="20005"/>
                    </a:ext>
                  </a:extLst>
                </a:gridCol>
                <a:gridCol w="287650">
                  <a:extLst>
                    <a:ext uri="{9D8B030D-6E8A-4147-A177-3AD203B41FA5}">
                      <a16:colId xmlns:a16="http://schemas.microsoft.com/office/drawing/2014/main" val="20006"/>
                    </a:ext>
                  </a:extLst>
                </a:gridCol>
                <a:gridCol w="465890">
                  <a:extLst>
                    <a:ext uri="{9D8B030D-6E8A-4147-A177-3AD203B41FA5}">
                      <a16:colId xmlns:a16="http://schemas.microsoft.com/office/drawing/2014/main" val="20007"/>
                    </a:ext>
                  </a:extLst>
                </a:gridCol>
                <a:gridCol w="314761">
                  <a:extLst>
                    <a:ext uri="{9D8B030D-6E8A-4147-A177-3AD203B41FA5}">
                      <a16:colId xmlns:a16="http://schemas.microsoft.com/office/drawing/2014/main" val="448940902"/>
                    </a:ext>
                  </a:extLst>
                </a:gridCol>
              </a:tblGrid>
              <a:tr h="398225">
                <a:tc gridSpan="9">
                  <a:txBody>
                    <a:bodyPr/>
                    <a:lstStyle/>
                    <a:p>
                      <a:pPr marL="0" marR="0" lvl="0" indent="0" algn="ctr" rtl="0">
                        <a:spcBef>
                          <a:spcPts val="0"/>
                        </a:spcBef>
                        <a:spcAft>
                          <a:spcPts val="0"/>
                        </a:spcAft>
                        <a:buNone/>
                      </a:pPr>
                      <a:r>
                        <a:rPr lang="en-US" sz="800" u="none" strike="noStrike" cap="none" dirty="0"/>
                        <a:t>MFM : </a:t>
                      </a:r>
                      <a:r>
                        <a:rPr lang="en-US" sz="800" u="none" strike="noStrike" cap="none" dirty="0">
                          <a:solidFill>
                            <a:srgbClr val="FFC000"/>
                          </a:solidFill>
                        </a:rPr>
                        <a:t>RW34 Modified NADP</a:t>
                      </a:r>
                      <a:r>
                        <a:rPr lang="en-US" sz="800" u="none" strike="noStrike" cap="none" dirty="0"/>
                        <a:t> (TA 9000)</a:t>
                      </a:r>
                    </a:p>
                    <a:p>
                      <a:pPr marL="0" marR="0" lvl="0" indent="0" algn="ctr" rtl="0">
                        <a:spcBef>
                          <a:spcPts val="0"/>
                        </a:spcBef>
                        <a:spcAft>
                          <a:spcPts val="0"/>
                        </a:spcAft>
                        <a:buNone/>
                      </a:pPr>
                      <a:r>
                        <a:rPr lang="en-US" sz="800" b="0" u="none" strike="noStrike" cap="none" dirty="0">
                          <a:solidFill>
                            <a:schemeClr val="bg1"/>
                          </a:solidFill>
                        </a:rPr>
                        <a:t>Climb Offset 15</a:t>
                      </a:r>
                      <a:r>
                        <a:rPr lang="ko-KR" altLang="en-US" sz="800" b="0" u="none" strike="noStrike" cap="none" dirty="0">
                          <a:solidFill>
                            <a:schemeClr val="bg1"/>
                          </a:solidFill>
                        </a:rPr>
                        <a:t>도</a:t>
                      </a:r>
                      <a:r>
                        <a:rPr lang="en-US" altLang="ko-KR" sz="800" b="0" u="none" strike="noStrike" cap="none" dirty="0">
                          <a:solidFill>
                            <a:schemeClr val="bg1"/>
                          </a:solidFill>
                        </a:rPr>
                        <a:t>(359)</a:t>
                      </a:r>
                      <a:r>
                        <a:rPr lang="ko-KR" altLang="en-US" sz="800" b="0" u="none" strike="noStrike" cap="none" dirty="0">
                          <a:solidFill>
                            <a:schemeClr val="bg1"/>
                          </a:solidFill>
                        </a:rPr>
                        <a:t> </a:t>
                      </a:r>
                      <a:r>
                        <a:rPr lang="en-US" altLang="ko-KR" sz="800" b="0" u="none" strike="noStrike" cap="none" dirty="0">
                          <a:solidFill>
                            <a:schemeClr val="bg1"/>
                          </a:solidFill>
                        </a:rPr>
                        <a:t>to 400ft </a:t>
                      </a:r>
                    </a:p>
                    <a:p>
                      <a:pPr marL="0" marR="0" lvl="0" indent="0" algn="ctr" rtl="0">
                        <a:spcBef>
                          <a:spcPts val="0"/>
                        </a:spcBef>
                        <a:spcAft>
                          <a:spcPts val="0"/>
                        </a:spcAft>
                        <a:buNone/>
                      </a:pPr>
                      <a:r>
                        <a:rPr lang="en-US" altLang="ko-KR" sz="700" b="0" u="none" strike="noStrike" cap="none" dirty="0">
                          <a:solidFill>
                            <a:srgbClr val="FFC000"/>
                          </a:solidFill>
                        </a:rPr>
                        <a:t>(B737 No LNAV, 400ft R/T 359, DCT LATOP then LNAV)</a:t>
                      </a:r>
                      <a:endParaRPr lang="en-US" sz="800" b="0" u="none" strike="noStrike" cap="none" dirty="0">
                        <a:solidFill>
                          <a:srgbClr val="FFC000"/>
                        </a:solidFill>
                      </a:endParaRP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84579">
                <a:tc>
                  <a:txBody>
                    <a:bodyPr/>
                    <a:lstStyle/>
                    <a:p>
                      <a:pPr marL="0" marR="0" lvl="0" indent="0" algn="ctr" rtl="0">
                        <a:spcBef>
                          <a:spcPts val="0"/>
                        </a:spcBef>
                        <a:spcAft>
                          <a:spcPts val="0"/>
                        </a:spcAft>
                        <a:buNone/>
                      </a:pPr>
                      <a:r>
                        <a:rPr lang="en-US" sz="800" b="1" u="none" strike="noStrike" cap="none" dirty="0"/>
                        <a:t>34</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sz="800" b="1" u="none" strike="noStrike" cap="none" dirty="0">
                          <a:solidFill>
                            <a:srgbClr val="0070C0"/>
                          </a:solidFill>
                        </a:rPr>
                        <a:t>CONGA  xx T/U</a:t>
                      </a:r>
                      <a:endParaRPr sz="800" b="0" u="none" strike="noStrike" cap="none" dirty="0">
                        <a:solidFill>
                          <a:srgbClr val="0070C0"/>
                        </a:solidFill>
                      </a:endParaRPr>
                    </a:p>
                  </a:txBody>
                  <a:tcPr marL="0" marR="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359</a:t>
                      </a:r>
                      <a:endParaRPr sz="458" b="1" u="none" strike="noStrike" cap="none" dirty="0">
                        <a:solidFill>
                          <a:srgbClr val="C00000"/>
                        </a:solidFill>
                      </a:endParaRPr>
                    </a:p>
                  </a:txBody>
                  <a:tcPr marL="0" marR="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359</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FL160/ATC</a:t>
                      </a:r>
                    </a:p>
                  </a:txBody>
                  <a:tcPr marL="0" marR="0" marT="36000" marB="36000" anchor="ctr"/>
                </a:tc>
                <a:tc>
                  <a:txBody>
                    <a:bodyPr/>
                    <a:lstStyle/>
                    <a:p>
                      <a:pPr algn="ctr"/>
                      <a:r>
                        <a:rPr lang="en-US" altLang="ko-Kore-KR" sz="800" b="1" u="none" strike="noStrike" cap="none" dirty="0">
                          <a:solidFill>
                            <a:srgbClr val="C00000"/>
                          </a:solidFill>
                        </a:rPr>
                        <a:t>359</a:t>
                      </a:r>
                      <a:endParaRPr lang="ko-Kore-KR" altLang="en-US" dirty="0"/>
                    </a:p>
                  </a:txBody>
                  <a:tcPr marL="0" marR="0" marT="36000" marB="36000" anchor="ctr"/>
                </a:tc>
                <a:extLst>
                  <a:ext uri="{0D108BD9-81ED-4DB2-BD59-A6C34878D82A}">
                    <a16:rowId xmlns:a16="http://schemas.microsoft.com/office/drawing/2014/main" val="10001"/>
                  </a:ext>
                </a:extLst>
              </a:tr>
              <a:tr h="174727">
                <a:tc>
                  <a:txBody>
                    <a:bodyPr/>
                    <a:lstStyle/>
                    <a:p>
                      <a:pPr marL="0" marR="0" lvl="0" indent="0" algn="ctr" rtl="0">
                        <a:spcBef>
                          <a:spcPts val="0"/>
                        </a:spcBef>
                        <a:spcAft>
                          <a:spcPts val="0"/>
                        </a:spcAft>
                        <a:buNone/>
                      </a:pPr>
                      <a:r>
                        <a:rPr lang="en-US" sz="800" b="0" u="none" strike="noStrike" cap="none" dirty="0"/>
                        <a:t>16</a:t>
                      </a:r>
                      <a:endParaRPr sz="800" b="0" u="none" strike="noStrike" cap="none" dirty="0"/>
                    </a:p>
                  </a:txBody>
                  <a:tcPr marL="0" marR="0" marT="36000" marB="36000" anchor="ctr"/>
                </a:tc>
                <a:tc gridSpan="3">
                  <a:txBody>
                    <a:bodyPr/>
                    <a:lstStyle/>
                    <a:p>
                      <a:pPr marL="0" marR="0" lvl="0" indent="0" algn="ctr" rtl="0">
                        <a:spcBef>
                          <a:spcPts val="0"/>
                        </a:spcBef>
                        <a:spcAft>
                          <a:spcPts val="0"/>
                        </a:spcAft>
                        <a:buNone/>
                      </a:pPr>
                      <a:r>
                        <a:rPr lang="en-US" altLang="ko-Kore-KR" sz="800" b="1" u="none" strike="noStrike" cap="none" dirty="0">
                          <a:solidFill>
                            <a:srgbClr val="0070C0"/>
                          </a:solidFill>
                        </a:rPr>
                        <a:t>CONGA xx P</a:t>
                      </a:r>
                    </a:p>
                  </a:txBody>
                  <a:tcPr marL="0" marR="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164</a:t>
                      </a:r>
                      <a:endParaRPr sz="458" b="1" u="none" strike="noStrike" cap="none" dirty="0">
                        <a:solidFill>
                          <a:srgbClr val="C00000"/>
                        </a:solidFill>
                      </a:endParaRPr>
                    </a:p>
                  </a:txBody>
                  <a:tcPr marL="0" marR="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164</a:t>
                      </a:r>
                      <a:endParaRPr sz="800" b="1" u="none" strike="noStrike" cap="none" dirty="0"/>
                    </a:p>
                  </a:txBody>
                  <a:tcPr marL="0" marR="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5000</a:t>
                      </a:r>
                    </a:p>
                  </a:txBody>
                  <a:tcPr marL="0" marR="0" marT="36000" marB="36000" anchor="ctr"/>
                </a:tc>
                <a:tc>
                  <a:txBody>
                    <a:bodyPr/>
                    <a:lstStyle/>
                    <a:p>
                      <a:pPr algn="ctr"/>
                      <a:r>
                        <a:rPr lang="en-US" altLang="ko-Kore-KR" sz="800" b="1" u="none" strike="noStrike" cap="none" dirty="0">
                          <a:solidFill>
                            <a:srgbClr val="C00000"/>
                          </a:solidFill>
                        </a:rPr>
                        <a:t>164</a:t>
                      </a:r>
                      <a:endParaRPr lang="ko-Kore-KR" altLang="en-US" dirty="0"/>
                    </a:p>
                  </a:txBody>
                  <a:tcPr marL="0" marR="0" marT="36000" marB="36000" anchor="ctr"/>
                </a:tc>
                <a:extLst>
                  <a:ext uri="{0D108BD9-81ED-4DB2-BD59-A6C34878D82A}">
                    <a16:rowId xmlns:a16="http://schemas.microsoft.com/office/drawing/2014/main" val="10002"/>
                  </a:ext>
                </a:extLst>
              </a:tr>
              <a:tr h="219706">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MCU 116.4</a:t>
                      </a:r>
                      <a:endParaRPr sz="800" b="1" u="none" strike="noStrike" cap="none" dirty="0">
                        <a:solidFill>
                          <a:srgbClr val="0070C0"/>
                        </a:solidFill>
                      </a:endParaRPr>
                    </a:p>
                  </a:txBody>
                  <a:tcPr marL="0" marR="0" marT="0" marB="0" anchor="ct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34  109.7</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lang="en-US" sz="800" b="1" u="none" strike="noStrike" cap="none" dirty="0">
                          <a:solidFill>
                            <a:srgbClr val="C00000"/>
                          </a:solidFill>
                        </a:rPr>
                        <a:t>16 111.7</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0" marR="0" marT="0" marB="0" anchor="ctr"/>
                </a:tc>
                <a:tc hMerge="1">
                  <a:txBody>
                    <a:bodyPr/>
                    <a:lstStyle/>
                    <a:p>
                      <a:endParaRPr dirty="0"/>
                    </a:p>
                  </a:txBody>
                  <a:tcPr marL="0" marR="0" marT="0" marB="0" anchor="ctr"/>
                </a:tc>
                <a:extLst>
                  <a:ext uri="{0D108BD9-81ED-4DB2-BD59-A6C34878D82A}">
                    <a16:rowId xmlns:a16="http://schemas.microsoft.com/office/drawing/2014/main" val="10003"/>
                  </a:ext>
                </a:extLst>
              </a:tr>
              <a:tr h="174727">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p>
                  </a:txBody>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34 (20’) </a:t>
                      </a:r>
                    </a:p>
                  </a:txBody>
                  <a:tcPr marL="0" marR="0" marT="0" marB="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11024’</a:t>
                      </a:r>
                    </a:p>
                  </a:txBody>
                  <a:tcPr marL="0" marR="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16 (20’)</a:t>
                      </a: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192242">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FIX</a:t>
                      </a:r>
                      <a:endParaRPr sz="800" u="none" strike="noStrike" cap="none" dirty="0">
                        <a:solidFill>
                          <a:schemeClr val="lt1"/>
                        </a:solidFill>
                      </a:endParaRPr>
                    </a:p>
                  </a:txBody>
                  <a:tcPr marL="0" marR="0" marT="36000" marB="36000" anchor="ctr">
                    <a:solidFill>
                      <a:schemeClr val="accent1"/>
                    </a:solidFill>
                  </a:tcPr>
                </a:tc>
                <a:tc hMerge="1">
                  <a:txBody>
                    <a:bodyPr/>
                    <a:lstStyle/>
                    <a:p>
                      <a:endParaRPr lang="ko-Kore-KR" altLang="en-US"/>
                    </a:p>
                  </a:txBody>
                  <a:tcPr/>
                </a:tc>
                <a:tc gridSpan="7">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ZAO R231 , RW34 E.O : MCU 344/2.5, R025</a:t>
                      </a:r>
                    </a:p>
                  </a:txBody>
                  <a:tcPr marL="0" marR="0" marT="0" marB="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754822849"/>
                  </a:ext>
                </a:extLst>
              </a:tr>
              <a:tr h="165372">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A1-15, A17, B1-6, B8 Confirm </a:t>
                      </a:r>
                      <a:r>
                        <a:rPr lang="en-US" sz="800" b="1" u="none" strike="noStrike" cap="none" dirty="0" err="1">
                          <a:solidFill>
                            <a:srgbClr val="0070C0"/>
                          </a:solidFill>
                        </a:rPr>
                        <a:t>PushBack</a:t>
                      </a:r>
                      <a:r>
                        <a:rPr lang="en-US" sz="800" b="1" u="none" strike="noStrike" cap="none" dirty="0">
                          <a:solidFill>
                            <a:srgbClr val="0070C0"/>
                          </a:solidFill>
                        </a:rPr>
                        <a:t> BLUE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chemeClr val="tx1"/>
                          </a:solidFill>
                        </a:rPr>
                        <a:t>After TWY Protection, Eng Start</a:t>
                      </a:r>
                    </a:p>
                  </a:txBody>
                  <a:tcPr marL="0" marR="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119" name="Google Shape;119;p3">
            <a:extLst>
              <a:ext uri="{FF2B5EF4-FFF2-40B4-BE49-F238E27FC236}">
                <a16:creationId xmlns:a16="http://schemas.microsoft.com/office/drawing/2014/main" id="{65000D49-058D-E40D-4EF0-48B668949B4E}"/>
              </a:ext>
            </a:extLst>
          </p:cNvPr>
          <p:cNvGraphicFramePr/>
          <p:nvPr>
            <p:extLst>
              <p:ext uri="{D42A27DB-BD31-4B8C-83A1-F6EECF244321}">
                <p14:modId xmlns:p14="http://schemas.microsoft.com/office/powerpoint/2010/main" val="1843688691"/>
              </p:ext>
            </p:extLst>
          </p:nvPr>
        </p:nvGraphicFramePr>
        <p:xfrm>
          <a:off x="-2501" y="16504"/>
          <a:ext cx="2328850" cy="5746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bg1"/>
                          </a:solidFill>
                          <a:hlinkClick r:id="rId3">
                            <a:extLst>
                              <a:ext uri="{A12FA001-AC4F-418D-AE19-62706E023703}">
                                <ahyp:hlinkClr xmlns:ahyp="http://schemas.microsoft.com/office/drawing/2018/hyperlinkcolor" val="tx"/>
                              </a:ext>
                            </a:extLst>
                          </a:hlinkClick>
                        </a:rPr>
                        <a:t>VMMC(MFM) 20ft</a:t>
                      </a:r>
                      <a:endParaRPr lang="en-US" altLang="ko-Kore-KR" sz="12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Menzies OCD 130.55</a:t>
                      </a:r>
                      <a:endParaRPr dirty="0"/>
                    </a:p>
                    <a:p>
                      <a:pPr marL="0" marR="0" lvl="0" indent="0" algn="ctr" rtl="0">
                        <a:spcBef>
                          <a:spcPts val="0"/>
                        </a:spcBef>
                        <a:spcAft>
                          <a:spcPts val="0"/>
                        </a:spcAft>
                        <a:buNone/>
                      </a:pPr>
                      <a:r>
                        <a:rPr lang="en-US" sz="700" dirty="0">
                          <a:solidFill>
                            <a:srgbClr val="FF0000"/>
                          </a:solidFill>
                        </a:rPr>
                        <a:t>GND/TWR 5</a:t>
                      </a:r>
                      <a:r>
                        <a:rPr lang="ko-KR" altLang="en-US" sz="700" dirty="0">
                          <a:solidFill>
                            <a:srgbClr val="FF0000"/>
                          </a:solidFill>
                        </a:rPr>
                        <a:t>분전</a:t>
                      </a:r>
                      <a:r>
                        <a:rPr lang="en-US" altLang="ko-KR" sz="700" dirty="0">
                          <a:solidFill>
                            <a:srgbClr val="FF0000"/>
                          </a:solidFill>
                        </a:rPr>
                        <a:t> Voice</a:t>
                      </a:r>
                    </a:p>
                  </a:txBody>
                  <a:tcPr marL="36000" marR="3600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C703CDEB-16B8-E69C-A1F0-A6469B60D76F}"/>
              </a:ext>
            </a:extLst>
          </p:cNvPr>
          <p:cNvSpPr txBox="1"/>
          <p:nvPr/>
        </p:nvSpPr>
        <p:spPr>
          <a:xfrm>
            <a:off x="910816" y="2407652"/>
            <a:ext cx="1348126"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ZUI DEP 123.85 </a:t>
            </a:r>
            <a:endParaRPr kumimoji="1" lang="en-US" altLang="ko-Kore-KR" sz="700" b="1" u="sng" dirty="0">
              <a:solidFill>
                <a:srgbClr val="C0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RDR 123.8 - 118.25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125.5 - FUK 127.5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- 120.72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       126.17</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5" name="Google Shape;303;p19">
            <a:extLst>
              <a:ext uri="{FF2B5EF4-FFF2-40B4-BE49-F238E27FC236}">
                <a16:creationId xmlns:a16="http://schemas.microsoft.com/office/drawing/2014/main" id="{D0AC14C0-AFE6-CB21-11C8-20EB8A8B424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3" name="직사각형 2">
            <a:hlinkClick r:id="" action="ppaction://hlinkshowjump?jump=firstslide"/>
            <a:extLst>
              <a:ext uri="{FF2B5EF4-FFF2-40B4-BE49-F238E27FC236}">
                <a16:creationId xmlns:a16="http://schemas.microsoft.com/office/drawing/2014/main" id="{3D963F5F-CB6D-A450-43AE-40BA3AFFA920}"/>
              </a:ext>
            </a:extLst>
          </p:cNvPr>
          <p:cNvSpPr/>
          <p:nvPr/>
        </p:nvSpPr>
        <p:spPr>
          <a:xfrm>
            <a:off x="1657574" y="3099745"/>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4C5E36BA-68D9-3F9F-F76A-0E04064EB122}"/>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8" name="그림 7" descr="텍스트, 지도, 도표, 폰트이(가) 표시된 사진&#10;&#10;자동 생성된 설명">
            <a:extLst>
              <a:ext uri="{FF2B5EF4-FFF2-40B4-BE49-F238E27FC236}">
                <a16:creationId xmlns:a16="http://schemas.microsoft.com/office/drawing/2014/main" id="{45A9F79A-D38F-7264-637D-181668F136A3}"/>
              </a:ext>
            </a:extLst>
          </p:cNvPr>
          <p:cNvPicPr>
            <a:picLocks noChangeAspect="1"/>
          </p:cNvPicPr>
          <p:nvPr/>
        </p:nvPicPr>
        <p:blipFill>
          <a:blip r:embed="rId7"/>
          <a:stretch>
            <a:fillRect/>
          </a:stretch>
        </p:blipFill>
        <p:spPr>
          <a:xfrm>
            <a:off x="-2500" y="2389930"/>
            <a:ext cx="857950" cy="574615"/>
          </a:xfrm>
          <a:prstGeom prst="rect">
            <a:avLst/>
          </a:prstGeom>
        </p:spPr>
      </p:pic>
    </p:spTree>
    <p:extLst>
      <p:ext uri="{BB962C8B-B14F-4D97-AF65-F5344CB8AC3E}">
        <p14:creationId xmlns:p14="http://schemas.microsoft.com/office/powerpoint/2010/main" val="189377771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465740"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127.9 – 129.1 – MNL 119.3</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RDO 8942(5655) – HCM 120.7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132.35 – 134.05 – CXR APP 127.9</a:t>
            </a:r>
          </a:p>
        </p:txBody>
      </p:sp>
      <p:graphicFrame>
        <p:nvGraphicFramePr>
          <p:cNvPr id="291" name="Google Shape;291;p18"/>
          <p:cNvGraphicFramePr/>
          <p:nvPr>
            <p:extLst>
              <p:ext uri="{D42A27DB-BD31-4B8C-83A1-F6EECF244321}">
                <p14:modId xmlns:p14="http://schemas.microsoft.com/office/powerpoint/2010/main" val="3607833438"/>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978494010"/>
              </p:ext>
            </p:extLst>
          </p:nvPr>
        </p:nvGraphicFramePr>
        <p:xfrm>
          <a:off x="-2501" y="3686661"/>
          <a:ext cx="2327658" cy="186877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945929">
                  <a:extLst>
                    <a:ext uri="{9D8B030D-6E8A-4147-A177-3AD203B41FA5}">
                      <a16:colId xmlns:a16="http://schemas.microsoft.com/office/drawing/2014/main" val="20001"/>
                    </a:ext>
                  </a:extLst>
                </a:gridCol>
                <a:gridCol w="387331">
                  <a:extLst>
                    <a:ext uri="{9D8B030D-6E8A-4147-A177-3AD203B41FA5}">
                      <a16:colId xmlns:a16="http://schemas.microsoft.com/office/drawing/2014/main" val="502366202"/>
                    </a:ext>
                  </a:extLst>
                </a:gridCol>
                <a:gridCol w="118370">
                  <a:extLst>
                    <a:ext uri="{9D8B030D-6E8A-4147-A177-3AD203B41FA5}">
                      <a16:colId xmlns:a16="http://schemas.microsoft.com/office/drawing/2014/main" val="992510185"/>
                    </a:ext>
                  </a:extLst>
                </a:gridCol>
                <a:gridCol w="511481">
                  <a:extLst>
                    <a:ext uri="{9D8B030D-6E8A-4147-A177-3AD203B41FA5}">
                      <a16:colId xmlns:a16="http://schemas.microsoft.com/office/drawing/2014/main" val="2076907169"/>
                    </a:ext>
                  </a:extLst>
                </a:gridCol>
              </a:tblGrid>
              <a:tr h="324137">
                <a:tc gridSpan="5">
                  <a:txBody>
                    <a:bodyPr/>
                    <a:lstStyle/>
                    <a:p>
                      <a:pPr marL="0" marR="0" lvl="0" indent="0" algn="ctr" rtl="0">
                        <a:spcBef>
                          <a:spcPts val="0"/>
                        </a:spcBef>
                        <a:spcAft>
                          <a:spcPts val="0"/>
                        </a:spcAft>
                        <a:buNone/>
                      </a:pPr>
                      <a:r>
                        <a:rPr lang="en-US" sz="800" dirty="0"/>
                        <a:t>CXR : STAR  </a:t>
                      </a:r>
                      <a:r>
                        <a:rPr lang="en-US" sz="800" dirty="0">
                          <a:solidFill>
                            <a:schemeClr val="accent4"/>
                          </a:solidFill>
                        </a:rPr>
                        <a:t>(</a:t>
                      </a:r>
                      <a:r>
                        <a:rPr lang="en-US" sz="800" dirty="0" err="1">
                          <a:solidFill>
                            <a:schemeClr val="accent4"/>
                          </a:solidFill>
                        </a:rPr>
                        <a:t>Wx</a:t>
                      </a:r>
                      <a:r>
                        <a:rPr lang="en-US" sz="800" dirty="0">
                          <a:solidFill>
                            <a:schemeClr val="accent4"/>
                          </a:solidFill>
                        </a:rPr>
                        <a:t>, Using RWY from </a:t>
                      </a:r>
                      <a:r>
                        <a:rPr lang="en-US" sz="800" dirty="0" err="1">
                          <a:solidFill>
                            <a:schemeClr val="accent4"/>
                          </a:solidFill>
                        </a:rPr>
                        <a:t>HoChiMinh</a:t>
                      </a:r>
                      <a:r>
                        <a:rPr lang="en-US" sz="800" dirty="0">
                          <a:solidFill>
                            <a:schemeClr val="accent4"/>
                          </a:solidFill>
                        </a:rPr>
                        <a:t> CTL)</a:t>
                      </a:r>
                    </a:p>
                    <a:p>
                      <a:pPr marL="0" marR="0" lvl="0" indent="0" algn="ctr" rtl="0">
                        <a:spcBef>
                          <a:spcPts val="0"/>
                        </a:spcBef>
                        <a:spcAft>
                          <a:spcPts val="0"/>
                        </a:spcAft>
                        <a:buNone/>
                      </a:pPr>
                      <a:r>
                        <a:rPr lang="en-US" sz="800" b="0" dirty="0">
                          <a:solidFill>
                            <a:srgbClr val="FFC000"/>
                          </a:solidFill>
                        </a:rPr>
                        <a:t>RWY20 Max Tail Wind 15kts, </a:t>
                      </a:r>
                      <a:r>
                        <a:rPr lang="en-US" sz="800" b="0" dirty="0" err="1">
                          <a:solidFill>
                            <a:srgbClr val="FFC000"/>
                          </a:solidFill>
                        </a:rPr>
                        <a:t>chk</a:t>
                      </a:r>
                      <a:r>
                        <a:rPr lang="en-US" sz="800" b="0" dirty="0">
                          <a:solidFill>
                            <a:srgbClr val="FFC000"/>
                          </a:solidFill>
                        </a:rPr>
                        <a:t> condition</a:t>
                      </a:r>
                    </a:p>
                    <a:p>
                      <a:pPr marL="0" marR="0" lvl="0" indent="0" algn="ctr" rtl="0">
                        <a:spcBef>
                          <a:spcPts val="0"/>
                        </a:spcBef>
                        <a:spcAft>
                          <a:spcPts val="0"/>
                        </a:spcAft>
                        <a:buNone/>
                      </a:pPr>
                      <a:r>
                        <a:rPr lang="en-US" sz="800" b="1" dirty="0">
                          <a:solidFill>
                            <a:srgbClr val="C00000"/>
                          </a:solidFill>
                        </a:rPr>
                        <a:t>CAAV STAR, APP not Authorized</a:t>
                      </a:r>
                      <a:endParaRP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23913">
                <a:tc>
                  <a:txBody>
                    <a:bodyPr/>
                    <a:lstStyle/>
                    <a:p>
                      <a:pPr marL="0" marR="0" lvl="0" indent="0" algn="ctr" rtl="0">
                        <a:spcBef>
                          <a:spcPts val="0"/>
                        </a:spcBef>
                        <a:spcAft>
                          <a:spcPts val="0"/>
                        </a:spcAft>
                        <a:buNone/>
                      </a:pPr>
                      <a:r>
                        <a:rPr lang="en-US" sz="800" b="1" dirty="0"/>
                        <a:t>20L</a:t>
                      </a:r>
                      <a:r>
                        <a:rPr lang="en-US" sz="800" b="0" dirty="0"/>
                        <a:t>/R</a:t>
                      </a:r>
                      <a:endParaRPr sz="800" b="0" dirty="0"/>
                    </a:p>
                  </a:txBody>
                  <a:tcPr marL="36000" marR="36000" marT="36000" marB="36000" anchor="ctr"/>
                </a:tc>
                <a:tc rowSpan="2">
                  <a:txBody>
                    <a:bodyPr/>
                    <a:lstStyle/>
                    <a:p>
                      <a:pPr marL="0" marR="0" lvl="0" indent="0" algn="ctr" rtl="0">
                        <a:spcBef>
                          <a:spcPts val="0"/>
                        </a:spcBef>
                        <a:spcAft>
                          <a:spcPts val="0"/>
                        </a:spcAft>
                        <a:buNone/>
                      </a:pPr>
                      <a:r>
                        <a:rPr lang="en-US" sz="800" b="1" dirty="0"/>
                        <a:t>COTUN, BANKE, HUNTA, NHATA xx</a:t>
                      </a:r>
                      <a:endParaRPr lang="en-US" sz="700" b="1" dirty="0"/>
                    </a:p>
                  </a:txBody>
                  <a:tcPr marL="36000" marR="36000" marT="36000" marB="36000" anchor="ctr"/>
                </a:tc>
                <a:tc rowSpan="2">
                  <a:txBody>
                    <a:bodyPr/>
                    <a:lstStyle/>
                    <a:p>
                      <a:r>
                        <a:rPr lang="en-US" sz="800" b="1" dirty="0"/>
                        <a:t>CR xxx </a:t>
                      </a:r>
                      <a:r>
                        <a:rPr lang="en-US" sz="700" b="0" dirty="0">
                          <a:solidFill>
                            <a:srgbClr val="C00000"/>
                          </a:solidFill>
                        </a:rPr>
                        <a:t>AFT IAF STEEP DES(3.8)</a:t>
                      </a:r>
                    </a:p>
                  </a:txBody>
                  <a:tcPr marL="36000" marR="36000" marT="36000" marB="36000" anchor="ctr"/>
                </a:tc>
                <a:tc gridSpan="2">
                  <a:txBody>
                    <a:bodyPr/>
                    <a:lstStyle/>
                    <a:p>
                      <a:pPr marL="0" marR="0" lvl="0" indent="0" algn="ctr" rtl="0">
                        <a:spcBef>
                          <a:spcPts val="0"/>
                        </a:spcBef>
                        <a:spcAft>
                          <a:spcPts val="0"/>
                        </a:spcAft>
                        <a:buNone/>
                      </a:pPr>
                      <a:r>
                        <a:rPr lang="en-US" sz="800" b="1" dirty="0"/>
                        <a:t>ILS Y 20L</a:t>
                      </a:r>
                    </a:p>
                    <a:p>
                      <a:pPr marL="0" marR="0" lvl="0" indent="0" algn="ctr" rtl="0">
                        <a:spcBef>
                          <a:spcPts val="0"/>
                        </a:spcBef>
                        <a:spcAft>
                          <a:spcPts val="0"/>
                        </a:spcAft>
                        <a:buNone/>
                      </a:pPr>
                      <a:r>
                        <a:rPr lang="en-US" sz="800" b="0" dirty="0"/>
                        <a:t>RNP 20R</a:t>
                      </a:r>
                      <a:endParaRPr lang="ko-Kore-KR" altLang="en-US"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37479">
                <a:tc>
                  <a:txBody>
                    <a:bodyPr/>
                    <a:lstStyle/>
                    <a:p>
                      <a:pPr marL="0" marR="0" lvl="0" indent="0" algn="ctr" rtl="0">
                        <a:spcBef>
                          <a:spcPts val="0"/>
                        </a:spcBef>
                        <a:spcAft>
                          <a:spcPts val="0"/>
                        </a:spcAft>
                        <a:buNone/>
                      </a:pPr>
                      <a:r>
                        <a:rPr lang="en-US" sz="800" b="1" dirty="0"/>
                        <a:t>02R</a:t>
                      </a:r>
                      <a:r>
                        <a:rPr lang="en-US" sz="800" b="0" dirty="0"/>
                        <a:t>/L</a:t>
                      </a:r>
                      <a:endParaRPr sz="800" b="0" dirty="0"/>
                    </a:p>
                  </a:txBody>
                  <a:tcPr marL="36000" marR="36000" marT="36000" marB="36000" anchor="ctr"/>
                </a:tc>
                <a:tc vMerge="1">
                  <a:txBody>
                    <a:bodyPr/>
                    <a:lstStyle/>
                    <a:p>
                      <a:pPr marL="0" marR="0" lvl="0" indent="0" algn="ctr" rtl="0">
                        <a:spcBef>
                          <a:spcPts val="0"/>
                        </a:spcBef>
                        <a:spcAft>
                          <a:spcPts val="0"/>
                        </a:spcAft>
                        <a:buNone/>
                      </a:pPr>
                      <a:endParaRPr lang="en-US" altLang="ko-Kore-KR" sz="800" b="1" dirty="0"/>
                    </a:p>
                  </a:txBody>
                  <a:tcPr marL="36000" marR="36000" marT="36000" marB="36000" anchor="ctr"/>
                </a:tc>
                <a:tc vMerge="1">
                  <a:txBody>
                    <a:bodyPr/>
                    <a:lstStyle/>
                    <a:p>
                      <a:endParaRPr lang="ko-Kore-KR" altLang="en-US"/>
                    </a:p>
                  </a:txBody>
                  <a:tcPr/>
                </a:tc>
                <a:tc gridSpan="2">
                  <a:txBody>
                    <a:bodyPr/>
                    <a:lstStyle/>
                    <a:p>
                      <a:r>
                        <a:rPr lang="en-US" sz="800" b="1" dirty="0"/>
                        <a:t>ILS X/Z 02L/R</a:t>
                      </a:r>
                      <a:endParaRPr lang="ko-Kore-KR" altLang="en-US"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37479">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02R(15’) </a:t>
                      </a:r>
                      <a:r>
                        <a:rPr lang="en-US" sz="800" b="1" dirty="0">
                          <a:solidFill>
                            <a:srgbClr val="C00000"/>
                          </a:solidFill>
                        </a:rPr>
                        <a:t>3.5</a:t>
                      </a:r>
                      <a:r>
                        <a:rPr lang="ko-KR" altLang="en-US" sz="800" b="1" dirty="0">
                          <a:solidFill>
                            <a:srgbClr val="C00000"/>
                          </a:solidFill>
                        </a:rPr>
                        <a:t>도</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10000’</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20L(34’)</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37479">
                <a:tc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02L(20’) </a:t>
                      </a:r>
                      <a:r>
                        <a:rPr lang="en-US" sz="800" b="1" dirty="0">
                          <a:solidFill>
                            <a:srgbClr val="C00000"/>
                          </a:solidFill>
                        </a:rPr>
                        <a:t>3.5</a:t>
                      </a:r>
                      <a:r>
                        <a:rPr lang="ko-KR" altLang="en-US" sz="800" b="1" dirty="0">
                          <a:solidFill>
                            <a:srgbClr val="C00000"/>
                          </a:solidFill>
                        </a:rPr>
                        <a:t>도</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10010’</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20R(46’)</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5">
                  <a:txBody>
                    <a:bodyPr/>
                    <a:lstStyle/>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20L : G3(6735’), G1(9603’),   02R : G5(6528’), G7(9662’)</a:t>
                      </a:r>
                      <a:endParaRPr sz="800" dirty="0">
                        <a:solidFill>
                          <a:schemeClr val="dk1"/>
                        </a:solidFill>
                      </a:endParaRPr>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20R : W4(5971’), W3(7680’),02L : W5(5606’), W6(7345’)</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err="1"/>
                        <a:t>FollowMe</a:t>
                      </a:r>
                      <a:r>
                        <a:rPr lang="en-US" sz="800" dirty="0"/>
                        <a:t> Car Service, </a:t>
                      </a:r>
                      <a:r>
                        <a:rPr lang="en-US" sz="800" b="1" dirty="0" err="1">
                          <a:solidFill>
                            <a:srgbClr val="C00000"/>
                          </a:solidFill>
                        </a:rPr>
                        <a:t>Sensitie</a:t>
                      </a:r>
                      <a:r>
                        <a:rPr lang="en-US" sz="800" b="1" dirty="0">
                          <a:solidFill>
                            <a:srgbClr val="C00000"/>
                          </a:solidFill>
                        </a:rPr>
                        <a:t> VDGS Caution!!</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390529704"/>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VVCR(CXR) 46ft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800" dirty="0">
                          <a:solidFill>
                            <a:srgbClr val="FF0000"/>
                          </a:solidFill>
                        </a:rPr>
                        <a:t>No D-ATIS</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8BFDA17-699D-A0C3-A1F6-B1CDE98B3DE3}"/>
              </a:ext>
            </a:extLst>
          </p:cNvPr>
          <p:cNvSpPr/>
          <p:nvPr/>
        </p:nvSpPr>
        <p:spPr>
          <a:xfrm>
            <a:off x="1469976" y="342603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82246992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2752605063"/>
              </p:ext>
            </p:extLst>
          </p:nvPr>
        </p:nvGraphicFramePr>
        <p:xfrm>
          <a:off x="-4046" y="586900"/>
          <a:ext cx="2347194" cy="1742650"/>
        </p:xfrm>
        <a:graphic>
          <a:graphicData uri="http://schemas.openxmlformats.org/drawingml/2006/table">
            <a:tbl>
              <a:tblPr firstRow="1" bandRow="1">
                <a:noFill/>
                <a:tableStyleId>{A521BE36-7E6F-4EC9-8D66-1CF97A6895EC}</a:tableStyleId>
              </a:tblPr>
              <a:tblGrid>
                <a:gridCol w="335409">
                  <a:extLst>
                    <a:ext uri="{9D8B030D-6E8A-4147-A177-3AD203B41FA5}">
                      <a16:colId xmlns:a16="http://schemas.microsoft.com/office/drawing/2014/main" val="20000"/>
                    </a:ext>
                  </a:extLst>
                </a:gridCol>
                <a:gridCol w="168843">
                  <a:extLst>
                    <a:ext uri="{9D8B030D-6E8A-4147-A177-3AD203B41FA5}">
                      <a16:colId xmlns:a16="http://schemas.microsoft.com/office/drawing/2014/main" val="20002"/>
                    </a:ext>
                  </a:extLst>
                </a:gridCol>
                <a:gridCol w="424897">
                  <a:extLst>
                    <a:ext uri="{9D8B030D-6E8A-4147-A177-3AD203B41FA5}">
                      <a16:colId xmlns:a16="http://schemas.microsoft.com/office/drawing/2014/main" val="20003"/>
                    </a:ext>
                  </a:extLst>
                </a:gridCol>
                <a:gridCol w="178013">
                  <a:extLst>
                    <a:ext uri="{9D8B030D-6E8A-4147-A177-3AD203B41FA5}">
                      <a16:colId xmlns:a16="http://schemas.microsoft.com/office/drawing/2014/main" val="20004"/>
                    </a:ext>
                  </a:extLst>
                </a:gridCol>
                <a:gridCol w="61400">
                  <a:extLst>
                    <a:ext uri="{9D8B030D-6E8A-4147-A177-3AD203B41FA5}">
                      <a16:colId xmlns:a16="http://schemas.microsoft.com/office/drawing/2014/main" val="20005"/>
                    </a:ext>
                  </a:extLst>
                </a:gridCol>
                <a:gridCol w="294880">
                  <a:extLst>
                    <a:ext uri="{9D8B030D-6E8A-4147-A177-3AD203B41FA5}">
                      <a16:colId xmlns:a16="http://schemas.microsoft.com/office/drawing/2014/main" val="20006"/>
                    </a:ext>
                  </a:extLst>
                </a:gridCol>
                <a:gridCol w="269355">
                  <a:extLst>
                    <a:ext uri="{9D8B030D-6E8A-4147-A177-3AD203B41FA5}">
                      <a16:colId xmlns:a16="http://schemas.microsoft.com/office/drawing/2014/main" val="20007"/>
                    </a:ext>
                  </a:extLst>
                </a:gridCol>
                <a:gridCol w="325783">
                  <a:extLst>
                    <a:ext uri="{9D8B030D-6E8A-4147-A177-3AD203B41FA5}">
                      <a16:colId xmlns:a16="http://schemas.microsoft.com/office/drawing/2014/main" val="20008"/>
                    </a:ext>
                  </a:extLst>
                </a:gridCol>
                <a:gridCol w="288614">
                  <a:extLst>
                    <a:ext uri="{9D8B030D-6E8A-4147-A177-3AD203B41FA5}">
                      <a16:colId xmlns:a16="http://schemas.microsoft.com/office/drawing/2014/main" val="448940902"/>
                    </a:ext>
                  </a:extLst>
                </a:gridCol>
              </a:tblGrid>
              <a:tr h="0">
                <a:tc gridSpan="9">
                  <a:txBody>
                    <a:bodyPr/>
                    <a:lstStyle/>
                    <a:p>
                      <a:pPr marL="0" marR="0" lvl="0" indent="0" algn="ctr" rtl="0">
                        <a:spcBef>
                          <a:spcPts val="0"/>
                        </a:spcBef>
                        <a:spcAft>
                          <a:spcPts val="0"/>
                        </a:spcAft>
                        <a:buNone/>
                      </a:pPr>
                      <a:r>
                        <a:rPr lang="en-US" sz="800" u="none" strike="noStrike" cap="none" dirty="0"/>
                        <a:t>CNX : RNP SID (NADP 1)</a:t>
                      </a:r>
                    </a:p>
                    <a:p>
                      <a:pPr marL="0" marR="0" lvl="0" indent="0" algn="ctr" rtl="0">
                        <a:spcBef>
                          <a:spcPts val="0"/>
                        </a:spcBef>
                        <a:spcAft>
                          <a:spcPts val="0"/>
                        </a:spcAft>
                        <a:buNone/>
                      </a:pPr>
                      <a:r>
                        <a:rPr lang="en-US" sz="800" u="none" strike="noStrike" cap="none" dirty="0">
                          <a:solidFill>
                            <a:schemeClr val="accent4"/>
                          </a:solidFill>
                        </a:rPr>
                        <a:t>Follow Restrictions due to Military Traffic</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02L</a:t>
                      </a:r>
                      <a:r>
                        <a:rPr lang="en-US" sz="800" b="0" u="none" strike="noStrike" cap="none" dirty="0"/>
                        <a:t>/R</a:t>
                      </a:r>
                    </a:p>
                  </a:txBody>
                  <a:tcPr marL="36000" marR="36000" marT="36000" marB="36000" anchor="ctr"/>
                </a:tc>
                <a:tc gridSpan="2">
                  <a:txBody>
                    <a:bodyPr/>
                    <a:lstStyle/>
                    <a:p>
                      <a:r>
                        <a:rPr lang="en-US" sz="800" b="1" u="none" strike="noStrike" cap="none" dirty="0">
                          <a:solidFill>
                            <a:srgbClr val="0070C0"/>
                          </a:solidFill>
                        </a:rPr>
                        <a:t>NIHOA </a:t>
                      </a:r>
                      <a:r>
                        <a:rPr lang="en-US" sz="800" b="1" u="none" strike="noStrike" cap="none" dirty="0" err="1">
                          <a:solidFill>
                            <a:srgbClr val="0070C0"/>
                          </a:solidFill>
                        </a:rPr>
                        <a:t>xxA</a:t>
                      </a:r>
                      <a:endParaRPr lang="ko-Kore-K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020</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020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ATC/FL</a:t>
                      </a:r>
                      <a:r>
                        <a:rPr lang="en-US" altLang="ko-KR" sz="800" b="1" u="none" strike="noStrike" cap="none" dirty="0">
                          <a:solidFill>
                            <a:srgbClr val="0070C0"/>
                          </a:solidFill>
                        </a:rPr>
                        <a:t>100</a:t>
                      </a:r>
                      <a:endParaRPr lang="en-US" sz="800" b="1" u="none" strike="noStrike" cap="none" dirty="0">
                        <a:solidFill>
                          <a:srgbClr val="0070C0"/>
                        </a:solidFill>
                      </a:endParaRP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020</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20R</a:t>
                      </a:r>
                      <a:r>
                        <a:rPr lang="en-US" sz="800" b="0" u="none" strike="noStrike" cap="none" dirty="0"/>
                        <a:t>/L</a:t>
                      </a:r>
                      <a:endParaRPr sz="800" b="0" u="none" strike="noStrike" cap="none" dirty="0"/>
                    </a:p>
                  </a:txBody>
                  <a:tcPr marL="36000" marR="36000" marT="36000" marB="36000" anchor="ctr"/>
                </a:tc>
                <a:tc gridSpan="2">
                  <a:txBody>
                    <a:bodyPr/>
                    <a:lstStyle/>
                    <a:p>
                      <a:r>
                        <a:rPr lang="en-US" altLang="ko-Kore-KR" sz="800" b="1" u="none" strike="noStrike" cap="none" dirty="0">
                          <a:solidFill>
                            <a:srgbClr val="0070C0"/>
                          </a:solidFill>
                        </a:rPr>
                        <a:t>NIHOA </a:t>
                      </a:r>
                      <a:r>
                        <a:rPr lang="en-US" altLang="ko-Kore-KR" sz="800" b="1" u="none" strike="noStrike" cap="none" dirty="0" err="1">
                          <a:solidFill>
                            <a:srgbClr val="0070C0"/>
                          </a:solidFill>
                        </a:rPr>
                        <a:t>xxB</a:t>
                      </a:r>
                      <a:endParaRPr lang="ko-Kore-K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200</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200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ATC/FL100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200</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CRA 116.5</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02R 111.9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gridSpan="3">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02L 110.7</a:t>
                      </a:r>
                      <a:endParaRPr lang="ko-Kore-KR" dirty="0"/>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20L 110.3</a:t>
                      </a:r>
                      <a:endParaRPr lang="ko-Kore-KR"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15700">
                <a:tc gridSpan="9">
                  <a:txBody>
                    <a:bodyPr/>
                    <a:lstStyle/>
                    <a:p>
                      <a:pPr marL="0" marR="0" lvl="0" indent="0" algn="ctr" rtl="0">
                        <a:lnSpc>
                          <a:spcPct val="100000"/>
                        </a:lnSpc>
                        <a:spcBef>
                          <a:spcPts val="0"/>
                        </a:spcBef>
                        <a:spcAft>
                          <a:spcPts val="0"/>
                        </a:spcAft>
                        <a:buClr>
                          <a:srgbClr val="0070C0"/>
                        </a:buClr>
                        <a:buSzPts val="800"/>
                        <a:buFont typeface="Calibri"/>
                        <a:buNone/>
                      </a:pPr>
                      <a:r>
                        <a:rPr lang="en-US" sz="800" b="0" u="none" strike="noStrike" cap="none" dirty="0">
                          <a:solidFill>
                            <a:schemeClr val="tx1"/>
                          </a:solidFill>
                        </a:rPr>
                        <a:t>02 : CRA 020/2, R090</a:t>
                      </a:r>
                    </a:p>
                    <a:p>
                      <a:pPr marL="0" marR="0" lvl="0" indent="0" algn="ctr" rtl="0">
                        <a:lnSpc>
                          <a:spcPct val="100000"/>
                        </a:lnSpc>
                        <a:spcBef>
                          <a:spcPts val="0"/>
                        </a:spcBef>
                        <a:spcAft>
                          <a:spcPts val="0"/>
                        </a:spcAft>
                        <a:buClr>
                          <a:srgbClr val="0070C0"/>
                        </a:buClr>
                        <a:buSzPts val="800"/>
                        <a:buFont typeface="Calibri"/>
                        <a:buNone/>
                      </a:pPr>
                      <a:r>
                        <a:rPr lang="en-US" sz="800" b="0" u="none" strike="noStrike" cap="none" dirty="0">
                          <a:solidFill>
                            <a:schemeClr val="tx1"/>
                          </a:solidFill>
                        </a:rPr>
                        <a:t> 20 : CRA 200/6, R150</a:t>
                      </a:r>
                      <a:endParaRPr sz="800" b="0" u="none" strike="noStrike" cap="none" dirty="0">
                        <a:solidFill>
                          <a:schemeClr val="tx1"/>
                        </a:solidFill>
                      </a:endParaRPr>
                    </a:p>
                  </a:txBody>
                  <a:tcPr marL="0" marR="0" marT="0" marB="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dirty="0"/>
                    </a:p>
                  </a:txBody>
                  <a:tcPr marL="36000" marR="36000" marT="36000" marB="36000" anchor="ctr"/>
                </a:tc>
                <a:tc hMerge="1">
                  <a:txBody>
                    <a:bodyPr/>
                    <a:lstStyle/>
                    <a:p>
                      <a:endParaRPr lang="ko-Kore-KR" altLang="en-US"/>
                    </a:p>
                  </a:txBody>
                  <a:tcP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186816789"/>
                  </a:ext>
                </a:extLst>
              </a:tr>
              <a:tr h="1016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02L(20’) </a:t>
                      </a:r>
                      <a:r>
                        <a:rPr lang="en-US" sz="800" b="1" u="none" strike="noStrike" cap="none" dirty="0">
                          <a:solidFill>
                            <a:srgbClr val="C00000"/>
                          </a:solidFill>
                          <a:latin typeface="Calibri"/>
                          <a:ea typeface="Calibri"/>
                          <a:cs typeface="Calibri"/>
                          <a:sym typeface="Calibri"/>
                        </a:rPr>
                        <a:t>3.5</a:t>
                      </a:r>
                      <a:r>
                        <a:rPr lang="ko-KR" altLang="en-US" sz="800" b="1" u="none" strike="noStrike" cap="none" dirty="0">
                          <a:solidFill>
                            <a:srgbClr val="C00000"/>
                          </a:solidFill>
                          <a:latin typeface="Calibri"/>
                          <a:ea typeface="Calibri"/>
                          <a:cs typeface="Calibri"/>
                          <a:sym typeface="Calibri"/>
                        </a:rPr>
                        <a:t>도</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3">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10010</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20R(46’)</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u="none" strike="noStrike" cap="none" dirty="0">
                          <a:solidFill>
                            <a:srgbClr val="00B050"/>
                          </a:solidFill>
                          <a:latin typeface="Calibri"/>
                          <a:ea typeface="Calibri"/>
                          <a:cs typeface="Calibri"/>
                          <a:sym typeface="Calibri"/>
                        </a:rPr>
                        <a:t>02R(15’) </a:t>
                      </a:r>
                      <a:r>
                        <a:rPr lang="en-US" altLang="ko-Kore-KR" sz="800" b="1" u="none" strike="noStrike" cap="none" dirty="0">
                          <a:solidFill>
                            <a:srgbClr val="C00000"/>
                          </a:solidFill>
                          <a:latin typeface="Calibri"/>
                          <a:ea typeface="Calibri"/>
                          <a:cs typeface="Calibri"/>
                          <a:sym typeface="Calibri"/>
                        </a:rPr>
                        <a:t>3.5</a:t>
                      </a:r>
                      <a:r>
                        <a:rPr lang="ko-KR" altLang="en-US" sz="800" b="1" u="none" strike="noStrike" cap="none" dirty="0">
                          <a:solidFill>
                            <a:srgbClr val="C00000"/>
                          </a:solidFill>
                          <a:latin typeface="Calibri"/>
                          <a:ea typeface="Calibri"/>
                          <a:cs typeface="Calibri"/>
                          <a:sym typeface="Calibri"/>
                        </a:rPr>
                        <a:t>도</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10000’</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20L(34’)</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44693353"/>
                  </a:ext>
                </a:extLst>
              </a:tr>
              <a:tr h="115700">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TWY Y5 only below wingspan 36m/118ft</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2719691675"/>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VVCR(CXR) 46ft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p>
                    <a:p>
                      <a:pPr marL="0" marR="0" lvl="0" indent="0" algn="ctr" rtl="0">
                        <a:spcBef>
                          <a:spcPts val="0"/>
                        </a:spcBef>
                        <a:spcAft>
                          <a:spcPts val="0"/>
                        </a:spcAft>
                        <a:buNone/>
                      </a:pPr>
                      <a:r>
                        <a:rPr lang="en-US" altLang="ko-KR" sz="700" dirty="0">
                          <a:solidFill>
                            <a:srgbClr val="FF0000"/>
                          </a:solidFill>
                        </a:rPr>
                        <a:t>TWR 118.2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775855" y="2358321"/>
            <a:ext cx="1612942"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127.9 – HCM 134.05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DAD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132.15 – 127.1 – TPE 129.1</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125.5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pic>
        <p:nvPicPr>
          <p:cNvPr id="9" name="그림 8" descr="지도, 텍스트, 도표이(가) 표시된 사진&#10;&#10;자동 생성된 설명">
            <a:extLst>
              <a:ext uri="{FF2B5EF4-FFF2-40B4-BE49-F238E27FC236}">
                <a16:creationId xmlns:a16="http://schemas.microsoft.com/office/drawing/2014/main" id="{40FAD37A-76DB-4884-AE7F-03831C74A2DB}"/>
              </a:ext>
            </a:extLst>
          </p:cNvPr>
          <p:cNvPicPr>
            <a:picLocks noChangeAspect="1"/>
          </p:cNvPicPr>
          <p:nvPr/>
        </p:nvPicPr>
        <p:blipFill>
          <a:blip r:embed="rId5"/>
          <a:stretch>
            <a:fillRect/>
          </a:stretch>
        </p:blipFill>
        <p:spPr>
          <a:xfrm>
            <a:off x="0" y="2336310"/>
            <a:ext cx="845389" cy="825728"/>
          </a:xfrm>
          <a:prstGeom prst="rect">
            <a:avLst/>
          </a:prstGeom>
        </p:spPr>
      </p:pic>
      <p:sp>
        <p:nvSpPr>
          <p:cNvPr id="4" name="직사각형 3">
            <a:hlinkClick r:id="" action="ppaction://hlinkshowjump?jump=firstslide"/>
            <a:extLst>
              <a:ext uri="{FF2B5EF4-FFF2-40B4-BE49-F238E27FC236}">
                <a16:creationId xmlns:a16="http://schemas.microsoft.com/office/drawing/2014/main" id="{33F13AC3-0D74-CEBB-7100-2629A32A1FE4}"/>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74026387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438488"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 /20)</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MNL 119.3 - </a:t>
            </a:r>
            <a:r>
              <a:rPr kumimoji="1" lang="en-US" altLang="ko-Kore-KR" sz="700" b="1" u="sng" dirty="0">
                <a:solidFill>
                  <a:srgbClr val="0070C0"/>
                </a:solidFill>
                <a:latin typeface="Gulim" panose="020B0600000101010101" pitchFamily="34" charset="-127"/>
                <a:ea typeface="Gulim" panose="020B0600000101010101" pitchFamily="34" charset="-127"/>
              </a:rPr>
              <a:t>MNL RDO 8942(5655) – HCM 120.7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132.35 – SGN APP 125.5</a:t>
            </a:r>
          </a:p>
        </p:txBody>
      </p:sp>
      <p:graphicFrame>
        <p:nvGraphicFramePr>
          <p:cNvPr id="291" name="Google Shape;291;p18"/>
          <p:cNvGraphicFramePr/>
          <p:nvPr>
            <p:extLst>
              <p:ext uri="{D42A27DB-BD31-4B8C-83A1-F6EECF244321}">
                <p14:modId xmlns:p14="http://schemas.microsoft.com/office/powerpoint/2010/main" val="1153951041"/>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2356095685"/>
              </p:ext>
            </p:extLst>
          </p:nvPr>
        </p:nvGraphicFramePr>
        <p:xfrm>
          <a:off x="-11466" y="3788344"/>
          <a:ext cx="2365375" cy="174265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552354">
                  <a:extLst>
                    <a:ext uri="{9D8B030D-6E8A-4147-A177-3AD203B41FA5}">
                      <a16:colId xmlns:a16="http://schemas.microsoft.com/office/drawing/2014/main" val="20001"/>
                    </a:ext>
                  </a:extLst>
                </a:gridCol>
                <a:gridCol w="277906">
                  <a:extLst>
                    <a:ext uri="{9D8B030D-6E8A-4147-A177-3AD203B41FA5}">
                      <a16:colId xmlns:a16="http://schemas.microsoft.com/office/drawing/2014/main" val="689142997"/>
                    </a:ext>
                  </a:extLst>
                </a:gridCol>
                <a:gridCol w="224118">
                  <a:extLst>
                    <a:ext uri="{9D8B030D-6E8A-4147-A177-3AD203B41FA5}">
                      <a16:colId xmlns:a16="http://schemas.microsoft.com/office/drawing/2014/main" val="502366202"/>
                    </a:ext>
                  </a:extLst>
                </a:gridCol>
                <a:gridCol w="946450">
                  <a:extLst>
                    <a:ext uri="{9D8B030D-6E8A-4147-A177-3AD203B41FA5}">
                      <a16:colId xmlns:a16="http://schemas.microsoft.com/office/drawing/2014/main" val="992510185"/>
                    </a:ext>
                  </a:extLst>
                </a:gridCol>
              </a:tblGrid>
              <a:tr h="120271">
                <a:tc gridSpan="5">
                  <a:txBody>
                    <a:bodyPr/>
                    <a:lstStyle/>
                    <a:p>
                      <a:pPr marL="0" marR="0" lvl="0" indent="0" algn="ctr" rtl="0">
                        <a:spcBef>
                          <a:spcPts val="0"/>
                        </a:spcBef>
                        <a:spcAft>
                          <a:spcPts val="0"/>
                        </a:spcAft>
                        <a:buNone/>
                      </a:pPr>
                      <a:r>
                        <a:rPr lang="en-US" sz="800" dirty="0"/>
                        <a:t>SGN : STAR  </a:t>
                      </a:r>
                      <a:r>
                        <a:rPr lang="en-US" sz="800" dirty="0">
                          <a:solidFill>
                            <a:schemeClr val="accent4"/>
                          </a:solidFill>
                        </a:rPr>
                        <a:t>(CPDLC : VVHM)</a:t>
                      </a:r>
                      <a:r>
                        <a:rPr lang="ko-KR" altLang="en-US" sz="800" dirty="0">
                          <a:solidFill>
                            <a:schemeClr val="accent4"/>
                          </a:solidFill>
                        </a:rPr>
                        <a:t> </a:t>
                      </a:r>
                      <a:r>
                        <a:rPr lang="en-US" altLang="ko-KR" sz="800" dirty="0">
                          <a:solidFill>
                            <a:schemeClr val="bg1"/>
                          </a:solidFill>
                        </a:rPr>
                        <a:t>TL 190</a:t>
                      </a:r>
                      <a:endParaRPr sz="800" b="1" dirty="0">
                        <a:solidFill>
                          <a:schemeClr val="bg1"/>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25R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xxH</a:t>
                      </a:r>
                      <a:endParaRPr lang="en-US" sz="700" b="1" dirty="0"/>
                    </a:p>
                  </a:txBody>
                  <a:tcPr marL="36000" marR="36000" marT="36000" marB="36000" anchor="ctr"/>
                </a:tc>
                <a:tc gridSpan="2">
                  <a:txBody>
                    <a:bodyPr/>
                    <a:lstStyle/>
                    <a:p>
                      <a:pPr marL="0" marR="0" lvl="0" indent="0" algn="ctr" rtl="0">
                        <a:spcBef>
                          <a:spcPts val="0"/>
                        </a:spcBef>
                        <a:spcAft>
                          <a:spcPts val="0"/>
                        </a:spcAft>
                        <a:buNone/>
                      </a:pPr>
                      <a:r>
                        <a:rPr lang="en-US" altLang="ko-Kore-KR" sz="800" b="1"/>
                        <a:t>SOKAN</a:t>
                      </a:r>
                      <a:endParaRPr lang="en-US" sz="700" b="1" dirty="0"/>
                    </a:p>
                  </a:txBody>
                  <a:tcPr marL="36000" marR="36000" marT="36000" marB="36000" anchor="ctr"/>
                </a:tc>
                <a:tc hMerge="1">
                  <a:txBody>
                    <a:bodyPr/>
                    <a:lstStyle/>
                    <a:p>
                      <a:pPr algn="ctr"/>
                      <a:r>
                        <a:rPr lang="en-US" altLang="ko-Kore-KR" sz="800" b="1" dirty="0"/>
                        <a:t>SOKAN</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ILS W 25R/L</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07R</a:t>
                      </a:r>
                      <a:r>
                        <a:rPr lang="en-US" sz="800" b="0" dirty="0"/>
                        <a:t>(L)</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DALAP </a:t>
                      </a:r>
                      <a:r>
                        <a:rPr lang="en-US" sz="800" b="1" dirty="0" err="1"/>
                        <a:t>xxG</a:t>
                      </a:r>
                      <a:endParaRPr lang="en-US" sz="800" b="1" dirty="0"/>
                    </a:p>
                  </a:txBody>
                  <a:tcPr marL="36000" marR="36000" marT="36000" marB="36000" anchor="ctr"/>
                </a:tc>
                <a:tc gridSpan="2">
                  <a:txBody>
                    <a:bodyPr/>
                    <a:lstStyle/>
                    <a:p>
                      <a:pPr marL="0" marR="0" lvl="0" indent="0" algn="ctr" rtl="0">
                        <a:spcBef>
                          <a:spcPts val="0"/>
                        </a:spcBef>
                        <a:spcAft>
                          <a:spcPts val="0"/>
                        </a:spcAft>
                        <a:buNone/>
                      </a:pPr>
                      <a:r>
                        <a:rPr lang="en-US" altLang="ko-Kore-KR" sz="800" b="1" dirty="0"/>
                        <a:t>SAMDU</a:t>
                      </a:r>
                      <a:endParaRPr lang="en-US" sz="700" b="1" dirty="0"/>
                    </a:p>
                  </a:txBody>
                  <a:tcPr marL="36000" marR="36000" marT="36000" marB="36000" anchor="ctr"/>
                </a:tc>
                <a:tc hMerge="1">
                  <a:txBody>
                    <a:bodyPr/>
                    <a:lstStyle/>
                    <a:p>
                      <a:pPr algn="ctr"/>
                      <a:r>
                        <a:rPr lang="en-US" altLang="ko-Kore-KR" sz="800" b="1" dirty="0"/>
                        <a:t>SAMDU</a:t>
                      </a:r>
                      <a:endParaRPr lang="ko-Kore-KR" altLang="en-US" sz="800" b="1" dirty="0"/>
                    </a:p>
                  </a:txBody>
                  <a:tcPr marL="36000" marR="36000" marT="36000" marB="36000" anchor="ctr"/>
                </a:tc>
                <a:tc>
                  <a:txBody>
                    <a:bodyPr/>
                    <a:lstStyle/>
                    <a:p>
                      <a:pPr algn="ctr"/>
                      <a:r>
                        <a:rPr lang="en-US" sz="800" b="1" dirty="0"/>
                        <a:t>ILS W 07R, VOR 07L</a:t>
                      </a:r>
                      <a:endParaRPr lang="ko-Kore-KR" altLang="en-US" dirty="0"/>
                    </a:p>
                  </a:txBody>
                  <a:tcPr marL="36000" marR="36000" marT="36000" marB="36000" anchor="ctr"/>
                </a:tc>
                <a:extLst>
                  <a:ext uri="{0D108BD9-81ED-4DB2-BD59-A6C34878D82A}">
                    <a16:rowId xmlns:a16="http://schemas.microsoft.com/office/drawing/2014/main" val="4277695380"/>
                  </a:ext>
                </a:extLst>
              </a:tr>
              <a:tr h="137479">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25R(33’)                   </a:t>
                      </a:r>
                      <a:r>
                        <a:rPr lang="en-US" altLang="ko-KR" sz="800" b="1" dirty="0">
                          <a:solidFill>
                            <a:srgbClr val="00B050"/>
                          </a:solidFill>
                        </a:rPr>
                        <a:t>10007’                 </a:t>
                      </a:r>
                      <a:r>
                        <a:rPr lang="en-US" sz="800" b="1" dirty="0">
                          <a:solidFill>
                            <a:srgbClr val="00B050"/>
                          </a:solidFill>
                        </a:rPr>
                        <a:t>07L(20’)</a:t>
                      </a: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10007’</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37479">
                <a:tc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25L(32’)       </a:t>
                      </a:r>
                      <a:r>
                        <a:rPr lang="en-US" altLang="ko-KR" sz="800" b="1" dirty="0">
                          <a:solidFill>
                            <a:srgbClr val="00B050"/>
                          </a:solidFill>
                        </a:rPr>
                        <a:t>12559’</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FF0000"/>
                          </a:solidFill>
                        </a:rPr>
                        <a:t>10036’ (DISP TH) </a:t>
                      </a:r>
                      <a:r>
                        <a:rPr lang="en-US" altLang="ko-KR" sz="800" b="1" dirty="0">
                          <a:solidFill>
                            <a:srgbClr val="00B050"/>
                          </a:solidFill>
                        </a:rPr>
                        <a:t>07R(24’)</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5">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25R:</a:t>
                      </a:r>
                      <a:r>
                        <a:rPr lang="en-US" sz="800" b="1" dirty="0">
                          <a:solidFill>
                            <a:schemeClr val="accent1"/>
                          </a:solidFill>
                        </a:rPr>
                        <a:t>P4(6158’), P5(6991’)</a:t>
                      </a:r>
                      <a:r>
                        <a:rPr lang="en-US" sz="800" b="1" dirty="0">
                          <a:solidFill>
                            <a:schemeClr val="dk1"/>
                          </a:solidFill>
                        </a:rPr>
                        <a:t>,</a:t>
                      </a:r>
                      <a:r>
                        <a:rPr lang="en-US" altLang="ko-Kore-KR" sz="800" b="1" dirty="0">
                          <a:solidFill>
                            <a:schemeClr val="dk1"/>
                          </a:solidFill>
                        </a:rPr>
                        <a:t>07R:</a:t>
                      </a:r>
                      <a:r>
                        <a:rPr lang="en-US" altLang="ko-Kore-KR" sz="800" b="1" dirty="0">
                          <a:solidFill>
                            <a:schemeClr val="accent1"/>
                          </a:solidFill>
                        </a:rPr>
                        <a:t>S6(4412’),S5(6574’</a:t>
                      </a:r>
                      <a:r>
                        <a:rPr lang="en-US" altLang="ko-KR" sz="800" b="1" dirty="0">
                          <a:solidFill>
                            <a:schemeClr val="accent1"/>
                          </a:solidFill>
                        </a:rPr>
                        <a:t>,</a:t>
                      </a:r>
                      <a:r>
                        <a:rPr lang="en-US" altLang="ko-KR" sz="700" b="1" dirty="0">
                          <a:solidFill>
                            <a:schemeClr val="accent1"/>
                          </a:solidFill>
                        </a:rPr>
                        <a:t>11</a:t>
                      </a:r>
                      <a:r>
                        <a:rPr lang="en-US" altLang="ko-Kore-KR" sz="700" b="1" dirty="0">
                          <a:solidFill>
                            <a:schemeClr val="accent1"/>
                          </a:solidFill>
                        </a:rPr>
                        <a:t>0도</a:t>
                      </a:r>
                      <a:r>
                        <a:rPr lang="en-US" altLang="ko-KR" sz="800" b="1" dirty="0">
                          <a:solidFill>
                            <a:schemeClr val="accent1"/>
                          </a:solidFill>
                        </a:rPr>
                        <a:t>)</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dirty="0">
                          <a:solidFill>
                            <a:schemeClr val="accent1"/>
                          </a:solidFill>
                        </a:rPr>
                        <a:t>B737 P4, P5, S6, S5 Unable Tell ATC</a:t>
                      </a:r>
                      <a:endParaRPr lang="en-US" altLang="ko-Kore-KR" sz="800" b="1" dirty="0">
                        <a:solidFill>
                          <a:schemeClr val="accent1"/>
                        </a:solidFill>
                      </a:endParaRP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dk1"/>
                          </a:solidFill>
                        </a:rPr>
                        <a:t>25L : S7(6824’), </a:t>
                      </a:r>
                      <a:r>
                        <a:rPr lang="en-US" sz="800" b="1" dirty="0">
                          <a:solidFill>
                            <a:schemeClr val="tx1"/>
                          </a:solidFill>
                        </a:rPr>
                        <a:t>S8(9671’),</a:t>
                      </a:r>
                      <a:r>
                        <a:rPr lang="en-US" altLang="ko-Kore-KR" sz="800" b="1" dirty="0">
                          <a:solidFill>
                            <a:schemeClr val="dk1"/>
                          </a:solidFill>
                        </a:rPr>
                        <a:t>     07L : P3(6266’), P2(8907’)</a:t>
                      </a:r>
                      <a:endParaRPr lang="en-US" altLang="ko-Kore-KR" sz="800" dirty="0">
                        <a:solidFill>
                          <a:schemeClr val="dk1"/>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err="1"/>
                        <a:t>FollowMe</a:t>
                      </a:r>
                      <a:r>
                        <a:rPr lang="en-US" sz="800" dirty="0"/>
                        <a:t> Car Service in Ramp </a:t>
                      </a:r>
                      <a:r>
                        <a:rPr lang="en-US" sz="800" dirty="0">
                          <a:solidFill>
                            <a:schemeClr val="accent1"/>
                          </a:solidFill>
                        </a:rPr>
                        <a:t>(Caution STOPBAR L/T)</a:t>
                      </a:r>
                    </a:p>
                    <a:p>
                      <a:pPr marL="0" marR="0" lvl="0" indent="0" algn="ctr" rtl="0">
                        <a:lnSpc>
                          <a:spcPct val="100000"/>
                        </a:lnSpc>
                        <a:spcBef>
                          <a:spcPts val="0"/>
                        </a:spcBef>
                        <a:spcAft>
                          <a:spcPts val="0"/>
                        </a:spcAft>
                        <a:buClr>
                          <a:schemeClr val="dk1"/>
                        </a:buClr>
                        <a:buSzPts val="800"/>
                        <a:buFont typeface="Calibri"/>
                        <a:buNone/>
                      </a:pPr>
                      <a:r>
                        <a:rPr lang="en-US" sz="800" b="1" dirty="0" err="1">
                          <a:solidFill>
                            <a:srgbClr val="C00000"/>
                          </a:solidFill>
                        </a:rPr>
                        <a:t>Sensitie</a:t>
                      </a:r>
                      <a:r>
                        <a:rPr lang="en-US" sz="800" b="1" dirty="0">
                          <a:solidFill>
                            <a:srgbClr val="C00000"/>
                          </a:solidFill>
                        </a:rPr>
                        <a:t> VDGS</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a:t>
                      </a:r>
                      <a:r>
                        <a:rPr lang="en-US" sz="800" b="1" dirty="0">
                          <a:solidFill>
                            <a:srgbClr val="C00000"/>
                          </a:solidFill>
                        </a:rPr>
                        <a:t>0.5m</a:t>
                      </a:r>
                      <a:r>
                        <a:rPr lang="ko-KR" altLang="en-US" sz="800" b="1" dirty="0">
                          <a:solidFill>
                            <a:srgbClr val="C00000"/>
                          </a:solidFill>
                        </a:rPr>
                        <a:t>이내</a:t>
                      </a:r>
                      <a:r>
                        <a:rPr lang="en-US" altLang="ko-KR" sz="800" b="1" dirty="0">
                          <a:solidFill>
                            <a:srgbClr val="C00000"/>
                          </a:solidFill>
                        </a:rPr>
                        <a:t>,</a:t>
                      </a:r>
                      <a:r>
                        <a:rPr lang="ko-KR" altLang="en-US" sz="800" b="1" dirty="0">
                          <a:solidFill>
                            <a:srgbClr val="C00000"/>
                          </a:solidFill>
                        </a:rPr>
                        <a:t> </a:t>
                      </a:r>
                      <a:r>
                        <a:rPr lang="en-US" altLang="ko-KR" sz="800" b="1" dirty="0">
                          <a:solidFill>
                            <a:srgbClr val="C00000"/>
                          </a:solidFill>
                        </a:rPr>
                        <a:t>2m STOP</a:t>
                      </a:r>
                      <a:r>
                        <a:rPr lang="ko-KR" altLang="en-US" sz="800" b="1" dirty="0">
                          <a:solidFill>
                            <a:srgbClr val="C00000"/>
                          </a:solidFill>
                        </a:rPr>
                        <a:t>시 바로 정지</a:t>
                      </a:r>
                      <a:r>
                        <a:rPr lang="en-US" altLang="ko-KR" sz="800" b="1" dirty="0">
                          <a:solidFill>
                            <a:srgbClr val="C00000"/>
                          </a:solidFill>
                        </a:rPr>
                        <a:t>) </a:t>
                      </a:r>
                      <a:endParaRPr lang="en-US" sz="800" b="1" dirty="0">
                        <a:solidFill>
                          <a:srgbClr val="C00000"/>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1133473494"/>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VVTS(SGN) 33ft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None</a:t>
                      </a:r>
                    </a:p>
                    <a:p>
                      <a:pPr marL="0" marR="0" lvl="0" indent="0" algn="ctr" rtl="0">
                        <a:spcBef>
                          <a:spcPts val="0"/>
                        </a:spcBef>
                        <a:spcAft>
                          <a:spcPts val="0"/>
                        </a:spcAft>
                        <a:buNone/>
                      </a:pPr>
                      <a:r>
                        <a:rPr lang="en-US" sz="800" dirty="0">
                          <a:solidFill>
                            <a:srgbClr val="FF0000"/>
                          </a:solidFill>
                        </a:rPr>
                        <a:t>No D-ATIS</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AAB07A0-B244-1F75-A200-72ACAFBC97D5}"/>
              </a:ext>
            </a:extLst>
          </p:cNvPr>
          <p:cNvSpPr/>
          <p:nvPr/>
        </p:nvSpPr>
        <p:spPr>
          <a:xfrm>
            <a:off x="1469976" y="346654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A7640F26-AA68-BC81-60B9-DD726B8F893E}"/>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96475675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3626756709"/>
              </p:ext>
            </p:extLst>
          </p:nvPr>
        </p:nvGraphicFramePr>
        <p:xfrm>
          <a:off x="-15808" y="580010"/>
          <a:ext cx="2349161" cy="174265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156391">
                  <a:extLst>
                    <a:ext uri="{9D8B030D-6E8A-4147-A177-3AD203B41FA5}">
                      <a16:colId xmlns:a16="http://schemas.microsoft.com/office/drawing/2014/main" val="20002"/>
                    </a:ext>
                  </a:extLst>
                </a:gridCol>
                <a:gridCol w="537005">
                  <a:extLst>
                    <a:ext uri="{9D8B030D-6E8A-4147-A177-3AD203B41FA5}">
                      <a16:colId xmlns:a16="http://schemas.microsoft.com/office/drawing/2014/main" val="20003"/>
                    </a:ext>
                  </a:extLst>
                </a:gridCol>
                <a:gridCol w="61400">
                  <a:extLst>
                    <a:ext uri="{9D8B030D-6E8A-4147-A177-3AD203B41FA5}">
                      <a16:colId xmlns:a16="http://schemas.microsoft.com/office/drawing/2014/main" val="20004"/>
                    </a:ext>
                  </a:extLst>
                </a:gridCol>
                <a:gridCol w="183307">
                  <a:extLst>
                    <a:ext uri="{9D8B030D-6E8A-4147-A177-3AD203B41FA5}">
                      <a16:colId xmlns:a16="http://schemas.microsoft.com/office/drawing/2014/main" val="20005"/>
                    </a:ext>
                  </a:extLst>
                </a:gridCol>
                <a:gridCol w="341420">
                  <a:extLst>
                    <a:ext uri="{9D8B030D-6E8A-4147-A177-3AD203B41FA5}">
                      <a16:colId xmlns:a16="http://schemas.microsoft.com/office/drawing/2014/main" val="20006"/>
                    </a:ext>
                  </a:extLst>
                </a:gridCol>
                <a:gridCol w="136509">
                  <a:extLst>
                    <a:ext uri="{9D8B030D-6E8A-4147-A177-3AD203B41FA5}">
                      <a16:colId xmlns:a16="http://schemas.microsoft.com/office/drawing/2014/main" val="20007"/>
                    </a:ext>
                  </a:extLst>
                </a:gridCol>
                <a:gridCol w="211716">
                  <a:extLst>
                    <a:ext uri="{9D8B030D-6E8A-4147-A177-3AD203B41FA5}">
                      <a16:colId xmlns:a16="http://schemas.microsoft.com/office/drawing/2014/main" val="20008"/>
                    </a:ext>
                  </a:extLst>
                </a:gridCol>
                <a:gridCol w="379923">
                  <a:extLst>
                    <a:ext uri="{9D8B030D-6E8A-4147-A177-3AD203B41FA5}">
                      <a16:colId xmlns:a16="http://schemas.microsoft.com/office/drawing/2014/main" val="448940902"/>
                    </a:ext>
                  </a:extLst>
                </a:gridCol>
              </a:tblGrid>
              <a:tr h="0">
                <a:tc gridSpan="9">
                  <a:txBody>
                    <a:bodyPr/>
                    <a:lstStyle/>
                    <a:p>
                      <a:pPr marL="0" marR="0" lvl="0" indent="0" algn="ctr" rtl="0">
                        <a:spcBef>
                          <a:spcPts val="0"/>
                        </a:spcBef>
                        <a:spcAft>
                          <a:spcPts val="0"/>
                        </a:spcAft>
                        <a:buNone/>
                      </a:pPr>
                      <a:r>
                        <a:rPr lang="en-US" sz="800" u="none" strike="noStrike" cap="none" dirty="0"/>
                        <a:t>SGN : RNP SID (NADP 1) TA 18000’</a:t>
                      </a:r>
                    </a:p>
                    <a:p>
                      <a:pPr marL="0" marR="0" lvl="0" indent="0" algn="ctr" rtl="0">
                        <a:spcBef>
                          <a:spcPts val="0"/>
                        </a:spcBef>
                        <a:spcAft>
                          <a:spcPts val="0"/>
                        </a:spcAft>
                        <a:buNone/>
                      </a:pPr>
                      <a:r>
                        <a:rPr lang="en-US" sz="800" u="none" strike="noStrike" cap="none" dirty="0">
                          <a:solidFill>
                            <a:schemeClr val="accent4"/>
                          </a:solidFill>
                        </a:rPr>
                        <a:t>Request RWY due to Performance</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25L</a:t>
                      </a:r>
                      <a:r>
                        <a:rPr lang="en-US" sz="800" b="0" u="none" strike="noStrike" cap="none" dirty="0"/>
                        <a:t>(R)</a:t>
                      </a:r>
                    </a:p>
                  </a:txBody>
                  <a:tcPr marL="36000" marR="36000" marT="36000" marB="36000" anchor="ctr"/>
                </a:tc>
                <a:tc gridSpan="2">
                  <a:txBody>
                    <a:bodyPr/>
                    <a:lstStyle/>
                    <a:p>
                      <a:r>
                        <a:rPr lang="en-US" sz="800" b="1" u="none" strike="noStrike" cap="none" dirty="0">
                          <a:solidFill>
                            <a:srgbClr val="0070C0"/>
                          </a:solidFill>
                        </a:rPr>
                        <a:t>KADUM </a:t>
                      </a:r>
                      <a:r>
                        <a:rPr lang="en-US" sz="800" b="1" u="none" strike="noStrike" cap="none" dirty="0" err="1">
                          <a:solidFill>
                            <a:srgbClr val="0070C0"/>
                          </a:solidFill>
                        </a:rPr>
                        <a:t>xxD</a:t>
                      </a:r>
                      <a:endParaRPr lang="ko-Kore-K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250</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250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11000</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250</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07L</a:t>
                      </a:r>
                      <a:r>
                        <a:rPr lang="en-US" sz="800" b="0" u="none" strike="noStrike" cap="none" dirty="0"/>
                        <a:t>(R)</a:t>
                      </a:r>
                      <a:endParaRPr sz="800" b="0" u="none" strike="noStrike" cap="none" dirty="0"/>
                    </a:p>
                  </a:txBody>
                  <a:tcPr marL="36000" marR="36000" marT="36000" marB="36000" anchor="ctr"/>
                </a:tc>
                <a:tc gridSpan="2">
                  <a:txBody>
                    <a:bodyPr/>
                    <a:lstStyle/>
                    <a:p>
                      <a:r>
                        <a:rPr lang="en-US" altLang="ko-Kore-KR" sz="800" b="1" u="none" strike="noStrike" cap="none" dirty="0">
                          <a:solidFill>
                            <a:srgbClr val="0070C0"/>
                          </a:solidFill>
                        </a:rPr>
                        <a:t>KADUM </a:t>
                      </a:r>
                      <a:r>
                        <a:rPr lang="en-US" altLang="ko-Kore-KR" sz="800" b="1" u="none" strike="noStrike" cap="none" dirty="0" err="1">
                          <a:solidFill>
                            <a:srgbClr val="0070C0"/>
                          </a:solidFill>
                        </a:rPr>
                        <a:t>xxE</a:t>
                      </a:r>
                      <a:r>
                        <a:rPr lang="en-US" altLang="ko-Kore-KR" sz="800" b="1" u="none" strike="noStrike" cap="none" dirty="0">
                          <a:solidFill>
                            <a:srgbClr val="0070C0"/>
                          </a:solidFill>
                        </a:rPr>
                        <a:t>/A</a:t>
                      </a:r>
                      <a:endParaRPr lang="ko-Kore-K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C00000"/>
                          </a:solidFill>
                        </a:rPr>
                        <a:t>070</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070</a:t>
                      </a:r>
                      <a:endParaRPr sz="800" b="1" u="none" strike="noStrike" cap="none"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hMerge="1">
                  <a:txBody>
                    <a:bodyPr/>
                    <a:lstStyle/>
                    <a:p>
                      <a:pPr marL="0" marR="0" lvl="0" indent="0" algn="ctr" rtl="0">
                        <a:spcBef>
                          <a:spcPts val="0"/>
                        </a:spcBef>
                        <a:spcAft>
                          <a:spcPts val="0"/>
                        </a:spcAft>
                        <a:buNone/>
                      </a:pPr>
                      <a:r>
                        <a:rPr lang="en-US" sz="800" b="1" u="none" strike="noStrike" cap="none" dirty="0">
                          <a:solidFill>
                            <a:srgbClr val="0070C0"/>
                          </a:solidFill>
                        </a:rPr>
                        <a:t>3000</a:t>
                      </a:r>
                    </a:p>
                    <a:p>
                      <a:pPr marL="0" marR="0" lvl="0" indent="0" algn="ctr" rtl="0">
                        <a:spcBef>
                          <a:spcPts val="0"/>
                        </a:spcBef>
                        <a:spcAft>
                          <a:spcPts val="0"/>
                        </a:spcAft>
                        <a:buNone/>
                      </a:pPr>
                      <a:r>
                        <a:rPr lang="en-US" sz="800" b="1" u="none" strike="noStrike" cap="none" dirty="0">
                          <a:solidFill>
                            <a:srgbClr val="0070C0"/>
                          </a:solidFill>
                        </a:rPr>
                        <a:t>900m</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070</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TSH 116.8</a:t>
                      </a:r>
                      <a:endParaRPr sz="800" b="1" u="none" strike="noStrike" cap="none"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25R 110.5</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gridSpan="3">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07R 111.7</a:t>
                      </a:r>
                      <a:endParaRPr lang="ko-Kore-KR" dirty="0"/>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25L 108.3</a:t>
                      </a:r>
                      <a:endParaRPr lang="ko-Kore-KR"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8">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25R(33’)</a:t>
                      </a:r>
                      <a:r>
                        <a:rPr lang="en-US" sz="800" b="1" u="none" strike="noStrike" cap="none" dirty="0">
                          <a:solidFill>
                            <a:srgbClr val="C00000"/>
                          </a:solidFill>
                          <a:latin typeface="Calibri"/>
                          <a:ea typeface="Calibri"/>
                          <a:cs typeface="Calibri"/>
                          <a:sym typeface="Calibri"/>
                        </a:rPr>
                        <a:t>          </a:t>
                      </a:r>
                      <a:r>
                        <a:rPr lang="en-US" altLang="ko-KR" sz="800" b="1" u="none" strike="noStrike" cap="none" dirty="0">
                          <a:solidFill>
                            <a:srgbClr val="00B050"/>
                          </a:solidFill>
                          <a:latin typeface="Calibri"/>
                          <a:cs typeface="Calibri"/>
                          <a:sym typeface="Calibri"/>
                        </a:rPr>
                        <a:t>10007</a:t>
                      </a:r>
                      <a:r>
                        <a:rPr lang="en-US" sz="800" b="1" u="none" strike="noStrike" cap="none" dirty="0">
                          <a:solidFill>
                            <a:srgbClr val="00B050"/>
                          </a:solidFill>
                          <a:latin typeface="Calibri"/>
                          <a:cs typeface="Calibri"/>
                          <a:sym typeface="Calibri"/>
                        </a:rPr>
                        <a:t>’          07L(20’)</a:t>
                      </a: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10010</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20R(46’)</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8">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u="none" strike="noStrike" cap="none" dirty="0">
                          <a:solidFill>
                            <a:srgbClr val="00B050"/>
                          </a:solidFill>
                          <a:latin typeface="Calibri"/>
                          <a:ea typeface="Calibri"/>
                          <a:cs typeface="Calibri"/>
                          <a:sym typeface="Calibri"/>
                        </a:rPr>
                        <a:t>25L(32’)</a:t>
                      </a:r>
                      <a:r>
                        <a:rPr lang="en-US" altLang="ko-Kore-KR" sz="800" b="1" u="none" strike="noStrike" cap="none" dirty="0">
                          <a:solidFill>
                            <a:srgbClr val="C00000"/>
                          </a:solidFill>
                          <a:latin typeface="Calibri"/>
                          <a:ea typeface="Calibri"/>
                          <a:cs typeface="Calibri"/>
                          <a:sym typeface="Calibri"/>
                        </a:rPr>
                        <a:t>          </a:t>
                      </a:r>
                      <a:r>
                        <a:rPr lang="en-US" sz="800" b="1" u="none" strike="noStrike" cap="none" dirty="0">
                          <a:solidFill>
                            <a:srgbClr val="00B050"/>
                          </a:solidFill>
                          <a:latin typeface="Calibri"/>
                          <a:cs typeface="Calibri"/>
                          <a:sym typeface="Calibri"/>
                        </a:rPr>
                        <a:t>12559’          07R(24’)</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10000’</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20L(34’)</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44693353"/>
                  </a:ext>
                </a:extLst>
              </a:tr>
              <a:tr h="115700">
                <a:tc gridSpan="9">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rgbClr val="C00000"/>
                          </a:solidFill>
                        </a:rPr>
                        <a:t>Caution TSAT +- 5min</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ATC CLR, RWY CHG After TAXI</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Caution STOPBAR L/T, </a:t>
                      </a:r>
                      <a:r>
                        <a:rPr lang="en-US" sz="800" b="1" u="none" strike="noStrike" cap="none" dirty="0">
                          <a:solidFill>
                            <a:schemeClr val="tx1"/>
                          </a:solidFill>
                        </a:rPr>
                        <a:t>Follow Car Service</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502158126"/>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VVTS(SGN) 33ft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None</a:t>
                      </a:r>
                      <a:endParaRPr sz="1200" dirty="0">
                        <a:solidFill>
                          <a:srgbClr val="0070C0"/>
                        </a:solidFill>
                      </a:endParaRPr>
                    </a:p>
                    <a:p>
                      <a:pPr marL="0" marR="0" lvl="0" indent="0" algn="ctr" rtl="0">
                        <a:spcBef>
                          <a:spcPts val="0"/>
                        </a:spcBef>
                        <a:spcAft>
                          <a:spcPts val="0"/>
                        </a:spcAft>
                        <a:buNone/>
                      </a:pPr>
                      <a:r>
                        <a:rPr lang="en-US" altLang="ko-KR" sz="700" dirty="0">
                          <a:solidFill>
                            <a:srgbClr val="FF0000"/>
                          </a:solidFill>
                        </a:rPr>
                        <a:t>-15min,</a:t>
                      </a:r>
                      <a:r>
                        <a:rPr lang="ko-KR" altLang="en-US" sz="700" dirty="0">
                          <a:solidFill>
                            <a:srgbClr val="FF0000"/>
                          </a:solidFill>
                        </a:rPr>
                        <a:t> </a:t>
                      </a:r>
                      <a:r>
                        <a:rPr lang="en-US" altLang="ko-KR" sz="700" dirty="0">
                          <a:solidFill>
                            <a:srgbClr val="FF0000"/>
                          </a:solidFill>
                        </a:rPr>
                        <a:t>DEL 121.8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78327" y="2363041"/>
            <a:ext cx="1963999"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125.5 – HCM 120.1 - 134.05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a:t>
            </a:r>
            <a:r>
              <a:rPr kumimoji="1" lang="en-US" altLang="ko-Kore-KR" sz="700" b="1" u="sng" dirty="0">
                <a:solidFill>
                  <a:srgbClr val="C00000"/>
                </a:solidFill>
                <a:latin typeface="Gulim" panose="020B0600000101010101" pitchFamily="34" charset="-127"/>
                <a:ea typeface="Gulim" panose="020B0600000101010101" pitchFamily="34" charset="-127"/>
              </a:rPr>
              <a:t>(-5min)</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HKG 132.15 – 127.1 – TPE 129.1 – 127.9</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126.7 – 123.6 - 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99BF2EA-C484-82B5-D698-2C4DFAE01B8A}"/>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5CD2C11-84BB-CA3F-91BE-B3B15E82C893}"/>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8724326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36663"/>
            <a:ext cx="2438488"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C00000"/>
                </a:solidFill>
                <a:latin typeface="Gulim" panose="020B0600000101010101" pitchFamily="34" charset="-127"/>
                <a:ea typeface="Gulim" panose="020B0600000101010101" pitchFamily="34" charset="-127"/>
              </a:rPr>
              <a:t>(SENKA /20)</a:t>
            </a:r>
            <a:r>
              <a:rPr kumimoji="1" lang="ko-KR" altLang="en-US" sz="700" b="1" u="sng" dirty="0">
                <a:solidFill>
                  <a:srgbClr val="C0000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127.9 – 129.1</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MNL 119.3 - </a:t>
            </a:r>
            <a:r>
              <a:rPr kumimoji="1" lang="en-US" altLang="ko-Kore-KR" sz="700" b="1" u="sng" dirty="0">
                <a:solidFill>
                  <a:srgbClr val="0070C0"/>
                </a:solidFill>
                <a:latin typeface="Gulim" panose="020B0600000101010101" pitchFamily="34" charset="-127"/>
                <a:ea typeface="Gulim" panose="020B0600000101010101" pitchFamily="34" charset="-127"/>
              </a:rPr>
              <a:t>MNL RDO 8942(5655)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HCM 120.7</a:t>
            </a:r>
            <a:r>
              <a:rPr kumimoji="1" lang="en-US" altLang="ko-Kore-KR" sz="700" b="1" u="sng" dirty="0">
                <a:solidFill>
                  <a:srgbClr val="FF0000"/>
                </a:solidFill>
                <a:latin typeface="Gulim" panose="020B0600000101010101" pitchFamily="34" charset="-127"/>
                <a:ea typeface="Gulim" panose="020B0600000101010101" pitchFamily="34" charset="-127"/>
              </a:rPr>
              <a:t>(MIGUG) </a:t>
            </a:r>
            <a:r>
              <a:rPr kumimoji="1" lang="en-US" altLang="ko-Kore-KR" sz="700" b="1" u="sng" dirty="0">
                <a:solidFill>
                  <a:srgbClr val="0070C0"/>
                </a:solidFill>
                <a:latin typeface="Gulim" panose="020B0600000101010101" pitchFamily="34" charset="-127"/>
                <a:ea typeface="Gulim" panose="020B0600000101010101" pitchFamily="34" charset="-127"/>
              </a:rPr>
              <a:t>- PNH 127.5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123.8</a:t>
            </a:r>
          </a:p>
        </p:txBody>
      </p:sp>
      <p:graphicFrame>
        <p:nvGraphicFramePr>
          <p:cNvPr id="291" name="Google Shape;291;p18"/>
          <p:cNvGraphicFramePr/>
          <p:nvPr>
            <p:extLst>
              <p:ext uri="{D42A27DB-BD31-4B8C-83A1-F6EECF244321}">
                <p14:modId xmlns:p14="http://schemas.microsoft.com/office/powerpoint/2010/main" val="2617524240"/>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15L/R 16R(23’)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3275025826"/>
              </p:ext>
            </p:extLst>
          </p:nvPr>
        </p:nvGraphicFramePr>
        <p:xfrm>
          <a:off x="20430" y="3857452"/>
          <a:ext cx="2286834" cy="1670650"/>
        </p:xfrm>
        <a:graphic>
          <a:graphicData uri="http://schemas.openxmlformats.org/drawingml/2006/table">
            <a:tbl>
              <a:tblPr firstRow="1" bandRow="1">
                <a:noFill/>
                <a:tableStyleId>{A521BE36-7E6F-4EC9-8D66-1CF97A6895EC}</a:tableStyleId>
              </a:tblPr>
              <a:tblGrid>
                <a:gridCol w="347003">
                  <a:extLst>
                    <a:ext uri="{9D8B030D-6E8A-4147-A177-3AD203B41FA5}">
                      <a16:colId xmlns:a16="http://schemas.microsoft.com/office/drawing/2014/main" val="20000"/>
                    </a:ext>
                  </a:extLst>
                </a:gridCol>
                <a:gridCol w="561065">
                  <a:extLst>
                    <a:ext uri="{9D8B030D-6E8A-4147-A177-3AD203B41FA5}">
                      <a16:colId xmlns:a16="http://schemas.microsoft.com/office/drawing/2014/main" val="20001"/>
                    </a:ext>
                  </a:extLst>
                </a:gridCol>
                <a:gridCol w="264532">
                  <a:extLst>
                    <a:ext uri="{9D8B030D-6E8A-4147-A177-3AD203B41FA5}">
                      <a16:colId xmlns:a16="http://schemas.microsoft.com/office/drawing/2014/main" val="689142997"/>
                    </a:ext>
                  </a:extLst>
                </a:gridCol>
                <a:gridCol w="518328">
                  <a:extLst>
                    <a:ext uri="{9D8B030D-6E8A-4147-A177-3AD203B41FA5}">
                      <a16:colId xmlns:a16="http://schemas.microsoft.com/office/drawing/2014/main" val="502366202"/>
                    </a:ext>
                  </a:extLst>
                </a:gridCol>
                <a:gridCol w="595906">
                  <a:extLst>
                    <a:ext uri="{9D8B030D-6E8A-4147-A177-3AD203B41FA5}">
                      <a16:colId xmlns:a16="http://schemas.microsoft.com/office/drawing/2014/main" val="992510185"/>
                    </a:ext>
                  </a:extLst>
                </a:gridCol>
              </a:tblGrid>
              <a:tr h="120271">
                <a:tc gridSpan="5">
                  <a:txBody>
                    <a:bodyPr/>
                    <a:lstStyle/>
                    <a:p>
                      <a:pPr marL="0" marR="0" lvl="0" indent="0" algn="ctr" rtl="0">
                        <a:spcBef>
                          <a:spcPts val="0"/>
                        </a:spcBef>
                        <a:spcAft>
                          <a:spcPts val="0"/>
                        </a:spcAft>
                        <a:buNone/>
                      </a:pPr>
                      <a:r>
                        <a:rPr lang="en-US" sz="800" dirty="0"/>
                        <a:t>PNH : RNAV STAR (</a:t>
                      </a:r>
                      <a:r>
                        <a:rPr lang="en-US" altLang="ko-KR" sz="800" dirty="0">
                          <a:solidFill>
                            <a:schemeClr val="bg1"/>
                          </a:solidFill>
                        </a:rPr>
                        <a:t>TL ATC, ATIS)</a:t>
                      </a:r>
                    </a:p>
                    <a:p>
                      <a:pPr marL="0" marR="0" lvl="0" indent="0" algn="ctr" rtl="0">
                        <a:spcBef>
                          <a:spcPts val="0"/>
                        </a:spcBef>
                        <a:spcAft>
                          <a:spcPts val="0"/>
                        </a:spcAft>
                        <a:buNone/>
                      </a:pPr>
                      <a:r>
                        <a:rPr lang="en-US" sz="800" b="0" dirty="0">
                          <a:solidFill>
                            <a:srgbClr val="FFC000"/>
                          </a:solidFill>
                        </a:rPr>
                        <a:t>Caution CLR Limit GONLY, Do not Confuse ANAT, ANAB</a:t>
                      </a:r>
                      <a:endParaRPr sz="800" b="0"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05</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NANXY </a:t>
                      </a:r>
                      <a:r>
                        <a:rPr lang="en-US" sz="800" b="1" dirty="0" err="1"/>
                        <a:t>xxB</a:t>
                      </a:r>
                      <a:endParaRPr lang="en-US" sz="700" b="1" dirty="0"/>
                    </a:p>
                  </a:txBody>
                  <a:tcPr marL="36000" marR="36000" marT="36000" marB="36000" anchor="ctr"/>
                </a:tc>
                <a:tc gridSpan="2">
                  <a:txBody>
                    <a:bodyPr/>
                    <a:lstStyle/>
                    <a:p>
                      <a:pPr marL="0" marR="0" lvl="0" indent="0" algn="ctr" rtl="0">
                        <a:spcBef>
                          <a:spcPts val="0"/>
                        </a:spcBef>
                        <a:spcAft>
                          <a:spcPts val="0"/>
                        </a:spcAft>
                        <a:buNone/>
                      </a:pPr>
                      <a:r>
                        <a:rPr lang="en-US" altLang="ko-Kore-KR" sz="800" b="1" dirty="0"/>
                        <a:t>BOSET</a:t>
                      </a:r>
                      <a:endParaRPr lang="en-US" sz="700" b="1" dirty="0"/>
                    </a:p>
                  </a:txBody>
                  <a:tcPr marL="36000" marR="36000" marT="36000" marB="36000" anchor="ctr"/>
                </a:tc>
                <a:tc hMerge="1">
                  <a:txBody>
                    <a:bodyPr/>
                    <a:lstStyle/>
                    <a:p>
                      <a:pPr algn="ctr"/>
                      <a:r>
                        <a:rPr lang="en-US" altLang="ko-Kore-KR" sz="800" b="1" dirty="0"/>
                        <a:t>SOKAN</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RNP 05</a:t>
                      </a:r>
                      <a:endParaRPr lang="ko-Kore-KR" altLang="en-US" dirty="0"/>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23</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DETMA </a:t>
                      </a:r>
                      <a:r>
                        <a:rPr lang="en-US" sz="800" b="1" dirty="0" err="1"/>
                        <a:t>xxA</a:t>
                      </a:r>
                      <a:endParaRPr lang="en-US" sz="800" b="1" dirty="0"/>
                    </a:p>
                  </a:txBody>
                  <a:tcPr marL="36000" marR="36000" marT="36000" marB="36000" anchor="ctr"/>
                </a:tc>
                <a:tc gridSpan="2">
                  <a:txBody>
                    <a:bodyPr/>
                    <a:lstStyle/>
                    <a:p>
                      <a:pPr marL="0" marR="0" lvl="0" indent="0" algn="ctr" rtl="0">
                        <a:spcBef>
                          <a:spcPts val="0"/>
                        </a:spcBef>
                        <a:spcAft>
                          <a:spcPts val="0"/>
                        </a:spcAft>
                        <a:buNone/>
                      </a:pPr>
                      <a:r>
                        <a:rPr lang="en-US" sz="800" b="1" dirty="0"/>
                        <a:t>KOSDA </a:t>
                      </a:r>
                    </a:p>
                    <a:p>
                      <a:pPr marL="0" marR="0" lvl="0" indent="0" algn="ctr" rtl="0">
                        <a:spcBef>
                          <a:spcPts val="0"/>
                        </a:spcBef>
                        <a:spcAft>
                          <a:spcPts val="0"/>
                        </a:spcAft>
                        <a:buNone/>
                      </a:pPr>
                      <a:r>
                        <a:rPr lang="en-US" sz="800" b="0" dirty="0">
                          <a:solidFill>
                            <a:srgbClr val="0070C0"/>
                          </a:solidFill>
                        </a:rPr>
                        <a:t>Del Holding Data</a:t>
                      </a:r>
                      <a:endParaRPr lang="en-US" sz="700" b="0" dirty="0">
                        <a:solidFill>
                          <a:srgbClr val="0070C0"/>
                        </a:solidFill>
                      </a:endParaRPr>
                    </a:p>
                  </a:txBody>
                  <a:tcPr marL="36000" marR="36000" marT="36000" marB="36000" anchor="ctr"/>
                </a:tc>
                <a:tc hMerge="1">
                  <a:txBody>
                    <a:bodyPr/>
                    <a:lstStyle/>
                    <a:p>
                      <a:pPr algn="ctr"/>
                      <a:r>
                        <a:rPr lang="en-US" altLang="ko-Kore-KR" sz="800" b="1" dirty="0"/>
                        <a:t>SAMDU</a:t>
                      </a:r>
                      <a:endParaRPr lang="ko-Kore-KR" altLang="en-US" sz="800" b="1" dirty="0"/>
                    </a:p>
                  </a:txBody>
                  <a:tcPr marL="36000" marR="36000" marT="36000" marB="36000" anchor="ctr"/>
                </a:tc>
                <a:tc>
                  <a:txBody>
                    <a:bodyPr/>
                    <a:lstStyle/>
                    <a:p>
                      <a:pPr algn="ctr"/>
                      <a:r>
                        <a:rPr lang="en-US" sz="800" b="1" dirty="0"/>
                        <a:t>ILS 23</a:t>
                      </a:r>
                      <a:endParaRPr lang="ko-Kore-KR" altLang="en-US" dirty="0"/>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05(40’)       9843</a:t>
                      </a:r>
                      <a:r>
                        <a:rPr lang="en-US" altLang="ko-KR" sz="800" b="1" dirty="0">
                          <a:solidFill>
                            <a:srgbClr val="00B050"/>
                          </a:solidFill>
                        </a:rPr>
                        <a:t>’</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FF0000"/>
                          </a:solidFill>
                        </a:rPr>
                        <a:t>9350’ (DISP TH) </a:t>
                      </a:r>
                      <a:r>
                        <a:rPr lang="en-US" altLang="ko-KR" sz="800" b="1" dirty="0">
                          <a:solidFill>
                            <a:srgbClr val="00B050"/>
                          </a:solidFill>
                        </a:rPr>
                        <a:t>23(37’)</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5">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tx1"/>
                          </a:solidFill>
                        </a:rPr>
                        <a:t>05 : E(6240’), H(7148’),     23 </a:t>
                      </a:r>
                      <a:r>
                        <a:rPr lang="en-US" altLang="ko-Kore-KR" sz="800" b="1" dirty="0">
                          <a:solidFill>
                            <a:schemeClr val="tx1"/>
                          </a:solidFill>
                        </a:rPr>
                        <a:t>: C(7004’), 180 Back</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0" dirty="0">
                          <a:solidFill>
                            <a:srgbClr val="0070C0"/>
                          </a:solidFill>
                        </a:rPr>
                        <a:t>No Centerline L/T,</a:t>
                      </a:r>
                      <a:r>
                        <a:rPr lang="ko-KR" altLang="en-US" sz="800" b="0" dirty="0">
                          <a:solidFill>
                            <a:srgbClr val="0070C0"/>
                          </a:solidFill>
                        </a:rPr>
                        <a:t> </a:t>
                      </a:r>
                      <a:r>
                        <a:rPr lang="en-US" altLang="ko-KR" sz="800" b="0" dirty="0">
                          <a:solidFill>
                            <a:srgbClr val="0070C0"/>
                          </a:solidFill>
                        </a:rPr>
                        <a:t>No Vacate Lead L/T(Only Edge L/T)</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dirty="0">
                          <a:solidFill>
                            <a:schemeClr val="tx1"/>
                          </a:solidFill>
                        </a:rPr>
                        <a:t>APU Off after 5min after parking</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0070C0"/>
                          </a:solidFill>
                        </a:rPr>
                        <a:t>Stand xx Yellow Lead-in Marking(xx A,B Blue Line!!)</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857097307"/>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VDPP(PNH) 40ft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PNH DIS 129.0</a:t>
                      </a:r>
                    </a:p>
                    <a:p>
                      <a:pPr marL="0" marR="0" lvl="0" indent="0" algn="ctr" rtl="0">
                        <a:spcBef>
                          <a:spcPts val="0"/>
                        </a:spcBef>
                        <a:spcAft>
                          <a:spcPts val="0"/>
                        </a:spcAft>
                        <a:buNone/>
                      </a:pPr>
                      <a:endParaRPr lang="en-US" sz="800" dirty="0">
                        <a:solidFill>
                          <a:srgbClr val="FF0000"/>
                        </a:solidFill>
                      </a:endParaRP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AAB07A0-B244-1F75-A200-72ACAFBC97D5}"/>
              </a:ext>
            </a:extLst>
          </p:cNvPr>
          <p:cNvSpPr/>
          <p:nvPr/>
        </p:nvSpPr>
        <p:spPr>
          <a:xfrm>
            <a:off x="1469976" y="346654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7304DB22-750F-4097-365B-79B389FA2387}"/>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44169301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3683847497"/>
              </p:ext>
            </p:extLst>
          </p:nvPr>
        </p:nvGraphicFramePr>
        <p:xfrm>
          <a:off x="-15808" y="580010"/>
          <a:ext cx="2349161" cy="174265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693396">
                  <a:extLst>
                    <a:ext uri="{9D8B030D-6E8A-4147-A177-3AD203B41FA5}">
                      <a16:colId xmlns:a16="http://schemas.microsoft.com/office/drawing/2014/main" val="20002"/>
                    </a:ext>
                  </a:extLst>
                </a:gridCol>
                <a:gridCol w="61400">
                  <a:extLst>
                    <a:ext uri="{9D8B030D-6E8A-4147-A177-3AD203B41FA5}">
                      <a16:colId xmlns:a16="http://schemas.microsoft.com/office/drawing/2014/main" val="20004"/>
                    </a:ext>
                  </a:extLst>
                </a:gridCol>
                <a:gridCol w="183307">
                  <a:extLst>
                    <a:ext uri="{9D8B030D-6E8A-4147-A177-3AD203B41FA5}">
                      <a16:colId xmlns:a16="http://schemas.microsoft.com/office/drawing/2014/main" val="20005"/>
                    </a:ext>
                  </a:extLst>
                </a:gridCol>
                <a:gridCol w="341420">
                  <a:extLst>
                    <a:ext uri="{9D8B030D-6E8A-4147-A177-3AD203B41FA5}">
                      <a16:colId xmlns:a16="http://schemas.microsoft.com/office/drawing/2014/main" val="20006"/>
                    </a:ext>
                  </a:extLst>
                </a:gridCol>
                <a:gridCol w="348225">
                  <a:extLst>
                    <a:ext uri="{9D8B030D-6E8A-4147-A177-3AD203B41FA5}">
                      <a16:colId xmlns:a16="http://schemas.microsoft.com/office/drawing/2014/main" val="20007"/>
                    </a:ext>
                  </a:extLst>
                </a:gridCol>
                <a:gridCol w="379923">
                  <a:extLst>
                    <a:ext uri="{9D8B030D-6E8A-4147-A177-3AD203B41FA5}">
                      <a16:colId xmlns:a16="http://schemas.microsoft.com/office/drawing/2014/main" val="448940902"/>
                    </a:ext>
                  </a:extLst>
                </a:gridCol>
              </a:tblGrid>
              <a:tr h="297551">
                <a:tc gridSpan="7">
                  <a:txBody>
                    <a:bodyPr/>
                    <a:lstStyle/>
                    <a:p>
                      <a:pPr marL="0" marR="0" lvl="0" indent="0" algn="ctr" rtl="0">
                        <a:spcBef>
                          <a:spcPts val="0"/>
                        </a:spcBef>
                        <a:spcAft>
                          <a:spcPts val="0"/>
                        </a:spcAft>
                        <a:buNone/>
                      </a:pPr>
                      <a:r>
                        <a:rPr lang="en-US" sz="800" u="none" strike="noStrike" cap="none" dirty="0"/>
                        <a:t>PNH : RNAV SID (NADP 1) TA 10000’</a:t>
                      </a:r>
                    </a:p>
                    <a:p>
                      <a:pPr marL="0" marR="0" lvl="0" indent="0" algn="ctr" rtl="0">
                        <a:spcBef>
                          <a:spcPts val="0"/>
                        </a:spcBef>
                        <a:spcAft>
                          <a:spcPts val="0"/>
                        </a:spcAft>
                        <a:buNone/>
                      </a:pPr>
                      <a:r>
                        <a:rPr lang="en-US" sz="800" b="0" u="none" strike="noStrike" cap="none" dirty="0">
                          <a:solidFill>
                            <a:schemeClr val="accent4"/>
                          </a:solidFill>
                        </a:rPr>
                        <a:t>RWY 23 SEYHA Watch Over Bank</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80290">
                <a:tc>
                  <a:txBody>
                    <a:bodyPr/>
                    <a:lstStyle/>
                    <a:p>
                      <a:pPr marL="0" marR="0" lvl="0" indent="0" algn="ctr" rtl="0">
                        <a:spcBef>
                          <a:spcPts val="0"/>
                        </a:spcBef>
                        <a:spcAft>
                          <a:spcPts val="0"/>
                        </a:spcAft>
                        <a:buNone/>
                      </a:pPr>
                      <a:r>
                        <a:rPr lang="en-US" altLang="ko-KR" sz="800" b="1" u="none" strike="noStrike" cap="none" dirty="0"/>
                        <a:t>0</a:t>
                      </a:r>
                      <a:r>
                        <a:rPr lang="en-US" sz="800" b="1" u="none" strike="noStrike" cap="none" dirty="0"/>
                        <a:t>5</a:t>
                      </a:r>
                      <a:endParaRPr lang="en-US" sz="800" b="0" u="none" strike="noStrike" cap="none" dirty="0"/>
                    </a:p>
                  </a:txBody>
                  <a:tcPr marL="36000" marR="36000" marT="36000" marB="36000" anchor="ctr"/>
                </a:tc>
                <a:tc rowSpan="2">
                  <a:txBody>
                    <a:bodyPr/>
                    <a:lstStyle/>
                    <a:p>
                      <a:pPr algn="ctr"/>
                      <a:r>
                        <a:rPr lang="en-US" sz="800" b="1" u="none" strike="noStrike" cap="none" dirty="0">
                          <a:solidFill>
                            <a:srgbClr val="0070C0"/>
                          </a:solidFill>
                        </a:rPr>
                        <a:t>NANXY xx</a:t>
                      </a:r>
                    </a:p>
                    <a:p>
                      <a:pPr algn="ctr"/>
                      <a:r>
                        <a:rPr lang="en-US" altLang="ko-Kore-KR" sz="800" b="1" u="none" strike="noStrike" cap="none" dirty="0">
                          <a:solidFill>
                            <a:srgbClr val="0070C0"/>
                          </a:solidFill>
                        </a:rPr>
                        <a:t>(SEYHA xx)</a:t>
                      </a:r>
                      <a:endParaRPr lang="ko-Kore-KR" altLang="en-US"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046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046</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(5000)</a:t>
                      </a:r>
                    </a:p>
                  </a:txBody>
                  <a:tcPr marL="36000" marR="36000" marT="36000" marB="36000" anchor="ctr"/>
                </a:tc>
                <a:tc>
                  <a:txBody>
                    <a:bodyPr/>
                    <a:lstStyle/>
                    <a:p>
                      <a:pPr algn="ctr"/>
                      <a:r>
                        <a:rPr lang="en-US" altLang="ko-Kore-KR" sz="800" b="1" u="none" strike="noStrike" cap="none" dirty="0">
                          <a:solidFill>
                            <a:srgbClr val="C00000"/>
                          </a:solidFill>
                        </a:rPr>
                        <a:t>046</a:t>
                      </a:r>
                      <a:endParaRPr lang="ko-Kore-KR" altLang="en-US" dirty="0"/>
                    </a:p>
                  </a:txBody>
                  <a:tcPr marL="36000" marR="36000" marT="36000" marB="36000" anchor="ctr"/>
                </a:tc>
                <a:extLst>
                  <a:ext uri="{0D108BD9-81ED-4DB2-BD59-A6C34878D82A}">
                    <a16:rowId xmlns:a16="http://schemas.microsoft.com/office/drawing/2014/main" val="10001"/>
                  </a:ext>
                </a:extLst>
              </a:tr>
              <a:tr h="172093">
                <a:tc>
                  <a:txBody>
                    <a:bodyPr/>
                    <a:lstStyle/>
                    <a:p>
                      <a:pPr marL="0" marR="0" lvl="0" indent="0" algn="ctr" rtl="0">
                        <a:spcBef>
                          <a:spcPts val="0"/>
                        </a:spcBef>
                        <a:spcAft>
                          <a:spcPts val="0"/>
                        </a:spcAft>
                        <a:buNone/>
                      </a:pPr>
                      <a:r>
                        <a:rPr lang="en-US" altLang="ko-KR" sz="800" b="1" u="none" strike="noStrike" cap="none" dirty="0"/>
                        <a:t>23</a:t>
                      </a:r>
                      <a:endParaRPr sz="800" b="0" u="none" strike="noStrike" cap="none" dirty="0"/>
                    </a:p>
                  </a:txBody>
                  <a:tcPr marL="36000" marR="36000" marT="36000" marB="36000" anchor="ctr"/>
                </a:tc>
                <a:tc vMerge="1">
                  <a:txBody>
                    <a:bodyPr/>
                    <a:lstStyle/>
                    <a:p>
                      <a:r>
                        <a:rPr lang="en-US" altLang="ko-Kore-KR" sz="800" b="1" u="none" strike="noStrike" cap="none" dirty="0">
                          <a:solidFill>
                            <a:srgbClr val="0070C0"/>
                          </a:solidFill>
                        </a:rPr>
                        <a:t>KADUM </a:t>
                      </a:r>
                      <a:r>
                        <a:rPr lang="en-US" altLang="ko-Kore-KR" sz="800" b="1" u="none" strike="noStrike" cap="none" dirty="0" err="1">
                          <a:solidFill>
                            <a:srgbClr val="0070C0"/>
                          </a:solidFill>
                        </a:rPr>
                        <a:t>xxE</a:t>
                      </a:r>
                      <a:r>
                        <a:rPr lang="en-US" altLang="ko-Kore-KR" sz="800" b="1" u="none" strike="noStrike" cap="none" dirty="0">
                          <a:solidFill>
                            <a:srgbClr val="0070C0"/>
                          </a:solidFill>
                        </a:rPr>
                        <a:t>/A</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solidFill>
                            <a:srgbClr val="C00000"/>
                          </a:solidFill>
                        </a:rPr>
                        <a:t>226</a:t>
                      </a:r>
                      <a:endParaRPr sz="458" b="1" u="none" strike="noStrike" cap="none" dirty="0">
                        <a:solidFill>
                          <a:srgbClr val="C0000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u="none" strike="noStrike" cap="none" dirty="0"/>
                        <a:t>226</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p>
                  </a:txBody>
                  <a:tcPr marL="36000" marR="36000" marT="36000" marB="36000" anchor="ctr"/>
                </a:tc>
                <a:tc>
                  <a:txBody>
                    <a:bodyPr/>
                    <a:lstStyle/>
                    <a:p>
                      <a:pPr algn="ctr"/>
                      <a:r>
                        <a:rPr lang="en-US" altLang="ko-Kore-KR" sz="800" b="1" u="none" strike="noStrike" cap="none" dirty="0">
                          <a:solidFill>
                            <a:srgbClr val="C00000"/>
                          </a:solidFill>
                        </a:rPr>
                        <a:t>226</a:t>
                      </a:r>
                      <a:endParaRPr lang="ko-Kore-KR" altLang="en-US" dirty="0"/>
                    </a:p>
                  </a:txBody>
                  <a:tcPr marL="36000" marR="36000" marT="36000" marB="36000" anchor="ctr"/>
                </a:tc>
                <a:extLst>
                  <a:ext uri="{0D108BD9-81ED-4DB2-BD59-A6C34878D82A}">
                    <a16:rowId xmlns:a16="http://schemas.microsoft.com/office/drawing/2014/main" val="10002"/>
                  </a:ext>
                </a:extLst>
              </a:tr>
              <a:tr h="172093">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PNH 114.3</a:t>
                      </a:r>
                    </a:p>
                  </a:txBody>
                  <a:tcPr marL="36000" marR="36000" marT="36000" marB="36000" anchor="ctr"/>
                </a:tc>
                <a:tc hMerge="1">
                  <a:txBody>
                    <a:bodyPr/>
                    <a:lstStyle/>
                    <a:p>
                      <a:endParaRPr lang="ko-Kore-KR"/>
                    </a:p>
                  </a:txBody>
                  <a:tcPr/>
                </a:tc>
                <a:tc hMerge="1">
                  <a:txBody>
                    <a:bodyPr/>
                    <a:lstStyle/>
                    <a:p>
                      <a:endParaRPr lang="ko-Kore-KR"/>
                    </a:p>
                  </a:txBody>
                  <a:tcPr/>
                </a:tc>
                <a:tc gridSpan="4">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23 109.7</a:t>
                      </a:r>
                    </a:p>
                  </a:txBody>
                  <a:tcPr marL="36000" marR="36000" marT="36000" marB="36000" anchor="ct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C00000"/>
                        </a:buClr>
                        <a:buSzPts val="800"/>
                        <a:buFont typeface="Calibri"/>
                        <a:buNone/>
                      </a:pP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7209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6">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05(40’)</a:t>
                      </a:r>
                      <a:r>
                        <a:rPr lang="en-US" sz="800" b="1" u="none" strike="noStrike" cap="none" dirty="0">
                          <a:solidFill>
                            <a:srgbClr val="C00000"/>
                          </a:solidFill>
                          <a:latin typeface="Calibri"/>
                          <a:ea typeface="Calibri"/>
                          <a:cs typeface="Calibri"/>
                          <a:sym typeface="Calibri"/>
                        </a:rPr>
                        <a:t>          </a:t>
                      </a:r>
                      <a:r>
                        <a:rPr lang="en-US" sz="800" b="1" u="none" strike="noStrike" cap="none" dirty="0">
                          <a:solidFill>
                            <a:srgbClr val="00B050"/>
                          </a:solidFill>
                          <a:latin typeface="Calibri"/>
                          <a:ea typeface="Calibri"/>
                          <a:cs typeface="Calibri"/>
                          <a:sym typeface="Calibri"/>
                        </a:rPr>
                        <a:t>9843</a:t>
                      </a:r>
                      <a:r>
                        <a:rPr lang="en-US" sz="800" b="1" u="none" strike="noStrike" cap="none" dirty="0">
                          <a:solidFill>
                            <a:srgbClr val="00B050"/>
                          </a:solidFill>
                          <a:latin typeface="Calibri"/>
                          <a:cs typeface="Calibri"/>
                          <a:sym typeface="Calibri"/>
                        </a:rPr>
                        <a:t>’          23(37’)</a:t>
                      </a:r>
                    </a:p>
                  </a:txBody>
                  <a:tcPr marL="36000" marR="36000" marT="36000" marB="36000" anchor="ctr"/>
                </a:tc>
                <a:tc hMerge="1">
                  <a:txBody>
                    <a:bodyPr/>
                    <a:lstStyle/>
                    <a:p>
                      <a:endParaRPr lang="ko-Kore-KR"/>
                    </a:p>
                  </a:txBody>
                  <a:tcPr/>
                </a:tc>
                <a:tc hMerge="1">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10010</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5"/>
                  </a:ext>
                </a:extLst>
              </a:tr>
              <a:tr h="17209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gridSpan="6">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cs typeface="Calibri"/>
                          <a:sym typeface="Calibri"/>
                        </a:rPr>
                        <a:t>PNH 226/2.5, R160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84648163"/>
                  </a:ext>
                </a:extLst>
              </a:tr>
              <a:tr h="28029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APU Start 10min Before DEP</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Line up 180 Back follow Yellow Guide Line</a:t>
                      </a:r>
                      <a:endParaRPr lang="en-US" sz="800" b="1" u="none" strike="noStrike" cap="none" dirty="0">
                        <a:solidFill>
                          <a:schemeClr val="tx1"/>
                        </a:solidFill>
                      </a:endParaRP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3086314932"/>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VDPP(PNH) 40ft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solidFill>
                            <a:schemeClr val="tx1"/>
                          </a:solidFill>
                        </a:rPr>
                        <a:t>PNH DIS 129.0</a:t>
                      </a:r>
                      <a:endParaRPr sz="1200" dirty="0">
                        <a:solidFill>
                          <a:schemeClr val="tx1"/>
                        </a:solidFill>
                      </a:endParaRPr>
                    </a:p>
                    <a:p>
                      <a:pPr marL="0" marR="0" lvl="0" indent="0" algn="ctr" rtl="0">
                        <a:spcBef>
                          <a:spcPts val="0"/>
                        </a:spcBef>
                        <a:spcAft>
                          <a:spcPts val="0"/>
                        </a:spcAft>
                        <a:buNone/>
                      </a:pPr>
                      <a:r>
                        <a:rPr lang="en-US" altLang="ko-KR" sz="700" dirty="0">
                          <a:solidFill>
                            <a:srgbClr val="FF0000"/>
                          </a:solidFill>
                        </a:rPr>
                        <a:t>READY!</a:t>
                      </a:r>
                      <a:r>
                        <a:rPr lang="ko-KR" altLang="en-US" sz="700" dirty="0">
                          <a:solidFill>
                            <a:srgbClr val="FF0000"/>
                          </a:solidFill>
                        </a:rPr>
                        <a:t> </a:t>
                      </a:r>
                      <a:r>
                        <a:rPr lang="en-US" altLang="ko-KR" sz="700" dirty="0">
                          <a:solidFill>
                            <a:srgbClr val="FF0000"/>
                          </a:solidFill>
                        </a:rPr>
                        <a:t>TWR 118.0 By Voice</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99BF2EA-C484-82B5-D698-2C4DFAE01B8A}"/>
              </a:ext>
            </a:extLst>
          </p:cNvPr>
          <p:cNvSpPr/>
          <p:nvPr/>
        </p:nvSpPr>
        <p:spPr>
          <a:xfrm>
            <a:off x="1469976" y="295394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9" name="그림 8" descr="텍스트, 폰트, 라인, 도표이(가) 표시된 사진&#10;&#10;자동 생성된 설명">
            <a:extLst>
              <a:ext uri="{FF2B5EF4-FFF2-40B4-BE49-F238E27FC236}">
                <a16:creationId xmlns:a16="http://schemas.microsoft.com/office/drawing/2014/main" id="{48DFD2B7-3E52-6B57-0EA3-05AC6BD7B75D}"/>
              </a:ext>
            </a:extLst>
          </p:cNvPr>
          <p:cNvPicPr>
            <a:picLocks noChangeAspect="1"/>
          </p:cNvPicPr>
          <p:nvPr/>
        </p:nvPicPr>
        <p:blipFill>
          <a:blip r:embed="rId6"/>
          <a:stretch>
            <a:fillRect/>
          </a:stretch>
        </p:blipFill>
        <p:spPr>
          <a:xfrm>
            <a:off x="-14232" y="2344525"/>
            <a:ext cx="806295" cy="678848"/>
          </a:xfrm>
          <a:prstGeom prst="rect">
            <a:avLst/>
          </a:prstGeom>
        </p:spPr>
      </p:pic>
      <p:sp>
        <p:nvSpPr>
          <p:cNvPr id="8" name="TextBox 7">
            <a:extLst>
              <a:ext uri="{FF2B5EF4-FFF2-40B4-BE49-F238E27FC236}">
                <a16:creationId xmlns:a16="http://schemas.microsoft.com/office/drawing/2014/main" id="{14CA6956-FB7E-2FB3-571E-9A16B59F12B1}"/>
              </a:ext>
            </a:extLst>
          </p:cNvPr>
          <p:cNvSpPr txBox="1"/>
          <p:nvPr/>
        </p:nvSpPr>
        <p:spPr>
          <a:xfrm>
            <a:off x="598763" y="2378007"/>
            <a:ext cx="1491114" cy="1178647"/>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123.8 – PNH 127.5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HCM 134.05 – 120.7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RDO 8942/5655</a:t>
            </a:r>
            <a:r>
              <a:rPr kumimoji="1" lang="en-US" altLang="ko-Kore-KR" sz="700" b="1" u="sng" dirty="0">
                <a:solidFill>
                  <a:srgbClr val="C00000"/>
                </a:solidFill>
                <a:latin typeface="Gulim" panose="020B0600000101010101" pitchFamily="34" charset="-127"/>
                <a:ea typeface="Gulim" panose="020B0600000101010101" pitchFamily="34" charset="-127"/>
              </a:rPr>
              <a:t>(ARESI)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119.3</a:t>
            </a:r>
            <a:r>
              <a:rPr kumimoji="1" lang="en-US" altLang="ko-Kore-KR" sz="700" b="1" u="sng" dirty="0">
                <a:solidFill>
                  <a:srgbClr val="C00000"/>
                </a:solidFill>
                <a:latin typeface="Gulim" panose="020B0600000101010101" pitchFamily="34" charset="-127"/>
                <a:ea typeface="Gulim" panose="020B0600000101010101" pitchFamily="34" charset="-127"/>
              </a:rPr>
              <a:t>(AKOTA)</a:t>
            </a:r>
            <a:r>
              <a:rPr kumimoji="1" lang="en-US" altLang="ko-Kore-KR" sz="7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127.9 – 125.5</a:t>
            </a:r>
            <a:r>
              <a:rPr kumimoji="1" lang="en-US" altLang="ko-KR" sz="700" b="1" u="sng" dirty="0">
                <a:solidFill>
                  <a:srgbClr val="0070C0"/>
                </a:solidFill>
                <a:latin typeface="Gulim" panose="020B0600000101010101" pitchFamily="34" charset="-127"/>
                <a:ea typeface="Gulim" panose="020B0600000101010101" pitchFamily="34" charset="-127"/>
              </a:rPr>
              <a:t>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FUK 127.5</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2" name="직사각형 1">
            <a:hlinkClick r:id="" action="ppaction://hlinkshowjump?jump=firstslide"/>
            <a:extLst>
              <a:ext uri="{FF2B5EF4-FFF2-40B4-BE49-F238E27FC236}">
                <a16:creationId xmlns:a16="http://schemas.microsoft.com/office/drawing/2014/main" id="{1A271B0A-E414-C9F5-151D-200BBB86EC52}"/>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26359318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69798" y="3164294"/>
            <a:ext cx="2207656" cy="532316"/>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a:t>
            </a:r>
            <a:r>
              <a:rPr kumimoji="1" lang="en-US" altLang="ko-KR" sz="700" b="1" u="sng" dirty="0">
                <a:solidFill>
                  <a:srgbClr val="0070C0"/>
                </a:solidFill>
                <a:latin typeface="Gulim" panose="020B0600000101010101" pitchFamily="34" charset="-127"/>
                <a:ea typeface="Gulim" panose="020B0600000101010101" pitchFamily="34" charset="-127"/>
              </a:rPr>
              <a:t>33</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6</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127.5 – 123.2 – 123.9</a:t>
            </a:r>
            <a:r>
              <a:rPr kumimoji="1" lang="en-US" altLang="ko-KR" sz="700" b="1" u="sng" dirty="0">
                <a:solidFill>
                  <a:srgbClr val="FF0000"/>
                </a:solidFill>
                <a:latin typeface="Gulim" panose="020B0600000101010101" pitchFamily="34" charset="-127"/>
                <a:ea typeface="Gulim" panose="020B0600000101010101" pitchFamily="34" charset="-127"/>
              </a:rPr>
              <a:t>(BISIG ETA)</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RDO 89</a:t>
            </a:r>
            <a:r>
              <a:rPr kumimoji="1" lang="en-US" altLang="ko-KR" sz="700" b="1" u="sng" dirty="0">
                <a:solidFill>
                  <a:srgbClr val="0070C0"/>
                </a:solidFill>
                <a:latin typeface="Gulim" panose="020B0600000101010101" pitchFamily="34" charset="-127"/>
                <a:ea typeface="Gulim" panose="020B0600000101010101" pitchFamily="34" charset="-127"/>
              </a:rPr>
              <a:t>03</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13300</a:t>
            </a:r>
            <a:r>
              <a:rPr kumimoji="1" lang="en-US" altLang="ko-Kore-KR" sz="700" b="1" u="sng" dirty="0">
                <a:solidFill>
                  <a:srgbClr val="0070C0"/>
                </a:solidFill>
                <a:latin typeface="Gulim" panose="020B0600000101010101" pitchFamily="34" charset="-127"/>
                <a:ea typeface="Gulim" panose="020B0600000101010101" pitchFamily="34" charset="-127"/>
              </a:rPr>
              <a:t>)</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a:t>
            </a:r>
            <a:r>
              <a:rPr kumimoji="1" lang="en-US" altLang="ko-KR" sz="700" b="1" u="sng" dirty="0">
                <a:solidFill>
                  <a:srgbClr val="0070C0"/>
                </a:solidFill>
                <a:latin typeface="Gulim" panose="020B0600000101010101" pitchFamily="34" charset="-127"/>
                <a:ea typeface="Gulim" panose="020B0600000101010101" pitchFamily="34" charset="-127"/>
              </a:rPr>
              <a:t>128.7</a:t>
            </a:r>
            <a:r>
              <a:rPr kumimoji="1" lang="en-US" altLang="ko-KR" sz="700" b="1" u="sng" dirty="0">
                <a:solidFill>
                  <a:srgbClr val="FF0000"/>
                </a:solidFill>
                <a:latin typeface="Gulim" panose="020B0600000101010101" pitchFamily="34" charset="-127"/>
                <a:ea typeface="Gulim" panose="020B0600000101010101" pitchFamily="34" charset="-127"/>
              </a:rPr>
              <a:t>(BEDIP) </a:t>
            </a:r>
            <a:r>
              <a:rPr kumimoji="1" lang="en-US" altLang="ko-KR" sz="700" b="1" u="sng" dirty="0">
                <a:solidFill>
                  <a:srgbClr val="0070C0"/>
                </a:solidFill>
                <a:latin typeface="Gulim" panose="020B0600000101010101" pitchFamily="34" charset="-127"/>
                <a:ea typeface="Gulim" panose="020B0600000101010101" pitchFamily="34" charset="-127"/>
              </a:rPr>
              <a:t>– APP 124.4</a:t>
            </a: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1" name="Google Shape;291;p18"/>
          <p:cNvGraphicFramePr/>
          <p:nvPr>
            <p:extLst>
              <p:ext uri="{D42A27DB-BD31-4B8C-83A1-F6EECF244321}">
                <p14:modId xmlns:p14="http://schemas.microsoft.com/office/powerpoint/2010/main" val="1546262138"/>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2313761822"/>
              </p:ext>
            </p:extLst>
          </p:nvPr>
        </p:nvGraphicFramePr>
        <p:xfrm>
          <a:off x="-11466" y="3783028"/>
          <a:ext cx="2365375" cy="179257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938775">
                  <a:extLst>
                    <a:ext uri="{9D8B030D-6E8A-4147-A177-3AD203B41FA5}">
                      <a16:colId xmlns:a16="http://schemas.microsoft.com/office/drawing/2014/main" val="20001"/>
                    </a:ext>
                  </a:extLst>
                </a:gridCol>
                <a:gridCol w="563525">
                  <a:extLst>
                    <a:ext uri="{9D8B030D-6E8A-4147-A177-3AD203B41FA5}">
                      <a16:colId xmlns:a16="http://schemas.microsoft.com/office/drawing/2014/main" val="154479603"/>
                    </a:ext>
                  </a:extLst>
                </a:gridCol>
                <a:gridCol w="498528">
                  <a:extLst>
                    <a:ext uri="{9D8B030D-6E8A-4147-A177-3AD203B41FA5}">
                      <a16:colId xmlns:a16="http://schemas.microsoft.com/office/drawing/2014/main" val="992510185"/>
                    </a:ext>
                  </a:extLst>
                </a:gridCol>
              </a:tblGrid>
              <a:tr h="120271">
                <a:tc gridSpan="4">
                  <a:txBody>
                    <a:bodyPr/>
                    <a:lstStyle/>
                    <a:p>
                      <a:pPr marL="0" marR="0" lvl="0" indent="0" algn="ctr" rtl="0">
                        <a:spcBef>
                          <a:spcPts val="0"/>
                        </a:spcBef>
                        <a:spcAft>
                          <a:spcPts val="0"/>
                        </a:spcAft>
                        <a:buNone/>
                      </a:pPr>
                      <a:r>
                        <a:rPr lang="en-US" sz="800" dirty="0"/>
                        <a:t>MNL : RNP STAR with RNP APP </a:t>
                      </a:r>
                      <a:r>
                        <a:rPr lang="en-US" sz="800" dirty="0">
                          <a:solidFill>
                            <a:schemeClr val="accent4"/>
                          </a:solidFill>
                        </a:rPr>
                        <a:t>(CPDLC : RPHI)</a:t>
                      </a:r>
                      <a:r>
                        <a:rPr lang="ko-KR" altLang="en-US" sz="800" dirty="0">
                          <a:solidFill>
                            <a:schemeClr val="accent4"/>
                          </a:solidFill>
                        </a:rPr>
                        <a:t> </a:t>
                      </a:r>
                      <a:r>
                        <a:rPr lang="en-US" altLang="ko-KR" sz="800" dirty="0">
                          <a:solidFill>
                            <a:schemeClr val="bg1"/>
                          </a:solidFill>
                        </a:rPr>
                        <a:t>TL 130</a:t>
                      </a:r>
                    </a:p>
                    <a:p>
                      <a:pPr marL="0" marR="0" lvl="0" indent="0" algn="ctr" rtl="0">
                        <a:spcBef>
                          <a:spcPts val="0"/>
                        </a:spcBef>
                        <a:spcAft>
                          <a:spcPts val="0"/>
                        </a:spcAft>
                        <a:buNone/>
                      </a:pPr>
                      <a:r>
                        <a:rPr lang="en-US" sz="800" b="0" dirty="0">
                          <a:solidFill>
                            <a:srgbClr val="FFC000"/>
                          </a:solidFill>
                        </a:rPr>
                        <a:t>3 STAR Difference Track Mile &amp; IAF  </a:t>
                      </a:r>
                      <a:endParaRPr sz="800" b="0"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0">
                <a:tc>
                  <a:txBody>
                    <a:bodyPr/>
                    <a:lstStyle/>
                    <a:p>
                      <a:pPr marL="0" marR="0" lvl="0" indent="0" algn="ctr" rtl="0">
                        <a:spcBef>
                          <a:spcPts val="0"/>
                        </a:spcBef>
                        <a:spcAft>
                          <a:spcPts val="0"/>
                        </a:spcAft>
                        <a:buNone/>
                      </a:pPr>
                      <a:r>
                        <a:rPr lang="en-US" sz="800" b="1" dirty="0"/>
                        <a:t>06</a:t>
                      </a:r>
                      <a:endParaRPr sz="800" b="0" dirty="0"/>
                    </a:p>
                  </a:txBody>
                  <a:tcPr marL="36000" marR="36000" marT="36000" marB="36000" anchor="ctr"/>
                </a:tc>
                <a:tc rowSpan="2">
                  <a:txBody>
                    <a:bodyPr/>
                    <a:lstStyle/>
                    <a:p>
                      <a:pPr marL="0" marR="0" lvl="0" indent="0" algn="ctr" rtl="0">
                        <a:spcBef>
                          <a:spcPts val="0"/>
                        </a:spcBef>
                        <a:spcAft>
                          <a:spcPts val="0"/>
                        </a:spcAft>
                        <a:buNone/>
                      </a:pPr>
                      <a:r>
                        <a:rPr lang="en-US" sz="800" b="1" dirty="0"/>
                        <a:t>POLIO, NABAL </a:t>
                      </a:r>
                      <a:r>
                        <a:rPr lang="en-US" altLang="ko-KR" sz="800" b="1" dirty="0"/>
                        <a:t>(</a:t>
                      </a:r>
                      <a:r>
                        <a:rPr lang="en-US" altLang="ko-KR" sz="800" b="1" dirty="0">
                          <a:solidFill>
                            <a:srgbClr val="FF0000"/>
                          </a:solidFill>
                        </a:rPr>
                        <a:t>7</a:t>
                      </a:r>
                      <a:r>
                        <a:rPr lang="en-US" altLang="ko-KR" sz="800" b="1" dirty="0"/>
                        <a:t>,5,3)R/P</a:t>
                      </a:r>
                      <a:endParaRPr lang="en-US" sz="800" b="1" dirty="0"/>
                    </a:p>
                    <a:p>
                      <a:pPr marL="0" marR="0" lvl="0" indent="0" algn="ctr" rtl="0">
                        <a:spcBef>
                          <a:spcPts val="0"/>
                        </a:spcBef>
                        <a:spcAft>
                          <a:spcPts val="0"/>
                        </a:spcAft>
                        <a:buNone/>
                      </a:pPr>
                      <a:r>
                        <a:rPr lang="en-US" sz="800" b="1" dirty="0">
                          <a:solidFill>
                            <a:srgbClr val="00B050"/>
                          </a:solidFill>
                        </a:rPr>
                        <a:t>DCT MIA RDR </a:t>
                      </a:r>
                      <a:r>
                        <a:rPr lang="en-US" sz="800" b="1" dirty="0" err="1">
                          <a:solidFill>
                            <a:srgbClr val="00B050"/>
                          </a:solidFill>
                        </a:rPr>
                        <a:t>Vec</a:t>
                      </a:r>
                      <a:endParaRPr lang="en-US" sz="800" b="1" dirty="0">
                        <a:solidFill>
                          <a:srgbClr val="00B050"/>
                        </a:solidFill>
                      </a:endParaRPr>
                    </a:p>
                    <a:p>
                      <a:pPr marL="0" marR="0" lvl="0" indent="0" algn="ctr" rtl="0">
                        <a:spcBef>
                          <a:spcPts val="0"/>
                        </a:spcBef>
                        <a:spcAft>
                          <a:spcPts val="0"/>
                        </a:spcAft>
                        <a:buNone/>
                      </a:pPr>
                      <a:r>
                        <a:rPr lang="en-US" sz="700" b="0" dirty="0">
                          <a:solidFill>
                            <a:srgbClr val="C00000"/>
                          </a:solidFill>
                        </a:rPr>
                        <a:t>(TMA 250, 20NM 210)</a:t>
                      </a:r>
                    </a:p>
                  </a:txBody>
                  <a:tcPr marL="36000" marR="36000" marT="36000" marB="36000" anchor="ctr"/>
                </a:tc>
                <a:tc>
                  <a:txBody>
                    <a:bodyPr/>
                    <a:lstStyle/>
                    <a:p>
                      <a:pPr marL="0" marR="0" lvl="0" indent="0" algn="ctr" rtl="0">
                        <a:spcBef>
                          <a:spcPts val="0"/>
                        </a:spcBef>
                        <a:spcAft>
                          <a:spcPts val="0"/>
                        </a:spcAft>
                        <a:buNone/>
                      </a:pPr>
                      <a:r>
                        <a:rPr lang="en-US" altLang="ko-Kore-KR" sz="800" b="1" dirty="0"/>
                        <a:t>GONDO</a:t>
                      </a:r>
                      <a:endParaRPr lang="en-US" sz="800" b="1" dirty="0"/>
                    </a:p>
                    <a:p>
                      <a:pPr marL="0" marR="0" lvl="0" indent="0" algn="ctr" rtl="0">
                        <a:spcBef>
                          <a:spcPts val="0"/>
                        </a:spcBef>
                        <a:spcAft>
                          <a:spcPts val="0"/>
                        </a:spcAft>
                        <a:buNone/>
                      </a:pPr>
                      <a:r>
                        <a:rPr lang="en-US" sz="800" b="1" dirty="0"/>
                        <a:t>(</a:t>
                      </a:r>
                      <a:r>
                        <a:rPr lang="en-US" altLang="ko-Kore-KR" sz="800" b="1" dirty="0"/>
                        <a:t>DAGAT</a:t>
                      </a:r>
                      <a:r>
                        <a:rPr lang="en-US" sz="800" b="1" dirty="0"/>
                        <a:t>)</a:t>
                      </a:r>
                      <a:endParaRPr lang="ko-Kore-KR" altLang="en-US" dirty="0"/>
                    </a:p>
                  </a:txBody>
                  <a:tcPr marL="36000" marR="36000" marT="36000" marB="36000" anchor="ctr"/>
                </a:tc>
                <a:tc>
                  <a:txBody>
                    <a:bodyPr/>
                    <a:lstStyle/>
                    <a:p>
                      <a:pPr marL="0" marR="0" lvl="0" indent="0" algn="ctr" rtl="0">
                        <a:spcBef>
                          <a:spcPts val="0"/>
                        </a:spcBef>
                        <a:spcAft>
                          <a:spcPts val="0"/>
                        </a:spcAft>
                        <a:buNone/>
                      </a:pPr>
                      <a:r>
                        <a:rPr lang="en-US" sz="800" b="1" dirty="0"/>
                        <a:t>RNP 06 </a:t>
                      </a:r>
                    </a:p>
                    <a:p>
                      <a:pPr marL="0" marR="0" lvl="0" indent="0" algn="ctr" rtl="0">
                        <a:spcBef>
                          <a:spcPts val="0"/>
                        </a:spcBef>
                        <a:spcAft>
                          <a:spcPts val="0"/>
                        </a:spcAft>
                        <a:buNone/>
                      </a:pPr>
                      <a:r>
                        <a:rPr lang="en-US" sz="800" b="1" dirty="0">
                          <a:solidFill>
                            <a:srgbClr val="00B050"/>
                          </a:solidFill>
                        </a:rPr>
                        <a:t>ILS 06</a:t>
                      </a:r>
                    </a:p>
                  </a:txBody>
                  <a:tcPr marL="36000" marR="36000" marT="36000" marB="36000" anchor="ctr"/>
                </a:tc>
                <a:extLst>
                  <a:ext uri="{0D108BD9-81ED-4DB2-BD59-A6C34878D82A}">
                    <a16:rowId xmlns:a16="http://schemas.microsoft.com/office/drawing/2014/main" val="10001"/>
                  </a:ext>
                </a:extLst>
              </a:tr>
              <a:tr h="0">
                <a:tc>
                  <a:txBody>
                    <a:bodyPr/>
                    <a:lstStyle/>
                    <a:p>
                      <a:pPr algn="ctr"/>
                      <a:r>
                        <a:rPr lang="en-US" sz="800" b="1" dirty="0"/>
                        <a:t>24</a:t>
                      </a:r>
                      <a:endParaRPr lang="ko-Kore-KR" altLang="en-US" dirty="0"/>
                    </a:p>
                  </a:txBody>
                  <a:tcPr marL="36000" marR="36000" marT="36000" marB="36000" anchor="ctr"/>
                </a:tc>
                <a:tc vMerge="1">
                  <a:txBody>
                    <a:bodyPr/>
                    <a:lstStyle/>
                    <a:p>
                      <a:pPr marL="0" marR="0" lvl="0" indent="0" algn="ctr" rtl="0">
                        <a:spcBef>
                          <a:spcPts val="0"/>
                        </a:spcBef>
                        <a:spcAft>
                          <a:spcPts val="0"/>
                        </a:spcAft>
                        <a:buNone/>
                      </a:pPr>
                      <a:r>
                        <a:rPr lang="en-US" sz="800" b="1" dirty="0"/>
                        <a:t>DALAP </a:t>
                      </a:r>
                      <a:r>
                        <a:rPr lang="en-US" sz="800" b="1" dirty="0" err="1"/>
                        <a:t>xxG</a:t>
                      </a:r>
                      <a:endParaRPr lang="en-US" sz="800" b="1" dirty="0"/>
                    </a:p>
                  </a:txBody>
                  <a:tcPr marL="36000" marR="36000" marT="36000" marB="3600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altLang="ko-Kore-KR" sz="800" b="1" dirty="0"/>
                        <a:t>MUTAN</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1" dirty="0"/>
                        <a:t>(</a:t>
                      </a:r>
                      <a:r>
                        <a:rPr lang="en-US" altLang="ko-Kore-KR" sz="800" b="1" dirty="0"/>
                        <a:t>MEDAM</a:t>
                      </a:r>
                      <a:r>
                        <a:rPr lang="en-US" sz="800" b="1" dirty="0"/>
                        <a:t>)</a:t>
                      </a:r>
                      <a:endParaRPr lang="ko-Kore-KR" altLang="en-US" sz="800" b="1" dirty="0"/>
                    </a:p>
                  </a:txBody>
                  <a:tcPr marL="36000" marR="36000" marT="36000" marB="36000" anchor="ctr"/>
                </a:tc>
                <a:tc>
                  <a:txBody>
                    <a:bodyPr/>
                    <a:lstStyle/>
                    <a:p>
                      <a:pPr algn="ctr"/>
                      <a:r>
                        <a:rPr lang="en-US" sz="800" b="1" dirty="0"/>
                        <a:t>RNP 24 </a:t>
                      </a:r>
                    </a:p>
                    <a:p>
                      <a:pPr algn="ctr"/>
                      <a:r>
                        <a:rPr lang="en-US" sz="800" b="1" dirty="0">
                          <a:solidFill>
                            <a:srgbClr val="00B050"/>
                          </a:solidFill>
                        </a:rPr>
                        <a:t>ILS 24</a:t>
                      </a:r>
                      <a:endParaRPr lang="ko-Kore-KR" altLang="en-US" dirty="0">
                        <a:solidFill>
                          <a:srgbClr val="00B050"/>
                        </a:solidFill>
                      </a:endParaRPr>
                    </a:p>
                  </a:txBody>
                  <a:tcPr marL="36000" marR="36000" marT="36000" marB="36000" anchor="ctr"/>
                </a:tc>
                <a:extLst>
                  <a:ext uri="{0D108BD9-81ED-4DB2-BD59-A6C34878D82A}">
                    <a16:rowId xmlns:a16="http://schemas.microsoft.com/office/drawing/2014/main" val="4277695380"/>
                  </a:ext>
                </a:extLst>
              </a:tr>
              <a:tr h="137479">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 </a:t>
                      </a:r>
                      <a:r>
                        <a:rPr lang="en-US" sz="800" b="1" dirty="0">
                          <a:solidFill>
                            <a:srgbClr val="C00000"/>
                          </a:solidFill>
                        </a:rPr>
                        <a:t>(16’)                </a:t>
                      </a:r>
                      <a:r>
                        <a:rPr lang="en-US" sz="800" b="1" dirty="0">
                          <a:solidFill>
                            <a:srgbClr val="00B050"/>
                          </a:solidFill>
                        </a:rPr>
                        <a:t>11188</a:t>
                      </a:r>
                      <a:r>
                        <a:rPr lang="en-US" altLang="ko-KR" sz="800" b="1" dirty="0">
                          <a:solidFill>
                            <a:srgbClr val="00B050"/>
                          </a:solidFill>
                        </a:rPr>
                        <a:t>’              </a:t>
                      </a:r>
                      <a:r>
                        <a:rPr lang="en-US" altLang="ko-KR" sz="800" b="1" dirty="0">
                          <a:solidFill>
                            <a:srgbClr val="FF0000"/>
                          </a:solidFill>
                        </a:rPr>
                        <a:t> </a:t>
                      </a:r>
                      <a:r>
                        <a:rPr lang="en-US" altLang="ko-KR" sz="800" b="1" dirty="0">
                          <a:solidFill>
                            <a:srgbClr val="00B050"/>
                          </a:solidFill>
                        </a:rPr>
                        <a:t>24 </a:t>
                      </a:r>
                      <a:r>
                        <a:rPr lang="en-US" altLang="ko-KR" sz="800" b="1" dirty="0">
                          <a:solidFill>
                            <a:srgbClr val="C00000"/>
                          </a:solidFill>
                        </a:rPr>
                        <a:t>(75’)</a:t>
                      </a: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4">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sz="800" b="1" dirty="0">
                          <a:solidFill>
                            <a:schemeClr val="tx1"/>
                          </a:solidFill>
                        </a:rPr>
                        <a:t>06 : R2(6223’), R1(8221’),     24 </a:t>
                      </a:r>
                      <a:r>
                        <a:rPr lang="en-US" altLang="ko-Kore-KR" sz="800" b="1" dirty="0">
                          <a:solidFill>
                            <a:schemeClr val="tx1"/>
                          </a:solidFill>
                        </a:rPr>
                        <a:t>: R4(6095’), R5(7746’</a:t>
                      </a:r>
                      <a:r>
                        <a:rPr lang="en-US" altLang="ko-KR" sz="800" b="1" dirty="0">
                          <a:solidFill>
                            <a:schemeClr val="tx1"/>
                          </a:solidFill>
                        </a:rPr>
                        <a:t>)</a:t>
                      </a:r>
                    </a:p>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lang="en-US" altLang="ko-KR" sz="800" b="0" dirty="0">
                          <a:solidFill>
                            <a:srgbClr val="0070C0"/>
                          </a:solidFill>
                        </a:rPr>
                        <a:t>Unable advise ATC, </a:t>
                      </a:r>
                      <a:r>
                        <a:rPr lang="en-US" altLang="ko-KR" sz="800" b="0" dirty="0">
                          <a:solidFill>
                            <a:srgbClr val="C00000"/>
                          </a:solidFill>
                        </a:rPr>
                        <a:t>Do not confuse R2, E2, RWY31</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CTC Ramp before Entering apron, </a:t>
                      </a:r>
                      <a:r>
                        <a:rPr lang="en-US" sz="800" dirty="0">
                          <a:solidFill>
                            <a:srgbClr val="0070C0"/>
                          </a:solidFill>
                        </a:rPr>
                        <a:t>Report </a:t>
                      </a:r>
                      <a:r>
                        <a:rPr lang="en-US" sz="800" dirty="0" err="1">
                          <a:solidFill>
                            <a:srgbClr val="0070C0"/>
                          </a:solidFill>
                        </a:rPr>
                        <a:t>Chockin</a:t>
                      </a:r>
                      <a:r>
                        <a:rPr lang="en-US" sz="800" dirty="0">
                          <a:solidFill>
                            <a:srgbClr val="0070C0"/>
                          </a:solidFill>
                        </a:rPr>
                        <a:t> Time</a:t>
                      </a:r>
                    </a:p>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Caution </a:t>
                      </a:r>
                      <a:r>
                        <a:rPr lang="en-US" sz="800" b="1" dirty="0" err="1">
                          <a:solidFill>
                            <a:srgbClr val="C00000"/>
                          </a:solidFill>
                        </a:rPr>
                        <a:t>HotSpot</a:t>
                      </a:r>
                      <a:r>
                        <a:rPr lang="en-US" sz="800" b="1" dirty="0">
                          <a:solidFill>
                            <a:srgbClr val="C00000"/>
                          </a:solidFill>
                        </a:rPr>
                        <a:t> RWY31</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513704510"/>
              </p:ext>
            </p:extLst>
          </p:nvPr>
        </p:nvGraphicFramePr>
        <p:xfrm>
          <a:off x="-2501" y="16504"/>
          <a:ext cx="2328850" cy="60930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RPLL(MNL) 75ft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PAGSS </a:t>
                      </a:r>
                      <a:r>
                        <a:rPr lang="en-US" sz="900" dirty="0" err="1"/>
                        <a:t>Oper</a:t>
                      </a:r>
                      <a:r>
                        <a:rPr lang="en-US" sz="900" dirty="0"/>
                        <a:t> 131.0</a:t>
                      </a:r>
                    </a:p>
                    <a:p>
                      <a:pPr marL="0" marR="0" lvl="0" indent="0" algn="ctr" rtl="0">
                        <a:spcBef>
                          <a:spcPts val="0"/>
                        </a:spcBef>
                        <a:spcAft>
                          <a:spcPts val="0"/>
                        </a:spcAft>
                        <a:buNone/>
                      </a:pPr>
                      <a:r>
                        <a:rPr lang="en-US" sz="800" dirty="0">
                          <a:solidFill>
                            <a:srgbClr val="FF0000"/>
                          </a:solidFill>
                        </a:rPr>
                        <a:t>No D-ATIS</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2AAB07A0-B244-1F75-A200-72ACAFBC97D5}"/>
              </a:ext>
            </a:extLst>
          </p:cNvPr>
          <p:cNvSpPr/>
          <p:nvPr/>
        </p:nvSpPr>
        <p:spPr>
          <a:xfrm>
            <a:off x="1469976" y="346654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93365F54-8A36-6A9A-F1D4-D28F7D1796D7}"/>
              </a:ext>
            </a:extLst>
          </p:cNvPr>
          <p:cNvSpPr/>
          <p:nvPr/>
        </p:nvSpPr>
        <p:spPr>
          <a:xfrm>
            <a:off x="846113" y="231754"/>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23221554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1352760667"/>
              </p:ext>
            </p:extLst>
          </p:nvPr>
        </p:nvGraphicFramePr>
        <p:xfrm>
          <a:off x="-15808" y="675701"/>
          <a:ext cx="2349162" cy="1742650"/>
        </p:xfrm>
        <a:graphic>
          <a:graphicData uri="http://schemas.openxmlformats.org/drawingml/2006/table">
            <a:tbl>
              <a:tblPr firstRow="1" bandRow="1">
                <a:noFill/>
                <a:tableStyleId>{A521BE36-7E6F-4EC9-8D66-1CF97A6895EC}</a:tableStyleId>
              </a:tblPr>
              <a:tblGrid>
                <a:gridCol w="341490">
                  <a:extLst>
                    <a:ext uri="{9D8B030D-6E8A-4147-A177-3AD203B41FA5}">
                      <a16:colId xmlns:a16="http://schemas.microsoft.com/office/drawing/2014/main" val="20000"/>
                    </a:ext>
                  </a:extLst>
                </a:gridCol>
                <a:gridCol w="482392">
                  <a:extLst>
                    <a:ext uri="{9D8B030D-6E8A-4147-A177-3AD203B41FA5}">
                      <a16:colId xmlns:a16="http://schemas.microsoft.com/office/drawing/2014/main" val="20002"/>
                    </a:ext>
                  </a:extLst>
                </a:gridCol>
                <a:gridCol w="211004">
                  <a:extLst>
                    <a:ext uri="{9D8B030D-6E8A-4147-A177-3AD203B41FA5}">
                      <a16:colId xmlns:a16="http://schemas.microsoft.com/office/drawing/2014/main" val="2284565888"/>
                    </a:ext>
                  </a:extLst>
                </a:gridCol>
                <a:gridCol w="244707">
                  <a:extLst>
                    <a:ext uri="{9D8B030D-6E8A-4147-A177-3AD203B41FA5}">
                      <a16:colId xmlns:a16="http://schemas.microsoft.com/office/drawing/2014/main" val="20004"/>
                    </a:ext>
                  </a:extLst>
                </a:gridCol>
                <a:gridCol w="341421">
                  <a:extLst>
                    <a:ext uri="{9D8B030D-6E8A-4147-A177-3AD203B41FA5}">
                      <a16:colId xmlns:a16="http://schemas.microsoft.com/office/drawing/2014/main" val="20006"/>
                    </a:ext>
                  </a:extLst>
                </a:gridCol>
                <a:gridCol w="348225">
                  <a:extLst>
                    <a:ext uri="{9D8B030D-6E8A-4147-A177-3AD203B41FA5}">
                      <a16:colId xmlns:a16="http://schemas.microsoft.com/office/drawing/2014/main" val="20007"/>
                    </a:ext>
                  </a:extLst>
                </a:gridCol>
                <a:gridCol w="379923">
                  <a:extLst>
                    <a:ext uri="{9D8B030D-6E8A-4147-A177-3AD203B41FA5}">
                      <a16:colId xmlns:a16="http://schemas.microsoft.com/office/drawing/2014/main" val="448940902"/>
                    </a:ext>
                  </a:extLst>
                </a:gridCol>
              </a:tblGrid>
              <a:tr h="303688">
                <a:tc gridSpan="7">
                  <a:txBody>
                    <a:bodyPr/>
                    <a:lstStyle/>
                    <a:p>
                      <a:pPr marL="0" marR="0" lvl="0" indent="0" algn="ctr" rtl="0">
                        <a:spcBef>
                          <a:spcPts val="0"/>
                        </a:spcBef>
                        <a:spcAft>
                          <a:spcPts val="0"/>
                        </a:spcAft>
                        <a:buNone/>
                      </a:pPr>
                      <a:r>
                        <a:rPr lang="en-US" sz="800" u="none" strike="noStrike" cap="none" dirty="0"/>
                        <a:t>MNL : RDR Vector to CAB (NADP 1) TA 11000’</a:t>
                      </a:r>
                    </a:p>
                    <a:p>
                      <a:pPr marL="0" marR="0" lvl="0" indent="0" algn="ctr" rtl="0">
                        <a:spcBef>
                          <a:spcPts val="0"/>
                        </a:spcBef>
                        <a:spcAft>
                          <a:spcPts val="0"/>
                        </a:spcAft>
                        <a:buNone/>
                      </a:pPr>
                      <a:r>
                        <a:rPr lang="en-US" sz="800" u="none" strike="noStrike" cap="none" dirty="0">
                          <a:solidFill>
                            <a:schemeClr val="accent4"/>
                          </a:solidFill>
                        </a:rPr>
                        <a:t>Main RWY H/D Climb 7000ft, CLR for T/O</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286071">
                <a:tc>
                  <a:txBody>
                    <a:bodyPr/>
                    <a:lstStyle/>
                    <a:p>
                      <a:pPr marL="0" marR="0" lvl="0" indent="0" algn="ctr" rtl="0">
                        <a:spcBef>
                          <a:spcPts val="0"/>
                        </a:spcBef>
                        <a:spcAft>
                          <a:spcPts val="0"/>
                        </a:spcAft>
                        <a:buNone/>
                      </a:pPr>
                      <a:r>
                        <a:rPr lang="en-US" sz="800" b="1" u="none" strike="noStrike" cap="none" dirty="0"/>
                        <a:t>06</a:t>
                      </a:r>
                      <a:endParaRPr lang="en-US" sz="800" b="0" u="none" strike="noStrike" cap="none" dirty="0"/>
                    </a:p>
                  </a:txBody>
                  <a:tcPr marL="36000" marR="36000" marT="36000" marB="36000" anchor="ctr"/>
                </a:tc>
                <a:tc gridSpan="2">
                  <a:txBody>
                    <a:bodyPr/>
                    <a:lstStyle/>
                    <a:p>
                      <a:pPr algn="ctr"/>
                      <a:r>
                        <a:rPr lang="en-US" sz="800" b="1" u="none" strike="noStrike" cap="none" dirty="0">
                          <a:solidFill>
                            <a:srgbClr val="0070C0"/>
                          </a:solidFill>
                        </a:rPr>
                        <a:t>CAB xx R/A (Cabanatuan)</a:t>
                      </a: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061</a:t>
                      </a:r>
                      <a:endParaRPr sz="458" b="1" u="none" strike="noStrike" cap="none"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061</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1200</a:t>
                      </a:r>
                      <a:r>
                        <a:rPr lang="en-US" altLang="ko-KR" sz="800" b="1" u="none" strike="noStrike" cap="none" dirty="0">
                          <a:solidFill>
                            <a:srgbClr val="0070C0"/>
                          </a:solidFill>
                        </a:rPr>
                        <a:t>0</a:t>
                      </a:r>
                      <a:r>
                        <a:rPr lang="en-US" sz="800" b="1" u="none" strike="noStrike" cap="none" dirty="0">
                          <a:solidFill>
                            <a:srgbClr val="0070C0"/>
                          </a:solidFill>
                        </a:rPr>
                        <a:t>ATC</a:t>
                      </a:r>
                    </a:p>
                  </a:txBody>
                  <a:tcPr marL="36000" marR="36000" marT="36000" marB="36000" anchor="ctr"/>
                </a:tc>
                <a:tc>
                  <a:txBody>
                    <a:bodyPr/>
                    <a:lstStyle/>
                    <a:p>
                      <a:pPr algn="ctr"/>
                      <a:r>
                        <a:rPr lang="en-US" altLang="ko-Kore-KR" sz="800" b="1" u="none" strike="noStrike" cap="none" dirty="0">
                          <a:solidFill>
                            <a:srgbClr val="C00000"/>
                          </a:solidFill>
                        </a:rPr>
                        <a:t>061</a:t>
                      </a:r>
                      <a:endParaRPr lang="ko-Kore-KR" altLang="en-US" dirty="0"/>
                    </a:p>
                  </a:txBody>
                  <a:tcPr marL="36000" marR="36000" marT="36000" marB="36000" anchor="ctr"/>
                </a:tc>
                <a:extLst>
                  <a:ext uri="{0D108BD9-81ED-4DB2-BD59-A6C34878D82A}">
                    <a16:rowId xmlns:a16="http://schemas.microsoft.com/office/drawing/2014/main" val="10001"/>
                  </a:ext>
                </a:extLst>
              </a:tr>
              <a:tr h="286071">
                <a:tc>
                  <a:txBody>
                    <a:bodyPr/>
                    <a:lstStyle/>
                    <a:p>
                      <a:pPr marL="0" marR="0" lvl="0" indent="0" algn="ctr" rtl="0">
                        <a:spcBef>
                          <a:spcPts val="0"/>
                        </a:spcBef>
                        <a:spcAft>
                          <a:spcPts val="0"/>
                        </a:spcAft>
                        <a:buNone/>
                      </a:pPr>
                      <a:r>
                        <a:rPr lang="en-US" sz="800" b="1" u="none" strike="noStrike" cap="none" dirty="0"/>
                        <a:t>24</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CAB xx P/B</a:t>
                      </a:r>
                    </a:p>
                    <a:p>
                      <a:pPr algn="ctr"/>
                      <a:r>
                        <a:rPr lang="en-US" altLang="ko-Kore-KR" sz="800" b="1" u="none" strike="noStrike" cap="none" dirty="0">
                          <a:solidFill>
                            <a:srgbClr val="0070C0"/>
                          </a:solidFill>
                        </a:rPr>
                        <a:t>(Cabanatuan)</a:t>
                      </a:r>
                    </a:p>
                  </a:txBody>
                  <a:tcPr marL="36000" marR="36000" marT="36000" marB="36000" anchor="ctr"/>
                </a:tc>
                <a:tc hMerge="1">
                  <a:txBody>
                    <a:bodyPr/>
                    <a:lstStyle/>
                    <a:p>
                      <a:pPr algn="ct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C00000"/>
                          </a:solidFill>
                        </a:rPr>
                        <a:t>241</a:t>
                      </a:r>
                      <a:endParaRPr sz="458" b="1" u="none" strike="noStrike" cap="none" dirty="0">
                        <a:solidFill>
                          <a:srgbClr val="C00000"/>
                        </a:solidFill>
                      </a:endParaRP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241</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9000</a:t>
                      </a:r>
                      <a:r>
                        <a:rPr lang="ko-KR" altLang="en-US" sz="800" b="1" u="none" strike="noStrike" cap="none">
                          <a:solidFill>
                            <a:srgbClr val="0070C0"/>
                          </a:solidFill>
                        </a:rPr>
                        <a:t> </a:t>
                      </a:r>
                      <a:r>
                        <a:rPr lang="en-US" sz="800" b="1" u="none" strike="noStrike" cap="none">
                          <a:solidFill>
                            <a:srgbClr val="0070C0"/>
                          </a:solidFill>
                        </a:rPr>
                        <a:t>ATC</a:t>
                      </a:r>
                      <a:endParaRPr lang="en-US"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241</a:t>
                      </a:r>
                      <a:endParaRPr lang="ko-Kore-KR" altLang="en-US" dirty="0"/>
                    </a:p>
                  </a:txBody>
                  <a:tcPr marL="36000" marR="36000" marT="36000" marB="36000" anchor="ctr"/>
                </a:tc>
                <a:extLst>
                  <a:ext uri="{0D108BD9-81ED-4DB2-BD59-A6C34878D82A}">
                    <a16:rowId xmlns:a16="http://schemas.microsoft.com/office/drawing/2014/main" val="10002"/>
                  </a:ext>
                </a:extLst>
              </a:tr>
              <a:tr h="175643">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u="none" strike="noStrike" cap="none" dirty="0">
                          <a:solidFill>
                            <a:srgbClr val="0070C0"/>
                          </a:solidFill>
                        </a:rPr>
                        <a:t>MIA 114.4</a:t>
                      </a:r>
                    </a:p>
                  </a:txBody>
                  <a:tcPr marL="36000" marR="36000" marT="36000" marB="36000" anchor="ctr"/>
                </a:tc>
                <a:tc hMerge="1">
                  <a:txBody>
                    <a:bodyPr/>
                    <a:lstStyle/>
                    <a:p>
                      <a:endParaRPr lang="ko-Kore-KR"/>
                    </a:p>
                  </a:txBody>
                  <a:tcPr/>
                </a:tc>
                <a:tc gridSpan="3">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06 109.1</a:t>
                      </a:r>
                      <a:endParaRPr lang="ko-Kore-KR" altLang="en-US" dirty="0"/>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lnSpc>
                          <a:spcPct val="100000"/>
                        </a:lnSpc>
                        <a:spcBef>
                          <a:spcPts val="0"/>
                        </a:spcBef>
                        <a:spcAft>
                          <a:spcPts val="0"/>
                        </a:spcAft>
                        <a:buClr>
                          <a:srgbClr val="C00000"/>
                        </a:buClr>
                        <a:buSzPts val="800"/>
                        <a:buFont typeface="Calibri"/>
                        <a:buNone/>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24 109.9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7564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gridSpan="6">
                  <a:txBody>
                    <a:bodyPr/>
                    <a:lstStyle/>
                    <a:p>
                      <a:pPr marL="0" marR="0" lvl="0" indent="0" algn="ctr"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cs typeface="Calibri"/>
                          <a:sym typeface="Calibri"/>
                        </a:rPr>
                        <a:t>06 </a:t>
                      </a:r>
                      <a:r>
                        <a:rPr lang="en-US" sz="800" b="0" u="none" strike="noStrike" cap="none">
                          <a:solidFill>
                            <a:schemeClr val="tx1"/>
                          </a:solidFill>
                          <a:latin typeface="Calibri"/>
                          <a:cs typeface="Calibri"/>
                          <a:sym typeface="Calibri"/>
                        </a:rPr>
                        <a:t>: MIA /2</a:t>
                      </a:r>
                      <a:r>
                        <a:rPr lang="en-US" sz="800" b="0" u="none" strike="noStrike" cap="none" dirty="0">
                          <a:solidFill>
                            <a:schemeClr val="tx1"/>
                          </a:solidFill>
                          <a:latin typeface="Calibri"/>
                          <a:cs typeface="Calibri"/>
                          <a:sym typeface="Calibri"/>
                        </a:rPr>
                        <a:t>, R250</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4157310195"/>
                  </a:ext>
                </a:extLst>
              </a:tr>
              <a:tr h="175643">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6">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06</a:t>
                      </a:r>
                      <a:r>
                        <a:rPr lang="en-US" sz="800" b="1" u="none" strike="noStrike" cap="none" dirty="0">
                          <a:solidFill>
                            <a:srgbClr val="C00000"/>
                          </a:solidFill>
                          <a:latin typeface="Calibri"/>
                          <a:ea typeface="Calibri"/>
                          <a:cs typeface="Calibri"/>
                          <a:sym typeface="Calibri"/>
                        </a:rPr>
                        <a:t>(16’)          </a:t>
                      </a:r>
                      <a:r>
                        <a:rPr lang="en-US" altLang="ko-KR" sz="800" b="1" u="none" strike="noStrike" cap="none" dirty="0">
                          <a:solidFill>
                            <a:srgbClr val="00B050"/>
                          </a:solidFill>
                          <a:latin typeface="Calibri"/>
                          <a:cs typeface="Calibri"/>
                          <a:sym typeface="Calibri"/>
                        </a:rPr>
                        <a:t>11188</a:t>
                      </a:r>
                      <a:r>
                        <a:rPr lang="en-US" sz="800" b="1" u="none" strike="noStrike" cap="none" dirty="0">
                          <a:solidFill>
                            <a:srgbClr val="00B050"/>
                          </a:solidFill>
                          <a:latin typeface="Calibri"/>
                          <a:cs typeface="Calibri"/>
                          <a:sym typeface="Calibri"/>
                        </a:rPr>
                        <a:t>’          24</a:t>
                      </a:r>
                      <a:r>
                        <a:rPr lang="en-US" sz="800" b="1" u="none" strike="noStrike" cap="none" dirty="0">
                          <a:solidFill>
                            <a:srgbClr val="C00000"/>
                          </a:solidFill>
                          <a:latin typeface="Calibri"/>
                          <a:cs typeface="Calibri"/>
                          <a:sym typeface="Calibri"/>
                        </a:rPr>
                        <a:t>(75’)</a:t>
                      </a:r>
                    </a:p>
                  </a:txBody>
                  <a:tcPr marL="36000" marR="36000" marT="36000" marB="36000" anchor="ct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5"/>
                  </a:ext>
                </a:extLst>
              </a:tr>
              <a:tr h="175643">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rgbClr val="C00000"/>
                          </a:solidFill>
                        </a:rPr>
                        <a:t>Req </a:t>
                      </a:r>
                      <a:r>
                        <a:rPr lang="en-US" sz="800" b="1" u="none" strike="noStrike" cap="none" dirty="0">
                          <a:solidFill>
                            <a:srgbClr val="C00000"/>
                          </a:solidFill>
                        </a:rPr>
                        <a:t>ENG Startup to GND </a:t>
                      </a:r>
                      <a:r>
                        <a:rPr lang="en-US" altLang="ko-KR" sz="800" b="0" u="none" strike="noStrike" cap="none" dirty="0">
                          <a:solidFill>
                            <a:srgbClr val="C00000"/>
                          </a:solidFill>
                        </a:rPr>
                        <a:t>-&gt;</a:t>
                      </a:r>
                      <a:r>
                        <a:rPr lang="ko-KR" altLang="en-US" sz="800" b="0" u="none" strike="noStrike" cap="none" dirty="0">
                          <a:solidFill>
                            <a:srgbClr val="C00000"/>
                          </a:solidFill>
                        </a:rPr>
                        <a:t> </a:t>
                      </a:r>
                      <a:r>
                        <a:rPr lang="en-US" sz="800" b="0" u="none" strike="noStrike" cap="none" dirty="0">
                          <a:solidFill>
                            <a:srgbClr val="C00000"/>
                          </a:solidFill>
                        </a:rPr>
                        <a:t> Req </a:t>
                      </a:r>
                      <a:r>
                        <a:rPr lang="en-US" sz="800" b="1" u="none" strike="noStrike" cap="none" dirty="0">
                          <a:solidFill>
                            <a:srgbClr val="C00000"/>
                          </a:solidFill>
                        </a:rPr>
                        <a:t>Pushback to Ramp</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3555956729"/>
              </p:ext>
            </p:extLst>
          </p:nvPr>
        </p:nvGraphicFramePr>
        <p:xfrm>
          <a:off x="-2501" y="16504"/>
          <a:ext cx="2328850" cy="66605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RPLL(MNL) 75ft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solidFill>
                            <a:schemeClr val="tx1"/>
                          </a:solidFill>
                        </a:rPr>
                        <a:t>PAGSS </a:t>
                      </a:r>
                      <a:r>
                        <a:rPr lang="en-US" sz="800" dirty="0" err="1">
                          <a:solidFill>
                            <a:schemeClr val="tx1"/>
                          </a:solidFill>
                        </a:rPr>
                        <a:t>Oper</a:t>
                      </a:r>
                      <a:r>
                        <a:rPr lang="en-US" sz="800" dirty="0">
                          <a:solidFill>
                            <a:schemeClr val="tx1"/>
                          </a:solidFill>
                        </a:rPr>
                        <a:t> 131.0</a:t>
                      </a:r>
                      <a:endParaRPr sz="1200" dirty="0">
                        <a:solidFill>
                          <a:schemeClr val="tx1"/>
                        </a:solidFill>
                      </a:endParaRPr>
                    </a:p>
                    <a:p>
                      <a:pPr marL="0" marR="0" lvl="0" indent="0" algn="ctr" rtl="0">
                        <a:spcBef>
                          <a:spcPts val="0"/>
                        </a:spcBef>
                        <a:spcAft>
                          <a:spcPts val="0"/>
                        </a:spcAft>
                        <a:buNone/>
                      </a:pPr>
                      <a:r>
                        <a:rPr lang="en-US" altLang="ko-KR" sz="700" dirty="0">
                          <a:solidFill>
                            <a:srgbClr val="FF0000"/>
                          </a:solidFill>
                        </a:rPr>
                        <a:t>-5min,</a:t>
                      </a:r>
                      <a:r>
                        <a:rPr lang="ko-KR" altLang="en-US" sz="700" dirty="0">
                          <a:solidFill>
                            <a:srgbClr val="FF0000"/>
                          </a:solidFill>
                        </a:rPr>
                        <a:t> </a:t>
                      </a:r>
                      <a:r>
                        <a:rPr lang="en-US" altLang="ko-KR" sz="700" dirty="0">
                          <a:solidFill>
                            <a:srgbClr val="FF0000"/>
                          </a:solidFill>
                        </a:rPr>
                        <a:t>CLR 125.1 By Voice</a:t>
                      </a:r>
                    </a:p>
                    <a:p>
                      <a:pPr marL="0" marR="0" lvl="0" indent="0" algn="ctr" rtl="0">
                        <a:spcBef>
                          <a:spcPts val="0"/>
                        </a:spcBef>
                        <a:spcAft>
                          <a:spcPts val="0"/>
                        </a:spcAft>
                        <a:buNone/>
                      </a:pPr>
                      <a:r>
                        <a:rPr lang="en-US" altLang="ko-KR" sz="700" dirty="0">
                          <a:solidFill>
                            <a:srgbClr val="FF0000"/>
                          </a:solidFill>
                        </a:rPr>
                        <a:t>Aircraft Type, Proposing ALT</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901089" y="2339711"/>
            <a:ext cx="1522810" cy="1017064"/>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a:t>
            </a:r>
            <a:r>
              <a:rPr kumimoji="1" lang="en-US" altLang="ko-KR" sz="700" b="1" u="sng" dirty="0">
                <a:solidFill>
                  <a:srgbClr val="0070C0"/>
                </a:solidFill>
                <a:latin typeface="Gulim" panose="020B0600000101010101" pitchFamily="34" charset="-127"/>
                <a:ea typeface="Gulim" panose="020B0600000101010101" pitchFamily="34" charset="-127"/>
              </a:rPr>
              <a:t>124.4(121.1)</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MNL </a:t>
            </a:r>
            <a:r>
              <a:rPr kumimoji="1" lang="en-US" altLang="ko-KR" sz="700" b="1" u="sng" dirty="0">
                <a:solidFill>
                  <a:srgbClr val="0070C0"/>
                </a:solidFill>
                <a:latin typeface="Gulim" panose="020B0600000101010101" pitchFamily="34" charset="-127"/>
                <a:ea typeface="Gulim" panose="020B0600000101010101" pitchFamily="34" charset="-127"/>
              </a:rPr>
              <a:t>128.7</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119.3</a:t>
            </a:r>
            <a:r>
              <a:rPr kumimoji="1" lang="en-US" altLang="ko-KR" sz="700" b="1" u="sng" dirty="0">
                <a:solidFill>
                  <a:srgbClr val="FF0000"/>
                </a:solidFill>
                <a:latin typeface="Gulim" panose="020B0600000101010101" pitchFamily="34" charset="-127"/>
                <a:ea typeface="Gulim" panose="020B0600000101010101" pitchFamily="34" charset="-127"/>
              </a:rPr>
              <a:t>(LEBIX ETA)</a:t>
            </a:r>
            <a:endParaRPr kumimoji="1" lang="en-US" altLang="ko-Kore-KR" sz="700" b="1" u="sng" dirty="0">
              <a:solidFill>
                <a:srgbClr val="FF000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 </a:t>
            </a:r>
            <a:r>
              <a:rPr kumimoji="1" lang="en-US" altLang="ko-KR" sz="700" b="1" u="sng" dirty="0">
                <a:solidFill>
                  <a:srgbClr val="0070C0"/>
                </a:solidFill>
                <a:latin typeface="Gulim" panose="020B0600000101010101" pitchFamily="34" charset="-127"/>
                <a:ea typeface="Gulim" panose="020B0600000101010101" pitchFamily="34" charset="-127"/>
              </a:rPr>
              <a:t>133.6</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125.72 - 124.52</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99BF2EA-C484-82B5-D698-2C4DFAE01B8A}"/>
              </a:ext>
            </a:extLst>
          </p:cNvPr>
          <p:cNvSpPr/>
          <p:nvPr/>
        </p:nvSpPr>
        <p:spPr>
          <a:xfrm>
            <a:off x="1469976" y="311245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9" name="그림 8" descr="텍스트, 라인, 도표, 폰트이(가) 표시된 사진&#10;&#10;자동 생성된 설명">
            <a:extLst>
              <a:ext uri="{FF2B5EF4-FFF2-40B4-BE49-F238E27FC236}">
                <a16:creationId xmlns:a16="http://schemas.microsoft.com/office/drawing/2014/main" id="{B005688E-5621-947C-9A52-94A084F0AE37}"/>
              </a:ext>
            </a:extLst>
          </p:cNvPr>
          <p:cNvPicPr>
            <a:picLocks noChangeAspect="1"/>
          </p:cNvPicPr>
          <p:nvPr/>
        </p:nvPicPr>
        <p:blipFill>
          <a:blip r:embed="rId6"/>
          <a:stretch>
            <a:fillRect/>
          </a:stretch>
        </p:blipFill>
        <p:spPr>
          <a:xfrm>
            <a:off x="-6734" y="2423260"/>
            <a:ext cx="993580" cy="464007"/>
          </a:xfrm>
          <a:prstGeom prst="rect">
            <a:avLst/>
          </a:prstGeom>
        </p:spPr>
      </p:pic>
      <p:sp>
        <p:nvSpPr>
          <p:cNvPr id="2" name="직사각형 1">
            <a:hlinkClick r:id="" action="ppaction://hlinkshowjump?jump=firstslide"/>
            <a:extLst>
              <a:ext uri="{FF2B5EF4-FFF2-40B4-BE49-F238E27FC236}">
                <a16:creationId xmlns:a16="http://schemas.microsoft.com/office/drawing/2014/main" id="{B363B5B1-8E7B-7609-6A41-4AC4F2531BE5}"/>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69884654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3162308"/>
            <a:ext cx="1338828"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a:t>
            </a:r>
            <a:r>
              <a:rPr kumimoji="1" lang="en-US" altLang="ko-Kore-KR" sz="700" b="1" u="sng" dirty="0">
                <a:solidFill>
                  <a:srgbClr val="0070C0"/>
                </a:solidFill>
                <a:latin typeface="Gulim" panose="020B0600000101010101" pitchFamily="34" charset="-127"/>
                <a:ea typeface="Gulim" panose="020B0600000101010101" pitchFamily="34" charset="-127"/>
              </a:rPr>
              <a:t>1</a:t>
            </a:r>
            <a:r>
              <a:rPr kumimoji="1" lang="en-US" altLang="ko-KR" sz="700" b="1" u="sng" dirty="0">
                <a:solidFill>
                  <a:srgbClr val="0070C0"/>
                </a:solidFill>
                <a:latin typeface="Gulim" panose="020B0600000101010101" pitchFamily="34" charset="-127"/>
                <a:ea typeface="Gulim" panose="020B0600000101010101" pitchFamily="34" charset="-127"/>
              </a:rPr>
              <a:t>28</a:t>
            </a:r>
            <a:r>
              <a:rPr kumimoji="1" lang="en-US" altLang="ko-Kore-KR" sz="700" b="1" u="sng" dirty="0">
                <a:solidFill>
                  <a:srgbClr val="0070C0"/>
                </a:solidFill>
                <a:latin typeface="Gulim" panose="020B0600000101010101" pitchFamily="34" charset="-127"/>
                <a:ea typeface="Gulim" panose="020B0600000101010101" pitchFamily="34" charset="-127"/>
              </a:rPr>
              <a:t>.</a:t>
            </a:r>
            <a:r>
              <a:rPr kumimoji="1" lang="en-US" altLang="ko-KR" sz="700" b="1" u="sng" dirty="0">
                <a:solidFill>
                  <a:srgbClr val="0070C0"/>
                </a:solidFill>
                <a:latin typeface="Gulim" panose="020B0600000101010101" pitchFamily="34" charset="-127"/>
                <a:ea typeface="Gulim" panose="020B0600000101010101" pitchFamily="34" charset="-127"/>
              </a:rPr>
              <a:t>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119.7</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130.1</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endParaRPr kumimoji="1" lang="en-US" altLang="ko-Kore-KR" sz="700" b="1" u="sng" dirty="0">
              <a:solidFill>
                <a:srgbClr val="0070C0"/>
              </a:solidFill>
              <a:latin typeface="Gulim" panose="020B0600000101010101" pitchFamily="34" charset="-127"/>
              <a:ea typeface="Gulim" panose="020B0600000101010101" pitchFamily="34" charset="-127"/>
            </a:endParaRPr>
          </a:p>
        </p:txBody>
      </p:sp>
      <p:graphicFrame>
        <p:nvGraphicFramePr>
          <p:cNvPr id="291" name="Google Shape;291;p18"/>
          <p:cNvGraphicFramePr/>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4225320391"/>
              </p:ext>
            </p:extLst>
          </p:nvPr>
        </p:nvGraphicFramePr>
        <p:xfrm>
          <a:off x="-2501" y="3771883"/>
          <a:ext cx="2327659" cy="1785143"/>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782392">
                  <a:extLst>
                    <a:ext uri="{9D8B030D-6E8A-4147-A177-3AD203B41FA5}">
                      <a16:colId xmlns:a16="http://schemas.microsoft.com/office/drawing/2014/main" val="20001"/>
                    </a:ext>
                  </a:extLst>
                </a:gridCol>
                <a:gridCol w="550869">
                  <a:extLst>
                    <a:ext uri="{9D8B030D-6E8A-4147-A177-3AD203B41FA5}">
                      <a16:colId xmlns:a16="http://schemas.microsoft.com/office/drawing/2014/main" val="502366202"/>
                    </a:ext>
                  </a:extLst>
                </a:gridCol>
                <a:gridCol w="118370">
                  <a:extLst>
                    <a:ext uri="{9D8B030D-6E8A-4147-A177-3AD203B41FA5}">
                      <a16:colId xmlns:a16="http://schemas.microsoft.com/office/drawing/2014/main" val="992510185"/>
                    </a:ext>
                  </a:extLst>
                </a:gridCol>
                <a:gridCol w="511481">
                  <a:extLst>
                    <a:ext uri="{9D8B030D-6E8A-4147-A177-3AD203B41FA5}">
                      <a16:colId xmlns:a16="http://schemas.microsoft.com/office/drawing/2014/main" val="2076907169"/>
                    </a:ext>
                  </a:extLst>
                </a:gridCol>
              </a:tblGrid>
              <a:tr h="250971">
                <a:tc gridSpan="5">
                  <a:txBody>
                    <a:bodyPr/>
                    <a:lstStyle/>
                    <a:p>
                      <a:pPr marL="0" marR="0" lvl="0" indent="0" algn="ctr" rtl="0">
                        <a:spcBef>
                          <a:spcPts val="0"/>
                        </a:spcBef>
                        <a:spcAft>
                          <a:spcPts val="0"/>
                        </a:spcAft>
                        <a:buNone/>
                      </a:pPr>
                      <a:r>
                        <a:rPr lang="en-US" sz="800" dirty="0"/>
                        <a:t>RMQ : No STAR TL130 </a:t>
                      </a:r>
                      <a:r>
                        <a:rPr lang="en-US" sz="800" dirty="0">
                          <a:solidFill>
                            <a:schemeClr val="accent4"/>
                          </a:solidFill>
                        </a:rPr>
                        <a:t>COPRA FL220</a:t>
                      </a:r>
                    </a:p>
                    <a:p>
                      <a:pPr marL="0" marR="0" lvl="0" indent="0" algn="ctr" rtl="0">
                        <a:spcBef>
                          <a:spcPts val="0"/>
                        </a:spcBef>
                        <a:spcAft>
                          <a:spcPts val="0"/>
                        </a:spcAft>
                        <a:buNone/>
                      </a:pPr>
                      <a:r>
                        <a:rPr lang="en-US" sz="800" b="1" dirty="0">
                          <a:solidFill>
                            <a:schemeClr val="accent4"/>
                          </a:solidFill>
                        </a:rPr>
                        <a:t>ILS Z 36 : HLG31 SPD Modify</a:t>
                      </a:r>
                      <a:endParaRP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2316">
                <a:tc>
                  <a:txBody>
                    <a:bodyPr/>
                    <a:lstStyle/>
                    <a:p>
                      <a:pPr marL="0" marR="0" lvl="0" indent="0" algn="ctr" rtl="0">
                        <a:spcBef>
                          <a:spcPts val="0"/>
                        </a:spcBef>
                        <a:spcAft>
                          <a:spcPts val="0"/>
                        </a:spcAft>
                        <a:buNone/>
                      </a:pPr>
                      <a:r>
                        <a:rPr lang="en-US" sz="800" b="1" dirty="0"/>
                        <a:t>18</a:t>
                      </a:r>
                      <a:endParaRPr sz="800" b="0" dirty="0"/>
                    </a:p>
                  </a:txBody>
                  <a:tcPr marL="36000" marR="36000" marT="36000" marB="36000" anchor="ctr"/>
                </a:tc>
                <a:tc rowSpan="2">
                  <a:txBody>
                    <a:bodyPr/>
                    <a:lstStyle/>
                    <a:p>
                      <a:pPr marL="0" marR="0" lvl="0" indent="0" algn="ctr" rtl="0">
                        <a:spcBef>
                          <a:spcPts val="0"/>
                        </a:spcBef>
                        <a:spcAft>
                          <a:spcPts val="0"/>
                        </a:spcAft>
                        <a:buNone/>
                      </a:pPr>
                      <a:r>
                        <a:rPr lang="en-US" sz="800" b="1" dirty="0"/>
                        <a:t>RDR Vector</a:t>
                      </a:r>
                      <a:endParaRPr lang="en-US" sz="700" b="1" dirty="0"/>
                    </a:p>
                  </a:txBody>
                  <a:tcPr marL="36000" marR="36000" marT="36000" marB="36000" anchor="ctr"/>
                </a:tc>
                <a:tc>
                  <a:txBody>
                    <a:bodyPr/>
                    <a:lstStyle/>
                    <a:p>
                      <a:pPr algn="ctr"/>
                      <a:r>
                        <a:rPr lang="en-US" altLang="ko-Kore-KR" sz="800" b="1" dirty="0"/>
                        <a:t>HLG</a:t>
                      </a:r>
                      <a:endParaRPr lang="ko-Kore-KR" altLang="en-US" dirty="0"/>
                    </a:p>
                  </a:txBody>
                  <a:tcPr marL="36000" marR="36000" marT="36000" marB="36000" anchor="ctr"/>
                </a:tc>
                <a:tc gridSpan="2">
                  <a:txBody>
                    <a:bodyPr/>
                    <a:lstStyle/>
                    <a:p>
                      <a:pPr marL="0" marR="0" lvl="0" indent="0" algn="ctr" rtl="0">
                        <a:spcBef>
                          <a:spcPts val="0"/>
                        </a:spcBef>
                        <a:spcAft>
                          <a:spcPts val="0"/>
                        </a:spcAft>
                        <a:buNone/>
                      </a:pPr>
                      <a:r>
                        <a:rPr lang="en-US" sz="800" b="1" dirty="0"/>
                        <a:t>ILS 18</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45153">
                <a:tc>
                  <a:txBody>
                    <a:bodyPr/>
                    <a:lstStyle/>
                    <a:p>
                      <a:pPr marL="0" marR="0" lvl="0" indent="0" algn="ctr" rtl="0">
                        <a:spcBef>
                          <a:spcPts val="0"/>
                        </a:spcBef>
                        <a:spcAft>
                          <a:spcPts val="0"/>
                        </a:spcAft>
                        <a:buNone/>
                      </a:pPr>
                      <a:r>
                        <a:rPr lang="en-US" altLang="ko-KR" sz="800" b="1" dirty="0"/>
                        <a:t>36</a:t>
                      </a:r>
                      <a:endParaRPr sz="800" b="0" dirty="0"/>
                    </a:p>
                  </a:txBody>
                  <a:tcPr marL="36000" marR="36000" marT="36000" marB="36000" anchor="ctr"/>
                </a:tc>
                <a:tc vMerge="1">
                  <a:txBody>
                    <a:bodyPr/>
                    <a:lstStyle/>
                    <a:p>
                      <a:pPr marL="0" marR="0" lvl="0" indent="0" algn="ctr" rtl="0">
                        <a:spcBef>
                          <a:spcPts val="0"/>
                        </a:spcBef>
                        <a:spcAft>
                          <a:spcPts val="0"/>
                        </a:spcAft>
                        <a:buNone/>
                      </a:pPr>
                      <a:endParaRPr lang="en-US" altLang="ko-Kore-KR" sz="800" b="1" dirty="0"/>
                    </a:p>
                  </a:txBody>
                  <a:tcPr marL="36000" marR="36000" marT="36000" marB="36000" anchor="ctr"/>
                </a:tc>
                <a:tc>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FATAN</a:t>
                      </a:r>
                    </a:p>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(ARROZ)</a:t>
                      </a:r>
                      <a:endParaRPr lang="ko-Kore-KR" altLang="en-US" dirty="0"/>
                    </a:p>
                  </a:txBody>
                  <a:tcPr marL="36000" marR="36000" marT="36000" marB="36000" anchor="ctr"/>
                </a:tc>
                <a:tc gridSpan="2">
                  <a:txBody>
                    <a:bodyPr/>
                    <a:lstStyle/>
                    <a:p>
                      <a:pPr algn="ctr"/>
                      <a:r>
                        <a:rPr lang="en-US" sz="800" b="1" dirty="0"/>
                        <a:t>ILS Z 36 </a:t>
                      </a:r>
                    </a:p>
                    <a:p>
                      <a:pPr algn="ctr"/>
                      <a:r>
                        <a:rPr lang="en-US" sz="800" b="1" dirty="0"/>
                        <a:t>(ILS Y 36</a:t>
                      </a:r>
                      <a:r>
                        <a:rPr lang="en-US" sz="800" b="0" dirty="0"/>
                        <a:t>)</a:t>
                      </a:r>
                      <a:endParaRPr lang="en-US" sz="800" b="1"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45153">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18(653’)</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12005’</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36(663’)</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5153">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0" dirty="0" err="1">
                          <a:solidFill>
                            <a:schemeClr val="tx1"/>
                          </a:solidFill>
                        </a:rPr>
                        <a:t>RWxx</a:t>
                      </a:r>
                      <a:r>
                        <a:rPr lang="en-US" sz="800" b="0" dirty="0">
                          <a:solidFill>
                            <a:schemeClr val="tx1"/>
                          </a:solidFill>
                        </a:rPr>
                        <a:t> /8</a:t>
                      </a:r>
                      <a:r>
                        <a:rPr lang="en-US" altLang="ko-KR" sz="800" b="0" dirty="0">
                          <a:solidFill>
                            <a:schemeClr val="tx1"/>
                          </a:solidFill>
                        </a:rPr>
                        <a:t> </a:t>
                      </a:r>
                      <a:endParaRPr sz="800" b="0" dirty="0">
                        <a:solidFill>
                          <a:schemeClr val="tx1"/>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3343174176"/>
                  </a:ext>
                </a:extLst>
              </a:tr>
              <a:tr h="236413">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18 : EOR(12005’),  36 : W5(8500’)</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45153">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E1~4, W1 for Military  </a:t>
                      </a: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tx1"/>
                          </a:solidFill>
                        </a:rPr>
                        <a:t>Follow Me Car on W, Report W3 Intersection</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377824502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200" dirty="0">
                          <a:solidFill>
                            <a:schemeClr val="bg1"/>
                          </a:solidFill>
                          <a:hlinkClick r:id="rId4">
                            <a:extLst>
                              <a:ext uri="{A12FA001-AC4F-418D-AE19-62706E023703}">
                                <ahyp:hlinkClr xmlns:ahyp="http://schemas.microsoft.com/office/drawing/2018/hyperlinkcolor" val="tx"/>
                              </a:ext>
                            </a:extLst>
                          </a:hlinkClick>
                        </a:rPr>
                        <a:t>RCMQ(RMQ)</a:t>
                      </a:r>
                      <a:r>
                        <a:rPr lang="en-US" altLang="ko-Kore-KR" sz="1200" dirty="0">
                          <a:solidFill>
                            <a:srgbClr val="FF0000"/>
                          </a:solidFill>
                          <a:hlinkClick r:id="rId4">
                            <a:extLst>
                              <a:ext uri="{A12FA001-AC4F-418D-AE19-62706E023703}">
                                <ahyp:hlinkClr xmlns:ahyp="http://schemas.microsoft.com/office/drawing/2018/hyperlinkcolor" val="tx"/>
                              </a:ext>
                            </a:extLst>
                          </a:hlinkClick>
                        </a:rPr>
                        <a:t>665ft</a:t>
                      </a:r>
                      <a:endParaRPr lang="en-US" altLang="ko-Kore-KR" sz="1300" dirty="0">
                        <a:solidFill>
                          <a:srgbClr val="FF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Mandarin Operation 131.85/95</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8BFDA17-699D-A0C3-A1F6-B1CDE98B3DE3}"/>
              </a:ext>
            </a:extLst>
          </p:cNvPr>
          <p:cNvSpPr/>
          <p:nvPr/>
        </p:nvSpPr>
        <p:spPr>
          <a:xfrm>
            <a:off x="1469976" y="342603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24277"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11443223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886744170"/>
              </p:ext>
            </p:extLst>
          </p:nvPr>
        </p:nvGraphicFramePr>
        <p:xfrm>
          <a:off x="-4046" y="689875"/>
          <a:ext cx="2347194" cy="1376890"/>
        </p:xfrm>
        <a:graphic>
          <a:graphicData uri="http://schemas.openxmlformats.org/drawingml/2006/table">
            <a:tbl>
              <a:tblPr firstRow="1" bandRow="1">
                <a:noFill/>
                <a:tableStyleId>{A521BE36-7E6F-4EC9-8D66-1CF97A6895EC}</a:tableStyleId>
              </a:tblPr>
              <a:tblGrid>
                <a:gridCol w="335409">
                  <a:extLst>
                    <a:ext uri="{9D8B030D-6E8A-4147-A177-3AD203B41FA5}">
                      <a16:colId xmlns:a16="http://schemas.microsoft.com/office/drawing/2014/main" val="20000"/>
                    </a:ext>
                  </a:extLst>
                </a:gridCol>
                <a:gridCol w="771753">
                  <a:extLst>
                    <a:ext uri="{9D8B030D-6E8A-4147-A177-3AD203B41FA5}">
                      <a16:colId xmlns:a16="http://schemas.microsoft.com/office/drawing/2014/main" val="20002"/>
                    </a:ext>
                  </a:extLst>
                </a:gridCol>
                <a:gridCol w="288612">
                  <a:extLst>
                    <a:ext uri="{9D8B030D-6E8A-4147-A177-3AD203B41FA5}">
                      <a16:colId xmlns:a16="http://schemas.microsoft.com/office/drawing/2014/main" val="20005"/>
                    </a:ext>
                  </a:extLst>
                </a:gridCol>
                <a:gridCol w="337023">
                  <a:extLst>
                    <a:ext uri="{9D8B030D-6E8A-4147-A177-3AD203B41FA5}">
                      <a16:colId xmlns:a16="http://schemas.microsoft.com/office/drawing/2014/main" val="20006"/>
                    </a:ext>
                  </a:extLst>
                </a:gridCol>
                <a:gridCol w="325783">
                  <a:extLst>
                    <a:ext uri="{9D8B030D-6E8A-4147-A177-3AD203B41FA5}">
                      <a16:colId xmlns:a16="http://schemas.microsoft.com/office/drawing/2014/main" val="20008"/>
                    </a:ext>
                  </a:extLst>
                </a:gridCol>
                <a:gridCol w="288614">
                  <a:extLst>
                    <a:ext uri="{9D8B030D-6E8A-4147-A177-3AD203B41FA5}">
                      <a16:colId xmlns:a16="http://schemas.microsoft.com/office/drawing/2014/main" val="448940902"/>
                    </a:ext>
                  </a:extLst>
                </a:gridCol>
              </a:tblGrid>
              <a:tr h="0">
                <a:tc gridSpan="6">
                  <a:txBody>
                    <a:bodyPr/>
                    <a:lstStyle/>
                    <a:p>
                      <a:pPr marL="0" marR="0" lvl="0" indent="0" algn="ctr" rtl="0">
                        <a:spcBef>
                          <a:spcPts val="0"/>
                        </a:spcBef>
                        <a:spcAft>
                          <a:spcPts val="0"/>
                        </a:spcAft>
                        <a:buNone/>
                      </a:pPr>
                      <a:r>
                        <a:rPr lang="en-US" sz="800" u="none" strike="noStrike" cap="none" dirty="0"/>
                        <a:t>RMQ : SID (NADP 1) TA 11000</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18</a:t>
                      </a:r>
                      <a:endParaRPr lang="en-US" sz="800" b="0" u="none" strike="noStrike" cap="none" dirty="0"/>
                    </a:p>
                  </a:txBody>
                  <a:tcPr marL="36000" marR="36000" marT="36000" marB="36000" anchor="ctr"/>
                </a:tc>
                <a:tc>
                  <a:txBody>
                    <a:bodyPr/>
                    <a:lstStyle/>
                    <a:p>
                      <a:pPr algn="ctr"/>
                      <a:r>
                        <a:rPr lang="en-US" sz="700" b="1" u="none" strike="noStrike" cap="none" dirty="0">
                          <a:solidFill>
                            <a:srgbClr val="0070C0"/>
                          </a:solidFill>
                        </a:rPr>
                        <a:t>HLG </a:t>
                      </a:r>
                      <a:r>
                        <a:rPr lang="en-US" sz="700" b="1" u="none" strike="noStrike" cap="none" dirty="0" err="1">
                          <a:solidFill>
                            <a:srgbClr val="0070C0"/>
                          </a:solidFill>
                        </a:rPr>
                        <a:t>xA</a:t>
                      </a:r>
                      <a:r>
                        <a:rPr lang="en-US" sz="700" b="1" u="none" strike="noStrike" cap="none" dirty="0">
                          <a:solidFill>
                            <a:srgbClr val="0070C0"/>
                          </a:solidFill>
                        </a:rPr>
                        <a:t> (SPRAY </a:t>
                      </a:r>
                      <a:r>
                        <a:rPr lang="en-US" sz="700" b="1" u="none" strike="noStrike" cap="none" dirty="0" err="1">
                          <a:solidFill>
                            <a:srgbClr val="0070C0"/>
                          </a:solidFill>
                        </a:rPr>
                        <a:t>xS</a:t>
                      </a:r>
                      <a:r>
                        <a:rPr lang="en-US" sz="700" b="1" u="none" strike="noStrike" cap="none" dirty="0">
                          <a:solidFill>
                            <a:srgbClr val="0070C0"/>
                          </a:solidFill>
                        </a:rPr>
                        <a:t>)</a:t>
                      </a:r>
                      <a:endParaRPr lang="ko-Kore-KR" sz="1200" dirty="0"/>
                    </a:p>
                  </a:txBody>
                  <a:tcPr marL="36000" marR="36000" marT="36000" marB="36000" anchor="ctr"/>
                </a:tc>
                <a:tc>
                  <a:txBody>
                    <a:bodyPr/>
                    <a:lstStyle/>
                    <a:p>
                      <a:pPr algn="ctr"/>
                      <a:r>
                        <a:rPr lang="en-US" altLang="ko-Kore-KR" sz="800" b="1" u="none" strike="noStrike" cap="none" dirty="0">
                          <a:solidFill>
                            <a:srgbClr val="C00000"/>
                          </a:solidFill>
                        </a:rPr>
                        <a:t>181</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181</a:t>
                      </a:r>
                      <a:endParaRPr sz="800" b="1" u="none" strike="noStrike" cap="none" dirty="0"/>
                    </a:p>
                  </a:txBody>
                  <a:tcPr marL="36000" marR="36000" marT="36000" marB="36000" anchor="ctr"/>
                </a:tc>
                <a:tc rowSpan="2">
                  <a:txBody>
                    <a:bodyPr/>
                    <a:lstStyle/>
                    <a:p>
                      <a:pPr marL="0" marR="0" lvl="0" indent="0" algn="ctr" rtl="0">
                        <a:spcBef>
                          <a:spcPts val="0"/>
                        </a:spcBef>
                        <a:spcAft>
                          <a:spcPts val="0"/>
                        </a:spcAft>
                        <a:buNone/>
                      </a:pPr>
                      <a:r>
                        <a:rPr lang="en-US" sz="800" b="1" u="none" strike="noStrike" cap="none" dirty="0">
                          <a:solidFill>
                            <a:srgbClr val="0070C0"/>
                          </a:solidFill>
                        </a:rPr>
                        <a:t>ATC</a:t>
                      </a:r>
                    </a:p>
                    <a:p>
                      <a:pPr marL="0" marR="0" lvl="0" indent="0" algn="ctr" rtl="0">
                        <a:spcBef>
                          <a:spcPts val="0"/>
                        </a:spcBef>
                        <a:spcAft>
                          <a:spcPts val="0"/>
                        </a:spcAft>
                        <a:buNone/>
                      </a:pPr>
                      <a:r>
                        <a:rPr lang="en-US" sz="800" b="1" u="none" strike="noStrike" cap="none" dirty="0">
                          <a:solidFill>
                            <a:srgbClr val="0070C0"/>
                          </a:solidFill>
                        </a:rPr>
                        <a:t>7000</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181</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36</a:t>
                      </a:r>
                      <a:endParaRPr sz="800" b="0" u="none" strike="noStrike" cap="none" dirty="0"/>
                    </a:p>
                  </a:txBody>
                  <a:tcPr marL="36000" marR="36000" marT="36000" marB="36000" anchor="ctr"/>
                </a:tc>
                <a:tc>
                  <a:txBody>
                    <a:bodyPr/>
                    <a:lstStyle/>
                    <a:p>
                      <a:pPr algn="ctr"/>
                      <a:r>
                        <a:rPr lang="en-US" altLang="ko-Kore-KR" sz="700" b="1" u="none" strike="noStrike" cap="none" dirty="0">
                          <a:solidFill>
                            <a:srgbClr val="0070C0"/>
                          </a:solidFill>
                        </a:rPr>
                        <a:t>HLG </a:t>
                      </a:r>
                      <a:r>
                        <a:rPr lang="en-US" altLang="ko-Kore-KR" sz="700" b="1" u="none" strike="noStrike" cap="none" dirty="0" err="1">
                          <a:solidFill>
                            <a:srgbClr val="0070C0"/>
                          </a:solidFill>
                        </a:rPr>
                        <a:t>xB</a:t>
                      </a:r>
                      <a:r>
                        <a:rPr lang="en-US" altLang="ko-Kore-KR" sz="700" b="1" u="none" strike="noStrike" cap="none" dirty="0">
                          <a:solidFill>
                            <a:srgbClr val="0070C0"/>
                          </a:solidFill>
                        </a:rPr>
                        <a:t> (SPRAY </a:t>
                      </a:r>
                      <a:r>
                        <a:rPr lang="en-US" altLang="ko-Kore-KR" sz="700" b="1" u="none" strike="noStrike" cap="none" dirty="0" err="1">
                          <a:solidFill>
                            <a:srgbClr val="0070C0"/>
                          </a:solidFill>
                        </a:rPr>
                        <a:t>xT</a:t>
                      </a:r>
                      <a:r>
                        <a:rPr lang="en-US" altLang="ko-Kore-KR" sz="700" b="1" u="none" strike="noStrike" cap="none" dirty="0">
                          <a:solidFill>
                            <a:srgbClr val="0070C0"/>
                          </a:solidFill>
                        </a:rPr>
                        <a:t>)</a:t>
                      </a:r>
                      <a:endParaRPr lang="ko-Kore-KR" sz="1200" dirty="0"/>
                    </a:p>
                  </a:txBody>
                  <a:tcPr marL="36000" marR="36000" marT="36000" marB="36000" anchor="ctr"/>
                </a:tc>
                <a:tc>
                  <a:txBody>
                    <a:bodyPr/>
                    <a:lstStyle/>
                    <a:p>
                      <a:pPr algn="ctr"/>
                      <a:r>
                        <a:rPr lang="en-US" altLang="ko-Kore-KR" sz="800" b="1" u="none" strike="noStrike" cap="none" dirty="0">
                          <a:solidFill>
                            <a:srgbClr val="C00000"/>
                          </a:solidFill>
                        </a:rPr>
                        <a:t>001</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001</a:t>
                      </a:r>
                      <a:endParaRPr sz="800" b="1" u="none" strike="noStrike" cap="none" dirty="0"/>
                    </a:p>
                  </a:txBody>
                  <a:tcPr marL="36000" marR="36000" marT="36000" marB="36000" anchor="ctr"/>
                </a:tc>
                <a:tc vMerge="1">
                  <a:txBody>
                    <a:bodyPr/>
                    <a:lstStyle/>
                    <a:p>
                      <a:endParaRPr dirty="0"/>
                    </a:p>
                  </a:txBody>
                  <a:tcPr marL="36000" marR="36000" marT="36000" marB="36000" anchor="ctr"/>
                </a:tc>
                <a:tc>
                  <a:txBody>
                    <a:bodyPr/>
                    <a:lstStyle/>
                    <a:p>
                      <a:pPr algn="ctr"/>
                      <a:r>
                        <a:rPr lang="en-US" altLang="ko-Kore-KR" sz="800" b="1" u="none" strike="noStrike" cap="none" dirty="0">
                          <a:solidFill>
                            <a:srgbClr val="C00000"/>
                          </a:solidFill>
                        </a:rPr>
                        <a:t>001</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18 111.7</a:t>
                      </a:r>
                    </a:p>
                  </a:txBody>
                  <a:tcPr marL="36000" marR="36000" marT="36000" marB="36000" anchor="ctr"/>
                </a:tc>
                <a:tc hMerge="1">
                  <a:txBody>
                    <a:bodyPr/>
                    <a:lstStyle/>
                    <a:p>
                      <a:endParaRPr lang="ko-Kore-KR"/>
                    </a:p>
                  </a:txBody>
                  <a:tcPr/>
                </a:tc>
                <a:tc gridSpan="4">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36 111.5</a:t>
                      </a:r>
                    </a:p>
                  </a:txBody>
                  <a:tcPr marL="36000" marR="36000" marT="36000" marB="36000" anchor="ctr"/>
                </a:tc>
                <a:tc hMerge="1">
                  <a:txBody>
                    <a:bodyPr/>
                    <a:lstStyle/>
                    <a:p>
                      <a:endParaRPr lang="ko-Kore-KR"/>
                    </a:p>
                  </a:txBody>
                  <a:tcPr/>
                </a:tc>
                <a:tc hMerge="1">
                  <a:txBody>
                    <a:bodyPr/>
                    <a:lstStyle/>
                    <a:p>
                      <a:endParaRPr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18(653’)</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gridSpan="2">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12005</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36(663’)</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EO</a:t>
                      </a:r>
                      <a:endParaRPr sz="800" u="none" strike="noStrike" cap="none" dirty="0">
                        <a:solidFill>
                          <a:schemeClr val="lt1"/>
                        </a:solidFill>
                      </a:endParaRPr>
                    </a:p>
                  </a:txBody>
                  <a:tcPr marL="36000" marR="36000" marT="36000" marB="36000" anchor="ctr">
                    <a:solidFill>
                      <a:schemeClr val="accent1"/>
                    </a:solidFill>
                  </a:tcPr>
                </a:tc>
                <a:tc gridSpan="5">
                  <a:txBody>
                    <a:bodyPr/>
                    <a:lstStyle/>
                    <a:p>
                      <a:pPr marL="0" marR="0" lvl="0" indent="0" algn="l" rtl="0">
                        <a:lnSpc>
                          <a:spcPct val="100000"/>
                        </a:lnSpc>
                        <a:spcBef>
                          <a:spcPts val="0"/>
                        </a:spcBef>
                        <a:spcAft>
                          <a:spcPts val="0"/>
                        </a:spcAft>
                        <a:buClr>
                          <a:srgbClr val="00B050"/>
                        </a:buClr>
                        <a:buSzPts val="800"/>
                        <a:buFont typeface="Calibri"/>
                        <a:buNone/>
                      </a:pPr>
                      <a:r>
                        <a:rPr lang="en-US" sz="800" b="0" u="none" strike="noStrike" cap="none" dirty="0">
                          <a:solidFill>
                            <a:schemeClr val="tx1"/>
                          </a:solidFill>
                          <a:latin typeface="Calibri"/>
                          <a:ea typeface="Calibri"/>
                          <a:cs typeface="Calibri"/>
                          <a:sym typeface="Calibri"/>
                        </a:rPr>
                        <a:t>18 : TCK 181/7, R270</a:t>
                      </a:r>
                    </a:p>
                  </a:txBody>
                  <a:tcPr marL="36000" marR="36000" marT="36000" marB="36000" anchor="ctr"/>
                </a:tc>
                <a:tc hMerge="1">
                  <a:txBody>
                    <a:bodyPr/>
                    <a:lstStyle/>
                    <a:p>
                      <a:pPr marL="0" marR="0" lvl="0" indent="0" algn="ctr" rtl="0">
                        <a:spcBef>
                          <a:spcPts val="0"/>
                        </a:spcBef>
                        <a:spcAft>
                          <a:spcPts val="0"/>
                        </a:spcAft>
                        <a:buNone/>
                      </a:pP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pPr marL="0" marR="0" lvl="0" indent="0" algn="ctr" rtl="0">
                        <a:spcBef>
                          <a:spcPts val="0"/>
                        </a:spcBef>
                        <a:spcAft>
                          <a:spcPts val="0"/>
                        </a:spcAft>
                        <a:buNone/>
                      </a:pPr>
                      <a:endParaRPr lang="en-US"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780062539"/>
                  </a:ext>
                </a:extLst>
              </a:tr>
              <a:tr h="115700">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ATC CLR after </a:t>
                      </a:r>
                      <a:r>
                        <a:rPr lang="en-US" sz="800" b="1" u="none" strike="noStrike" cap="none" dirty="0" err="1">
                          <a:solidFill>
                            <a:srgbClr val="0070C0"/>
                          </a:solidFill>
                        </a:rPr>
                        <a:t>PushBack</a:t>
                      </a:r>
                      <a:r>
                        <a:rPr lang="en-US" sz="800" b="1" u="none" strike="noStrike" cap="none" dirty="0">
                          <a:solidFill>
                            <a:srgbClr val="0070C0"/>
                          </a:solidFill>
                        </a:rPr>
                        <a:t>, Report W3 Intersection</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146817655"/>
              </p:ext>
            </p:extLst>
          </p:nvPr>
        </p:nvGraphicFramePr>
        <p:xfrm>
          <a:off x="-2501" y="16504"/>
          <a:ext cx="2328850" cy="68129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200" dirty="0">
                          <a:solidFill>
                            <a:schemeClr val="bg1"/>
                          </a:solidFill>
                          <a:hlinkClick r:id="rId3">
                            <a:extLst>
                              <a:ext uri="{A12FA001-AC4F-418D-AE19-62706E023703}">
                                <ahyp:hlinkClr xmlns:ahyp="http://schemas.microsoft.com/office/drawing/2018/hyperlinkcolor" val="tx"/>
                              </a:ext>
                            </a:extLst>
                          </a:hlinkClick>
                        </a:rPr>
                        <a:t>RCMQ(RMQ)</a:t>
                      </a:r>
                      <a:r>
                        <a:rPr lang="en-US" altLang="ko-Kore-KR" sz="1200" dirty="0">
                          <a:solidFill>
                            <a:srgbClr val="FF0000"/>
                          </a:solidFill>
                          <a:hlinkClick r:id="rId3">
                            <a:extLst>
                              <a:ext uri="{A12FA001-AC4F-418D-AE19-62706E023703}">
                                <ahyp:hlinkClr xmlns:ahyp="http://schemas.microsoft.com/office/drawing/2018/hyperlinkcolor" val="tx"/>
                              </a:ext>
                            </a:extLst>
                          </a:hlinkClick>
                        </a:rPr>
                        <a:t>665ft</a:t>
                      </a:r>
                      <a:endParaRPr lang="en-US" altLang="ko-Kore-KR" sz="1300" dirty="0">
                        <a:solidFill>
                          <a:srgbClr val="FF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err="1"/>
                        <a:t>Madarin</a:t>
                      </a:r>
                      <a:r>
                        <a:rPr lang="en-US" sz="800" dirty="0"/>
                        <a:t> Operation </a:t>
                      </a:r>
                    </a:p>
                    <a:p>
                      <a:pPr marL="0" marR="0" lvl="0" indent="0" algn="ctr" rtl="0">
                        <a:spcBef>
                          <a:spcPts val="0"/>
                        </a:spcBef>
                        <a:spcAft>
                          <a:spcPts val="0"/>
                        </a:spcAft>
                        <a:buNone/>
                      </a:pPr>
                      <a:r>
                        <a:rPr lang="en-US" sz="800" dirty="0"/>
                        <a:t>131.85/95</a:t>
                      </a:r>
                      <a:endParaRPr sz="1200" dirty="0"/>
                    </a:p>
                    <a:p>
                      <a:pPr marL="0" marR="0" lvl="0" indent="0" algn="ctr" rtl="0">
                        <a:spcBef>
                          <a:spcPts val="0"/>
                        </a:spcBef>
                        <a:spcAft>
                          <a:spcPts val="0"/>
                        </a:spcAft>
                        <a:buNone/>
                      </a:pPr>
                      <a:r>
                        <a:rPr lang="en-US" altLang="ko-KR" sz="700" dirty="0">
                          <a:solidFill>
                            <a:srgbClr val="FF0000"/>
                          </a:solidFill>
                        </a:rPr>
                        <a:t>Voice to GND</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1166590" y="2223843"/>
            <a:ext cx="1213794"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TWR 118.75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APP 130.1 – 119.7</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3F13AC3-0D74-CEBB-7100-2629A32A1FE4}"/>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912590"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9" name="그림 8" descr="텍스트, 폰트, 도표, 라인이(가) 표시된 사진&#10;&#10;자동 생성된 설명">
            <a:extLst>
              <a:ext uri="{FF2B5EF4-FFF2-40B4-BE49-F238E27FC236}">
                <a16:creationId xmlns:a16="http://schemas.microsoft.com/office/drawing/2014/main" id="{B1A74796-EF8E-5C5F-D7DE-4AA33B5D8BF5}"/>
              </a:ext>
            </a:extLst>
          </p:cNvPr>
          <p:cNvPicPr>
            <a:picLocks noChangeAspect="1"/>
          </p:cNvPicPr>
          <p:nvPr/>
        </p:nvPicPr>
        <p:blipFill>
          <a:blip r:embed="rId7"/>
          <a:stretch>
            <a:fillRect/>
          </a:stretch>
        </p:blipFill>
        <p:spPr>
          <a:xfrm>
            <a:off x="0" y="2093371"/>
            <a:ext cx="1040674" cy="876749"/>
          </a:xfrm>
          <a:prstGeom prst="rect">
            <a:avLst/>
          </a:prstGeom>
        </p:spPr>
      </p:pic>
    </p:spTree>
    <p:extLst>
      <p:ext uri="{BB962C8B-B14F-4D97-AF65-F5344CB8AC3E}">
        <p14:creationId xmlns:p14="http://schemas.microsoft.com/office/powerpoint/2010/main" val="57623583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3162308"/>
            <a:ext cx="1213794"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a:t>
            </a:r>
            <a:r>
              <a:rPr kumimoji="1" lang="en-US" altLang="ko-Kore-KR" sz="700" b="1" u="sng" dirty="0">
                <a:solidFill>
                  <a:srgbClr val="0070C0"/>
                </a:solidFill>
                <a:latin typeface="Gulim" panose="020B0600000101010101" pitchFamily="34" charset="-127"/>
                <a:ea typeface="Gulim" panose="020B0600000101010101" pitchFamily="34" charset="-127"/>
              </a:rPr>
              <a:t>128.5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125.6</a:t>
            </a:r>
          </a:p>
        </p:txBody>
      </p:sp>
      <p:graphicFrame>
        <p:nvGraphicFramePr>
          <p:cNvPr id="291" name="Google Shape;291;p18"/>
          <p:cNvGraphicFramePr/>
          <p:nvPr>
            <p:extLst>
              <p:ext uri="{D42A27DB-BD31-4B8C-83A1-F6EECF244321}">
                <p14:modId xmlns:p14="http://schemas.microsoft.com/office/powerpoint/2010/main" val="3329093741"/>
              </p:ext>
            </p:extLst>
          </p:nvPr>
        </p:nvGraphicFramePr>
        <p:xfrm>
          <a:off x="0" y="635155"/>
          <a:ext cx="2332925" cy="2560210"/>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xA</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333</a:t>
                      </a:r>
                      <a:endParaRPr sz="458" b="1"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xY</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dirty="0">
                          <a:solidFill>
                            <a:srgbClr val="C00000"/>
                          </a:solidFill>
                        </a:rPr>
                        <a:t>333</a:t>
                      </a:r>
                      <a:endParaRPr sz="458" dirty="0">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BOPTA </a:t>
                      </a:r>
                      <a:r>
                        <a:rPr lang="en-US" sz="800" b="1" dirty="0" err="1">
                          <a:solidFill>
                            <a:srgbClr val="0070C0"/>
                          </a:solidFill>
                        </a:rPr>
                        <a:t>xC</a:t>
                      </a:r>
                      <a:endParaRPr sz="800"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dirty="0"/>
                        <a:t>BOPTA </a:t>
                      </a:r>
                      <a:r>
                        <a:rPr lang="en-US" sz="800" dirty="0" err="1"/>
                        <a:t>xH</a:t>
                      </a:r>
                      <a:endParaRPr sz="800"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NCN</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113.8</a:t>
                      </a:r>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33L </a:t>
                      </a:r>
                      <a:endParaRPr/>
                    </a:p>
                    <a:p>
                      <a:pPr marL="0" marR="0" lvl="0" indent="0" algn="ctr" rtl="0">
                        <a:spcBef>
                          <a:spcPts val="0"/>
                        </a:spcBef>
                        <a:spcAft>
                          <a:spcPts val="0"/>
                        </a:spcAft>
                        <a:buNone/>
                      </a:pPr>
                      <a:r>
                        <a:rPr lang="en-US" sz="800" b="1">
                          <a:solidFill>
                            <a:srgbClr val="C00000"/>
                          </a:solidFill>
                        </a:rPr>
                        <a:t>109.3</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33R</a:t>
                      </a:r>
                      <a:endParaRPr/>
                    </a:p>
                    <a:p>
                      <a:pPr marL="0" marR="0" lvl="0" indent="0" algn="ctr" rtl="0">
                        <a:spcBef>
                          <a:spcPts val="0"/>
                        </a:spcBef>
                        <a:spcAft>
                          <a:spcPts val="0"/>
                        </a:spcAft>
                        <a:buNone/>
                      </a:pPr>
                      <a:r>
                        <a:rPr lang="en-US" sz="800" b="1">
                          <a:solidFill>
                            <a:srgbClr val="C00000"/>
                          </a:solidFill>
                        </a:rPr>
                        <a:t>108.9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15L 111.9</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16R</a:t>
                      </a:r>
                      <a:endParaRPr/>
                    </a:p>
                    <a:p>
                      <a:pPr marL="0" marR="0" lvl="0" indent="0" algn="ctr" rtl="0">
                        <a:spcBef>
                          <a:spcPts val="0"/>
                        </a:spcBef>
                        <a:spcAft>
                          <a:spcPts val="0"/>
                        </a:spcAft>
                        <a:buNone/>
                      </a:pPr>
                      <a:r>
                        <a:rPr lang="en-US" sz="800" b="1">
                          <a:solidFill>
                            <a:srgbClr val="C00000"/>
                          </a:solidFill>
                        </a:rPr>
                        <a:t>108.55</a:t>
                      </a:r>
                      <a:endParaRPr sz="800" b="1">
                        <a:solidFill>
                          <a:srgbClr val="C00000"/>
                        </a:solidFill>
                      </a:endParaRPr>
                    </a:p>
                  </a:txBody>
                  <a:tcPr marL="36000" marR="36000" marT="36000" marB="3600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a:t>33L/R : NC05L/R, R242</a:t>
                      </a:r>
                      <a:endParaRPr/>
                    </a:p>
                    <a:p>
                      <a:pPr marL="0" marR="0" lvl="0" indent="0" algn="ctr" rtl="0">
                        <a:lnSpc>
                          <a:spcPct val="100000"/>
                        </a:lnSpc>
                        <a:spcBef>
                          <a:spcPts val="0"/>
                        </a:spcBef>
                        <a:spcAft>
                          <a:spcPts val="0"/>
                        </a:spcAft>
                        <a:buClr>
                          <a:schemeClr val="dk1"/>
                        </a:buClr>
                        <a:buSzPts val="800"/>
                        <a:buFont typeface="Calibri"/>
                        <a:buNone/>
                      </a:pPr>
                      <a:r>
                        <a:rPr lang="en-US" sz="800"/>
                        <a:t>YJU R271</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33L/R 34L(23’)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12303’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15L/R 16R(23’)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13123’</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a:solidFill>
                            <a:srgbClr val="00B050"/>
                          </a:solidFill>
                          <a:latin typeface="Calibri"/>
                          <a:ea typeface="Calibri"/>
                          <a:cs typeface="Calibri"/>
                          <a:sym typeface="Calibri"/>
                        </a:rPr>
                        <a:t>16L (23’)</a:t>
                      </a:r>
                      <a:endParaRPr sz="458">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92" name="Google Shape;292;p18"/>
          <p:cNvGraphicFramePr/>
          <p:nvPr>
            <p:extLst>
              <p:ext uri="{D42A27DB-BD31-4B8C-83A1-F6EECF244321}">
                <p14:modId xmlns:p14="http://schemas.microsoft.com/office/powerpoint/2010/main" val="4114335148"/>
              </p:ext>
            </p:extLst>
          </p:nvPr>
        </p:nvGraphicFramePr>
        <p:xfrm>
          <a:off x="-2501" y="3874835"/>
          <a:ext cx="2327659" cy="1620730"/>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782392">
                  <a:extLst>
                    <a:ext uri="{9D8B030D-6E8A-4147-A177-3AD203B41FA5}">
                      <a16:colId xmlns:a16="http://schemas.microsoft.com/office/drawing/2014/main" val="20001"/>
                    </a:ext>
                  </a:extLst>
                </a:gridCol>
                <a:gridCol w="199164">
                  <a:extLst>
                    <a:ext uri="{9D8B030D-6E8A-4147-A177-3AD203B41FA5}">
                      <a16:colId xmlns:a16="http://schemas.microsoft.com/office/drawing/2014/main" val="502366202"/>
                    </a:ext>
                  </a:extLst>
                </a:gridCol>
                <a:gridCol w="351705">
                  <a:extLst>
                    <a:ext uri="{9D8B030D-6E8A-4147-A177-3AD203B41FA5}">
                      <a16:colId xmlns:a16="http://schemas.microsoft.com/office/drawing/2014/main" val="1226482719"/>
                    </a:ext>
                  </a:extLst>
                </a:gridCol>
                <a:gridCol w="118370">
                  <a:extLst>
                    <a:ext uri="{9D8B030D-6E8A-4147-A177-3AD203B41FA5}">
                      <a16:colId xmlns:a16="http://schemas.microsoft.com/office/drawing/2014/main" val="992510185"/>
                    </a:ext>
                  </a:extLst>
                </a:gridCol>
                <a:gridCol w="511481">
                  <a:extLst>
                    <a:ext uri="{9D8B030D-6E8A-4147-A177-3AD203B41FA5}">
                      <a16:colId xmlns:a16="http://schemas.microsoft.com/office/drawing/2014/main" val="2076907169"/>
                    </a:ext>
                  </a:extLst>
                </a:gridCol>
              </a:tblGrid>
              <a:tr h="250971">
                <a:tc gridSpan="6">
                  <a:txBody>
                    <a:bodyPr/>
                    <a:lstStyle/>
                    <a:p>
                      <a:pPr marL="0" marR="0" lvl="0" indent="0" algn="ctr" rtl="0">
                        <a:spcBef>
                          <a:spcPts val="0"/>
                        </a:spcBef>
                        <a:spcAft>
                          <a:spcPts val="0"/>
                        </a:spcAft>
                        <a:buNone/>
                      </a:pPr>
                      <a:r>
                        <a:rPr lang="en-US" sz="800" dirty="0"/>
                        <a:t>TPE : STAR TL130 </a:t>
                      </a:r>
                      <a:r>
                        <a:rPr lang="en-US" sz="800" dirty="0">
                          <a:solidFill>
                            <a:schemeClr val="accent4"/>
                          </a:solidFill>
                        </a:rPr>
                        <a:t>COPRA FL200 (</a:t>
                      </a:r>
                      <a:r>
                        <a:rPr lang="en-US" sz="800" b="0" dirty="0">
                          <a:solidFill>
                            <a:srgbClr val="FFC000"/>
                          </a:solidFill>
                        </a:rPr>
                        <a:t>FL250-130 : 280kts, FL130-10000ft : Max 280kts, APP Chart Text)</a:t>
                      </a:r>
                      <a:endParaRP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82316">
                <a:tc>
                  <a:txBody>
                    <a:bodyPr/>
                    <a:lstStyle/>
                    <a:p>
                      <a:pPr marL="0" marR="0" lvl="0" indent="0" algn="ctr" rtl="0">
                        <a:spcBef>
                          <a:spcPts val="0"/>
                        </a:spcBef>
                        <a:spcAft>
                          <a:spcPts val="0"/>
                        </a:spcAft>
                        <a:buNone/>
                      </a:pPr>
                      <a:r>
                        <a:rPr lang="en-US" altLang="ko-KR" sz="800" b="1" dirty="0"/>
                        <a:t>05</a:t>
                      </a:r>
                      <a:r>
                        <a:rPr lang="en-US" sz="800" b="1" dirty="0"/>
                        <a:t>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BAKER xx A</a:t>
                      </a:r>
                      <a:endParaRPr lang="en-US" sz="700" b="1" dirty="0"/>
                    </a:p>
                  </a:txBody>
                  <a:tcPr marL="36000" marR="36000" marT="36000" marB="36000" anchor="ctr"/>
                </a:tc>
                <a:tc gridSpan="2">
                  <a:txBody>
                    <a:bodyPr/>
                    <a:lstStyle/>
                    <a:p>
                      <a:pPr algn="ctr"/>
                      <a:r>
                        <a:rPr lang="en-US" altLang="ko-Kore-KR" sz="800" b="1" dirty="0"/>
                        <a:t>JAMMY</a:t>
                      </a:r>
                      <a:endParaRPr lang="ko-Kore-KR" altLang="en-US"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t>ILS 05L</a:t>
                      </a:r>
                      <a:r>
                        <a:rPr lang="en-US" sz="800" b="0" dirty="0"/>
                        <a:t>/R</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45153">
                <a:tc>
                  <a:txBody>
                    <a:bodyPr/>
                    <a:lstStyle/>
                    <a:p>
                      <a:pPr marL="0" marR="0" lvl="0" indent="0" algn="ctr" rtl="0">
                        <a:spcBef>
                          <a:spcPts val="0"/>
                        </a:spcBef>
                        <a:spcAft>
                          <a:spcPts val="0"/>
                        </a:spcAft>
                        <a:buNone/>
                      </a:pPr>
                      <a:r>
                        <a:rPr lang="en-US" altLang="ko-KR" sz="800" b="1" dirty="0"/>
                        <a:t>23</a:t>
                      </a:r>
                      <a:r>
                        <a:rPr lang="en-US" sz="800" b="1" dirty="0"/>
                        <a:t>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BAKER xx B</a:t>
                      </a:r>
                      <a:endParaRPr lang="en-US" altLang="ko-Kore-KR" sz="800" b="1" dirty="0"/>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AUGUR</a:t>
                      </a:r>
                      <a:endParaRPr lang="ko-Kore-KR" altLang="en-US" dirty="0"/>
                    </a:p>
                  </a:txBody>
                  <a:tcPr marL="36000" marR="36000" marT="36000" marB="36000" anchor="ctr"/>
                </a:tc>
                <a:tc hMerge="1">
                  <a:txBody>
                    <a:bodyPr/>
                    <a:lstStyle/>
                    <a:p>
                      <a:endParaRPr lang="ko-Kore-KR" altLang="en-US"/>
                    </a:p>
                  </a:txBody>
                  <a:tcPr/>
                </a:tc>
                <a:tc gridSpan="2">
                  <a:txBody>
                    <a:bodyPr/>
                    <a:lstStyle/>
                    <a:p>
                      <a:pPr algn="ctr"/>
                      <a:r>
                        <a:rPr lang="en-US" sz="800" b="1" dirty="0"/>
                        <a:t>ILS 23R</a:t>
                      </a:r>
                      <a:r>
                        <a:rPr lang="en-US" sz="800" b="0" dirty="0"/>
                        <a:t>/L</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45153">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05L(74’)</a:t>
                      </a:r>
                      <a:endParaRPr sz="800" b="1" dirty="0">
                        <a:solidFill>
                          <a:srgbClr val="C00000"/>
                        </a:solidFill>
                      </a:endParaRPr>
                    </a:p>
                  </a:txBody>
                  <a:tcPr marL="36000" marR="36000" marT="36000" marB="36000" anchor="ct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12008’</a:t>
                      </a: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23R(63’)</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45153">
                <a:tc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05R(107’) </a:t>
                      </a:r>
                      <a:r>
                        <a:rPr lang="en-US" sz="800" b="1" dirty="0">
                          <a:solidFill>
                            <a:srgbClr val="FF0000"/>
                          </a:solidFill>
                        </a:rPr>
                        <a:t>DIS 12139’</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12467’</a:t>
                      </a:r>
                      <a:endParaRPr sz="800" b="1" dirty="0">
                        <a:solidFill>
                          <a:srgbClr val="00B050"/>
                        </a:solidFill>
                      </a:endParaRPr>
                    </a:p>
                  </a:txBody>
                  <a:tcPr marL="36000" marR="36000" marT="36000" marB="36000" anchor="ctr"/>
                </a:tc>
                <a:tc gridSpan="3">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R" sz="800" b="1" dirty="0">
                          <a:solidFill>
                            <a:srgbClr val="00B050"/>
                          </a:solidFill>
                        </a:rPr>
                        <a:t>23L(96’) </a:t>
                      </a:r>
                      <a:r>
                        <a:rPr lang="en-US" altLang="ko-KR" sz="800" b="1" dirty="0">
                          <a:solidFill>
                            <a:srgbClr val="FF0000"/>
                          </a:solidFill>
                        </a:rPr>
                        <a:t>DIS 11319’</a:t>
                      </a:r>
                      <a:endParaRPr lang="en-US" altLang="ko-Kore-KR" sz="800" b="1" dirty="0">
                        <a:solidFill>
                          <a:srgbClr val="FF000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23L(96’)</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36413">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05L : N7(5787’), N6(6738’),  23R : N6(4468’), N4(6656’)</a:t>
                      </a:r>
                      <a:endParaRPr sz="80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05R : S6(5419’), S7(7244’), 23L : S5(5442’), S4(7470’)</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45153">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rgbClr val="C00000"/>
                          </a:solidFill>
                        </a:rPr>
                        <a:t>No VOR at TPE, A-VDGS see above </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943571297"/>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RCTP(TPE)108ft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Dynasty Operation 131.3</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8BFDA17-699D-A0C3-A1F6-B1CDE98B3DE3}"/>
              </a:ext>
            </a:extLst>
          </p:cNvPr>
          <p:cNvSpPr/>
          <p:nvPr/>
        </p:nvSpPr>
        <p:spPr>
          <a:xfrm>
            <a:off x="1469976" y="342603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6" name="그림 5" descr="텍스트, 도표, 스크린샷, 폰트이(가) 표시된 사진&#10;&#10;자동 생성된 설명">
            <a:extLst>
              <a:ext uri="{FF2B5EF4-FFF2-40B4-BE49-F238E27FC236}">
                <a16:creationId xmlns:a16="http://schemas.microsoft.com/office/drawing/2014/main" id="{6533B1B9-4E05-6110-F9FE-1C5ADBF7FAB4}"/>
              </a:ext>
            </a:extLst>
          </p:cNvPr>
          <p:cNvPicPr>
            <a:picLocks noChangeAspect="1"/>
          </p:cNvPicPr>
          <p:nvPr/>
        </p:nvPicPr>
        <p:blipFill>
          <a:blip r:embed="rId7"/>
          <a:stretch>
            <a:fillRect/>
          </a:stretch>
        </p:blipFill>
        <p:spPr>
          <a:xfrm>
            <a:off x="594998" y="3339535"/>
            <a:ext cx="833046" cy="535825"/>
          </a:xfrm>
          <a:prstGeom prst="rect">
            <a:avLst/>
          </a:prstGeom>
        </p:spPr>
      </p:pic>
    </p:spTree>
    <p:extLst>
      <p:ext uri="{BB962C8B-B14F-4D97-AF65-F5344CB8AC3E}">
        <p14:creationId xmlns:p14="http://schemas.microsoft.com/office/powerpoint/2010/main" val="30596950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5" name="Google Shape;303;p19">
            <a:extLst>
              <a:ext uri="{FF2B5EF4-FFF2-40B4-BE49-F238E27FC236}">
                <a16:creationId xmlns:a16="http://schemas.microsoft.com/office/drawing/2014/main" id="{9A6F36E3-64E2-A97B-D85E-56AC20DB6603}"/>
              </a:ext>
            </a:extLst>
          </p:cNvPr>
          <p:cNvGraphicFramePr/>
          <p:nvPr/>
        </p:nvGraphicFramePr>
        <p:xfrm>
          <a:off x="1119" y="340566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xE</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OLMEN </a:t>
                      </a:r>
                      <a:r>
                        <a:rPr lang="en-US" sz="800" b="1" dirty="0" err="1"/>
                        <a:t>xH</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MUNAN</a:t>
                      </a:r>
                      <a:endParaRPr sz="458" b="1" dirty="0"/>
                    </a:p>
                  </a:txBody>
                  <a:tcPr marL="36000" marR="36000" marT="36000" marB="36000" anchor="ctr"/>
                </a:tc>
                <a:tc>
                  <a:txBody>
                    <a:bodyPr/>
                    <a:lstStyle/>
                    <a:p>
                      <a:pPr marL="0" marR="0" lvl="0" indent="0" algn="ctr" rtl="0">
                        <a:spcBef>
                          <a:spcPts val="0"/>
                        </a:spcBef>
                        <a:spcAft>
                          <a:spcPts val="0"/>
                        </a:spcAft>
                        <a:buNone/>
                      </a:pPr>
                      <a:r>
                        <a:rPr lang="en-US" sz="800" b="1" dirty="0"/>
                        <a:t>OLMEN 180</a:t>
                      </a:r>
                      <a:endParaRPr sz="458" b="1" dirty="0"/>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dirty="0">
                          <a:solidFill>
                            <a:srgbClr val="00B050"/>
                          </a:solidFill>
                        </a:rPr>
                        <a:t>33L/R 34L(23’)</a:t>
                      </a:r>
                      <a:endParaRPr dirty="0"/>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dirty="0">
                          <a:solidFill>
                            <a:srgbClr val="00B050"/>
                          </a:solidFill>
                          <a:latin typeface="Calibri"/>
                          <a:ea typeface="Calibri"/>
                          <a:cs typeface="Calibri"/>
                          <a:sym typeface="Calibri"/>
                        </a:rPr>
                        <a:t>12303’</a:t>
                      </a: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33R : </a:t>
                      </a:r>
                      <a:r>
                        <a:rPr lang="en-US" altLang="ko-Kore-KR" sz="800" b="1" dirty="0">
                          <a:solidFill>
                            <a:srgbClr val="0070C0"/>
                          </a:solidFill>
                          <a:latin typeface="Calibri"/>
                          <a:ea typeface="Calibri"/>
                          <a:cs typeface="Calibri"/>
                          <a:sym typeface="Calibri"/>
                        </a:rPr>
                        <a:t>C4(7529’), </a:t>
                      </a:r>
                      <a:r>
                        <a:rPr lang="en-US" altLang="ko-Kore-KR" sz="800" b="1" dirty="0">
                          <a:solidFill>
                            <a:schemeClr val="dk1"/>
                          </a:solidFill>
                          <a:latin typeface="Calibri"/>
                          <a:ea typeface="Calibri"/>
                          <a:cs typeface="Calibri"/>
                          <a:sym typeface="Calibri"/>
                        </a:rPr>
                        <a:t>C5(8513’), 33L </a:t>
                      </a:r>
                      <a:r>
                        <a:rPr lang="en-US" altLang="ko-Kore-KR"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altLang="ko-Kore-KR"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7563</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altLang="ko-Kore-KR"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altLang="ko-Kore-KR" sz="800" b="1" dirty="0">
                          <a:solidFill>
                            <a:schemeClr val="dk1"/>
                          </a:solidFill>
                          <a:latin typeface="Calibri"/>
                          <a:ea typeface="Calibri"/>
                          <a:cs typeface="Calibri"/>
                          <a:sym typeface="Calibri"/>
                        </a:rPr>
                        <a:t>‘)</a:t>
                      </a:r>
                      <a:endParaRPr lang="en-US" altLang="ko-Kore-KR" sz="800" dirty="0"/>
                    </a:p>
                    <a:p>
                      <a:pPr marL="0" marR="0" lvl="0" indent="0" algn="l" rtl="0">
                        <a:spcBef>
                          <a:spcPts val="0"/>
                        </a:spcBef>
                        <a:spcAft>
                          <a:spcPts val="0"/>
                        </a:spcAft>
                        <a:buNone/>
                      </a:pPr>
                      <a:r>
                        <a:rPr lang="en-US" altLang="ko-Kore-KR" sz="800" b="1" dirty="0">
                          <a:solidFill>
                            <a:schemeClr val="dk1"/>
                          </a:solidFill>
                          <a:latin typeface="Calibri"/>
                          <a:ea typeface="Calibri"/>
                          <a:cs typeface="Calibri"/>
                          <a:sym typeface="Calibri"/>
                        </a:rPr>
                        <a:t>15L : </a:t>
                      </a:r>
                      <a:r>
                        <a:rPr lang="en-US" altLang="ko-Kore-KR" sz="800" b="1" dirty="0">
                          <a:solidFill>
                            <a:srgbClr val="0070C0"/>
                          </a:solidFill>
                          <a:latin typeface="Calibri"/>
                          <a:ea typeface="Calibri"/>
                          <a:cs typeface="Calibri"/>
                          <a:sym typeface="Calibri"/>
                        </a:rPr>
                        <a:t>C2(7522’), </a:t>
                      </a:r>
                      <a:r>
                        <a:rPr lang="en-US" altLang="ko-Kore-KR" sz="800" b="1" dirty="0">
                          <a:solidFill>
                            <a:schemeClr val="dk1"/>
                          </a:solidFill>
                          <a:latin typeface="Calibri"/>
                          <a:ea typeface="Calibri"/>
                          <a:cs typeface="Calibri"/>
                          <a:sym typeface="Calibri"/>
                        </a:rPr>
                        <a:t>C1(8536’), 15R : </a:t>
                      </a:r>
                      <a:r>
                        <a:rPr lang="en-US" altLang="ko-Kore-KR"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altLang="ko-Kore-KR" sz="800" b="1" dirty="0">
                          <a:solidFill>
                            <a:srgbClr val="0070C0"/>
                          </a:solidFill>
                          <a:latin typeface="Calibri"/>
                          <a:ea typeface="Calibri"/>
                          <a:cs typeface="Calibri"/>
                          <a:sym typeface="Calibri"/>
                        </a:rPr>
                        <a:t>‘), </a:t>
                      </a:r>
                      <a:r>
                        <a:rPr lang="en-US" altLang="ko-Kore-KR"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altLang="ko-Kore-KR" sz="800" b="1" dirty="0">
                          <a:solidFill>
                            <a:schemeClr val="dk1"/>
                          </a:solidFill>
                          <a:latin typeface="Calibri"/>
                          <a:ea typeface="Calibri"/>
                          <a:cs typeface="Calibri"/>
                          <a:sym typeface="Calibri"/>
                        </a:rPr>
                        <a:t>‘)</a:t>
                      </a:r>
                      <a:endParaRPr lang="en-US" altLang="ko-Kore-K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666107896"/>
              </p:ext>
            </p:extLst>
          </p:nvPr>
        </p:nvGraphicFramePr>
        <p:xfrm>
          <a:off x="-4046" y="586900"/>
          <a:ext cx="2347194" cy="1498810"/>
        </p:xfrm>
        <a:graphic>
          <a:graphicData uri="http://schemas.openxmlformats.org/drawingml/2006/table">
            <a:tbl>
              <a:tblPr firstRow="1" bandRow="1">
                <a:noFill/>
                <a:tableStyleId>{A521BE36-7E6F-4EC9-8D66-1CF97A6895EC}</a:tableStyleId>
              </a:tblPr>
              <a:tblGrid>
                <a:gridCol w="335409">
                  <a:extLst>
                    <a:ext uri="{9D8B030D-6E8A-4147-A177-3AD203B41FA5}">
                      <a16:colId xmlns:a16="http://schemas.microsoft.com/office/drawing/2014/main" val="20000"/>
                    </a:ext>
                  </a:extLst>
                </a:gridCol>
                <a:gridCol w="168843">
                  <a:extLst>
                    <a:ext uri="{9D8B030D-6E8A-4147-A177-3AD203B41FA5}">
                      <a16:colId xmlns:a16="http://schemas.microsoft.com/office/drawing/2014/main" val="20002"/>
                    </a:ext>
                  </a:extLst>
                </a:gridCol>
                <a:gridCol w="602910">
                  <a:extLst>
                    <a:ext uri="{9D8B030D-6E8A-4147-A177-3AD203B41FA5}">
                      <a16:colId xmlns:a16="http://schemas.microsoft.com/office/drawing/2014/main" val="20003"/>
                    </a:ext>
                  </a:extLst>
                </a:gridCol>
                <a:gridCol w="288612">
                  <a:extLst>
                    <a:ext uri="{9D8B030D-6E8A-4147-A177-3AD203B41FA5}">
                      <a16:colId xmlns:a16="http://schemas.microsoft.com/office/drawing/2014/main" val="20005"/>
                    </a:ext>
                  </a:extLst>
                </a:gridCol>
                <a:gridCol w="337023">
                  <a:extLst>
                    <a:ext uri="{9D8B030D-6E8A-4147-A177-3AD203B41FA5}">
                      <a16:colId xmlns:a16="http://schemas.microsoft.com/office/drawing/2014/main" val="20006"/>
                    </a:ext>
                  </a:extLst>
                </a:gridCol>
                <a:gridCol w="325783">
                  <a:extLst>
                    <a:ext uri="{9D8B030D-6E8A-4147-A177-3AD203B41FA5}">
                      <a16:colId xmlns:a16="http://schemas.microsoft.com/office/drawing/2014/main" val="20008"/>
                    </a:ext>
                  </a:extLst>
                </a:gridCol>
                <a:gridCol w="288614">
                  <a:extLst>
                    <a:ext uri="{9D8B030D-6E8A-4147-A177-3AD203B41FA5}">
                      <a16:colId xmlns:a16="http://schemas.microsoft.com/office/drawing/2014/main" val="448940902"/>
                    </a:ext>
                  </a:extLst>
                </a:gridCol>
              </a:tblGrid>
              <a:tr h="0">
                <a:tc gridSpan="7">
                  <a:txBody>
                    <a:bodyPr/>
                    <a:lstStyle/>
                    <a:p>
                      <a:pPr marL="0" marR="0" lvl="0" indent="0" algn="ctr" rtl="0">
                        <a:spcBef>
                          <a:spcPts val="0"/>
                        </a:spcBef>
                        <a:spcAft>
                          <a:spcPts val="0"/>
                        </a:spcAft>
                        <a:buNone/>
                      </a:pPr>
                      <a:r>
                        <a:rPr lang="en-US" sz="800" u="none" strike="noStrike" cap="none" dirty="0"/>
                        <a:t>TPE : RNAV SID (NADP 1) TA 11000</a:t>
                      </a:r>
                    </a:p>
                    <a:p>
                      <a:pPr marL="0" marR="0" lvl="0" indent="0" algn="ctr" rtl="0">
                        <a:spcBef>
                          <a:spcPts val="0"/>
                        </a:spcBef>
                        <a:spcAft>
                          <a:spcPts val="0"/>
                        </a:spcAft>
                        <a:buNone/>
                      </a:pPr>
                      <a:r>
                        <a:rPr lang="en-US" sz="800" u="none" strike="noStrike" cap="none" dirty="0">
                          <a:solidFill>
                            <a:schemeClr val="accent4"/>
                          </a:solidFill>
                        </a:rPr>
                        <a:t>Be Ready Intersection T/O, A030 -&gt; 3000ft</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05R</a:t>
                      </a:r>
                      <a:r>
                        <a:rPr lang="en-US" sz="800" b="0" u="none" strike="noStrike" cap="none" dirty="0"/>
                        <a:t>/L</a:t>
                      </a:r>
                    </a:p>
                  </a:txBody>
                  <a:tcPr marL="36000" marR="36000" marT="36000" marB="36000" anchor="ctr"/>
                </a:tc>
                <a:tc gridSpan="2">
                  <a:txBody>
                    <a:bodyPr/>
                    <a:lstStyle/>
                    <a:p>
                      <a:pPr algn="ctr"/>
                      <a:r>
                        <a:rPr lang="en-US" sz="800" b="1" u="none" strike="noStrike" cap="none" dirty="0">
                          <a:solidFill>
                            <a:srgbClr val="0070C0"/>
                          </a:solidFill>
                        </a:rPr>
                        <a:t>PIANO </a:t>
                      </a:r>
                      <a:r>
                        <a:rPr lang="en-US" sz="800" b="1" u="none" strike="noStrike" cap="none" dirty="0" err="1">
                          <a:solidFill>
                            <a:srgbClr val="0070C0"/>
                          </a:solidFill>
                        </a:rPr>
                        <a:t>xxA</a:t>
                      </a:r>
                      <a:r>
                        <a:rPr lang="en-US" sz="800" b="1" u="none" strike="noStrike" cap="none" dirty="0">
                          <a:solidFill>
                            <a:srgbClr val="0070C0"/>
                          </a:solidFill>
                        </a:rPr>
                        <a:t>/C</a:t>
                      </a:r>
                      <a:endParaRPr lang="ko-Kore-KR" dirty="0"/>
                    </a:p>
                  </a:txBody>
                  <a:tcPr marL="36000" marR="36000" marT="36000" marB="36000" anchor="ctr"/>
                </a:tc>
                <a:tc hMerge="1">
                  <a:txBody>
                    <a:bodyPr/>
                    <a:lstStyle/>
                    <a:p>
                      <a:endParaRPr lang="ko-Kore-KR"/>
                    </a:p>
                  </a:txBody>
                  <a:tcPr/>
                </a:tc>
                <a:tc>
                  <a:txBody>
                    <a:bodyPr/>
                    <a:lstStyle/>
                    <a:p>
                      <a:pPr algn="ctr"/>
                      <a:r>
                        <a:rPr lang="en-US" sz="800" b="1" u="none" strike="noStrike" cap="none">
                          <a:solidFill>
                            <a:srgbClr val="C00000"/>
                          </a:solidFill>
                        </a:rPr>
                        <a:t>054</a:t>
                      </a:r>
                      <a:endParaRPr lang="ko-Kore-KR"/>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054</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solidFill>
                            <a:srgbClr val="0070C0"/>
                          </a:solidFill>
                        </a:rPr>
                        <a:t>ATC</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054</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23L</a:t>
                      </a:r>
                      <a:r>
                        <a:rPr lang="en-US" sz="800" b="0" u="none" strike="noStrike" cap="none" dirty="0"/>
                        <a:t>/R</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PIANO </a:t>
                      </a:r>
                      <a:r>
                        <a:rPr lang="en-US" altLang="ko-Kore-KR" sz="800" b="1" u="none" strike="noStrike" cap="none" dirty="0" err="1">
                          <a:solidFill>
                            <a:srgbClr val="0070C0"/>
                          </a:solidFill>
                        </a:rPr>
                        <a:t>xxD</a:t>
                      </a:r>
                      <a:r>
                        <a:rPr lang="en-US" altLang="ko-Kore-KR" sz="800" b="1" u="none" strike="noStrike" cap="none" dirty="0">
                          <a:solidFill>
                            <a:srgbClr val="0070C0"/>
                          </a:solidFill>
                        </a:rPr>
                        <a:t>/B</a:t>
                      </a:r>
                      <a:endParaRPr lang="ko-Kore-KR" dirty="0"/>
                    </a:p>
                  </a:txBody>
                  <a:tcPr marL="36000" marR="36000" marT="36000" marB="36000" anchor="ctr"/>
                </a:tc>
                <a:tc hMerge="1">
                  <a:txBody>
                    <a:bodyPr/>
                    <a:lstStyle/>
                    <a:p>
                      <a:endParaRPr lang="ko-Kore-KR"/>
                    </a:p>
                  </a:txBody>
                  <a:tcPr/>
                </a:tc>
                <a:tc>
                  <a:txBody>
                    <a:bodyPr/>
                    <a:lstStyle/>
                    <a:p>
                      <a:pPr algn="ctr"/>
                      <a:r>
                        <a:rPr lang="en-US" sz="800" b="1" u="none" strike="noStrike" cap="none" dirty="0">
                          <a:solidFill>
                            <a:srgbClr val="C00000"/>
                          </a:solidFill>
                        </a:rPr>
                        <a:t>234</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234</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234</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110.7</a:t>
                      </a:r>
                      <a:endParaRPr lang="ko-Kore-KR" dirty="0"/>
                    </a:p>
                  </a:txBody>
                  <a:tcPr marL="36000" marR="36000" marT="36000" marB="36000" anchor="ctr"/>
                </a:tc>
                <a:tc hMerge="1">
                  <a:txBody>
                    <a:bodyPr/>
                    <a:lstStyle/>
                    <a:p>
                      <a:endParaRPr lang="ko-Kore-KR"/>
                    </a:p>
                  </a:txBody>
                  <a:tcP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111.9</a:t>
                      </a:r>
                      <a:endParaRPr lang="ko-Kore-KR"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05L(74’)</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12008</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23R(63’)</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u="none" strike="noStrike" cap="none" dirty="0">
                          <a:solidFill>
                            <a:srgbClr val="00B050"/>
                          </a:solidFill>
                          <a:latin typeface="Calibri"/>
                          <a:ea typeface="Calibri"/>
                          <a:cs typeface="Calibri"/>
                          <a:sym typeface="Calibri"/>
                        </a:rPr>
                        <a:t>05R(107’)</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23L(96’)</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44693353"/>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“DCT PIANO then L3 RNAV Transition”</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3073734826"/>
              </p:ext>
            </p:extLst>
          </p:nvPr>
        </p:nvGraphicFramePr>
        <p:xfrm>
          <a:off x="-2501" y="16504"/>
          <a:ext cx="2328850" cy="55937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RCTP(TPE)108ft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Dynasty Operation 131.3</a:t>
                      </a:r>
                      <a:endParaRPr sz="1200" dirty="0"/>
                    </a:p>
                    <a:p>
                      <a:pPr marL="0" marR="0" lvl="0" indent="0" algn="ctr" rtl="0">
                        <a:spcBef>
                          <a:spcPts val="0"/>
                        </a:spcBef>
                        <a:spcAft>
                          <a:spcPts val="0"/>
                        </a:spcAft>
                        <a:buNone/>
                      </a:pPr>
                      <a:r>
                        <a:rPr lang="en-US" altLang="ko-KR" sz="700" dirty="0">
                          <a:solidFill>
                            <a:srgbClr val="FF0000"/>
                          </a:solidFill>
                        </a:rPr>
                        <a:t>DCL, Voice -5min</a:t>
                      </a:r>
                    </a:p>
                  </a:txBody>
                  <a:tcPr marL="0" marR="0" marT="36000" marB="36000"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8" name="TextBox 7">
            <a:extLst>
              <a:ext uri="{FF2B5EF4-FFF2-40B4-BE49-F238E27FC236}">
                <a16:creationId xmlns:a16="http://schemas.microsoft.com/office/drawing/2014/main" id="{14CA6956-FB7E-2FB3-571E-9A16B59F12B1}"/>
              </a:ext>
            </a:extLst>
          </p:cNvPr>
          <p:cNvSpPr txBox="1"/>
          <p:nvPr/>
        </p:nvSpPr>
        <p:spPr>
          <a:xfrm>
            <a:off x="0" y="2096731"/>
            <a:ext cx="1213794"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128.5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endParaRPr kumimoji="1" lang="en-US" altLang="ko-KR" sz="700" b="1" u="sng" dirty="0">
              <a:solidFill>
                <a:srgbClr val="0070C0"/>
              </a:solidFill>
              <a:latin typeface="Gulim" panose="020B0600000101010101" pitchFamily="34" charset="-127"/>
              <a:ea typeface="Gulim" panose="020B0600000101010101" pitchFamily="34" charset="-127"/>
            </a:endParaRPr>
          </a:p>
        </p:txBody>
      </p:sp>
      <p:sp>
        <p:nvSpPr>
          <p:cNvPr id="4" name="직사각형 3">
            <a:hlinkClick r:id="" action="ppaction://hlinkshowjump?jump=firstslide"/>
            <a:extLst>
              <a:ext uri="{FF2B5EF4-FFF2-40B4-BE49-F238E27FC236}">
                <a16:creationId xmlns:a16="http://schemas.microsoft.com/office/drawing/2014/main" id="{33F13AC3-0D74-CEBB-7100-2629A32A1FE4}"/>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912590"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186243048"/>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3" name="TextBox 2">
            <a:extLst>
              <a:ext uri="{FF2B5EF4-FFF2-40B4-BE49-F238E27FC236}">
                <a16:creationId xmlns:a16="http://schemas.microsoft.com/office/drawing/2014/main" id="{97737AA9-1E71-11AA-29CE-CB99BAAC9983}"/>
              </a:ext>
            </a:extLst>
          </p:cNvPr>
          <p:cNvSpPr txBox="1"/>
          <p:nvPr/>
        </p:nvSpPr>
        <p:spPr>
          <a:xfrm>
            <a:off x="-69798" y="3001904"/>
            <a:ext cx="1508746" cy="693899"/>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133.15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135.3 – 132.3</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RDO </a:t>
            </a:r>
            <a:r>
              <a:rPr kumimoji="1" lang="en-US" altLang="ko-KR" sz="700" b="1" u="sng" dirty="0">
                <a:solidFill>
                  <a:srgbClr val="FF0000"/>
                </a:solidFill>
                <a:latin typeface="Gulim" panose="020B0600000101010101" pitchFamily="34" charset="-127"/>
                <a:ea typeface="Gulim" panose="020B0600000101010101" pitchFamily="34" charset="-127"/>
              </a:rPr>
              <a:t>(BIXAK) </a:t>
            </a:r>
            <a:r>
              <a:rPr kumimoji="1" lang="en-US" altLang="ko-KR" sz="700" b="1" u="sng" dirty="0">
                <a:solidFill>
                  <a:srgbClr val="0070C0"/>
                </a:solidFill>
                <a:latin typeface="Gulim" panose="020B0600000101010101" pitchFamily="34" charset="-127"/>
                <a:ea typeface="Gulim" panose="020B0600000101010101" pitchFamily="34" charset="-127"/>
              </a:rPr>
              <a:t>17904/8870</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SFO RDO </a:t>
            </a:r>
            <a:r>
              <a:rPr kumimoji="1" lang="en-US" altLang="ko-Kore-KR" sz="700" b="1" u="sng" dirty="0">
                <a:solidFill>
                  <a:srgbClr val="FF0000"/>
                </a:solidFill>
                <a:latin typeface="Gulim" panose="020B0600000101010101" pitchFamily="34" charset="-127"/>
                <a:ea typeface="Gulim" panose="020B0600000101010101" pitchFamily="34" charset="-127"/>
              </a:rPr>
              <a:t>(PAKDO) </a:t>
            </a:r>
            <a:r>
              <a:rPr kumimoji="1" lang="en-US" altLang="ko-Kore-KR" sz="700" b="1" u="sng" dirty="0">
                <a:solidFill>
                  <a:srgbClr val="0070C0"/>
                </a:solidFill>
                <a:latin typeface="Gulim" panose="020B0600000101010101" pitchFamily="34" charset="-127"/>
                <a:ea typeface="Gulim" panose="020B0600000101010101" pitchFamily="34" charset="-127"/>
              </a:rPr>
              <a:t>4666/8903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GUM </a:t>
            </a:r>
            <a:r>
              <a:rPr kumimoji="1" lang="en-US" altLang="ko-Kore-KR" sz="700" b="1" u="sng" dirty="0">
                <a:solidFill>
                  <a:srgbClr val="FF0000"/>
                </a:solidFill>
                <a:latin typeface="Gulim" panose="020B0600000101010101" pitchFamily="34" charset="-127"/>
                <a:ea typeface="Gulim" panose="020B0600000101010101" pitchFamily="34" charset="-127"/>
              </a:rPr>
              <a:t>(NATSS) </a:t>
            </a:r>
            <a:r>
              <a:rPr kumimoji="1" lang="en-US" altLang="ko-Kore-KR" sz="700" b="1" u="sng" dirty="0">
                <a:solidFill>
                  <a:srgbClr val="0070C0"/>
                </a:solidFill>
                <a:latin typeface="Gulim" panose="020B0600000101010101" pitchFamily="34" charset="-127"/>
                <a:ea typeface="Gulim" panose="020B0600000101010101" pitchFamily="34" charset="-127"/>
              </a:rPr>
              <a:t>118.7</a:t>
            </a:r>
          </a:p>
        </p:txBody>
      </p:sp>
      <p:graphicFrame>
        <p:nvGraphicFramePr>
          <p:cNvPr id="273" name="Google Shape;273;p16"/>
          <p:cNvGraphicFramePr/>
          <p:nvPr>
            <p:extLst>
              <p:ext uri="{D42A27DB-BD31-4B8C-83A1-F6EECF244321}">
                <p14:modId xmlns:p14="http://schemas.microsoft.com/office/powerpoint/2010/main" val="2481405603"/>
              </p:ext>
            </p:extLst>
          </p:nvPr>
        </p:nvGraphicFramePr>
        <p:xfrm>
          <a:off x="4410" y="3667475"/>
          <a:ext cx="2305886" cy="1864570"/>
        </p:xfrm>
        <a:graphic>
          <a:graphicData uri="http://schemas.openxmlformats.org/drawingml/2006/table">
            <a:tbl>
              <a:tblPr firstRow="1" bandRow="1">
                <a:noFill/>
                <a:tableStyleId>{A521BE36-7E6F-4EC9-8D66-1CF97A6895EC}</a:tableStyleId>
              </a:tblPr>
              <a:tblGrid>
                <a:gridCol w="268288">
                  <a:extLst>
                    <a:ext uri="{9D8B030D-6E8A-4147-A177-3AD203B41FA5}">
                      <a16:colId xmlns:a16="http://schemas.microsoft.com/office/drawing/2014/main" val="20000"/>
                    </a:ext>
                  </a:extLst>
                </a:gridCol>
                <a:gridCol w="990676">
                  <a:extLst>
                    <a:ext uri="{9D8B030D-6E8A-4147-A177-3AD203B41FA5}">
                      <a16:colId xmlns:a16="http://schemas.microsoft.com/office/drawing/2014/main" val="20001"/>
                    </a:ext>
                  </a:extLst>
                </a:gridCol>
                <a:gridCol w="28123">
                  <a:extLst>
                    <a:ext uri="{9D8B030D-6E8A-4147-A177-3AD203B41FA5}">
                      <a16:colId xmlns:a16="http://schemas.microsoft.com/office/drawing/2014/main" val="20005"/>
                    </a:ext>
                  </a:extLst>
                </a:gridCol>
                <a:gridCol w="1018799">
                  <a:extLst>
                    <a:ext uri="{9D8B030D-6E8A-4147-A177-3AD203B41FA5}">
                      <a16:colId xmlns:a16="http://schemas.microsoft.com/office/drawing/2014/main" val="3120437882"/>
                    </a:ext>
                  </a:extLst>
                </a:gridCol>
              </a:tblGrid>
              <a:tr h="395263">
                <a:tc gridSpan="4">
                  <a:txBody>
                    <a:bodyPr/>
                    <a:lstStyle/>
                    <a:p>
                      <a:pPr marL="0" marR="0" lvl="0" indent="0" algn="ctr" rtl="0">
                        <a:spcBef>
                          <a:spcPts val="0"/>
                        </a:spcBef>
                        <a:spcAft>
                          <a:spcPts val="0"/>
                        </a:spcAft>
                        <a:buNone/>
                      </a:pPr>
                      <a:r>
                        <a:rPr lang="en-US" sz="800" dirty="0"/>
                        <a:t>GUM : no STAR </a:t>
                      </a:r>
                      <a:r>
                        <a:rPr lang="en-US" sz="800" dirty="0">
                          <a:solidFill>
                            <a:srgbClr val="FFC000"/>
                          </a:solidFill>
                        </a:rPr>
                        <a:t>(UTC + 10, TL 180)</a:t>
                      </a:r>
                    </a:p>
                    <a:p>
                      <a:pPr marL="0" marR="0" lvl="0" indent="0" algn="ctr" rtl="0">
                        <a:spcBef>
                          <a:spcPts val="0"/>
                        </a:spcBef>
                        <a:spcAft>
                          <a:spcPts val="0"/>
                        </a:spcAft>
                        <a:buNone/>
                      </a:pPr>
                      <a:r>
                        <a:rPr lang="en-US" sz="800" dirty="0">
                          <a:solidFill>
                            <a:srgbClr val="FFC000"/>
                          </a:solidFill>
                        </a:rPr>
                        <a:t>CPDLC BIXAK to NATSS : RJJJ to KZAK</a:t>
                      </a:r>
                    </a:p>
                    <a:p>
                      <a:pPr marL="0" marR="0" lvl="0" indent="0" algn="ctr" rtl="0">
                        <a:spcBef>
                          <a:spcPts val="0"/>
                        </a:spcBef>
                        <a:spcAft>
                          <a:spcPts val="0"/>
                        </a:spcAft>
                        <a:buNone/>
                      </a:pPr>
                      <a:r>
                        <a:rPr lang="en-US" sz="800" dirty="0">
                          <a:solidFill>
                            <a:srgbClr val="FFC000"/>
                          </a:solidFill>
                        </a:rPr>
                        <a:t>CTC GUM CERAP 118.7 (SQ2100) Before 250NM </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67646">
                <a:tc>
                  <a:txBody>
                    <a:bodyPr/>
                    <a:lstStyle/>
                    <a:p>
                      <a:pPr marL="0" marR="0" lvl="0" indent="0" algn="ctr" rtl="0">
                        <a:spcBef>
                          <a:spcPts val="0"/>
                        </a:spcBef>
                        <a:spcAft>
                          <a:spcPts val="0"/>
                        </a:spcAft>
                        <a:buNone/>
                      </a:pPr>
                      <a:r>
                        <a:rPr lang="en-US" sz="800" b="1" dirty="0"/>
                        <a:t>06L/R</a:t>
                      </a:r>
                      <a:endParaRPr sz="800" b="1" dirty="0"/>
                    </a:p>
                  </a:txBody>
                  <a:tcPr marL="0" marR="0" marT="36000" marB="36000" anchor="ctr"/>
                </a:tc>
                <a:tc>
                  <a:txBody>
                    <a:bodyPr/>
                    <a:lstStyle/>
                    <a:p>
                      <a:pPr marL="0" marR="0" lvl="0" indent="0" algn="ctr" rtl="0">
                        <a:spcBef>
                          <a:spcPts val="0"/>
                        </a:spcBef>
                        <a:spcAft>
                          <a:spcPts val="0"/>
                        </a:spcAft>
                        <a:buNone/>
                      </a:pPr>
                      <a:r>
                        <a:rPr lang="en-US" sz="700" b="1" dirty="0"/>
                        <a:t>UNZ/-15,OBALE(MEMKE) </a:t>
                      </a:r>
                    </a:p>
                  </a:txBody>
                  <a:tcPr marL="0" marR="0" marT="36000" marB="36000" anchor="ctr"/>
                </a:tc>
                <a:tc gridSpan="2">
                  <a:txBody>
                    <a:bodyPr/>
                    <a:lstStyle/>
                    <a:p>
                      <a:pPr marL="0" marR="0" lvl="0" indent="0" algn="ctr" rtl="0">
                        <a:spcBef>
                          <a:spcPts val="0"/>
                        </a:spcBef>
                        <a:spcAft>
                          <a:spcPts val="0"/>
                        </a:spcAft>
                        <a:buNone/>
                      </a:pPr>
                      <a:r>
                        <a:rPr lang="en-US" sz="800" b="0" dirty="0">
                          <a:solidFill>
                            <a:schemeClr val="dk1"/>
                          </a:solidFill>
                        </a:rPr>
                        <a:t>ILS 6L/R </a:t>
                      </a:r>
                      <a:r>
                        <a:rPr lang="en-US" sz="800" b="0" dirty="0">
                          <a:solidFill>
                            <a:srgbClr val="0070C0"/>
                          </a:solidFill>
                        </a:rPr>
                        <a:t>(Upslope)</a:t>
                      </a:r>
                      <a:endParaRPr sz="800" b="0" dirty="0">
                        <a:solidFill>
                          <a:srgbClr val="0070C0"/>
                        </a:solidFill>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1"/>
                  </a:ext>
                </a:extLst>
              </a:tr>
              <a:tr h="167646">
                <a:tc>
                  <a:txBody>
                    <a:bodyPr/>
                    <a:lstStyle/>
                    <a:p>
                      <a:pPr marL="0" marR="0" lvl="0" indent="0" algn="ctr" rtl="0">
                        <a:spcBef>
                          <a:spcPts val="0"/>
                        </a:spcBef>
                        <a:spcAft>
                          <a:spcPts val="0"/>
                        </a:spcAft>
                        <a:buNone/>
                      </a:pPr>
                      <a:r>
                        <a:rPr lang="en-US" sz="800" b="0" dirty="0"/>
                        <a:t>24L/R</a:t>
                      </a:r>
                      <a:endParaRPr sz="800" b="0" dirty="0"/>
                    </a:p>
                  </a:txBody>
                  <a:tcPr marL="0" marR="0" marT="36000" marB="36000" anchor="ctr"/>
                </a:tc>
                <a:tc>
                  <a:txBody>
                    <a:bodyPr/>
                    <a:lstStyle/>
                    <a:p>
                      <a:pPr marL="0" marR="0" lvl="0" indent="0" algn="ctr" rtl="0">
                        <a:spcBef>
                          <a:spcPts val="0"/>
                        </a:spcBef>
                        <a:spcAft>
                          <a:spcPts val="0"/>
                        </a:spcAft>
                        <a:buNone/>
                      </a:pPr>
                      <a:r>
                        <a:rPr lang="en-US" sz="700" b="1" dirty="0"/>
                        <a:t>UNZ/-15,CIBOL(WABOX)</a:t>
                      </a:r>
                      <a:endParaRPr lang="en-US" sz="800" b="1" dirty="0"/>
                    </a:p>
                  </a:txBody>
                  <a:tcPr marL="0" marR="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Calibri"/>
                          <a:cs typeface="Calibri"/>
                          <a:sym typeface="Arial"/>
                        </a:rPr>
                        <a:t>RNAV Y 24L/R </a:t>
                      </a:r>
                      <a:r>
                        <a:rPr kumimoji="0" lang="en-US" altLang="ko-Kore-KR" sz="600" b="0" i="0" u="none" strike="noStrike" kern="0" cap="none" spc="0" normalizeH="0" baseline="0" noProof="0" dirty="0">
                          <a:ln>
                            <a:noFill/>
                          </a:ln>
                          <a:solidFill>
                            <a:srgbClr val="0070C0"/>
                          </a:solidFill>
                          <a:effectLst/>
                          <a:uLnTx/>
                          <a:uFillTx/>
                          <a:latin typeface="Calibri"/>
                          <a:cs typeface="Calibri"/>
                          <a:sym typeface="Arial"/>
                        </a:rPr>
                        <a:t>(Downslope)</a:t>
                      </a:r>
                      <a:endParaRPr kumimoji="0" lang="en-US" altLang="ko-Kore-KR" sz="800" b="0" i="0" u="none" strike="noStrike" kern="0" cap="none" spc="0" normalizeH="0" baseline="0" noProof="0" dirty="0">
                        <a:ln>
                          <a:noFill/>
                        </a:ln>
                        <a:solidFill>
                          <a:srgbClr val="0070C0"/>
                        </a:solidFill>
                        <a:effectLst/>
                        <a:uLnTx/>
                        <a:uFillTx/>
                        <a:latin typeface="Calibri"/>
                        <a:cs typeface="Calibri"/>
                        <a:sym typeface="Arial"/>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2"/>
                  </a:ext>
                </a:extLst>
              </a:tr>
              <a:tr h="273047">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0" marR="0" marT="36000" marB="36000" anchor="ctr">
                    <a:solidFill>
                      <a:schemeClr val="accent1"/>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800" b="1" dirty="0">
                          <a:solidFill>
                            <a:srgbClr val="00B050"/>
                          </a:solidFill>
                        </a:rPr>
                        <a:t>  6L(256’) 11014’ </a:t>
                      </a: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DIS TH</a:t>
                      </a:r>
                      <a:endParaRPr dirty="0">
                        <a:solidFill>
                          <a:srgbClr val="C00000"/>
                        </a:solidFill>
                      </a:endParaRPr>
                    </a:p>
                    <a:p>
                      <a:pPr marL="0" marR="0" lvl="0" indent="0" algn="l" rtl="0">
                        <a:lnSpc>
                          <a:spcPct val="100000"/>
                        </a:lnSpc>
                        <a:spcBef>
                          <a:spcPts val="0"/>
                        </a:spcBef>
                        <a:spcAft>
                          <a:spcPts val="0"/>
                        </a:spcAft>
                        <a:buClr>
                          <a:srgbClr val="00B050"/>
                        </a:buClr>
                        <a:buSzPts val="800"/>
                        <a:buFont typeface="Calibri"/>
                        <a:buNone/>
                      </a:pPr>
                      <a:r>
                        <a:rPr lang="en-US" sz="800" b="1" dirty="0">
                          <a:solidFill>
                            <a:srgbClr val="00B050"/>
                          </a:solidFill>
                        </a:rPr>
                        <a:t>  6R(258’) 10014’</a:t>
                      </a:r>
                    </a:p>
                  </a:txBody>
                  <a:tcPr marL="0" marR="0" marT="36000" marB="36000" anchor="ctr"/>
                </a:tc>
                <a:tc hMerge="1">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rgbClr val="00B050"/>
                          </a:solidFill>
                        </a:rPr>
                        <a:t> 24R(305’) 12014’</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24L(293’) 8710’ </a:t>
                      </a:r>
                      <a:r>
                        <a:rPr lang="en-US" sz="800" b="1" dirty="0">
                          <a:solidFill>
                            <a:srgbClr val="C00000"/>
                          </a:solidFill>
                        </a:rPr>
                        <a:t>DIS TH</a:t>
                      </a:r>
                      <a:endParaRPr sz="800" b="1" dirty="0">
                        <a:solidFill>
                          <a:srgbClr val="C00000"/>
                        </a:solidFill>
                      </a:endParaRPr>
                    </a:p>
                  </a:txBody>
                  <a:tcPr marL="0" marR="0" marT="36000" marB="36000" anchor="ctr"/>
                </a:tc>
                <a:tc>
                  <a:txBody>
                    <a:bodyPr/>
                    <a:lstStyle/>
                    <a:p>
                      <a:pPr marL="0" marR="0" lvl="0" indent="0" algn="l"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  24R(305’) 12014’</a:t>
                      </a:r>
                    </a:p>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ore-KR" sz="800" b="1" dirty="0">
                          <a:solidFill>
                            <a:srgbClr val="00B050"/>
                          </a:solidFill>
                        </a:rPr>
                        <a:t>24L(293’) 8710’ </a:t>
                      </a:r>
                      <a:r>
                        <a:rPr lang="en-US" altLang="ko-Kore-KR" sz="800" b="1" dirty="0">
                          <a:solidFill>
                            <a:srgbClr val="C00000"/>
                          </a:solidFill>
                        </a:rPr>
                        <a:t>DIS TH</a:t>
                      </a:r>
                    </a:p>
                  </a:txBody>
                  <a:tcPr marL="0" marR="0" marT="36000" marB="36000" anchor="ctr"/>
                </a:tc>
                <a:extLst>
                  <a:ext uri="{0D108BD9-81ED-4DB2-BD59-A6C34878D82A}">
                    <a16:rowId xmlns:a16="http://schemas.microsoft.com/office/drawing/2014/main" val="10004"/>
                  </a:ext>
                </a:extLst>
              </a:tr>
              <a:tr h="167646">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0" marR="0" marT="36000" marB="36000" anchor="ctr">
                    <a:solidFill>
                      <a:schemeClr val="accent1"/>
                    </a:solidFill>
                  </a:tcPr>
                </a:tc>
                <a:tc gridSpan="3">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UNZ /250 </a:t>
                      </a:r>
                      <a:r>
                        <a:rPr lang="en-US" sz="800" b="0" dirty="0">
                          <a:solidFill>
                            <a:srgbClr val="C00000"/>
                          </a:solidFill>
                        </a:rPr>
                        <a:t>(UNZ VOR out of 3.3NM A/P)</a:t>
                      </a:r>
                      <a:endParaRPr sz="800" b="0" dirty="0">
                        <a:solidFill>
                          <a:srgbClr val="C00000"/>
                        </a:solidFill>
                      </a:endParaRPr>
                    </a:p>
                  </a:txBody>
                  <a:tcPr marL="0" marR="0" marT="36000" marB="36000" anchor="ctr"/>
                </a:tc>
                <a:tc hMerge="1">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18 : KMH R283, R280</a:t>
                      </a:r>
                      <a:endParaRPr sz="800" b="0" dirty="0">
                        <a:solidFill>
                          <a:schemeClr val="dk1"/>
                        </a:solidFill>
                      </a:endParaRPr>
                    </a:p>
                  </a:txBody>
                  <a:tcPr marL="0" marR="0" marT="36000" marB="36000" anchor="ctr"/>
                </a:tc>
                <a:tc hMerge="1">
                  <a:txBody>
                    <a:bodyPr/>
                    <a:lstStyle/>
                    <a:p>
                      <a:endParaRPr lang="ko-Kore-KR" altLang="en-US"/>
                    </a:p>
                  </a:txBody>
                  <a:tcPr/>
                </a:tc>
                <a:extLst>
                  <a:ext uri="{0D108BD9-81ED-4DB2-BD59-A6C34878D82A}">
                    <a16:rowId xmlns:a16="http://schemas.microsoft.com/office/drawing/2014/main" val="10005"/>
                  </a:ext>
                </a:extLst>
              </a:tr>
              <a:tr h="273047">
                <a:tc gridSpan="4">
                  <a:txBody>
                    <a:bodyPr/>
                    <a:lstStyle/>
                    <a:p>
                      <a:pPr marL="0" marR="0" lvl="0" indent="0" algn="l" rtl="0">
                        <a:lnSpc>
                          <a:spcPct val="100000"/>
                        </a:lnSpc>
                        <a:spcBef>
                          <a:spcPts val="0"/>
                        </a:spcBef>
                        <a:spcAft>
                          <a:spcPts val="0"/>
                        </a:spcAft>
                        <a:buClr>
                          <a:schemeClr val="dk1"/>
                        </a:buClr>
                        <a:buSzPts val="800"/>
                        <a:buFont typeface="Calibri"/>
                        <a:buNone/>
                      </a:pPr>
                      <a:r>
                        <a:rPr lang="en-US" altLang="ko-KR" sz="800" b="1" dirty="0">
                          <a:solidFill>
                            <a:schemeClr val="dk1"/>
                          </a:solidFill>
                        </a:rPr>
                        <a:t>06L : E</a:t>
                      </a:r>
                      <a:r>
                        <a:rPr lang="en-US" sz="800" b="1" dirty="0">
                          <a:solidFill>
                            <a:schemeClr val="dk1"/>
                          </a:solidFill>
                        </a:rPr>
                        <a:t>(6473’), F(6975’),  24R : D(6282’), C(8264’)</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06R : E(6502’), G(7808’) , 24L : B(8254’)</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r h="190236">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Prepare GS OUT, Vacate RWY CTC Ramp CTL</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74" name="Google Shape;274;p16"/>
          <p:cNvGraphicFramePr/>
          <p:nvPr>
            <p:extLst>
              <p:ext uri="{D42A27DB-BD31-4B8C-83A1-F6EECF244321}">
                <p14:modId xmlns:p14="http://schemas.microsoft.com/office/powerpoint/2010/main" val="1948597028"/>
              </p:ext>
            </p:extLst>
          </p:nvPr>
        </p:nvGraphicFramePr>
        <p:xfrm>
          <a:off x="-2501" y="16504"/>
          <a:ext cx="2328850" cy="57881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sz="1300" dirty="0">
                          <a:solidFill>
                            <a:schemeClr val="bg1"/>
                          </a:solidFill>
                          <a:hlinkClick r:id="rId3">
                            <a:extLst>
                              <a:ext uri="{A12FA001-AC4F-418D-AE19-62706E023703}">
                                <ahyp:hlinkClr xmlns:ahyp="http://schemas.microsoft.com/office/drawing/2018/hyperlinkcolor" val="tx"/>
                              </a:ext>
                            </a:extLst>
                          </a:hlinkClick>
                        </a:rPr>
                        <a:t>RKSI(ICN) 23ft</a:t>
                      </a:r>
                      <a:endParaRP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100" dirty="0">
                          <a:solidFill>
                            <a:schemeClr val="bg1"/>
                          </a:solidFill>
                          <a:hlinkClick r:id="rId4">
                            <a:extLst>
                              <a:ext uri="{A12FA001-AC4F-418D-AE19-62706E023703}">
                                <ahyp:hlinkClr xmlns:ahyp="http://schemas.microsoft.com/office/drawing/2018/hyperlinkcolor" val="tx"/>
                              </a:ext>
                            </a:extLst>
                          </a:hlinkClick>
                        </a:rPr>
                        <a:t>PGUM(GUM) </a:t>
                      </a:r>
                      <a:r>
                        <a:rPr lang="en-US" altLang="ko-Kore-KR" sz="1100" dirty="0">
                          <a:solidFill>
                            <a:srgbClr val="C00000"/>
                          </a:solidFill>
                          <a:hlinkClick r:id="rId4">
                            <a:extLst>
                              <a:ext uri="{A12FA001-AC4F-418D-AE19-62706E023703}">
                                <ahyp:hlinkClr xmlns:ahyp="http://schemas.microsoft.com/office/drawing/2018/hyperlinkcolor" val="tx"/>
                              </a:ext>
                            </a:extLst>
                          </a:hlinkClick>
                        </a:rPr>
                        <a:t>305ft</a:t>
                      </a:r>
                      <a:endParaRPr lang="en-US" altLang="ko-Kore-KR" sz="11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a:t>KE ICN 131.5</a:t>
                      </a:r>
                      <a:endParaRPr/>
                    </a:p>
                    <a:p>
                      <a:pPr marL="0" marR="0" lvl="0" indent="0" algn="ctr" rtl="0">
                        <a:lnSpc>
                          <a:spcPct val="100000"/>
                        </a:lnSpc>
                        <a:spcBef>
                          <a:spcPts val="0"/>
                        </a:spcBef>
                        <a:spcAft>
                          <a:spcPts val="0"/>
                        </a:spcAft>
                        <a:buClr>
                          <a:srgbClr val="FF0000"/>
                        </a:buClr>
                        <a:buSzPts val="600"/>
                        <a:buFont typeface="Calibri"/>
                        <a:buNone/>
                      </a:pPr>
                      <a:r>
                        <a:rPr lang="en-US" sz="600">
                          <a:solidFill>
                            <a:srgbClr val="FF0000"/>
                          </a:solidFill>
                          <a:latin typeface="Calibri"/>
                          <a:ea typeface="Calibri"/>
                          <a:cs typeface="Calibri"/>
                          <a:sym typeface="Calibri"/>
                        </a:rPr>
                        <a:t>DCL -10분 TOBT 5분 차이시 CTC Comm</a:t>
                      </a:r>
                      <a:endParaRPr sz="90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700" dirty="0"/>
                        <a:t>Menzies Operations 129.4</a:t>
                      </a:r>
                    </a:p>
                    <a:p>
                      <a:pPr marL="0" marR="0" lvl="0" indent="0" algn="ctr" rtl="0">
                        <a:spcBef>
                          <a:spcPts val="0"/>
                        </a:spcBef>
                        <a:spcAft>
                          <a:spcPts val="0"/>
                        </a:spcAft>
                        <a:buNone/>
                      </a:pPr>
                      <a:r>
                        <a:rPr lang="en-US" sz="700" dirty="0">
                          <a:solidFill>
                            <a:srgbClr val="FF0000"/>
                          </a:solidFill>
                        </a:rPr>
                        <a:t>No DATIS</a:t>
                      </a:r>
                      <a:endParaRPr sz="900" dirty="0">
                        <a:solidFill>
                          <a:srgbClr val="FF0000"/>
                        </a:solidFill>
                      </a:endParaRPr>
                    </a:p>
                  </a:txBody>
                  <a:tcPr marL="91450" marR="91450" marT="45725" marB="45725" anchor="ctr"/>
                </a:tc>
                <a:extLst>
                  <a:ext uri="{0D108BD9-81ED-4DB2-BD59-A6C34878D82A}">
                    <a16:rowId xmlns:a16="http://schemas.microsoft.com/office/drawing/2014/main" val="10001"/>
                  </a:ext>
                </a:extLst>
              </a:tr>
            </a:tbl>
          </a:graphicData>
        </a:graphic>
      </p:graphicFrame>
      <p:graphicFrame>
        <p:nvGraphicFramePr>
          <p:cNvPr id="276" name="Google Shape;276;p16"/>
          <p:cNvGraphicFramePr/>
          <p:nvPr>
            <p:extLst>
              <p:ext uri="{D42A27DB-BD31-4B8C-83A1-F6EECF244321}">
                <p14:modId xmlns:p14="http://schemas.microsoft.com/office/powerpoint/2010/main" val="3814818659"/>
              </p:ext>
            </p:extLst>
          </p:nvPr>
        </p:nvGraphicFramePr>
        <p:xfrm>
          <a:off x="0" y="603073"/>
          <a:ext cx="2332925" cy="2447105"/>
        </p:xfrm>
        <a:graphic>
          <a:graphicData uri="http://schemas.openxmlformats.org/drawingml/2006/table">
            <a:tbl>
              <a:tblPr firstRow="1" bandRow="1">
                <a:noFill/>
                <a:tableStyleId>{A521BE36-7E6F-4EC9-8D66-1CF97A6895EC}</a:tableStyleId>
              </a:tblPr>
              <a:tblGrid>
                <a:gridCol w="352775">
                  <a:extLst>
                    <a:ext uri="{9D8B030D-6E8A-4147-A177-3AD203B41FA5}">
                      <a16:colId xmlns:a16="http://schemas.microsoft.com/office/drawing/2014/main" val="20000"/>
                    </a:ext>
                  </a:extLst>
                </a:gridCol>
                <a:gridCol w="304225">
                  <a:extLst>
                    <a:ext uri="{9D8B030D-6E8A-4147-A177-3AD203B41FA5}">
                      <a16:colId xmlns:a16="http://schemas.microsoft.com/office/drawing/2014/main" val="20001"/>
                    </a:ext>
                  </a:extLst>
                </a:gridCol>
                <a:gridCol w="242925">
                  <a:extLst>
                    <a:ext uri="{9D8B030D-6E8A-4147-A177-3AD203B41FA5}">
                      <a16:colId xmlns:a16="http://schemas.microsoft.com/office/drawing/2014/main" val="20002"/>
                    </a:ext>
                  </a:extLst>
                </a:gridCol>
                <a:gridCol w="189175">
                  <a:extLst>
                    <a:ext uri="{9D8B030D-6E8A-4147-A177-3AD203B41FA5}">
                      <a16:colId xmlns:a16="http://schemas.microsoft.com/office/drawing/2014/main" val="20003"/>
                    </a:ext>
                  </a:extLst>
                </a:gridCol>
                <a:gridCol w="231700">
                  <a:extLst>
                    <a:ext uri="{9D8B030D-6E8A-4147-A177-3AD203B41FA5}">
                      <a16:colId xmlns:a16="http://schemas.microsoft.com/office/drawing/2014/main" val="20004"/>
                    </a:ext>
                  </a:extLst>
                </a:gridCol>
                <a:gridCol w="156975">
                  <a:extLst>
                    <a:ext uri="{9D8B030D-6E8A-4147-A177-3AD203B41FA5}">
                      <a16:colId xmlns:a16="http://schemas.microsoft.com/office/drawing/2014/main" val="20005"/>
                    </a:ext>
                  </a:extLst>
                </a:gridCol>
                <a:gridCol w="202100">
                  <a:extLst>
                    <a:ext uri="{9D8B030D-6E8A-4147-A177-3AD203B41FA5}">
                      <a16:colId xmlns:a16="http://schemas.microsoft.com/office/drawing/2014/main" val="20006"/>
                    </a:ext>
                  </a:extLst>
                </a:gridCol>
                <a:gridCol w="225475">
                  <a:extLst>
                    <a:ext uri="{9D8B030D-6E8A-4147-A177-3AD203B41FA5}">
                      <a16:colId xmlns:a16="http://schemas.microsoft.com/office/drawing/2014/main" val="20007"/>
                    </a:ext>
                  </a:extLst>
                </a:gridCol>
                <a:gridCol w="101050">
                  <a:extLst>
                    <a:ext uri="{9D8B030D-6E8A-4147-A177-3AD203B41FA5}">
                      <a16:colId xmlns:a16="http://schemas.microsoft.com/office/drawing/2014/main" val="20008"/>
                    </a:ext>
                  </a:extLst>
                </a:gridCol>
                <a:gridCol w="326525">
                  <a:extLst>
                    <a:ext uri="{9D8B030D-6E8A-4147-A177-3AD203B41FA5}">
                      <a16:colId xmlns:a16="http://schemas.microsoft.com/office/drawing/2014/main" val="20009"/>
                    </a:ext>
                  </a:extLst>
                </a:gridCol>
              </a:tblGrid>
              <a:tr h="159300">
                <a:tc gridSpan="10">
                  <a:txBody>
                    <a:bodyPr/>
                    <a:lstStyle/>
                    <a:p>
                      <a:pPr marL="0" marR="0" lvl="0" indent="0" algn="ctr" rtl="0">
                        <a:spcBef>
                          <a:spcPts val="0"/>
                        </a:spcBef>
                        <a:spcAft>
                          <a:spcPts val="0"/>
                        </a:spcAft>
                        <a:buNone/>
                      </a:pPr>
                      <a:r>
                        <a:rPr lang="en-US" sz="800"/>
                        <a:t>ICN : SID (33/34 NADP 1, 15/16 NADP 2)</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235800">
                <a:tc>
                  <a:txBody>
                    <a:bodyPr/>
                    <a:lstStyle/>
                    <a:p>
                      <a:pPr marL="0" marR="0" lvl="0" indent="0" algn="ctr" rtl="0">
                        <a:spcBef>
                          <a:spcPts val="0"/>
                        </a:spcBef>
                        <a:spcAft>
                          <a:spcPts val="0"/>
                        </a:spcAft>
                        <a:buNone/>
                      </a:pPr>
                      <a:r>
                        <a:rPr lang="en-US" sz="800" b="1"/>
                        <a:t>33L/R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xE/A</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333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5500/ATC</a:t>
                      </a:r>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333</a:t>
                      </a:r>
                      <a:endParaRPr sz="800" b="1">
                        <a:solidFill>
                          <a:srgbClr val="C00000"/>
                        </a:solidFill>
                      </a:endParaRPr>
                    </a:p>
                  </a:txBody>
                  <a:tcPr marL="36000" marR="36000" marT="36000" marB="36000" anchor="ctr"/>
                </a:tc>
                <a:extLst>
                  <a:ext uri="{0D108BD9-81ED-4DB2-BD59-A6C34878D82A}">
                    <a16:rowId xmlns:a16="http://schemas.microsoft.com/office/drawing/2014/main" val="10001"/>
                  </a:ext>
                </a:extLst>
              </a:tr>
              <a:tr h="144775">
                <a:tc>
                  <a:txBody>
                    <a:bodyPr/>
                    <a:lstStyle/>
                    <a:p>
                      <a:pPr marL="0" marR="0" lvl="0" indent="0" algn="ctr" rtl="0">
                        <a:spcBef>
                          <a:spcPts val="0"/>
                        </a:spcBef>
                        <a:spcAft>
                          <a:spcPts val="0"/>
                        </a:spcAft>
                        <a:buNone/>
                      </a:pPr>
                      <a:r>
                        <a:rPr lang="en-US" sz="800" b="1"/>
                        <a:t>34L/R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xY</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333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333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ATC</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333</a:t>
                      </a:r>
                      <a:endParaRPr sz="800">
                        <a:solidFill>
                          <a:srgbClr val="C00000"/>
                        </a:solidFill>
                      </a:endParaRPr>
                    </a:p>
                  </a:txBody>
                  <a:tcPr marL="36000" marR="36000" marT="36000" marB="36000" anchor="ctr"/>
                </a:tc>
                <a:extLst>
                  <a:ext uri="{0D108BD9-81ED-4DB2-BD59-A6C34878D82A}">
                    <a16:rowId xmlns:a16="http://schemas.microsoft.com/office/drawing/2014/main" val="10002"/>
                  </a:ext>
                </a:extLst>
              </a:tr>
              <a:tr h="144775">
                <a:tc>
                  <a:txBody>
                    <a:bodyPr/>
                    <a:lstStyle/>
                    <a:p>
                      <a:pPr marL="0" marR="0" lvl="0" indent="0" algn="ctr" rtl="0">
                        <a:spcBef>
                          <a:spcPts val="0"/>
                        </a:spcBef>
                        <a:spcAft>
                          <a:spcPts val="0"/>
                        </a:spcAft>
                        <a:buNone/>
                      </a:pPr>
                      <a:r>
                        <a:rPr lang="en-US" sz="800" b="1"/>
                        <a:t>15L/R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b="1">
                          <a:solidFill>
                            <a:srgbClr val="0070C0"/>
                          </a:solidFill>
                        </a:rPr>
                        <a:t>OSPOT xC</a:t>
                      </a:r>
                      <a:endParaRPr sz="800" b="1">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153</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153</a:t>
                      </a:r>
                      <a:endParaRPr sz="800" b="1">
                        <a:solidFill>
                          <a:srgbClr val="C00000"/>
                        </a:solidFill>
                      </a:endParaRPr>
                    </a:p>
                  </a:txBody>
                  <a:tcPr marL="36000" marR="36000" marT="36000" marB="36000" anchor="ctr"/>
                </a:tc>
                <a:extLst>
                  <a:ext uri="{0D108BD9-81ED-4DB2-BD59-A6C34878D82A}">
                    <a16:rowId xmlns:a16="http://schemas.microsoft.com/office/drawing/2014/main" val="10003"/>
                  </a:ext>
                </a:extLst>
              </a:tr>
              <a:tr h="144775">
                <a:tc>
                  <a:txBody>
                    <a:bodyPr/>
                    <a:lstStyle/>
                    <a:p>
                      <a:pPr marL="0" marR="0" lvl="0" indent="0" algn="ctr" rtl="0">
                        <a:spcBef>
                          <a:spcPts val="0"/>
                        </a:spcBef>
                        <a:spcAft>
                          <a:spcPts val="0"/>
                        </a:spcAft>
                        <a:buNone/>
                      </a:pPr>
                      <a:r>
                        <a:rPr lang="en-US" sz="800" b="1"/>
                        <a:t>16L/R</a:t>
                      </a:r>
                      <a:endParaRPr sz="800" b="1"/>
                    </a:p>
                  </a:txBody>
                  <a:tcPr marL="36000" marR="36000" marT="36000" marB="36000" anchor="ctr"/>
                </a:tc>
                <a:tc gridSpan="2">
                  <a:txBody>
                    <a:bodyPr/>
                    <a:lstStyle/>
                    <a:p>
                      <a:pPr marL="0" marR="0" lvl="0" indent="0" algn="ctr" rtl="0">
                        <a:spcBef>
                          <a:spcPts val="0"/>
                        </a:spcBef>
                        <a:spcAft>
                          <a:spcPts val="0"/>
                        </a:spcAft>
                        <a:buNone/>
                      </a:pPr>
                      <a:r>
                        <a:rPr lang="en-US" sz="800"/>
                        <a:t>OSPOT xH</a:t>
                      </a:r>
                      <a:endParaRPr sz="80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C00000"/>
                          </a:solidFill>
                        </a:rPr>
                        <a:t>153</a:t>
                      </a:r>
                      <a:endParaRPr sz="458">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t>153</a:t>
                      </a:r>
                      <a:endParaRPr sz="458"/>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a:solidFill>
                            <a:srgbClr val="0070C0"/>
                          </a:solidFill>
                        </a:rPr>
                        <a:t>5000</a:t>
                      </a:r>
                      <a:endParaRPr sz="80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a:solidFill>
                            <a:srgbClr val="C00000"/>
                          </a:solidFill>
                        </a:rPr>
                        <a:t>153</a:t>
                      </a:r>
                      <a:endParaRPr sz="800">
                        <a:solidFill>
                          <a:srgbClr val="C00000"/>
                        </a:solidFill>
                      </a:endParaRPr>
                    </a:p>
                  </a:txBody>
                  <a:tcPr marL="36000" marR="36000" marT="36000" marB="36000" anchor="ctr"/>
                </a:tc>
                <a:extLst>
                  <a:ext uri="{0D108BD9-81ED-4DB2-BD59-A6C34878D82A}">
                    <a16:rowId xmlns:a16="http://schemas.microsoft.com/office/drawing/2014/main" val="10004"/>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NCN</a:t>
                      </a:r>
                      <a:endParaRPr dirty="0"/>
                    </a:p>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113.8</a:t>
                      </a:r>
                      <a:endParaRPr dirty="0"/>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33L </a:t>
                      </a:r>
                      <a:endParaRPr dirty="0"/>
                    </a:p>
                    <a:p>
                      <a:pPr marL="0" marR="0" lvl="0" indent="0" algn="ctr" rtl="0">
                        <a:spcBef>
                          <a:spcPts val="0"/>
                        </a:spcBef>
                        <a:spcAft>
                          <a:spcPts val="0"/>
                        </a:spcAft>
                        <a:buNone/>
                      </a:pPr>
                      <a:r>
                        <a:rPr lang="en-US" sz="800" b="1" dirty="0">
                          <a:solidFill>
                            <a:srgbClr val="C00000"/>
                          </a:solidFill>
                        </a:rPr>
                        <a:t>109.3</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33R</a:t>
                      </a:r>
                      <a:endParaRPr dirty="0"/>
                    </a:p>
                    <a:p>
                      <a:pPr marL="0" marR="0" lvl="0" indent="0" algn="ctr" rtl="0">
                        <a:spcBef>
                          <a:spcPts val="0"/>
                        </a:spcBef>
                        <a:spcAft>
                          <a:spcPts val="0"/>
                        </a:spcAft>
                        <a:buNone/>
                      </a:pPr>
                      <a:r>
                        <a:rPr lang="en-US" sz="800" b="1" dirty="0">
                          <a:solidFill>
                            <a:srgbClr val="C00000"/>
                          </a:solidFill>
                        </a:rPr>
                        <a:t>108.9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15L 111.9</a:t>
                      </a:r>
                      <a:endParaRPr sz="800" b="1" dirty="0">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15R 109.1</a:t>
                      </a:r>
                      <a:endParaRPr sz="800" b="1">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5"/>
                  </a:ext>
                </a:extLst>
              </a:tr>
              <a:tr h="235800">
                <a:tc gridSpan="2">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WNG</a:t>
                      </a:r>
                      <a:endParaRPr/>
                    </a:p>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112.9</a:t>
                      </a:r>
                      <a:endParaRPr sz="800" b="1">
                        <a:solidFill>
                          <a:srgbClr val="0070C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34L</a:t>
                      </a:r>
                      <a:endParaRPr/>
                    </a:p>
                    <a:p>
                      <a:pPr marL="0" marR="0" lvl="0" indent="0" algn="ctr" rtl="0">
                        <a:spcBef>
                          <a:spcPts val="0"/>
                        </a:spcBef>
                        <a:spcAft>
                          <a:spcPts val="0"/>
                        </a:spcAft>
                        <a:buNone/>
                      </a:pPr>
                      <a:r>
                        <a:rPr lang="en-US" sz="800" b="1">
                          <a:solidFill>
                            <a:srgbClr val="C00000"/>
                          </a:solidFill>
                        </a:rPr>
                        <a:t>109.95</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34R</a:t>
                      </a:r>
                      <a:endParaRPr/>
                    </a:p>
                    <a:p>
                      <a:pPr marL="0" marR="0" lvl="0" indent="0" algn="ctr" rtl="0">
                        <a:spcBef>
                          <a:spcPts val="0"/>
                        </a:spcBef>
                        <a:spcAft>
                          <a:spcPts val="0"/>
                        </a:spcAft>
                        <a:buNone/>
                      </a:pPr>
                      <a:r>
                        <a:rPr lang="en-US" sz="800" b="1">
                          <a:solidFill>
                            <a:srgbClr val="C00000"/>
                          </a:solidFill>
                        </a:rPr>
                        <a:t>108.1</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16L</a:t>
                      </a:r>
                      <a:endParaRPr/>
                    </a:p>
                    <a:p>
                      <a:pPr marL="0" marR="0" lvl="0" indent="0" algn="ctr" rtl="0">
                        <a:spcBef>
                          <a:spcPts val="0"/>
                        </a:spcBef>
                        <a:spcAft>
                          <a:spcPts val="0"/>
                        </a:spcAft>
                        <a:buNone/>
                      </a:pPr>
                      <a:r>
                        <a:rPr lang="en-US" sz="800" b="1">
                          <a:solidFill>
                            <a:srgbClr val="C00000"/>
                          </a:solidFill>
                        </a:rPr>
                        <a:t>110.35</a:t>
                      </a:r>
                      <a:endParaRPr sz="800" b="1">
                        <a:solidFill>
                          <a:srgbClr val="C00000"/>
                        </a:solidFill>
                      </a:endParaRPr>
                    </a:p>
                  </a:txBody>
                  <a:tcPr marL="36000" marR="36000" marT="0" marB="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16R</a:t>
                      </a:r>
                      <a:endParaRPr dirty="0"/>
                    </a:p>
                    <a:p>
                      <a:pPr marL="0" marR="0" lvl="0" indent="0" algn="ctr" rtl="0">
                        <a:spcBef>
                          <a:spcPts val="0"/>
                        </a:spcBef>
                        <a:spcAft>
                          <a:spcPts val="0"/>
                        </a:spcAft>
                        <a:buNone/>
                      </a:pPr>
                      <a:r>
                        <a:rPr lang="en-US" sz="800" b="1" dirty="0">
                          <a:solidFill>
                            <a:srgbClr val="C00000"/>
                          </a:solidFill>
                        </a:rPr>
                        <a:t>108.55</a:t>
                      </a:r>
                      <a:endParaRPr sz="800" b="1" dirty="0">
                        <a:solidFill>
                          <a:srgbClr val="C00000"/>
                        </a:solidFill>
                      </a:endParaRPr>
                    </a:p>
                  </a:txBody>
                  <a:tcPr marL="36000" marR="36000" marT="0" marB="0" anchor="ctr"/>
                </a:tc>
                <a:tc hMerge="1">
                  <a:txBody>
                    <a:bodyPr/>
                    <a:lstStyle/>
                    <a:p>
                      <a:endParaRPr lang="ko-Kore-KR"/>
                    </a:p>
                  </a:txBody>
                  <a:tcPr/>
                </a:tc>
                <a:extLst>
                  <a:ext uri="{0D108BD9-81ED-4DB2-BD59-A6C34878D82A}">
                    <a16:rowId xmlns:a16="http://schemas.microsoft.com/office/drawing/2014/main" val="10006"/>
                  </a:ext>
                </a:extLst>
              </a:tr>
              <a:tr h="23580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33L/R : NC05L/R,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6">
                  <a:txBody>
                    <a:bodyPr/>
                    <a:lstStyle/>
                    <a:p>
                      <a:pPr marL="0" marR="0" lvl="0" indent="0" algn="ctr" rtl="0">
                        <a:spcBef>
                          <a:spcPts val="0"/>
                        </a:spcBef>
                        <a:spcAft>
                          <a:spcPts val="0"/>
                        </a:spcAft>
                        <a:buNone/>
                      </a:pPr>
                      <a:r>
                        <a:rPr lang="en-US" sz="800" dirty="0"/>
                        <a:t>34L/R : EO34L/R, R242</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YJU R271</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144775">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0" marB="36000" anchor="ctr">
                    <a:solidFill>
                      <a:schemeClr val="accent1"/>
                    </a:solidFill>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33L/R 34L(23’)</a:t>
                      </a:r>
                      <a:endParaRPr sz="458" dirty="0">
                        <a:solidFill>
                          <a:srgbClr val="00B050"/>
                        </a:solidFill>
                      </a:endParaRPr>
                    </a:p>
                  </a:txBody>
                  <a:tcPr marL="36000" marR="36000" marT="0" marB="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12303’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15L/R 16R(23’)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144775">
                <a:tc vMerge="1">
                  <a:txBody>
                    <a:bodyPr/>
                    <a:lstStyle/>
                    <a:p>
                      <a:endParaRPr lang="ko-Kore-KR"/>
                    </a:p>
                  </a:txBody>
                  <a:tcPr/>
                </a:tc>
                <a:tc gridSpan="3">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34R (23’)</a:t>
                      </a:r>
                      <a:endParaRPr sz="458" dirty="0">
                        <a:solidFill>
                          <a:srgbClr val="00B050"/>
                        </a:solidFill>
                      </a:endParaRPr>
                    </a:p>
                  </a:txBody>
                  <a:tcPr marL="36000" marR="36000" marT="0" marB="0" anchor="ctr"/>
                </a:tc>
                <a:tc hMerge="1">
                  <a:txBody>
                    <a:bodyPr/>
                    <a:lstStyle/>
                    <a:p>
                      <a:endParaRPr lang="ko-Kore-KR"/>
                    </a:p>
                  </a:txBody>
                  <a:tcPr/>
                </a:tc>
                <a:tc hMerge="1">
                  <a:txBody>
                    <a:bodyPr/>
                    <a:lstStyle/>
                    <a:p>
                      <a:endParaRPr lang="ko-Kore-KR"/>
                    </a:p>
                  </a:txBody>
                  <a:tcPr/>
                </a:tc>
                <a:tc gridSpan="2">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13123’</a:t>
                      </a:r>
                      <a:endParaRPr sz="458" dirty="0">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l" rtl="0">
                        <a:spcBef>
                          <a:spcPts val="0"/>
                        </a:spcBef>
                        <a:spcAft>
                          <a:spcPts val="0"/>
                        </a:spcAft>
                        <a:buNone/>
                      </a:pPr>
                      <a:r>
                        <a:rPr lang="en-US" sz="800" b="1" dirty="0">
                          <a:solidFill>
                            <a:srgbClr val="00B050"/>
                          </a:solidFill>
                          <a:latin typeface="Calibri"/>
                          <a:ea typeface="Calibri"/>
                          <a:cs typeface="Calibri"/>
                          <a:sym typeface="Calibri"/>
                        </a:rPr>
                        <a:t>16L (23’)</a:t>
                      </a:r>
                      <a:endParaRPr sz="458"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44775">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Parallel TWY 10KTS </a:t>
                      </a:r>
                      <a:r>
                        <a:rPr lang="en-US" sz="800" dirty="0" err="1"/>
                        <a:t>이상</a:t>
                      </a:r>
                      <a:r>
                        <a:rPr lang="en-US" sz="800" dirty="0"/>
                        <a:t>(R17 MAX 15kts)</a:t>
                      </a:r>
                      <a:endParaRPr dirty="0"/>
                    </a:p>
                  </a:txBody>
                  <a:tcPr marL="36000" marR="36000" marT="0" marB="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sp>
        <p:nvSpPr>
          <p:cNvPr id="4" name="직사각형 3">
            <a:hlinkClick r:id="" action="ppaction://hlinkshowjump?jump=firstslide"/>
            <a:extLst>
              <a:ext uri="{FF2B5EF4-FFF2-40B4-BE49-F238E27FC236}">
                <a16:creationId xmlns:a16="http://schemas.microsoft.com/office/drawing/2014/main" id="{48885B48-D909-DBA8-463D-C2595910C8DE}"/>
              </a:ext>
            </a:extLst>
          </p:cNvPr>
          <p:cNvSpPr/>
          <p:nvPr/>
        </p:nvSpPr>
        <p:spPr>
          <a:xfrm>
            <a:off x="1469976" y="3356584"/>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48FCA215-6716-977F-75BA-F0B5E1689E17}"/>
              </a:ext>
            </a:extLst>
          </p:cNvPr>
          <p:cNvSpPr/>
          <p:nvPr/>
        </p:nvSpPr>
        <p:spPr>
          <a:xfrm>
            <a:off x="826930" y="270118"/>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06830001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3661764979"/>
              </p:ext>
            </p:extLst>
          </p:nvPr>
        </p:nvGraphicFramePr>
        <p:xfrm>
          <a:off x="0" y="1"/>
          <a:ext cx="2328875" cy="550929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199414">
                <a:tc>
                  <a:txBody>
                    <a:bodyPr/>
                    <a:lstStyle/>
                    <a:p>
                      <a:pPr marL="0" marR="0" lvl="0" indent="0" algn="l" rtl="0">
                        <a:spcBef>
                          <a:spcPts val="0"/>
                        </a:spcBef>
                        <a:spcAft>
                          <a:spcPts val="0"/>
                        </a:spcAft>
                        <a:buNone/>
                      </a:pPr>
                      <a:r>
                        <a:rPr lang="en-US" sz="1000" dirty="0">
                          <a:latin typeface="+mn-lt"/>
                        </a:rPr>
                        <a:t>EDTO Procedure </a:t>
                      </a:r>
                      <a:r>
                        <a:rPr lang="en-US" sz="1000" dirty="0">
                          <a:solidFill>
                            <a:srgbClr val="FFC000"/>
                          </a:solidFill>
                          <a:latin typeface="+mn-lt"/>
                        </a:rPr>
                        <a:t>APU Remain ON</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1059084">
                <a:tc>
                  <a:txBody>
                    <a:bodyPr/>
                    <a:lstStyle/>
                    <a:p>
                      <a:pPr marL="0" marR="0" lvl="0" indent="0" algn="l" rtl="0">
                        <a:lnSpc>
                          <a:spcPct val="100000"/>
                        </a:lnSpc>
                        <a:spcBef>
                          <a:spcPts val="0"/>
                        </a:spcBef>
                        <a:spcAft>
                          <a:spcPts val="0"/>
                        </a:spcAft>
                        <a:buNone/>
                      </a:pPr>
                      <a:r>
                        <a:rPr lang="en-US" sz="1000" b="1" dirty="0">
                          <a:solidFill>
                            <a:srgbClr val="0070C0"/>
                          </a:solidFill>
                          <a:latin typeface="+mn-lt"/>
                        </a:rPr>
                        <a:t>PREFLIGHT</a:t>
                      </a:r>
                    </a:p>
                    <a:p>
                      <a:pPr algn="l"/>
                      <a:r>
                        <a:rPr kumimoji="0" lang="en-US" altLang="ko-Kore-KR" sz="700" b="1" i="0" u="none" strike="noStrike" kern="0" cap="none" spc="0" normalizeH="0" baseline="0" noProof="0" dirty="0">
                          <a:ln>
                            <a:noFill/>
                          </a:ln>
                          <a:solidFill>
                            <a:srgbClr val="00B050"/>
                          </a:solidFill>
                          <a:effectLst/>
                          <a:uLnTx/>
                          <a:uFillTx/>
                          <a:latin typeface="Arial"/>
                          <a:cs typeface="Calibri"/>
                          <a:sym typeface="Arial"/>
                        </a:rPr>
                        <a:t>Apply </a:t>
                      </a:r>
                      <a:r>
                        <a:rPr lang="en-US" altLang="ko-Kore-KR" sz="700" b="1" i="0" u="none" strike="noStrike" dirty="0">
                          <a:solidFill>
                            <a:srgbClr val="00B050"/>
                          </a:solidFill>
                          <a:effectLst/>
                          <a:latin typeface="Lato" panose="020F0502020204030203" pitchFamily="34" charset="0"/>
                        </a:rPr>
                        <a:t>Alternate Airport IFR </a:t>
                      </a:r>
                      <a:r>
                        <a:rPr lang="en-US" altLang="ko-Kore-KR" sz="700" b="1" i="0" u="none" strike="noStrike" dirty="0" err="1">
                          <a:solidFill>
                            <a:srgbClr val="00B050"/>
                          </a:solidFill>
                          <a:effectLst/>
                          <a:latin typeface="Lato" panose="020F0502020204030203" pitchFamily="34" charset="0"/>
                        </a:rPr>
                        <a:t>Wx</a:t>
                      </a:r>
                      <a:r>
                        <a:rPr lang="en-US" altLang="ko-Kore-KR" sz="700" b="1" i="0" u="none" strike="noStrike" dirty="0">
                          <a:solidFill>
                            <a:srgbClr val="00B050"/>
                          </a:solidFill>
                          <a:effectLst/>
                          <a:latin typeface="Lato" panose="020F0502020204030203" pitchFamily="34" charset="0"/>
                        </a:rPr>
                        <a:t> Minima for Planning (Ops Pecs C055)</a:t>
                      </a:r>
                      <a:r>
                        <a:rPr lang="ko-KR" altLang="en-US" sz="700" b="1" i="0" u="none" strike="noStrike" dirty="0">
                          <a:solidFill>
                            <a:srgbClr val="00B050"/>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-&gt;</a:t>
                      </a:r>
                      <a:r>
                        <a:rPr lang="ko-KR" altLang="en-US" sz="700" b="1" i="0" u="none" strike="noStrike" dirty="0">
                          <a:solidFill>
                            <a:srgbClr val="AA47F5"/>
                          </a:solidFill>
                          <a:effectLst/>
                          <a:latin typeface="Lato" panose="020F0502020204030203" pitchFamily="34" charset="0"/>
                        </a:rPr>
                        <a:t> </a:t>
                      </a:r>
                      <a:r>
                        <a:rPr lang="en-US" altLang="ko-KR" sz="700" b="1" i="0" u="none" strike="noStrike" dirty="0">
                          <a:solidFill>
                            <a:srgbClr val="AA47F5"/>
                          </a:solidFill>
                          <a:effectLst/>
                          <a:latin typeface="Lato" panose="020F0502020204030203" pitchFamily="34" charset="0"/>
                        </a:rPr>
                        <a:t>EDTO ERA Only(ERA no </a:t>
                      </a:r>
                      <a:r>
                        <a:rPr lang="en-US" altLang="ko-KR" sz="700" b="1" i="0" u="none" strike="noStrike" dirty="0" err="1">
                          <a:solidFill>
                            <a:srgbClr val="AA47F5"/>
                          </a:solidFill>
                          <a:effectLst/>
                          <a:latin typeface="Lato" panose="020F0502020204030203" pitchFamily="34" charset="0"/>
                        </a:rPr>
                        <a:t>Wx</a:t>
                      </a:r>
                      <a:r>
                        <a:rPr lang="en-US" altLang="ko-KR" sz="700" b="1" i="0" u="none" strike="noStrike">
                          <a:solidFill>
                            <a:srgbClr val="AA47F5"/>
                          </a:solidFill>
                          <a:effectLst/>
                          <a:latin typeface="Lato" panose="020F0502020204030203" pitchFamily="34" charset="0"/>
                        </a:rPr>
                        <a:t>)</a:t>
                      </a:r>
                      <a:endParaRPr lang="en-US" sz="700" b="1" dirty="0">
                        <a:solidFill>
                          <a:srgbClr val="AA47F5"/>
                        </a:solidFill>
                        <a:latin typeface="+mn-lt"/>
                      </a:endParaRPr>
                    </a:p>
                    <a:p>
                      <a:pPr marL="0" marR="0" lvl="0" indent="0" algn="l" rtl="0">
                        <a:spcBef>
                          <a:spcPts val="0"/>
                        </a:spcBef>
                        <a:spcAft>
                          <a:spcPts val="0"/>
                        </a:spcAft>
                        <a:buNone/>
                      </a:pPr>
                      <a:r>
                        <a:rPr lang="en-US" altLang="ko-KR" sz="800" b="0" dirty="0">
                          <a:solidFill>
                            <a:schemeClr val="tx1"/>
                          </a:solidFill>
                          <a:latin typeface="+mn-lt"/>
                        </a:rPr>
                        <a:t>RVSM CHK : </a:t>
                      </a:r>
                      <a:r>
                        <a:rPr lang="en-US" altLang="ko-KR" sz="800" b="1" dirty="0">
                          <a:solidFill>
                            <a:srgbClr val="0070C0"/>
                          </a:solidFill>
                          <a:latin typeface="+mn-lt"/>
                        </a:rPr>
                        <a:t>CAPT/FO 50ft, PILOT/FE 75ft</a:t>
                      </a:r>
                    </a:p>
                    <a:p>
                      <a:pPr marL="0" marR="0" lvl="0" indent="0" algn="l" rtl="0">
                        <a:spcBef>
                          <a:spcPts val="0"/>
                        </a:spcBef>
                        <a:spcAft>
                          <a:spcPts val="0"/>
                        </a:spcAft>
                        <a:buNone/>
                      </a:pPr>
                      <a:r>
                        <a:rPr lang="en-US" altLang="ko-KR" sz="800" b="0" dirty="0">
                          <a:solidFill>
                            <a:schemeClr val="tx1"/>
                          </a:solidFill>
                          <a:latin typeface="+mn-lt"/>
                        </a:rPr>
                        <a:t>FUEL CROSS FEED V/V CHK : </a:t>
                      </a:r>
                      <a:r>
                        <a:rPr lang="en-US" altLang="ko-KR" sz="800" b="1" dirty="0">
                          <a:solidFill>
                            <a:srgbClr val="0070C0"/>
                          </a:solidFill>
                          <a:latin typeface="+mn-lt"/>
                        </a:rPr>
                        <a:t>On -&gt; Off, V/V L/T CHK</a:t>
                      </a:r>
                      <a:endParaRPr lang="en-US" sz="800" b="1" dirty="0">
                        <a:solidFill>
                          <a:srgbClr val="0070C0"/>
                        </a:solidFill>
                        <a:latin typeface="+mn-lt"/>
                      </a:endParaRPr>
                    </a:p>
                    <a:p>
                      <a:pPr marL="0" marR="0" lvl="0" indent="0" algn="l" rtl="0">
                        <a:spcBef>
                          <a:spcPts val="0"/>
                        </a:spcBef>
                        <a:spcAft>
                          <a:spcPts val="0"/>
                        </a:spcAft>
                        <a:buNone/>
                      </a:pPr>
                      <a:r>
                        <a:rPr lang="en-US" altLang="ko-KR" sz="800" dirty="0">
                          <a:solidFill>
                            <a:schemeClr val="tx1"/>
                          </a:solidFill>
                          <a:latin typeface="+mn-lt"/>
                        </a:rPr>
                        <a:t>NAV DATA Input : </a:t>
                      </a:r>
                      <a:r>
                        <a:rPr lang="en-US" altLang="ko-KR" sz="800" b="1" dirty="0">
                          <a:solidFill>
                            <a:srgbClr val="0070C0"/>
                          </a:solidFill>
                          <a:latin typeface="+mn-lt"/>
                        </a:rPr>
                        <a:t>EEP, ETP1, ETP2, EXP</a:t>
                      </a:r>
                      <a:endParaRPr lang="en-US" sz="800" b="1" dirty="0">
                        <a:solidFill>
                          <a:srgbClr val="0070C0"/>
                        </a:solidFill>
                        <a:latin typeface="+mn-lt"/>
                      </a:endParaRPr>
                    </a:p>
                    <a:p>
                      <a:pPr marL="0" marR="0">
                        <a:spcBef>
                          <a:spcPts val="0"/>
                        </a:spcBef>
                        <a:spcAft>
                          <a:spcPts val="0"/>
                        </a:spcAft>
                      </a:pPr>
                      <a:r>
                        <a:rPr lang="en-US" altLang="ko-KR" sz="800" dirty="0">
                          <a:solidFill>
                            <a:schemeClr val="tx1"/>
                          </a:solidFill>
                          <a:latin typeface="+mn-lt"/>
                        </a:rPr>
                        <a:t>HF SELCAL CHK : Jeppesen - ENT DATA Pacific</a:t>
                      </a:r>
                    </a:p>
                    <a:p>
                      <a:pPr marL="0" marR="0">
                        <a:spcBef>
                          <a:spcPts val="0"/>
                        </a:spcBef>
                        <a:spcAft>
                          <a:spcPts val="0"/>
                        </a:spcAft>
                      </a:pPr>
                      <a:r>
                        <a:rPr lang="en-US" altLang="ko-Kore-KR" sz="800" b="1" dirty="0">
                          <a:solidFill>
                            <a:srgbClr val="0070C0"/>
                          </a:solidFill>
                          <a:effectLst/>
                          <a:latin typeface="Calibri" panose="020F0502020204030204" pitchFamily="34" charset="0"/>
                          <a:ea typeface="Malgun Gothic" panose="020B0503020000020004" pitchFamily="34" charset="-127"/>
                          <a:cs typeface="Calibri" panose="020F0502020204030204" pitchFamily="34" charset="0"/>
                        </a:rPr>
                        <a:t>SEOUL RADIO : 8903(3004,6532,13300,13303,17904)</a:t>
                      </a:r>
                    </a:p>
                  </a:txBody>
                  <a:tcPr marL="36000" marR="36000" marT="36000" marB="36000"/>
                </a:tc>
                <a:extLst>
                  <a:ext uri="{0D108BD9-81ED-4DB2-BD59-A6C34878D82A}">
                    <a16:rowId xmlns:a16="http://schemas.microsoft.com/office/drawing/2014/main" val="2985261219"/>
                  </a:ext>
                </a:extLst>
              </a:tr>
              <a:tr h="34184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cs typeface="Calibri"/>
                          <a:sym typeface="Arial"/>
                        </a:rPr>
                        <a:t>AFTER START</a:t>
                      </a:r>
                    </a:p>
                    <a:p>
                      <a:pPr marL="0" marR="0" lvl="0" indent="0" algn="l" rtl="0">
                        <a:lnSpc>
                          <a:spcPct val="150000"/>
                        </a:lnSpc>
                        <a:spcBef>
                          <a:spcPts val="0"/>
                        </a:spcBef>
                        <a:spcAft>
                          <a:spcPts val="0"/>
                        </a:spcAft>
                        <a:buNone/>
                      </a:pPr>
                      <a:r>
                        <a:rPr lang="en-US" sz="800" dirty="0">
                          <a:latin typeface="+mn-lt"/>
                        </a:rPr>
                        <a:t>APU Remain </a:t>
                      </a:r>
                      <a:r>
                        <a:rPr lang="en-US" sz="800" b="1" dirty="0">
                          <a:solidFill>
                            <a:srgbClr val="0070C0"/>
                          </a:solidFill>
                          <a:latin typeface="+mn-lt"/>
                        </a:rPr>
                        <a:t>ON</a:t>
                      </a:r>
                      <a:r>
                        <a:rPr lang="en-US" sz="800" dirty="0">
                          <a:latin typeface="+mn-lt"/>
                        </a:rPr>
                        <a:t> Until Passing EXP </a:t>
                      </a:r>
                    </a:p>
                  </a:txBody>
                  <a:tcPr marL="36000" marR="36000" marT="36000" marB="36000"/>
                </a:tc>
                <a:extLst>
                  <a:ext uri="{0D108BD9-81ED-4DB2-BD59-A6C34878D82A}">
                    <a16:rowId xmlns:a16="http://schemas.microsoft.com/office/drawing/2014/main" val="10001"/>
                  </a:ext>
                </a:extLst>
              </a:tr>
              <a:tr h="391901">
                <a:tc>
                  <a:txBody>
                    <a:bodyPr/>
                    <a:lstStyle/>
                    <a:p>
                      <a:pPr marL="0" marR="0" lvl="0" indent="0" algn="l" rtl="0">
                        <a:lnSpc>
                          <a:spcPct val="100000"/>
                        </a:lnSpc>
                        <a:spcBef>
                          <a:spcPts val="0"/>
                        </a:spcBef>
                        <a:spcAft>
                          <a:spcPts val="0"/>
                        </a:spcAft>
                        <a:buNone/>
                      </a:pPr>
                      <a:r>
                        <a:rPr lang="en-US" sz="1000" b="1" dirty="0">
                          <a:solidFill>
                            <a:srgbClr val="0070C0"/>
                          </a:solidFill>
                          <a:latin typeface="+mn-lt"/>
                          <a:ea typeface="Helvetica Neue"/>
                          <a:cs typeface="Helvetica Neue"/>
                          <a:sym typeface="Helvetica Neue"/>
                        </a:rPr>
                        <a:t>AFTER LEVEL OFF (CRZ CHK)</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a:cs typeface="Calibri"/>
                          <a:sym typeface="Arial"/>
                        </a:rPr>
                        <a:t>RVSM CHK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CAPT/FO 200ft </a:t>
                      </a:r>
                    </a:p>
                  </a:txBody>
                  <a:tcPr marL="36000" marR="36000" marT="36000" marB="36000"/>
                </a:tc>
                <a:extLst>
                  <a:ext uri="{0D108BD9-81ED-4DB2-BD59-A6C34878D82A}">
                    <a16:rowId xmlns:a16="http://schemas.microsoft.com/office/drawing/2014/main" val="10003"/>
                  </a:ext>
                </a:extLst>
              </a:tr>
              <a:tr h="111092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BEFORE EEP (Entry Point, </a:t>
                      </a:r>
                      <a:r>
                        <a:rPr kumimoji="0" lang="en-US" altLang="ko-Kore-KR" sz="800" b="1" i="0" u="none" strike="noStrike" kern="0" cap="none" spc="0" normalizeH="0" baseline="0" noProof="0" dirty="0">
                          <a:ln>
                            <a:noFill/>
                          </a:ln>
                          <a:solidFill>
                            <a:schemeClr val="tx1"/>
                          </a:solidFill>
                          <a:effectLst/>
                          <a:uLnTx/>
                          <a:uFillTx/>
                          <a:latin typeface="Arial"/>
                          <a:ea typeface="Helvetica Neue"/>
                          <a:cs typeface="Helvetica Neue"/>
                          <a:sym typeface="Helvetica Neue"/>
                        </a:rPr>
                        <a:t>ERA </a:t>
                      </a:r>
                      <a:r>
                        <a:rPr kumimoji="0" lang="ko-Kore-KR" altLang="en-US" sz="800" b="1" i="0" u="none" strike="noStrike" kern="0" cap="none" spc="0" normalizeH="0" baseline="0" noProof="0" dirty="0">
                          <a:ln>
                            <a:noFill/>
                          </a:ln>
                          <a:solidFill>
                            <a:schemeClr val="tx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60min </a:t>
                      </a:r>
                      <a:r>
                        <a:rPr kumimoji="0" lang="ko-Kore-KR" altLang="en-US"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기준</a:t>
                      </a:r>
                      <a:r>
                        <a:rPr kumimoji="0" lang="ko-KR" altLang="en-US"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a:t>
                      </a:r>
                      <a:r>
                        <a:rPr kumimoji="0" lang="ko-KR" altLang="en-US"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B737-900 398NM,</a:t>
                      </a:r>
                      <a:r>
                        <a:rPr kumimoji="0" lang="ko-KR" altLang="en-US"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Others</a:t>
                      </a: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408NM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a:t>
                      </a:r>
                      <a:r>
                        <a:rPr kumimoji="0" lang="en-US" altLang="ko-Kore-KR" sz="800" b="0" i="0" u="none" strike="noStrike" kern="0" cap="none" spc="0" normalizeH="0" baseline="0" noProof="0" dirty="0" err="1">
                          <a:ln>
                            <a:noFill/>
                          </a:ln>
                          <a:solidFill>
                            <a:schemeClr val="tx1"/>
                          </a:solidFill>
                          <a:effectLst/>
                          <a:uLnTx/>
                          <a:uFillTx/>
                          <a:latin typeface="Arial"/>
                          <a:ea typeface="Helvetica Neue"/>
                          <a:cs typeface="Helvetica Neue"/>
                          <a:sym typeface="Helvetica Neue"/>
                        </a:rPr>
                        <a:t>winthin</a:t>
                      </a:r>
                      <a:r>
                        <a:rPr kumimoji="0" lang="en-US" altLang="ko-Kore-KR" sz="800" b="0" i="0" u="none" strike="noStrike" kern="0" cap="none" spc="0" normalizeH="0" baseline="0" noProof="0" dirty="0">
                          <a:ln>
                            <a:noFill/>
                          </a:ln>
                          <a:solidFill>
                            <a:schemeClr val="tx1"/>
                          </a:solidFill>
                          <a:effectLst/>
                          <a:uLnTx/>
                          <a:uFillTx/>
                          <a:latin typeface="Arial"/>
                          <a:ea typeface="Helvetica Neue"/>
                          <a:cs typeface="Helvetica Neue"/>
                          <a:sym typeface="Helvetica Neue"/>
                        </a:rPr>
                        <a:t> MAX 120min 750NM)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a:t>
                      </a:r>
                      <a:r>
                        <a:rPr kumimoji="0" lang="en-US" altLang="ko-Kore-KR" sz="800" b="0" i="0" u="none" strike="noStrike" kern="0" cap="none" spc="0" normalizeH="0" baseline="0" noProof="0" dirty="0">
                          <a:ln>
                            <a:noFill/>
                          </a:ln>
                          <a:solidFill>
                            <a:srgbClr val="C00000"/>
                          </a:solidFill>
                          <a:effectLst/>
                          <a:uLnTx/>
                          <a:uFillTx/>
                          <a:latin typeface="+mn-lt"/>
                          <a:cs typeface="Calibri"/>
                          <a:sym typeface="Arial"/>
                        </a:rPr>
                        <a:t>1 ELEC SRC Fail Before EEP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Reroute, Divert</a:t>
                      </a:r>
                      <a:r>
                        <a:rPr kumimoji="0" lang="en-US" altLang="ko-Kore-KR" sz="800" b="0" i="0" u="none" strike="noStrike" kern="0" cap="none" spc="0" normalizeH="0" baseline="0" noProof="0" dirty="0">
                          <a:ln>
                            <a:noFill/>
                          </a:ln>
                          <a:solidFill>
                            <a:srgbClr val="0070C0"/>
                          </a:solidFill>
                          <a:effectLst/>
                          <a:uLnTx/>
                          <a:uFillTx/>
                          <a:latin typeface="+mn-lt"/>
                          <a:cs typeface="Calibri"/>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1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EEP</a:t>
                      </a: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FIX 2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ETP1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FMS ALT A/P SET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ALTN Page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mn-lt"/>
                          <a:cs typeface="Calibri"/>
                          <a:sym typeface="Arial"/>
                        </a:rPr>
                        <a:t> EDTO C/L : </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mn-lt"/>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mn-lt"/>
                          <a:cs typeface="Calibri"/>
                          <a:sym typeface="Arial"/>
                        </a:rPr>
                        <a:t> </a:t>
                      </a:r>
                      <a:r>
                        <a:rPr kumimoji="0" lang="en-US" altLang="ko-Kore-KR" sz="900" b="1" i="0" u="none" strike="noStrike" kern="0" cap="none" spc="0" normalizeH="0" baseline="0" noProof="0" dirty="0">
                          <a:ln>
                            <a:noFill/>
                          </a:ln>
                          <a:solidFill>
                            <a:srgbClr val="00B050"/>
                          </a:solidFill>
                          <a:effectLst/>
                          <a:uLnTx/>
                          <a:uFillTx/>
                          <a:latin typeface="+mn-lt"/>
                          <a:cs typeface="Calibri"/>
                          <a:sym typeface="Arial"/>
                        </a:rPr>
                        <a:t>Review Contingency Procedure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Drift Down 30</a:t>
                      </a:r>
                      <a:r>
                        <a:rPr kumimoji="0" lang="ko-Kore-KR" altLang="en-US" sz="700" b="1" i="0" u="none" strike="noStrike" kern="0" cap="none" spc="0" normalizeH="0" baseline="0" noProof="0" dirty="0">
                          <a:ln>
                            <a:noFill/>
                          </a:ln>
                          <a:solidFill>
                            <a:srgbClr val="AA47F5"/>
                          </a:solidFill>
                          <a:effectLst/>
                          <a:uLnTx/>
                          <a:uFillTx/>
                          <a:latin typeface="+mn-lt"/>
                          <a:cs typeface="Calibri"/>
                          <a:sym typeface="Arial"/>
                        </a:rPr>
                        <a:t>도이상</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5NM, FL290</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이하</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 +-500ft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 </a:t>
                      </a:r>
                      <a:r>
                        <a:rPr kumimoji="0" lang="en-US" altLang="ko-Kore-KR" sz="700" b="1" i="0" u="none" strike="noStrike" kern="0" cap="none" spc="0" normalizeH="0" baseline="0" noProof="0" dirty="0" err="1">
                          <a:ln>
                            <a:noFill/>
                          </a:ln>
                          <a:solidFill>
                            <a:srgbClr val="AA47F5"/>
                          </a:solidFill>
                          <a:effectLst/>
                          <a:uLnTx/>
                          <a:uFillTx/>
                          <a:latin typeface="+mn-lt"/>
                          <a:cs typeface="Calibri"/>
                          <a:sym typeface="Arial"/>
                        </a:rPr>
                        <a:t>Wx</a:t>
                      </a:r>
                      <a:r>
                        <a:rPr kumimoji="0" lang="en-US" altLang="ko-Kore-KR" sz="700" b="1" i="0" u="none" strike="noStrike" kern="0" cap="none" spc="0" normalizeH="0" baseline="0" noProof="0" dirty="0">
                          <a:ln>
                            <a:noFill/>
                          </a:ln>
                          <a:solidFill>
                            <a:srgbClr val="AA47F5"/>
                          </a:solidFill>
                          <a:effectLst/>
                          <a:uLnTx/>
                          <a:uFillTx/>
                          <a:latin typeface="+mn-lt"/>
                          <a:cs typeface="Calibri"/>
                          <a:sym typeface="Arial"/>
                        </a:rPr>
                        <a:t> Dev 5NM </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이상</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a:t>
                      </a:r>
                      <a:r>
                        <a:rPr kumimoji="0" lang="ko-KR" altLang="en-US" sz="700" b="1" i="0" u="none" strike="noStrike" kern="0" cap="none" spc="0" normalizeH="0" baseline="0" noProof="0" dirty="0">
                          <a:ln>
                            <a:noFill/>
                          </a:ln>
                          <a:solidFill>
                            <a:srgbClr val="AA47F5"/>
                          </a:solidFill>
                          <a:effectLst/>
                          <a:uLnTx/>
                          <a:uFillTx/>
                          <a:latin typeface="+mn-lt"/>
                          <a:cs typeface="Calibri"/>
                          <a:sym typeface="Arial"/>
                        </a:rPr>
                        <a:t> </a:t>
                      </a:r>
                      <a:r>
                        <a:rPr kumimoji="0" lang="en-US" altLang="ko-KR" sz="700" b="1" i="0" u="none" strike="noStrike" kern="0" cap="none" spc="0" normalizeH="0" baseline="0" noProof="0" dirty="0">
                          <a:ln>
                            <a:noFill/>
                          </a:ln>
                          <a:solidFill>
                            <a:srgbClr val="AA47F5"/>
                          </a:solidFill>
                          <a:effectLst/>
                          <a:uLnTx/>
                          <a:uFillTx/>
                          <a:latin typeface="+mn-lt"/>
                          <a:cs typeface="Calibri"/>
                          <a:sym typeface="Arial"/>
                        </a:rPr>
                        <a:t>+-300ft</a:t>
                      </a:r>
                      <a:endParaRPr kumimoji="0" lang="en-US" altLang="ko-Kore-KR" sz="600" b="1" i="0" u="none" strike="noStrike" kern="0" cap="none" spc="0" normalizeH="0" baseline="0" noProof="0" dirty="0">
                        <a:ln>
                          <a:noFill/>
                        </a:ln>
                        <a:solidFill>
                          <a:srgbClr val="AA47F5"/>
                        </a:solidFill>
                        <a:effectLst/>
                        <a:uLnTx/>
                        <a:uFillTx/>
                        <a:latin typeface="+mn-lt"/>
                        <a:cs typeface="Calibri"/>
                        <a:sym typeface="Arial"/>
                      </a:endParaRPr>
                    </a:p>
                  </a:txBody>
                  <a:tcPr marL="0" marR="0" marT="36000" marB="36000"/>
                </a:tc>
                <a:extLst>
                  <a:ext uri="{0D108BD9-81ED-4DB2-BD59-A6C34878D82A}">
                    <a16:rowId xmlns:a16="http://schemas.microsoft.com/office/drawing/2014/main" val="3740928111"/>
                  </a:ext>
                </a:extLst>
              </a:tr>
              <a:tr h="4629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EDTO Segment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C00000"/>
                          </a:solidFill>
                          <a:effectLst/>
                          <a:uLnTx/>
                          <a:uFillTx/>
                          <a:latin typeface="Arial"/>
                          <a:cs typeface="Calibri"/>
                          <a:sym typeface="Arial"/>
                        </a:rPr>
                        <a:t>1 ELEC SRC Fail After EEP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Continue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Apply Actual </a:t>
                      </a:r>
                      <a:r>
                        <a:rPr kumimoji="0" lang="en-US" altLang="ko-Kore-KR" sz="800" b="1" i="0" u="none" strike="noStrike" kern="0" cap="none" spc="0" normalizeH="0" baseline="0" noProof="0" dirty="0" err="1">
                          <a:ln>
                            <a:noFill/>
                          </a:ln>
                          <a:solidFill>
                            <a:srgbClr val="00B05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B050"/>
                          </a:solidFill>
                          <a:effectLst/>
                          <a:uLnTx/>
                          <a:uFillTx/>
                          <a:latin typeface="Arial"/>
                          <a:cs typeface="Calibri"/>
                          <a:sym typeface="Arial"/>
                        </a:rPr>
                        <a:t> for Actual Divert</a:t>
                      </a:r>
                    </a:p>
                  </a:txBody>
                  <a:tcPr marL="36000" marR="36000" marT="36000" marB="36000"/>
                </a:tc>
                <a:extLst>
                  <a:ext uri="{0D108BD9-81ED-4DB2-BD59-A6C34878D82A}">
                    <a16:rowId xmlns:a16="http://schemas.microsoft.com/office/drawing/2014/main" val="1799958746"/>
                  </a:ext>
                </a:extLst>
              </a:tr>
              <a:tr h="67030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ETP (Equal Time Point</a:t>
                      </a:r>
                      <a:r>
                        <a:rPr kumimoji="0" lang="en-US" altLang="ko-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r>
                        <a:rPr kumimoji="0" lang="ko-KR" altLang="en-US"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 </a:t>
                      </a:r>
                      <a:r>
                        <a:rPr kumimoji="0" lang="en-US" altLang="ko-KR" sz="800" b="1" i="0" u="none" strike="noStrike" kern="0" cap="none" spc="0" normalizeH="0" baseline="0" noProof="0" dirty="0">
                          <a:ln>
                            <a:noFill/>
                          </a:ln>
                          <a:solidFill>
                            <a:schemeClr val="tx1"/>
                          </a:solidFill>
                          <a:effectLst/>
                          <a:uLnTx/>
                          <a:uFillTx/>
                          <a:latin typeface="Arial"/>
                          <a:ea typeface="Helvetica Neue"/>
                          <a:cs typeface="Helvetica Neue"/>
                          <a:sym typeface="Helvetica Neue"/>
                        </a:rPr>
                        <a:t>EDTO ERA</a:t>
                      </a:r>
                      <a:r>
                        <a:rPr kumimoji="0" lang="ko-KR" altLang="en-US" sz="800" b="1" i="0" u="none" strike="noStrike" kern="0" cap="none" spc="0" normalizeH="0" baseline="0" noProof="0" dirty="0">
                          <a:ln>
                            <a:noFill/>
                          </a:ln>
                          <a:solidFill>
                            <a:schemeClr val="tx1"/>
                          </a:solidFill>
                          <a:effectLst/>
                          <a:uLnTx/>
                          <a:uFillTx/>
                          <a:latin typeface="Arial"/>
                          <a:ea typeface="Helvetica Neue"/>
                          <a:cs typeface="Helvetica Neue"/>
                          <a:sym typeface="Helvetica Neue"/>
                        </a:rPr>
                        <a:t>기준</a:t>
                      </a: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FIX, ALTN Page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EDTO C/L :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Fuel, A/C, MSA, ALT </a:t>
                      </a:r>
                      <a:r>
                        <a:rPr kumimoji="0" lang="en-US" altLang="ko-Kore-KR" sz="800" b="1" i="0" u="none" strike="noStrike" kern="0" cap="none" spc="0" normalizeH="0" baseline="0" noProof="0" dirty="0" err="1">
                          <a:ln>
                            <a:noFill/>
                          </a:ln>
                          <a:solidFill>
                            <a:srgbClr val="0070C0"/>
                          </a:solidFill>
                          <a:effectLst/>
                          <a:uLnTx/>
                          <a:uFillTx/>
                          <a:latin typeface="Arial"/>
                          <a:cs typeface="Calibri"/>
                          <a:sym typeface="Arial"/>
                        </a:rPr>
                        <a:t>Wx</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&amp; NOTAM</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chemeClr val="tx1"/>
                          </a:solidFill>
                          <a:effectLst/>
                          <a:uLnTx/>
                          <a:uFillTx/>
                          <a:latin typeface="Arial"/>
                          <a:cs typeface="Calibri"/>
                          <a:sym typeface="Arial"/>
                        </a:rPr>
                        <a:t>Last ETP(Critical Point) Fuel less then PLAN </a:t>
                      </a:r>
                      <a:r>
                        <a:rPr kumimoji="0" lang="en-US" altLang="ko-Kore-KR" sz="800" b="1" i="0" u="none" strike="noStrike" kern="0" cap="none" spc="0" normalizeH="0" baseline="0" noProof="0" dirty="0">
                          <a:ln>
                            <a:noFill/>
                          </a:ln>
                          <a:solidFill>
                            <a:srgbClr val="0070C0"/>
                          </a:solidFill>
                          <a:effectLst/>
                          <a:uLnTx/>
                          <a:uFillTx/>
                          <a:latin typeface="Arial"/>
                          <a:cs typeface="Calibri"/>
                          <a:sym typeface="Arial"/>
                        </a:rPr>
                        <a:t>– Continue by PIC</a:t>
                      </a:r>
                    </a:p>
                  </a:txBody>
                  <a:tcPr marL="36000" marR="36000" marT="36000" marB="36000"/>
                </a:tc>
                <a:extLst>
                  <a:ext uri="{0D108BD9-81ED-4DB2-BD59-A6C34878D82A}">
                    <a16:rowId xmlns:a16="http://schemas.microsoft.com/office/drawing/2014/main" val="1646462774"/>
                  </a:ext>
                </a:extLst>
              </a:tr>
              <a:tr h="34184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EXP (Exit Point)</a:t>
                      </a:r>
                    </a:p>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APU - </a:t>
                      </a:r>
                      <a:r>
                        <a:rPr kumimoji="0" lang="en-US" altLang="ko-KR" sz="800" b="1" i="0" u="none" strike="noStrike" kern="0" cap="none" spc="0" normalizeH="0" baseline="0" noProof="0" dirty="0">
                          <a:ln>
                            <a:noFill/>
                          </a:ln>
                          <a:solidFill>
                            <a:srgbClr val="0070C0"/>
                          </a:solidFill>
                          <a:effectLst/>
                          <a:uLnTx/>
                          <a:uFillTx/>
                          <a:latin typeface="Arial"/>
                          <a:cs typeface="Calibri"/>
                          <a:sym typeface="Arial"/>
                        </a:rPr>
                        <a:t>OFF</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txBody>
                  <a:tcPr marL="36000" marR="36000" marT="36000" marB="36000"/>
                </a:tc>
                <a:extLst>
                  <a:ext uri="{0D108BD9-81ED-4DB2-BD59-A6C34878D82A}">
                    <a16:rowId xmlns:a16="http://schemas.microsoft.com/office/drawing/2014/main" val="3122030425"/>
                  </a:ext>
                </a:extLst>
              </a:tr>
              <a:tr h="4629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Arial"/>
                          <a:ea typeface="Helvetica Neue"/>
                          <a:cs typeface="Helvetica Neue"/>
                          <a:sym typeface="Helvetica Neue"/>
                        </a:rPr>
                        <a:t>1 HR Before TOD</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800" b="0" i="0" u="none" strike="noStrike" kern="0" cap="none" spc="0" normalizeH="0" baseline="0" noProof="0" dirty="0">
                          <a:ln>
                            <a:noFill/>
                          </a:ln>
                          <a:solidFill>
                            <a:srgbClr val="000000"/>
                          </a:solidFill>
                          <a:effectLst/>
                          <a:uLnTx/>
                          <a:uFillTx/>
                          <a:latin typeface="Arial"/>
                          <a:cs typeface="Calibri"/>
                          <a:sym typeface="Arial"/>
                        </a:rPr>
                        <a:t>FUEL CROSS FEED V/V CHK : </a:t>
                      </a:r>
                      <a:r>
                        <a:rPr kumimoji="0" lang="en-US" altLang="ko-KR" sz="800" b="1" i="0" u="none" strike="noStrike" kern="0" cap="none" spc="0" normalizeH="0" baseline="0" noProof="0" dirty="0">
                          <a:ln>
                            <a:noFill/>
                          </a:ln>
                          <a:solidFill>
                            <a:srgbClr val="0070C0"/>
                          </a:solidFill>
                          <a:effectLst/>
                          <a:uLnTx/>
                          <a:uFillTx/>
                          <a:latin typeface="Arial"/>
                          <a:cs typeface="Calibri"/>
                          <a:sym typeface="Arial"/>
                        </a:rPr>
                        <a:t>On -&gt; Off, V/V L/T CHK</a:t>
                      </a:r>
                      <a:endParaRPr kumimoji="0" lang="en-US" altLang="ko-Kore-KR" sz="800" b="1" i="0" u="none" strike="noStrike" kern="0" cap="none" spc="0" normalizeH="0" baseline="0" noProof="0" dirty="0">
                        <a:ln>
                          <a:noFill/>
                        </a:ln>
                        <a:solidFill>
                          <a:srgbClr val="0070C0"/>
                        </a:solidFill>
                        <a:effectLst/>
                        <a:uLnTx/>
                        <a:uFillTx/>
                        <a:latin typeface="Arial"/>
                        <a:cs typeface="Calibri"/>
                        <a:sym typeface="Arial"/>
                      </a:endParaRPr>
                    </a:p>
                  </a:txBody>
                  <a:tcPr marL="36000" marR="36000" marT="36000" marB="36000"/>
                </a:tc>
                <a:extLst>
                  <a:ext uri="{0D108BD9-81ED-4DB2-BD59-A6C34878D82A}">
                    <a16:rowId xmlns:a16="http://schemas.microsoft.com/office/drawing/2014/main" val="3318742438"/>
                  </a:ext>
                </a:extLst>
              </a:tr>
            </a:tbl>
          </a:graphicData>
        </a:graphic>
      </p:graphicFrame>
    </p:spTree>
    <p:extLst>
      <p:ext uri="{BB962C8B-B14F-4D97-AF65-F5344CB8AC3E}">
        <p14:creationId xmlns:p14="http://schemas.microsoft.com/office/powerpoint/2010/main" val="8484240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graphicFrame>
        <p:nvGraphicFramePr>
          <p:cNvPr id="282" name="Google Shape;282;p17"/>
          <p:cNvGraphicFramePr/>
          <p:nvPr>
            <p:extLst>
              <p:ext uri="{D42A27DB-BD31-4B8C-83A1-F6EECF244321}">
                <p14:modId xmlns:p14="http://schemas.microsoft.com/office/powerpoint/2010/main" val="4072713511"/>
              </p:ext>
            </p:extLst>
          </p:nvPr>
        </p:nvGraphicFramePr>
        <p:xfrm>
          <a:off x="6595" y="623810"/>
          <a:ext cx="2330925" cy="162073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378631">
                  <a:extLst>
                    <a:ext uri="{9D8B030D-6E8A-4147-A177-3AD203B41FA5}">
                      <a16:colId xmlns:a16="http://schemas.microsoft.com/office/drawing/2014/main" val="20002"/>
                    </a:ext>
                  </a:extLst>
                </a:gridCol>
                <a:gridCol w="295965">
                  <a:extLst>
                    <a:ext uri="{9D8B030D-6E8A-4147-A177-3AD203B41FA5}">
                      <a16:colId xmlns:a16="http://schemas.microsoft.com/office/drawing/2014/main" val="20004"/>
                    </a:ext>
                  </a:extLst>
                </a:gridCol>
                <a:gridCol w="277854">
                  <a:extLst>
                    <a:ext uri="{9D8B030D-6E8A-4147-A177-3AD203B41FA5}">
                      <a16:colId xmlns:a16="http://schemas.microsoft.com/office/drawing/2014/main" val="20005"/>
                    </a:ext>
                  </a:extLst>
                </a:gridCol>
                <a:gridCol w="395375">
                  <a:extLst>
                    <a:ext uri="{9D8B030D-6E8A-4147-A177-3AD203B41FA5}">
                      <a16:colId xmlns:a16="http://schemas.microsoft.com/office/drawing/2014/main" val="20007"/>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8">
                  <a:txBody>
                    <a:bodyPr/>
                    <a:lstStyle/>
                    <a:p>
                      <a:pPr marL="0" marR="0" lvl="0" indent="0" algn="ctr" rtl="0">
                        <a:spcBef>
                          <a:spcPts val="0"/>
                        </a:spcBef>
                        <a:spcAft>
                          <a:spcPts val="0"/>
                        </a:spcAft>
                        <a:buNone/>
                      </a:pPr>
                      <a:r>
                        <a:rPr lang="en-US" sz="800" dirty="0"/>
                        <a:t>PUS : no SID </a:t>
                      </a:r>
                      <a:r>
                        <a:rPr lang="en-US" sz="800" dirty="0">
                          <a:solidFill>
                            <a:srgbClr val="FFC000"/>
                          </a:solidFill>
                        </a:rPr>
                        <a:t>(RWY 06 LNAV not Arming on GND)</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altLang="ko-KR" sz="800" b="1" dirty="0"/>
                        <a:t>0</a:t>
                      </a:r>
                      <a:r>
                        <a:rPr lang="en-US" sz="800" b="1" dirty="0"/>
                        <a:t>6L/R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RWY H/D</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063</a:t>
                      </a:r>
                      <a:endParaRPr sz="458" b="1" dirty="0">
                        <a:solidFill>
                          <a:srgbClr val="0070C0"/>
                        </a:solidFill>
                      </a:endParaRPr>
                    </a:p>
                  </a:txBody>
                  <a:tcPr marL="36000" marR="36000" marT="36000" marB="36000" anchor="ctr"/>
                </a:tc>
                <a:tc>
                  <a:txBody>
                    <a:bodyPr/>
                    <a:lstStyle/>
                    <a:p>
                      <a:pPr algn="ctr"/>
                      <a:r>
                        <a:rPr lang="en-US" sz="800" b="1" dirty="0"/>
                        <a:t>063</a:t>
                      </a:r>
                      <a:endParaRPr lang="ko-Kore-KR" dirty="0"/>
                    </a:p>
                  </a:txBody>
                  <a:tcPr marL="36000" marR="36000" marT="36000" marB="36000" anchor="ctr"/>
                </a:tc>
                <a:tc gridSpan="2">
                  <a:txBody>
                    <a:bodyPr/>
                    <a:lstStyle/>
                    <a:p>
                      <a:pPr algn="ctr"/>
                      <a:r>
                        <a:rPr lang="en-US" sz="800" b="1">
                          <a:solidFill>
                            <a:srgbClr val="0070C0"/>
                          </a:solidFill>
                        </a:rPr>
                        <a:t>ATC (9000)</a:t>
                      </a:r>
                      <a:endParaRPr lang="ko-Kore-K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063</a:t>
                      </a:r>
                      <a:endParaRPr sz="800" b="1" dirty="0">
                        <a:solidFill>
                          <a:srgbClr val="0070C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24L/R</a:t>
                      </a:r>
                      <a:endParaRPr sz="800" b="1" dirty="0"/>
                    </a:p>
                  </a:txBody>
                  <a:tcPr marL="36000" marR="36000" marT="36000" marB="36000" anchor="ctr"/>
                </a:tc>
                <a:tc gridSpan="2">
                  <a:txBody>
                    <a:bodyPr/>
                    <a:lstStyle/>
                    <a:p>
                      <a:pPr marL="0" marR="0" lvl="0" indent="0" algn="ctr" rtl="0">
                        <a:spcBef>
                          <a:spcPts val="0"/>
                        </a:spcBef>
                        <a:spcAft>
                          <a:spcPts val="0"/>
                        </a:spcAft>
                        <a:buNone/>
                      </a:pPr>
                      <a:r>
                        <a:rPr lang="en-US" sz="800" b="1" dirty="0">
                          <a:solidFill>
                            <a:srgbClr val="0070C0"/>
                          </a:solidFill>
                        </a:rPr>
                        <a:t>RWY H/D</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243</a:t>
                      </a:r>
                      <a:endParaRPr sz="458" b="1" dirty="0">
                        <a:solidFill>
                          <a:srgbClr val="0070C0"/>
                        </a:solidFill>
                      </a:endParaRPr>
                    </a:p>
                  </a:txBody>
                  <a:tcPr marL="36000" marR="36000" marT="36000" marB="36000" anchor="ctr"/>
                </a:tc>
                <a:tc>
                  <a:txBody>
                    <a:bodyPr/>
                    <a:lstStyle/>
                    <a:p>
                      <a:pPr algn="ctr"/>
                      <a:r>
                        <a:rPr lang="en-US" altLang="ko-Kore-KR" sz="800" b="1" dirty="0"/>
                        <a:t>243</a:t>
                      </a:r>
                      <a:endParaRPr lang="ko-Kore-KR" dirty="0"/>
                    </a:p>
                  </a:txBody>
                  <a:tcPr marL="36000" marR="36000" marT="36000" marB="36000" anchor="ctr"/>
                </a:tc>
                <a:tc gridSpan="2">
                  <a:txBody>
                    <a:bodyPr/>
                    <a:lstStyle/>
                    <a:p>
                      <a:pPr algn="ctr"/>
                      <a:r>
                        <a:rPr lang="en-US" altLang="ko-Kore-KR" sz="800" b="1" dirty="0">
                          <a:solidFill>
                            <a:srgbClr val="0070C0"/>
                          </a:solidFill>
                        </a:rPr>
                        <a:t>ATC (9000)</a:t>
                      </a:r>
                      <a:endParaRPr lang="ko-Kore-KR" dirty="0"/>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70C0"/>
                          </a:solidFill>
                        </a:rPr>
                        <a:t>243</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15700">
                <a:tc gridSpan="4">
                  <a:txBody>
                    <a:bodyPr/>
                    <a:lstStyle/>
                    <a:p>
                      <a:pPr marL="0" marR="0" lvl="0" indent="0" algn="ctr" rtl="0">
                        <a:lnSpc>
                          <a:spcPct val="100000"/>
                        </a:lnSpc>
                        <a:spcBef>
                          <a:spcPts val="0"/>
                        </a:spcBef>
                        <a:spcAft>
                          <a:spcPts val="0"/>
                        </a:spcAft>
                        <a:buClr>
                          <a:srgbClr val="0070C0"/>
                        </a:buClr>
                        <a:buSzPts val="800"/>
                        <a:buFont typeface="Calibri"/>
                        <a:buNone/>
                      </a:pPr>
                      <a:r>
                        <a:rPr lang="en-US" sz="800" b="1" dirty="0">
                          <a:solidFill>
                            <a:srgbClr val="0070C0"/>
                          </a:solidFill>
                        </a:rPr>
                        <a:t>UNZ 115.8</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06L 110.3</a:t>
                      </a:r>
                      <a:endParaRPr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06R 110.9</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24 : UNZ /2.5 </a:t>
                      </a:r>
                      <a:r>
                        <a:rPr lang="en-US" altLang="ko-Kore-KR" sz="800" b="0" dirty="0">
                          <a:solidFill>
                            <a:srgbClr val="C00000"/>
                          </a:solidFill>
                        </a:rPr>
                        <a:t>(UNZ VOR out of 3.3NM A/P)</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hMerge="1">
                  <a:txBody>
                    <a:bodyPr/>
                    <a:lstStyle/>
                    <a:p>
                      <a:endParaRPr lang="ko-Kore-KR"/>
                    </a:p>
                  </a:txBody>
                  <a:tcPr/>
                </a:tc>
                <a:tc gridSpan="6">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800" b="1" dirty="0">
                          <a:solidFill>
                            <a:srgbClr val="00B050"/>
                          </a:solidFill>
                        </a:rPr>
                        <a:t>06L(256’)        12014’        </a:t>
                      </a:r>
                      <a:r>
                        <a:rPr kumimoji="0" lang="en-US" altLang="ko-Kore-KR" sz="800" b="1" i="0" u="none" strike="noStrike" kern="0" cap="none" spc="0" normalizeH="0" baseline="0" noProof="0" dirty="0">
                          <a:ln>
                            <a:noFill/>
                          </a:ln>
                          <a:solidFill>
                            <a:srgbClr val="00B050"/>
                          </a:solidFill>
                          <a:effectLst/>
                          <a:uLnTx/>
                          <a:uFillTx/>
                          <a:latin typeface="Calibri"/>
                          <a:cs typeface="Calibri"/>
                          <a:sym typeface="Arial"/>
                        </a:rPr>
                        <a:t>24R(305’) </a:t>
                      </a:r>
                      <a:endParaRPr dirty="0"/>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06R(258’)        10014’        24L(293’)</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24R(305’) 8530’</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24L(293’) 8999’</a:t>
                      </a:r>
                      <a:endParaRPr sz="800" b="1" dirty="0">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8">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 Ramp Area have lots of Slope, Be Caution</a:t>
                      </a:r>
                    </a:p>
                    <a:p>
                      <a:pPr marL="0" marR="0" lvl="0" indent="0" algn="ctr" rtl="0">
                        <a:lnSpc>
                          <a:spcPct val="100000"/>
                        </a:lnSpc>
                        <a:spcBef>
                          <a:spcPts val="0"/>
                        </a:spcBef>
                        <a:spcAft>
                          <a:spcPts val="0"/>
                        </a:spcAft>
                        <a:buClr>
                          <a:schemeClr val="dk1"/>
                        </a:buClr>
                        <a:buSzPts val="800"/>
                        <a:buFont typeface="Calibri"/>
                        <a:buNone/>
                      </a:pPr>
                      <a:r>
                        <a:rPr lang="en-US" sz="800" dirty="0"/>
                        <a:t>06 Upslope, 24 Downslope</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graphicFrame>
        <p:nvGraphicFramePr>
          <p:cNvPr id="283" name="Google Shape;283;p17"/>
          <p:cNvGraphicFramePr/>
          <p:nvPr>
            <p:extLst>
              <p:ext uri="{D42A27DB-BD31-4B8C-83A1-F6EECF244321}">
                <p14:modId xmlns:p14="http://schemas.microsoft.com/office/powerpoint/2010/main" val="2685120419"/>
              </p:ext>
            </p:extLst>
          </p:nvPr>
        </p:nvGraphicFramePr>
        <p:xfrm>
          <a:off x="11589" y="3423394"/>
          <a:ext cx="2325975" cy="2130490"/>
        </p:xfrm>
        <a:graphic>
          <a:graphicData uri="http://schemas.openxmlformats.org/drawingml/2006/table">
            <a:tbl>
              <a:tblPr firstRow="1" bandRow="1">
                <a:noFill/>
                <a:tableStyleId>{A521BE36-7E6F-4EC9-8D66-1CF97A6895EC}</a:tableStyleId>
              </a:tblPr>
              <a:tblGrid>
                <a:gridCol w="459700">
                  <a:extLst>
                    <a:ext uri="{9D8B030D-6E8A-4147-A177-3AD203B41FA5}">
                      <a16:colId xmlns:a16="http://schemas.microsoft.com/office/drawing/2014/main" val="20000"/>
                    </a:ext>
                  </a:extLst>
                </a:gridCol>
                <a:gridCol w="773250">
                  <a:extLst>
                    <a:ext uri="{9D8B030D-6E8A-4147-A177-3AD203B41FA5}">
                      <a16:colId xmlns:a16="http://schemas.microsoft.com/office/drawing/2014/main" val="20001"/>
                    </a:ext>
                  </a:extLst>
                </a:gridCol>
                <a:gridCol w="515550">
                  <a:extLst>
                    <a:ext uri="{9D8B030D-6E8A-4147-A177-3AD203B41FA5}">
                      <a16:colId xmlns:a16="http://schemas.microsoft.com/office/drawing/2014/main" val="20003"/>
                    </a:ext>
                  </a:extLst>
                </a:gridCol>
                <a:gridCol w="577475">
                  <a:extLst>
                    <a:ext uri="{9D8B030D-6E8A-4147-A177-3AD203B41FA5}">
                      <a16:colId xmlns:a16="http://schemas.microsoft.com/office/drawing/2014/main" val="20005"/>
                    </a:ext>
                  </a:extLst>
                </a:gridCol>
              </a:tblGrid>
              <a:tr h="0">
                <a:tc gridSpan="4">
                  <a:txBody>
                    <a:bodyPr/>
                    <a:lstStyle/>
                    <a:p>
                      <a:pPr marL="0" marR="0" lvl="0" indent="0" algn="ctr" rtl="0">
                        <a:spcBef>
                          <a:spcPts val="0"/>
                        </a:spcBef>
                        <a:spcAft>
                          <a:spcPts val="0"/>
                        </a:spcAft>
                        <a:buNone/>
                      </a:pPr>
                      <a:r>
                        <a:rPr lang="en-US" sz="800"/>
                        <a:t>ICN : STAR</a:t>
                      </a:r>
                      <a:endParaRPr sz="800"/>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dirty="0"/>
                        <a:t>ILS 33/34</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xE</a:t>
                      </a:r>
                      <a:endParaRPr sz="800" b="1"/>
                    </a:p>
                  </a:txBody>
                  <a:tcPr marL="36000" marR="36000" marT="36000" marB="36000" anchor="ctr"/>
                </a:tc>
                <a:tc>
                  <a:txBody>
                    <a:bodyPr/>
                    <a:lstStyle/>
                    <a:p>
                      <a:pPr marL="0" marR="0" lvl="0" indent="0" algn="ctr" rtl="0">
                        <a:spcBef>
                          <a:spcPts val="0"/>
                        </a:spcBef>
                        <a:spcAft>
                          <a:spcPts val="0"/>
                        </a:spcAft>
                        <a:buNone/>
                      </a:pPr>
                      <a:r>
                        <a:rPr lang="en-US" sz="800" b="1"/>
                        <a:t>ENPIL</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dirty="0"/>
                        <a:t>ILS 15/16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GUKDO xH</a:t>
                      </a:r>
                      <a:endParaRPr sz="800" b="1"/>
                    </a:p>
                  </a:txBody>
                  <a:tcPr marL="36000" marR="36000" marT="36000" marB="36000" anchor="ctr"/>
                </a:tc>
                <a:tc>
                  <a:txBody>
                    <a:bodyPr/>
                    <a:lstStyle/>
                    <a:p>
                      <a:pPr marL="0" marR="0" lvl="0" indent="0" algn="ctr" rtl="0">
                        <a:spcBef>
                          <a:spcPts val="0"/>
                        </a:spcBef>
                        <a:spcAft>
                          <a:spcPts val="0"/>
                        </a:spcAft>
                        <a:buNone/>
                      </a:pPr>
                      <a:r>
                        <a:rPr lang="en-US" sz="800" b="1"/>
                        <a:t>MUNAN</a:t>
                      </a:r>
                      <a:endParaRPr sz="458" b="1"/>
                    </a:p>
                  </a:txBody>
                  <a:tcPr marL="36000" marR="36000" marT="36000" marB="36000" anchor="ctr"/>
                </a:tc>
                <a:tc>
                  <a:txBody>
                    <a:bodyPr/>
                    <a:lstStyle/>
                    <a:p>
                      <a:pPr marL="0" marR="0" lvl="0" indent="0" algn="ctr" rtl="0">
                        <a:spcBef>
                          <a:spcPts val="0"/>
                        </a:spcBef>
                        <a:spcAft>
                          <a:spcPts val="0"/>
                        </a:spcAft>
                        <a:buNone/>
                      </a:pPr>
                      <a:r>
                        <a:rPr lang="en-US" sz="800" b="1"/>
                        <a:t>GUKDO 180</a:t>
                      </a:r>
                      <a:endParaRPr sz="458" b="1"/>
                    </a:p>
                  </a:txBody>
                  <a:tcPr marL="36000" marR="36000" marT="36000" marB="36000" anchor="ctr"/>
                </a:tc>
                <a:extLst>
                  <a:ext uri="{0D108BD9-81ED-4DB2-BD59-A6C34878D82A}">
                    <a16:rowId xmlns:a16="http://schemas.microsoft.com/office/drawing/2014/main" val="10002"/>
                  </a:ext>
                </a:extLst>
              </a:tr>
              <a:tr h="11285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a:txBody>
                    <a:bodyPr/>
                    <a:lstStyle/>
                    <a:p>
                      <a:pPr marL="0" marR="0" lvl="0" indent="0" algn="ctr" rtl="0">
                        <a:spcBef>
                          <a:spcPts val="0"/>
                        </a:spcBef>
                        <a:spcAft>
                          <a:spcPts val="0"/>
                        </a:spcAft>
                        <a:buNone/>
                      </a:pPr>
                      <a:r>
                        <a:rPr lang="en-US" sz="800" b="1">
                          <a:solidFill>
                            <a:srgbClr val="00B050"/>
                          </a:solidFill>
                        </a:rPr>
                        <a:t>33L/R 34L(23’)</a:t>
                      </a:r>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i="0" u="none" strike="noStrike" cap="none">
                          <a:solidFill>
                            <a:srgbClr val="00B050"/>
                          </a:solidFill>
                          <a:latin typeface="Calibri"/>
                          <a:ea typeface="Calibri"/>
                          <a:cs typeface="Calibri"/>
                          <a:sym typeface="Calibri"/>
                        </a:rPr>
                        <a:t>12303’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15L/R 16R(23’)</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12850">
                <a:tc vMerge="1">
                  <a:txBody>
                    <a:bodyPr/>
                    <a:lstStyle/>
                    <a:p>
                      <a:endParaRPr lang="ko-Kore-KR"/>
                    </a:p>
                  </a:txBody>
                  <a:tcPr/>
                </a:tc>
                <a:tc>
                  <a:txBody>
                    <a:bodyPr/>
                    <a:lstStyle/>
                    <a:p>
                      <a:pPr marL="0" marR="0" lvl="0" indent="0" algn="ctr" rtl="0">
                        <a:spcBef>
                          <a:spcPts val="0"/>
                        </a:spcBef>
                        <a:spcAft>
                          <a:spcPts val="0"/>
                        </a:spcAft>
                        <a:buNone/>
                      </a:pPr>
                      <a:r>
                        <a:rPr lang="en-US" sz="800" b="1">
                          <a:solidFill>
                            <a:srgbClr val="00B050"/>
                          </a:solidFill>
                        </a:rPr>
                        <a:t>34R(23’)</a:t>
                      </a:r>
                      <a:endParaRPr sz="458">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13123’</a:t>
                      </a:r>
                      <a:endParaRPr sz="800" b="1">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16L(23’)</a:t>
                      </a:r>
                      <a:endParaRPr sz="800" b="1">
                        <a:solidFill>
                          <a:srgbClr val="00B050"/>
                        </a:solidFill>
                      </a:endParaRPr>
                    </a:p>
                  </a:txBody>
                  <a:tcPr marL="36000" marR="36000" marT="36000" marB="36000" anchor="ctr"/>
                </a:tc>
                <a:extLst>
                  <a:ext uri="{0D108BD9-81ED-4DB2-BD59-A6C34878D82A}">
                    <a16:rowId xmlns:a16="http://schemas.microsoft.com/office/drawing/2014/main" val="10006"/>
                  </a:ext>
                </a:extLst>
              </a:tr>
              <a:tr h="156400">
                <a:tc>
                  <a:txBody>
                    <a:bodyPr/>
                    <a:lstStyle/>
                    <a:p>
                      <a:pPr marL="0" marR="0" lvl="0" indent="0" algn="ctr" rtl="0">
                        <a:spcBef>
                          <a:spcPts val="0"/>
                        </a:spcBef>
                        <a:spcAft>
                          <a:spcPts val="0"/>
                        </a:spcAft>
                        <a:buNone/>
                      </a:pPr>
                      <a:r>
                        <a:rPr lang="en-US" sz="800">
                          <a:solidFill>
                            <a:schemeClr val="lt1"/>
                          </a:solidFill>
                          <a:latin typeface="Calibri"/>
                          <a:ea typeface="Calibri"/>
                          <a:cs typeface="Calibri"/>
                          <a:sym typeface="Calibri"/>
                        </a:rPr>
                        <a:t>FIX</a:t>
                      </a:r>
                      <a:endParaRPr/>
                    </a:p>
                  </a:txBody>
                  <a:tcPr marL="36000" marR="36000" marT="36000" marB="36000" anchor="ctr">
                    <a:solidFill>
                      <a:schemeClr val="accent1"/>
                    </a:solidFill>
                  </a:tcPr>
                </a:tc>
                <a:tc gridSpan="3">
                  <a:txBody>
                    <a:bodyPr/>
                    <a:lstStyle/>
                    <a:p>
                      <a:pPr marL="0" marR="0" lvl="0" indent="0" algn="l" rtl="0">
                        <a:spcBef>
                          <a:spcPts val="0"/>
                        </a:spcBef>
                        <a:spcAft>
                          <a:spcPts val="0"/>
                        </a:spcAft>
                        <a:buNone/>
                      </a:pPr>
                      <a:r>
                        <a:rPr lang="en-US" sz="800"/>
                        <a:t>RWY /8, /5 , YJU R271</a:t>
                      </a:r>
                      <a:endParaRPr sz="458"/>
                    </a:p>
                  </a:txBody>
                  <a:tcPr marL="36000" marR="36000" marT="36000" marB="36000" anchor="ct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r h="218875">
                <a:tc gridSpan="4">
                  <a:txBody>
                    <a:bodyPr/>
                    <a:lstStyle/>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33R : </a:t>
                      </a:r>
                      <a:r>
                        <a:rPr lang="en-US" sz="800" b="1" dirty="0">
                          <a:solidFill>
                            <a:srgbClr val="0070C0"/>
                          </a:solidFill>
                          <a:latin typeface="Calibri"/>
                          <a:ea typeface="Calibri"/>
                          <a:cs typeface="Calibri"/>
                          <a:sym typeface="Calibri"/>
                        </a:rPr>
                        <a:t>C4(7529’), </a:t>
                      </a:r>
                      <a:r>
                        <a:rPr lang="en-US" sz="800" b="1" dirty="0">
                          <a:solidFill>
                            <a:schemeClr val="dk1"/>
                          </a:solidFill>
                          <a:latin typeface="Calibri"/>
                          <a:ea typeface="Calibri"/>
                          <a:cs typeface="Calibri"/>
                          <a:sym typeface="Calibri"/>
                        </a:rPr>
                        <a:t>C5(8513’), 33L </a:t>
                      </a:r>
                      <a:r>
                        <a:rPr lang="en-US" sz="800" b="1" dirty="0">
                          <a:solidFill>
                            <a:srgbClr val="0070C0"/>
                          </a:solidFill>
                          <a:latin typeface="Calibri"/>
                          <a:ea typeface="Calibri"/>
                          <a:cs typeface="Calibri"/>
                          <a:sym typeface="Calibri"/>
                        </a:rPr>
                        <a:t>: B</a:t>
                      </a:r>
                      <a:r>
                        <a:rPr lang="en-US" altLang="ko-KR" sz="800" b="1" dirty="0">
                          <a:solidFill>
                            <a:srgbClr val="0070C0"/>
                          </a:solidFill>
                          <a:latin typeface="Calibri"/>
                          <a:ea typeface="Calibri"/>
                          <a:cs typeface="Calibri"/>
                          <a:sym typeface="Calibri"/>
                        </a:rPr>
                        <a:t>4</a:t>
                      </a:r>
                      <a:r>
                        <a:rPr lang="en-US" sz="800" b="1" dirty="0">
                          <a:solidFill>
                            <a:srgbClr val="0070C0"/>
                          </a:solidFill>
                          <a:latin typeface="Calibri"/>
                          <a:ea typeface="Calibri"/>
                          <a:cs typeface="Calibri"/>
                          <a:sym typeface="Calibri"/>
                        </a:rPr>
                        <a:t>(</a:t>
                      </a:r>
                      <a:r>
                        <a:rPr lang="en-US" altLang="ko-KR" sz="800" b="1" dirty="0">
                          <a:solidFill>
                            <a:srgbClr val="0070C0"/>
                          </a:solidFill>
                          <a:latin typeface="Calibri"/>
                          <a:ea typeface="Calibri"/>
                          <a:cs typeface="Calibri"/>
                          <a:sym typeface="Calibri"/>
                        </a:rPr>
                        <a:t>7463</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a:t>
                      </a:r>
                      <a:r>
                        <a:rPr lang="en-US" altLang="ko-KR" sz="800" b="1" dirty="0">
                          <a:solidFill>
                            <a:schemeClr val="dk1"/>
                          </a:solidFill>
                          <a:latin typeface="Calibri"/>
                          <a:ea typeface="Calibri"/>
                          <a:cs typeface="Calibri"/>
                          <a:sym typeface="Calibri"/>
                        </a:rPr>
                        <a:t>5</a:t>
                      </a:r>
                      <a:r>
                        <a:rPr lang="en-US" sz="800" b="1" dirty="0">
                          <a:solidFill>
                            <a:schemeClr val="dk1"/>
                          </a:solidFill>
                          <a:latin typeface="Calibri"/>
                          <a:ea typeface="Calibri"/>
                          <a:cs typeface="Calibri"/>
                          <a:sym typeface="Calibri"/>
                        </a:rPr>
                        <a:t>(</a:t>
                      </a:r>
                      <a:r>
                        <a:rPr lang="en-US" altLang="ko-KR" sz="800" b="1" dirty="0">
                          <a:solidFill>
                            <a:schemeClr val="dk1"/>
                          </a:solidFill>
                          <a:latin typeface="Calibri"/>
                          <a:ea typeface="Calibri"/>
                          <a:cs typeface="Calibri"/>
                          <a:sym typeface="Calibri"/>
                        </a:rPr>
                        <a:t>8513</a:t>
                      </a:r>
                      <a:r>
                        <a:rPr lang="en-US" sz="800" b="1" dirty="0">
                          <a:solidFill>
                            <a:schemeClr val="dk1"/>
                          </a:solidFill>
                          <a:latin typeface="Calibri"/>
                          <a:ea typeface="Calibri"/>
                          <a:cs typeface="Calibri"/>
                          <a:sym typeface="Calibri"/>
                        </a:rPr>
                        <a:t>‘)</a:t>
                      </a:r>
                      <a:endParaRPr dirty="0"/>
                    </a:p>
                    <a:p>
                      <a:pPr marL="0" marR="0" lvl="0" indent="0" algn="l" rtl="0">
                        <a:spcBef>
                          <a:spcPts val="0"/>
                        </a:spcBef>
                        <a:spcAft>
                          <a:spcPts val="0"/>
                        </a:spcAft>
                        <a:buNone/>
                      </a:pPr>
                      <a:r>
                        <a:rPr lang="en-US" sz="800" b="1" dirty="0">
                          <a:solidFill>
                            <a:schemeClr val="dk1"/>
                          </a:solidFill>
                          <a:latin typeface="Calibri"/>
                          <a:ea typeface="Calibri"/>
                          <a:cs typeface="Calibri"/>
                          <a:sym typeface="Calibri"/>
                        </a:rPr>
                        <a:t>15L : </a:t>
                      </a:r>
                      <a:r>
                        <a:rPr lang="en-US" sz="800" b="1" dirty="0">
                          <a:solidFill>
                            <a:srgbClr val="0070C0"/>
                          </a:solidFill>
                          <a:latin typeface="Calibri"/>
                          <a:ea typeface="Calibri"/>
                          <a:cs typeface="Calibri"/>
                          <a:sym typeface="Calibri"/>
                        </a:rPr>
                        <a:t>C2(7522’), </a:t>
                      </a:r>
                      <a:r>
                        <a:rPr lang="en-US" sz="800" b="1" dirty="0">
                          <a:solidFill>
                            <a:schemeClr val="dk1"/>
                          </a:solidFill>
                          <a:latin typeface="Calibri"/>
                          <a:ea typeface="Calibri"/>
                          <a:cs typeface="Calibri"/>
                          <a:sym typeface="Calibri"/>
                        </a:rPr>
                        <a:t>C1(8536’), 15R : </a:t>
                      </a:r>
                      <a:r>
                        <a:rPr lang="en-US" sz="800" b="1" dirty="0">
                          <a:solidFill>
                            <a:srgbClr val="0070C0"/>
                          </a:solidFill>
                          <a:latin typeface="Calibri"/>
                          <a:ea typeface="Calibri"/>
                          <a:cs typeface="Calibri"/>
                          <a:sym typeface="Calibri"/>
                        </a:rPr>
                        <a:t>B3(</a:t>
                      </a:r>
                      <a:r>
                        <a:rPr lang="en-US" altLang="ko-KR" sz="800" b="1" dirty="0">
                          <a:solidFill>
                            <a:srgbClr val="0070C0"/>
                          </a:solidFill>
                          <a:latin typeface="Calibri"/>
                          <a:ea typeface="Calibri"/>
                          <a:cs typeface="Calibri"/>
                          <a:sym typeface="Calibri"/>
                        </a:rPr>
                        <a:t>7454</a:t>
                      </a:r>
                      <a:r>
                        <a:rPr lang="en-US" sz="800" b="1" dirty="0">
                          <a:solidFill>
                            <a:srgbClr val="0070C0"/>
                          </a:solidFill>
                          <a:latin typeface="Calibri"/>
                          <a:ea typeface="Calibri"/>
                          <a:cs typeface="Calibri"/>
                          <a:sym typeface="Calibri"/>
                        </a:rPr>
                        <a:t>‘), </a:t>
                      </a:r>
                      <a:r>
                        <a:rPr lang="en-US" sz="800" b="1" dirty="0">
                          <a:solidFill>
                            <a:schemeClr val="dk1"/>
                          </a:solidFill>
                          <a:latin typeface="Calibri"/>
                          <a:ea typeface="Calibri"/>
                          <a:cs typeface="Calibri"/>
                          <a:sym typeface="Calibri"/>
                        </a:rPr>
                        <a:t>B2(</a:t>
                      </a:r>
                      <a:r>
                        <a:rPr lang="en-US" altLang="ko-KR" sz="800" b="1" dirty="0">
                          <a:solidFill>
                            <a:schemeClr val="dk1"/>
                          </a:solidFill>
                          <a:latin typeface="Calibri"/>
                          <a:ea typeface="Calibri"/>
                          <a:cs typeface="Calibri"/>
                          <a:sym typeface="Calibri"/>
                        </a:rPr>
                        <a:t>8641</a:t>
                      </a:r>
                      <a:r>
                        <a:rPr lang="en-US" sz="800" b="1" dirty="0">
                          <a:solidFill>
                            <a:schemeClr val="dk1"/>
                          </a:solidFill>
                          <a:latin typeface="Calibri"/>
                          <a:ea typeface="Calibri"/>
                          <a:cs typeface="Calibri"/>
                          <a:sym typeface="Calibri"/>
                        </a:rPr>
                        <a:t>‘)</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8"/>
                  </a:ext>
                </a:extLst>
              </a:tr>
              <a:tr h="218875">
                <a:tc gridSpan="4">
                  <a:txBody>
                    <a:bodyPr/>
                    <a:lstStyle/>
                    <a:p>
                      <a:pPr marL="0" marR="0" lvl="0" indent="0" algn="l" rtl="0">
                        <a:spcBef>
                          <a:spcPts val="0"/>
                        </a:spcBef>
                        <a:spcAft>
                          <a:spcPts val="0"/>
                        </a:spcAft>
                        <a:buNone/>
                      </a:pPr>
                      <a:r>
                        <a:rPr lang="en-US" sz="800" b="1">
                          <a:solidFill>
                            <a:schemeClr val="dk1"/>
                          </a:solidFill>
                          <a:latin typeface="Calibri"/>
                          <a:ea typeface="Calibri"/>
                          <a:cs typeface="Calibri"/>
                          <a:sym typeface="Calibri"/>
                        </a:rPr>
                        <a:t>34L : </a:t>
                      </a:r>
                      <a:r>
                        <a:rPr lang="en-US" sz="800" b="1">
                          <a:solidFill>
                            <a:srgbClr val="0070C0"/>
                          </a:solidFill>
                          <a:latin typeface="Calibri"/>
                          <a:ea typeface="Calibri"/>
                          <a:cs typeface="Calibri"/>
                          <a:sym typeface="Calibri"/>
                        </a:rPr>
                        <a:t>P7(5600’), </a:t>
                      </a:r>
                      <a:r>
                        <a:rPr lang="en-US" sz="800" b="1">
                          <a:solidFill>
                            <a:schemeClr val="dk1"/>
                          </a:solidFill>
                          <a:latin typeface="Calibri"/>
                          <a:ea typeface="Calibri"/>
                          <a:cs typeface="Calibri"/>
                          <a:sym typeface="Calibri"/>
                        </a:rPr>
                        <a:t>P8(6578’), 34R : </a:t>
                      </a:r>
                      <a:r>
                        <a:rPr lang="en-US" sz="800" b="1">
                          <a:solidFill>
                            <a:srgbClr val="0070C0"/>
                          </a:solidFill>
                          <a:latin typeface="Calibri"/>
                          <a:ea typeface="Calibri"/>
                          <a:cs typeface="Calibri"/>
                          <a:sym typeface="Calibri"/>
                        </a:rPr>
                        <a:t>N4(6876’), </a:t>
                      </a:r>
                      <a:r>
                        <a:rPr lang="en-US" sz="800" b="1">
                          <a:solidFill>
                            <a:schemeClr val="dk1"/>
                          </a:solidFill>
                          <a:latin typeface="Calibri"/>
                          <a:ea typeface="Calibri"/>
                          <a:cs typeface="Calibri"/>
                          <a:sym typeface="Calibri"/>
                        </a:rPr>
                        <a:t>N5(8507‘)</a:t>
                      </a:r>
                      <a:endParaRPr/>
                    </a:p>
                    <a:p>
                      <a:pPr marL="0" marR="0" lvl="0" indent="0" algn="l" rtl="0">
                        <a:spcBef>
                          <a:spcPts val="0"/>
                        </a:spcBef>
                        <a:spcAft>
                          <a:spcPts val="0"/>
                        </a:spcAft>
                        <a:buNone/>
                      </a:pPr>
                      <a:r>
                        <a:rPr lang="en-US" sz="800" b="1">
                          <a:solidFill>
                            <a:schemeClr val="dk1"/>
                          </a:solidFill>
                          <a:latin typeface="Calibri"/>
                          <a:ea typeface="Calibri"/>
                          <a:cs typeface="Calibri"/>
                          <a:sym typeface="Calibri"/>
                        </a:rPr>
                        <a:t>16R : </a:t>
                      </a:r>
                      <a:r>
                        <a:rPr lang="en-US" sz="800" b="1">
                          <a:solidFill>
                            <a:srgbClr val="0070C0"/>
                          </a:solidFill>
                          <a:latin typeface="Calibri"/>
                          <a:ea typeface="Calibri"/>
                          <a:cs typeface="Calibri"/>
                          <a:sym typeface="Calibri"/>
                        </a:rPr>
                        <a:t>P6(5597’), </a:t>
                      </a:r>
                      <a:r>
                        <a:rPr lang="en-US" sz="800" b="1">
                          <a:solidFill>
                            <a:schemeClr val="dk1"/>
                          </a:solidFill>
                          <a:latin typeface="Calibri"/>
                          <a:ea typeface="Calibri"/>
                          <a:cs typeface="Calibri"/>
                          <a:sym typeface="Calibri"/>
                        </a:rPr>
                        <a:t>P5(6574’), 16L : </a:t>
                      </a:r>
                      <a:r>
                        <a:rPr lang="en-US" sz="800" b="1">
                          <a:solidFill>
                            <a:srgbClr val="0070C0"/>
                          </a:solidFill>
                          <a:latin typeface="Calibri"/>
                          <a:ea typeface="Calibri"/>
                          <a:cs typeface="Calibri"/>
                          <a:sym typeface="Calibri"/>
                        </a:rPr>
                        <a:t>N3(7043‘), </a:t>
                      </a:r>
                      <a:r>
                        <a:rPr lang="en-US" sz="800" b="1">
                          <a:solidFill>
                            <a:schemeClr val="dk1"/>
                          </a:solidFill>
                          <a:latin typeface="Calibri"/>
                          <a:ea typeface="Calibri"/>
                          <a:cs typeface="Calibri"/>
                          <a:sym typeface="Calibri"/>
                        </a:rPr>
                        <a:t>N2(8444‘)</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9"/>
                  </a:ext>
                </a:extLst>
              </a:tr>
              <a:tr h="101600">
                <a:tc gridSpan="4">
                  <a:txBody>
                    <a:bodyPr/>
                    <a:lstStyle/>
                    <a:p>
                      <a:pPr marL="0" marR="0" lvl="0" indent="0" algn="l" rtl="0">
                        <a:spcBef>
                          <a:spcPts val="0"/>
                        </a:spcBef>
                        <a:spcAft>
                          <a:spcPts val="0"/>
                        </a:spcAft>
                        <a:buNone/>
                      </a:pPr>
                      <a:r>
                        <a:rPr lang="en-US" sz="800" dirty="0">
                          <a:latin typeface="Calibri"/>
                          <a:ea typeface="Calibri"/>
                          <a:cs typeface="Calibri"/>
                          <a:sym typeface="Calibri"/>
                        </a:rPr>
                        <a:t>8NM 180kts, 5NM 160kts, Parr TAXI 10kts이상, </a:t>
                      </a:r>
                      <a:r>
                        <a:rPr lang="en-US" sz="800" b="1" dirty="0">
                          <a:solidFill>
                            <a:srgbClr val="0070C0"/>
                          </a:solidFill>
                          <a:latin typeface="Calibri"/>
                          <a:ea typeface="Calibri"/>
                          <a:cs typeface="Calibri"/>
                          <a:sym typeface="Calibri"/>
                        </a:rPr>
                        <a:t>HIRO</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10"/>
                  </a:ext>
                </a:extLst>
              </a:tr>
            </a:tbl>
          </a:graphicData>
        </a:graphic>
      </p:graphicFrame>
      <p:graphicFrame>
        <p:nvGraphicFramePr>
          <p:cNvPr id="284" name="Google Shape;284;p17"/>
          <p:cNvGraphicFramePr/>
          <p:nvPr>
            <p:extLst>
              <p:ext uri="{D42A27DB-BD31-4B8C-83A1-F6EECF244321}">
                <p14:modId xmlns:p14="http://schemas.microsoft.com/office/powerpoint/2010/main" val="533897768"/>
              </p:ext>
            </p:extLst>
          </p:nvPr>
        </p:nvGraphicFramePr>
        <p:xfrm>
          <a:off x="-2501" y="16504"/>
          <a:ext cx="2328850" cy="59406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100" dirty="0">
                          <a:solidFill>
                            <a:schemeClr val="bg1"/>
                          </a:solidFill>
                          <a:hlinkClick r:id="rId3">
                            <a:extLst>
                              <a:ext uri="{A12FA001-AC4F-418D-AE19-62706E023703}">
                                <ahyp:hlinkClr xmlns:ahyp="http://schemas.microsoft.com/office/drawing/2018/hyperlinkcolor" val="tx"/>
                              </a:ext>
                            </a:extLst>
                          </a:hlinkClick>
                        </a:rPr>
                        <a:t>PGUM(GUM) </a:t>
                      </a:r>
                      <a:r>
                        <a:rPr lang="en-US" altLang="ko-Kore-KR" sz="1100" dirty="0">
                          <a:solidFill>
                            <a:srgbClr val="C00000"/>
                          </a:solidFill>
                          <a:hlinkClick r:id="rId3">
                            <a:extLst>
                              <a:ext uri="{A12FA001-AC4F-418D-AE19-62706E023703}">
                                <ahyp:hlinkClr xmlns:ahyp="http://schemas.microsoft.com/office/drawing/2018/hyperlinkcolor" val="tx"/>
                              </a:ext>
                            </a:extLst>
                          </a:hlinkClick>
                        </a:rPr>
                        <a:t>305ft</a:t>
                      </a:r>
                      <a:endParaRPr lang="en-US" altLang="ko-Kore-KR" sz="11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RKSI(ICN) 23ft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altLang="ko-Kore-KR" sz="600" dirty="0"/>
                        <a:t>Menzies Operations   </a:t>
                      </a:r>
                      <a:r>
                        <a:rPr lang="en-US" altLang="ko-Kore-KR" sz="900" dirty="0"/>
                        <a:t>129.4</a:t>
                      </a:r>
                    </a:p>
                    <a:p>
                      <a:pPr marL="0" marR="0" lvl="0" indent="0" algn="ctr" rtl="0">
                        <a:spcBef>
                          <a:spcPts val="0"/>
                        </a:spcBef>
                        <a:spcAft>
                          <a:spcPts val="0"/>
                        </a:spcAft>
                        <a:buNone/>
                      </a:pPr>
                      <a:r>
                        <a:rPr lang="en-US" sz="700">
                          <a:solidFill>
                            <a:srgbClr val="FF0000"/>
                          </a:solidFill>
                        </a:rPr>
                        <a:t>By Voice, No DATIS</a:t>
                      </a:r>
                      <a:endParaRPr sz="700" dirty="0">
                        <a:solidFill>
                          <a:srgbClr val="FF0000"/>
                        </a:solidFill>
                      </a:endParaRPr>
                    </a:p>
                  </a:txBody>
                  <a:tcPr marL="91450" marR="91450" marT="45725" marB="45725" anchor="ctr"/>
                </a:tc>
                <a:tc>
                  <a:txBody>
                    <a:bodyPr/>
                    <a:lstStyle/>
                    <a:p>
                      <a:pPr marL="0" marR="0" lvl="0" indent="0" algn="ctr" rtl="0">
                        <a:spcBef>
                          <a:spcPts val="0"/>
                        </a:spcBef>
                        <a:spcAft>
                          <a:spcPts val="0"/>
                        </a:spcAft>
                        <a:buNone/>
                      </a:pPr>
                      <a:r>
                        <a:rPr lang="en-US" sz="900" dirty="0"/>
                        <a:t>KE ICN 131.5</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pic>
        <p:nvPicPr>
          <p:cNvPr id="4" name="그림 3" descr="텍스트, 지도, 도표, 폰트이(가) 표시된 사진&#10;&#10;자동 생성된 설명">
            <a:extLst>
              <a:ext uri="{FF2B5EF4-FFF2-40B4-BE49-F238E27FC236}">
                <a16:creationId xmlns:a16="http://schemas.microsoft.com/office/drawing/2014/main" id="{87A0FC69-EC5A-98B1-ECF9-3EE0D15EB3CD}"/>
              </a:ext>
            </a:extLst>
          </p:cNvPr>
          <p:cNvPicPr>
            <a:picLocks noChangeAspect="1"/>
          </p:cNvPicPr>
          <p:nvPr/>
        </p:nvPicPr>
        <p:blipFill>
          <a:blip r:embed="rId5"/>
          <a:stretch>
            <a:fillRect/>
          </a:stretch>
        </p:blipFill>
        <p:spPr>
          <a:xfrm>
            <a:off x="6594" y="2257781"/>
            <a:ext cx="914393" cy="932272"/>
          </a:xfrm>
          <a:prstGeom prst="rect">
            <a:avLst/>
          </a:prstGeom>
        </p:spPr>
      </p:pic>
      <p:sp>
        <p:nvSpPr>
          <p:cNvPr id="5" name="TextBox 4">
            <a:extLst>
              <a:ext uri="{FF2B5EF4-FFF2-40B4-BE49-F238E27FC236}">
                <a16:creationId xmlns:a16="http://schemas.microsoft.com/office/drawing/2014/main" id="{2C10DF35-4C8C-4BCD-35BF-D473906D8D90}"/>
              </a:ext>
            </a:extLst>
          </p:cNvPr>
          <p:cNvSpPr txBox="1"/>
          <p:nvPr/>
        </p:nvSpPr>
        <p:spPr>
          <a:xfrm>
            <a:off x="880917" y="2173448"/>
            <a:ext cx="1764127" cy="1017064"/>
          </a:xfrm>
          <a:prstGeom prst="rect">
            <a:avLst/>
          </a:prstGeom>
          <a:noFill/>
        </p:spPr>
        <p:txBody>
          <a:bodyPr wrap="squar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118.7</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SFO RDO </a:t>
            </a:r>
            <a:r>
              <a:rPr kumimoji="1" lang="en-US" altLang="ko-Kore-KR" sz="700" b="1" u="sng" dirty="0">
                <a:solidFill>
                  <a:srgbClr val="C00000"/>
                </a:solidFill>
                <a:latin typeface="Gulim" panose="020B0600000101010101" pitchFamily="34" charset="-127"/>
                <a:ea typeface="Gulim" panose="020B0600000101010101" pitchFamily="34" charset="-127"/>
              </a:rPr>
              <a:t>(NATSS) </a:t>
            </a:r>
            <a:r>
              <a:rPr kumimoji="1" lang="en-US" altLang="ko-Kore-KR" sz="700" b="1" u="sng" dirty="0">
                <a:solidFill>
                  <a:srgbClr val="0070C0"/>
                </a:solidFill>
                <a:latin typeface="Gulim" panose="020B0600000101010101" pitchFamily="34" charset="-127"/>
                <a:ea typeface="Gulim" panose="020B0600000101010101" pitchFamily="34" charset="-127"/>
              </a:rPr>
              <a:t>8870/6532</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TKO RDO </a:t>
            </a:r>
            <a:r>
              <a:rPr kumimoji="1" lang="en-US" altLang="ko-KR" sz="700" b="1" u="sng" dirty="0">
                <a:solidFill>
                  <a:srgbClr val="C00000"/>
                </a:solidFill>
                <a:latin typeface="Gulim" panose="020B0600000101010101" pitchFamily="34" charset="-127"/>
                <a:ea typeface="Gulim" panose="020B0600000101010101" pitchFamily="34" charset="-127"/>
              </a:rPr>
              <a:t>(PAKDO) </a:t>
            </a:r>
            <a:r>
              <a:rPr kumimoji="1" lang="en-US" altLang="ko-KR" sz="700" b="1" u="sng" dirty="0">
                <a:solidFill>
                  <a:srgbClr val="0070C0"/>
                </a:solidFill>
                <a:latin typeface="Gulim" panose="020B0600000101010101" pitchFamily="34" charset="-127"/>
                <a:ea typeface="Gulim" panose="020B0600000101010101" pitchFamily="34" charset="-127"/>
              </a:rPr>
              <a:t>3455/8903</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132.3 </a:t>
            </a:r>
            <a:r>
              <a:rPr kumimoji="1" lang="en-US" altLang="ko-Kore-KR" sz="700" b="1" u="sng" dirty="0">
                <a:solidFill>
                  <a:srgbClr val="C00000"/>
                </a:solidFill>
                <a:latin typeface="Gulim" panose="020B0600000101010101" pitchFamily="34" charset="-127"/>
                <a:ea typeface="Gulim" panose="020B0600000101010101" pitchFamily="34" charset="-127"/>
              </a:rPr>
              <a:t>(HIDEK)</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KOB 133.85 – 118.9</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TAE 125.37</a:t>
            </a:r>
          </a:p>
        </p:txBody>
      </p:sp>
      <p:sp>
        <p:nvSpPr>
          <p:cNvPr id="3" name="직사각형 2">
            <a:hlinkClick r:id="" action="ppaction://hlinkshowjump?jump=firstslide"/>
            <a:extLst>
              <a:ext uri="{FF2B5EF4-FFF2-40B4-BE49-F238E27FC236}">
                <a16:creationId xmlns:a16="http://schemas.microsoft.com/office/drawing/2014/main" id="{8F680019-B6B1-64EC-2F72-04F687483095}"/>
              </a:ext>
            </a:extLst>
          </p:cNvPr>
          <p:cNvSpPr/>
          <p:nvPr/>
        </p:nvSpPr>
        <p:spPr>
          <a:xfrm>
            <a:off x="1469976" y="3096153"/>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12E5B13E-BE59-CD40-278E-11D41D545401}"/>
              </a:ext>
            </a:extLst>
          </p:cNvPr>
          <p:cNvSpPr/>
          <p:nvPr/>
        </p:nvSpPr>
        <p:spPr>
          <a:xfrm>
            <a:off x="878084"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7"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20543663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2991349"/>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APP 128.5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125.6</a:t>
            </a:r>
          </a:p>
        </p:txBody>
      </p:sp>
      <p:graphicFrame>
        <p:nvGraphicFramePr>
          <p:cNvPr id="292" name="Google Shape;292;p18"/>
          <p:cNvGraphicFramePr/>
          <p:nvPr>
            <p:extLst>
              <p:ext uri="{D42A27DB-BD31-4B8C-83A1-F6EECF244321}">
                <p14:modId xmlns:p14="http://schemas.microsoft.com/office/powerpoint/2010/main" val="1919514618"/>
              </p:ext>
            </p:extLst>
          </p:nvPr>
        </p:nvGraphicFramePr>
        <p:xfrm>
          <a:off x="-2501" y="3903061"/>
          <a:ext cx="2327659" cy="1670378"/>
        </p:xfrm>
        <a:graphic>
          <a:graphicData uri="http://schemas.openxmlformats.org/drawingml/2006/table">
            <a:tbl>
              <a:tblPr firstRow="1" bandRow="1">
                <a:noFill/>
                <a:tableStyleId>{A521BE36-7E6F-4EC9-8D66-1CF97A6895EC}</a:tableStyleId>
              </a:tblPr>
              <a:tblGrid>
                <a:gridCol w="364547">
                  <a:extLst>
                    <a:ext uri="{9D8B030D-6E8A-4147-A177-3AD203B41FA5}">
                      <a16:colId xmlns:a16="http://schemas.microsoft.com/office/drawing/2014/main" val="20000"/>
                    </a:ext>
                  </a:extLst>
                </a:gridCol>
                <a:gridCol w="782392">
                  <a:extLst>
                    <a:ext uri="{9D8B030D-6E8A-4147-A177-3AD203B41FA5}">
                      <a16:colId xmlns:a16="http://schemas.microsoft.com/office/drawing/2014/main" val="20001"/>
                    </a:ext>
                  </a:extLst>
                </a:gridCol>
                <a:gridCol w="199164">
                  <a:extLst>
                    <a:ext uri="{9D8B030D-6E8A-4147-A177-3AD203B41FA5}">
                      <a16:colId xmlns:a16="http://schemas.microsoft.com/office/drawing/2014/main" val="502366202"/>
                    </a:ext>
                  </a:extLst>
                </a:gridCol>
                <a:gridCol w="351705">
                  <a:extLst>
                    <a:ext uri="{9D8B030D-6E8A-4147-A177-3AD203B41FA5}">
                      <a16:colId xmlns:a16="http://schemas.microsoft.com/office/drawing/2014/main" val="1226482719"/>
                    </a:ext>
                  </a:extLst>
                </a:gridCol>
                <a:gridCol w="118370">
                  <a:extLst>
                    <a:ext uri="{9D8B030D-6E8A-4147-A177-3AD203B41FA5}">
                      <a16:colId xmlns:a16="http://schemas.microsoft.com/office/drawing/2014/main" val="992510185"/>
                    </a:ext>
                  </a:extLst>
                </a:gridCol>
                <a:gridCol w="511481">
                  <a:extLst>
                    <a:ext uri="{9D8B030D-6E8A-4147-A177-3AD203B41FA5}">
                      <a16:colId xmlns:a16="http://schemas.microsoft.com/office/drawing/2014/main" val="2076907169"/>
                    </a:ext>
                  </a:extLst>
                </a:gridCol>
              </a:tblGrid>
              <a:tr h="324137">
                <a:tc gridSpan="6">
                  <a:txBody>
                    <a:bodyPr/>
                    <a:lstStyle/>
                    <a:p>
                      <a:pPr marL="0" marR="0" lvl="0" indent="0" algn="ctr" rtl="0">
                        <a:spcBef>
                          <a:spcPts val="0"/>
                        </a:spcBef>
                        <a:spcAft>
                          <a:spcPts val="0"/>
                        </a:spcAft>
                        <a:buNone/>
                      </a:pPr>
                      <a:r>
                        <a:rPr lang="en-US" altLang="ko-Kore-KR" sz="800" dirty="0"/>
                        <a:t>TPE : STAR TL130 </a:t>
                      </a:r>
                      <a:r>
                        <a:rPr lang="en-US" altLang="ko-Kore-KR" sz="800" dirty="0">
                          <a:solidFill>
                            <a:schemeClr val="accent4"/>
                          </a:solidFill>
                        </a:rPr>
                        <a:t>COPRA FL200 (</a:t>
                      </a:r>
                      <a:r>
                        <a:rPr lang="en-US" altLang="ko-Kore-KR" sz="800" b="0" dirty="0">
                          <a:solidFill>
                            <a:srgbClr val="FFC000"/>
                          </a:solidFill>
                        </a:rPr>
                        <a:t>FL250-130 : 280kts, FL130-10000ft : Max 280kts, APP Chart Text)</a:t>
                      </a:r>
                      <a:endParaRPr lang="en-US" altLang="ko-Kore-KR" sz="800" b="1" dirty="0">
                        <a:solidFill>
                          <a:srgbClr val="C00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243568">
                <a:tc>
                  <a:txBody>
                    <a:bodyPr/>
                    <a:lstStyle/>
                    <a:p>
                      <a:pPr marL="0" marR="0" lvl="0" indent="0" algn="ctr" rtl="0">
                        <a:spcBef>
                          <a:spcPts val="0"/>
                        </a:spcBef>
                        <a:spcAft>
                          <a:spcPts val="0"/>
                        </a:spcAft>
                        <a:buNone/>
                      </a:pPr>
                      <a:r>
                        <a:rPr lang="en-US" altLang="ko-KR" sz="800" b="1" dirty="0"/>
                        <a:t>05</a:t>
                      </a:r>
                      <a:r>
                        <a:rPr lang="en-US" sz="800" b="1" dirty="0"/>
                        <a:t>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BAKER xx A</a:t>
                      </a:r>
                      <a:endParaRPr lang="en-US" sz="700" b="1" dirty="0"/>
                    </a:p>
                  </a:txBody>
                  <a:tcPr marL="36000" marR="36000" marT="36000" marB="36000" anchor="ctr"/>
                </a:tc>
                <a:tc gridSpan="2">
                  <a:txBody>
                    <a:bodyPr/>
                    <a:lstStyle/>
                    <a:p>
                      <a:pPr algn="ctr"/>
                      <a:r>
                        <a:rPr lang="en-US" altLang="ko-Kore-KR" sz="800" b="1" dirty="0"/>
                        <a:t>JAMMY</a:t>
                      </a:r>
                      <a:endParaRPr lang="ko-Kore-KR" altLang="en-US"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dirty="0"/>
                        <a:t>ILS 05L</a:t>
                      </a:r>
                      <a:r>
                        <a:rPr lang="en-US" sz="800" b="0" dirty="0"/>
                        <a:t>/R</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37479">
                <a:tc>
                  <a:txBody>
                    <a:bodyPr/>
                    <a:lstStyle/>
                    <a:p>
                      <a:pPr marL="0" marR="0" lvl="0" indent="0" algn="ctr" rtl="0">
                        <a:spcBef>
                          <a:spcPts val="0"/>
                        </a:spcBef>
                        <a:spcAft>
                          <a:spcPts val="0"/>
                        </a:spcAft>
                        <a:buNone/>
                      </a:pPr>
                      <a:r>
                        <a:rPr lang="en-US" altLang="ko-KR" sz="800" b="1" dirty="0"/>
                        <a:t>23</a:t>
                      </a:r>
                      <a:r>
                        <a:rPr lang="en-US" sz="800" b="1" dirty="0"/>
                        <a:t>R</a:t>
                      </a:r>
                      <a:r>
                        <a:rPr lang="en-US" sz="800" b="0" dirty="0"/>
                        <a:t>/L</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BAKER xx B</a:t>
                      </a:r>
                      <a:endParaRPr lang="en-US" altLang="ko-Kore-KR" sz="800" b="1" dirty="0"/>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AUGUR</a:t>
                      </a:r>
                      <a:endParaRPr lang="ko-Kore-KR" altLang="en-US" dirty="0"/>
                    </a:p>
                  </a:txBody>
                  <a:tcPr marL="36000" marR="36000" marT="36000" marB="36000" anchor="ctr"/>
                </a:tc>
                <a:tc hMerge="1">
                  <a:txBody>
                    <a:bodyPr/>
                    <a:lstStyle/>
                    <a:p>
                      <a:endParaRPr lang="ko-Kore-KR" altLang="en-US"/>
                    </a:p>
                  </a:txBody>
                  <a:tcPr/>
                </a:tc>
                <a:tc gridSpan="2">
                  <a:txBody>
                    <a:bodyPr/>
                    <a:lstStyle/>
                    <a:p>
                      <a:pPr algn="ctr"/>
                      <a:r>
                        <a:rPr lang="en-US" sz="800" b="1" dirty="0"/>
                        <a:t>ILS 23R</a:t>
                      </a:r>
                      <a:r>
                        <a:rPr lang="en-US" sz="800" b="0" dirty="0"/>
                        <a:t>/L</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37479">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05L(74’)</a:t>
                      </a:r>
                      <a:endParaRPr sz="800" b="1" dirty="0">
                        <a:solidFill>
                          <a:srgbClr val="C00000"/>
                        </a:solidFill>
                      </a:endParaRPr>
                    </a:p>
                  </a:txBody>
                  <a:tcPr marL="36000" marR="36000" marT="36000" marB="36000" anchor="ct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12008’</a:t>
                      </a:r>
                      <a:endParaRPr sz="800" b="1" dirty="0">
                        <a:solidFill>
                          <a:srgbClr val="00B05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23R(63’)</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37479">
                <a:tc vMerge="1">
                  <a:txBody>
                    <a:bodyPr/>
                    <a:lstStyle/>
                    <a:p>
                      <a:endParaRPr lang="ko-Kore-KR"/>
                    </a:p>
                  </a:txBody>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05R(107’) </a:t>
                      </a:r>
                      <a:r>
                        <a:rPr lang="en-US" sz="800" b="1" dirty="0">
                          <a:solidFill>
                            <a:srgbClr val="FF0000"/>
                          </a:solidFill>
                        </a:rPr>
                        <a:t>DIS 12139’</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12467’</a:t>
                      </a:r>
                      <a:endParaRPr sz="800" b="1" dirty="0">
                        <a:solidFill>
                          <a:srgbClr val="00B050"/>
                        </a:solidFill>
                      </a:endParaRPr>
                    </a:p>
                  </a:txBody>
                  <a:tcPr marL="36000" marR="36000" marT="36000" marB="36000" anchor="ctr"/>
                </a:tc>
                <a:tc gridSpan="3">
                  <a:txBody>
                    <a:bodyPr/>
                    <a:lstStyle/>
                    <a:p>
                      <a:pPr marL="0" marR="0" lvl="0" indent="0" algn="ctr" defTabSz="914400" rtl="0" eaLnBrk="1" fontAlgn="auto" latinLnBrk="0" hangingPunct="1">
                        <a:lnSpc>
                          <a:spcPct val="100000"/>
                        </a:lnSpc>
                        <a:spcBef>
                          <a:spcPts val="0"/>
                        </a:spcBef>
                        <a:spcAft>
                          <a:spcPts val="0"/>
                        </a:spcAft>
                        <a:buClr>
                          <a:srgbClr val="00B050"/>
                        </a:buClr>
                        <a:buSzPts val="800"/>
                        <a:buFont typeface="Calibri"/>
                        <a:buNone/>
                        <a:tabLst/>
                        <a:defRPr/>
                      </a:pPr>
                      <a:r>
                        <a:rPr lang="en-US" altLang="ko-KR" sz="800" b="1" dirty="0">
                          <a:solidFill>
                            <a:srgbClr val="00B050"/>
                          </a:solidFill>
                        </a:rPr>
                        <a:t>23L(96’) </a:t>
                      </a:r>
                      <a:r>
                        <a:rPr lang="en-US" altLang="ko-KR" sz="800" b="1" dirty="0">
                          <a:solidFill>
                            <a:srgbClr val="FF0000"/>
                          </a:solidFill>
                        </a:rPr>
                        <a:t>DIS 11319’</a:t>
                      </a:r>
                      <a:endParaRPr lang="en-US" altLang="ko-Kore-KR" sz="800" b="1" dirty="0">
                        <a:solidFill>
                          <a:srgbClr val="FF000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23L(96’)</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223913">
                <a:tc gridSpan="6">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05L : N7(5787’), N6(6738’),  23R : N6(4468’), N4(6656’)</a:t>
                      </a:r>
                      <a:endParaRPr sz="800" dirty="0">
                        <a:solidFill>
                          <a:schemeClr val="dk1"/>
                        </a:solidFill>
                      </a:endParaRPr>
                    </a:p>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dk1"/>
                          </a:solidFill>
                        </a:rPr>
                        <a:t>05R : S6(5419’), S7(7244’), 23L : S5(5442’), S4(7470’)</a:t>
                      </a:r>
                      <a:r>
                        <a:rPr lang="en-US" sz="800" dirty="0">
                          <a:solidFill>
                            <a:schemeClr val="dk1"/>
                          </a:solidFill>
                        </a:rPr>
                        <a:t> </a:t>
                      </a:r>
                      <a:endParaRPr dirty="0"/>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37479">
                <a:tc gridSpan="6">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No VOR at TPE, </a:t>
                      </a:r>
                      <a:r>
                        <a:rPr lang="en-US" sz="800" b="1" dirty="0">
                          <a:solidFill>
                            <a:srgbClr val="C00000"/>
                          </a:solidFill>
                        </a:rPr>
                        <a:t>A-VDGS see above</a:t>
                      </a: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2459661021"/>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RCTP(TPE)108ft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lnSpc>
                          <a:spcPct val="100000"/>
                        </a:lnSpc>
                        <a:spcBef>
                          <a:spcPts val="0"/>
                        </a:spcBef>
                        <a:spcAft>
                          <a:spcPts val="0"/>
                        </a:spcAft>
                        <a:buClr>
                          <a:srgbClr val="FF0000"/>
                        </a:buClr>
                        <a:buSzPts val="600"/>
                        <a:buFont typeface="Calibri"/>
                        <a:buNone/>
                      </a:pPr>
                      <a:r>
                        <a:rPr lang="en-US" sz="800" dirty="0">
                          <a:solidFill>
                            <a:srgbClr val="FF0000"/>
                          </a:solidFill>
                          <a:latin typeface="Calibri"/>
                          <a:ea typeface="Calibri"/>
                          <a:cs typeface="Calibri"/>
                          <a:sym typeface="Calibri"/>
                        </a:rPr>
                        <a:t>DCL -5분</a:t>
                      </a:r>
                      <a:endParaRPr sz="105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Dynasty Operation 131.3</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8BFDA17-699D-A0C3-A1F6-B1CDE98B3DE3}"/>
              </a:ext>
            </a:extLst>
          </p:cNvPr>
          <p:cNvSpPr/>
          <p:nvPr/>
        </p:nvSpPr>
        <p:spPr>
          <a:xfrm>
            <a:off x="1469976" y="3426031"/>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47;p13">
            <a:extLst>
              <a:ext uri="{FF2B5EF4-FFF2-40B4-BE49-F238E27FC236}">
                <a16:creationId xmlns:a16="http://schemas.microsoft.com/office/drawing/2014/main" id="{0A1B02FF-5F26-C6D7-81DB-46D44D71B267}"/>
              </a:ext>
            </a:extLst>
          </p:cNvPr>
          <p:cNvGraphicFramePr/>
          <p:nvPr>
            <p:extLst>
              <p:ext uri="{D42A27DB-BD31-4B8C-83A1-F6EECF244321}">
                <p14:modId xmlns:p14="http://schemas.microsoft.com/office/powerpoint/2010/main" val="3404171429"/>
              </p:ext>
            </p:extLst>
          </p:nvPr>
        </p:nvGraphicFramePr>
        <p:xfrm>
          <a:off x="0" y="640973"/>
          <a:ext cx="2330925" cy="174265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61400">
                  <a:extLst>
                    <a:ext uri="{9D8B030D-6E8A-4147-A177-3AD203B41FA5}">
                      <a16:colId xmlns:a16="http://schemas.microsoft.com/office/drawing/2014/main" val="20006"/>
                    </a:ext>
                  </a:extLst>
                </a:gridCol>
                <a:gridCol w="277900">
                  <a:extLst>
                    <a:ext uri="{9D8B030D-6E8A-4147-A177-3AD203B41FA5}">
                      <a16:colId xmlns:a16="http://schemas.microsoft.com/office/drawing/2014/main" val="20007"/>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1">
                  <a:txBody>
                    <a:bodyPr/>
                    <a:lstStyle/>
                    <a:p>
                      <a:pPr marL="0" marR="0" lvl="0" indent="0" algn="ctr" rtl="0">
                        <a:spcBef>
                          <a:spcPts val="0"/>
                        </a:spcBef>
                        <a:spcAft>
                          <a:spcPts val="0"/>
                        </a:spcAft>
                        <a:buNone/>
                      </a:pPr>
                      <a:r>
                        <a:rPr lang="en-US" sz="800" dirty="0"/>
                        <a:t>PUS : SID </a:t>
                      </a:r>
                      <a:r>
                        <a:rPr lang="en-US" sz="800" dirty="0">
                          <a:solidFill>
                            <a:srgbClr val="FFC000"/>
                          </a:solidFill>
                        </a:rPr>
                        <a:t>(Mod NADP CLB2 1000, 14000 MAX)</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30</a:t>
                      </a:r>
                      <a:r>
                        <a:rPr lang="en-US" altLang="ko-KR" sz="800" b="1" dirty="0">
                          <a:solidFill>
                            <a:srgbClr val="0070C0"/>
                          </a:solidFill>
                        </a:rPr>
                        <a:t>6</a:t>
                      </a:r>
                      <a:endParaRPr sz="458"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280</a:t>
                      </a:r>
                      <a:endParaRPr sz="800"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B050"/>
                          </a:solidFill>
                        </a:rPr>
                        <a:t>27</a:t>
                      </a:r>
                      <a:r>
                        <a:rPr lang="en-US" altLang="ko-KR" sz="800" b="1" dirty="0">
                          <a:solidFill>
                            <a:srgbClr val="00B050"/>
                          </a:solidFill>
                        </a:rPr>
                        <a:t>9</a:t>
                      </a: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182</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182</a:t>
                      </a:r>
                      <a:endParaRPr sz="800" b="1"/>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182</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a:t>36 : KMH R091, R271, R185</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18R(13’) 8530’</a:t>
                      </a:r>
                      <a:endParaRPr sz="800" b="1">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18L(13’) 8999’</a:t>
                      </a:r>
                      <a:endParaRPr sz="800" b="1">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7" name="Google Shape;248;p13">
            <a:extLst>
              <a:ext uri="{FF2B5EF4-FFF2-40B4-BE49-F238E27FC236}">
                <a16:creationId xmlns:a16="http://schemas.microsoft.com/office/drawing/2014/main" id="{7031B509-E213-E55A-D00C-2A7E716876D9}"/>
              </a:ext>
            </a:extLst>
          </p:cNvPr>
          <p:cNvPicPr preferRelativeResize="0"/>
          <p:nvPr/>
        </p:nvPicPr>
        <p:blipFill rotWithShape="1">
          <a:blip r:embed="rId7">
            <a:alphaModFix/>
          </a:blip>
          <a:srcRect/>
          <a:stretch/>
        </p:blipFill>
        <p:spPr>
          <a:xfrm>
            <a:off x="4472" y="2383655"/>
            <a:ext cx="1559909" cy="651823"/>
          </a:xfrm>
          <a:prstGeom prst="rect">
            <a:avLst/>
          </a:prstGeom>
          <a:noFill/>
          <a:ln>
            <a:noFill/>
          </a:ln>
        </p:spPr>
      </p:pic>
      <p:pic>
        <p:nvPicPr>
          <p:cNvPr id="10" name="그림 9" descr="텍스트, 도표, 스크린샷, 폰트이(가) 표시된 사진&#10;&#10;자동 생성된 설명">
            <a:extLst>
              <a:ext uri="{FF2B5EF4-FFF2-40B4-BE49-F238E27FC236}">
                <a16:creationId xmlns:a16="http://schemas.microsoft.com/office/drawing/2014/main" id="{F64CEF4C-47A5-8D86-A1CC-D5A6FCB5450E}"/>
              </a:ext>
            </a:extLst>
          </p:cNvPr>
          <p:cNvPicPr>
            <a:picLocks noChangeAspect="1"/>
          </p:cNvPicPr>
          <p:nvPr/>
        </p:nvPicPr>
        <p:blipFill>
          <a:blip r:embed="rId8"/>
          <a:stretch>
            <a:fillRect/>
          </a:stretch>
        </p:blipFill>
        <p:spPr>
          <a:xfrm>
            <a:off x="532272" y="3352795"/>
            <a:ext cx="867550" cy="558019"/>
          </a:xfrm>
          <a:prstGeom prst="rect">
            <a:avLst/>
          </a:prstGeom>
        </p:spPr>
      </p:pic>
    </p:spTree>
    <p:extLst>
      <p:ext uri="{BB962C8B-B14F-4D97-AF65-F5344CB8AC3E}">
        <p14:creationId xmlns:p14="http://schemas.microsoft.com/office/powerpoint/2010/main" val="101782276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1570534173"/>
              </p:ext>
            </p:extLst>
          </p:nvPr>
        </p:nvGraphicFramePr>
        <p:xfrm>
          <a:off x="-4046" y="643000"/>
          <a:ext cx="2347194" cy="1498810"/>
        </p:xfrm>
        <a:graphic>
          <a:graphicData uri="http://schemas.openxmlformats.org/drawingml/2006/table">
            <a:tbl>
              <a:tblPr firstRow="1" bandRow="1">
                <a:noFill/>
                <a:tableStyleId>{A521BE36-7E6F-4EC9-8D66-1CF97A6895EC}</a:tableStyleId>
              </a:tblPr>
              <a:tblGrid>
                <a:gridCol w="335409">
                  <a:extLst>
                    <a:ext uri="{9D8B030D-6E8A-4147-A177-3AD203B41FA5}">
                      <a16:colId xmlns:a16="http://schemas.microsoft.com/office/drawing/2014/main" val="20000"/>
                    </a:ext>
                  </a:extLst>
                </a:gridCol>
                <a:gridCol w="168843">
                  <a:extLst>
                    <a:ext uri="{9D8B030D-6E8A-4147-A177-3AD203B41FA5}">
                      <a16:colId xmlns:a16="http://schemas.microsoft.com/office/drawing/2014/main" val="20002"/>
                    </a:ext>
                  </a:extLst>
                </a:gridCol>
                <a:gridCol w="602910">
                  <a:extLst>
                    <a:ext uri="{9D8B030D-6E8A-4147-A177-3AD203B41FA5}">
                      <a16:colId xmlns:a16="http://schemas.microsoft.com/office/drawing/2014/main" val="20003"/>
                    </a:ext>
                  </a:extLst>
                </a:gridCol>
                <a:gridCol w="288612">
                  <a:extLst>
                    <a:ext uri="{9D8B030D-6E8A-4147-A177-3AD203B41FA5}">
                      <a16:colId xmlns:a16="http://schemas.microsoft.com/office/drawing/2014/main" val="20005"/>
                    </a:ext>
                  </a:extLst>
                </a:gridCol>
                <a:gridCol w="337023">
                  <a:extLst>
                    <a:ext uri="{9D8B030D-6E8A-4147-A177-3AD203B41FA5}">
                      <a16:colId xmlns:a16="http://schemas.microsoft.com/office/drawing/2014/main" val="20006"/>
                    </a:ext>
                  </a:extLst>
                </a:gridCol>
                <a:gridCol w="325783">
                  <a:extLst>
                    <a:ext uri="{9D8B030D-6E8A-4147-A177-3AD203B41FA5}">
                      <a16:colId xmlns:a16="http://schemas.microsoft.com/office/drawing/2014/main" val="20008"/>
                    </a:ext>
                  </a:extLst>
                </a:gridCol>
                <a:gridCol w="288614">
                  <a:extLst>
                    <a:ext uri="{9D8B030D-6E8A-4147-A177-3AD203B41FA5}">
                      <a16:colId xmlns:a16="http://schemas.microsoft.com/office/drawing/2014/main" val="448940902"/>
                    </a:ext>
                  </a:extLst>
                </a:gridCol>
              </a:tblGrid>
              <a:tr h="0">
                <a:tc gridSpan="7">
                  <a:txBody>
                    <a:bodyPr/>
                    <a:lstStyle/>
                    <a:p>
                      <a:pPr marL="0" marR="0" lvl="0" indent="0" algn="ctr" rtl="0">
                        <a:spcBef>
                          <a:spcPts val="0"/>
                        </a:spcBef>
                        <a:spcAft>
                          <a:spcPts val="0"/>
                        </a:spcAft>
                        <a:buNone/>
                      </a:pPr>
                      <a:r>
                        <a:rPr lang="en-US" sz="800" u="none" strike="noStrike" cap="none" dirty="0"/>
                        <a:t>TPE : RNAV SID (NADP 1) TA 11000</a:t>
                      </a:r>
                    </a:p>
                    <a:p>
                      <a:pPr marL="0" marR="0" lvl="0" indent="0" algn="ctr" rtl="0">
                        <a:spcBef>
                          <a:spcPts val="0"/>
                        </a:spcBef>
                        <a:spcAft>
                          <a:spcPts val="0"/>
                        </a:spcAft>
                        <a:buNone/>
                      </a:pPr>
                      <a:r>
                        <a:rPr lang="en-US" sz="800" u="none" strike="noStrike" cap="none" dirty="0">
                          <a:solidFill>
                            <a:schemeClr val="accent4"/>
                          </a:solidFill>
                        </a:rPr>
                        <a:t>Be Ready Intersection T/O, A030 -&gt; 3000ft</a:t>
                      </a:r>
                    </a:p>
                  </a:txBody>
                  <a:tcPr marL="36000" marR="7200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05R</a:t>
                      </a:r>
                      <a:r>
                        <a:rPr lang="en-US" sz="800" b="0" u="none" strike="noStrike" cap="none" dirty="0"/>
                        <a:t>/L</a:t>
                      </a:r>
                    </a:p>
                  </a:txBody>
                  <a:tcPr marL="36000" marR="36000" marT="36000" marB="36000" anchor="ctr"/>
                </a:tc>
                <a:tc gridSpan="2">
                  <a:txBody>
                    <a:bodyPr/>
                    <a:lstStyle/>
                    <a:p>
                      <a:pPr algn="ctr"/>
                      <a:r>
                        <a:rPr lang="en-US" sz="800" b="1" u="none" strike="noStrike" cap="none" dirty="0">
                          <a:solidFill>
                            <a:srgbClr val="0070C0"/>
                          </a:solidFill>
                        </a:rPr>
                        <a:t>PIANO </a:t>
                      </a:r>
                      <a:r>
                        <a:rPr lang="en-US" sz="800" b="1" u="none" strike="noStrike" cap="none" dirty="0" err="1">
                          <a:solidFill>
                            <a:srgbClr val="0070C0"/>
                          </a:solidFill>
                        </a:rPr>
                        <a:t>xxA</a:t>
                      </a:r>
                      <a:r>
                        <a:rPr lang="en-US" sz="800" b="1" u="none" strike="noStrike" cap="none" dirty="0">
                          <a:solidFill>
                            <a:srgbClr val="0070C0"/>
                          </a:solidFill>
                        </a:rPr>
                        <a:t>/C</a:t>
                      </a:r>
                      <a:endParaRPr lang="ko-Kore-KR" dirty="0"/>
                    </a:p>
                  </a:txBody>
                  <a:tcPr marL="36000" marR="36000" marT="36000" marB="36000" anchor="ctr"/>
                </a:tc>
                <a:tc hMerge="1">
                  <a:txBody>
                    <a:bodyPr/>
                    <a:lstStyle/>
                    <a:p>
                      <a:endParaRPr lang="ko-Kore-KR"/>
                    </a:p>
                  </a:txBody>
                  <a:tcPr/>
                </a:tc>
                <a:tc>
                  <a:txBody>
                    <a:bodyPr/>
                    <a:lstStyle/>
                    <a:p>
                      <a:pPr algn="ctr"/>
                      <a:r>
                        <a:rPr lang="en-US" sz="800" b="1" u="none" strike="noStrike" cap="none" dirty="0">
                          <a:solidFill>
                            <a:srgbClr val="C00000"/>
                          </a:solidFill>
                        </a:rPr>
                        <a:t>054</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054</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a:solidFill>
                            <a:srgbClr val="0070C0"/>
                          </a:solidFill>
                        </a:rPr>
                        <a:t>ATC</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054</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23L</a:t>
                      </a:r>
                      <a:r>
                        <a:rPr lang="en-US" sz="800" b="0" u="none" strike="noStrike" cap="none" dirty="0"/>
                        <a:t>/R</a:t>
                      </a:r>
                      <a:endParaRPr sz="800" b="0" u="none" strike="noStrike" cap="none" dirty="0"/>
                    </a:p>
                  </a:txBody>
                  <a:tcPr marL="36000" marR="36000" marT="36000" marB="36000" anchor="ctr"/>
                </a:tc>
                <a:tc gridSpan="2">
                  <a:txBody>
                    <a:bodyPr/>
                    <a:lstStyle/>
                    <a:p>
                      <a:pPr algn="ctr"/>
                      <a:r>
                        <a:rPr lang="en-US" altLang="ko-Kore-KR" sz="800" b="1" u="none" strike="noStrike" cap="none" dirty="0">
                          <a:solidFill>
                            <a:srgbClr val="0070C0"/>
                          </a:solidFill>
                        </a:rPr>
                        <a:t>PIANO </a:t>
                      </a:r>
                      <a:r>
                        <a:rPr lang="en-US" altLang="ko-Kore-KR" sz="800" b="1" u="none" strike="noStrike" cap="none" dirty="0" err="1">
                          <a:solidFill>
                            <a:srgbClr val="0070C0"/>
                          </a:solidFill>
                        </a:rPr>
                        <a:t>xxD</a:t>
                      </a:r>
                      <a:r>
                        <a:rPr lang="en-US" altLang="ko-Kore-KR" sz="800" b="1" u="none" strike="noStrike" cap="none" dirty="0">
                          <a:solidFill>
                            <a:srgbClr val="0070C0"/>
                          </a:solidFill>
                        </a:rPr>
                        <a:t>/B</a:t>
                      </a:r>
                      <a:endParaRPr lang="ko-Kore-KR" dirty="0"/>
                    </a:p>
                  </a:txBody>
                  <a:tcPr marL="36000" marR="36000" marT="36000" marB="36000" anchor="ctr"/>
                </a:tc>
                <a:tc hMerge="1">
                  <a:txBody>
                    <a:bodyPr/>
                    <a:lstStyle/>
                    <a:p>
                      <a:endParaRPr lang="ko-Kore-KR"/>
                    </a:p>
                  </a:txBody>
                  <a:tcPr/>
                </a:tc>
                <a:tc>
                  <a:txBody>
                    <a:bodyPr/>
                    <a:lstStyle/>
                    <a:p>
                      <a:pPr algn="ctr"/>
                      <a:r>
                        <a:rPr lang="en-US" sz="800" b="1" u="none" strike="noStrike" cap="none" dirty="0">
                          <a:solidFill>
                            <a:srgbClr val="C00000"/>
                          </a:solidFill>
                        </a:rPr>
                        <a:t>234</a:t>
                      </a:r>
                      <a:endParaRPr lang="ko-Kore-KR"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t>234</a:t>
                      </a:r>
                      <a:endParaRPr sz="800" b="1" u="none" strike="noStrike" cap="none" dirty="0"/>
                    </a:p>
                  </a:txBody>
                  <a:tcPr marL="36000" marR="36000" marT="36000" marB="36000" anchor="ctr"/>
                </a:tc>
                <a:tc>
                  <a:txBody>
                    <a:bodyPr/>
                    <a:lstStyle/>
                    <a:p>
                      <a:pPr marL="0" marR="0" lvl="0" indent="0" algn="ctr" rtl="0">
                        <a:spcBef>
                          <a:spcPts val="0"/>
                        </a:spcBef>
                        <a:spcAft>
                          <a:spcPts val="0"/>
                        </a:spcAft>
                        <a:buNone/>
                      </a:pPr>
                      <a:r>
                        <a:rPr lang="en-US" sz="800" b="1" u="none" strike="noStrike" cap="none" dirty="0">
                          <a:solidFill>
                            <a:srgbClr val="0070C0"/>
                          </a:solidFill>
                        </a:rPr>
                        <a:t>ATC</a:t>
                      </a:r>
                      <a:endParaRPr sz="800" b="1" u="none" strike="noStrike" cap="none" dirty="0">
                        <a:solidFill>
                          <a:srgbClr val="0070C0"/>
                        </a:solidFill>
                      </a:endParaRPr>
                    </a:p>
                  </a:txBody>
                  <a:tcPr marL="36000" marR="36000" marT="36000" marB="36000" anchor="ctr"/>
                </a:tc>
                <a:tc>
                  <a:txBody>
                    <a:bodyPr/>
                    <a:lstStyle/>
                    <a:p>
                      <a:pPr algn="ctr"/>
                      <a:r>
                        <a:rPr lang="en-US" altLang="ko-Kore-KR" sz="800" b="1" u="none" strike="noStrike" cap="none" dirty="0">
                          <a:solidFill>
                            <a:srgbClr val="C00000"/>
                          </a:solidFill>
                        </a:rPr>
                        <a:t>234</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05L 111.1</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23R 109.3</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110.7</a:t>
                      </a:r>
                      <a:endParaRPr lang="ko-Kore-KR" dirty="0"/>
                    </a:p>
                  </a:txBody>
                  <a:tcPr marL="36000" marR="36000" marT="36000" marB="36000" anchor="ctr"/>
                </a:tc>
                <a:tc hMerge="1">
                  <a:txBody>
                    <a:bodyPr/>
                    <a:lstStyle/>
                    <a:p>
                      <a:endParaRPr lang="ko-Kore-KR"/>
                    </a:p>
                  </a:txBody>
                  <a:tcPr/>
                </a:tc>
                <a:tc gridSpan="2">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111.9</a:t>
                      </a:r>
                      <a:endParaRPr lang="ko-Kore-KR" dirty="0"/>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05L(74’)</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12008</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23R(63’)</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5"/>
                  </a:ext>
                </a:extLst>
              </a:tr>
              <a:tr h="101600">
                <a:tc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u="none" strike="noStrike" cap="none" dirty="0">
                          <a:solidFill>
                            <a:srgbClr val="00B050"/>
                          </a:solidFill>
                          <a:latin typeface="Calibri"/>
                          <a:ea typeface="Calibri"/>
                          <a:cs typeface="Calibri"/>
                          <a:sym typeface="Calibri"/>
                        </a:rPr>
                        <a:t>05R(107’)</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12467’</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23L(96’)</a:t>
                      </a:r>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3444693353"/>
                  </a:ext>
                </a:extLst>
              </a:tr>
              <a:tr h="115700">
                <a:tc gridSpan="7">
                  <a:txBody>
                    <a:bodyPr/>
                    <a:lstStyle/>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“DCT PIANO then L3 RNAV Transition”</a:t>
                      </a:r>
                    </a:p>
                  </a:txBody>
                  <a:tcPr marL="0" marR="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428776729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RCTP(TPE)108ft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Dynasty Operation 131.3</a:t>
                      </a:r>
                      <a:endParaRPr sz="1200" dirty="0"/>
                    </a:p>
                    <a:p>
                      <a:pPr marL="0" marR="0" lvl="0" indent="0" algn="ctr" rtl="0">
                        <a:spcBef>
                          <a:spcPts val="0"/>
                        </a:spcBef>
                        <a:spcAft>
                          <a:spcPts val="0"/>
                        </a:spcAft>
                        <a:buNone/>
                      </a:pPr>
                      <a:r>
                        <a:rPr lang="en-US" altLang="ko-KR" sz="700" dirty="0">
                          <a:solidFill>
                            <a:srgbClr val="FF0000"/>
                          </a:solidFill>
                        </a:rPr>
                        <a:t>DCL, Voice -5min</a:t>
                      </a:r>
                    </a:p>
                  </a:txBody>
                  <a:tcPr marL="0" marR="0" marT="36000" marB="36000" anchor="ctr"/>
                </a:tc>
                <a:tc>
                  <a:txBody>
                    <a:bodyPr/>
                    <a:lstStyle/>
                    <a:p>
                      <a:pPr marL="0" marR="0" lvl="0" indent="0" algn="ctr" rtl="0">
                        <a:spcBef>
                          <a:spcPts val="0"/>
                        </a:spcBef>
                        <a:spcAft>
                          <a:spcPts val="0"/>
                        </a:spcAft>
                        <a:buNone/>
                      </a:pPr>
                      <a:r>
                        <a:rPr lang="en-US" sz="900" dirty="0"/>
                        <a:t>KE </a:t>
                      </a:r>
                      <a:r>
                        <a:rPr lang="en-US" sz="900" dirty="0" err="1"/>
                        <a:t>Gimhae</a:t>
                      </a:r>
                      <a:endParaRPr lang="en-US" sz="900" dirty="0"/>
                    </a:p>
                    <a:p>
                      <a:pPr marL="0" marR="0" lvl="0" indent="0" algn="ctr" rtl="0">
                        <a:spcBef>
                          <a:spcPts val="0"/>
                        </a:spcBef>
                        <a:spcAft>
                          <a:spcPts val="0"/>
                        </a:spcAft>
                        <a:buNone/>
                      </a:pP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3F13AC3-0D74-CEBB-7100-2629A32A1FE4}"/>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912590"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984A1E97-A30C-EFBD-8019-7DCE7F1ED4CC}"/>
              </a:ext>
            </a:extLst>
          </p:cNvPr>
          <p:cNvSpPr txBox="1"/>
          <p:nvPr/>
        </p:nvSpPr>
        <p:spPr>
          <a:xfrm>
            <a:off x="60107" y="2180607"/>
            <a:ext cx="1306448" cy="782778"/>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128.5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128.17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 125.5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9" name="Google Shape;137;p4">
            <a:extLst>
              <a:ext uri="{FF2B5EF4-FFF2-40B4-BE49-F238E27FC236}">
                <a16:creationId xmlns:a16="http://schemas.microsoft.com/office/drawing/2014/main" id="{DB02378F-05ED-DDF1-8735-FC7557702C54}"/>
              </a:ext>
            </a:extLst>
          </p:cNvPr>
          <p:cNvGraphicFramePr/>
          <p:nvPr>
            <p:extLst>
              <p:ext uri="{D42A27DB-BD31-4B8C-83A1-F6EECF244321}">
                <p14:modId xmlns:p14="http://schemas.microsoft.com/office/powerpoint/2010/main" val="3955913174"/>
              </p:ext>
            </p:extLst>
          </p:nvPr>
        </p:nvGraphicFramePr>
        <p:xfrm>
          <a:off x="-3340" y="3767489"/>
          <a:ext cx="2339140" cy="174265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r" rtl="0">
                        <a:spcBef>
                          <a:spcPts val="0"/>
                        </a:spcBef>
                        <a:spcAft>
                          <a:spcPts val="0"/>
                        </a:spcAft>
                        <a:buNone/>
                      </a:pPr>
                      <a:r>
                        <a:rPr lang="en-US" sz="800" dirty="0"/>
                        <a:t>PUS : STAR </a:t>
                      </a:r>
                      <a:r>
                        <a:rPr lang="en-US" sz="800" dirty="0">
                          <a:solidFill>
                            <a:srgbClr val="FFC000"/>
                          </a:solidFill>
                        </a:rPr>
                        <a:t>(Tail Wind 36R 136000lbs F40)</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C00000"/>
                          </a:solidFill>
                          <a:hlinkClick r:id="rId7" action="ppaction://hlinksldjump">
                            <a:extLst>
                              <a:ext uri="{A12FA001-AC4F-418D-AE19-62706E023703}">
                                <ahyp:hlinkClr xmlns:ahyp="http://schemas.microsoft.com/office/drawing/2018/hyperlinkcolor" val="tx"/>
                              </a:ext>
                            </a:extLst>
                          </a:hlinkClick>
                        </a:rPr>
                        <a:t>18 Circling Click!!</a:t>
                      </a:r>
                      <a:endParaRPr lang="en-US" altLang="ko-Kore-K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18R(13’) 8530’</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18L(13’) 8999’</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a:solidFill>
                            <a:schemeClr val="dk1"/>
                          </a:solidFill>
                        </a:rPr>
                        <a:t>18 : KMH R283, R280</a:t>
                      </a:r>
                      <a:endParaRPr sz="800" b="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tx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 : C6(5770’), C7 (6824’) / 18L : E4(5882’), 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52555978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3" name="TextBox 2">
            <a:extLst>
              <a:ext uri="{FF2B5EF4-FFF2-40B4-BE49-F238E27FC236}">
                <a16:creationId xmlns:a16="http://schemas.microsoft.com/office/drawing/2014/main" id="{062F9807-5AEF-8D80-6311-45C5000B22FB}"/>
              </a:ext>
            </a:extLst>
          </p:cNvPr>
          <p:cNvSpPr txBox="1"/>
          <p:nvPr/>
        </p:nvSpPr>
        <p:spPr>
          <a:xfrm>
            <a:off x="-58296" y="2991349"/>
            <a:ext cx="2069797" cy="855482"/>
          </a:xfrm>
          <a:prstGeom prst="rect">
            <a:avLst/>
          </a:prstGeom>
          <a:noFill/>
        </p:spPr>
        <p:txBody>
          <a:bodyPr wrap="none" tIns="36000" bIns="3600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125.5</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TGU</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128.17 – 124.52(125.72) </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a:t>
            </a:r>
            <a:r>
              <a:rPr kumimoji="1" lang="en-US" altLang="ko-Kore-KR" sz="700" b="1" u="sng" dirty="0">
                <a:solidFill>
                  <a:srgbClr val="FF0000"/>
                </a:solidFill>
                <a:latin typeface="Gulim" panose="020B0600000101010101" pitchFamily="34" charset="-127"/>
                <a:ea typeface="Gulim" panose="020B0600000101010101" pitchFamily="34" charset="-127"/>
              </a:rPr>
              <a:t>(SENKA</a:t>
            </a:r>
            <a:r>
              <a:rPr kumimoji="1" lang="ko-KR" altLang="en-US" sz="700" b="1" u="sng" dirty="0">
                <a:solidFill>
                  <a:srgbClr val="FF0000"/>
                </a:solidFill>
                <a:latin typeface="Gulim" panose="020B0600000101010101" pitchFamily="34" charset="-127"/>
                <a:ea typeface="Gulim" panose="020B0600000101010101" pitchFamily="34" charset="-127"/>
              </a:rPr>
              <a:t> </a:t>
            </a:r>
            <a:r>
              <a:rPr kumimoji="1" lang="en-US" altLang="ko-KR" sz="700" b="1" u="sng" dirty="0">
                <a:solidFill>
                  <a:srgbClr val="FF0000"/>
                </a:solidFill>
                <a:latin typeface="Gulim" panose="020B0600000101010101" pitchFamily="34" charset="-127"/>
                <a:ea typeface="Gulim" panose="020B0600000101010101" pitchFamily="34" charset="-127"/>
              </a:rPr>
              <a:t>/20) </a:t>
            </a:r>
            <a:endParaRPr kumimoji="1" lang="en-US" altLang="ko-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TPE</a:t>
            </a:r>
            <a:r>
              <a:rPr kumimoji="1" lang="ko-KR" altLang="en-US" sz="700" b="1" u="sng" dirty="0">
                <a:solidFill>
                  <a:srgbClr val="0070C0"/>
                </a:solidFill>
                <a:latin typeface="Gulim" panose="020B0600000101010101" pitchFamily="34" charset="-127"/>
                <a:ea typeface="Gulim" panose="020B0600000101010101" pitchFamily="34" charset="-127"/>
              </a:rPr>
              <a:t> </a:t>
            </a:r>
            <a:r>
              <a:rPr kumimoji="1" lang="en-US" altLang="ko-KR" sz="700" b="1" u="sng" dirty="0">
                <a:solidFill>
                  <a:srgbClr val="0070C0"/>
                </a:solidFill>
                <a:latin typeface="Gulim" panose="020B0600000101010101" pitchFamily="34" charset="-127"/>
                <a:ea typeface="Gulim" panose="020B0600000101010101" pitchFamily="34" charset="-127"/>
              </a:rPr>
              <a:t>125.5 – 129.1 – HKG 132.15 - 127.1</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SNY 122.6 – HNI 123.3 – VTN 128.3</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BKK 132.1 – 133.1 - APP 119.1 </a:t>
            </a:r>
          </a:p>
        </p:txBody>
      </p:sp>
      <p:graphicFrame>
        <p:nvGraphicFramePr>
          <p:cNvPr id="292" name="Google Shape;292;p18"/>
          <p:cNvGraphicFramePr/>
          <p:nvPr>
            <p:extLst>
              <p:ext uri="{D42A27DB-BD31-4B8C-83A1-F6EECF244321}">
                <p14:modId xmlns:p14="http://schemas.microsoft.com/office/powerpoint/2010/main" val="580172753"/>
              </p:ext>
            </p:extLst>
          </p:nvPr>
        </p:nvGraphicFramePr>
        <p:xfrm>
          <a:off x="-2501" y="3838579"/>
          <a:ext cx="2327659" cy="1696032"/>
        </p:xfrm>
        <a:graphic>
          <a:graphicData uri="http://schemas.openxmlformats.org/drawingml/2006/table">
            <a:tbl>
              <a:tblPr firstRow="1" bandRow="1">
                <a:noFill/>
                <a:tableStyleId>{A521BE36-7E6F-4EC9-8D66-1CF97A6895EC}</a:tableStyleId>
              </a:tblPr>
              <a:tblGrid>
                <a:gridCol w="335813">
                  <a:extLst>
                    <a:ext uri="{9D8B030D-6E8A-4147-A177-3AD203B41FA5}">
                      <a16:colId xmlns:a16="http://schemas.microsoft.com/office/drawing/2014/main" val="20000"/>
                    </a:ext>
                  </a:extLst>
                </a:gridCol>
                <a:gridCol w="720724">
                  <a:extLst>
                    <a:ext uri="{9D8B030D-6E8A-4147-A177-3AD203B41FA5}">
                      <a16:colId xmlns:a16="http://schemas.microsoft.com/office/drawing/2014/main" val="20001"/>
                    </a:ext>
                  </a:extLst>
                </a:gridCol>
                <a:gridCol w="690916">
                  <a:extLst>
                    <a:ext uri="{9D8B030D-6E8A-4147-A177-3AD203B41FA5}">
                      <a16:colId xmlns:a16="http://schemas.microsoft.com/office/drawing/2014/main" val="502366202"/>
                    </a:ext>
                  </a:extLst>
                </a:gridCol>
                <a:gridCol w="109040">
                  <a:extLst>
                    <a:ext uri="{9D8B030D-6E8A-4147-A177-3AD203B41FA5}">
                      <a16:colId xmlns:a16="http://schemas.microsoft.com/office/drawing/2014/main" val="992510185"/>
                    </a:ext>
                  </a:extLst>
                </a:gridCol>
                <a:gridCol w="471166">
                  <a:extLst>
                    <a:ext uri="{9D8B030D-6E8A-4147-A177-3AD203B41FA5}">
                      <a16:colId xmlns:a16="http://schemas.microsoft.com/office/drawing/2014/main" val="2076907169"/>
                    </a:ext>
                  </a:extLst>
                </a:gridCol>
              </a:tblGrid>
              <a:tr h="145629">
                <a:tc gridSpan="5">
                  <a:txBody>
                    <a:bodyPr/>
                    <a:lstStyle/>
                    <a:p>
                      <a:pPr marL="0" marR="0" lvl="0" indent="0" algn="ctr" rtl="0">
                        <a:spcBef>
                          <a:spcPts val="0"/>
                        </a:spcBef>
                        <a:spcAft>
                          <a:spcPts val="0"/>
                        </a:spcAft>
                        <a:buNone/>
                      </a:pPr>
                      <a:r>
                        <a:rPr lang="en-US" altLang="ko-Kore-KR" sz="800" dirty="0"/>
                        <a:t>BKK : STAR TL130 UTC+7 </a:t>
                      </a:r>
                      <a:r>
                        <a:rPr lang="en-US" altLang="ko-Kore-KR" sz="800" dirty="0">
                          <a:solidFill>
                            <a:srgbClr val="FFC000"/>
                          </a:solidFill>
                        </a:rPr>
                        <a:t>(SPD CTL via STAR Chart)</a:t>
                      </a:r>
                      <a:endParaRPr lang="en-US" altLang="ko-Kore-KR" sz="800" b="1" dirty="0">
                        <a:solidFill>
                          <a:srgbClr val="FFC000"/>
                        </a:solidFill>
                      </a:endParaRPr>
                    </a:p>
                  </a:txBody>
                  <a:tcPr marL="0" marR="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95571">
                <a:tc>
                  <a:txBody>
                    <a:bodyPr/>
                    <a:lstStyle/>
                    <a:p>
                      <a:pPr marL="0" marR="0" lvl="0" indent="0" algn="ctr" rtl="0">
                        <a:spcBef>
                          <a:spcPts val="0"/>
                        </a:spcBef>
                        <a:spcAft>
                          <a:spcPts val="0"/>
                        </a:spcAft>
                        <a:buNone/>
                      </a:pPr>
                      <a:r>
                        <a:rPr lang="en-US" sz="800" b="1" dirty="0"/>
                        <a:t>19L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lang="en-US" sz="800" b="1" dirty="0"/>
                        <a:t>EASTE </a:t>
                      </a:r>
                      <a:r>
                        <a:rPr lang="en-US" sz="800" b="1" dirty="0" err="1"/>
                        <a:t>xxC</a:t>
                      </a:r>
                      <a:endParaRPr lang="en-US" sz="800" b="1" dirty="0"/>
                    </a:p>
                  </a:txBody>
                  <a:tcPr marL="36000" marR="36000" marT="36000" marB="36000" anchor="ctr"/>
                </a:tc>
                <a:tc>
                  <a:txBody>
                    <a:bodyPr/>
                    <a:lstStyle/>
                    <a:p>
                      <a:pPr algn="ctr"/>
                      <a:r>
                        <a:rPr lang="en-US" altLang="ko-Kore-KR" sz="800" b="1" dirty="0"/>
                        <a:t>Select Tx</a:t>
                      </a:r>
                    </a:p>
                  </a:txBody>
                  <a:tcPr marL="36000" marR="36000" marT="36000" marB="36000" anchor="ctr"/>
                </a:tc>
                <a:tc gridSpan="2">
                  <a:txBody>
                    <a:bodyPr/>
                    <a:lstStyle/>
                    <a:p>
                      <a:pPr marL="0" marR="0" lvl="0" indent="0" algn="ctr" rtl="0">
                        <a:spcBef>
                          <a:spcPts val="0"/>
                        </a:spcBef>
                        <a:spcAft>
                          <a:spcPts val="0"/>
                        </a:spcAft>
                        <a:buNone/>
                      </a:pPr>
                      <a:r>
                        <a:rPr lang="en-US" sz="800" b="1" dirty="0"/>
                        <a:t>ILS Z 19L</a:t>
                      </a:r>
                      <a:r>
                        <a:rPr lang="en-US" sz="800" b="0" dirty="0"/>
                        <a:t>/R</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1"/>
                  </a:ext>
                </a:extLst>
              </a:tr>
              <a:tr h="195571">
                <a:tc>
                  <a:txBody>
                    <a:bodyPr/>
                    <a:lstStyle/>
                    <a:p>
                      <a:pPr marL="0" marR="0" lvl="0" indent="0" algn="ctr" rtl="0">
                        <a:spcBef>
                          <a:spcPts val="0"/>
                        </a:spcBef>
                        <a:spcAft>
                          <a:spcPts val="0"/>
                        </a:spcAft>
                        <a:buNone/>
                      </a:pPr>
                      <a:r>
                        <a:rPr lang="en-US" sz="800" b="1" dirty="0"/>
                        <a:t>01L</a:t>
                      </a:r>
                      <a:r>
                        <a:rPr lang="en-US" sz="800" b="0" dirty="0"/>
                        <a:t>/R</a:t>
                      </a:r>
                      <a:endParaRPr sz="800" b="0" dirty="0"/>
                    </a:p>
                  </a:txBody>
                  <a:tcPr marL="36000" marR="36000" marT="36000" marB="36000" anchor="ctr"/>
                </a:tc>
                <a:tc>
                  <a:txBody>
                    <a:bodyPr/>
                    <a:lstStyle/>
                    <a:p>
                      <a:pPr marL="0" marR="0" lvl="0" indent="0" algn="ctr" rtl="0">
                        <a:spcBef>
                          <a:spcPts val="0"/>
                        </a:spcBef>
                        <a:spcAft>
                          <a:spcPts val="0"/>
                        </a:spcAft>
                        <a:buNone/>
                      </a:pP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EASTE </a:t>
                      </a:r>
                      <a:r>
                        <a:rPr kumimoji="0" lang="en-US" altLang="ko-Kore-KR" sz="800" b="1" i="0" u="none" strike="noStrike" kern="0" cap="none" spc="0" normalizeH="0" baseline="0" noProof="0" dirty="0" err="1">
                          <a:ln>
                            <a:noFill/>
                          </a:ln>
                          <a:solidFill>
                            <a:srgbClr val="000000"/>
                          </a:solidFill>
                          <a:effectLst/>
                          <a:uLnTx/>
                          <a:uFillTx/>
                          <a:latin typeface="Calibri"/>
                          <a:cs typeface="Calibri"/>
                          <a:sym typeface="Arial"/>
                        </a:rPr>
                        <a:t>xxD</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 </a:t>
                      </a:r>
                    </a:p>
                  </a:txBody>
                  <a:tcPr marL="36000" marR="36000" marT="36000" marB="36000" anchor="ctr"/>
                </a:tc>
                <a:tc>
                  <a:txBody>
                    <a:bodyPr/>
                    <a:lstStyle/>
                    <a:p>
                      <a:pPr algn="ctr"/>
                      <a:r>
                        <a:rPr kumimoji="0" lang="en-US" altLang="ko-Kore-KR" sz="800" b="1" i="0" u="none" strike="noStrike" kern="0" cap="none" spc="0" normalizeH="0" baseline="0" noProof="0">
                          <a:ln>
                            <a:noFill/>
                          </a:ln>
                          <a:solidFill>
                            <a:srgbClr val="000000"/>
                          </a:solidFill>
                          <a:effectLst/>
                          <a:uLnTx/>
                          <a:uFillTx/>
                          <a:latin typeface="Calibri"/>
                          <a:cs typeface="Calibri"/>
                          <a:sym typeface="Arial"/>
                        </a:rPr>
                        <a:t>Select </a:t>
                      </a:r>
                      <a:r>
                        <a:rPr kumimoji="0" lang="en-US" altLang="ko-Kore-KR" sz="800" b="1" i="0" u="none" strike="noStrike" kern="0" cap="none" spc="0" normalizeH="0" baseline="0" noProof="0" dirty="0">
                          <a:ln>
                            <a:noFill/>
                          </a:ln>
                          <a:solidFill>
                            <a:srgbClr val="000000"/>
                          </a:solidFill>
                          <a:effectLst/>
                          <a:uLnTx/>
                          <a:uFillTx/>
                          <a:latin typeface="Calibri"/>
                          <a:cs typeface="Calibri"/>
                          <a:sym typeface="Arial"/>
                        </a:rPr>
                        <a:t>Tx</a:t>
                      </a:r>
                      <a:endParaRPr lang="ko-Kore-KR" altLang="en-US" dirty="0"/>
                    </a:p>
                  </a:txBody>
                  <a:tcPr marL="36000" marR="36000" marT="36000" marB="36000" anchor="ctr"/>
                </a:tc>
                <a:tc gridSpan="2">
                  <a:txBody>
                    <a:bodyPr/>
                    <a:lstStyle/>
                    <a:p>
                      <a:pPr algn="ctr"/>
                      <a:r>
                        <a:rPr lang="en-US" sz="800" b="1" dirty="0"/>
                        <a:t>ILS Z 01L</a:t>
                      </a:r>
                      <a:r>
                        <a:rPr lang="en-US" sz="800" b="0" dirty="0"/>
                        <a:t>/R</a:t>
                      </a:r>
                      <a:endParaRPr lang="ko-Kore-KR" altLang="en-US" b="0" dirty="0"/>
                    </a:p>
                  </a:txBody>
                  <a:tcPr marL="36000" marR="36000" marT="36000" marB="36000" anchor="ctr"/>
                </a:tc>
                <a:tc hMerge="1">
                  <a:txBody>
                    <a:bodyPr/>
                    <a:lstStyle/>
                    <a:p>
                      <a:endParaRPr lang="ko-Kore-KR" altLang="en-US"/>
                    </a:p>
                  </a:txBody>
                  <a:tcPr/>
                </a:tc>
                <a:extLst>
                  <a:ext uri="{0D108BD9-81ED-4DB2-BD59-A6C34878D82A}">
                    <a16:rowId xmlns:a16="http://schemas.microsoft.com/office/drawing/2014/main" val="10002"/>
                  </a:ext>
                </a:extLst>
              </a:tr>
              <a:tr h="120077">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HUD</a:t>
                      </a:r>
                      <a:endParaRPr sz="800" dirty="0">
                        <a:solidFill>
                          <a:schemeClr val="lt1"/>
                        </a:solidFill>
                      </a:endParaRPr>
                    </a:p>
                  </a:txBody>
                  <a:tcPr marL="36000" marR="36000" marT="36000" marB="36000" anchor="ctr">
                    <a:solidFill>
                      <a:schemeClr val="accent1"/>
                    </a:solidFill>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19L(4’)</a:t>
                      </a:r>
                      <a:endParaRPr sz="800" b="1" dirty="0">
                        <a:solidFill>
                          <a:srgbClr val="C0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13123’</a:t>
                      </a:r>
                      <a:r>
                        <a:rPr lang="en-US" altLang="ko-KR" sz="800" b="1" dirty="0">
                          <a:solidFill>
                            <a:srgbClr val="C00000"/>
                          </a:solidFill>
                        </a:rPr>
                        <a:t> No </a:t>
                      </a:r>
                      <a:r>
                        <a:rPr lang="en-US" altLang="ko-KR" sz="800" b="1" dirty="0" err="1">
                          <a:solidFill>
                            <a:srgbClr val="C00000"/>
                          </a:solidFill>
                        </a:rPr>
                        <a:t>Groov</a:t>
                      </a:r>
                      <a:endParaRPr sz="800" b="1" dirty="0">
                        <a:solidFill>
                          <a:srgbClr val="00B05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01R(4’)</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20077">
                <a:tc v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19R(4’)</a:t>
                      </a:r>
                      <a:endParaRPr lang="en-US" sz="800" b="1" dirty="0">
                        <a:solidFill>
                          <a:srgbClr val="FF0000"/>
                        </a:solidFill>
                      </a:endParaRPr>
                    </a:p>
                  </a:txBody>
                  <a:tcPr marL="36000" marR="36000" marT="36000" marB="36000" anchor="ctr"/>
                </a:tc>
                <a:tc gridSpan="2">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12139’</a:t>
                      </a:r>
                      <a:endParaRPr sz="800" b="1" dirty="0">
                        <a:solidFill>
                          <a:srgbClr val="C00000"/>
                        </a:solidFill>
                      </a:endParaRP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tc>
                  <a:txBody>
                    <a:bodyPr/>
                    <a:lstStyle/>
                    <a:p>
                      <a:pPr marL="0" marR="0" lvl="0" indent="0" algn="ctr" rtl="0">
                        <a:lnSpc>
                          <a:spcPct val="100000"/>
                        </a:lnSpc>
                        <a:spcBef>
                          <a:spcPts val="0"/>
                        </a:spcBef>
                        <a:spcAft>
                          <a:spcPts val="0"/>
                        </a:spcAft>
                        <a:buClr>
                          <a:srgbClr val="00B050"/>
                        </a:buClr>
                        <a:buSzPts val="800"/>
                        <a:buFont typeface="Calibri"/>
                        <a:buNone/>
                      </a:pPr>
                      <a:r>
                        <a:rPr lang="en-US" altLang="ko-KR" sz="800" b="1" dirty="0">
                          <a:solidFill>
                            <a:srgbClr val="00B050"/>
                          </a:solidFill>
                        </a:rPr>
                        <a:t>01L(4’)</a:t>
                      </a:r>
                      <a:endParaRPr sz="800" b="1" dirty="0">
                        <a:solidFill>
                          <a:srgbClr val="00B050"/>
                        </a:solidFill>
                      </a:endParaRPr>
                    </a:p>
                  </a:txBody>
                  <a:tcPr marL="36000" marR="36000" marT="36000" marB="36000" anchor="ctr"/>
                </a:tc>
                <a:extLst>
                  <a:ext uri="{0D108BD9-81ED-4DB2-BD59-A6C34878D82A}">
                    <a16:rowId xmlns:a16="http://schemas.microsoft.com/office/drawing/2014/main" val="10005"/>
                  </a:ext>
                </a:extLst>
              </a:tr>
              <a:tr h="120077">
                <a:tc>
                  <a:txBody>
                    <a:bodyPr/>
                    <a:lstStyle/>
                    <a:p>
                      <a:pPr marL="0" marR="0" lvl="0" indent="0" algn="ctr" rtl="0">
                        <a:lnSpc>
                          <a:spcPct val="100000"/>
                        </a:lnSpc>
                        <a:spcBef>
                          <a:spcPts val="0"/>
                        </a:spcBef>
                        <a:spcAft>
                          <a:spcPts val="0"/>
                        </a:spcAft>
                        <a:buClr>
                          <a:schemeClr val="lt1"/>
                        </a:buClr>
                        <a:buSzPts val="800"/>
                        <a:buFont typeface="Calibri"/>
                        <a:buNone/>
                      </a:pPr>
                      <a:r>
                        <a:rPr lang="en-US" sz="800" dirty="0">
                          <a:solidFill>
                            <a:schemeClr val="lt1"/>
                          </a:solidFill>
                        </a:rPr>
                        <a:t>FIX</a:t>
                      </a:r>
                      <a:endParaRPr sz="800" dirty="0">
                        <a:solidFill>
                          <a:schemeClr val="lt1"/>
                        </a:solidFill>
                      </a:endParaRPr>
                    </a:p>
                  </a:txBody>
                  <a:tcPr marL="36000" marR="36000" marT="36000" marB="36000" anchor="ctr">
                    <a:solidFill>
                      <a:schemeClr val="accent1"/>
                    </a:solidFill>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err="1">
                          <a:solidFill>
                            <a:srgbClr val="0070C0"/>
                          </a:solidFill>
                        </a:rPr>
                        <a:t>RWxx</a:t>
                      </a:r>
                      <a:r>
                        <a:rPr lang="en-US" sz="800" b="1" dirty="0">
                          <a:solidFill>
                            <a:srgbClr val="0070C0"/>
                          </a:solidFill>
                        </a:rPr>
                        <a:t> /8 (180tks), /5 (160-150kts)</a:t>
                      </a:r>
                    </a:p>
                  </a:txBody>
                  <a:tcPr marL="36000" marR="36000" marT="36000" marB="36000" anchor="ct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C00000"/>
                        </a:solidFill>
                      </a:endParaRPr>
                    </a:p>
                  </a:txBody>
                  <a:tcPr marL="36000" marR="36000" marT="36000" marB="36000" anchor="ctr"/>
                </a:tc>
                <a:tc hMerge="1">
                  <a:txBody>
                    <a:bodyPr/>
                    <a:lstStyle/>
                    <a:p>
                      <a:endParaRPr lang="ko-Kore-KR" altLang="en-US"/>
                    </a:p>
                  </a:txBody>
                  <a:tcPr/>
                </a:tc>
                <a:tc hMerge="1">
                  <a:txBody>
                    <a:bodyPr/>
                    <a:lstStyle/>
                    <a:p>
                      <a:pPr marL="0" marR="0" lvl="0" indent="0" algn="ctr" rtl="0">
                        <a:lnSpc>
                          <a:spcPct val="100000"/>
                        </a:lnSpc>
                        <a:spcBef>
                          <a:spcPts val="0"/>
                        </a:spcBef>
                        <a:spcAft>
                          <a:spcPts val="0"/>
                        </a:spcAft>
                        <a:buClr>
                          <a:srgbClr val="00B050"/>
                        </a:buClr>
                        <a:buSzPts val="800"/>
                        <a:buFont typeface="Calibri"/>
                        <a:buNone/>
                      </a:pPr>
                      <a:endParaRPr sz="800" b="1" dirty="0">
                        <a:solidFill>
                          <a:srgbClr val="00B050"/>
                        </a:solidFill>
                      </a:endParaRPr>
                    </a:p>
                  </a:txBody>
                  <a:tcPr marL="36000" marR="36000" marT="36000" marB="36000" anchor="ctr"/>
                </a:tc>
                <a:extLst>
                  <a:ext uri="{0D108BD9-81ED-4DB2-BD59-A6C34878D82A}">
                    <a16:rowId xmlns:a16="http://schemas.microsoft.com/office/drawing/2014/main" val="3433256594"/>
                  </a:ext>
                </a:extLst>
              </a:tr>
              <a:tr h="195571">
                <a:tc gridSpan="5">
                  <a:txBody>
                    <a:bodyPr/>
                    <a:lstStyle/>
                    <a:p>
                      <a:pPr marL="0" marR="0" lvl="0" indent="0" algn="ctr" rtl="0">
                        <a:lnSpc>
                          <a:spcPct val="100000"/>
                        </a:lnSpc>
                        <a:spcBef>
                          <a:spcPts val="0"/>
                        </a:spcBef>
                        <a:spcAft>
                          <a:spcPts val="0"/>
                        </a:spcAft>
                        <a:buClr>
                          <a:schemeClr val="dk1"/>
                        </a:buClr>
                        <a:buSzPts val="800"/>
                        <a:buFont typeface="Calibri"/>
                        <a:buNone/>
                      </a:pPr>
                      <a:r>
                        <a:rPr lang="en-US" sz="800" b="1" dirty="0">
                          <a:solidFill>
                            <a:schemeClr val="tx1"/>
                          </a:solidFill>
                        </a:rPr>
                        <a:t>19L : </a:t>
                      </a:r>
                      <a:r>
                        <a:rPr lang="en-US" sz="800" b="1" dirty="0">
                          <a:solidFill>
                            <a:srgbClr val="0070C0"/>
                          </a:solidFill>
                        </a:rPr>
                        <a:t>B8(5567’), B10(6965’),  </a:t>
                      </a:r>
                      <a:r>
                        <a:rPr lang="en-US" sz="800" b="0" dirty="0">
                          <a:solidFill>
                            <a:schemeClr val="tx1"/>
                          </a:solidFill>
                        </a:rPr>
                        <a:t>01R : B7(5964’), B5(7962’)</a:t>
                      </a:r>
                      <a:endParaRPr sz="800" b="0" dirty="0">
                        <a:solidFill>
                          <a:schemeClr val="tx1"/>
                        </a:solidFill>
                      </a:endParaRPr>
                    </a:p>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tx1"/>
                          </a:solidFill>
                        </a:rPr>
                        <a:t>19R : E9(5052’), E13(7139’), </a:t>
                      </a:r>
                      <a:r>
                        <a:rPr lang="en-US" sz="800" b="1" dirty="0">
                          <a:solidFill>
                            <a:schemeClr val="tx1"/>
                          </a:solidFill>
                        </a:rPr>
                        <a:t>01L : </a:t>
                      </a:r>
                      <a:r>
                        <a:rPr lang="en-US" sz="800" b="1" dirty="0">
                          <a:solidFill>
                            <a:srgbClr val="0070C0"/>
                          </a:solidFill>
                        </a:rPr>
                        <a:t>E12(4872’), E7(6958’)</a:t>
                      </a:r>
                      <a:r>
                        <a:rPr lang="en-US" sz="800" dirty="0">
                          <a:solidFill>
                            <a:srgbClr val="0070C0"/>
                          </a:solidFill>
                        </a:rPr>
                        <a:t> </a:t>
                      </a:r>
                      <a:endParaRPr dirty="0">
                        <a:solidFill>
                          <a:srgbClr val="0070C0"/>
                        </a:solidFill>
                      </a:endParaRP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r h="120077">
                <a:tc gridSpan="5">
                  <a:txBody>
                    <a:bodyPr/>
                    <a:lstStyle/>
                    <a:p>
                      <a:pPr marL="0" marR="0" lvl="0" indent="0" algn="ctr" defTabSz="914400" rtl="0" eaLnBrk="1" fontAlgn="auto" latinLnBrk="0" hangingPunct="1">
                        <a:lnSpc>
                          <a:spcPct val="100000"/>
                        </a:lnSpc>
                        <a:spcBef>
                          <a:spcPts val="0"/>
                        </a:spcBef>
                        <a:spcAft>
                          <a:spcPts val="0"/>
                        </a:spcAft>
                        <a:buClr>
                          <a:schemeClr val="dk1"/>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HIRO</a:t>
                      </a:r>
                      <a:r>
                        <a:rPr kumimoji="0" lang="en-US" altLang="ko-Kore-KR" sz="800" b="1" i="0" u="none" strike="noStrike" kern="0" cap="none" spc="0" normalizeH="0" baseline="0" noProof="0" dirty="0">
                          <a:ln>
                            <a:noFill/>
                          </a:ln>
                          <a:solidFill>
                            <a:schemeClr val="tx1"/>
                          </a:solidFill>
                          <a:effectLst/>
                          <a:uLnTx/>
                          <a:uFillTx/>
                          <a:latin typeface="Calibri"/>
                          <a:cs typeface="Calibri"/>
                          <a:sym typeface="Arial"/>
                        </a:rPr>
                        <a:t>, Standard Taxi Route, APU Off Procedure</a:t>
                      </a:r>
                      <a:endParaRPr lang="en-US" sz="800" b="1" dirty="0">
                        <a:solidFill>
                          <a:schemeClr val="tx1"/>
                        </a:solidFill>
                      </a:endParaRPr>
                    </a:p>
                  </a:txBody>
                  <a:tcPr marL="36000" marR="3600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7"/>
                  </a:ext>
                </a:extLst>
              </a:tr>
            </a:tbl>
          </a:graphicData>
        </a:graphic>
      </p:graphicFrame>
      <p:graphicFrame>
        <p:nvGraphicFramePr>
          <p:cNvPr id="293" name="Google Shape;293;p18"/>
          <p:cNvGraphicFramePr/>
          <p:nvPr>
            <p:extLst>
              <p:ext uri="{D42A27DB-BD31-4B8C-83A1-F6EECF244321}">
                <p14:modId xmlns:p14="http://schemas.microsoft.com/office/powerpoint/2010/main" val="736159813"/>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VTBS(BKK) 4ft</a:t>
                      </a:r>
                      <a:endParaRPr lang="en-US" altLang="ko-Kore-KR" sz="1300" dirty="0">
                        <a:solidFill>
                          <a:srgbClr val="C00000"/>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900" dirty="0"/>
                        <a:t>KE </a:t>
                      </a:r>
                      <a:r>
                        <a:rPr lang="en-US" sz="900" dirty="0" err="1"/>
                        <a:t>Gimhae</a:t>
                      </a:r>
                      <a:r>
                        <a:rPr lang="en-US" sz="900" dirty="0"/>
                        <a:t> 129.2</a:t>
                      </a:r>
                      <a:endParaRPr dirty="0"/>
                    </a:p>
                    <a:p>
                      <a:pPr marL="0" marR="0" lvl="0" indent="0" algn="ctr" rtl="0">
                        <a:lnSpc>
                          <a:spcPct val="100000"/>
                        </a:lnSpc>
                        <a:spcBef>
                          <a:spcPts val="0"/>
                        </a:spcBef>
                        <a:spcAft>
                          <a:spcPts val="0"/>
                        </a:spcAft>
                        <a:buClr>
                          <a:srgbClr val="FF0000"/>
                        </a:buClr>
                        <a:buSzPts val="600"/>
                        <a:buFont typeface="Calibri"/>
                        <a:buNone/>
                      </a:pPr>
                      <a:r>
                        <a:rPr lang="en-US" sz="800" dirty="0">
                          <a:solidFill>
                            <a:srgbClr val="FF0000"/>
                          </a:solidFill>
                          <a:latin typeface="Calibri"/>
                          <a:ea typeface="Calibri"/>
                          <a:cs typeface="Calibri"/>
                          <a:sym typeface="Calibri"/>
                        </a:rPr>
                        <a:t>DCL -5분</a:t>
                      </a:r>
                      <a:endParaRPr sz="1050" dirty="0">
                        <a:solidFill>
                          <a:srgbClr val="FF0000"/>
                        </a:solidFill>
                        <a:latin typeface="Calibri"/>
                        <a:ea typeface="Calibri"/>
                        <a:cs typeface="Calibri"/>
                        <a:sym typeface="Calibri"/>
                      </a:endParaRPr>
                    </a:p>
                  </a:txBody>
                  <a:tcPr marL="91450" marR="91450" marT="0" marB="0" anchor="ctr"/>
                </a:tc>
                <a:tc>
                  <a:txBody>
                    <a:bodyPr/>
                    <a:lstStyle/>
                    <a:p>
                      <a:pPr marL="0" marR="0" lvl="0" indent="0" algn="ctr" rtl="0">
                        <a:spcBef>
                          <a:spcPts val="0"/>
                        </a:spcBef>
                        <a:spcAft>
                          <a:spcPts val="0"/>
                        </a:spcAft>
                        <a:buNone/>
                      </a:pPr>
                      <a:r>
                        <a:rPr lang="en-US" sz="900" dirty="0"/>
                        <a:t>KE Bangkok</a:t>
                      </a:r>
                    </a:p>
                    <a:p>
                      <a:pPr marL="0" marR="0" lvl="0" indent="0" algn="ctr" rtl="0">
                        <a:spcBef>
                          <a:spcPts val="0"/>
                        </a:spcBef>
                        <a:spcAft>
                          <a:spcPts val="0"/>
                        </a:spcAft>
                        <a:buNone/>
                      </a:pPr>
                      <a:r>
                        <a:rPr lang="en-US" sz="900" dirty="0"/>
                        <a:t>131.25</a:t>
                      </a:r>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48BFDA17-699D-A0C3-A1F6-B1CDE98B3DE3}"/>
              </a:ext>
            </a:extLst>
          </p:cNvPr>
          <p:cNvSpPr/>
          <p:nvPr/>
        </p:nvSpPr>
        <p:spPr>
          <a:xfrm>
            <a:off x="1469976" y="3572577"/>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26E8B272-8D5B-D47D-58C6-4C3C17E8230E}"/>
              </a:ext>
            </a:extLst>
          </p:cNvPr>
          <p:cNvSpPr/>
          <p:nvPr/>
        </p:nvSpPr>
        <p:spPr>
          <a:xfrm>
            <a:off x="849329" y="283513"/>
            <a:ext cx="644531"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6" name="Google Shape;247;p13">
            <a:extLst>
              <a:ext uri="{FF2B5EF4-FFF2-40B4-BE49-F238E27FC236}">
                <a16:creationId xmlns:a16="http://schemas.microsoft.com/office/drawing/2014/main" id="{0A1B02FF-5F26-C6D7-81DB-46D44D71B267}"/>
              </a:ext>
            </a:extLst>
          </p:cNvPr>
          <p:cNvGraphicFramePr/>
          <p:nvPr/>
        </p:nvGraphicFramePr>
        <p:xfrm>
          <a:off x="0" y="640973"/>
          <a:ext cx="2330925" cy="1742650"/>
        </p:xfrm>
        <a:graphic>
          <a:graphicData uri="http://schemas.openxmlformats.org/drawingml/2006/table">
            <a:tbl>
              <a:tblPr firstRow="1" bandRow="1">
                <a:noFill/>
                <a:tableStyleId>{A521BE36-7E6F-4EC9-8D66-1CF97A6895EC}</a:tableStyleId>
              </a:tblPr>
              <a:tblGrid>
                <a:gridCol w="362200">
                  <a:extLst>
                    <a:ext uri="{9D8B030D-6E8A-4147-A177-3AD203B41FA5}">
                      <a16:colId xmlns:a16="http://schemas.microsoft.com/office/drawing/2014/main" val="20000"/>
                    </a:ext>
                  </a:extLst>
                </a:gridCol>
                <a:gridCol w="122800">
                  <a:extLst>
                    <a:ext uri="{9D8B030D-6E8A-4147-A177-3AD203B41FA5}">
                      <a16:colId xmlns:a16="http://schemas.microsoft.com/office/drawing/2014/main" val="20001"/>
                    </a:ext>
                  </a:extLst>
                </a:gridCol>
                <a:gridCol w="167075">
                  <a:extLst>
                    <a:ext uri="{9D8B030D-6E8A-4147-A177-3AD203B41FA5}">
                      <a16:colId xmlns:a16="http://schemas.microsoft.com/office/drawing/2014/main" val="20002"/>
                    </a:ext>
                  </a:extLst>
                </a:gridCol>
                <a:gridCol w="317900">
                  <a:extLst>
                    <a:ext uri="{9D8B030D-6E8A-4147-A177-3AD203B41FA5}">
                      <a16:colId xmlns:a16="http://schemas.microsoft.com/office/drawing/2014/main" val="20003"/>
                    </a:ext>
                  </a:extLst>
                </a:gridCol>
                <a:gridCol w="304175">
                  <a:extLst>
                    <a:ext uri="{9D8B030D-6E8A-4147-A177-3AD203B41FA5}">
                      <a16:colId xmlns:a16="http://schemas.microsoft.com/office/drawing/2014/main" val="20004"/>
                    </a:ext>
                  </a:extLst>
                </a:gridCol>
                <a:gridCol w="101900">
                  <a:extLst>
                    <a:ext uri="{9D8B030D-6E8A-4147-A177-3AD203B41FA5}">
                      <a16:colId xmlns:a16="http://schemas.microsoft.com/office/drawing/2014/main" val="20005"/>
                    </a:ext>
                  </a:extLst>
                </a:gridCol>
                <a:gridCol w="61400">
                  <a:extLst>
                    <a:ext uri="{9D8B030D-6E8A-4147-A177-3AD203B41FA5}">
                      <a16:colId xmlns:a16="http://schemas.microsoft.com/office/drawing/2014/main" val="20006"/>
                    </a:ext>
                  </a:extLst>
                </a:gridCol>
                <a:gridCol w="277900">
                  <a:extLst>
                    <a:ext uri="{9D8B030D-6E8A-4147-A177-3AD203B41FA5}">
                      <a16:colId xmlns:a16="http://schemas.microsoft.com/office/drawing/2014/main" val="20007"/>
                    </a:ext>
                  </a:extLst>
                </a:gridCol>
                <a:gridCol w="117475">
                  <a:extLst>
                    <a:ext uri="{9D8B030D-6E8A-4147-A177-3AD203B41FA5}">
                      <a16:colId xmlns:a16="http://schemas.microsoft.com/office/drawing/2014/main" val="20008"/>
                    </a:ext>
                  </a:extLst>
                </a:gridCol>
                <a:gridCol w="217775">
                  <a:extLst>
                    <a:ext uri="{9D8B030D-6E8A-4147-A177-3AD203B41FA5}">
                      <a16:colId xmlns:a16="http://schemas.microsoft.com/office/drawing/2014/main" val="20009"/>
                    </a:ext>
                  </a:extLst>
                </a:gridCol>
                <a:gridCol w="280325">
                  <a:extLst>
                    <a:ext uri="{9D8B030D-6E8A-4147-A177-3AD203B41FA5}">
                      <a16:colId xmlns:a16="http://schemas.microsoft.com/office/drawing/2014/main" val="20010"/>
                    </a:ext>
                  </a:extLst>
                </a:gridCol>
              </a:tblGrid>
              <a:tr h="0">
                <a:tc gridSpan="11">
                  <a:txBody>
                    <a:bodyPr/>
                    <a:lstStyle/>
                    <a:p>
                      <a:pPr marL="0" marR="0" lvl="0" indent="0" algn="ctr" rtl="0">
                        <a:spcBef>
                          <a:spcPts val="0"/>
                        </a:spcBef>
                        <a:spcAft>
                          <a:spcPts val="0"/>
                        </a:spcAft>
                        <a:buNone/>
                      </a:pPr>
                      <a:r>
                        <a:rPr lang="en-US" sz="800" dirty="0"/>
                        <a:t>PUS : SID </a:t>
                      </a:r>
                      <a:r>
                        <a:rPr lang="en-US" sz="800" dirty="0">
                          <a:solidFill>
                            <a:srgbClr val="FFC000"/>
                          </a:solidFill>
                        </a:rPr>
                        <a:t>(Mod NADP CLB2 1000, 14000 MAX)</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t>36</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a:solidFill>
                            <a:srgbClr val="0070C0"/>
                          </a:solidFill>
                        </a:rPr>
                        <a:t>SOORO x</a:t>
                      </a:r>
                      <a:endParaRPr/>
                    </a:p>
                    <a:p>
                      <a:pPr marL="0" marR="0" lvl="0" indent="0" algn="ctr" rtl="0">
                        <a:spcBef>
                          <a:spcPts val="0"/>
                        </a:spcBef>
                        <a:spcAft>
                          <a:spcPts val="0"/>
                        </a:spcAft>
                        <a:buNone/>
                      </a:pPr>
                      <a:r>
                        <a:rPr lang="en-US" sz="800" b="1">
                          <a:solidFill>
                            <a:srgbClr val="0070C0"/>
                          </a:solidFill>
                        </a:rPr>
                        <a:t>TOPAX tx</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30</a:t>
                      </a:r>
                      <a:r>
                        <a:rPr lang="en-US" altLang="ko-KR" sz="800" b="1" dirty="0">
                          <a:solidFill>
                            <a:srgbClr val="0070C0"/>
                          </a:solidFill>
                        </a:rPr>
                        <a:t>6</a:t>
                      </a:r>
                      <a:endParaRPr sz="458" b="1" dirty="0">
                        <a:solidFill>
                          <a:srgbClr val="0070C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t>280</a:t>
                      </a:r>
                      <a:endParaRPr sz="800" b="1" dirty="0"/>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0070C0"/>
                          </a:solidFill>
                        </a:rPr>
                        <a:t>ATC</a:t>
                      </a:r>
                      <a:endParaRPr sz="800" b="1" dirty="0">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dirty="0">
                          <a:solidFill>
                            <a:srgbClr val="00B050"/>
                          </a:solidFill>
                        </a:rPr>
                        <a:t>27</a:t>
                      </a:r>
                      <a:r>
                        <a:rPr lang="en-US" altLang="ko-KR" sz="800" b="1" dirty="0">
                          <a:solidFill>
                            <a:srgbClr val="00B050"/>
                          </a:solidFill>
                        </a:rPr>
                        <a:t>9</a:t>
                      </a:r>
                      <a:endParaRPr sz="800" b="1" dirty="0">
                        <a:solidFill>
                          <a:srgbClr val="00B05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t>18</a:t>
                      </a:r>
                      <a:endParaRPr sz="800" b="1"/>
                    </a:p>
                  </a:txBody>
                  <a:tcPr marL="36000" marR="36000" marT="36000" marB="36000" anchor="ctr"/>
                </a:tc>
                <a:tc gridSpan="3">
                  <a:txBody>
                    <a:bodyPr/>
                    <a:lstStyle/>
                    <a:p>
                      <a:pPr marL="0" marR="0" lvl="0" indent="0" algn="ctr" rtl="0">
                        <a:spcBef>
                          <a:spcPts val="0"/>
                        </a:spcBef>
                        <a:spcAft>
                          <a:spcPts val="0"/>
                        </a:spcAft>
                        <a:buNone/>
                      </a:pPr>
                      <a:r>
                        <a:rPr lang="en-US" sz="800" b="1" dirty="0">
                          <a:solidFill>
                            <a:srgbClr val="0070C0"/>
                          </a:solidFill>
                        </a:rPr>
                        <a:t>BULIM x</a:t>
                      </a:r>
                      <a:endParaRPr dirty="0"/>
                    </a:p>
                    <a:p>
                      <a:pPr marL="0" marR="0" lvl="0" indent="0" algn="ctr" rtl="0">
                        <a:spcBef>
                          <a:spcPts val="0"/>
                        </a:spcBef>
                        <a:spcAft>
                          <a:spcPts val="0"/>
                        </a:spcAft>
                        <a:buNone/>
                      </a:pPr>
                      <a:r>
                        <a:rPr lang="en-US" sz="800" b="1" dirty="0">
                          <a:solidFill>
                            <a:srgbClr val="0070C0"/>
                          </a:solidFill>
                        </a:rPr>
                        <a:t>ENGOT </a:t>
                      </a:r>
                      <a:r>
                        <a:rPr lang="en-US" sz="800" b="1" dirty="0" err="1">
                          <a:solidFill>
                            <a:srgbClr val="0070C0"/>
                          </a:solidFill>
                        </a:rPr>
                        <a:t>tx</a:t>
                      </a:r>
                      <a:endParaRPr sz="800" b="1" dirty="0">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C00000"/>
                          </a:solidFill>
                        </a:rPr>
                        <a:t>182</a:t>
                      </a:r>
                      <a:endParaRPr sz="458" b="1">
                        <a:solidFill>
                          <a:srgbClr val="C00000"/>
                        </a:solidFill>
                      </a:endParaRPr>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t>182</a:t>
                      </a:r>
                      <a:endParaRPr sz="800" b="1"/>
                    </a:p>
                  </a:txBody>
                  <a:tcPr marL="36000" marR="36000" marT="36000" marB="36000" anchor="ct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70C0"/>
                          </a:solidFill>
                        </a:rPr>
                        <a:t>5000</a:t>
                      </a:r>
                      <a:endParaRPr sz="800" b="1">
                        <a:solidFill>
                          <a:srgbClr val="0070C0"/>
                        </a:solidFill>
                      </a:endParaRPr>
                    </a:p>
                  </a:txBody>
                  <a:tcPr marL="36000" marR="36000" marT="36000" marB="36000" anchor="ctr"/>
                </a:tc>
                <a:tc hMerge="1">
                  <a:txBody>
                    <a:bodyPr/>
                    <a:lstStyle/>
                    <a:p>
                      <a:endParaRPr lang="ko-Kore-KR"/>
                    </a:p>
                  </a:txBody>
                  <a:tcPr/>
                </a:tc>
                <a:tc>
                  <a:txBody>
                    <a:bodyPr/>
                    <a:lstStyle/>
                    <a:p>
                      <a:pPr marL="0" marR="0" lvl="0" indent="0" algn="ctr" rtl="0">
                        <a:spcBef>
                          <a:spcPts val="0"/>
                        </a:spcBef>
                        <a:spcAft>
                          <a:spcPts val="0"/>
                        </a:spcAft>
                        <a:buNone/>
                      </a:pPr>
                      <a:r>
                        <a:rPr lang="en-US" sz="800" b="1">
                          <a:solidFill>
                            <a:srgbClr val="C00000"/>
                          </a:solidFill>
                        </a:rPr>
                        <a:t>182</a:t>
                      </a:r>
                      <a:endParaRPr sz="800" b="1">
                        <a:solidFill>
                          <a:srgbClr val="C00000"/>
                        </a:solidFill>
                      </a:endParaRPr>
                    </a:p>
                  </a:txBody>
                  <a:tcPr marL="36000" marR="36000" marT="36000" marB="36000" anchor="ctr"/>
                </a:tc>
                <a:extLst>
                  <a:ext uri="{0D108BD9-81ED-4DB2-BD59-A6C34878D82A}">
                    <a16:rowId xmlns:a16="http://schemas.microsoft.com/office/drawing/2014/main" val="10002"/>
                  </a:ext>
                </a:extLst>
              </a:tr>
              <a:tr h="115700">
                <a:tc gridSpan="3">
                  <a:txBody>
                    <a:bodyPr/>
                    <a:lstStyle/>
                    <a:p>
                      <a:pPr marL="0" marR="0" lvl="0" indent="0" algn="ctr" rtl="0">
                        <a:lnSpc>
                          <a:spcPct val="100000"/>
                        </a:lnSpc>
                        <a:spcBef>
                          <a:spcPts val="0"/>
                        </a:spcBef>
                        <a:spcAft>
                          <a:spcPts val="0"/>
                        </a:spcAft>
                        <a:buClr>
                          <a:srgbClr val="0070C0"/>
                        </a:buClr>
                        <a:buSzPts val="800"/>
                        <a:buFont typeface="Calibri"/>
                        <a:buNone/>
                      </a:pPr>
                      <a:r>
                        <a:rPr lang="en-US" sz="800" b="1">
                          <a:solidFill>
                            <a:srgbClr val="0070C0"/>
                          </a:solidFill>
                        </a:rPr>
                        <a:t>KMH 113.8</a:t>
                      </a:r>
                      <a:endParaRPr sz="800" b="1">
                        <a:solidFill>
                          <a:srgbClr val="0070C0"/>
                        </a:solidFill>
                      </a:endParaRPr>
                    </a:p>
                  </a:txBody>
                  <a:tcPr marL="36000" marR="36000" marT="36000" marB="36000" anchor="ct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a:solidFill>
                            <a:srgbClr val="00B050"/>
                          </a:solidFill>
                        </a:rPr>
                        <a:t>PSN 114.0</a:t>
                      </a:r>
                      <a:endParaRPr sz="458">
                        <a:solidFill>
                          <a:srgbClr val="00B050"/>
                        </a:solidFill>
                      </a:endParaRPr>
                    </a:p>
                  </a:txBody>
                  <a:tcPr marL="36000" marR="36000" marT="36000" marB="36000" anchor="ctr"/>
                </a:tc>
                <a:tc hMerge="1">
                  <a:txBody>
                    <a:bodyPr/>
                    <a:lstStyle/>
                    <a:p>
                      <a:endParaRPr lang="ko-Kore-KR"/>
                    </a:p>
                  </a:txBody>
                  <a:tcPr/>
                </a:tc>
                <a:tc gridSpan="4">
                  <a:txBody>
                    <a:bodyPr/>
                    <a:lstStyle/>
                    <a:p>
                      <a:pPr marL="0" marR="0" lvl="0" indent="0" algn="ctr" rtl="0">
                        <a:spcBef>
                          <a:spcPts val="0"/>
                        </a:spcBef>
                        <a:spcAft>
                          <a:spcPts val="0"/>
                        </a:spcAft>
                        <a:buNone/>
                      </a:pPr>
                      <a:r>
                        <a:rPr lang="en-US" sz="800" b="1" dirty="0">
                          <a:solidFill>
                            <a:srgbClr val="C00000"/>
                          </a:solidFill>
                        </a:rPr>
                        <a:t>36L 108.5</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gridSpan="2">
                  <a:txBody>
                    <a:bodyPr/>
                    <a:lstStyle/>
                    <a:p>
                      <a:pPr marL="0" marR="0" lvl="0" indent="0" algn="ctr" rtl="0">
                        <a:spcBef>
                          <a:spcPts val="0"/>
                        </a:spcBef>
                        <a:spcAft>
                          <a:spcPts val="0"/>
                        </a:spcAft>
                        <a:buNone/>
                      </a:pPr>
                      <a:r>
                        <a:rPr lang="en-US" sz="800" b="1" dirty="0">
                          <a:solidFill>
                            <a:srgbClr val="C00000"/>
                          </a:solidFill>
                        </a:rPr>
                        <a:t>36R 109.5</a:t>
                      </a:r>
                      <a:endParaRPr dirty="0"/>
                    </a:p>
                  </a:txBody>
                  <a:tcPr marL="36000" marR="36000" marT="36000" marB="36000" anchor="ctr"/>
                </a:tc>
                <a:tc hMerge="1">
                  <a:txBody>
                    <a:bodyPr/>
                    <a:lstStyle/>
                    <a:p>
                      <a:endParaRPr lang="ko-Kore-KR"/>
                    </a:p>
                  </a:txBody>
                  <a:tcPr/>
                </a:tc>
                <a:extLst>
                  <a:ext uri="{0D108BD9-81ED-4DB2-BD59-A6C34878D82A}">
                    <a16:rowId xmlns:a16="http://schemas.microsoft.com/office/drawing/2014/main" val="10003"/>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a:t>36 : KMH R091, R271, R185</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4"/>
                  </a:ext>
                </a:extLst>
              </a:tr>
              <a:tr h="101600">
                <a:tc gridSpan="2">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hMerge="1">
                  <a:txBody>
                    <a:bodyPr/>
                    <a:lstStyle/>
                    <a:p>
                      <a:endParaRPr lang="ko-Kore-KR"/>
                    </a:p>
                  </a:txBody>
                  <a:tcPr/>
                </a:tc>
                <a:tc gridSpan="5">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gridSpan="4">
                  <a:txBody>
                    <a:bodyPr/>
                    <a:lstStyle/>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18R(13’) 8530’</a:t>
                      </a:r>
                      <a:endParaRPr sz="800" b="1">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18L(13’) 8999’</a:t>
                      </a:r>
                      <a:endParaRPr sz="800" b="1">
                        <a:solidFill>
                          <a:srgbClr val="00B05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5"/>
                  </a:ext>
                </a:extLst>
              </a:tr>
              <a:tr h="115700">
                <a:tc gridSpan="11">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RWY36 400ft Man L/H turn, Max Taxi SPD 20KTS</a:t>
                      </a:r>
                      <a:endParaRPr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bl>
          </a:graphicData>
        </a:graphic>
      </p:graphicFrame>
      <p:pic>
        <p:nvPicPr>
          <p:cNvPr id="7" name="Google Shape;248;p13">
            <a:extLst>
              <a:ext uri="{FF2B5EF4-FFF2-40B4-BE49-F238E27FC236}">
                <a16:creationId xmlns:a16="http://schemas.microsoft.com/office/drawing/2014/main" id="{7031B509-E213-E55A-D00C-2A7E716876D9}"/>
              </a:ext>
            </a:extLst>
          </p:cNvPr>
          <p:cNvPicPr preferRelativeResize="0"/>
          <p:nvPr/>
        </p:nvPicPr>
        <p:blipFill rotWithShape="1">
          <a:blip r:embed="rId7">
            <a:alphaModFix/>
          </a:blip>
          <a:srcRect/>
          <a:stretch/>
        </p:blipFill>
        <p:spPr>
          <a:xfrm>
            <a:off x="4472" y="2383655"/>
            <a:ext cx="1559909" cy="651823"/>
          </a:xfrm>
          <a:prstGeom prst="rect">
            <a:avLst/>
          </a:prstGeom>
          <a:noFill/>
          <a:ln>
            <a:noFill/>
          </a:ln>
        </p:spPr>
      </p:pic>
    </p:spTree>
    <p:extLst>
      <p:ext uri="{BB962C8B-B14F-4D97-AF65-F5344CB8AC3E}">
        <p14:creationId xmlns:p14="http://schemas.microsoft.com/office/powerpoint/2010/main" val="2401966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3" name="Google Shape;117;p3">
            <a:extLst>
              <a:ext uri="{FF2B5EF4-FFF2-40B4-BE49-F238E27FC236}">
                <a16:creationId xmlns:a16="http://schemas.microsoft.com/office/drawing/2014/main" id="{B2399E6E-0BF9-245E-720B-598089D336E3}"/>
              </a:ext>
            </a:extLst>
          </p:cNvPr>
          <p:cNvGraphicFramePr/>
          <p:nvPr>
            <p:extLst>
              <p:ext uri="{D42A27DB-BD31-4B8C-83A1-F6EECF244321}">
                <p14:modId xmlns:p14="http://schemas.microsoft.com/office/powerpoint/2010/main" val="3534931131"/>
              </p:ext>
            </p:extLst>
          </p:nvPr>
        </p:nvGraphicFramePr>
        <p:xfrm>
          <a:off x="-4045" y="643000"/>
          <a:ext cx="2342156" cy="1864570"/>
        </p:xfrm>
        <a:graphic>
          <a:graphicData uri="http://schemas.openxmlformats.org/drawingml/2006/table">
            <a:tbl>
              <a:tblPr firstRow="1" bandRow="1">
                <a:noFill/>
                <a:tableStyleId>{A521BE36-7E6F-4EC9-8D66-1CF97A6895EC}</a:tableStyleId>
              </a:tblPr>
              <a:tblGrid>
                <a:gridCol w="318926">
                  <a:extLst>
                    <a:ext uri="{9D8B030D-6E8A-4147-A177-3AD203B41FA5}">
                      <a16:colId xmlns:a16="http://schemas.microsoft.com/office/drawing/2014/main" val="20000"/>
                    </a:ext>
                  </a:extLst>
                </a:gridCol>
                <a:gridCol w="127443">
                  <a:extLst>
                    <a:ext uri="{9D8B030D-6E8A-4147-A177-3AD203B41FA5}">
                      <a16:colId xmlns:a16="http://schemas.microsoft.com/office/drawing/2014/main" val="20002"/>
                    </a:ext>
                  </a:extLst>
                </a:gridCol>
                <a:gridCol w="446370">
                  <a:extLst>
                    <a:ext uri="{9D8B030D-6E8A-4147-A177-3AD203B41FA5}">
                      <a16:colId xmlns:a16="http://schemas.microsoft.com/office/drawing/2014/main" val="316027583"/>
                    </a:ext>
                  </a:extLst>
                </a:gridCol>
                <a:gridCol w="160014">
                  <a:extLst>
                    <a:ext uri="{9D8B030D-6E8A-4147-A177-3AD203B41FA5}">
                      <a16:colId xmlns:a16="http://schemas.microsoft.com/office/drawing/2014/main" val="3522764159"/>
                    </a:ext>
                  </a:extLst>
                </a:gridCol>
                <a:gridCol w="274429">
                  <a:extLst>
                    <a:ext uri="{9D8B030D-6E8A-4147-A177-3AD203B41FA5}">
                      <a16:colId xmlns:a16="http://schemas.microsoft.com/office/drawing/2014/main" val="20005"/>
                    </a:ext>
                  </a:extLst>
                </a:gridCol>
                <a:gridCol w="61400">
                  <a:extLst>
                    <a:ext uri="{9D8B030D-6E8A-4147-A177-3AD203B41FA5}">
                      <a16:colId xmlns:a16="http://schemas.microsoft.com/office/drawing/2014/main" val="20006"/>
                    </a:ext>
                  </a:extLst>
                </a:gridCol>
                <a:gridCol w="308535">
                  <a:extLst>
                    <a:ext uri="{9D8B030D-6E8A-4147-A177-3AD203B41FA5}">
                      <a16:colId xmlns:a16="http://schemas.microsoft.com/office/drawing/2014/main" val="2506187783"/>
                    </a:ext>
                  </a:extLst>
                </a:gridCol>
                <a:gridCol w="137834">
                  <a:extLst>
                    <a:ext uri="{9D8B030D-6E8A-4147-A177-3AD203B41FA5}">
                      <a16:colId xmlns:a16="http://schemas.microsoft.com/office/drawing/2014/main" val="20008"/>
                    </a:ext>
                  </a:extLst>
                </a:gridCol>
                <a:gridCol w="171939">
                  <a:extLst>
                    <a:ext uri="{9D8B030D-6E8A-4147-A177-3AD203B41FA5}">
                      <a16:colId xmlns:a16="http://schemas.microsoft.com/office/drawing/2014/main" val="3421815691"/>
                    </a:ext>
                  </a:extLst>
                </a:gridCol>
                <a:gridCol w="335266">
                  <a:extLst>
                    <a:ext uri="{9D8B030D-6E8A-4147-A177-3AD203B41FA5}">
                      <a16:colId xmlns:a16="http://schemas.microsoft.com/office/drawing/2014/main" val="448940902"/>
                    </a:ext>
                  </a:extLst>
                </a:gridCol>
              </a:tblGrid>
              <a:tr h="0">
                <a:tc gridSpan="10">
                  <a:txBody>
                    <a:bodyPr/>
                    <a:lstStyle/>
                    <a:p>
                      <a:pPr marL="0" marR="0" lvl="0" indent="0" algn="ctr" rtl="0">
                        <a:spcBef>
                          <a:spcPts val="0"/>
                        </a:spcBef>
                        <a:spcAft>
                          <a:spcPts val="0"/>
                        </a:spcAft>
                        <a:buNone/>
                      </a:pPr>
                      <a:r>
                        <a:rPr lang="en-US" sz="800" u="none" strike="noStrike" cap="none" dirty="0"/>
                        <a:t>BKK : RNAV SID (NADP 1) TA 11000</a:t>
                      </a:r>
                    </a:p>
                    <a:p>
                      <a:pPr marL="0" marR="0" lvl="0" indent="0" algn="ctr" rtl="0">
                        <a:spcBef>
                          <a:spcPts val="0"/>
                        </a:spcBef>
                        <a:spcAft>
                          <a:spcPts val="0"/>
                        </a:spcAft>
                        <a:buNone/>
                      </a:pPr>
                      <a:r>
                        <a:rPr lang="en-US" sz="800" u="none" strike="noStrike" cap="none" dirty="0">
                          <a:solidFill>
                            <a:schemeClr val="accent4"/>
                          </a:solidFill>
                        </a:rPr>
                        <a:t>A-CDM REQ Pushback +-5min of TSAT</a:t>
                      </a:r>
                    </a:p>
                    <a:p>
                      <a:pPr marL="0" marR="0" lvl="0" indent="0" algn="ctr" rtl="0">
                        <a:spcBef>
                          <a:spcPts val="0"/>
                        </a:spcBef>
                        <a:spcAft>
                          <a:spcPts val="0"/>
                        </a:spcAft>
                        <a:buNone/>
                      </a:pPr>
                      <a:r>
                        <a:rPr lang="en-US" sz="800" u="none" strike="noStrike" cap="none" dirty="0">
                          <a:solidFill>
                            <a:schemeClr val="accent4"/>
                          </a:solidFill>
                        </a:rPr>
                        <a:t>TSAT/CTOT Inform to GND CTL </a:t>
                      </a:r>
                    </a:p>
                  </a:txBody>
                  <a:tcPr marL="36000" marR="72000" marT="45725" marB="45725"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u="none" strike="noStrike" cap="none" dirty="0"/>
                        <a:t>19R</a:t>
                      </a:r>
                      <a:r>
                        <a:rPr lang="en-US" sz="800" b="0" u="none" strike="noStrike" cap="none" dirty="0"/>
                        <a:t>/L</a:t>
                      </a:r>
                    </a:p>
                  </a:txBody>
                  <a:tcPr marL="36000" marR="36000" marT="36000" marB="36000" anchor="ctr"/>
                </a:tc>
                <a:tc gridSpan="3">
                  <a:txBody>
                    <a:bodyPr/>
                    <a:lstStyle/>
                    <a:p>
                      <a:pPr algn="ctr"/>
                      <a:r>
                        <a:rPr lang="en-US" sz="800" b="1" u="none" strike="noStrike" cap="none" dirty="0">
                          <a:solidFill>
                            <a:srgbClr val="0070C0"/>
                          </a:solidFill>
                        </a:rPr>
                        <a:t>UPKUP </a:t>
                      </a:r>
                      <a:r>
                        <a:rPr lang="en-US" sz="800" b="1" u="none" strike="noStrike" cap="none" dirty="0" err="1">
                          <a:solidFill>
                            <a:srgbClr val="0070C0"/>
                          </a:solidFill>
                        </a:rPr>
                        <a:t>xxG</a:t>
                      </a:r>
                      <a:r>
                        <a:rPr lang="en-US" sz="800" b="1" u="none" strike="noStrike" cap="none" dirty="0">
                          <a:solidFill>
                            <a:srgbClr val="0070C0"/>
                          </a:solidFill>
                        </a:rPr>
                        <a:t>/J</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algn="ctr"/>
                      <a:r>
                        <a:rPr lang="en-US" altLang="ko-Kore-KR" sz="800" b="1" u="none" strike="noStrike" cap="none" dirty="0">
                          <a:solidFill>
                            <a:srgbClr val="C00000"/>
                          </a:solidFill>
                        </a:rPr>
                        <a:t>195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195</a:t>
                      </a:r>
                      <a:endParaRPr sz="800" b="1" u="none" strike="noStrike" cap="none"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70C0"/>
                          </a:solidFill>
                        </a:rPr>
                        <a:t>6000</a:t>
                      </a:r>
                      <a:endParaRPr sz="800" b="1" u="none" strike="noStrike" cap="none" dirty="0">
                        <a:solidFill>
                          <a:srgbClr val="0070C0"/>
                        </a:solidFill>
                      </a:endParaRPr>
                    </a:p>
                  </a:txBody>
                  <a:tcPr marL="36000" marR="36000" marT="36000" marB="3600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195</a:t>
                      </a:r>
                      <a:endParaRPr lang="ko-Kore-KR" altLang="en-US" dirty="0"/>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u="none" strike="noStrike" cap="none" dirty="0"/>
                        <a:t>01R</a:t>
                      </a:r>
                      <a:r>
                        <a:rPr lang="en-US" sz="800" b="0" u="none" strike="noStrike" cap="none" dirty="0"/>
                        <a:t>/L</a:t>
                      </a:r>
                      <a:endParaRPr sz="800" b="0" u="none" strike="noStrike" cap="none" dirty="0"/>
                    </a:p>
                  </a:txBody>
                  <a:tcPr marL="36000" marR="36000" marT="36000" marB="36000" anchor="ctr"/>
                </a:tc>
                <a:tc gridSpan="3">
                  <a:txBody>
                    <a:bodyPr/>
                    <a:lstStyle/>
                    <a:p>
                      <a:pPr algn="ctr"/>
                      <a:r>
                        <a:rPr lang="en-US" altLang="ko-Kore-KR" sz="800" b="1" u="none" strike="noStrike" cap="none" dirty="0">
                          <a:solidFill>
                            <a:srgbClr val="0070C0"/>
                          </a:solidFill>
                        </a:rPr>
                        <a:t>UPKUP </a:t>
                      </a:r>
                      <a:r>
                        <a:rPr lang="en-US" altLang="ko-Kore-KR" sz="800" b="1" u="none" strike="noStrike" cap="none" dirty="0" err="1">
                          <a:solidFill>
                            <a:srgbClr val="0070C0"/>
                          </a:solidFill>
                        </a:rPr>
                        <a:t>xxK</a:t>
                      </a:r>
                      <a:r>
                        <a:rPr lang="en-US" altLang="ko-Kore-KR" sz="800" b="1" u="none" strike="noStrike" cap="none" dirty="0">
                          <a:solidFill>
                            <a:srgbClr val="0070C0"/>
                          </a:solidFill>
                        </a:rPr>
                        <a:t>/H</a:t>
                      </a:r>
                      <a:endParaRPr lang="ko-Kore-KR" dirty="0"/>
                    </a:p>
                  </a:txBody>
                  <a:tcPr marL="36000" marR="36000" marT="36000" marB="36000" anchor="ctr"/>
                </a:tc>
                <a:tc hMerge="1">
                  <a:txBody>
                    <a:bodyPr/>
                    <a:lstStyle/>
                    <a:p>
                      <a:endParaRPr lang="ko-Kore-KR" altLang="en-US"/>
                    </a:p>
                  </a:txBody>
                  <a:tcPr/>
                </a:tc>
                <a:tc hMerge="1">
                  <a:txBody>
                    <a:bodyPr/>
                    <a:lstStyle/>
                    <a:p>
                      <a:endParaRPr lang="ko-Kore-KR" altLang="en-US"/>
                    </a:p>
                  </a:txBody>
                  <a:tcPr/>
                </a:tc>
                <a:tc>
                  <a:txBody>
                    <a:bodyPr/>
                    <a:lstStyle/>
                    <a:p>
                      <a:pPr algn="ctr"/>
                      <a:r>
                        <a:rPr lang="en-US" altLang="ko-Kore-KR" sz="800" b="1" u="none" strike="noStrike" cap="none" dirty="0">
                          <a:solidFill>
                            <a:srgbClr val="C00000"/>
                          </a:solidFill>
                        </a:rPr>
                        <a:t>015</a:t>
                      </a:r>
                      <a:endParaRPr lang="ko-Kore-KR" dirty="0"/>
                    </a:p>
                  </a:txBody>
                  <a:tcPr marL="36000" marR="36000" marT="36000" marB="36000" anchor="ctr"/>
                </a:tc>
                <a:tc gridSpan="2">
                  <a:txBody>
                    <a:bodyPr/>
                    <a:lstStyle/>
                    <a:p>
                      <a:pPr marL="0" marR="0" lvl="0" indent="0" algn="ctr" rtl="0">
                        <a:spcBef>
                          <a:spcPts val="0"/>
                        </a:spcBef>
                        <a:spcAft>
                          <a:spcPts val="0"/>
                        </a:spcAft>
                        <a:buNone/>
                      </a:pPr>
                      <a:r>
                        <a:rPr lang="en-US" sz="800" b="1" u="none" strike="noStrike" cap="none" dirty="0"/>
                        <a:t>015</a:t>
                      </a:r>
                      <a:endParaRPr sz="800" b="1" u="none" strike="noStrike" cap="none" dirty="0"/>
                    </a:p>
                  </a:txBody>
                  <a:tcPr marL="36000" marR="36000" marT="36000" marB="36000" anchor="ctr"/>
                </a:tc>
                <a:tc hMerge="1">
                  <a:txBody>
                    <a:bodyPr/>
                    <a:lstStyle/>
                    <a:p>
                      <a:endParaRPr lang="ko-Kore-KR" altLang="en-US"/>
                    </a:p>
                  </a:txBody>
                  <a:tcPr/>
                </a:tc>
                <a:tc gridSpan="2">
                  <a:txBody>
                    <a:bodyPr/>
                    <a:lstStyle/>
                    <a:p>
                      <a:pPr marL="0" marR="0" lvl="0" indent="0" algn="ctr" rtl="0">
                        <a:spcBef>
                          <a:spcPts val="0"/>
                        </a:spcBef>
                        <a:spcAft>
                          <a:spcPts val="0"/>
                        </a:spcAft>
                        <a:buNone/>
                      </a:pPr>
                      <a:r>
                        <a:rPr lang="en-US" sz="800" b="1" u="none" strike="noStrike" cap="none" dirty="0">
                          <a:solidFill>
                            <a:srgbClr val="0070C0"/>
                          </a:solidFill>
                        </a:rPr>
                        <a:t>6000</a:t>
                      </a:r>
                      <a:endParaRPr sz="800" b="1" u="none" strike="noStrike" cap="none" dirty="0">
                        <a:solidFill>
                          <a:srgbClr val="0070C0"/>
                        </a:solidFill>
                      </a:endParaRPr>
                    </a:p>
                  </a:txBody>
                  <a:tcPr marL="36000" marR="36000" marT="36000" marB="36000" anchor="ctr"/>
                </a:tc>
                <a:tc hMerge="1">
                  <a:txBody>
                    <a:bodyPr/>
                    <a:lstStyle/>
                    <a:p>
                      <a:endParaRPr lang="ko-Kore-KR" altLang="en-US"/>
                    </a:p>
                  </a:txBody>
                  <a:tcPr/>
                </a:tc>
                <a:tc>
                  <a:txBody>
                    <a:bodyPr/>
                    <a:lstStyle/>
                    <a:p>
                      <a:pPr algn="ctr"/>
                      <a:r>
                        <a:rPr lang="en-US" altLang="ko-Kore-KR" sz="800" b="1" u="none" strike="noStrike" cap="none" dirty="0">
                          <a:solidFill>
                            <a:srgbClr val="C00000"/>
                          </a:solidFill>
                        </a:rPr>
                        <a:t>015</a:t>
                      </a:r>
                      <a:endParaRPr lang="ko-Kore-KR" altLang="en-US" dirty="0"/>
                    </a:p>
                  </a:txBody>
                  <a:tcPr marL="36000" marR="36000" marT="36000" marB="36000" anchor="ctr"/>
                </a:tc>
                <a:extLst>
                  <a:ext uri="{0D108BD9-81ED-4DB2-BD59-A6C34878D82A}">
                    <a16:rowId xmlns:a16="http://schemas.microsoft.com/office/drawing/2014/main" val="10002"/>
                  </a:ext>
                </a:extLst>
              </a:tr>
              <a:tr h="115700">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SVB 111.4</a:t>
                      </a:r>
                    </a:p>
                  </a:txBody>
                  <a:tcPr marL="36000" marR="36000" marT="36000" marB="36000" anchor="ctr"/>
                </a:tc>
                <a:tc hMerge="1">
                  <a:txBody>
                    <a:bodyPr/>
                    <a:lstStyle/>
                    <a:p>
                      <a:endParaRPr lang="ko-Kore-KR"/>
                    </a:p>
                  </a:txBody>
                  <a:tcPr/>
                </a:tc>
                <a:tc>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19L 110.5</a:t>
                      </a:r>
                      <a:endParaRPr lang="ko-Kore-KR" altLang="en-US" dirty="0"/>
                    </a:p>
                  </a:txBody>
                  <a:tcPr marL="36000" marR="36000" marT="36000" marB="36000" anchor="ctr"/>
                </a:tc>
                <a:tc gridSpan="3">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01L 109.1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05R 110.7</a:t>
                      </a:r>
                      <a:endParaRPr lang="ko-Kore-KR" dirty="0"/>
                    </a:p>
                  </a:txBody>
                  <a:tcPr marL="36000" marR="36000" marT="36000" marB="36000" anchor="ctr"/>
                </a:tc>
                <a:tc hMerge="1">
                  <a:txBody>
                    <a:bodyPr/>
                    <a:lstStyle/>
                    <a:p>
                      <a:endParaRPr lang="ko-Kore-KR"/>
                    </a:p>
                  </a:txBody>
                  <a:tcP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19R 109.5</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algn="ct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23L 111.9</a:t>
                      </a:r>
                      <a:endParaRPr lang="ko-Kore-KR" dirty="0"/>
                    </a:p>
                  </a:txBody>
                  <a:tcPr marL="36000" marR="36000" marT="36000" marB="36000" anchor="ctr"/>
                </a:tc>
                <a:tc gridSpan="2">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01R 110.1</a:t>
                      </a:r>
                      <a:endParaRPr kumimoji="0" lang="ko-Kore-KR" altLang="en-US"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tc hMerge="1">
                  <a:txBody>
                    <a:bodyPr/>
                    <a:lstStyle/>
                    <a:p>
                      <a:pPr marL="0" marR="0" lvl="0" indent="0" algn="ctr" defTabSz="914400" rtl="0" eaLnBrk="1" fontAlgn="auto" latinLnBrk="0" hangingPunct="1">
                        <a:lnSpc>
                          <a:spcPct val="100000"/>
                        </a:lnSpc>
                        <a:spcBef>
                          <a:spcPts val="0"/>
                        </a:spcBef>
                        <a:spcAft>
                          <a:spcPts val="0"/>
                        </a:spcAft>
                        <a:buClr>
                          <a:srgbClr val="C00000"/>
                        </a:buClr>
                        <a:buSzPts val="800"/>
                        <a:buFont typeface="Calibri"/>
                        <a:buNone/>
                        <a:tabLst/>
                        <a:defRPr/>
                      </a:pPr>
                      <a:r>
                        <a:rPr kumimoji="0" lang="en-US" altLang="ko-Kore-KR" sz="800" b="1" i="0" u="none" strike="noStrike" kern="0" cap="none" spc="0" normalizeH="0" baseline="0" noProof="0" dirty="0">
                          <a:ln>
                            <a:noFill/>
                          </a:ln>
                          <a:solidFill>
                            <a:srgbClr val="C00000"/>
                          </a:solidFill>
                          <a:effectLst/>
                          <a:uLnTx/>
                          <a:uFillTx/>
                          <a:latin typeface="Calibri"/>
                          <a:cs typeface="Calibri"/>
                          <a:sym typeface="Arial"/>
                        </a:rPr>
                        <a:t>19 108.9</a:t>
                      </a:r>
                      <a:endParaRPr kumimoji="0" lang="en-US" altLang="ko-Kore-KR" sz="1400" b="0" i="0" u="none" strike="noStrike" kern="0" cap="none" spc="0" normalizeH="0" baseline="0" noProof="0" dirty="0">
                        <a:ln>
                          <a:noFill/>
                        </a:ln>
                        <a:solidFill>
                          <a:srgbClr val="000000"/>
                        </a:solidFill>
                        <a:effectLst/>
                        <a:uLnTx/>
                        <a:uFillTx/>
                        <a:latin typeface="Calibri"/>
                        <a:cs typeface="Calibri"/>
                        <a:sym typeface="Arial"/>
                      </a:endParaRPr>
                    </a:p>
                  </a:txBody>
                  <a:tcPr marL="36000" marR="36000" marT="36000" marB="36000" anchor="ctr"/>
                </a:tc>
                <a:extLst>
                  <a:ext uri="{0D108BD9-81ED-4DB2-BD59-A6C34878D82A}">
                    <a16:rowId xmlns:a16="http://schemas.microsoft.com/office/drawing/2014/main" val="10003"/>
                  </a:ext>
                </a:extLst>
              </a:tr>
              <a:tr h="101600">
                <a:tc rowSpan="2">
                  <a:txBody>
                    <a:bodyPr/>
                    <a:lstStyle/>
                    <a:p>
                      <a:pPr marL="0" marR="0" lvl="0" indent="0" algn="ctr" rtl="0">
                        <a:lnSpc>
                          <a:spcPct val="100000"/>
                        </a:lnSpc>
                        <a:spcBef>
                          <a:spcPts val="0"/>
                        </a:spcBef>
                        <a:spcAft>
                          <a:spcPts val="0"/>
                        </a:spcAft>
                        <a:buClr>
                          <a:schemeClr val="lt1"/>
                        </a:buClr>
                        <a:buSzPts val="800"/>
                        <a:buFont typeface="Calibri"/>
                        <a:buNone/>
                      </a:pPr>
                      <a:r>
                        <a:rPr lang="en-US" sz="800" u="none" strike="noStrike" cap="none" dirty="0">
                          <a:solidFill>
                            <a:schemeClr val="lt1"/>
                          </a:solidFill>
                        </a:rPr>
                        <a:t>HUD</a:t>
                      </a:r>
                      <a:endParaRPr sz="800" u="none" strike="noStrike" cap="none" dirty="0">
                        <a:solidFill>
                          <a:schemeClr val="lt1"/>
                        </a:solidFill>
                      </a:endParaRPr>
                    </a:p>
                  </a:txBody>
                  <a:tcPr marL="36000" marR="36000" marT="36000" marB="36000" anchor="ctr">
                    <a:solidFill>
                      <a:schemeClr val="accent1"/>
                    </a:solidFill>
                  </a:tcPr>
                </a:tc>
                <a:tc gridSpan="3">
                  <a:txBody>
                    <a:bodyPr/>
                    <a:lstStyle/>
                    <a:p>
                      <a:pPr marL="0" marR="0" lvl="0" indent="0" algn="ctr" rtl="0">
                        <a:lnSpc>
                          <a:spcPct val="100000"/>
                        </a:lnSpc>
                        <a:spcBef>
                          <a:spcPts val="0"/>
                        </a:spcBef>
                        <a:spcAft>
                          <a:spcPts val="0"/>
                        </a:spcAft>
                        <a:buClr>
                          <a:srgbClr val="00B050"/>
                        </a:buClr>
                        <a:buSzPts val="800"/>
                        <a:buFont typeface="Calibri"/>
                        <a:buNone/>
                      </a:pPr>
                      <a:r>
                        <a:rPr lang="en-US" sz="800" b="1" u="none" strike="noStrike" cap="none" dirty="0">
                          <a:solidFill>
                            <a:srgbClr val="00B050"/>
                          </a:solidFill>
                          <a:latin typeface="Calibri"/>
                          <a:ea typeface="Calibri"/>
                          <a:cs typeface="Calibri"/>
                          <a:sym typeface="Calibri"/>
                        </a:rPr>
                        <a:t>19R(4’)</a:t>
                      </a:r>
                      <a:endParaRPr lang="en-US"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altLang="ko-KR" sz="800" b="1" u="none" strike="noStrike" cap="none" dirty="0">
                          <a:solidFill>
                            <a:srgbClr val="00B050"/>
                          </a:solidFill>
                          <a:latin typeface="Calibri"/>
                          <a:ea typeface="Calibri"/>
                          <a:cs typeface="Calibri"/>
                          <a:sym typeface="Calibri"/>
                        </a:rPr>
                        <a:t>12139</a:t>
                      </a:r>
                      <a:r>
                        <a:rPr lang="en-US" sz="800" b="1" u="none" strike="noStrike" cap="none" dirty="0">
                          <a:solidFill>
                            <a:srgbClr val="00B050"/>
                          </a:solidFill>
                          <a:latin typeface="Calibri"/>
                          <a:ea typeface="Calibri"/>
                          <a:cs typeface="Calibri"/>
                          <a:sym typeface="Calibri"/>
                        </a:rPr>
                        <a:t>’</a:t>
                      </a:r>
                      <a:endParaRPr sz="800" b="1" u="none" strike="noStrike" cap="none" dirty="0">
                        <a:solidFill>
                          <a:srgbClr val="00B050"/>
                        </a:solidFill>
                        <a:latin typeface="Calibri"/>
                        <a:ea typeface="Calibri"/>
                        <a:cs typeface="Calibri"/>
                        <a:sym typeface="Calibri"/>
                      </a:endParaRPr>
                    </a:p>
                  </a:txBody>
                  <a:tcPr marL="36000" marR="36000" marT="36000" marB="36000" anchor="ctr"/>
                </a:tc>
                <a:tc hMerge="1">
                  <a:txBody>
                    <a:bodyPr/>
                    <a:lstStyle/>
                    <a:p>
                      <a:endParaRPr lang="ko-Kore-KR"/>
                    </a:p>
                  </a:txBody>
                  <a:tcPr/>
                </a:tc>
                <a:tc hMerge="1">
                  <a:txBody>
                    <a:bodyPr/>
                    <a:lstStyle/>
                    <a:p>
                      <a:endParaRPr lang="ko-Kore-KR" altLang="en-US"/>
                    </a:p>
                  </a:txBody>
                  <a:tcPr/>
                </a:tc>
                <a:tc gridSpan="3">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01L(4’)</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5"/>
                  </a:ext>
                </a:extLst>
              </a:tr>
              <a:tr h="101600">
                <a:tc vMerge="1">
                  <a:txBody>
                    <a:bodyPr/>
                    <a:lstStyle/>
                    <a:p>
                      <a:pPr marL="0" marR="0" lvl="0" indent="0" algn="ctr" rtl="0">
                        <a:lnSpc>
                          <a:spcPct val="100000"/>
                        </a:lnSpc>
                        <a:spcBef>
                          <a:spcPts val="0"/>
                        </a:spcBef>
                        <a:spcAft>
                          <a:spcPts val="0"/>
                        </a:spcAft>
                        <a:buClr>
                          <a:schemeClr val="lt1"/>
                        </a:buClr>
                        <a:buSzPts val="800"/>
                        <a:buFont typeface="Calibri"/>
                        <a:buNone/>
                      </a:pPr>
                      <a:endParaRPr sz="800" u="none" strike="noStrike" cap="none" dirty="0">
                        <a:solidFill>
                          <a:schemeClr val="lt1"/>
                        </a:solidFill>
                      </a:endParaRPr>
                    </a:p>
                  </a:txBody>
                  <a:tcPr marL="36000" marR="36000" marT="36000" marB="36000" anchor="ctr">
                    <a:solidFill>
                      <a:schemeClr val="accent1"/>
                    </a:solidFill>
                  </a:tcPr>
                </a:tc>
                <a:tc gridSpan="9">
                  <a:txBody>
                    <a:bodyPr/>
                    <a:lstStyle/>
                    <a:p>
                      <a:pPr marL="0" marR="0" lvl="0" indent="0" algn="ctr" rtl="0">
                        <a:lnSpc>
                          <a:spcPct val="100000"/>
                        </a:lnSpc>
                        <a:spcBef>
                          <a:spcPts val="0"/>
                        </a:spcBef>
                        <a:spcAft>
                          <a:spcPts val="0"/>
                        </a:spcAft>
                        <a:buClr>
                          <a:srgbClr val="00B050"/>
                        </a:buClr>
                        <a:buSzPts val="800"/>
                        <a:buFont typeface="Calibri"/>
                        <a:buNone/>
                      </a:pPr>
                      <a:r>
                        <a:rPr lang="en-US" altLang="ko-Kore-KR" sz="800" b="1" u="none" strike="noStrike" cap="none" dirty="0">
                          <a:solidFill>
                            <a:srgbClr val="00B050"/>
                          </a:solidFill>
                          <a:latin typeface="Calibri"/>
                          <a:ea typeface="Calibri"/>
                          <a:cs typeface="Calibri"/>
                          <a:sym typeface="Calibri"/>
                        </a:rPr>
                        <a:t>19L (4’)        </a:t>
                      </a:r>
                      <a:r>
                        <a:rPr lang="en-US" sz="800" b="1" u="none" strike="noStrike" cap="none" dirty="0">
                          <a:solidFill>
                            <a:srgbClr val="00B050"/>
                          </a:solidFill>
                          <a:latin typeface="Calibri"/>
                          <a:cs typeface="Calibri"/>
                          <a:sym typeface="Calibri"/>
                        </a:rPr>
                        <a:t>13123’ </a:t>
                      </a:r>
                      <a:r>
                        <a:rPr lang="en-US" sz="800" b="1" u="none" strike="noStrike" cap="none" dirty="0">
                          <a:solidFill>
                            <a:srgbClr val="C00000"/>
                          </a:solidFill>
                          <a:latin typeface="Calibri"/>
                          <a:cs typeface="Calibri"/>
                          <a:sym typeface="Calibri"/>
                        </a:rPr>
                        <a:t>No </a:t>
                      </a:r>
                      <a:r>
                        <a:rPr lang="en-US" sz="800" b="1" u="none" strike="noStrike" cap="none" dirty="0" err="1">
                          <a:solidFill>
                            <a:srgbClr val="C00000"/>
                          </a:solidFill>
                          <a:latin typeface="Calibri"/>
                          <a:cs typeface="Calibri"/>
                          <a:sym typeface="Calibri"/>
                        </a:rPr>
                        <a:t>Groov</a:t>
                      </a:r>
                      <a:r>
                        <a:rPr lang="en-US" sz="800" b="1" u="none" strike="noStrike" cap="none" dirty="0">
                          <a:solidFill>
                            <a:srgbClr val="C00000"/>
                          </a:solidFill>
                          <a:latin typeface="Calibri"/>
                          <a:cs typeface="Calibri"/>
                          <a:sym typeface="Calibri"/>
                        </a:rPr>
                        <a:t>       </a:t>
                      </a:r>
                      <a:r>
                        <a:rPr lang="en-US" sz="800" b="1" u="none" strike="noStrike" cap="none" dirty="0">
                          <a:solidFill>
                            <a:srgbClr val="00B050"/>
                          </a:solidFill>
                          <a:latin typeface="Calibri"/>
                          <a:cs typeface="Calibri"/>
                          <a:sym typeface="Calibri"/>
                        </a:rPr>
                        <a:t>01R(4’)</a:t>
                      </a: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13123’</a:t>
                      </a:r>
                      <a:endParaRPr sz="800" b="1" u="none" strike="noStrike" cap="none" dirty="0">
                        <a:solidFill>
                          <a:srgbClr val="C00000"/>
                        </a:solidFill>
                        <a:latin typeface="Calibri"/>
                        <a:ea typeface="Calibri"/>
                        <a:cs typeface="Calibri"/>
                        <a:sym typeface="Calibri"/>
                      </a:endParaRPr>
                    </a:p>
                  </a:txBody>
                  <a:tcPr marL="36000" marR="36000" marT="36000" marB="36000" anchor="ctr"/>
                </a:tc>
                <a:tc hMerge="1">
                  <a:txBody>
                    <a:bodyPr/>
                    <a:lstStyle/>
                    <a:p>
                      <a:endParaRPr lang="ko-Kore-KR" altLang="en-US"/>
                    </a:p>
                  </a:txBody>
                  <a:tcPr/>
                </a:tc>
                <a:tc hMerge="1">
                  <a:txBody>
                    <a:bodyPr/>
                    <a:lstStyle/>
                    <a:p>
                      <a:endParaRPr lang="ko-Kore-KR" altLang="en-US"/>
                    </a:p>
                  </a:txBody>
                  <a:tcPr/>
                </a:tc>
                <a:tc hMerge="1">
                  <a:txBody>
                    <a:bodyPr/>
                    <a:lstStyle/>
                    <a:p>
                      <a:pPr marL="0" marR="0" lvl="0" indent="0" algn="ctr" rtl="0">
                        <a:spcBef>
                          <a:spcPts val="0"/>
                        </a:spcBef>
                        <a:spcAft>
                          <a:spcPts val="0"/>
                        </a:spcAft>
                        <a:buNone/>
                      </a:pPr>
                      <a:r>
                        <a:rPr lang="en-US" sz="800" b="1" u="none" strike="noStrike" cap="none" dirty="0">
                          <a:solidFill>
                            <a:srgbClr val="00B050"/>
                          </a:solidFill>
                          <a:latin typeface="Calibri"/>
                          <a:ea typeface="Calibri"/>
                          <a:cs typeface="Calibri"/>
                          <a:sym typeface="Calibri"/>
                        </a:rPr>
                        <a:t>01R(4’)</a:t>
                      </a:r>
                    </a:p>
                  </a:txBody>
                  <a:tcPr marL="36000" marR="36000" marT="36000" marB="36000" anchor="ct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3444693353"/>
                  </a:ext>
                </a:extLst>
              </a:tr>
              <a:tr h="115700">
                <a:tc gridSpan="10">
                  <a:txBody>
                    <a:bodyPr/>
                    <a:lstStyle/>
                    <a:p>
                      <a:pPr marL="0" marR="0" lvl="0" indent="0" algn="ctr" rtl="0">
                        <a:lnSpc>
                          <a:spcPct val="100000"/>
                        </a:lnSpc>
                        <a:spcBef>
                          <a:spcPts val="0"/>
                        </a:spcBef>
                        <a:spcAft>
                          <a:spcPts val="0"/>
                        </a:spcAft>
                        <a:buClr>
                          <a:schemeClr val="dk1"/>
                        </a:buClr>
                        <a:buSzPts val="800"/>
                        <a:buFont typeface="Calibri"/>
                        <a:buNone/>
                      </a:pPr>
                      <a:r>
                        <a:rPr lang="en-US" sz="800" b="0" u="none" strike="noStrike" cap="none" dirty="0">
                          <a:solidFill>
                            <a:schemeClr val="tx1"/>
                          </a:solidFill>
                        </a:rPr>
                        <a:t>APU Start within 10min, Standard TAXI Route</a:t>
                      </a:r>
                    </a:p>
                    <a:p>
                      <a:pPr marL="0" marR="0" lvl="0" indent="0" algn="ctr" rtl="0">
                        <a:lnSpc>
                          <a:spcPct val="100000"/>
                        </a:lnSpc>
                        <a:spcBef>
                          <a:spcPts val="0"/>
                        </a:spcBef>
                        <a:spcAft>
                          <a:spcPts val="0"/>
                        </a:spcAft>
                        <a:buClr>
                          <a:schemeClr val="dk1"/>
                        </a:buClr>
                        <a:buSzPts val="800"/>
                        <a:buFont typeface="Calibri"/>
                        <a:buNone/>
                      </a:pPr>
                      <a:r>
                        <a:rPr lang="en-US" sz="800" b="1" u="none" strike="noStrike" cap="none" dirty="0">
                          <a:solidFill>
                            <a:srgbClr val="0070C0"/>
                          </a:solidFill>
                        </a:rPr>
                        <a:t>19R Do not Pass E1, D2</a:t>
                      </a:r>
                    </a:p>
                  </a:txBody>
                  <a:tcPr marL="0" marR="0" marT="36000" marB="36000" anchor="ct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tc hMerge="1">
                  <a:txBody>
                    <a:bodyPr/>
                    <a:lstStyle/>
                    <a:p>
                      <a:endParaRPr lang="ko-Kore-KR"/>
                    </a:p>
                  </a:txBody>
                  <a:tcPr/>
                </a:tc>
                <a:tc hMerge="1">
                  <a:txBody>
                    <a:bodyPr/>
                    <a:lstStyle/>
                    <a:p>
                      <a:endParaRPr lang="ko-Kore-KR"/>
                    </a:p>
                  </a:txBody>
                  <a:tcPr/>
                </a:tc>
                <a:tc hMerge="1">
                  <a:txBody>
                    <a:bodyPr/>
                    <a:lstStyle/>
                    <a:p>
                      <a:endParaRPr lang="ko-Kore-KR" altLang="en-US"/>
                    </a:p>
                  </a:txBody>
                  <a:tcPr/>
                </a:tc>
                <a:tc hMerge="1">
                  <a:txBody>
                    <a:bodyPr/>
                    <a:lstStyle/>
                    <a:p>
                      <a:endParaRPr lang="ko-Kore-KR"/>
                    </a:p>
                  </a:txBody>
                  <a:tcPr/>
                </a:tc>
                <a:tc hMerge="1">
                  <a:txBody>
                    <a:bodyPr/>
                    <a:lstStyle/>
                    <a:p>
                      <a:endParaRPr lang="ko-Kore-KR" altLang="en-US"/>
                    </a:p>
                  </a:txBody>
                  <a:tcPr/>
                </a:tc>
                <a:tc hMerge="1">
                  <a:txBody>
                    <a:bodyPr/>
                    <a:lstStyle/>
                    <a:p>
                      <a:endParaRPr lang="ko-Kore-KR" altLang="en-US"/>
                    </a:p>
                  </a:txBody>
                  <a:tcPr/>
                </a:tc>
                <a:extLst>
                  <a:ext uri="{0D108BD9-81ED-4DB2-BD59-A6C34878D82A}">
                    <a16:rowId xmlns:a16="http://schemas.microsoft.com/office/drawing/2014/main" val="10006"/>
                  </a:ext>
                </a:extLst>
              </a:tr>
            </a:tbl>
          </a:graphicData>
        </a:graphic>
      </p:graphicFrame>
      <p:graphicFrame>
        <p:nvGraphicFramePr>
          <p:cNvPr id="6" name="Google Shape;119;p3">
            <a:extLst>
              <a:ext uri="{FF2B5EF4-FFF2-40B4-BE49-F238E27FC236}">
                <a16:creationId xmlns:a16="http://schemas.microsoft.com/office/drawing/2014/main" id="{9324F2DF-C628-CA2F-3D82-2A8B1E34FA1F}"/>
              </a:ext>
            </a:extLst>
          </p:cNvPr>
          <p:cNvGraphicFramePr/>
          <p:nvPr>
            <p:extLst>
              <p:ext uri="{D42A27DB-BD31-4B8C-83A1-F6EECF244321}">
                <p14:modId xmlns:p14="http://schemas.microsoft.com/office/powerpoint/2010/main" val="2066198250"/>
              </p:ext>
            </p:extLst>
          </p:nvPr>
        </p:nvGraphicFramePr>
        <p:xfrm>
          <a:off x="-2501" y="16504"/>
          <a:ext cx="2328850" cy="624545"/>
        </p:xfrm>
        <a:graphic>
          <a:graphicData uri="http://schemas.openxmlformats.org/drawingml/2006/table">
            <a:tbl>
              <a:tblPr firstRow="1" bandRow="1">
                <a:noFill/>
                <a:tableStyleId>{A521BE36-7E6F-4EC9-8D66-1CF97A6895EC}</a:tableStyleId>
              </a:tblPr>
              <a:tblGrid>
                <a:gridCol w="1162800">
                  <a:extLst>
                    <a:ext uri="{9D8B030D-6E8A-4147-A177-3AD203B41FA5}">
                      <a16:colId xmlns:a16="http://schemas.microsoft.com/office/drawing/2014/main" val="20000"/>
                    </a:ext>
                  </a:extLst>
                </a:gridCol>
                <a:gridCol w="1166050">
                  <a:extLst>
                    <a:ext uri="{9D8B030D-6E8A-4147-A177-3AD203B41FA5}">
                      <a16:colId xmlns:a16="http://schemas.microsoft.com/office/drawing/2014/main" val="20001"/>
                    </a:ext>
                  </a:extLst>
                </a:gridCol>
              </a:tblGrid>
              <a:tr h="258775">
                <a:tc>
                  <a:txBody>
                    <a:bodyPr/>
                    <a:lstStyle/>
                    <a:p>
                      <a:pPr marL="0" marR="0" lvl="0" indent="0" algn="ctr" rtl="0">
                        <a:spcBef>
                          <a:spcPts val="0"/>
                        </a:spcBef>
                        <a:spcAft>
                          <a:spcPts val="0"/>
                        </a:spcAft>
                        <a:buNone/>
                      </a:pPr>
                      <a:r>
                        <a:rPr lang="en-US" altLang="ko-Kore-KR" sz="1300" dirty="0">
                          <a:solidFill>
                            <a:schemeClr val="bg1"/>
                          </a:solidFill>
                          <a:hlinkClick r:id="rId3">
                            <a:extLst>
                              <a:ext uri="{A12FA001-AC4F-418D-AE19-62706E023703}">
                                <ahyp:hlinkClr xmlns:ahyp="http://schemas.microsoft.com/office/drawing/2018/hyperlinkcolor" val="tx"/>
                              </a:ext>
                            </a:extLst>
                          </a:hlinkClick>
                        </a:rPr>
                        <a:t>VTBS(BKK) 4ft</a:t>
                      </a:r>
                      <a:endParaRPr lang="en-US" altLang="ko-Kore-KR" sz="1300" dirty="0">
                        <a:solidFill>
                          <a:srgbClr val="C00000"/>
                        </a:solidFill>
                      </a:endParaRPr>
                    </a:p>
                  </a:txBody>
                  <a:tcPr marL="0" marR="0" marT="0" marB="0" anchor="ctr"/>
                </a:tc>
                <a:tc>
                  <a:txBody>
                    <a:bodyPr/>
                    <a:lstStyle/>
                    <a:p>
                      <a:pPr marL="0" marR="0" lvl="0" indent="0" algn="ctr" rtl="0">
                        <a:spcBef>
                          <a:spcPts val="0"/>
                        </a:spcBef>
                        <a:spcAft>
                          <a:spcPts val="0"/>
                        </a:spcAft>
                        <a:buNone/>
                      </a:pPr>
                      <a:r>
                        <a:rPr lang="en-US" altLang="ko-Kore-KR" sz="1300" dirty="0">
                          <a:solidFill>
                            <a:schemeClr val="bg1"/>
                          </a:solidFill>
                          <a:hlinkClick r:id="rId4">
                            <a:extLst>
                              <a:ext uri="{A12FA001-AC4F-418D-AE19-62706E023703}">
                                <ahyp:hlinkClr xmlns:ahyp="http://schemas.microsoft.com/office/drawing/2018/hyperlinkcolor" val="tx"/>
                              </a:ext>
                            </a:extLst>
                          </a:hlinkClick>
                        </a:rPr>
                        <a:t>RKPK(PUS) 13ft</a:t>
                      </a:r>
                      <a:endParaRPr lang="en-US" altLang="ko-Kore-KR" sz="1300" dirty="0">
                        <a:solidFill>
                          <a:schemeClr val="bg1"/>
                        </a:solidFill>
                      </a:endParaRPr>
                    </a:p>
                  </a:txBody>
                  <a:tcPr marL="0" marR="0" marT="0" marB="0" anchor="ctr"/>
                </a:tc>
                <a:extLst>
                  <a:ext uri="{0D108BD9-81ED-4DB2-BD59-A6C34878D82A}">
                    <a16:rowId xmlns:a16="http://schemas.microsoft.com/office/drawing/2014/main" val="10000"/>
                  </a:ext>
                </a:extLst>
              </a:tr>
              <a:tr h="258775">
                <a:tc>
                  <a:txBody>
                    <a:bodyPr/>
                    <a:lstStyle/>
                    <a:p>
                      <a:pPr marL="0" marR="0" lvl="0" indent="0" algn="ctr" rtl="0">
                        <a:spcBef>
                          <a:spcPts val="0"/>
                        </a:spcBef>
                        <a:spcAft>
                          <a:spcPts val="0"/>
                        </a:spcAft>
                        <a:buNone/>
                      </a:pPr>
                      <a:r>
                        <a:rPr lang="en-US" sz="800" dirty="0"/>
                        <a:t>KE Bangkok 131.25</a:t>
                      </a:r>
                      <a:endParaRPr sz="1200" dirty="0"/>
                    </a:p>
                    <a:p>
                      <a:pPr marL="0" marR="0" lvl="0" indent="0" algn="ctr" rtl="0">
                        <a:spcBef>
                          <a:spcPts val="0"/>
                        </a:spcBef>
                        <a:spcAft>
                          <a:spcPts val="0"/>
                        </a:spcAft>
                        <a:buNone/>
                      </a:pPr>
                      <a:r>
                        <a:rPr lang="en-US" altLang="ko-KR" sz="700" dirty="0">
                          <a:solidFill>
                            <a:srgbClr val="FF0000"/>
                          </a:solidFill>
                        </a:rPr>
                        <a:t>DCL -20min, Voice 133.8</a:t>
                      </a:r>
                    </a:p>
                  </a:txBody>
                  <a:tcPr marL="0" marR="0" marT="36000" marB="36000" anchor="ctr"/>
                </a:tc>
                <a:tc>
                  <a:txBody>
                    <a:bodyPr/>
                    <a:lstStyle/>
                    <a:p>
                      <a:pPr marL="0" marR="0" lvl="0" indent="0" algn="ctr" rtl="0">
                        <a:spcBef>
                          <a:spcPts val="0"/>
                        </a:spcBef>
                        <a:spcAft>
                          <a:spcPts val="0"/>
                        </a:spcAft>
                        <a:buNone/>
                      </a:pPr>
                      <a:r>
                        <a:rPr lang="en-US" sz="900" dirty="0"/>
                        <a:t>KE </a:t>
                      </a:r>
                      <a:r>
                        <a:rPr lang="en-US" sz="900" dirty="0" err="1"/>
                        <a:t>Gimhae</a:t>
                      </a:r>
                      <a:endParaRPr lang="en-US" sz="900" dirty="0"/>
                    </a:p>
                    <a:p>
                      <a:pPr marL="0" marR="0" lvl="0" indent="0" algn="ctr" rtl="0">
                        <a:spcBef>
                          <a:spcPts val="0"/>
                        </a:spcBef>
                        <a:spcAft>
                          <a:spcPts val="0"/>
                        </a:spcAft>
                        <a:buNone/>
                      </a:pPr>
                      <a:r>
                        <a:rPr lang="en-US" sz="900" dirty="0"/>
                        <a:t> 129.2</a:t>
                      </a:r>
                      <a:endParaRPr sz="900" dirty="0"/>
                    </a:p>
                  </a:txBody>
                  <a:tcPr marL="91450" marR="91450" marT="45725" marB="45725" anchor="ctr"/>
                </a:tc>
                <a:extLst>
                  <a:ext uri="{0D108BD9-81ED-4DB2-BD59-A6C34878D82A}">
                    <a16:rowId xmlns:a16="http://schemas.microsoft.com/office/drawing/2014/main" val="10001"/>
                  </a:ext>
                </a:extLst>
              </a:tr>
            </a:tbl>
          </a:graphicData>
        </a:graphic>
      </p:graphicFrame>
      <p:sp>
        <p:nvSpPr>
          <p:cNvPr id="4" name="직사각형 3">
            <a:hlinkClick r:id="" action="ppaction://hlinkshowjump?jump=firstslide"/>
            <a:extLst>
              <a:ext uri="{FF2B5EF4-FFF2-40B4-BE49-F238E27FC236}">
                <a16:creationId xmlns:a16="http://schemas.microsoft.com/office/drawing/2014/main" id="{33F13AC3-0D74-CEBB-7100-2629A32A1FE4}"/>
              </a:ext>
            </a:extLst>
          </p:cNvPr>
          <p:cNvSpPr/>
          <p:nvPr/>
        </p:nvSpPr>
        <p:spPr>
          <a:xfrm>
            <a:off x="1469976" y="3084579"/>
            <a:ext cx="910408" cy="276999"/>
          </a:xfrm>
          <a:prstGeom prst="rect">
            <a:avLst/>
          </a:prstGeom>
          <a:noFill/>
        </p:spPr>
        <p:txBody>
          <a:bodyPr wrap="square" lIns="0" tIns="0" rIns="0" bIns="0">
            <a:spAutoFit/>
          </a:bodyPr>
          <a:lstStyle/>
          <a:p>
            <a:pPr algn="ctr"/>
            <a:r>
              <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SE Asia</a:t>
            </a:r>
            <a:endParaRPr lang="en-US" altLang="ko-KR" sz="1800" b="1" cap="none" spc="0" dirty="0">
              <a:ln w="0"/>
              <a:solidFill>
                <a:srgbClr val="7030A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2" name="직사각형 1">
            <a:hlinkClick r:id="" action="ppaction://hlinkshowjump?jump=firstslide"/>
            <a:extLst>
              <a:ext uri="{FF2B5EF4-FFF2-40B4-BE49-F238E27FC236}">
                <a16:creationId xmlns:a16="http://schemas.microsoft.com/office/drawing/2014/main" id="{6C9523CA-AC93-469E-02C8-A31FDF3992F7}"/>
              </a:ext>
            </a:extLst>
          </p:cNvPr>
          <p:cNvSpPr/>
          <p:nvPr/>
        </p:nvSpPr>
        <p:spPr>
          <a:xfrm>
            <a:off x="912590" y="231754"/>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6" action="ppaction://hlinksldjump">
                  <a:extLst>
                    <a:ext uri="{A12FA001-AC4F-418D-AE19-62706E023703}">
                      <ahyp:hlinkClr xmlns:ahyp="http://schemas.microsoft.com/office/drawing/2018/hyperlinkcolor" val="tx"/>
                    </a:ext>
                  </a:extLst>
                </a:hlinkClick>
              </a:rPr>
              <a:t>PA</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7" name="TextBox 6">
            <a:extLst>
              <a:ext uri="{FF2B5EF4-FFF2-40B4-BE49-F238E27FC236}">
                <a16:creationId xmlns:a16="http://schemas.microsoft.com/office/drawing/2014/main" id="{984A1E97-A30C-EFBD-8019-7DCE7F1ED4CC}"/>
              </a:ext>
            </a:extLst>
          </p:cNvPr>
          <p:cNvSpPr txBox="1"/>
          <p:nvPr/>
        </p:nvSpPr>
        <p:spPr>
          <a:xfrm>
            <a:off x="48383" y="2534703"/>
            <a:ext cx="1987724" cy="944361"/>
          </a:xfrm>
          <a:prstGeom prst="rect">
            <a:avLst/>
          </a:prstGeom>
          <a:noFill/>
        </p:spPr>
        <p:txBody>
          <a:bodyPr wrap="none" lIns="0" tIns="0" rIns="0" bIns="0" rtlCol="0" anchor="ctr">
            <a:spAutoFit/>
          </a:bodyPr>
          <a:lstStyle/>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DEP 119.25 </a:t>
            </a:r>
            <a:r>
              <a:rPr kumimoji="1" lang="en-US" altLang="ko-Kore-KR" sz="700" b="1" u="sng" dirty="0">
                <a:solidFill>
                  <a:srgbClr val="C00000"/>
                </a:solidFill>
                <a:latin typeface="Gulim" panose="020B0600000101010101" pitchFamily="34" charset="-127"/>
                <a:ea typeface="Gulim" panose="020B0600000101010101" pitchFamily="34" charset="-127"/>
              </a:rPr>
              <a:t>(AUTO) </a:t>
            </a:r>
            <a:r>
              <a:rPr kumimoji="1" lang="en-US" altLang="ko-Kore-KR" sz="700" b="1" u="sng" dirty="0">
                <a:solidFill>
                  <a:srgbClr val="0070C0"/>
                </a:solidFill>
                <a:latin typeface="Gulim" panose="020B0600000101010101" pitchFamily="34" charset="-127"/>
                <a:ea typeface="Gulim" panose="020B0600000101010101" pitchFamily="34" charset="-127"/>
              </a:rPr>
              <a:t>– </a:t>
            </a:r>
            <a:r>
              <a:rPr kumimoji="1" lang="en-US" altLang="ko-Kore-KR" sz="700" b="1" u="sng">
                <a:solidFill>
                  <a:srgbClr val="0070C0"/>
                </a:solidFill>
                <a:latin typeface="Gulim" panose="020B0600000101010101" pitchFamily="34" charset="-127"/>
                <a:ea typeface="Gulim" panose="020B0600000101010101" pitchFamily="34" charset="-127"/>
              </a:rPr>
              <a:t>BKK 133.1 – VIE 128.3</a:t>
            </a:r>
            <a:endParaRPr kumimoji="1" lang="en-US" altLang="ko-Kore-KR" sz="700" b="1" u="sng" dirty="0">
              <a:solidFill>
                <a:srgbClr val="0070C0"/>
              </a:solidFill>
              <a:latin typeface="Gulim" panose="020B0600000101010101" pitchFamily="34" charset="-127"/>
              <a:ea typeface="Gulim" panose="020B0600000101010101" pitchFamily="34" charset="-127"/>
            </a:endParaRP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HNI 123.3 - SNY 122.6 – HKG 127.1 – 125.35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TPE 129.1(126.7, 127.9) – 125.5</a:t>
            </a:r>
          </a:p>
          <a:p>
            <a:pPr>
              <a:lnSpc>
                <a:spcPct val="150000"/>
              </a:lnSpc>
            </a:pPr>
            <a:r>
              <a:rPr kumimoji="1" lang="en-US" altLang="ko-Kore-KR" sz="700" b="1" u="sng" dirty="0">
                <a:solidFill>
                  <a:srgbClr val="0070C0"/>
                </a:solidFill>
                <a:latin typeface="Gulim" panose="020B0600000101010101" pitchFamily="34" charset="-127"/>
                <a:ea typeface="Gulim" panose="020B0600000101010101" pitchFamily="34" charset="-127"/>
              </a:rPr>
              <a:t>FUK 127.5 </a:t>
            </a:r>
            <a:r>
              <a:rPr kumimoji="1" lang="en-US" altLang="ko-KR" sz="700" b="1" u="sng" dirty="0">
                <a:solidFill>
                  <a:srgbClr val="C00000"/>
                </a:solidFill>
                <a:latin typeface="Gulim" panose="020B0600000101010101" pitchFamily="34" charset="-127"/>
                <a:ea typeface="Gulim" panose="020B0600000101010101" pitchFamily="34" charset="-127"/>
              </a:rPr>
              <a:t>(SENKA /20)</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ICN 125.725(124.52) – 128.17</a:t>
            </a:r>
          </a:p>
          <a:p>
            <a:pPr>
              <a:lnSpc>
                <a:spcPct val="150000"/>
              </a:lnSpc>
            </a:pPr>
            <a:r>
              <a:rPr kumimoji="1" lang="en-US" altLang="ko-KR" sz="700" b="1" u="sng" dirty="0">
                <a:solidFill>
                  <a:srgbClr val="0070C0"/>
                </a:solidFill>
                <a:latin typeface="Gulim" panose="020B0600000101010101" pitchFamily="34" charset="-127"/>
                <a:ea typeface="Gulim" panose="020B0600000101010101" pitchFamily="34" charset="-127"/>
              </a:rPr>
              <a:t>APP 125.5</a:t>
            </a:r>
            <a:endParaRPr kumimoji="1" lang="ko-Kore-KR" altLang="en-US" sz="700" b="1" u="sng" dirty="0">
              <a:solidFill>
                <a:srgbClr val="0070C0"/>
              </a:solidFill>
              <a:latin typeface="Gulim" panose="020B0600000101010101" pitchFamily="34" charset="-127"/>
              <a:ea typeface="Gulim" panose="020B0600000101010101" pitchFamily="34" charset="-127"/>
            </a:endParaRPr>
          </a:p>
        </p:txBody>
      </p:sp>
      <p:graphicFrame>
        <p:nvGraphicFramePr>
          <p:cNvPr id="9" name="Google Shape;137;p4">
            <a:extLst>
              <a:ext uri="{FF2B5EF4-FFF2-40B4-BE49-F238E27FC236}">
                <a16:creationId xmlns:a16="http://schemas.microsoft.com/office/drawing/2014/main" id="{DB02378F-05ED-DDF1-8735-FC7557702C54}"/>
              </a:ext>
            </a:extLst>
          </p:cNvPr>
          <p:cNvGraphicFramePr/>
          <p:nvPr>
            <p:extLst>
              <p:ext uri="{D42A27DB-BD31-4B8C-83A1-F6EECF244321}">
                <p14:modId xmlns:p14="http://schemas.microsoft.com/office/powerpoint/2010/main" val="1763007963"/>
              </p:ext>
            </p:extLst>
          </p:nvPr>
        </p:nvGraphicFramePr>
        <p:xfrm>
          <a:off x="-3340" y="3767489"/>
          <a:ext cx="2339140" cy="1742650"/>
        </p:xfrm>
        <a:graphic>
          <a:graphicData uri="http://schemas.openxmlformats.org/drawingml/2006/table">
            <a:tbl>
              <a:tblPr firstRow="1" bandRow="1">
                <a:noFill/>
                <a:tableStyleId>{A521BE36-7E6F-4EC9-8D66-1CF97A6895EC}</a:tableStyleId>
              </a:tblPr>
              <a:tblGrid>
                <a:gridCol w="393866">
                  <a:extLst>
                    <a:ext uri="{9D8B030D-6E8A-4147-A177-3AD203B41FA5}">
                      <a16:colId xmlns:a16="http://schemas.microsoft.com/office/drawing/2014/main" val="20000"/>
                    </a:ext>
                  </a:extLst>
                </a:gridCol>
                <a:gridCol w="512515">
                  <a:extLst>
                    <a:ext uri="{9D8B030D-6E8A-4147-A177-3AD203B41FA5}">
                      <a16:colId xmlns:a16="http://schemas.microsoft.com/office/drawing/2014/main" val="20001"/>
                    </a:ext>
                  </a:extLst>
                </a:gridCol>
                <a:gridCol w="460134">
                  <a:extLst>
                    <a:ext uri="{9D8B030D-6E8A-4147-A177-3AD203B41FA5}">
                      <a16:colId xmlns:a16="http://schemas.microsoft.com/office/drawing/2014/main" val="20003"/>
                    </a:ext>
                  </a:extLst>
                </a:gridCol>
                <a:gridCol w="972625">
                  <a:extLst>
                    <a:ext uri="{9D8B030D-6E8A-4147-A177-3AD203B41FA5}">
                      <a16:colId xmlns:a16="http://schemas.microsoft.com/office/drawing/2014/main" val="20005"/>
                    </a:ext>
                  </a:extLst>
                </a:gridCol>
              </a:tblGrid>
              <a:tr h="146675">
                <a:tc gridSpan="4">
                  <a:txBody>
                    <a:bodyPr/>
                    <a:lstStyle/>
                    <a:p>
                      <a:pPr marL="0" marR="0" lvl="0" indent="0" algn="r" rtl="0">
                        <a:spcBef>
                          <a:spcPts val="0"/>
                        </a:spcBef>
                        <a:spcAft>
                          <a:spcPts val="0"/>
                        </a:spcAft>
                        <a:buNone/>
                      </a:pPr>
                      <a:r>
                        <a:rPr lang="en-US" sz="800" dirty="0"/>
                        <a:t>PUS : STAR </a:t>
                      </a:r>
                      <a:r>
                        <a:rPr lang="en-US" sz="800" dirty="0">
                          <a:solidFill>
                            <a:srgbClr val="FFC000"/>
                          </a:solidFill>
                        </a:rPr>
                        <a:t>(Tail Wind 36R 136000lbs F40)</a:t>
                      </a:r>
                      <a:endParaRPr sz="800" dirty="0">
                        <a:solidFill>
                          <a:srgbClr val="FFC000"/>
                        </a:solidFill>
                      </a:endParaRPr>
                    </a:p>
                  </a:txBody>
                  <a:tcPr marL="91450" marR="91450" marT="45725" marB="45725"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3325">
                <a:tc>
                  <a:txBody>
                    <a:bodyPr/>
                    <a:lstStyle/>
                    <a:p>
                      <a:pPr marL="0" marR="0" lvl="0" indent="0" algn="ctr" rtl="0">
                        <a:spcBef>
                          <a:spcPts val="0"/>
                        </a:spcBef>
                        <a:spcAft>
                          <a:spcPts val="0"/>
                        </a:spcAft>
                        <a:buNone/>
                      </a:pPr>
                      <a:r>
                        <a:rPr lang="en-US" sz="800" b="1" dirty="0"/>
                        <a:t>ILS 36</a:t>
                      </a:r>
                      <a:endParaRPr sz="800" b="1" dirty="0"/>
                    </a:p>
                  </a:txBody>
                  <a:tcPr marL="36000" marR="36000" marT="36000" marB="36000" anchor="ctr"/>
                </a:tc>
                <a:tc>
                  <a:txBody>
                    <a:bodyPr/>
                    <a:lstStyle/>
                    <a:p>
                      <a:pPr marL="0" marR="0" lvl="0" indent="0" algn="ctr" rtl="0">
                        <a:spcBef>
                          <a:spcPts val="0"/>
                        </a:spcBef>
                        <a:spcAft>
                          <a:spcPts val="0"/>
                        </a:spcAft>
                        <a:buNone/>
                      </a:pPr>
                      <a:r>
                        <a:rPr lang="en-US" sz="800" b="1"/>
                        <a:t>KEVOX x</a:t>
                      </a:r>
                      <a:endParaRPr sz="800" b="1"/>
                    </a:p>
                  </a:txBody>
                  <a:tcPr marL="36000" marR="36000" marT="36000" marB="36000" anchor="ctr"/>
                </a:tc>
                <a:tc>
                  <a:txBody>
                    <a:bodyPr/>
                    <a:lstStyle/>
                    <a:p>
                      <a:pPr marL="0" marR="0" lvl="0" indent="0" algn="ctr" rtl="0">
                        <a:spcBef>
                          <a:spcPts val="0"/>
                        </a:spcBef>
                        <a:spcAft>
                          <a:spcPts val="0"/>
                        </a:spcAft>
                        <a:buNone/>
                      </a:pPr>
                      <a:r>
                        <a:rPr lang="en-US" altLang="ko-KR" sz="800" b="1" dirty="0"/>
                        <a:t>ANROD</a:t>
                      </a:r>
                      <a:endParaRPr sz="458" b="1" dirty="0"/>
                    </a:p>
                  </a:txBody>
                  <a:tcPr marL="36000" marR="36000" marT="36000" marB="36000" anchor="ctr"/>
                </a:tc>
                <a:tc>
                  <a:txBody>
                    <a:bodyPr/>
                    <a:lstStyle/>
                    <a:p>
                      <a:pPr marL="0" marR="0" lvl="0" indent="0" algn="l" rtl="0">
                        <a:spcBef>
                          <a:spcPts val="0"/>
                        </a:spcBef>
                        <a:spcAft>
                          <a:spcPts val="0"/>
                        </a:spcAft>
                        <a:buNone/>
                      </a:pPr>
                      <a:r>
                        <a:rPr lang="en-US" sz="800" b="0" dirty="0">
                          <a:solidFill>
                            <a:schemeClr val="dk1"/>
                          </a:solidFill>
                        </a:rPr>
                        <a:t>9DME LG, 8DME FLAP</a:t>
                      </a:r>
                      <a:endParaRPr sz="800" b="0" dirty="0">
                        <a:solidFill>
                          <a:schemeClr val="dk1"/>
                        </a:solidFill>
                      </a:endParaRPr>
                    </a:p>
                  </a:txBody>
                  <a:tcPr marL="36000" marR="36000" marT="36000" marB="36000" anchor="ctr"/>
                </a:tc>
                <a:extLst>
                  <a:ext uri="{0D108BD9-81ED-4DB2-BD59-A6C34878D82A}">
                    <a16:rowId xmlns:a16="http://schemas.microsoft.com/office/drawing/2014/main" val="10001"/>
                  </a:ext>
                </a:extLst>
              </a:tr>
              <a:tr h="133325">
                <a:tc>
                  <a:txBody>
                    <a:bodyPr/>
                    <a:lstStyle/>
                    <a:p>
                      <a:pPr marL="0" marR="0" lvl="0" indent="0" algn="ctr" rtl="0">
                        <a:spcBef>
                          <a:spcPts val="0"/>
                        </a:spcBef>
                        <a:spcAft>
                          <a:spcPts val="0"/>
                        </a:spcAft>
                        <a:buNone/>
                      </a:pPr>
                      <a:r>
                        <a:rPr lang="en-US" sz="800" b="1" dirty="0"/>
                        <a:t>VOR 18</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GAYHA x</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ANROD</a:t>
                      </a:r>
                      <a:endParaRPr sz="458" b="1" dirty="0"/>
                    </a:p>
                  </a:txBody>
                  <a:tcPr marL="36000" marR="36000" marT="36000" marB="36000" anchor="ctr"/>
                </a:tc>
                <a:tc>
                  <a:txBody>
                    <a:bodyPr/>
                    <a:lstStyle/>
                    <a:p>
                      <a:pPr marL="0" marR="0" lvl="0" indent="0" algn="ctr" rtl="0">
                        <a:spcBef>
                          <a:spcPts val="0"/>
                        </a:spcBef>
                        <a:spcAft>
                          <a:spcPts val="0"/>
                        </a:spcAft>
                        <a:buNone/>
                      </a:pPr>
                      <a:r>
                        <a:rPr lang="en-US" altLang="ko-Kore-KR" sz="800" b="1" dirty="0">
                          <a:solidFill>
                            <a:srgbClr val="C00000"/>
                          </a:solidFill>
                          <a:hlinkClick r:id="rId7" action="ppaction://hlinksldjump">
                            <a:extLst>
                              <a:ext uri="{A12FA001-AC4F-418D-AE19-62706E023703}">
                                <ahyp:hlinkClr xmlns:ahyp="http://schemas.microsoft.com/office/drawing/2018/hyperlinkcolor" val="tx"/>
                              </a:ext>
                            </a:extLst>
                          </a:hlinkClick>
                        </a:rPr>
                        <a:t>18 Circling Click!!</a:t>
                      </a:r>
                      <a:endParaRPr lang="en-US" altLang="ko-Kore-KR" sz="458" b="1" dirty="0">
                        <a:solidFill>
                          <a:srgbClr val="C00000"/>
                        </a:solidFill>
                      </a:endParaRPr>
                    </a:p>
                  </a:txBody>
                  <a:tcPr marL="36000" marR="36000" marT="36000" marB="36000" anchor="ctr"/>
                </a:tc>
                <a:extLst>
                  <a:ext uri="{0D108BD9-81ED-4DB2-BD59-A6C34878D82A}">
                    <a16:rowId xmlns:a16="http://schemas.microsoft.com/office/drawing/2014/main" val="10002"/>
                  </a:ext>
                </a:extLst>
              </a:tr>
              <a:tr h="217125">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HUD</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spcBef>
                          <a:spcPts val="0"/>
                        </a:spcBef>
                        <a:spcAft>
                          <a:spcPts val="0"/>
                        </a:spcAft>
                        <a:buNone/>
                      </a:pPr>
                      <a:r>
                        <a:rPr lang="en-US" sz="800" b="1">
                          <a:solidFill>
                            <a:srgbClr val="00B050"/>
                          </a:solidFill>
                        </a:rPr>
                        <a:t>36L(13’) 10499’</a:t>
                      </a:r>
                      <a:endParaRPr/>
                    </a:p>
                    <a:p>
                      <a:pPr marL="0" marR="0" lvl="0" indent="0" algn="ctr" rtl="0">
                        <a:lnSpc>
                          <a:spcPct val="100000"/>
                        </a:lnSpc>
                        <a:spcBef>
                          <a:spcPts val="0"/>
                        </a:spcBef>
                        <a:spcAft>
                          <a:spcPts val="0"/>
                        </a:spcAft>
                        <a:buClr>
                          <a:srgbClr val="00B050"/>
                        </a:buClr>
                        <a:buSzPts val="800"/>
                        <a:buFont typeface="Calibri"/>
                        <a:buNone/>
                      </a:pPr>
                      <a:r>
                        <a:rPr lang="en-US" sz="800" b="1">
                          <a:solidFill>
                            <a:srgbClr val="00B050"/>
                          </a:solidFill>
                        </a:rPr>
                        <a:t>36R(8’) 8999’</a:t>
                      </a:r>
                      <a:endParaRPr/>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18R(13’) 8530’</a:t>
                      </a:r>
                      <a:endParaRPr sz="800" b="1" dirty="0">
                        <a:solidFill>
                          <a:srgbClr val="00B050"/>
                        </a:solidFill>
                      </a:endParaRPr>
                    </a:p>
                    <a:p>
                      <a:pPr marL="0" marR="0" lvl="0" indent="0" algn="ctr" rtl="0">
                        <a:lnSpc>
                          <a:spcPct val="100000"/>
                        </a:lnSpc>
                        <a:spcBef>
                          <a:spcPts val="0"/>
                        </a:spcBef>
                        <a:spcAft>
                          <a:spcPts val="0"/>
                        </a:spcAft>
                        <a:buClr>
                          <a:srgbClr val="00B050"/>
                        </a:buClr>
                        <a:buSzPts val="800"/>
                        <a:buFont typeface="Calibri"/>
                        <a:buNone/>
                      </a:pPr>
                      <a:r>
                        <a:rPr lang="en-US" sz="800" b="1" dirty="0">
                          <a:solidFill>
                            <a:srgbClr val="00B050"/>
                          </a:solidFill>
                        </a:rPr>
                        <a:t>18L(13’) 8999’</a:t>
                      </a:r>
                      <a:endParaRPr sz="800" b="1" dirty="0">
                        <a:solidFill>
                          <a:srgbClr val="00B050"/>
                        </a:solidFill>
                      </a:endParaRPr>
                    </a:p>
                  </a:txBody>
                  <a:tcPr marL="36000" marR="36000" marT="36000" marB="36000" anchor="ctr"/>
                </a:tc>
                <a:extLst>
                  <a:ext uri="{0D108BD9-81ED-4DB2-BD59-A6C34878D82A}">
                    <a16:rowId xmlns:a16="http://schemas.microsoft.com/office/drawing/2014/main" val="10004"/>
                  </a:ext>
                </a:extLst>
              </a:tr>
              <a:tr h="101600">
                <a:tc>
                  <a:txBody>
                    <a:bodyPr/>
                    <a:lstStyle/>
                    <a:p>
                      <a:pPr marL="0" marR="0" lvl="0" indent="0" algn="ctr" rtl="0">
                        <a:lnSpc>
                          <a:spcPct val="100000"/>
                        </a:lnSpc>
                        <a:spcBef>
                          <a:spcPts val="0"/>
                        </a:spcBef>
                        <a:spcAft>
                          <a:spcPts val="0"/>
                        </a:spcAft>
                        <a:buClr>
                          <a:schemeClr val="lt1"/>
                        </a:buClr>
                        <a:buSzPts val="800"/>
                        <a:buFont typeface="Calibri"/>
                        <a:buNone/>
                      </a:pPr>
                      <a:r>
                        <a:rPr lang="en-US" sz="800">
                          <a:solidFill>
                            <a:schemeClr val="lt1"/>
                          </a:solidFill>
                        </a:rPr>
                        <a:t>FIX</a:t>
                      </a:r>
                      <a:endParaRPr sz="800">
                        <a:solidFill>
                          <a:schemeClr val="lt1"/>
                        </a:solidFill>
                      </a:endParaRPr>
                    </a:p>
                  </a:txBody>
                  <a:tcPr marL="36000" marR="36000" marT="36000" marB="36000" anchor="ctr">
                    <a:solidFill>
                      <a:schemeClr val="accent1"/>
                    </a:solidFill>
                  </a:tcPr>
                </a:tc>
                <a:tc gridSpan="2">
                  <a:txBody>
                    <a:bodyPr/>
                    <a:lstStyle/>
                    <a:p>
                      <a:pPr marL="0" marR="0" lvl="0" indent="0" algn="ctr" rtl="0">
                        <a:lnSpc>
                          <a:spcPct val="100000"/>
                        </a:lnSpc>
                        <a:spcBef>
                          <a:spcPts val="0"/>
                        </a:spcBef>
                        <a:spcAft>
                          <a:spcPts val="0"/>
                        </a:spcAft>
                        <a:buClr>
                          <a:schemeClr val="dk1"/>
                        </a:buClr>
                        <a:buSzPts val="800"/>
                        <a:buFont typeface="Calibri"/>
                        <a:buNone/>
                      </a:pPr>
                      <a:r>
                        <a:rPr lang="en-US" sz="800" b="0" dirty="0">
                          <a:solidFill>
                            <a:schemeClr val="dk1"/>
                          </a:solidFill>
                        </a:rPr>
                        <a:t>36 : IKMA/IKHE /9, /8</a:t>
                      </a:r>
                      <a:endParaRPr dirty="0"/>
                    </a:p>
                  </a:txBody>
                  <a:tcPr marL="36000" marR="36000" marT="36000" marB="36000" anchor="ctr"/>
                </a:tc>
                <a:tc hMerge="1">
                  <a:txBody>
                    <a:bodyPr/>
                    <a:lstStyle/>
                    <a:p>
                      <a:endParaRPr lang="ko-Kore-KR"/>
                    </a:p>
                  </a:txBody>
                  <a:tcPr/>
                </a:tc>
                <a:tc>
                  <a:txBody>
                    <a:bodyPr/>
                    <a:lstStyle/>
                    <a:p>
                      <a:pPr marL="0" marR="0" lvl="0" indent="0" algn="ctr" rtl="0">
                        <a:lnSpc>
                          <a:spcPct val="100000"/>
                        </a:lnSpc>
                        <a:spcBef>
                          <a:spcPts val="0"/>
                        </a:spcBef>
                        <a:spcAft>
                          <a:spcPts val="0"/>
                        </a:spcAft>
                        <a:buClr>
                          <a:schemeClr val="dk1"/>
                        </a:buClr>
                        <a:buSzPts val="800"/>
                        <a:buFont typeface="Calibri"/>
                        <a:buNone/>
                      </a:pPr>
                      <a:r>
                        <a:rPr lang="en-US" sz="800" b="0">
                          <a:solidFill>
                            <a:schemeClr val="dk1"/>
                          </a:solidFill>
                        </a:rPr>
                        <a:t>18 : KMH R283, R280</a:t>
                      </a:r>
                      <a:endParaRPr sz="800" b="0">
                        <a:solidFill>
                          <a:schemeClr val="dk1"/>
                        </a:solidFill>
                      </a:endParaRPr>
                    </a:p>
                  </a:txBody>
                  <a:tcPr marL="36000" marR="36000" marT="36000" marB="36000" anchor="ctr"/>
                </a:tc>
                <a:extLst>
                  <a:ext uri="{0D108BD9-81ED-4DB2-BD59-A6C34878D82A}">
                    <a16:rowId xmlns:a16="http://schemas.microsoft.com/office/drawing/2014/main" val="10005"/>
                  </a:ext>
                </a:extLst>
              </a:tr>
              <a:tr h="220050">
                <a:tc gridSpan="4">
                  <a:txBody>
                    <a:bodyPr/>
                    <a:lstStyle/>
                    <a:p>
                      <a:pPr marL="0" marR="0" lvl="0" indent="0" algn="l" rtl="0">
                        <a:lnSpc>
                          <a:spcPct val="100000"/>
                        </a:lnSpc>
                        <a:spcBef>
                          <a:spcPts val="0"/>
                        </a:spcBef>
                        <a:spcAft>
                          <a:spcPts val="0"/>
                        </a:spcAft>
                        <a:buClr>
                          <a:srgbClr val="00B050"/>
                        </a:buClr>
                        <a:buSzPts val="800"/>
                        <a:buFont typeface="Calibri"/>
                        <a:buNone/>
                      </a:pPr>
                      <a:r>
                        <a:rPr lang="en-US" sz="800" b="1" dirty="0">
                          <a:solidFill>
                            <a:schemeClr val="tx1"/>
                          </a:solidFill>
                        </a:rPr>
                        <a:t>36L : </a:t>
                      </a:r>
                      <a:r>
                        <a:rPr lang="en-US" sz="800" b="1" dirty="0">
                          <a:solidFill>
                            <a:srgbClr val="FF0000"/>
                          </a:solidFill>
                        </a:rPr>
                        <a:t>C4 (6299’), </a:t>
                      </a:r>
                      <a:r>
                        <a:rPr lang="en-US" sz="800" b="1" dirty="0">
                          <a:solidFill>
                            <a:schemeClr val="dk1"/>
                          </a:solidFill>
                        </a:rPr>
                        <a:t>C2(7795’) / 36R : E3(5866’), E2(7339’)</a:t>
                      </a:r>
                      <a:endParaRPr dirty="0"/>
                    </a:p>
                    <a:p>
                      <a:pPr marL="0" marR="0" lvl="0" indent="0" algn="l" rtl="0">
                        <a:lnSpc>
                          <a:spcPct val="100000"/>
                        </a:lnSpc>
                        <a:spcBef>
                          <a:spcPts val="0"/>
                        </a:spcBef>
                        <a:spcAft>
                          <a:spcPts val="0"/>
                        </a:spcAft>
                        <a:buClr>
                          <a:schemeClr val="dk1"/>
                        </a:buClr>
                        <a:buSzPts val="800"/>
                        <a:buFont typeface="Calibri"/>
                        <a:buNone/>
                      </a:pPr>
                      <a:r>
                        <a:rPr lang="en-US" sz="800" b="1" dirty="0">
                          <a:solidFill>
                            <a:schemeClr val="dk1"/>
                          </a:solidFill>
                        </a:rPr>
                        <a:t>18R : C6(5770’), C7 (6824’) / 18L : E4(5882’), E5(8792’)</a:t>
                      </a:r>
                      <a:endParaRPr sz="800" dirty="0">
                        <a:solidFill>
                          <a:schemeClr val="dk1"/>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6"/>
                  </a:ext>
                </a:extLst>
              </a:tr>
              <a:tr h="220050">
                <a:tc gridSpan="4">
                  <a:txBody>
                    <a:bodyPr/>
                    <a:lstStyle/>
                    <a:p>
                      <a:pPr marL="0" marR="0" lvl="0" indent="0" algn="ctr" rtl="0">
                        <a:lnSpc>
                          <a:spcPct val="100000"/>
                        </a:lnSpc>
                        <a:spcBef>
                          <a:spcPts val="0"/>
                        </a:spcBef>
                        <a:spcAft>
                          <a:spcPts val="0"/>
                        </a:spcAft>
                        <a:buClr>
                          <a:schemeClr val="dk1"/>
                        </a:buClr>
                        <a:buSzPts val="800"/>
                        <a:buFont typeface="Calibri"/>
                        <a:buNone/>
                      </a:pPr>
                      <a:r>
                        <a:rPr lang="en-US" sz="800" dirty="0"/>
                        <a:t>Vacate </a:t>
                      </a:r>
                      <a:r>
                        <a:rPr lang="en-US" sz="800" dirty="0">
                          <a:solidFill>
                            <a:srgbClr val="C00000"/>
                          </a:solidFill>
                        </a:rPr>
                        <a:t>C3,C4 </a:t>
                      </a:r>
                      <a:r>
                        <a:rPr lang="en-US" sz="800" dirty="0"/>
                        <a:t>by ATC only. Max Taxi SPD 20KTS</a:t>
                      </a:r>
                      <a:endParaRPr dirty="0"/>
                    </a:p>
                    <a:p>
                      <a:pPr marL="0" marR="0" lvl="0" indent="0" algn="ctr" rtl="0">
                        <a:lnSpc>
                          <a:spcPct val="100000"/>
                        </a:lnSpc>
                        <a:spcBef>
                          <a:spcPts val="0"/>
                        </a:spcBef>
                        <a:spcAft>
                          <a:spcPts val="0"/>
                        </a:spcAft>
                        <a:buClr>
                          <a:schemeClr val="dk1"/>
                        </a:buClr>
                        <a:buSzPts val="800"/>
                        <a:buFont typeface="Calibri"/>
                        <a:buNone/>
                      </a:pPr>
                      <a:r>
                        <a:rPr lang="en-US" sz="800" dirty="0"/>
                        <a:t>C2 HOLD SHORT </a:t>
                      </a:r>
                      <a:r>
                        <a:rPr lang="en-US" sz="800" dirty="0" err="1"/>
                        <a:t>가까움</a:t>
                      </a:r>
                      <a:r>
                        <a:rPr lang="en-US" sz="800" dirty="0"/>
                        <a:t>(Vacate </a:t>
                      </a:r>
                      <a:r>
                        <a:rPr lang="en-US" sz="800" dirty="0" err="1"/>
                        <a:t>TaxiSPD</a:t>
                      </a:r>
                      <a:r>
                        <a:rPr lang="en-US" sz="800" dirty="0"/>
                        <a:t>)</a:t>
                      </a:r>
                      <a:endParaRPr sz="800" dirty="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2714389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4170209501"/>
              </p:ext>
            </p:extLst>
          </p:nvPr>
        </p:nvGraphicFramePr>
        <p:xfrm>
          <a:off x="0" y="0"/>
          <a:ext cx="2328875" cy="86028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CRZ FUEL Penalty </a:t>
                      </a:r>
                      <a:r>
                        <a:rPr lang="en-US" sz="1000" dirty="0">
                          <a:latin typeface="+mn-lt"/>
                        </a:rPr>
                        <a:t>(Approximation)</a:t>
                      </a:r>
                      <a:endParaRPr sz="1000" dirty="0">
                        <a:solidFill>
                          <a:srgbClr val="C00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altLang="ko-Kore-KR" sz="1000" b="1" i="0" u="none" strike="noStrike" cap="none" dirty="0">
                          <a:solidFill>
                            <a:srgbClr val="0070C0"/>
                          </a:solidFill>
                          <a:latin typeface="Calibri"/>
                          <a:ea typeface="Calibri"/>
                          <a:cs typeface="Calibri"/>
                          <a:sym typeface="Arial"/>
                        </a:rPr>
                        <a:t>A330</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400</a:t>
                      </a:r>
                      <a:r>
                        <a:rPr lang="en-US" altLang="ko-KR" sz="900" b="0" i="0" u="none" strike="noStrike" cap="none" dirty="0">
                          <a:solidFill>
                            <a:srgbClr val="0070C0"/>
                          </a:solidFill>
                          <a:latin typeface="Calibri"/>
                          <a:ea typeface="Calibri"/>
                          <a:cs typeface="Calibri"/>
                          <a:sym typeface="Arial"/>
                        </a:rPr>
                        <a:t>0ft below OPT ALT : 5% increase trip fuel</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8000</a:t>
                      </a:r>
                      <a:r>
                        <a:rPr lang="en-US" altLang="ko-KR" sz="900" b="0" i="0" u="none" strike="noStrike" cap="none" dirty="0">
                          <a:solidFill>
                            <a:srgbClr val="0070C0"/>
                          </a:solidFill>
                          <a:latin typeface="Calibri"/>
                          <a:ea typeface="Calibri"/>
                          <a:cs typeface="Calibri"/>
                          <a:sym typeface="Arial"/>
                        </a:rPr>
                        <a:t>ft below OPT ALT : 10% increase trip fuel</a:t>
                      </a:r>
                    </a:p>
                    <a:p>
                      <a:pPr marL="0" marR="0" lvl="0" indent="0" algn="l" rtl="0">
                        <a:spcBef>
                          <a:spcPts val="0"/>
                        </a:spcBef>
                        <a:spcAft>
                          <a:spcPts val="0"/>
                        </a:spcAft>
                        <a:buNone/>
                      </a:pPr>
                      <a:r>
                        <a:rPr lang="en-US" altLang="ko-KR" sz="900" b="0" i="0" u="none" strike="noStrike" cap="none" dirty="0">
                          <a:solidFill>
                            <a:srgbClr val="0070C0"/>
                          </a:solidFill>
                          <a:latin typeface="Calibri"/>
                          <a:ea typeface="Calibri"/>
                          <a:cs typeface="Calibri"/>
                          <a:sym typeface="Arial"/>
                        </a:rPr>
                        <a:t>Above OPT ALT : 3% increase trip fuel</a:t>
                      </a:r>
                    </a:p>
                  </a:txBody>
                  <a:tcPr marL="36000" marR="36000" marT="36000" marB="36000"/>
                </a:tc>
                <a:extLst>
                  <a:ext uri="{0D108BD9-81ED-4DB2-BD59-A6C34878D82A}">
                    <a16:rowId xmlns:a16="http://schemas.microsoft.com/office/drawing/2014/main" val="10001"/>
                  </a:ext>
                </a:extLst>
              </a:tr>
            </a:tbl>
          </a:graphicData>
        </a:graphic>
      </p:graphicFrame>
      <p:sp>
        <p:nvSpPr>
          <p:cNvPr id="3" name="직사각형 2">
            <a:hlinkClick r:id="" action="ppaction://hlinkshowjump?jump=firstslide"/>
            <a:extLst>
              <a:ext uri="{FF2B5EF4-FFF2-40B4-BE49-F238E27FC236}">
                <a16:creationId xmlns:a16="http://schemas.microsoft.com/office/drawing/2014/main" id="{3C10DF26-E717-6E81-27C6-F6B26E149BB6}"/>
              </a:ext>
            </a:extLst>
          </p:cNvPr>
          <p:cNvSpPr/>
          <p:nvPr/>
        </p:nvSpPr>
        <p:spPr>
          <a:xfrm>
            <a:off x="847353" y="5193196"/>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2" name="Google Shape;402;p31">
            <a:extLst>
              <a:ext uri="{FF2B5EF4-FFF2-40B4-BE49-F238E27FC236}">
                <a16:creationId xmlns:a16="http://schemas.microsoft.com/office/drawing/2014/main" id="{8C1A594E-6DAE-98B3-E918-E5F0370C4B3C}"/>
              </a:ext>
            </a:extLst>
          </p:cNvPr>
          <p:cNvGraphicFramePr/>
          <p:nvPr>
            <p:extLst>
              <p:ext uri="{D42A27DB-BD31-4B8C-83A1-F6EECF244321}">
                <p14:modId xmlns:p14="http://schemas.microsoft.com/office/powerpoint/2010/main" val="3833211750"/>
              </p:ext>
            </p:extLst>
          </p:nvPr>
        </p:nvGraphicFramePr>
        <p:xfrm>
          <a:off x="1933" y="923306"/>
          <a:ext cx="2328875" cy="2082120"/>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rPr>
                        <a:t>FUEL Consumption</a:t>
                      </a:r>
                      <a:endParaRPr sz="1000" dirty="0">
                        <a:solidFill>
                          <a:srgbClr val="FFC000"/>
                        </a:solidFill>
                        <a:latin typeface="+mn-lt"/>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spcBef>
                          <a:spcPts val="0"/>
                        </a:spcBef>
                        <a:spcAft>
                          <a:spcPts val="0"/>
                        </a:spcAft>
                        <a:buNone/>
                      </a:pPr>
                      <a:r>
                        <a:rPr lang="en-US" sz="900" b="1" dirty="0">
                          <a:solidFill>
                            <a:srgbClr val="0070C0"/>
                          </a:solidFill>
                          <a:latin typeface="Calibri" panose="020F0502020204030204" pitchFamily="34" charset="0"/>
                          <a:cs typeface="Calibri" panose="020F0502020204030204" pitchFamily="34" charset="0"/>
                        </a:rPr>
                        <a:t>APU</a:t>
                      </a:r>
                    </a:p>
                    <a:p>
                      <a:pPr marL="0" marR="0" lvl="0" indent="0" algn="l" rtl="0">
                        <a:spcBef>
                          <a:spcPts val="0"/>
                        </a:spcBef>
                        <a:spcAft>
                          <a:spcPts val="0"/>
                        </a:spcAft>
                        <a:buNone/>
                      </a:pPr>
                      <a:r>
                        <a:rPr lang="en-US" sz="900" b="0" dirty="0">
                          <a:solidFill>
                            <a:srgbClr val="0070C0"/>
                          </a:solidFill>
                          <a:latin typeface="Calibri" panose="020F0502020204030204" pitchFamily="34" charset="0"/>
                          <a:cs typeface="Calibri" panose="020F0502020204030204" pitchFamily="34" charset="0"/>
                        </a:rPr>
                        <a:t>GND : 438 LBS/</a:t>
                      </a:r>
                      <a:r>
                        <a:rPr lang="en-US" sz="900" b="0" dirty="0" err="1">
                          <a:solidFill>
                            <a:srgbClr val="0070C0"/>
                          </a:solidFill>
                          <a:latin typeface="Calibri" panose="020F0502020204030204" pitchFamily="34" charset="0"/>
                          <a:cs typeface="Calibri" panose="020F0502020204030204" pitchFamily="34" charset="0"/>
                        </a:rPr>
                        <a:t>hr</a:t>
                      </a:r>
                      <a:r>
                        <a:rPr lang="en-US" sz="900" b="0" dirty="0">
                          <a:solidFill>
                            <a:srgbClr val="0070C0"/>
                          </a:solidFill>
                          <a:latin typeface="Calibri" panose="020F0502020204030204" pitchFamily="34" charset="0"/>
                          <a:cs typeface="Calibri" panose="020F0502020204030204" pitchFamily="34" charset="0"/>
                        </a:rPr>
                        <a:t> (BLOCK FUEL</a:t>
                      </a:r>
                      <a:r>
                        <a:rPr lang="ko-KR" altLang="en-US" sz="900" b="0" dirty="0">
                          <a:solidFill>
                            <a:srgbClr val="0070C0"/>
                          </a:solidFill>
                          <a:latin typeface="Calibri" panose="020F0502020204030204" pitchFamily="34" charset="0"/>
                          <a:cs typeface="Calibri" panose="020F0502020204030204" pitchFamily="34" charset="0"/>
                        </a:rPr>
                        <a:t>산정</a:t>
                      </a:r>
                      <a:r>
                        <a:rPr lang="en-US" altLang="ko-KR" sz="900" b="0" dirty="0">
                          <a:solidFill>
                            <a:srgbClr val="0070C0"/>
                          </a:solidFill>
                          <a:latin typeface="Calibri" panose="020F0502020204030204" pitchFamily="34" charset="0"/>
                          <a:cs typeface="Calibri" panose="020F0502020204030204" pitchFamily="34" charset="0"/>
                        </a:rPr>
                        <a:t>)</a:t>
                      </a:r>
                      <a:endParaRPr lang="en-US" sz="900" b="0" dirty="0">
                        <a:solidFill>
                          <a:srgbClr val="0070C0"/>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900" b="0" dirty="0">
                          <a:solidFill>
                            <a:srgbClr val="0070C0"/>
                          </a:solidFill>
                          <a:latin typeface="Calibri" panose="020F0502020204030204" pitchFamily="34" charset="0"/>
                          <a:cs typeface="Calibri" panose="020F0502020204030204" pitchFamily="34" charset="0"/>
                        </a:rPr>
                        <a:t>IN FLT : </a:t>
                      </a:r>
                      <a:r>
                        <a:rPr lang="en-US" altLang="ko-KR" sz="900" b="0" dirty="0">
                          <a:solidFill>
                            <a:srgbClr val="0070C0"/>
                          </a:solidFill>
                          <a:latin typeface="Calibri" panose="020F0502020204030204" pitchFamily="34" charset="0"/>
                          <a:cs typeface="Calibri" panose="020F0502020204030204" pitchFamily="34" charset="0"/>
                        </a:rPr>
                        <a:t>286</a:t>
                      </a:r>
                      <a:r>
                        <a:rPr lang="ko-KR" altLang="en-US" sz="900" b="0" dirty="0">
                          <a:solidFill>
                            <a:srgbClr val="0070C0"/>
                          </a:solidFill>
                          <a:latin typeface="Calibri" panose="020F0502020204030204" pitchFamily="34" charset="0"/>
                          <a:cs typeface="Calibri" panose="020F0502020204030204" pitchFamily="34" charset="0"/>
                        </a:rPr>
                        <a:t> </a:t>
                      </a:r>
                      <a:r>
                        <a:rPr lang="en-US" sz="900" b="0" dirty="0">
                          <a:solidFill>
                            <a:srgbClr val="0070C0"/>
                          </a:solidFill>
                          <a:latin typeface="Calibri" panose="020F0502020204030204" pitchFamily="34" charset="0"/>
                          <a:cs typeface="Calibri" panose="020F0502020204030204" pitchFamily="34" charset="0"/>
                        </a:rPr>
                        <a:t>LBS/</a:t>
                      </a:r>
                      <a:r>
                        <a:rPr lang="en-US" sz="900" b="0" dirty="0" err="1">
                          <a:solidFill>
                            <a:srgbClr val="0070C0"/>
                          </a:solidFill>
                          <a:latin typeface="Calibri" panose="020F0502020204030204" pitchFamily="34" charset="0"/>
                          <a:cs typeface="Calibri" panose="020F0502020204030204" pitchFamily="34" charset="0"/>
                        </a:rPr>
                        <a:t>hr</a:t>
                      </a:r>
                      <a:endParaRPr lang="en-US" sz="900" b="0" dirty="0">
                        <a:solidFill>
                          <a:srgbClr val="0070C0"/>
                        </a:solidFill>
                        <a:latin typeface="Calibri" panose="020F0502020204030204" pitchFamily="34" charset="0"/>
                        <a:cs typeface="Calibri" panose="020F0502020204030204" pitchFamily="34" charset="0"/>
                      </a:endParaRPr>
                    </a:p>
                  </a:txBody>
                  <a:tcPr marL="36000" marR="36000" marT="36000" marB="36000"/>
                </a:tc>
                <a:extLst>
                  <a:ext uri="{0D108BD9-81ED-4DB2-BD59-A6C34878D82A}">
                    <a16:rowId xmlns:a16="http://schemas.microsoft.com/office/drawing/2014/main" val="2985261219"/>
                  </a:ext>
                </a:extLst>
              </a:tr>
              <a:tr h="214363">
                <a:tc>
                  <a:txBody>
                    <a:bodyPr/>
                    <a:lstStyle/>
                    <a:p>
                      <a:pPr marL="0" marR="0" lvl="0" indent="0" algn="l" rtl="0">
                        <a:spcBef>
                          <a:spcPts val="0"/>
                        </a:spcBef>
                        <a:spcAft>
                          <a:spcPts val="0"/>
                        </a:spcAft>
                        <a:buNone/>
                      </a:pPr>
                      <a:r>
                        <a:rPr lang="en-US" altLang="ko-Kore-KR" sz="1000" b="1" i="0" u="none" strike="noStrike" cap="none" dirty="0">
                          <a:solidFill>
                            <a:srgbClr val="0070C0"/>
                          </a:solidFill>
                          <a:latin typeface="Calibri"/>
                          <a:ea typeface="Calibri"/>
                          <a:cs typeface="Calibri"/>
                          <a:sym typeface="Arial"/>
                        </a:rPr>
                        <a:t>TAXI</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2 ENG, no APU : </a:t>
                      </a:r>
                      <a:r>
                        <a:rPr lang="en-US" altLang="ko-KR" sz="900" b="0" i="0" u="none" strike="noStrike" cap="none" dirty="0">
                          <a:solidFill>
                            <a:srgbClr val="0070C0"/>
                          </a:solidFill>
                          <a:latin typeface="Calibri"/>
                          <a:ea typeface="Calibri"/>
                          <a:cs typeface="Calibri"/>
                          <a:sym typeface="Arial"/>
                        </a:rPr>
                        <a:t>3300</a:t>
                      </a:r>
                      <a:r>
                        <a:rPr lang="ko-KR" altLang="en-US" sz="900" b="0" i="0" u="none" strike="noStrike" cap="none" dirty="0">
                          <a:solidFill>
                            <a:srgbClr val="0070C0"/>
                          </a:solidFill>
                          <a:latin typeface="Calibri"/>
                          <a:ea typeface="Calibri"/>
                          <a:cs typeface="Calibri"/>
                          <a:sym typeface="Arial"/>
                        </a:rPr>
                        <a:t> </a:t>
                      </a:r>
                      <a:r>
                        <a:rPr lang="en-US" altLang="ko-Kore-KR" sz="900" b="0" i="0" u="none" strike="noStrike" cap="none" dirty="0">
                          <a:solidFill>
                            <a:srgbClr val="0070C0"/>
                          </a:solidFill>
                          <a:latin typeface="Calibri"/>
                          <a:ea typeface="Calibri"/>
                          <a:cs typeface="Calibri"/>
                          <a:sym typeface="Arial"/>
                        </a:rPr>
                        <a:t>LBS/</a:t>
                      </a:r>
                      <a:r>
                        <a:rPr lang="en-US" altLang="ko-Kore-KR" sz="900" b="0" i="0" u="none" strike="noStrike" cap="none" dirty="0" err="1">
                          <a:solidFill>
                            <a:srgbClr val="0070C0"/>
                          </a:solidFill>
                          <a:latin typeface="Calibri"/>
                          <a:ea typeface="Calibri"/>
                          <a:cs typeface="Calibri"/>
                          <a:sym typeface="Arial"/>
                        </a:rPr>
                        <a:t>hr</a:t>
                      </a:r>
                      <a:r>
                        <a:rPr lang="en-US" altLang="ko-Kore-KR" sz="900" b="0" i="0" u="none" strike="noStrike" cap="none" dirty="0">
                          <a:solidFill>
                            <a:srgbClr val="0070C0"/>
                          </a:solidFill>
                          <a:latin typeface="Calibri"/>
                          <a:ea typeface="Calibri"/>
                          <a:cs typeface="Calibri"/>
                          <a:sym typeface="Arial"/>
                        </a:rPr>
                        <a:t> (</a:t>
                      </a:r>
                      <a:r>
                        <a:rPr lang="en-US" altLang="ko-KR" sz="900" b="0" i="0" u="none" strike="noStrike" cap="none" dirty="0">
                          <a:solidFill>
                            <a:srgbClr val="0070C0"/>
                          </a:solidFill>
                          <a:latin typeface="Calibri"/>
                          <a:ea typeface="Calibri"/>
                          <a:cs typeface="Calibri"/>
                          <a:sym typeface="Arial"/>
                        </a:rPr>
                        <a:t>55 LBS/</a:t>
                      </a:r>
                      <a:r>
                        <a:rPr lang="en-US" altLang="ko-KR" sz="900" b="0" i="0" u="none" strike="noStrike" cap="none" dirty="0" err="1">
                          <a:solidFill>
                            <a:srgbClr val="0070C0"/>
                          </a:solidFill>
                          <a:latin typeface="Calibri"/>
                          <a:ea typeface="Calibri"/>
                          <a:cs typeface="Calibri"/>
                          <a:sym typeface="Arial"/>
                        </a:rPr>
                        <a:t>hr</a:t>
                      </a:r>
                      <a:r>
                        <a:rPr lang="en-US" altLang="ko-KR" sz="900" b="0" i="0" u="none" strike="noStrike" cap="none" dirty="0">
                          <a:solidFill>
                            <a:srgbClr val="0070C0"/>
                          </a:solidFill>
                          <a:latin typeface="Calibri"/>
                          <a:ea typeface="Calibri"/>
                          <a:cs typeface="Calibri"/>
                          <a:sym typeface="Arial"/>
                        </a:rPr>
                        <a:t>)</a:t>
                      </a:r>
                    </a:p>
                  </a:txBody>
                  <a:tcPr marL="36000" marR="36000" marT="36000" marB="36000"/>
                </a:tc>
                <a:extLst>
                  <a:ext uri="{0D108BD9-81ED-4DB2-BD59-A6C34878D82A}">
                    <a16:rowId xmlns:a16="http://schemas.microsoft.com/office/drawing/2014/main" val="10001"/>
                  </a:ext>
                </a:extLst>
              </a:tr>
              <a:tr h="214363">
                <a:tc>
                  <a:txBody>
                    <a:bodyPr/>
                    <a:lstStyle/>
                    <a:p>
                      <a:pPr marL="0" marR="0" lvl="0" indent="0" algn="l" rtl="0">
                        <a:spcBef>
                          <a:spcPts val="0"/>
                        </a:spcBef>
                        <a:spcAft>
                          <a:spcPts val="0"/>
                        </a:spcAft>
                        <a:buNone/>
                      </a:pPr>
                      <a:r>
                        <a:rPr lang="en-US" altLang="ko-Kore-KR" sz="1000" b="1" i="0" u="none" strike="noStrike" cap="none" dirty="0">
                          <a:solidFill>
                            <a:srgbClr val="0070C0"/>
                          </a:solidFill>
                          <a:latin typeface="Calibri"/>
                          <a:ea typeface="Calibri"/>
                          <a:cs typeface="Calibri"/>
                          <a:sym typeface="Arial"/>
                        </a:rPr>
                        <a:t>CRZ</a:t>
                      </a:r>
                    </a:p>
                    <a:p>
                      <a:pPr marL="0" marR="0" lvl="0" indent="0" algn="l" rtl="0">
                        <a:spcBef>
                          <a:spcPts val="0"/>
                        </a:spcBef>
                        <a:spcAft>
                          <a:spcPts val="0"/>
                        </a:spcAft>
                        <a:buNone/>
                      </a:pPr>
                      <a:r>
                        <a:rPr lang="en-US" altLang="ko-Kore-KR" sz="900" b="0" i="0" u="none" strike="noStrike" cap="none" dirty="0">
                          <a:solidFill>
                            <a:srgbClr val="0070C0"/>
                          </a:solidFill>
                          <a:latin typeface="Calibri"/>
                          <a:ea typeface="Calibri"/>
                          <a:cs typeface="Calibri"/>
                          <a:sym typeface="Arial"/>
                        </a:rPr>
                        <a:t>- Reserved</a:t>
                      </a:r>
                    </a:p>
                  </a:txBody>
                  <a:tcPr marL="36000" marR="36000" marT="36000" marB="36000"/>
                </a:tc>
                <a:extLst>
                  <a:ext uri="{0D108BD9-81ED-4DB2-BD59-A6C34878D82A}">
                    <a16:rowId xmlns:a16="http://schemas.microsoft.com/office/drawing/2014/main" val="4015474656"/>
                  </a:ext>
                </a:extLst>
              </a:tr>
              <a:tr h="214363">
                <a:tc>
                  <a:txBody>
                    <a:bodyPr/>
                    <a:lstStyle/>
                    <a:p>
                      <a:pPr marL="0" marR="0" lvl="0" indent="0" algn="l" rtl="0">
                        <a:spcBef>
                          <a:spcPts val="0"/>
                        </a:spcBef>
                        <a:spcAft>
                          <a:spcPts val="0"/>
                        </a:spcAft>
                        <a:buNone/>
                      </a:pPr>
                      <a:r>
                        <a:rPr lang="en-US" altLang="ko-Kore-KR" sz="1000" b="1" i="0" u="none" strike="noStrike" cap="none" dirty="0">
                          <a:solidFill>
                            <a:srgbClr val="0070C0"/>
                          </a:solidFill>
                          <a:latin typeface="Calibri"/>
                          <a:ea typeface="Calibri"/>
                          <a:cs typeface="Calibri"/>
                          <a:sym typeface="Arial"/>
                        </a:rPr>
                        <a:t>Holding</a:t>
                      </a:r>
                    </a:p>
                    <a:p>
                      <a:pPr marL="0" marR="0" lvl="0" indent="0" algn="l" rtl="0">
                        <a:spcBef>
                          <a:spcPts val="0"/>
                        </a:spcBef>
                        <a:spcAft>
                          <a:spcPts val="0"/>
                        </a:spcAft>
                        <a:buNone/>
                      </a:pPr>
                      <a:r>
                        <a:rPr lang="ko-KR" altLang="en-US" sz="900" b="0" i="0" u="none" strike="noStrike" cap="none" dirty="0">
                          <a:solidFill>
                            <a:srgbClr val="0070C0"/>
                          </a:solidFill>
                          <a:latin typeface="Calibri"/>
                          <a:ea typeface="Calibri"/>
                          <a:cs typeface="Calibri"/>
                          <a:sym typeface="Arial"/>
                        </a:rPr>
                        <a:t>분당 </a:t>
                      </a:r>
                      <a:r>
                        <a:rPr lang="en-US" altLang="ko-KR" sz="900" b="0" i="0" u="none" strike="noStrike" cap="none" dirty="0">
                          <a:solidFill>
                            <a:srgbClr val="0070C0"/>
                          </a:solidFill>
                          <a:latin typeface="Calibri"/>
                          <a:ea typeface="Calibri"/>
                          <a:cs typeface="Calibri"/>
                          <a:sym typeface="Arial"/>
                        </a:rPr>
                        <a:t>200LBS (Actual F/F </a:t>
                      </a:r>
                      <a:r>
                        <a:rPr lang="ko-KR" altLang="en-US" sz="900" b="0" i="0" u="none" strike="noStrike" cap="none" dirty="0">
                          <a:solidFill>
                            <a:srgbClr val="0070C0"/>
                          </a:solidFill>
                          <a:latin typeface="Calibri"/>
                          <a:ea typeface="Calibri"/>
                          <a:cs typeface="Calibri"/>
                          <a:sym typeface="Arial"/>
                        </a:rPr>
                        <a:t>참조</a:t>
                      </a:r>
                      <a:r>
                        <a:rPr lang="en-US" altLang="ko-KR" sz="900" b="0" i="0" u="none" strike="noStrike" cap="none" dirty="0">
                          <a:solidFill>
                            <a:srgbClr val="0070C0"/>
                          </a:solidFill>
                          <a:latin typeface="Calibri"/>
                          <a:ea typeface="Calibri"/>
                          <a:cs typeface="Calibri"/>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1000" b="1" i="0" u="none" strike="noStrike" kern="0" cap="none" spc="0" normalizeH="0" baseline="0" noProof="0" dirty="0">
                          <a:ln>
                            <a:noFill/>
                          </a:ln>
                          <a:solidFill>
                            <a:srgbClr val="0070C0"/>
                          </a:solidFill>
                          <a:effectLst/>
                          <a:uLnTx/>
                          <a:uFillTx/>
                          <a:latin typeface="Calibri"/>
                          <a:ea typeface="Calibri"/>
                          <a:cs typeface="Calibri"/>
                          <a:sym typeface="Arial"/>
                        </a:rPr>
                        <a:t>Missed App </a:t>
                      </a:r>
                      <a:r>
                        <a:rPr kumimoji="0" lang="en-US" altLang="ko-KR" sz="1000" b="1" i="0" u="none" strike="noStrike" kern="0" cap="none" spc="0" normalizeH="0" baseline="0" noProof="0" dirty="0">
                          <a:ln>
                            <a:noFill/>
                          </a:ln>
                          <a:solidFill>
                            <a:srgbClr val="0070C0"/>
                          </a:solidFill>
                          <a:effectLst/>
                          <a:uLnTx/>
                          <a:uFillTx/>
                          <a:latin typeface="Calibri"/>
                          <a:ea typeface="Calibri"/>
                          <a:cs typeface="Calibri"/>
                          <a:sym typeface="Arial"/>
                        </a:rPr>
                        <a:t>&amp;</a:t>
                      </a:r>
                      <a:r>
                        <a:rPr kumimoji="0" lang="ko-KR" altLang="en-US" sz="1000" b="1" i="0" u="none" strike="noStrike" kern="0" cap="none" spc="0" normalizeH="0" baseline="0" noProof="0" dirty="0">
                          <a:ln>
                            <a:noFill/>
                          </a:ln>
                          <a:solidFill>
                            <a:srgbClr val="0070C0"/>
                          </a:solidFill>
                          <a:effectLst/>
                          <a:uLnTx/>
                          <a:uFillTx/>
                          <a:latin typeface="Calibri"/>
                          <a:ea typeface="Calibri"/>
                          <a:cs typeface="Calibri"/>
                          <a:sym typeface="Arial"/>
                        </a:rPr>
                        <a:t> </a:t>
                      </a:r>
                      <a:r>
                        <a:rPr kumimoji="0" lang="en-US" altLang="ko-KR" sz="1000" b="1" i="0" u="none" strike="noStrike" kern="0" cap="none" spc="0" normalizeH="0" baseline="0" noProof="0" dirty="0">
                          <a:ln>
                            <a:noFill/>
                          </a:ln>
                          <a:solidFill>
                            <a:srgbClr val="0070C0"/>
                          </a:solidFill>
                          <a:effectLst/>
                          <a:uLnTx/>
                          <a:uFillTx/>
                          <a:latin typeface="Calibri"/>
                          <a:ea typeface="Calibri"/>
                          <a:cs typeface="Calibri"/>
                          <a:sym typeface="Arial"/>
                        </a:rPr>
                        <a:t>Landing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rPr>
                        <a:t>3000</a:t>
                      </a:r>
                      <a:r>
                        <a:rPr kumimoji="0" lang="ko-KR" altLang="en-US" sz="900" b="0" i="0" u="none" strike="noStrike" kern="0" cap="none" spc="0" normalizeH="0" baseline="0" noProof="0" dirty="0">
                          <a:ln>
                            <a:noFill/>
                          </a:ln>
                          <a:solidFill>
                            <a:srgbClr val="0070C0"/>
                          </a:solidFill>
                          <a:effectLst/>
                          <a:uLnTx/>
                          <a:uFillTx/>
                          <a:latin typeface="Calibri"/>
                          <a:ea typeface="Calibri"/>
                          <a:cs typeface="Calibri"/>
                          <a:sym typeface="Arial"/>
                        </a:rPr>
                        <a:t> </a:t>
                      </a:r>
                      <a:r>
                        <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rPr>
                        <a:t>LBS (</a:t>
                      </a:r>
                      <a:r>
                        <a:rPr kumimoji="0" lang="ko-KR" altLang="en-US" sz="900" b="0" i="0" u="none" strike="noStrike" kern="0" cap="none" spc="0" normalizeH="0" baseline="0" noProof="0" dirty="0">
                          <a:ln>
                            <a:noFill/>
                          </a:ln>
                          <a:solidFill>
                            <a:srgbClr val="0070C0"/>
                          </a:solidFill>
                          <a:effectLst/>
                          <a:uLnTx/>
                          <a:uFillTx/>
                          <a:latin typeface="Calibri"/>
                          <a:ea typeface="Calibri"/>
                          <a:cs typeface="Calibri"/>
                          <a:sym typeface="Arial"/>
                        </a:rPr>
                        <a:t>과거 </a:t>
                      </a:r>
                      <a:r>
                        <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rPr>
                        <a:t>EDTO</a:t>
                      </a:r>
                      <a:r>
                        <a:rPr kumimoji="0" lang="ko-KR" altLang="en-US" sz="900" b="0" i="0" u="none" strike="noStrike" kern="0" cap="none" spc="0" normalizeH="0" baseline="0" noProof="0" dirty="0">
                          <a:ln>
                            <a:noFill/>
                          </a:ln>
                          <a:solidFill>
                            <a:srgbClr val="0070C0"/>
                          </a:solidFill>
                          <a:effectLst/>
                          <a:uLnTx/>
                          <a:uFillTx/>
                          <a:latin typeface="Calibri"/>
                          <a:ea typeface="Calibri"/>
                          <a:cs typeface="Calibri"/>
                          <a:sym typeface="Arial"/>
                        </a:rPr>
                        <a:t>자료 </a:t>
                      </a:r>
                      <a:r>
                        <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rPr>
                        <a:t>1</a:t>
                      </a:r>
                      <a:r>
                        <a:rPr kumimoji="0" lang="ko-KR" altLang="en-US" sz="900" b="0" i="0" u="none" strike="noStrike" kern="0" cap="none" spc="0" normalizeH="0" baseline="0" noProof="0" dirty="0">
                          <a:ln>
                            <a:noFill/>
                          </a:ln>
                          <a:solidFill>
                            <a:srgbClr val="0070C0"/>
                          </a:solidFill>
                          <a:effectLst/>
                          <a:uLnTx/>
                          <a:uFillTx/>
                          <a:latin typeface="Calibri"/>
                          <a:ea typeface="Calibri"/>
                          <a:cs typeface="Calibri"/>
                          <a:sym typeface="Arial"/>
                        </a:rPr>
                        <a:t>회 </a:t>
                      </a:r>
                      <a:r>
                        <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rPr>
                        <a:t>Missed App + L/D)</a:t>
                      </a:r>
                      <a:r>
                        <a:rPr kumimoji="0" lang="ko-KR" altLang="en-US" sz="900" b="0" i="0" u="none" strike="noStrike" kern="0" cap="none" spc="0" normalizeH="0" baseline="0" noProof="0" dirty="0">
                          <a:ln>
                            <a:noFill/>
                          </a:ln>
                          <a:solidFill>
                            <a:srgbClr val="0070C0"/>
                          </a:solidFill>
                          <a:effectLst/>
                          <a:uLnTx/>
                          <a:uFillTx/>
                          <a:latin typeface="Calibri"/>
                          <a:ea typeface="Calibri"/>
                          <a:cs typeface="Calibri"/>
                          <a:sym typeface="Arial"/>
                        </a:rPr>
                        <a:t> </a:t>
                      </a:r>
                      <a:endParaRPr kumimoji="0" lang="en-US" altLang="ko-KR" sz="900" b="0" i="0" u="none" strike="noStrike" kern="0" cap="none" spc="0" normalizeH="0" baseline="0" noProof="0" dirty="0">
                        <a:ln>
                          <a:noFill/>
                        </a:ln>
                        <a:solidFill>
                          <a:srgbClr val="0070C0"/>
                        </a:solidFill>
                        <a:effectLst/>
                        <a:uLnTx/>
                        <a:uFillTx/>
                        <a:latin typeface="Calibri"/>
                        <a:ea typeface="Calibri"/>
                        <a:cs typeface="Calibri"/>
                        <a:sym typeface="Arial"/>
                      </a:endParaRPr>
                    </a:p>
                  </a:txBody>
                  <a:tcPr marL="36000" marR="36000" marT="36000" marB="36000"/>
                </a:tc>
                <a:extLst>
                  <a:ext uri="{0D108BD9-81ED-4DB2-BD59-A6C34878D82A}">
                    <a16:rowId xmlns:a16="http://schemas.microsoft.com/office/drawing/2014/main" val="3077422953"/>
                  </a:ext>
                </a:extLst>
              </a:tr>
            </a:tbl>
          </a:graphicData>
        </a:graphic>
      </p:graphicFrame>
      <p:graphicFrame>
        <p:nvGraphicFramePr>
          <p:cNvPr id="5" name="Google Shape;402;p31">
            <a:extLst>
              <a:ext uri="{FF2B5EF4-FFF2-40B4-BE49-F238E27FC236}">
                <a16:creationId xmlns:a16="http://schemas.microsoft.com/office/drawing/2014/main" id="{CC58B19C-6D0D-9F37-979E-48EB84619961}"/>
              </a:ext>
            </a:extLst>
          </p:cNvPr>
          <p:cNvGraphicFramePr/>
          <p:nvPr>
            <p:extLst>
              <p:ext uri="{D42A27DB-BD31-4B8C-83A1-F6EECF244321}">
                <p14:modId xmlns:p14="http://schemas.microsoft.com/office/powerpoint/2010/main" val="1515546775"/>
              </p:ext>
            </p:extLst>
          </p:nvPr>
        </p:nvGraphicFramePr>
        <p:xfrm>
          <a:off x="3864" y="3087835"/>
          <a:ext cx="2328875" cy="68546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22625">
                <a:tc>
                  <a:txBody>
                    <a:bodyPr/>
                    <a:lstStyle/>
                    <a:p>
                      <a:pPr marL="0" marR="0" lvl="0" indent="0" algn="l" rtl="0">
                        <a:spcBef>
                          <a:spcPts val="0"/>
                        </a:spcBef>
                        <a:spcAft>
                          <a:spcPts val="0"/>
                        </a:spcAft>
                        <a:buNone/>
                      </a:pPr>
                      <a:r>
                        <a:rPr lang="en-US" sz="1000" dirty="0">
                          <a:solidFill>
                            <a:srgbClr val="FFC000"/>
                          </a:solidFill>
                          <a:latin typeface="+mn-lt"/>
                          <a:ea typeface="+mn-ea"/>
                          <a:cs typeface="Calibri" panose="020F0502020204030204" pitchFamily="34" charset="0"/>
                        </a:rPr>
                        <a:t>FUEL Loading</a:t>
                      </a:r>
                      <a:endParaRPr sz="1000" dirty="0">
                        <a:solidFill>
                          <a:srgbClr val="FFC000"/>
                        </a:solidFill>
                        <a:latin typeface="+mn-lt"/>
                        <a:ea typeface="+mn-ea"/>
                        <a:cs typeface="Calibri" panose="020F0502020204030204" pitchFamily="34" charset="0"/>
                      </a:endParaRPr>
                    </a:p>
                  </a:txBody>
                  <a:tcPr marL="36000" marR="36000" marT="36000" marB="36000"/>
                </a:tc>
                <a:extLst>
                  <a:ext uri="{0D108BD9-81ED-4DB2-BD59-A6C34878D82A}">
                    <a16:rowId xmlns:a16="http://schemas.microsoft.com/office/drawing/2014/main" val="10000"/>
                  </a:ext>
                </a:extLst>
              </a:tr>
              <a:tr h="214363">
                <a:tc>
                  <a:txBody>
                    <a:bodyPr/>
                    <a:lstStyle/>
                    <a:p>
                      <a:pPr marL="0" marR="0" lvl="0" indent="0" algn="l" rtl="0">
                        <a:lnSpc>
                          <a:spcPct val="150000"/>
                        </a:lnSpc>
                        <a:spcBef>
                          <a:spcPts val="0"/>
                        </a:spcBef>
                        <a:spcAft>
                          <a:spcPts val="0"/>
                        </a:spcAft>
                        <a:buNone/>
                      </a:pPr>
                      <a:r>
                        <a:rPr lang="en-US" sz="900" b="0" dirty="0">
                          <a:solidFill>
                            <a:srgbClr val="0070C0"/>
                          </a:solidFill>
                          <a:latin typeface="Calibri" panose="020F0502020204030204" pitchFamily="34" charset="0"/>
                          <a:ea typeface="+mn-ea"/>
                          <a:cs typeface="Calibri" panose="020F0502020204030204" pitchFamily="34" charset="0"/>
                        </a:rPr>
                        <a:t>Center Tank 80000LBS </a:t>
                      </a:r>
                      <a:r>
                        <a:rPr lang="ko-KR" altLang="en-US" sz="900" b="0" dirty="0" err="1">
                          <a:solidFill>
                            <a:srgbClr val="0070C0"/>
                          </a:solidFill>
                          <a:latin typeface="Calibri" panose="020F0502020204030204" pitchFamily="34" charset="0"/>
                          <a:ea typeface="+mn-ea"/>
                          <a:cs typeface="Calibri" panose="020F0502020204030204" pitchFamily="34" charset="0"/>
                        </a:rPr>
                        <a:t>이상시</a:t>
                      </a:r>
                      <a:r>
                        <a:rPr lang="ko-KR" altLang="en-US" sz="900" b="0" dirty="0">
                          <a:solidFill>
                            <a:srgbClr val="0070C0"/>
                          </a:solidFill>
                          <a:latin typeface="Calibri" panose="020F0502020204030204" pitchFamily="34" charset="0"/>
                          <a:ea typeface="+mn-ea"/>
                          <a:cs typeface="Calibri" panose="020F0502020204030204" pitchFamily="34" charset="0"/>
                        </a:rPr>
                        <a:t> </a:t>
                      </a:r>
                      <a:r>
                        <a:rPr lang="en-US" altLang="ko-KR" sz="900" b="0" dirty="0">
                          <a:solidFill>
                            <a:srgbClr val="0070C0"/>
                          </a:solidFill>
                          <a:latin typeface="Calibri" panose="020F0502020204030204" pitchFamily="34" charset="0"/>
                          <a:ea typeface="+mn-ea"/>
                          <a:cs typeface="Calibri" panose="020F0502020204030204" pitchFamily="34" charset="0"/>
                        </a:rPr>
                        <a:t>Tail Tank Load</a:t>
                      </a:r>
                    </a:p>
                    <a:p>
                      <a:pPr marL="0" marR="0" lvl="0" indent="0" algn="l" rtl="0">
                        <a:lnSpc>
                          <a:spcPct val="150000"/>
                        </a:lnSpc>
                        <a:spcBef>
                          <a:spcPts val="0"/>
                        </a:spcBef>
                        <a:spcAft>
                          <a:spcPts val="0"/>
                        </a:spcAft>
                        <a:buNone/>
                      </a:pPr>
                      <a:r>
                        <a:rPr lang="en-US" altLang="ko-KR" sz="900" b="0" dirty="0">
                          <a:solidFill>
                            <a:srgbClr val="0070C0"/>
                          </a:solidFill>
                          <a:latin typeface="Calibri" panose="020F0502020204030204" pitchFamily="34" charset="0"/>
                          <a:ea typeface="+mn-ea"/>
                          <a:cs typeface="Calibri" panose="020F0502020204030204" pitchFamily="34" charset="0"/>
                        </a:rPr>
                        <a:t>FUEL Overfill : 1000LBS</a:t>
                      </a:r>
                      <a:r>
                        <a:rPr lang="ko-KR" altLang="en-US" sz="900" b="0" dirty="0">
                          <a:solidFill>
                            <a:srgbClr val="0070C0"/>
                          </a:solidFill>
                          <a:latin typeface="Calibri" panose="020F0502020204030204" pitchFamily="34" charset="0"/>
                          <a:ea typeface="+mn-ea"/>
                          <a:cs typeface="Calibri" panose="020F0502020204030204" pitchFamily="34" charset="0"/>
                        </a:rPr>
                        <a:t> 기준</a:t>
                      </a:r>
                      <a:endParaRPr lang="en-US" altLang="ko-KR" sz="900" b="0" dirty="0">
                        <a:solidFill>
                          <a:srgbClr val="0070C0"/>
                        </a:solidFill>
                        <a:latin typeface="Calibri" panose="020F0502020204030204" pitchFamily="34" charset="0"/>
                        <a:ea typeface="+mn-ea"/>
                        <a:cs typeface="Calibri" panose="020F0502020204030204" pitchFamily="34" charset="0"/>
                      </a:endParaRPr>
                    </a:p>
                  </a:txBody>
                  <a:tcPr marL="36000" marR="36000" marT="36000" marB="36000"/>
                </a:tc>
                <a:extLst>
                  <a:ext uri="{0D108BD9-81ED-4DB2-BD59-A6C34878D82A}">
                    <a16:rowId xmlns:a16="http://schemas.microsoft.com/office/drawing/2014/main" val="2985261219"/>
                  </a:ext>
                </a:extLst>
              </a:tr>
            </a:tbl>
          </a:graphicData>
        </a:graphic>
      </p:graphicFrame>
    </p:spTree>
    <p:extLst>
      <p:ext uri="{BB962C8B-B14F-4D97-AF65-F5344CB8AC3E}">
        <p14:creationId xmlns:p14="http://schemas.microsoft.com/office/powerpoint/2010/main" val="248076159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442941435"/>
              </p:ext>
            </p:extLst>
          </p:nvPr>
        </p:nvGraphicFramePr>
        <p:xfrm>
          <a:off x="0" y="2006053"/>
          <a:ext cx="2328875" cy="1788947"/>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66832">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APU BLEED USE WITH HP AIR START UNIT</a:t>
                      </a:r>
                    </a:p>
                  </a:txBody>
                  <a:tcPr marL="36000" marR="36000" marT="36000" marB="36000"/>
                </a:tc>
                <a:extLst>
                  <a:ext uri="{0D108BD9-81ED-4DB2-BD59-A6C34878D82A}">
                    <a16:rowId xmlns:a16="http://schemas.microsoft.com/office/drawing/2014/main" val="10000"/>
                  </a:ext>
                </a:extLst>
              </a:tr>
              <a:tr h="202078">
                <a:tc>
                  <a:txBody>
                    <a:bodyPr/>
                    <a:lstStyle/>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APU </a:t>
                      </a:r>
                      <a:r>
                        <a:rPr lang="ko-KR" altLang="en-US" sz="700" dirty="0">
                          <a:latin typeface="Arial" panose="020B0604020202020204" pitchFamily="34" charset="0"/>
                          <a:cs typeface="Arial" panose="020B0604020202020204" pitchFamily="34" charset="0"/>
                        </a:rPr>
                        <a:t>부작동시 </a:t>
                      </a:r>
                      <a:r>
                        <a:rPr lang="en-US" altLang="ko-KR" sz="700" dirty="0">
                          <a:latin typeface="Arial" panose="020B0604020202020204" pitchFamily="34" charset="0"/>
                          <a:cs typeface="Arial" panose="020B0604020202020204" pitchFamily="34" charset="0"/>
                        </a:rPr>
                        <a:t>AIR START UNIT</a:t>
                      </a:r>
                      <a:r>
                        <a:rPr lang="ko-KR" altLang="en-US" sz="700" dirty="0" err="1">
                          <a:latin typeface="Arial" panose="020B0604020202020204" pitchFamily="34" charset="0"/>
                          <a:cs typeface="Arial" panose="020B0604020202020204" pitchFamily="34" charset="0"/>
                        </a:rPr>
                        <a:t>으로</a:t>
                      </a:r>
                      <a:r>
                        <a:rPr lang="ko-KR" altLang="en-US" sz="700" dirty="0">
                          <a:latin typeface="Arial" panose="020B0604020202020204" pitchFamily="34" charset="0"/>
                          <a:cs typeface="Arial" panose="020B0604020202020204" pitchFamily="34" charset="0"/>
                        </a:rPr>
                        <a:t> 시동을 위해 사용</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외부 </a:t>
                      </a:r>
                      <a:r>
                        <a:rPr lang="en-US" altLang="ko-KR" sz="700" dirty="0">
                          <a:latin typeface="Arial" panose="020B0604020202020204" pitchFamily="34" charset="0"/>
                          <a:cs typeface="Arial" panose="020B0604020202020204" pitchFamily="34" charset="0"/>
                        </a:rPr>
                        <a:t>BLEED</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AIR</a:t>
                      </a:r>
                      <a:r>
                        <a:rPr lang="ko-KR" altLang="en-US" sz="700" dirty="0">
                          <a:latin typeface="Arial" panose="020B0604020202020204" pitchFamily="34" charset="0"/>
                          <a:cs typeface="Arial" panose="020B0604020202020204" pitchFamily="34" charset="0"/>
                        </a:rPr>
                        <a:t>의 역할을 함</a:t>
                      </a:r>
                      <a:r>
                        <a:rPr lang="en-US" altLang="ko-KR" sz="700" dirty="0">
                          <a:latin typeface="Arial" panose="020B0604020202020204" pitchFamily="34" charset="0"/>
                          <a:cs typeface="Arial" panose="020B0604020202020204" pitchFamily="34" charset="0"/>
                        </a:rPr>
                        <a:t>.</a:t>
                      </a:r>
                      <a:r>
                        <a:rPr lang="ko-KR" altLang="en-US" sz="700" dirty="0">
                          <a:latin typeface="Arial" panose="020B0604020202020204" pitchFamily="34" charset="0"/>
                          <a:cs typeface="Arial" panose="020B0604020202020204" pitchFamily="34" charset="0"/>
                        </a:rPr>
                        <a:t> </a:t>
                      </a:r>
                      <a:r>
                        <a:rPr lang="en-US" altLang="ko-KR" sz="700" dirty="0">
                          <a:latin typeface="Arial" panose="020B0604020202020204" pitchFamily="34" charset="0"/>
                          <a:cs typeface="Arial" panose="020B0604020202020204" pitchFamily="34" charset="0"/>
                        </a:rPr>
                        <a:t>APU BLEED </a:t>
                      </a:r>
                      <a:r>
                        <a:rPr lang="ko-KR" altLang="en-US" sz="700" dirty="0">
                          <a:latin typeface="Arial" panose="020B0604020202020204" pitchFamily="34" charset="0"/>
                          <a:cs typeface="Arial" panose="020B0604020202020204" pitchFamily="34" charset="0"/>
                        </a:rPr>
                        <a:t>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552556">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bleed air from the APU BLEED and from the HP Air Start Unit at the same time, to prevent any adverse effect on the Bleed Air System.</a:t>
                      </a:r>
                      <a:endParaRPr kumimoji="0" lang="en-US" altLang="ko-Kore-KR" sz="700" b="0"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239193">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kumimoji="0" lang="ko-KR" altLang="en-US"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절차 </a:t>
                      </a:r>
                      <a:r>
                        <a:rPr kumimoji="0" lang="en-US" altLang="ko-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POM, FCOM</a:t>
                      </a:r>
                      <a:r>
                        <a:rPr kumimoji="0" lang="ko-KR" altLang="en-US" sz="800" b="0" i="0" u="none" strike="noStrike" kern="0" cap="none" spc="0" normalizeH="0" baseline="0" noProof="0" dirty="0" err="1">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에</a:t>
                      </a:r>
                      <a:r>
                        <a:rPr kumimoji="0" lang="ko-KR" altLang="en-US"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없음</a:t>
                      </a:r>
                      <a:endParaRPr kumimoji="0" lang="en-US" altLang="ko-Kore-KR" sz="1050" b="1" i="0" u="none" strike="noStrike" kern="0" cap="none" spc="0" normalizeH="0" baseline="0" noProof="0" dirty="0">
                        <a:ln>
                          <a:noFill/>
                        </a:ln>
                        <a:solidFill>
                          <a:srgbClr val="00B05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724847737"/>
                  </a:ext>
                </a:extLst>
              </a:tr>
            </a:tbl>
          </a:graphicData>
        </a:graphic>
      </p:graphicFrame>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1837196046"/>
              </p:ext>
            </p:extLst>
          </p:nvPr>
        </p:nvGraphicFramePr>
        <p:xfrm>
          <a:off x="-12" y="9492"/>
          <a:ext cx="2328875" cy="1881678"/>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759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1000" dirty="0">
                          <a:latin typeface="Arial" panose="020B0604020202020204" pitchFamily="34" charset="0"/>
                          <a:cs typeface="Arial" panose="020B0604020202020204" pitchFamily="34" charset="0"/>
                        </a:rPr>
                        <a:t>PACKS USE WITH LP AIR</a:t>
                      </a:r>
                      <a:r>
                        <a:rPr lang="ko-KR" altLang="en-US" sz="1000"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CONDITION UNIT</a:t>
                      </a:r>
                    </a:p>
                  </a:txBody>
                  <a:tcPr marL="36000" marR="36000" marT="36000" marB="36000"/>
                </a:tc>
                <a:extLst>
                  <a:ext uri="{0D108BD9-81ED-4DB2-BD59-A6C34878D82A}">
                    <a16:rowId xmlns:a16="http://schemas.microsoft.com/office/drawing/2014/main" val="10000"/>
                  </a:ext>
                </a:extLst>
              </a:tr>
              <a:tr h="208962">
                <a:tc>
                  <a:txBody>
                    <a:bodyPr/>
                    <a:lstStyle/>
                    <a:p>
                      <a:pPr marL="0" marR="0" lvl="0" indent="0" algn="l" rtl="0">
                        <a:spcBef>
                          <a:spcPts val="0"/>
                        </a:spcBef>
                        <a:spcAft>
                          <a:spcPts val="0"/>
                        </a:spcAft>
                        <a:buNone/>
                      </a:pPr>
                      <a:r>
                        <a:rPr lang="ko-KR" altLang="en-US" sz="700" dirty="0">
                          <a:latin typeface="Arial" panose="020B0604020202020204" pitchFamily="34" charset="0"/>
                          <a:cs typeface="Arial" panose="020B0604020202020204" pitchFamily="34" charset="0"/>
                        </a:rPr>
                        <a:t>공항 요구로 </a:t>
                      </a:r>
                      <a:r>
                        <a:rPr lang="en-US" altLang="ko-KR" sz="700" dirty="0">
                          <a:latin typeface="Arial" panose="020B0604020202020204" pitchFamily="34" charset="0"/>
                          <a:cs typeface="Arial" panose="020B0604020202020204" pitchFamily="34" charset="0"/>
                        </a:rPr>
                        <a:t>APU OFF</a:t>
                      </a:r>
                      <a:r>
                        <a:rPr lang="ko-KR" altLang="en-US" sz="700" dirty="0">
                          <a:latin typeface="Arial" panose="020B0604020202020204" pitchFamily="34" charset="0"/>
                          <a:cs typeface="Arial" panose="020B0604020202020204" pitchFamily="34" charset="0"/>
                        </a:rPr>
                        <a:t>후 기내 온도 조절을 위한 방법</a:t>
                      </a:r>
                      <a:endParaRPr lang="en-US" altLang="ko-K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latin typeface="Arial" panose="020B0604020202020204" pitchFamily="34" charset="0"/>
                          <a:cs typeface="Arial" panose="020B0604020202020204" pitchFamily="34" charset="0"/>
                        </a:rPr>
                        <a:t>Low Press Unit</a:t>
                      </a:r>
                      <a:r>
                        <a:rPr lang="ko-KR" altLang="en-US" sz="700" dirty="0">
                          <a:latin typeface="Arial" panose="020B0604020202020204" pitchFamily="34" charset="0"/>
                          <a:cs typeface="Arial" panose="020B0604020202020204" pitchFamily="34" charset="0"/>
                        </a:rPr>
                        <a:t>을 연결하며 </a:t>
                      </a:r>
                      <a:r>
                        <a:rPr lang="en-US" altLang="ko-KR" sz="700" dirty="0">
                          <a:latin typeface="Arial" panose="020B0604020202020204" pitchFamily="34" charset="0"/>
                          <a:cs typeface="Arial" panose="020B0604020202020204" pitchFamily="34" charset="0"/>
                        </a:rPr>
                        <a:t>APU</a:t>
                      </a:r>
                      <a:r>
                        <a:rPr lang="ko-KR" altLang="en-US" sz="700" dirty="0">
                          <a:latin typeface="Arial" panose="020B0604020202020204" pitchFamily="34" charset="0"/>
                          <a:cs typeface="Arial" panose="020B0604020202020204" pitchFamily="34" charset="0"/>
                        </a:rPr>
                        <a:t>와 동시사용 금지</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506328">
                <a:tc>
                  <a:txBody>
                    <a:bodyPr/>
                    <a:lstStyle/>
                    <a:p>
                      <a:pPr marL="0" marR="0" lvl="0" indent="0" algn="l" rtl="0">
                        <a:lnSpc>
                          <a:spcPct val="15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The flight crew must not use conditioned air from the packs and from the LP Air Conditioning Unit at the same time, to prevent any adverse effect on the Air Conditioning system.</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255724">
                <a:tc>
                  <a:txBody>
                    <a:bodyPr/>
                    <a:lstStyle/>
                    <a:p>
                      <a:pPr marL="0" marR="0" lvl="0" indent="0" algn="l" defTabSz="914400" rtl="0" eaLnBrk="1" fontAlgn="auto" latinLnBrk="0" hangingPunct="1">
                        <a:lnSpc>
                          <a:spcPct val="150000"/>
                        </a:lnSpc>
                        <a:spcBef>
                          <a:spcPts val="0"/>
                        </a:spcBef>
                        <a:spcAft>
                          <a:spcPts val="0"/>
                        </a:spcAft>
                        <a:buClr>
                          <a:srgbClr val="000000"/>
                        </a:buClr>
                        <a:buSzTx/>
                        <a:buFont typeface="Arial"/>
                        <a:buNone/>
                        <a:tabLst/>
                        <a:defRPr/>
                      </a:pP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절차 </a:t>
                      </a:r>
                      <a:r>
                        <a:rPr lang="en-US" altLang="ko-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POM, FCOM</a:t>
                      </a:r>
                      <a:r>
                        <a:rPr lang="ko-KR" altLang="en-US" sz="800" b="0" i="0" u="none" strike="noStrike" cap="none" dirty="0" err="1">
                          <a:solidFill>
                            <a:schemeClr val="bg1"/>
                          </a:solidFill>
                          <a:latin typeface="Arial" panose="020B0604020202020204" pitchFamily="34" charset="0"/>
                          <a:ea typeface="Helvetica Neue"/>
                          <a:cs typeface="Arial" panose="020B0604020202020204" pitchFamily="34" charset="0"/>
                          <a:sym typeface="Helvetica Neue"/>
                        </a:rPr>
                        <a:t>에</a:t>
                      </a:r>
                      <a:r>
                        <a:rPr lang="ko-KR" altLang="en-US"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rPr>
                        <a:t> 없음</a:t>
                      </a:r>
                      <a:endParaRPr lang="en-US" altLang="ko-Kore-KR" sz="800" b="0" i="0" u="none" strike="noStrike" cap="none" dirty="0">
                        <a:solidFill>
                          <a:schemeClr val="bg1"/>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004037912"/>
                  </a:ext>
                </a:extLst>
              </a:tr>
            </a:tbl>
          </a:graphicData>
        </a:graphic>
      </p:graphicFrame>
      <p:sp>
        <p:nvSpPr>
          <p:cNvPr id="4" name="TextBox 3">
            <a:extLst>
              <a:ext uri="{FF2B5EF4-FFF2-40B4-BE49-F238E27FC236}">
                <a16:creationId xmlns:a16="http://schemas.microsoft.com/office/drawing/2014/main" id="{28409F7C-9A34-07D3-B638-05B5A50E1A63}"/>
              </a:ext>
            </a:extLst>
          </p:cNvPr>
          <p:cNvSpPr txBox="1"/>
          <p:nvPr/>
        </p:nvSpPr>
        <p:spPr>
          <a:xfrm>
            <a:off x="1406773" y="5170979"/>
            <a:ext cx="994183" cy="430887"/>
          </a:xfrm>
          <a:prstGeom prst="rect">
            <a:avLst/>
          </a:prstGeom>
          <a:noFill/>
        </p:spPr>
        <p:txBody>
          <a:bodyPr wrap="none" rtlCol="0">
            <a:spAutoFit/>
          </a:bodyPr>
          <a:lstStyle/>
          <a:p>
            <a:r>
              <a:rPr kumimoji="1" lang="en-US" altLang="ko-Kore-KR" sz="1100" dirty="0">
                <a:solidFill>
                  <a:srgbClr val="C00000"/>
                </a:solidFill>
                <a:latin typeface="+mn-lt"/>
              </a:rPr>
              <a:t>ENG START</a:t>
            </a:r>
          </a:p>
          <a:p>
            <a:r>
              <a:rPr kumimoji="1" lang="en-US" altLang="ko-Kore-KR" sz="1100" dirty="0">
                <a:solidFill>
                  <a:srgbClr val="C00000"/>
                </a:solidFill>
                <a:latin typeface="+mn-lt"/>
              </a:rPr>
              <a:t>Next Page</a:t>
            </a:r>
            <a:endParaRPr kumimoji="1" lang="ko-Kore-KR" altLang="en-US" sz="1100" dirty="0">
              <a:solidFill>
                <a:srgbClr val="C00000"/>
              </a:solidFill>
              <a:latin typeface="+mn-lt"/>
            </a:endParaRPr>
          </a:p>
        </p:txBody>
      </p:sp>
      <p:sp>
        <p:nvSpPr>
          <p:cNvPr id="5" name="직사각형 4">
            <a:hlinkClick r:id="" action="ppaction://hlinkshowjump?jump=firstslide"/>
            <a:extLst>
              <a:ext uri="{FF2B5EF4-FFF2-40B4-BE49-F238E27FC236}">
                <a16:creationId xmlns:a16="http://schemas.microsoft.com/office/drawing/2014/main" id="{DC530451-8D9A-9F43-6651-727AC3D815C1}"/>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27057112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3" name="직사각형 2">
            <a:hlinkClick r:id="" action="ppaction://hlinkshowjump?jump=firstslide"/>
            <a:extLst>
              <a:ext uri="{FF2B5EF4-FFF2-40B4-BE49-F238E27FC236}">
                <a16:creationId xmlns:a16="http://schemas.microsoft.com/office/drawing/2014/main" id="{3C10DF26-E717-6E81-27C6-F6B26E149BB6}"/>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2" name="Google Shape;402;p31">
            <a:extLst>
              <a:ext uri="{FF2B5EF4-FFF2-40B4-BE49-F238E27FC236}">
                <a16:creationId xmlns:a16="http://schemas.microsoft.com/office/drawing/2014/main" id="{EB44648E-001A-8E9D-2B8C-BD5155466247}"/>
              </a:ext>
            </a:extLst>
          </p:cNvPr>
          <p:cNvGraphicFramePr/>
          <p:nvPr>
            <p:extLst>
              <p:ext uri="{D42A27DB-BD31-4B8C-83A1-F6EECF244321}">
                <p14:modId xmlns:p14="http://schemas.microsoft.com/office/powerpoint/2010/main" val="4180813606"/>
              </p:ext>
            </p:extLst>
          </p:nvPr>
        </p:nvGraphicFramePr>
        <p:xfrm>
          <a:off x="0" y="3194"/>
          <a:ext cx="2328875" cy="5536984"/>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19483">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STARTING with AIR START UNIT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308919">
                <a:tc>
                  <a:txBody>
                    <a:bodyPr/>
                    <a:lstStyle/>
                    <a:p>
                      <a:pPr marL="0" marR="0" lvl="0" indent="0" algn="l" rtl="0">
                        <a:spcBef>
                          <a:spcPts val="0"/>
                        </a:spcBef>
                        <a:spcAft>
                          <a:spcPts val="0"/>
                        </a:spcAft>
                        <a:buNone/>
                      </a:pPr>
                      <a:r>
                        <a:rPr lang="ko-KR" altLang="en-US" sz="800" dirty="0">
                          <a:latin typeface="Arial" panose="020B0604020202020204" pitchFamily="34" charset="0"/>
                          <a:ea typeface="+mn-ea"/>
                          <a:cs typeface="Arial" panose="020B0604020202020204" pitchFamily="34" charset="0"/>
                        </a:rPr>
                        <a:t>통상 </a:t>
                      </a:r>
                      <a:r>
                        <a:rPr lang="en-US" altLang="ko-KR" sz="800" dirty="0">
                          <a:latin typeface="Arial" panose="020B0604020202020204" pitchFamily="34" charset="0"/>
                          <a:ea typeface="+mn-ea"/>
                          <a:cs typeface="Arial" panose="020B0604020202020204" pitchFamily="34" charset="0"/>
                        </a:rPr>
                        <a:t>ENG 1</a:t>
                      </a:r>
                      <a:r>
                        <a:rPr lang="ko-KR" altLang="en-US" sz="800" dirty="0">
                          <a:latin typeface="Arial" panose="020B0604020202020204" pitchFamily="34" charset="0"/>
                          <a:ea typeface="+mn-ea"/>
                          <a:cs typeface="Arial" panose="020B0604020202020204" pitchFamily="34" charset="0"/>
                        </a:rPr>
                        <a:t> 먼저 </a:t>
                      </a:r>
                      <a:r>
                        <a:rPr lang="en-US" altLang="ko-KR" sz="800" b="1" dirty="0">
                          <a:solidFill>
                            <a:srgbClr val="0070C0"/>
                          </a:solidFill>
                          <a:latin typeface="Arial" panose="020B0604020202020204" pitchFamily="34" charset="0"/>
                          <a:ea typeface="+mn-ea"/>
                          <a:cs typeface="Arial" panose="020B0604020202020204" pitchFamily="34" charset="0"/>
                        </a:rPr>
                        <a:t>(EXT PWR Start 2 ENG)</a:t>
                      </a:r>
                    </a:p>
                    <a:p>
                      <a:pPr marL="0" marR="0" lvl="0" indent="0" algn="l" rtl="0">
                        <a:spcBef>
                          <a:spcPts val="0"/>
                        </a:spcBef>
                        <a:spcAft>
                          <a:spcPts val="0"/>
                        </a:spcAft>
                        <a:buNone/>
                      </a:pPr>
                      <a:r>
                        <a:rPr lang="en-US" altLang="ko-KR" sz="800" b="1" dirty="0">
                          <a:solidFill>
                            <a:srgbClr val="00B050"/>
                          </a:solidFill>
                          <a:latin typeface="Arial" panose="020B0604020202020204" pitchFamily="34" charset="0"/>
                          <a:cs typeface="Arial" panose="020B0604020202020204" pitchFamily="34" charset="0"/>
                        </a:rPr>
                        <a:t>“Req Engine Start up Present </a:t>
                      </a:r>
                      <a:r>
                        <a:rPr lang="en-US" altLang="ko-KR" sz="800" b="1" dirty="0" err="1">
                          <a:solidFill>
                            <a:srgbClr val="00B050"/>
                          </a:solidFill>
                          <a:latin typeface="Arial" panose="020B0604020202020204" pitchFamily="34" charset="0"/>
                          <a:cs typeface="Arial" panose="020B0604020202020204" pitchFamily="34" charset="0"/>
                        </a:rPr>
                        <a:t>Positon</a:t>
                      </a:r>
                      <a:r>
                        <a:rPr lang="en-US" altLang="ko-KR" sz="800" b="1" dirty="0">
                          <a:solidFill>
                            <a:srgbClr val="00B050"/>
                          </a:solidFill>
                          <a:latin typeface="Arial" panose="020B0604020202020204" pitchFamily="34" charset="0"/>
                          <a:cs typeface="Arial" panose="020B0604020202020204" pitchFamily="34" charset="0"/>
                        </a:rPr>
                        <a:t>~~~”</a:t>
                      </a:r>
                    </a:p>
                  </a:txBody>
                  <a:tcPr marL="36000" marR="36000" marT="36000" marB="36000"/>
                </a:tc>
                <a:extLst>
                  <a:ext uri="{0D108BD9-81ED-4DB2-BD59-A6C34878D82A}">
                    <a16:rowId xmlns:a16="http://schemas.microsoft.com/office/drawing/2014/main" val="10001"/>
                  </a:ext>
                </a:extLst>
              </a:tr>
              <a:tr h="1218188">
                <a:tc>
                  <a:txBody>
                    <a:bodyPr/>
                    <a:lstStyle/>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connecting the air start unit:</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PACK 1</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&amp;</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2</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a:t>
                      </a:r>
                      <a:r>
                        <a:rPr lang="ko-KR" alt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OFF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F/O</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prevent any possible contamination of the packs by the air start unit.</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 </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 OPEN F/O</a:t>
                      </a:r>
                    </a:p>
                    <a:p>
                      <a:pPr marL="0" marR="0" lvl="0" indent="0" algn="l" rtl="0">
                        <a:lnSpc>
                          <a:spcPct val="100000"/>
                        </a:lnSpc>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AIR START UNIT CONNECT ... REQ CAP</a:t>
                      </a:r>
                    </a:p>
                    <a:p>
                      <a:pPr marL="0" marR="0" lvl="0" indent="0" algn="l" rtl="0">
                        <a:lnSpc>
                          <a:spcPct val="100000"/>
                        </a:lnSpc>
                        <a:spcBef>
                          <a:spcPts val="0"/>
                        </a:spcBef>
                        <a:spcAft>
                          <a:spcPts val="0"/>
                        </a:spcAft>
                        <a:buNone/>
                      </a:pPr>
                      <a:r>
                        <a:rPr lang="en-US" sz="600" b="1" dirty="0">
                          <a:solidFill>
                            <a:schemeClr val="bg1"/>
                          </a:solidFill>
                          <a:latin typeface="Arial" panose="020B0604020202020204" pitchFamily="34" charset="0"/>
                          <a:ea typeface="Helvetica Neue"/>
                          <a:cs typeface="Arial" panose="020B0604020202020204" pitchFamily="34" charset="0"/>
                          <a:sym typeface="Helvetica Neue"/>
                        </a:rPr>
                        <a:t>Two ground air start units may be used in parallel if the pressure/flow relation is expected to be marginal.</a:t>
                      </a:r>
                    </a:p>
                  </a:txBody>
                  <a:tcPr marL="36000" marR="36000" marT="36000" marB="36000"/>
                </a:tc>
                <a:extLst>
                  <a:ext uri="{0D108BD9-81ED-4DB2-BD59-A6C34878D82A}">
                    <a16:rowId xmlns:a16="http://schemas.microsoft.com/office/drawing/2014/main" val="10003"/>
                  </a:ext>
                </a:extLst>
              </a:tr>
              <a:tr h="949879">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cleared to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The </a:t>
                      </a:r>
                      <a:r>
                        <a:rPr kumimoji="0" lang="en-US" altLang="ko-Kore-KR" sz="600" b="1" i="0" u="none" strike="noStrike" kern="120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AIR ABNORM BLEED CONFIG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alert is triggered after the first engine start. It can be disregarded.</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 START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As necessary, engine 2 can be started first.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In this case, check the brake ACCU pressure prior to engine start.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The minimum recommended starter air supply pressure is 25 PSI when the start valve is open.</a:t>
                      </a:r>
                    </a:p>
                  </a:txBody>
                  <a:tcPr marL="36000" marR="36000" marT="36000" marB="36000"/>
                </a:tc>
                <a:extLst>
                  <a:ext uri="{0D108BD9-81ED-4DB2-BD59-A6C34878D82A}">
                    <a16:rowId xmlns:a16="http://schemas.microsoft.com/office/drawing/2014/main" val="2955124980"/>
                  </a:ext>
                </a:extLst>
              </a:tr>
              <a:tr h="1069128">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After engine 1 is started:</a:t>
                      </a:r>
                    </a:p>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air start unit is used to start engine 2:</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2 .............................. START CAP</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When engine 2 is started:</a:t>
                      </a:r>
                      <a:endPar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DISC . . . . REQ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X BLEED ............................ AUTO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endParaRPr kumimoji="0" lang="en-US" altLang="ko-Kore-KR" sz="5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3396707165"/>
                  </a:ext>
                </a:extLst>
              </a:tr>
              <a:tr h="815725">
                <a:tc>
                  <a:txBody>
                    <a:bodyPr/>
                    <a:lstStyle/>
                    <a:p>
                      <a:pPr marL="116449" marR="0" lvl="1"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If the </a:t>
                      </a:r>
                      <a:r>
                        <a:rPr kumimoji="0" lang="en-US" altLang="ko-Kore-KR" sz="700" b="1" i="0" u="none" strike="noStrike" kern="1200" cap="none" spc="0" normalizeH="0" baseline="0" noProof="0" dirty="0" err="1">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crossbleed</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engine start procedure is used to start engine 2: </a:t>
                      </a:r>
                      <a:endParaRPr kumimoji="0" lang="en-US" altLang="ko-Kore-KR" sz="5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endParaRP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AIR START UNIT DISC ....... REQ CAP</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ENG 1 BLEED </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PACK 1 &amp; 2 ............................. ON F/O</a:t>
                      </a:r>
                    </a:p>
                    <a:p>
                      <a:pPr marL="232898" marR="0" lvl="2"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CRSBLD ENG START PROC.APPLY</a:t>
                      </a:r>
                    </a:p>
                  </a:txBody>
                  <a:tcPr marL="36000" marR="36000" marT="36000" marB="36000"/>
                </a:tc>
                <a:extLst>
                  <a:ext uri="{0D108BD9-81ED-4DB2-BD59-A6C34878D82A}">
                    <a16:rowId xmlns:a16="http://schemas.microsoft.com/office/drawing/2014/main" val="1371695389"/>
                  </a:ext>
                </a:extLst>
              </a:tr>
              <a:tr h="853024">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 CHK AVAIL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EXT PWR DISCONNECT ........ REQ CAP</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6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FCOM </a:t>
                      </a:r>
                      <a:r>
                        <a:rPr kumimoji="0" lang="en-US" altLang="ko-Kore-KR" sz="6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6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In order to ensure that the entire network remains electrically supplied, it is recommended to start both engines before the disconnection of the external electrical power.</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NOR PROC - AFTER START .......RESUME </a:t>
                      </a:r>
                    </a:p>
                  </a:txBody>
                  <a:tcPr marL="36000" marR="36000" marT="36000" marB="36000"/>
                </a:tc>
                <a:extLst>
                  <a:ext uri="{0D108BD9-81ED-4DB2-BD59-A6C34878D82A}">
                    <a16:rowId xmlns:a16="http://schemas.microsoft.com/office/drawing/2014/main" val="2133151072"/>
                  </a:ext>
                </a:extLst>
              </a:tr>
            </a:tbl>
          </a:graphicData>
        </a:graphic>
      </p:graphicFrame>
      <p:sp>
        <p:nvSpPr>
          <p:cNvPr id="4" name="직사각형 3">
            <a:hlinkClick r:id="" action="ppaction://hlinkshowjump?jump=firstslide"/>
            <a:extLst>
              <a:ext uri="{FF2B5EF4-FFF2-40B4-BE49-F238E27FC236}">
                <a16:creationId xmlns:a16="http://schemas.microsoft.com/office/drawing/2014/main" id="{BB76D5AE-CD28-3420-C695-F55BDCA4C923}"/>
              </a:ext>
            </a:extLst>
          </p:cNvPr>
          <p:cNvSpPr/>
          <p:nvPr/>
        </p:nvSpPr>
        <p:spPr>
          <a:xfrm>
            <a:off x="1596587" y="2596430"/>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71616780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F59BC2A-DE73-E830-B7D9-1BA53BB021E9}"/>
              </a:ext>
            </a:extLst>
          </p:cNvPr>
          <p:cNvSpPr>
            <a:spLocks noGrp="1"/>
          </p:cNvSpPr>
          <p:nvPr>
            <p:ph type="title"/>
          </p:nvPr>
        </p:nvSpPr>
        <p:spPr/>
        <p:txBody>
          <a:bodyPr/>
          <a:lstStyle/>
          <a:p>
            <a:endParaRPr kumimoji="1" lang="ko-Kore-KR" altLang="en-US"/>
          </a:p>
        </p:txBody>
      </p:sp>
      <p:sp>
        <p:nvSpPr>
          <p:cNvPr id="3" name="내용 개체 틀 2">
            <a:extLst>
              <a:ext uri="{FF2B5EF4-FFF2-40B4-BE49-F238E27FC236}">
                <a16:creationId xmlns:a16="http://schemas.microsoft.com/office/drawing/2014/main" id="{889FC6FC-B6E2-F3AD-7113-77656A296E92}"/>
              </a:ext>
            </a:extLst>
          </p:cNvPr>
          <p:cNvSpPr>
            <a:spLocks noGrp="1"/>
          </p:cNvSpPr>
          <p:nvPr>
            <p:ph idx="1"/>
          </p:nvPr>
        </p:nvSpPr>
        <p:spPr/>
        <p:txBody>
          <a:bodyPr/>
          <a:lstStyle/>
          <a:p>
            <a:endParaRPr kumimoji="1" lang="ko-Kore-KR" altLang="en-US"/>
          </a:p>
        </p:txBody>
      </p:sp>
      <p:graphicFrame>
        <p:nvGraphicFramePr>
          <p:cNvPr id="4" name="Google Shape;402;p31">
            <a:extLst>
              <a:ext uri="{FF2B5EF4-FFF2-40B4-BE49-F238E27FC236}">
                <a16:creationId xmlns:a16="http://schemas.microsoft.com/office/drawing/2014/main" id="{EB24B94C-B974-2D89-F60E-0B9B51FD523E}"/>
              </a:ext>
            </a:extLst>
          </p:cNvPr>
          <p:cNvGraphicFramePr/>
          <p:nvPr>
            <p:extLst>
              <p:ext uri="{D42A27DB-BD31-4B8C-83A1-F6EECF244321}">
                <p14:modId xmlns:p14="http://schemas.microsoft.com/office/powerpoint/2010/main" val="2679774961"/>
              </p:ext>
            </p:extLst>
          </p:nvPr>
        </p:nvGraphicFramePr>
        <p:xfrm>
          <a:off x="0" y="2"/>
          <a:ext cx="2328875" cy="4731915"/>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61375">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ENG CROSSBLEED START</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225872">
                <a:tc>
                  <a:txBody>
                    <a:bodyPr/>
                    <a:lstStyle/>
                    <a:p>
                      <a:pPr marL="0" marR="0" lvl="0" indent="0" algn="l" rtl="0">
                        <a:spcBef>
                          <a:spcPts val="0"/>
                        </a:spcBef>
                        <a:spcAft>
                          <a:spcPts val="0"/>
                        </a:spcAft>
                        <a:buNone/>
                      </a:pPr>
                      <a:r>
                        <a:rPr lang="en-US" sz="800" dirty="0">
                          <a:latin typeface="Arial" panose="020B0604020202020204" pitchFamily="34" charset="0"/>
                          <a:cs typeface="Arial" panose="020B0604020202020204" pitchFamily="34" charset="0"/>
                        </a:rPr>
                        <a:t>#1 ENGBLEED </a:t>
                      </a:r>
                      <a:r>
                        <a:rPr lang="ko-KR" altLang="en-US" sz="800" dirty="0">
                          <a:latin typeface="Arial" panose="020B0604020202020204" pitchFamily="34" charset="0"/>
                          <a:cs typeface="Arial" panose="020B0604020202020204" pitchFamily="34" charset="0"/>
                        </a:rPr>
                        <a:t>로 </a:t>
                      </a:r>
                      <a:r>
                        <a:rPr lang="en-US" altLang="ko-KR" sz="800" dirty="0">
                          <a:latin typeface="Arial" panose="020B0604020202020204" pitchFamily="34" charset="0"/>
                          <a:cs typeface="Arial" panose="020B0604020202020204" pitchFamily="34" charset="0"/>
                        </a:rPr>
                        <a:t>#2</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ENG START,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EXT</a:t>
                      </a:r>
                      <a:r>
                        <a:rPr lang="ko-KR" altLang="en-US" sz="800" dirty="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PWR</a:t>
                      </a:r>
                      <a:r>
                        <a:rPr lang="ko-KR" altLang="en-US" sz="800" dirty="0">
                          <a:latin typeface="Arial" panose="020B0604020202020204" pitchFamily="34" charset="0"/>
                          <a:cs typeface="Arial" panose="020B0604020202020204" pitchFamily="34" charset="0"/>
                        </a:rPr>
                        <a:t> 필요</a:t>
                      </a:r>
                      <a:endParaRPr sz="8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663412">
                <a:tc>
                  <a:txBody>
                    <a:bodyPr/>
                    <a:lstStyle/>
                    <a:p>
                      <a:pPr marL="0" marR="0" lvl="0" indent="0" algn="l" rtl="0">
                        <a:lnSpc>
                          <a:spcPct val="100000"/>
                        </a:lnSpc>
                        <a:spcBef>
                          <a:spcPts val="0"/>
                        </a:spcBef>
                        <a:spcAft>
                          <a:spcPts val="0"/>
                        </a:spcAft>
                        <a:buNone/>
                      </a:pPr>
                      <a:r>
                        <a:rPr lang="en-US" sz="800" b="1" dirty="0" err="1">
                          <a:solidFill>
                            <a:srgbClr val="C00000"/>
                          </a:solidFill>
                          <a:latin typeface="Arial" panose="020B0604020202020204" pitchFamily="34" charset="0"/>
                          <a:ea typeface="Helvetica Neue"/>
                          <a:cs typeface="Arial" panose="020B0604020202020204" pitchFamily="34" charset="0"/>
                          <a:sym typeface="Helvetica Neue"/>
                        </a:rPr>
                        <a:t>PushBack</a:t>
                      </a:r>
                      <a:r>
                        <a:rPr 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완료</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(Parking Brake set),</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en-US" altLang="ko-KR" sz="800" b="1" dirty="0" err="1">
                          <a:solidFill>
                            <a:srgbClr val="C00000"/>
                          </a:solidFill>
                          <a:latin typeface="Arial" panose="020B0604020202020204" pitchFamily="34" charset="0"/>
                          <a:ea typeface="Helvetica Neue"/>
                          <a:cs typeface="Arial" panose="020B0604020202020204" pitchFamily="34" charset="0"/>
                          <a:sym typeface="Helvetica Neue"/>
                        </a:rPr>
                        <a:t>Suppy</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 </a:t>
                      </a:r>
                      <a:r>
                        <a:rPr lang="en-US" altLang="ko-KR" sz="800" b="1" dirty="0" err="1">
                          <a:solidFill>
                            <a:srgbClr val="C00000"/>
                          </a:solidFill>
                          <a:latin typeface="Arial" panose="020B0604020202020204" pitchFamily="34" charset="0"/>
                          <a:ea typeface="Helvetica Neue"/>
                          <a:cs typeface="Arial" panose="020B0604020202020204" pitchFamily="34" charset="0"/>
                          <a:sym typeface="Helvetica Neue"/>
                        </a:rPr>
                        <a:t>eng</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 Area CLR</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One engine must be running in order to supply air for other engine start.</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 Before second engine start :</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 of the supplying engine reopens and the cross bleed</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valve closes.</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BLEED (supply engine) .</a:t>
                      </a:r>
                      <a:r>
                        <a:rPr lang="en-US" altLang="ko-Kore-KR" sz="900" b="1" i="0" kern="1200"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BLEED (receive engine) ..... OFF F/O</a:t>
                      </a: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ea typeface="Helvetica Neue"/>
                          <a:cs typeface="Arial" panose="020B0604020202020204" pitchFamily="34" charset="0"/>
                          <a:sym typeface="Helvetica Neue"/>
                        </a:rPr>
                        <a:t>The bleed valves of receiving engines are closed to avoid reverse flow leakage.</a:t>
                      </a:r>
                      <a:endParaRPr lang="en-US" sz="9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X BLEED..................................... OPEN F/O</a:t>
                      </a:r>
                    </a:p>
                  </a:txBody>
                  <a:tcPr marL="36000" marR="36000" marT="36000" marB="36000"/>
                </a:tc>
                <a:extLst>
                  <a:ext uri="{0D108BD9-81ED-4DB2-BD59-A6C34878D82A}">
                    <a16:rowId xmlns:a16="http://schemas.microsoft.com/office/drawing/2014/main" val="10003"/>
                  </a:ext>
                </a:extLst>
              </a:tr>
              <a:tr h="1626376">
                <a:tc>
                  <a:txBody>
                    <a:bodyPr/>
                    <a:lstStyle/>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When cleared to start :</a:t>
                      </a:r>
                      <a:endParaRPr lang="en-US" sz="1050" b="1" dirty="0">
                        <a:solidFill>
                          <a:srgbClr val="00B05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chemeClr val="bg1"/>
                          </a:solidFill>
                          <a:latin typeface="Arial" panose="020B0604020202020204" pitchFamily="34" charset="0"/>
                          <a:cs typeface="Arial" panose="020B0604020202020204" pitchFamily="34" charset="0"/>
                        </a:rPr>
                        <a:t>AREA CLEAR OF OBS ........... CONF CAP</a:t>
                      </a:r>
                      <a:endParaRPr lang="en-US" sz="1000" b="1" dirty="0">
                        <a:solidFill>
                          <a:srgbClr val="00B050"/>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Ensure increased power jet wake does not constitute any hazard to people or installations behind the aircraft.</a:t>
                      </a:r>
                    </a:p>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solidFill>
                            <a:srgbClr val="0070C0"/>
                          </a:solidFill>
                          <a:latin typeface="Arial" panose="020B0604020202020204" pitchFamily="34" charset="0"/>
                          <a:cs typeface="Arial" panose="020B0604020202020204" pitchFamily="34" charset="0"/>
                        </a:rPr>
                        <a:t>THR LVR (sup </a:t>
                      </a:r>
                      <a:r>
                        <a:rPr lang="en-US" sz="900" b="1" dirty="0" err="1">
                          <a:solidFill>
                            <a:srgbClr val="0070C0"/>
                          </a:solidFill>
                          <a:latin typeface="Arial" panose="020B0604020202020204" pitchFamily="34" charset="0"/>
                          <a:cs typeface="Arial" panose="020B0604020202020204" pitchFamily="34" charset="0"/>
                        </a:rPr>
                        <a:t>eng</a:t>
                      </a:r>
                      <a:r>
                        <a:rPr lang="en-US" sz="900" b="1" dirty="0">
                          <a:solidFill>
                            <a:srgbClr val="0070C0"/>
                          </a:solidFill>
                          <a:latin typeface="Arial" panose="020B0604020202020204" pitchFamily="34" charset="0"/>
                          <a:cs typeface="Arial" panose="020B0604020202020204" pitchFamily="34" charset="0"/>
                        </a:rPr>
                        <a:t>) .</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cs typeface="Arial" panose="020B0604020202020204" pitchFamily="34" charset="0"/>
                        </a:rPr>
                        <a:t> </a:t>
                      </a:r>
                      <a:r>
                        <a:rPr lang="en-US" sz="900" b="1" dirty="0">
                          <a:solidFill>
                            <a:srgbClr val="0070C0"/>
                          </a:solidFill>
                          <a:latin typeface="Arial" panose="020B0604020202020204" pitchFamily="34" charset="0"/>
                          <a:cs typeface="Arial" panose="020B0604020202020204" pitchFamily="34" charset="0"/>
                        </a:rPr>
                        <a:t>ADJ BLD PRES CAP</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Adjust thrust of supplying engine to obtain an engine bleed pressure of </a:t>
                      </a:r>
                      <a:r>
                        <a:rPr lang="en-US" sz="700" b="1" dirty="0">
                          <a:solidFill>
                            <a:srgbClr val="00B050"/>
                          </a:solidFill>
                          <a:latin typeface="Arial" panose="020B0604020202020204" pitchFamily="34" charset="0"/>
                          <a:cs typeface="Arial" panose="020B0604020202020204" pitchFamily="34" charset="0"/>
                        </a:rPr>
                        <a:t>30 PSI. </a:t>
                      </a:r>
                      <a:r>
                        <a:rPr lang="en-US" sz="700" b="1" dirty="0">
                          <a:solidFill>
                            <a:schemeClr val="bg1"/>
                          </a:solidFill>
                          <a:latin typeface="Arial" panose="020B0604020202020204" pitchFamily="34" charset="0"/>
                          <a:cs typeface="Arial" panose="020B0604020202020204" pitchFamily="34" charset="0"/>
                        </a:rPr>
                        <a:t>If the thrust required to obtain the appropriate engine bleed pressure exceeds </a:t>
                      </a:r>
                      <a:r>
                        <a:rPr lang="en-US" sz="700" b="1" dirty="0">
                          <a:solidFill>
                            <a:srgbClr val="C00000"/>
                          </a:solidFill>
                          <a:latin typeface="Arial" panose="020B0604020202020204" pitchFamily="34" charset="0"/>
                          <a:cs typeface="Arial" panose="020B0604020202020204" pitchFamily="34" charset="0"/>
                        </a:rPr>
                        <a:t>40 % N1</a:t>
                      </a:r>
                      <a:r>
                        <a:rPr lang="en-US" sz="700" b="1" dirty="0">
                          <a:solidFill>
                            <a:schemeClr val="bg1"/>
                          </a:solidFill>
                          <a:latin typeface="Arial" panose="020B0604020202020204" pitchFamily="34" charset="0"/>
                          <a:cs typeface="Arial" panose="020B0604020202020204" pitchFamily="34" charset="0"/>
                        </a:rPr>
                        <a:t>, pay particular attention to the surrounding area.</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RECEIVING ENGINE .............. START ALL</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700" b="1" dirty="0">
                          <a:solidFill>
                            <a:schemeClr val="bg1"/>
                          </a:solidFill>
                          <a:latin typeface="Arial" panose="020B0604020202020204" pitchFamily="34" charset="0"/>
                          <a:cs typeface="Arial" panose="020B0604020202020204" pitchFamily="34" charset="0"/>
                        </a:rPr>
                        <a:t>Apply the normal engine start procedure.</a:t>
                      </a:r>
                      <a:endParaRPr sz="7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141454693"/>
                  </a:ext>
                </a:extLst>
              </a:tr>
              <a:tr h="864912">
                <a:tc>
                  <a:txBody>
                    <a:bodyPr/>
                    <a:lstStyle/>
                    <a:p>
                      <a:pPr marL="0" marR="0" lvl="0" indent="0" algn="l" rtl="0">
                        <a:lnSpc>
                          <a:spcPct val="100000"/>
                        </a:lnSpc>
                        <a:spcBef>
                          <a:spcPts val="0"/>
                        </a:spcBef>
                        <a:spcAft>
                          <a:spcPts val="0"/>
                        </a:spcAft>
                        <a:buNone/>
                      </a:pPr>
                      <a:r>
                        <a:rPr lang="en-US" sz="800" b="1" dirty="0">
                          <a:solidFill>
                            <a:schemeClr val="bg1"/>
                          </a:solidFill>
                          <a:latin typeface="Arial" panose="020B0604020202020204" pitchFamily="34" charset="0"/>
                          <a:cs typeface="Arial" panose="020B0604020202020204" pitchFamily="34" charset="0"/>
                        </a:rPr>
                        <a:t>● After start :</a:t>
                      </a:r>
                      <a:endParaRPr lang="en-US" sz="700" b="1" dirty="0">
                        <a:solidFill>
                          <a:schemeClr val="bg1"/>
                        </a:solidFill>
                        <a:latin typeface="Arial" panose="020B0604020202020204" pitchFamily="34" charset="0"/>
                        <a:cs typeface="Arial" panose="020B0604020202020204" pitchFamily="34" charset="0"/>
                      </a:endParaRP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THR LVR (supply engine) ......... IDLE CAP</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X BLEED.................................... AUTO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ENG BLEED (receive engine) ...... ON F/O</a:t>
                      </a:r>
                    </a:p>
                    <a:p>
                      <a:pPr marL="0" marR="0" lvl="0" indent="0" algn="l" rtl="0">
                        <a:lnSpc>
                          <a:spcPct val="100000"/>
                        </a:lnSpc>
                        <a:spcBef>
                          <a:spcPts val="0"/>
                        </a:spcBef>
                        <a:spcAft>
                          <a:spcPts val="0"/>
                        </a:spcAft>
                        <a:buNone/>
                      </a:pPr>
                      <a:r>
                        <a:rPr lang="en-US" sz="900" b="1" dirty="0">
                          <a:solidFill>
                            <a:srgbClr val="0070C0"/>
                          </a:solidFill>
                          <a:latin typeface="Arial" panose="020B0604020202020204" pitchFamily="34" charset="0"/>
                          <a:cs typeface="Arial" panose="020B0604020202020204" pitchFamily="34" charset="0"/>
                        </a:rPr>
                        <a:t>PACK 1 &amp;2 .................................... ON F/O</a:t>
                      </a:r>
                    </a:p>
                  </a:txBody>
                  <a:tcPr marL="36000" marR="36000" marT="36000" marB="36000"/>
                </a:tc>
                <a:extLst>
                  <a:ext uri="{0D108BD9-81ED-4DB2-BD59-A6C34878D82A}">
                    <a16:rowId xmlns:a16="http://schemas.microsoft.com/office/drawing/2014/main" val="87037673"/>
                  </a:ext>
                </a:extLst>
              </a:tr>
            </a:tbl>
          </a:graphicData>
        </a:graphic>
      </p:graphicFrame>
      <p:sp>
        <p:nvSpPr>
          <p:cNvPr id="5" name="직사각형 4">
            <a:hlinkClick r:id="" action="ppaction://hlinkshowjump?jump=firstslide"/>
            <a:extLst>
              <a:ext uri="{FF2B5EF4-FFF2-40B4-BE49-F238E27FC236}">
                <a16:creationId xmlns:a16="http://schemas.microsoft.com/office/drawing/2014/main" id="{B6B09F70-0B7B-1517-1722-DAFC7774627F}"/>
              </a:ext>
            </a:extLst>
          </p:cNvPr>
          <p:cNvSpPr/>
          <p:nvPr/>
        </p:nvSpPr>
        <p:spPr>
          <a:xfrm>
            <a:off x="842165" y="518606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58269834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2732521415"/>
              </p:ext>
            </p:extLst>
          </p:nvPr>
        </p:nvGraphicFramePr>
        <p:xfrm>
          <a:off x="7" y="1099855"/>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173">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200-800ft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600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700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800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40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80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50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90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graphicFrame>
        <p:nvGraphicFramePr>
          <p:cNvPr id="381" name="Google Shape;381;p28"/>
          <p:cNvGraphicFramePr/>
          <p:nvPr>
            <p:extLst>
              <p:ext uri="{D42A27DB-BD31-4B8C-83A1-F6EECF244321}">
                <p14:modId xmlns:p14="http://schemas.microsoft.com/office/powerpoint/2010/main" val="2425467214"/>
              </p:ext>
            </p:extLst>
          </p:nvPr>
        </p:nvGraphicFramePr>
        <p:xfrm>
          <a:off x="7" y="0"/>
          <a:ext cx="2328850" cy="106683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solidFill>
                            <a:srgbClr val="FFC000"/>
                          </a:solidFill>
                        </a:rPr>
                        <a:t>COLD TEMP CORRECTION General</a:t>
                      </a:r>
                    </a:p>
                    <a:p>
                      <a:pPr marL="0" marR="0" lvl="0" indent="0" algn="l" rtl="0">
                        <a:spcBef>
                          <a:spcPts val="0"/>
                        </a:spcBef>
                        <a:spcAft>
                          <a:spcPts val="0"/>
                        </a:spcAft>
                        <a:buNone/>
                      </a:pPr>
                      <a:r>
                        <a:rPr lang="en-US" altLang="ko-KR" sz="700" b="0" dirty="0">
                          <a:solidFill>
                            <a:schemeClr val="bg1"/>
                          </a:solidFill>
                        </a:rPr>
                        <a:t>5</a:t>
                      </a:r>
                      <a:r>
                        <a:rPr lang="ko-KR" altLang="en-US" sz="700" b="0" dirty="0">
                          <a:solidFill>
                            <a:schemeClr val="bg1"/>
                          </a:solidFill>
                        </a:rPr>
                        <a:t>도 간격은 보수적으로 </a:t>
                      </a:r>
                      <a:r>
                        <a:rPr lang="ko-KR" altLang="en-US" sz="700" b="0" dirty="0" err="1">
                          <a:solidFill>
                            <a:schemeClr val="bg1"/>
                          </a:solidFill>
                        </a:rPr>
                        <a:t>보간법</a:t>
                      </a:r>
                      <a:r>
                        <a:rPr lang="ko-KR" altLang="en-US" sz="700" b="0" dirty="0">
                          <a:solidFill>
                            <a:schemeClr val="bg1"/>
                          </a:solidFill>
                        </a:rPr>
                        <a:t> 적용됨</a:t>
                      </a:r>
                      <a:endParaRPr sz="700" b="0" dirty="0">
                        <a:solidFill>
                          <a:schemeClr val="bg1"/>
                        </a:solidFill>
                      </a:endParaRPr>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b="1" dirty="0">
                          <a:solidFill>
                            <a:srgbClr val="00B050"/>
                          </a:solidFill>
                        </a:rPr>
                        <a:t>Min</a:t>
                      </a:r>
                      <a:r>
                        <a:rPr lang="en-US" sz="700" dirty="0"/>
                        <a:t> </a:t>
                      </a:r>
                      <a:r>
                        <a:rPr lang="ko-KR" altLang="en-US" sz="700" dirty="0"/>
                        <a:t>제외한 모든 고도 수정은 </a:t>
                      </a:r>
                      <a:r>
                        <a:rPr lang="en-US" altLang="ko-KR" sz="700" dirty="0"/>
                        <a:t>ATC </a:t>
                      </a:r>
                      <a:r>
                        <a:rPr lang="ko-KR" altLang="en-US" sz="700" dirty="0"/>
                        <a:t>인가 필요</a:t>
                      </a:r>
                      <a:endParaRPr dirty="0"/>
                    </a:p>
                    <a:p>
                      <a:pPr marL="0" marR="0" lvl="0" indent="0" algn="l" rtl="0">
                        <a:spcBef>
                          <a:spcPts val="0"/>
                        </a:spcBef>
                        <a:spcAft>
                          <a:spcPts val="0"/>
                        </a:spcAft>
                        <a:buNone/>
                      </a:pPr>
                      <a:r>
                        <a:rPr lang="en-US" sz="700" b="1" dirty="0">
                          <a:solidFill>
                            <a:srgbClr val="C00000"/>
                          </a:solidFill>
                        </a:rPr>
                        <a:t>Mandatory</a:t>
                      </a:r>
                      <a:r>
                        <a:rPr lang="en-US" altLang="ko-KR" sz="700" b="1" dirty="0">
                          <a:solidFill>
                            <a:srgbClr val="C00000"/>
                          </a:solidFill>
                        </a:rPr>
                        <a:t>,</a:t>
                      </a:r>
                      <a:r>
                        <a:rPr lang="ko-KR" altLang="en-US" sz="700" b="1" dirty="0">
                          <a:solidFill>
                            <a:srgbClr val="C00000"/>
                          </a:solidFill>
                        </a:rPr>
                        <a:t> </a:t>
                      </a:r>
                      <a:r>
                        <a:rPr lang="en-US" sz="700" b="1" dirty="0">
                          <a:solidFill>
                            <a:srgbClr val="C00000"/>
                          </a:solidFill>
                        </a:rPr>
                        <a:t>Missed App </a:t>
                      </a:r>
                      <a:r>
                        <a:rPr lang="en-US" sz="700" b="1" dirty="0" err="1">
                          <a:solidFill>
                            <a:srgbClr val="C00000"/>
                          </a:solidFill>
                        </a:rPr>
                        <a:t>고도</a:t>
                      </a:r>
                      <a:r>
                        <a:rPr lang="ko-KR" altLang="en-US" sz="700" b="1" dirty="0">
                          <a:solidFill>
                            <a:srgbClr val="C00000"/>
                          </a:solidFill>
                        </a:rPr>
                        <a:t> </a:t>
                      </a:r>
                      <a:r>
                        <a:rPr lang="en-US" altLang="ko-KR" sz="700" dirty="0"/>
                        <a:t>ATC </a:t>
                      </a:r>
                      <a:r>
                        <a:rPr lang="ko-KR" altLang="en-US" sz="700" dirty="0"/>
                        <a:t>사전 인가 없이 금지</a:t>
                      </a:r>
                      <a:endParaRPr sz="700" dirty="0"/>
                    </a:p>
                  </a:txBody>
                  <a:tcPr marL="91450" marR="91450" marT="45725" marB="45725"/>
                </a:tc>
                <a:extLst>
                  <a:ext uri="{0D108BD9-81ED-4DB2-BD59-A6C34878D82A}">
                    <a16:rowId xmlns:a16="http://schemas.microsoft.com/office/drawing/2014/main" val="10001"/>
                  </a:ext>
                </a:extLst>
              </a:tr>
              <a:tr h="248975">
                <a:tc>
                  <a:txBody>
                    <a:bodyPr/>
                    <a:lstStyle/>
                    <a:p>
                      <a:pPr marL="0" marR="0" lvl="0" indent="0" algn="l" rtl="0">
                        <a:spcBef>
                          <a:spcPts val="0"/>
                        </a:spcBef>
                        <a:spcAft>
                          <a:spcPts val="0"/>
                        </a:spcAft>
                        <a:buNone/>
                      </a:pPr>
                      <a:r>
                        <a:rPr lang="ko-KR" altLang="en-US" sz="700" b="1" dirty="0">
                          <a:solidFill>
                            <a:srgbClr val="0070C0"/>
                          </a:solidFill>
                        </a:rPr>
                        <a:t>반드시 고도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FE </a:t>
                      </a:r>
                      <a:r>
                        <a:rPr lang="ko-KR" altLang="en-US" sz="700" b="1" dirty="0">
                          <a:solidFill>
                            <a:srgbClr val="0070C0"/>
                          </a:solidFill>
                        </a:rPr>
                        <a:t>후의 고도를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lang="en-US" altLang="ko-KR" sz="700" b="1" dirty="0">
                        <a:solidFill>
                          <a:srgbClr val="0070C0"/>
                        </a:solidFill>
                      </a:endParaRPr>
                    </a:p>
                    <a:p>
                      <a:pPr marL="0" marR="0" lvl="0" indent="0" algn="l" rtl="0">
                        <a:spcBef>
                          <a:spcPts val="0"/>
                        </a:spcBef>
                        <a:spcAft>
                          <a:spcPts val="0"/>
                        </a:spcAft>
                        <a:buNone/>
                      </a:pPr>
                      <a:endParaRPr lang="en-US" altLang="ko-KR" sz="700" b="1" dirty="0">
                        <a:solidFill>
                          <a:srgbClr val="0070C0"/>
                        </a:solidFill>
                      </a:endParaRPr>
                    </a:p>
                    <a:p>
                      <a:pPr marL="0" marR="0" lvl="0" indent="0" algn="l" rtl="0">
                        <a:spcBef>
                          <a:spcPts val="0"/>
                        </a:spcBef>
                        <a:spcAft>
                          <a:spcPts val="0"/>
                        </a:spcAft>
                        <a:buNone/>
                      </a:pPr>
                      <a:r>
                        <a:rPr lang="en-US" sz="700" b="1" dirty="0">
                          <a:solidFill>
                            <a:srgbClr val="0070C0"/>
                          </a:solidFill>
                        </a:rPr>
                        <a:t>Ex) FE 200</a:t>
                      </a:r>
                      <a:r>
                        <a:rPr lang="en-US" altLang="ko-KR" sz="700" b="1" dirty="0">
                          <a:solidFill>
                            <a:srgbClr val="0070C0"/>
                          </a:solidFill>
                        </a:rPr>
                        <a:t>ft </a:t>
                      </a:r>
                      <a:r>
                        <a:rPr lang="ko-KR" altLang="en-US" sz="700" b="1" dirty="0">
                          <a:solidFill>
                            <a:srgbClr val="0070C0"/>
                          </a:solidFill>
                        </a:rPr>
                        <a:t>공항 </a:t>
                      </a:r>
                      <a:r>
                        <a:rPr lang="en-US" altLang="ko-KR" sz="700" b="1" dirty="0">
                          <a:solidFill>
                            <a:srgbClr val="0070C0"/>
                          </a:solidFill>
                        </a:rPr>
                        <a:t>:</a:t>
                      </a:r>
                      <a:r>
                        <a:rPr lang="ko-KR" altLang="en-US" sz="700" b="1" dirty="0">
                          <a:solidFill>
                            <a:srgbClr val="0070C0"/>
                          </a:solidFill>
                        </a:rPr>
                        <a:t> </a:t>
                      </a:r>
                      <a:r>
                        <a:rPr lang="en-US" altLang="ko-KR" sz="700" b="1" dirty="0">
                          <a:solidFill>
                            <a:srgbClr val="0070C0"/>
                          </a:solidFill>
                        </a:rPr>
                        <a:t>5000ft</a:t>
                      </a:r>
                      <a:r>
                        <a:rPr lang="ko-KR" altLang="en-US" sz="700" b="1" dirty="0">
                          <a:solidFill>
                            <a:srgbClr val="0070C0"/>
                          </a:solidFill>
                        </a:rPr>
                        <a:t>는 </a:t>
                      </a:r>
                      <a:r>
                        <a:rPr lang="en-US" altLang="ko-KR" sz="700" b="1" dirty="0">
                          <a:solidFill>
                            <a:srgbClr val="0070C0"/>
                          </a:solidFill>
                        </a:rPr>
                        <a:t>4800ft</a:t>
                      </a:r>
                      <a:r>
                        <a:rPr lang="ko-KR" altLang="en-US" sz="700" b="1" dirty="0">
                          <a:solidFill>
                            <a:srgbClr val="0070C0"/>
                          </a:solidFill>
                        </a:rPr>
                        <a:t>만 </a:t>
                      </a:r>
                      <a:r>
                        <a:rPr lang="ko-KR" altLang="en-US" sz="700" b="1" dirty="0" err="1">
                          <a:solidFill>
                            <a:srgbClr val="0070C0"/>
                          </a:solidFill>
                        </a:rPr>
                        <a:t>보정해야함</a:t>
                      </a:r>
                      <a:r>
                        <a:rPr lang="en-US" altLang="ko-KR" sz="700" b="1" dirty="0">
                          <a:solidFill>
                            <a:srgbClr val="0070C0"/>
                          </a:solidFill>
                        </a:rPr>
                        <a:t>.</a:t>
                      </a:r>
                      <a:r>
                        <a:rPr lang="ko-KR" altLang="en-US" sz="700" b="1" dirty="0">
                          <a:solidFill>
                            <a:srgbClr val="0070C0"/>
                          </a:solidFill>
                        </a:rPr>
                        <a:t> </a:t>
                      </a:r>
                      <a:endParaRPr sz="700" b="1" dirty="0">
                        <a:solidFill>
                          <a:srgbClr val="0070C0"/>
                        </a:solidFill>
                      </a:endParaRPr>
                    </a:p>
                  </a:txBody>
                  <a:tcPr marL="91450" marR="91450" marT="45725" marB="45725"/>
                </a:tc>
                <a:extLst>
                  <a:ext uri="{0D108BD9-81ED-4DB2-BD59-A6C34878D82A}">
                    <a16:rowId xmlns:a16="http://schemas.microsoft.com/office/drawing/2014/main" val="1226436469"/>
                  </a:ext>
                </a:extLst>
              </a:tr>
            </a:tbl>
          </a:graphicData>
        </a:graphic>
      </p:graphicFrame>
      <p:sp>
        <p:nvSpPr>
          <p:cNvPr id="382" name="Google Shape;382;p28"/>
          <p:cNvSpPr txBox="1"/>
          <p:nvPr/>
        </p:nvSpPr>
        <p:spPr>
          <a:xfrm>
            <a:off x="0" y="5241265"/>
            <a:ext cx="1584088" cy="2538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50" dirty="0">
                <a:solidFill>
                  <a:srgbClr val="00B050"/>
                </a:solidFill>
                <a:latin typeface="Calibri"/>
                <a:ea typeface="Calibri"/>
                <a:cs typeface="Calibri"/>
                <a:sym typeface="Calibri"/>
              </a:rPr>
              <a:t>GMP, CJU, PUS next page</a:t>
            </a:r>
            <a:endParaRPr sz="1050" dirty="0">
              <a:solidFill>
                <a:srgbClr val="00B050"/>
              </a:solidFill>
              <a:latin typeface="Calibri"/>
              <a:ea typeface="Calibri"/>
              <a:cs typeface="Calibri"/>
              <a:sym typeface="Calibri"/>
            </a:endParaRPr>
          </a:p>
        </p:txBody>
      </p:sp>
      <p:sp>
        <p:nvSpPr>
          <p:cNvPr id="2" name="직사각형 1">
            <a:hlinkClick r:id="" action="ppaction://hlinkshowjump?jump=firstslide"/>
            <a:extLst>
              <a:ext uri="{FF2B5EF4-FFF2-40B4-BE49-F238E27FC236}">
                <a16:creationId xmlns:a16="http://schemas.microsoft.com/office/drawing/2014/main" id="{06196B91-167A-7407-2A65-8B29A3124F68}"/>
              </a:ext>
            </a:extLst>
          </p:cNvPr>
          <p:cNvSpPr/>
          <p:nvPr/>
        </p:nvSpPr>
        <p:spPr>
          <a:xfrm>
            <a:off x="1545366"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3" name="Google Shape;377;p28">
            <a:extLst>
              <a:ext uri="{FF2B5EF4-FFF2-40B4-BE49-F238E27FC236}">
                <a16:creationId xmlns:a16="http://schemas.microsoft.com/office/drawing/2014/main" id="{87F6FFF9-91B5-765E-7C49-0198867FA84B}"/>
              </a:ext>
            </a:extLst>
          </p:cNvPr>
          <p:cNvGraphicFramePr/>
          <p:nvPr>
            <p:extLst>
              <p:ext uri="{D42A27DB-BD31-4B8C-83A1-F6EECF244321}">
                <p14:modId xmlns:p14="http://schemas.microsoft.com/office/powerpoint/2010/main" val="3325032359"/>
              </p:ext>
            </p:extLst>
          </p:nvPr>
        </p:nvGraphicFramePr>
        <p:xfrm>
          <a:off x="2356" y="2496279"/>
          <a:ext cx="2328775" cy="135744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34574">
                <a:tc gridSpan="8">
                  <a:txBody>
                    <a:bodyPr/>
                    <a:lstStyle/>
                    <a:p>
                      <a:pPr marL="0" marR="0" lvl="0" indent="0" algn="ctr" rtl="0">
                        <a:spcBef>
                          <a:spcPts val="0"/>
                        </a:spcBef>
                        <a:spcAft>
                          <a:spcPts val="0"/>
                        </a:spcAft>
                        <a:buNone/>
                      </a:pPr>
                      <a:r>
                        <a:rPr lang="en-US" sz="800" dirty="0"/>
                        <a:t>Height Above FE (Feet) </a:t>
                      </a:r>
                      <a:r>
                        <a:rPr lang="en-US" sz="800" dirty="0">
                          <a:solidFill>
                            <a:srgbClr val="FFC000"/>
                          </a:solidFill>
                        </a:rPr>
                        <a:t>900-5000ft</a:t>
                      </a:r>
                      <a:endParaRPr sz="800" dirty="0">
                        <a:solidFill>
                          <a:srgbClr val="FFC000"/>
                        </a:solidFill>
                      </a:endParaRPr>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36613">
                <a:tc>
                  <a:txBody>
                    <a:bodyPr/>
                    <a:lstStyle/>
                    <a:p>
                      <a:pPr marL="0" marR="0" lvl="0" indent="0" algn="ctr" rtl="0">
                        <a:spcBef>
                          <a:spcPts val="0"/>
                        </a:spcBef>
                        <a:spcAft>
                          <a:spcPts val="0"/>
                        </a:spcAft>
                        <a:buNone/>
                      </a:pPr>
                      <a:r>
                        <a:rPr lang="en-US" sz="800" b="1" dirty="0">
                          <a:solidFill>
                            <a:schemeClr val="dk1"/>
                          </a:solidFill>
                        </a:rPr>
                        <a:t>TEMP</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900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1500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2000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3000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5000</a:t>
                      </a:r>
                      <a:endParaRPr sz="800" b="1" dirty="0">
                        <a:solidFill>
                          <a:schemeClr val="dk1"/>
                        </a:solidFill>
                      </a:endParaRPr>
                    </a:p>
                  </a:txBody>
                  <a:tcPr marL="36000" marR="36000" marT="36000" marB="36000" anchor="ctr"/>
                </a:tc>
                <a:extLst>
                  <a:ext uri="{0D108BD9-81ED-4DB2-BD59-A6C34878D82A}">
                    <a16:rowId xmlns:a16="http://schemas.microsoft.com/office/drawing/2014/main" val="10001"/>
                  </a:ext>
                </a:extLst>
              </a:tr>
              <a:tr h="136613">
                <a:tc>
                  <a:txBody>
                    <a:bodyPr/>
                    <a:lstStyle/>
                    <a:p>
                      <a:pPr marL="0" marR="0" lvl="0" indent="0" algn="ctr" rtl="0">
                        <a:spcBef>
                          <a:spcPts val="0"/>
                        </a:spcBef>
                        <a:spcAft>
                          <a:spcPts val="0"/>
                        </a:spcAft>
                        <a:buNone/>
                      </a:pPr>
                      <a:r>
                        <a:rPr lang="en-US" sz="800" b="1" dirty="0">
                          <a:solidFill>
                            <a:srgbClr val="0070C0"/>
                          </a:solidFill>
                        </a:rPr>
                        <a:t>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extLst>
                  <a:ext uri="{0D108BD9-81ED-4DB2-BD59-A6C34878D82A}">
                    <a16:rowId xmlns:a16="http://schemas.microsoft.com/office/drawing/2014/main" val="10002"/>
                  </a:ext>
                </a:extLst>
              </a:tr>
              <a:tr h="136613">
                <a:tc>
                  <a:txBody>
                    <a:bodyPr/>
                    <a:lstStyle/>
                    <a:p>
                      <a:pPr marL="0" marR="0" lvl="0" indent="0" algn="ctr" rtl="0">
                        <a:spcBef>
                          <a:spcPts val="0"/>
                        </a:spcBef>
                        <a:spcAft>
                          <a:spcPts val="0"/>
                        </a:spcAft>
                        <a:buNone/>
                      </a:pPr>
                      <a:r>
                        <a:rPr lang="en-US" sz="800" b="1" dirty="0">
                          <a:solidFill>
                            <a:srgbClr val="00B050"/>
                          </a:solidFill>
                        </a:rPr>
                        <a:t>-5</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70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80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120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160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230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390</a:t>
                      </a:r>
                      <a:endParaRPr sz="800" b="1" dirty="0">
                        <a:solidFill>
                          <a:srgbClr val="00B050"/>
                        </a:solidFill>
                      </a:endParaRPr>
                    </a:p>
                  </a:txBody>
                  <a:tcPr marL="36000" marR="36000" marT="36000" marB="36000" anchor="ctr"/>
                </a:tc>
                <a:extLst>
                  <a:ext uri="{0D108BD9-81ED-4DB2-BD59-A6C34878D82A}">
                    <a16:rowId xmlns:a16="http://schemas.microsoft.com/office/drawing/2014/main" val="10003"/>
                  </a:ext>
                </a:extLst>
              </a:tr>
              <a:tr h="136613">
                <a:tc>
                  <a:txBody>
                    <a:bodyPr/>
                    <a:lstStyle/>
                    <a:p>
                      <a:pPr marL="0" marR="0" lvl="0" indent="0" algn="ctr" rtl="0">
                        <a:spcBef>
                          <a:spcPts val="0"/>
                        </a:spcBef>
                        <a:spcAft>
                          <a:spcPts val="0"/>
                        </a:spcAft>
                        <a:buNone/>
                      </a:pPr>
                      <a:r>
                        <a:rPr lang="en-US" sz="800" b="1" dirty="0">
                          <a:solidFill>
                            <a:srgbClr val="0070C0"/>
                          </a:solidFill>
                        </a:rPr>
                        <a:t>-10</a:t>
                      </a:r>
                      <a:endParaRPr dirty="0"/>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150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390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36613">
                <a:tc>
                  <a:txBody>
                    <a:bodyPr/>
                    <a:lstStyle/>
                    <a:p>
                      <a:pPr marL="0" marR="0" lvl="0" indent="0" algn="ctr" rtl="0">
                        <a:spcBef>
                          <a:spcPts val="0"/>
                        </a:spcBef>
                        <a:spcAft>
                          <a:spcPts val="0"/>
                        </a:spcAft>
                        <a:buNone/>
                      </a:pPr>
                      <a:r>
                        <a:rPr lang="en-US" sz="800" b="1" dirty="0"/>
                        <a:t>-15</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110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120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180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240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360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480</a:t>
                      </a:r>
                      <a:endParaRPr sz="800" b="1" dirty="0"/>
                    </a:p>
                  </a:txBody>
                  <a:tcPr marL="36000" marR="36000" marT="36000" marB="36000" anchor="ctr"/>
                </a:tc>
                <a:tc>
                  <a:txBody>
                    <a:bodyPr/>
                    <a:lstStyle/>
                    <a:p>
                      <a:pPr marL="0" marR="0" lvl="0" indent="0" algn="ctr" rtl="0">
                        <a:spcBef>
                          <a:spcPts val="0"/>
                        </a:spcBef>
                        <a:spcAft>
                          <a:spcPts val="0"/>
                        </a:spcAft>
                        <a:buNone/>
                      </a:pPr>
                      <a:r>
                        <a:rPr lang="en-US" sz="800" b="1" dirty="0"/>
                        <a:t>600</a:t>
                      </a:r>
                      <a:endParaRPr sz="800" b="1" dirty="0"/>
                    </a:p>
                  </a:txBody>
                  <a:tcPr marL="36000" marR="36000" marT="36000" marB="36000" anchor="ctr"/>
                </a:tc>
                <a:extLst>
                  <a:ext uri="{0D108BD9-81ED-4DB2-BD59-A6C34878D82A}">
                    <a16:rowId xmlns:a16="http://schemas.microsoft.com/office/drawing/2014/main" val="10005"/>
                  </a:ext>
                </a:extLst>
              </a:tr>
              <a:tr h="13661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70C0"/>
                          </a:solidFill>
                          <a:effectLst/>
                          <a:uLnTx/>
                          <a:uFillTx/>
                          <a:latin typeface="Calibri"/>
                          <a:cs typeface="Calibri"/>
                          <a:sym typeface="Arial"/>
                        </a:rPr>
                        <a:t>-20</a:t>
                      </a: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140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210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280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420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710</a:t>
                      </a:r>
                      <a:endParaRPr sz="800" b="1" dirty="0">
                        <a:solidFill>
                          <a:srgbClr val="0070C0"/>
                        </a:solidFill>
                      </a:endParaRPr>
                    </a:p>
                  </a:txBody>
                  <a:tcPr marL="36000" marR="36000" marT="36000" marB="36000" anchor="ctr"/>
                </a:tc>
                <a:extLst>
                  <a:ext uri="{0D108BD9-81ED-4DB2-BD59-A6C34878D82A}">
                    <a16:rowId xmlns:a16="http://schemas.microsoft.com/office/drawing/2014/main" val="156798653"/>
                  </a:ext>
                </a:extLst>
              </a:tr>
            </a:tbl>
          </a:graphicData>
        </a:graphic>
      </p:graphicFrame>
      <p:sp>
        <p:nvSpPr>
          <p:cNvPr id="4" name="직사각형 3">
            <a:hlinkClick r:id="" action="ppaction://hlinkshowjump?jump=firstslide"/>
            <a:extLst>
              <a:ext uri="{FF2B5EF4-FFF2-40B4-BE49-F238E27FC236}">
                <a16:creationId xmlns:a16="http://schemas.microsoft.com/office/drawing/2014/main" id="{D66801E4-3ED8-B281-2C8A-63070C97C57C}"/>
              </a:ext>
            </a:extLst>
          </p:cNvPr>
          <p:cNvSpPr/>
          <p:nvPr/>
        </p:nvSpPr>
        <p:spPr>
          <a:xfrm>
            <a:off x="66127" y="4535602"/>
            <a:ext cx="644531" cy="276999"/>
          </a:xfrm>
          <a:prstGeom prst="rect">
            <a:avLst/>
          </a:prstGeom>
          <a:noFill/>
        </p:spPr>
        <p:txBody>
          <a:bodyPr wrap="square" lIns="0" tIns="0" rIns="0" bIns="0">
            <a:spAutoFit/>
          </a:bodyPr>
          <a:lstStyle/>
          <a:p>
            <a:pPr algn="ctr"/>
            <a:r>
              <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China</a:t>
            </a:r>
            <a:endParaRPr lang="en-US" altLang="ko-KR" sz="1800" b="1" cap="none" spc="0" dirty="0">
              <a:ln w="0"/>
              <a:solidFill>
                <a:srgbClr val="00B050"/>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5" name="직사각형 4">
            <a:hlinkClick r:id="" action="ppaction://hlinkshowjump?jump=firstslide"/>
            <a:extLst>
              <a:ext uri="{FF2B5EF4-FFF2-40B4-BE49-F238E27FC236}">
                <a16:creationId xmlns:a16="http://schemas.microsoft.com/office/drawing/2014/main" id="{DE8B52D6-2250-6FEA-FA01-2747CB81C281}"/>
              </a:ext>
            </a:extLst>
          </p:cNvPr>
          <p:cNvSpPr/>
          <p:nvPr/>
        </p:nvSpPr>
        <p:spPr>
          <a:xfrm>
            <a:off x="73208" y="419527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rPr>
              <a:t>Japan</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6" name="TextBox 5">
            <a:extLst>
              <a:ext uri="{FF2B5EF4-FFF2-40B4-BE49-F238E27FC236}">
                <a16:creationId xmlns:a16="http://schemas.microsoft.com/office/drawing/2014/main" id="{92527F55-1A9F-C247-A6B1-9D9CFFC42267}"/>
              </a:ext>
            </a:extLst>
          </p:cNvPr>
          <p:cNvSpPr txBox="1"/>
          <p:nvPr/>
        </p:nvSpPr>
        <p:spPr>
          <a:xfrm>
            <a:off x="-158860" y="3881406"/>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5"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330007039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graphicFrame>
        <p:nvGraphicFramePr>
          <p:cNvPr id="377" name="Google Shape;377;p28"/>
          <p:cNvGraphicFramePr/>
          <p:nvPr>
            <p:extLst>
              <p:ext uri="{D42A27DB-BD31-4B8C-83A1-F6EECF244321}">
                <p14:modId xmlns:p14="http://schemas.microsoft.com/office/powerpoint/2010/main" val="1810471796"/>
              </p:ext>
            </p:extLst>
          </p:nvPr>
        </p:nvGraphicFramePr>
        <p:xfrm>
          <a:off x="7" y="55018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GMP 32L (261’) / 32R (262’) / 14R (254’)</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r>
                        <a:rPr lang="en-US" sz="800" b="1">
                          <a:solidFill>
                            <a:schemeClr val="dk1"/>
                          </a:solidFill>
                        </a:rPr>
                        <a:t>32L/R</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8000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5500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5300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chemeClr val="dk1"/>
                          </a:solidFill>
                        </a:rPr>
                        <a:t>4000</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2800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2300</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2000</a:t>
                      </a: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5810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5600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2970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2440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2120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5930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5710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B050"/>
                          </a:solidFill>
                        </a:rPr>
                        <a:t>2490</a:t>
                      </a:r>
                      <a:endParaRPr sz="800" b="1" dirty="0">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2160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6040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5820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2530</a:t>
                      </a: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2200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r h="176800">
                <a:tc>
                  <a:txBody>
                    <a:bodyPr/>
                    <a:lstStyle/>
                    <a:p>
                      <a:pPr marL="0" marR="0" lvl="0" indent="0" algn="ctr" rtl="0">
                        <a:spcBef>
                          <a:spcPts val="0"/>
                        </a:spcBef>
                        <a:spcAft>
                          <a:spcPts val="0"/>
                        </a:spcAft>
                        <a:buNone/>
                      </a:pPr>
                      <a:r>
                        <a:rPr lang="en-US" sz="800" b="1"/>
                        <a:t>R14</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2800</a:t>
                      </a:r>
                      <a:endParaRPr/>
                    </a:p>
                  </a:txBody>
                  <a:tcPr marL="36000" marR="36000" marT="36000" marB="36000" anchor="ctr"/>
                </a:tc>
                <a:tc>
                  <a:txBody>
                    <a:bodyPr/>
                    <a:lstStyle/>
                    <a:p>
                      <a:pPr marL="0" marR="0" lvl="0" indent="0" algn="ctr" rtl="0">
                        <a:spcBef>
                          <a:spcPts val="0"/>
                        </a:spcBef>
                        <a:spcAft>
                          <a:spcPts val="0"/>
                        </a:spcAft>
                        <a:buNone/>
                      </a:pPr>
                      <a:r>
                        <a:rPr lang="en-US" sz="800" b="1"/>
                        <a:t>1400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4000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extLst>
                  <a:ext uri="{0D108BD9-81ED-4DB2-BD59-A6C34878D82A}">
                    <a16:rowId xmlns:a16="http://schemas.microsoft.com/office/drawing/2014/main" val="10005"/>
                  </a:ext>
                </a:extLst>
              </a:tr>
              <a:tr h="17680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7680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3030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1520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7680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1540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graphicFrame>
        <p:nvGraphicFramePr>
          <p:cNvPr id="378" name="Google Shape;378;p28"/>
          <p:cNvGraphicFramePr/>
          <p:nvPr>
            <p:extLst>
              <p:ext uri="{D42A27DB-BD31-4B8C-83A1-F6EECF244321}">
                <p14:modId xmlns:p14="http://schemas.microsoft.com/office/powerpoint/2010/main" val="3338715404"/>
              </p:ext>
            </p:extLst>
          </p:nvPr>
        </p:nvGraphicFramePr>
        <p:xfrm>
          <a:off x="7" y="2357843"/>
          <a:ext cx="2328800" cy="969600"/>
        </p:xfrm>
        <a:graphic>
          <a:graphicData uri="http://schemas.openxmlformats.org/drawingml/2006/table">
            <a:tbl>
              <a:tblPr firstRow="1" bandRow="1">
                <a:noFill/>
                <a:tableStyleId>{A521BE36-7E6F-4EC9-8D66-1CF97A6895EC}</a:tableStyleId>
              </a:tblPr>
              <a:tblGrid>
                <a:gridCol w="291100">
                  <a:extLst>
                    <a:ext uri="{9D8B030D-6E8A-4147-A177-3AD203B41FA5}">
                      <a16:colId xmlns:a16="http://schemas.microsoft.com/office/drawing/2014/main" val="20000"/>
                    </a:ext>
                  </a:extLst>
                </a:gridCol>
                <a:gridCol w="291100">
                  <a:extLst>
                    <a:ext uri="{9D8B030D-6E8A-4147-A177-3AD203B41FA5}">
                      <a16:colId xmlns:a16="http://schemas.microsoft.com/office/drawing/2014/main" val="20001"/>
                    </a:ext>
                  </a:extLst>
                </a:gridCol>
                <a:gridCol w="291100">
                  <a:extLst>
                    <a:ext uri="{9D8B030D-6E8A-4147-A177-3AD203B41FA5}">
                      <a16:colId xmlns:a16="http://schemas.microsoft.com/office/drawing/2014/main" val="20002"/>
                    </a:ext>
                  </a:extLst>
                </a:gridCol>
                <a:gridCol w="291100">
                  <a:extLst>
                    <a:ext uri="{9D8B030D-6E8A-4147-A177-3AD203B41FA5}">
                      <a16:colId xmlns:a16="http://schemas.microsoft.com/office/drawing/2014/main" val="20003"/>
                    </a:ext>
                  </a:extLst>
                </a:gridCol>
                <a:gridCol w="291100">
                  <a:extLst>
                    <a:ext uri="{9D8B030D-6E8A-4147-A177-3AD203B41FA5}">
                      <a16:colId xmlns:a16="http://schemas.microsoft.com/office/drawing/2014/main" val="20004"/>
                    </a:ext>
                  </a:extLst>
                </a:gridCol>
                <a:gridCol w="291100">
                  <a:extLst>
                    <a:ext uri="{9D8B030D-6E8A-4147-A177-3AD203B41FA5}">
                      <a16:colId xmlns:a16="http://schemas.microsoft.com/office/drawing/2014/main" val="20005"/>
                    </a:ext>
                  </a:extLst>
                </a:gridCol>
                <a:gridCol w="291100">
                  <a:extLst>
                    <a:ext uri="{9D8B030D-6E8A-4147-A177-3AD203B41FA5}">
                      <a16:colId xmlns:a16="http://schemas.microsoft.com/office/drawing/2014/main" val="20006"/>
                    </a:ext>
                  </a:extLst>
                </a:gridCol>
                <a:gridCol w="291100">
                  <a:extLst>
                    <a:ext uri="{9D8B030D-6E8A-4147-A177-3AD203B41FA5}">
                      <a16:colId xmlns:a16="http://schemas.microsoft.com/office/drawing/2014/main" val="20007"/>
                    </a:ext>
                  </a:extLst>
                </a:gridCol>
              </a:tblGrid>
              <a:tr h="101600">
                <a:tc gridSpan="8">
                  <a:txBody>
                    <a:bodyPr/>
                    <a:lstStyle/>
                    <a:p>
                      <a:pPr marL="0" marR="0" lvl="0" indent="0" algn="ctr" rtl="0">
                        <a:spcBef>
                          <a:spcPts val="0"/>
                        </a:spcBef>
                        <a:spcAft>
                          <a:spcPts val="0"/>
                        </a:spcAft>
                        <a:buNone/>
                      </a:pPr>
                      <a:r>
                        <a:rPr lang="en-US" sz="800"/>
                        <a:t>CJU 07 (307’) / 25 (296’)</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01600">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sz="800" b="1"/>
                    </a:p>
                  </a:txBody>
                  <a:tcPr marL="36000" marR="36000" marT="36000" marB="36000" anchor="ctr"/>
                </a:tc>
                <a:tc>
                  <a:txBody>
                    <a:bodyPr/>
                    <a:lstStyle/>
                    <a:p>
                      <a:pPr marL="0" marR="0" lvl="0" indent="0" algn="ctr" rtl="0">
                        <a:spcBef>
                          <a:spcPts val="0"/>
                        </a:spcBef>
                        <a:spcAft>
                          <a:spcPts val="0"/>
                        </a:spcAft>
                        <a:buNone/>
                      </a:pPr>
                      <a:r>
                        <a:rPr lang="en-US" sz="800" b="1"/>
                        <a:t>2900</a:t>
                      </a:r>
                      <a:endParaRPr/>
                    </a:p>
                  </a:txBody>
                  <a:tcPr marL="36000" marR="36000" marT="36000" marB="36000" anchor="ctr"/>
                </a:tc>
                <a:tc>
                  <a:txBody>
                    <a:bodyPr/>
                    <a:lstStyle/>
                    <a:p>
                      <a:pPr marL="0" marR="0" lvl="0" indent="0" algn="ctr" rtl="0">
                        <a:spcBef>
                          <a:spcPts val="0"/>
                        </a:spcBef>
                        <a:spcAft>
                          <a:spcPts val="0"/>
                        </a:spcAft>
                        <a:buNone/>
                      </a:pPr>
                      <a:r>
                        <a:rPr lang="en-US" sz="800" b="1"/>
                        <a:t>1800</a:t>
                      </a:r>
                      <a:endParaRPr/>
                    </a:p>
                  </a:txBody>
                  <a:tcPr marL="36000" marR="36000" marT="36000" marB="36000" anchor="ctr"/>
                </a:tc>
                <a:tc>
                  <a:txBody>
                    <a:bodyPr/>
                    <a:lstStyle/>
                    <a:p>
                      <a:pPr marL="0" marR="0" lvl="0" indent="0" algn="ctr" rtl="0">
                        <a:spcBef>
                          <a:spcPts val="0"/>
                        </a:spcBef>
                        <a:spcAft>
                          <a:spcPts val="0"/>
                        </a:spcAft>
                        <a:buNone/>
                      </a:pPr>
                      <a:r>
                        <a:rPr lang="en-US" sz="800" b="1"/>
                        <a:t>07</a:t>
                      </a: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8000</a:t>
                      </a:r>
                      <a:endParaRPr/>
                    </a:p>
                  </a:txBody>
                  <a:tcPr marL="36000" marR="36000" marT="36000" marB="36000" anchor="ctr"/>
                </a:tc>
                <a:tc>
                  <a:txBody>
                    <a:bodyPr/>
                    <a:lstStyle/>
                    <a:p>
                      <a:pPr marL="0" marR="0" lvl="0" indent="0" algn="ctr" rtl="0">
                        <a:spcBef>
                          <a:spcPts val="0"/>
                        </a:spcBef>
                        <a:spcAft>
                          <a:spcPts val="0"/>
                        </a:spcAft>
                        <a:buNone/>
                      </a:pPr>
                      <a:r>
                        <a:rPr lang="en-US" sz="800" b="1">
                          <a:solidFill>
                            <a:schemeClr val="dk1"/>
                          </a:solidFill>
                        </a:rPr>
                        <a:t>25</a:t>
                      </a:r>
                      <a:endParaRPr sz="800" b="1">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1"/>
                  </a:ext>
                </a:extLst>
              </a:tr>
              <a:tr h="10160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3070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8450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0160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4300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3130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1940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8620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0160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3180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1970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8780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6590</a:t>
                      </a:r>
                      <a:endParaRPr sz="800" b="1" dirty="0">
                        <a:solidFill>
                          <a:srgbClr val="0070C0"/>
                        </a:solidFill>
                      </a:endParaRPr>
                    </a:p>
                  </a:txBody>
                  <a:tcPr marL="36000" marR="36000" marT="36000" marB="36000" anchor="ctr"/>
                </a:tc>
                <a:extLst>
                  <a:ext uri="{0D108BD9-81ED-4DB2-BD59-A6C34878D82A}">
                    <a16:rowId xmlns:a16="http://schemas.microsoft.com/office/drawing/2014/main" val="10004"/>
                  </a:ext>
                </a:extLst>
              </a:tr>
            </a:tbl>
          </a:graphicData>
        </a:graphic>
      </p:graphicFrame>
      <p:graphicFrame>
        <p:nvGraphicFramePr>
          <p:cNvPr id="381" name="Google Shape;381;p28"/>
          <p:cNvGraphicFramePr/>
          <p:nvPr>
            <p:extLst>
              <p:ext uri="{D42A27DB-BD31-4B8C-83A1-F6EECF244321}">
                <p14:modId xmlns:p14="http://schemas.microsoft.com/office/powerpoint/2010/main" val="2447582750"/>
              </p:ext>
            </p:extLst>
          </p:nvPr>
        </p:nvGraphicFramePr>
        <p:xfrm>
          <a:off x="7" y="0"/>
          <a:ext cx="2328850" cy="54866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63700">
                <a:tc>
                  <a:txBody>
                    <a:bodyPr/>
                    <a:lstStyle/>
                    <a:p>
                      <a:pPr marL="0" marR="0" lvl="0" indent="0" algn="l" rtl="0">
                        <a:spcBef>
                          <a:spcPts val="0"/>
                        </a:spcBef>
                        <a:spcAft>
                          <a:spcPts val="0"/>
                        </a:spcAft>
                        <a:buNone/>
                      </a:pPr>
                      <a:r>
                        <a:rPr lang="en-US" sz="1000" dirty="0"/>
                        <a:t>COLD TEMP CORRECTION (Domestic)</a:t>
                      </a:r>
                      <a:endParaRPr sz="1000" dirty="0"/>
                    </a:p>
                  </a:txBody>
                  <a:tcPr marL="91450" marR="91450" marT="45725" marB="45725"/>
                </a:tc>
                <a:extLst>
                  <a:ext uri="{0D108BD9-81ED-4DB2-BD59-A6C34878D82A}">
                    <a16:rowId xmlns:a16="http://schemas.microsoft.com/office/drawing/2014/main" val="10000"/>
                  </a:ext>
                </a:extLst>
              </a:tr>
              <a:tr h="248975">
                <a:tc>
                  <a:txBody>
                    <a:bodyPr/>
                    <a:lstStyle/>
                    <a:p>
                      <a:pPr marL="0" marR="0" lvl="0" indent="0" algn="l" rtl="0">
                        <a:spcBef>
                          <a:spcPts val="0"/>
                        </a:spcBef>
                        <a:spcAft>
                          <a:spcPts val="0"/>
                        </a:spcAft>
                        <a:buNone/>
                      </a:pPr>
                      <a:r>
                        <a:rPr lang="en-US" sz="700" dirty="0"/>
                        <a:t>Min </a:t>
                      </a:r>
                      <a:r>
                        <a:rPr lang="en-US" sz="700" dirty="0" err="1"/>
                        <a:t>은</a:t>
                      </a:r>
                      <a:r>
                        <a:rPr lang="en-US" sz="700" dirty="0"/>
                        <a:t> </a:t>
                      </a:r>
                      <a:r>
                        <a:rPr lang="en-US" sz="700" dirty="0" err="1"/>
                        <a:t>반드시</a:t>
                      </a:r>
                      <a:r>
                        <a:rPr lang="en-US" sz="700" dirty="0"/>
                        <a:t> </a:t>
                      </a:r>
                      <a:r>
                        <a:rPr lang="en-US" sz="700" dirty="0" err="1"/>
                        <a:t>수정</a:t>
                      </a:r>
                      <a:r>
                        <a:rPr lang="en-US" sz="700" dirty="0"/>
                        <a:t> (</a:t>
                      </a:r>
                      <a:r>
                        <a:rPr lang="en-US" sz="700" dirty="0" err="1"/>
                        <a:t>중간</a:t>
                      </a:r>
                      <a:r>
                        <a:rPr lang="en-US" sz="700" dirty="0"/>
                        <a:t> </a:t>
                      </a:r>
                      <a:r>
                        <a:rPr lang="en-US" sz="700" dirty="0" err="1"/>
                        <a:t>고도</a:t>
                      </a:r>
                      <a:r>
                        <a:rPr lang="en-US" sz="700" dirty="0"/>
                        <a:t> </a:t>
                      </a:r>
                      <a:r>
                        <a:rPr lang="en-US" sz="700" dirty="0" err="1"/>
                        <a:t>CORRECTION은</a:t>
                      </a:r>
                      <a:r>
                        <a:rPr lang="en-US" sz="700" dirty="0"/>
                        <a:t> PIC </a:t>
                      </a:r>
                      <a:r>
                        <a:rPr lang="en-US" sz="700" dirty="0" err="1"/>
                        <a:t>결정</a:t>
                      </a:r>
                      <a:r>
                        <a:rPr lang="en-US" sz="700" dirty="0"/>
                        <a:t>)</a:t>
                      </a:r>
                      <a:endParaRPr dirty="0"/>
                    </a:p>
                    <a:p>
                      <a:pPr marL="0" marR="0" lvl="0" indent="0" algn="l" rtl="0">
                        <a:spcBef>
                          <a:spcPts val="0"/>
                        </a:spcBef>
                        <a:spcAft>
                          <a:spcPts val="0"/>
                        </a:spcAft>
                        <a:buNone/>
                      </a:pPr>
                      <a:r>
                        <a:rPr lang="en-US" sz="700" dirty="0"/>
                        <a:t>Missed App </a:t>
                      </a:r>
                      <a:r>
                        <a:rPr lang="en-US" sz="700" dirty="0" err="1"/>
                        <a:t>고도는</a:t>
                      </a:r>
                      <a:r>
                        <a:rPr lang="en-US" sz="700" dirty="0"/>
                        <a:t> ATC </a:t>
                      </a:r>
                      <a:r>
                        <a:rPr lang="en-US" sz="700" dirty="0" err="1"/>
                        <a:t>협조</a:t>
                      </a:r>
                      <a:r>
                        <a:rPr lang="en-US" sz="700" dirty="0"/>
                        <a:t> </a:t>
                      </a:r>
                      <a:r>
                        <a:rPr lang="en-US" sz="700" dirty="0" err="1"/>
                        <a:t>필요</a:t>
                      </a:r>
                      <a:endParaRPr sz="700" dirty="0"/>
                    </a:p>
                  </a:txBody>
                  <a:tcPr marL="91450" marR="91450" marT="45725" marB="45725"/>
                </a:tc>
                <a:extLst>
                  <a:ext uri="{0D108BD9-81ED-4DB2-BD59-A6C34878D82A}">
                    <a16:rowId xmlns:a16="http://schemas.microsoft.com/office/drawing/2014/main" val="10001"/>
                  </a:ext>
                </a:extLst>
              </a:tr>
            </a:tbl>
          </a:graphicData>
        </a:graphic>
      </p:graphicFrame>
      <p:sp>
        <p:nvSpPr>
          <p:cNvPr id="2" name="직사각형 1">
            <a:hlinkClick r:id="" action="ppaction://hlinkshowjump?jump=firstslide"/>
            <a:extLst>
              <a:ext uri="{FF2B5EF4-FFF2-40B4-BE49-F238E27FC236}">
                <a16:creationId xmlns:a16="http://schemas.microsoft.com/office/drawing/2014/main" id="{06196B91-167A-7407-2A65-8B29A3124F68}"/>
              </a:ext>
            </a:extLst>
          </p:cNvPr>
          <p:cNvSpPr/>
          <p:nvPr/>
        </p:nvSpPr>
        <p:spPr>
          <a:xfrm>
            <a:off x="842121" y="518977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3" name="Google Shape;389;p29">
            <a:extLst>
              <a:ext uri="{FF2B5EF4-FFF2-40B4-BE49-F238E27FC236}">
                <a16:creationId xmlns:a16="http://schemas.microsoft.com/office/drawing/2014/main" id="{BC46C6F3-A4C3-1AF2-23EC-BBACBA6ACAAA}"/>
              </a:ext>
            </a:extLst>
          </p:cNvPr>
          <p:cNvGraphicFramePr/>
          <p:nvPr>
            <p:extLst>
              <p:ext uri="{D42A27DB-BD31-4B8C-83A1-F6EECF244321}">
                <p14:modId xmlns:p14="http://schemas.microsoft.com/office/powerpoint/2010/main" val="884900013"/>
              </p:ext>
            </p:extLst>
          </p:nvPr>
        </p:nvGraphicFramePr>
        <p:xfrm>
          <a:off x="0" y="3389460"/>
          <a:ext cx="2328775" cy="1745280"/>
        </p:xfrm>
        <a:graphic>
          <a:graphicData uri="http://schemas.openxmlformats.org/drawingml/2006/table">
            <a:tbl>
              <a:tblPr firstRow="1" bandRow="1">
                <a:noFill/>
                <a:tableStyleId>{A521BE36-7E6F-4EC9-8D66-1CF97A6895EC}</a:tableStyleId>
              </a:tblPr>
              <a:tblGrid>
                <a:gridCol w="333250">
                  <a:extLst>
                    <a:ext uri="{9D8B030D-6E8A-4147-A177-3AD203B41FA5}">
                      <a16:colId xmlns:a16="http://schemas.microsoft.com/office/drawing/2014/main" val="20000"/>
                    </a:ext>
                  </a:extLst>
                </a:gridCol>
                <a:gridCol w="285075">
                  <a:extLst>
                    <a:ext uri="{9D8B030D-6E8A-4147-A177-3AD203B41FA5}">
                      <a16:colId xmlns:a16="http://schemas.microsoft.com/office/drawing/2014/main" val="20001"/>
                    </a:ext>
                  </a:extLst>
                </a:gridCol>
                <a:gridCol w="285075">
                  <a:extLst>
                    <a:ext uri="{9D8B030D-6E8A-4147-A177-3AD203B41FA5}">
                      <a16:colId xmlns:a16="http://schemas.microsoft.com/office/drawing/2014/main" val="20002"/>
                    </a:ext>
                  </a:extLst>
                </a:gridCol>
                <a:gridCol w="285075">
                  <a:extLst>
                    <a:ext uri="{9D8B030D-6E8A-4147-A177-3AD203B41FA5}">
                      <a16:colId xmlns:a16="http://schemas.microsoft.com/office/drawing/2014/main" val="20003"/>
                    </a:ext>
                  </a:extLst>
                </a:gridCol>
                <a:gridCol w="285075">
                  <a:extLst>
                    <a:ext uri="{9D8B030D-6E8A-4147-A177-3AD203B41FA5}">
                      <a16:colId xmlns:a16="http://schemas.microsoft.com/office/drawing/2014/main" val="20004"/>
                    </a:ext>
                  </a:extLst>
                </a:gridCol>
                <a:gridCol w="285075">
                  <a:extLst>
                    <a:ext uri="{9D8B030D-6E8A-4147-A177-3AD203B41FA5}">
                      <a16:colId xmlns:a16="http://schemas.microsoft.com/office/drawing/2014/main" val="20005"/>
                    </a:ext>
                  </a:extLst>
                </a:gridCol>
                <a:gridCol w="285075">
                  <a:extLst>
                    <a:ext uri="{9D8B030D-6E8A-4147-A177-3AD203B41FA5}">
                      <a16:colId xmlns:a16="http://schemas.microsoft.com/office/drawing/2014/main" val="20006"/>
                    </a:ext>
                  </a:extLst>
                </a:gridCol>
                <a:gridCol w="285075">
                  <a:extLst>
                    <a:ext uri="{9D8B030D-6E8A-4147-A177-3AD203B41FA5}">
                      <a16:colId xmlns:a16="http://schemas.microsoft.com/office/drawing/2014/main" val="20007"/>
                    </a:ext>
                  </a:extLst>
                </a:gridCol>
              </a:tblGrid>
              <a:tr h="164650">
                <a:tc gridSpan="8">
                  <a:txBody>
                    <a:bodyPr/>
                    <a:lstStyle/>
                    <a:p>
                      <a:pPr marL="0" marR="0" lvl="0" indent="0" algn="ctr" rtl="0">
                        <a:spcBef>
                          <a:spcPts val="0"/>
                        </a:spcBef>
                        <a:spcAft>
                          <a:spcPts val="0"/>
                        </a:spcAft>
                        <a:buNone/>
                      </a:pPr>
                      <a:r>
                        <a:rPr lang="en-US" sz="800"/>
                        <a:t>PUS 36L(233’),36R(228’) / 18L/R (see below)</a:t>
                      </a:r>
                      <a:endParaRPr sz="800"/>
                    </a:p>
                  </a:txBody>
                  <a:tcPr marL="36000" marR="36000" marT="36000" marB="36000" anchor="ct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tc hMerge="1">
                  <a:txBody>
                    <a:bodyPr/>
                    <a:lstStyle/>
                    <a:p>
                      <a:endParaRPr lang="ko-Kore-KR"/>
                    </a:p>
                  </a:txBody>
                  <a:tcPr/>
                </a:tc>
                <a:extLst>
                  <a:ext uri="{0D108BD9-81ED-4DB2-BD59-A6C34878D82A}">
                    <a16:rowId xmlns:a16="http://schemas.microsoft.com/office/drawing/2014/main" val="10000"/>
                  </a:ext>
                </a:extLst>
              </a:tr>
              <a:tr h="164650">
                <a:tc>
                  <a:txBody>
                    <a:bodyPr/>
                    <a:lstStyle/>
                    <a:p>
                      <a:pPr marL="0" marR="0" lvl="0" indent="0" algn="ctr" rtl="0">
                        <a:spcBef>
                          <a:spcPts val="0"/>
                        </a:spcBef>
                        <a:spcAft>
                          <a:spcPts val="0"/>
                        </a:spcAft>
                        <a:buNone/>
                      </a:pPr>
                      <a:r>
                        <a:rPr lang="en-US" sz="800" b="1" dirty="0">
                          <a:solidFill>
                            <a:schemeClr val="dk1"/>
                          </a:solidFill>
                        </a:rPr>
                        <a:t>36L/R</a:t>
                      </a:r>
                      <a:endParaRPr sz="800" b="1" dirty="0">
                        <a:solidFill>
                          <a:schemeClr val="dk1"/>
                        </a:solidFill>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3300</a:t>
                      </a:r>
                      <a:endParaRPr/>
                    </a:p>
                  </a:txBody>
                  <a:tcPr marL="36000" marR="36000" marT="36000" marB="36000" anchor="ctr"/>
                </a:tc>
                <a:tc>
                  <a:txBody>
                    <a:bodyPr/>
                    <a:lstStyle/>
                    <a:p>
                      <a:pPr marL="0" marR="0" lvl="0" indent="0" algn="ctr" rtl="0">
                        <a:spcBef>
                          <a:spcPts val="0"/>
                        </a:spcBef>
                        <a:spcAft>
                          <a:spcPts val="0"/>
                        </a:spcAft>
                        <a:buNone/>
                      </a:pPr>
                      <a:r>
                        <a:rPr lang="en-US" sz="800" b="1"/>
                        <a:t>2100</a:t>
                      </a:r>
                      <a:endParaRPr sz="800" b="1"/>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tc>
                  <a:txBody>
                    <a:bodyPr/>
                    <a:lstStyle/>
                    <a:p>
                      <a:pPr marL="0" marR="0" lvl="0" indent="0" algn="ctr" rtl="0">
                        <a:spcBef>
                          <a:spcPts val="0"/>
                        </a:spcBef>
                        <a:spcAft>
                          <a:spcPts val="0"/>
                        </a:spcAft>
                        <a:buNone/>
                      </a:pPr>
                      <a:endParaRPr sz="800" b="1">
                        <a:solidFill>
                          <a:schemeClr val="dk1"/>
                        </a:solidFill>
                      </a:endParaRPr>
                    </a:p>
                  </a:txBody>
                  <a:tcPr marL="36000" marR="36000" marT="36000" marB="36000" anchor="ctr"/>
                </a:tc>
                <a:extLst>
                  <a:ext uri="{0D108BD9-81ED-4DB2-BD59-A6C34878D82A}">
                    <a16:rowId xmlns:a16="http://schemas.microsoft.com/office/drawing/2014/main" val="10001"/>
                  </a:ext>
                </a:extLst>
              </a:tr>
              <a:tr h="164650">
                <a:tc>
                  <a:txBody>
                    <a:bodyPr/>
                    <a:lstStyle/>
                    <a:p>
                      <a:pPr marL="0" marR="0" lvl="0" indent="0" algn="ctr" rtl="0">
                        <a:spcBef>
                          <a:spcPts val="0"/>
                        </a:spcBef>
                        <a:spcAft>
                          <a:spcPts val="0"/>
                        </a:spcAft>
                        <a:buNone/>
                      </a:pPr>
                      <a:r>
                        <a:rPr lang="en-US" sz="800" b="1">
                          <a:solidFill>
                            <a:srgbClr val="0070C0"/>
                          </a:solidFill>
                        </a:rPr>
                        <a:t>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2"/>
                  </a:ext>
                </a:extLst>
              </a:tr>
              <a:tr h="164650">
                <a:tc>
                  <a:txBody>
                    <a:bodyPr/>
                    <a:lstStyle/>
                    <a:p>
                      <a:pPr marL="0" marR="0" lvl="0" indent="0" algn="ctr" rtl="0">
                        <a:spcBef>
                          <a:spcPts val="0"/>
                        </a:spcBef>
                        <a:spcAft>
                          <a:spcPts val="0"/>
                        </a:spcAft>
                        <a:buNone/>
                      </a:pPr>
                      <a:r>
                        <a:rPr lang="en-US" sz="800" b="1">
                          <a:solidFill>
                            <a:srgbClr val="00B050"/>
                          </a:solidFill>
                        </a:rPr>
                        <a:t>-5</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3560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2250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extLst>
                  <a:ext uri="{0D108BD9-81ED-4DB2-BD59-A6C34878D82A}">
                    <a16:rowId xmlns:a16="http://schemas.microsoft.com/office/drawing/2014/main" val="10003"/>
                  </a:ext>
                </a:extLst>
              </a:tr>
              <a:tr h="164650">
                <a:tc>
                  <a:txBody>
                    <a:bodyPr/>
                    <a:lstStyle/>
                    <a:p>
                      <a:pPr marL="0" marR="0" lvl="0" indent="0" algn="ctr" rtl="0">
                        <a:spcBef>
                          <a:spcPts val="0"/>
                        </a:spcBef>
                        <a:spcAft>
                          <a:spcPts val="0"/>
                        </a:spcAft>
                        <a:buNone/>
                      </a:pPr>
                      <a:r>
                        <a:rPr lang="en-US" sz="800" b="1">
                          <a:solidFill>
                            <a:srgbClr val="0070C0"/>
                          </a:solidFill>
                        </a:rPr>
                        <a:t>-10</a:t>
                      </a:r>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3620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extLst>
                  <a:ext uri="{0D108BD9-81ED-4DB2-BD59-A6C34878D82A}">
                    <a16:rowId xmlns:a16="http://schemas.microsoft.com/office/drawing/2014/main" val="10004"/>
                  </a:ext>
                </a:extLst>
              </a:tr>
              <a:tr h="164650">
                <a:tc>
                  <a:txBody>
                    <a:bodyPr/>
                    <a:lstStyle/>
                    <a:p>
                      <a:pPr marL="0" marR="0" lvl="0" indent="0" algn="ctr" rtl="0">
                        <a:spcBef>
                          <a:spcPts val="0"/>
                        </a:spcBef>
                        <a:spcAft>
                          <a:spcPts val="0"/>
                        </a:spcAft>
                        <a:buNone/>
                      </a:pPr>
                      <a:r>
                        <a:rPr lang="en-US" sz="800" b="1"/>
                        <a:t>18L/R</a:t>
                      </a:r>
                      <a:endParaRPr/>
                    </a:p>
                  </a:txBody>
                  <a:tcPr marL="36000" marR="36000" marT="36000" marB="36000" anchor="ctr"/>
                </a:tc>
                <a:tc>
                  <a:txBody>
                    <a:bodyPr/>
                    <a:lstStyle/>
                    <a:p>
                      <a:pPr marL="0" marR="0" lvl="0" indent="0" algn="ctr" rtl="0">
                        <a:spcBef>
                          <a:spcPts val="0"/>
                        </a:spcBef>
                        <a:spcAft>
                          <a:spcPts val="0"/>
                        </a:spcAft>
                        <a:buNone/>
                      </a:pPr>
                      <a:r>
                        <a:rPr lang="en-US" sz="800" b="1"/>
                        <a:t>6000</a:t>
                      </a:r>
                      <a:endParaRPr sz="800" b="1"/>
                    </a:p>
                  </a:txBody>
                  <a:tcPr marL="36000" marR="36000" marT="36000" marB="36000" anchor="ctr"/>
                </a:tc>
                <a:tc>
                  <a:txBody>
                    <a:bodyPr/>
                    <a:lstStyle/>
                    <a:p>
                      <a:pPr marL="0" marR="0" lvl="0" indent="0" algn="ctr" rtl="0">
                        <a:spcBef>
                          <a:spcPts val="0"/>
                        </a:spcBef>
                        <a:spcAft>
                          <a:spcPts val="0"/>
                        </a:spcAft>
                        <a:buNone/>
                      </a:pPr>
                      <a:r>
                        <a:rPr lang="en-US" sz="800" b="1"/>
                        <a:t>5000</a:t>
                      </a:r>
                      <a:endParaRPr/>
                    </a:p>
                  </a:txBody>
                  <a:tcPr marL="36000" marR="36000" marT="36000" marB="36000" anchor="ctr"/>
                </a:tc>
                <a:tc>
                  <a:txBody>
                    <a:bodyPr/>
                    <a:lstStyle/>
                    <a:p>
                      <a:pPr marL="0" marR="0" lvl="0" indent="0" algn="ctr" rtl="0">
                        <a:spcBef>
                          <a:spcPts val="0"/>
                        </a:spcBef>
                        <a:spcAft>
                          <a:spcPts val="0"/>
                        </a:spcAft>
                        <a:buNone/>
                      </a:pPr>
                      <a:r>
                        <a:rPr lang="en-US" sz="800" b="1"/>
                        <a:t>4000</a:t>
                      </a:r>
                      <a:endParaRPr/>
                    </a:p>
                  </a:txBody>
                  <a:tcPr marL="36000" marR="36000" marT="36000" marB="36000" anchor="ctr"/>
                </a:tc>
                <a:tc>
                  <a:txBody>
                    <a:bodyPr/>
                    <a:lstStyle/>
                    <a:p>
                      <a:pPr marL="0" marR="0" lvl="0" indent="0" algn="ctr" rtl="0">
                        <a:spcBef>
                          <a:spcPts val="0"/>
                        </a:spcBef>
                        <a:spcAft>
                          <a:spcPts val="0"/>
                        </a:spcAft>
                        <a:buNone/>
                      </a:pPr>
                      <a:r>
                        <a:rPr lang="en-US" sz="800" b="1"/>
                        <a:t>2600</a:t>
                      </a:r>
                      <a:endParaRPr sz="800" b="1"/>
                    </a:p>
                  </a:txBody>
                  <a:tcPr marL="36000" marR="36000" marT="36000" marB="36000" anchor="ctr"/>
                </a:tc>
                <a:tc>
                  <a:txBody>
                    <a:bodyPr/>
                    <a:lstStyle/>
                    <a:p>
                      <a:pPr marL="0" marR="0" lvl="0" indent="0" algn="ctr" rtl="0">
                        <a:spcBef>
                          <a:spcPts val="0"/>
                        </a:spcBef>
                        <a:spcAft>
                          <a:spcPts val="0"/>
                        </a:spcAft>
                        <a:buNone/>
                      </a:pPr>
                      <a:r>
                        <a:rPr lang="en-US" sz="800" b="1"/>
                        <a:t>1700</a:t>
                      </a:r>
                      <a:endParaRPr/>
                    </a:p>
                  </a:txBody>
                  <a:tcPr marL="36000" marR="36000" marT="36000" marB="36000" anchor="ctr"/>
                </a:tc>
                <a:tc>
                  <a:txBody>
                    <a:bodyPr/>
                    <a:lstStyle/>
                    <a:p>
                      <a:pPr marL="0" marR="0" lvl="0" indent="0" algn="ctr" rtl="0">
                        <a:spcBef>
                          <a:spcPts val="0"/>
                        </a:spcBef>
                        <a:spcAft>
                          <a:spcPts val="0"/>
                        </a:spcAft>
                        <a:buNone/>
                      </a:pPr>
                      <a:endParaRPr sz="800" b="1"/>
                    </a:p>
                  </a:txBody>
                  <a:tcPr marL="36000" marR="36000" marT="36000" marB="36000" anchor="ctr"/>
                </a:tc>
                <a:tc>
                  <a:txBody>
                    <a:bodyPr/>
                    <a:lstStyle/>
                    <a:p>
                      <a:pPr marL="0" marR="0" lvl="0" indent="0" algn="ctr" rtl="0">
                        <a:spcBef>
                          <a:spcPts val="0"/>
                        </a:spcBef>
                        <a:spcAft>
                          <a:spcPts val="0"/>
                        </a:spcAft>
                        <a:buNone/>
                      </a:pPr>
                      <a:r>
                        <a:rPr lang="en-US" sz="800" b="1">
                          <a:solidFill>
                            <a:srgbClr val="FF0000"/>
                          </a:solidFill>
                        </a:rPr>
                        <a:t>6000</a:t>
                      </a:r>
                      <a:endParaRPr sz="800" b="1">
                        <a:solidFill>
                          <a:srgbClr val="FF0000"/>
                        </a:solidFill>
                      </a:endParaRPr>
                    </a:p>
                  </a:txBody>
                  <a:tcPr marL="36000" marR="36000" marT="36000" marB="36000" anchor="ctr"/>
                </a:tc>
                <a:extLst>
                  <a:ext uri="{0D108BD9-81ED-4DB2-BD59-A6C34878D82A}">
                    <a16:rowId xmlns:a16="http://schemas.microsoft.com/office/drawing/2014/main" val="10005"/>
                  </a:ext>
                </a:extLst>
              </a:tr>
              <a:tr h="164650">
                <a:tc>
                  <a:txBody>
                    <a:bodyPr/>
                    <a:lstStyle/>
                    <a:p>
                      <a:pPr marL="0" marR="0" lvl="0" indent="0" algn="ctr" rtl="0">
                        <a:spcBef>
                          <a:spcPts val="0"/>
                        </a:spcBef>
                        <a:spcAft>
                          <a:spcPts val="0"/>
                        </a:spcAft>
                        <a:buNone/>
                      </a:pPr>
                      <a:r>
                        <a:rPr lang="en-US" sz="800" b="1">
                          <a:solidFill>
                            <a:srgbClr val="0070C0"/>
                          </a:solidFill>
                        </a:rPr>
                        <a:t>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5290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4230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2760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1800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6340</a:t>
                      </a:r>
                      <a:endParaRPr sz="800" b="1">
                        <a:solidFill>
                          <a:srgbClr val="0070C0"/>
                        </a:solidFill>
                      </a:endParaRPr>
                    </a:p>
                  </a:txBody>
                  <a:tcPr marL="36000" marR="36000" marT="36000" marB="36000" anchor="ctr"/>
                </a:tc>
                <a:extLst>
                  <a:ext uri="{0D108BD9-81ED-4DB2-BD59-A6C34878D82A}">
                    <a16:rowId xmlns:a16="http://schemas.microsoft.com/office/drawing/2014/main" val="10006"/>
                  </a:ext>
                </a:extLst>
              </a:tr>
              <a:tr h="164650">
                <a:tc>
                  <a:txBody>
                    <a:bodyPr/>
                    <a:lstStyle/>
                    <a:p>
                      <a:pPr marL="0" marR="0" lvl="0" indent="0" algn="ctr" rtl="0">
                        <a:spcBef>
                          <a:spcPts val="0"/>
                        </a:spcBef>
                        <a:spcAft>
                          <a:spcPts val="0"/>
                        </a:spcAft>
                        <a:buNone/>
                      </a:pPr>
                      <a:r>
                        <a:rPr lang="en-US" sz="800" b="1">
                          <a:solidFill>
                            <a:srgbClr val="00B050"/>
                          </a:solidFill>
                        </a:rPr>
                        <a:t>-5</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5390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4310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2810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1830</a:t>
                      </a: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B05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B050"/>
                          </a:solidFill>
                        </a:rPr>
                        <a:t>6460</a:t>
                      </a:r>
                      <a:endParaRPr sz="800" b="1">
                        <a:solidFill>
                          <a:srgbClr val="00B050"/>
                        </a:solidFill>
                      </a:endParaRPr>
                    </a:p>
                  </a:txBody>
                  <a:tcPr marL="36000" marR="36000" marT="36000" marB="36000" anchor="ctr"/>
                </a:tc>
                <a:extLst>
                  <a:ext uri="{0D108BD9-81ED-4DB2-BD59-A6C34878D82A}">
                    <a16:rowId xmlns:a16="http://schemas.microsoft.com/office/drawing/2014/main" val="10007"/>
                  </a:ext>
                </a:extLst>
              </a:tr>
              <a:tr h="164650">
                <a:tc>
                  <a:txBody>
                    <a:bodyPr/>
                    <a:lstStyle/>
                    <a:p>
                      <a:pPr marL="0" marR="0" lvl="0" indent="0" algn="ctr" rtl="0">
                        <a:spcBef>
                          <a:spcPts val="0"/>
                        </a:spcBef>
                        <a:spcAft>
                          <a:spcPts val="0"/>
                        </a:spcAft>
                        <a:buNone/>
                      </a:pPr>
                      <a:r>
                        <a:rPr lang="en-US" sz="800" b="1">
                          <a:solidFill>
                            <a:srgbClr val="0070C0"/>
                          </a:solidFill>
                        </a:rPr>
                        <a:t>-10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6580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5490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4390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2860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a:solidFill>
                            <a:srgbClr val="0070C0"/>
                          </a:solidFill>
                        </a:rPr>
                        <a:t>1870</a:t>
                      </a: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endParaRPr sz="800" b="1">
                        <a:solidFill>
                          <a:srgbClr val="0070C0"/>
                        </a:solidFill>
                      </a:endParaRPr>
                    </a:p>
                  </a:txBody>
                  <a:tcPr marL="36000" marR="36000" marT="36000" marB="36000" anchor="ctr"/>
                </a:tc>
                <a:tc>
                  <a:txBody>
                    <a:bodyPr/>
                    <a:lstStyle/>
                    <a:p>
                      <a:pPr marL="0" marR="0" lvl="0" indent="0" algn="ctr" rtl="0">
                        <a:spcBef>
                          <a:spcPts val="0"/>
                        </a:spcBef>
                        <a:spcAft>
                          <a:spcPts val="0"/>
                        </a:spcAft>
                        <a:buNone/>
                      </a:pPr>
                      <a:r>
                        <a:rPr lang="en-US" sz="800" b="1" dirty="0">
                          <a:solidFill>
                            <a:srgbClr val="0070C0"/>
                          </a:solidFill>
                        </a:rPr>
                        <a:t>6580</a:t>
                      </a:r>
                      <a:endParaRPr sz="800" b="1" dirty="0">
                        <a:solidFill>
                          <a:srgbClr val="0070C0"/>
                        </a:solidFill>
                      </a:endParaRPr>
                    </a:p>
                  </a:txBody>
                  <a:tcPr marL="36000" marR="36000" marT="36000" marB="36000" anchor="ctr"/>
                </a:tc>
                <a:extLst>
                  <a:ext uri="{0D108BD9-81ED-4DB2-BD59-A6C34878D82A}">
                    <a16:rowId xmlns:a16="http://schemas.microsoft.com/office/drawing/2014/main" val="10008"/>
                  </a:ext>
                </a:extLst>
              </a:tr>
            </a:tbl>
          </a:graphicData>
        </a:graphic>
      </p:graphicFrame>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graphicFrame>
        <p:nvGraphicFramePr>
          <p:cNvPr id="402" name="Google Shape;402;p31"/>
          <p:cNvGraphicFramePr/>
          <p:nvPr>
            <p:extLst>
              <p:ext uri="{D42A27DB-BD31-4B8C-83A1-F6EECF244321}">
                <p14:modId xmlns:p14="http://schemas.microsoft.com/office/powerpoint/2010/main" val="3821158505"/>
              </p:ext>
            </p:extLst>
          </p:nvPr>
        </p:nvGraphicFramePr>
        <p:xfrm>
          <a:off x="12706" y="8861"/>
          <a:ext cx="2328875" cy="5512521"/>
        </p:xfrm>
        <a:graphic>
          <a:graphicData uri="http://schemas.openxmlformats.org/drawingml/2006/table">
            <a:tbl>
              <a:tblPr firstRow="1" bandRow="1">
                <a:noFill/>
                <a:tableStyleId>{A521BE36-7E6F-4EC9-8D66-1CF97A6895EC}</a:tableStyleId>
              </a:tblPr>
              <a:tblGrid>
                <a:gridCol w="2328875">
                  <a:extLst>
                    <a:ext uri="{9D8B030D-6E8A-4147-A177-3AD203B41FA5}">
                      <a16:colId xmlns:a16="http://schemas.microsoft.com/office/drawing/2014/main" val="20000"/>
                    </a:ext>
                  </a:extLst>
                </a:gridCol>
              </a:tblGrid>
              <a:tr h="231051">
                <a:tc>
                  <a:txBody>
                    <a:bodyPr/>
                    <a:lstStyle/>
                    <a:p>
                      <a:pPr marL="0" marR="0" lvl="0" indent="0" algn="l" rtl="0">
                        <a:spcBef>
                          <a:spcPts val="0"/>
                        </a:spcBef>
                        <a:spcAft>
                          <a:spcPts val="0"/>
                        </a:spcAft>
                        <a:buNone/>
                      </a:pPr>
                      <a:r>
                        <a:rPr lang="en-US" sz="1000" dirty="0">
                          <a:latin typeface="Arial" panose="020B0604020202020204" pitchFamily="34" charset="0"/>
                          <a:cs typeface="Arial" panose="020B0604020202020204" pitchFamily="34" charset="0"/>
                        </a:rPr>
                        <a:t>COLD </a:t>
                      </a:r>
                      <a:r>
                        <a:rPr lang="en-US" sz="1000" dirty="0" err="1">
                          <a:latin typeface="Arial" panose="020B0604020202020204" pitchFamily="34" charset="0"/>
                          <a:cs typeface="Arial" panose="020B0604020202020204" pitchFamily="34" charset="0"/>
                        </a:rPr>
                        <a:t>Wx</a:t>
                      </a:r>
                      <a:r>
                        <a:rPr lang="en-US" sz="1000" dirty="0">
                          <a:latin typeface="Arial" panose="020B0604020202020204" pitchFamily="34" charset="0"/>
                          <a:cs typeface="Arial" panose="020B0604020202020204" pitchFamily="34" charset="0"/>
                        </a:rPr>
                        <a:t> Operation</a:t>
                      </a:r>
                      <a:endParaRPr sz="10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0"/>
                  </a:ext>
                </a:extLst>
              </a:tr>
              <a:tr h="701803">
                <a:tc>
                  <a:txBody>
                    <a:bodyPr/>
                    <a:lstStyle/>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OAT (GND) / TAT (TAT) is 10°C (50°F) or below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visible moisture (clouds, fog with VIS 1SM (1600 m) or rain, snow, sleet, ice crystals...)</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dirty="0">
                          <a:latin typeface="Arial" panose="020B0604020202020204" pitchFamily="34" charset="0"/>
                          <a:ea typeface="Helvetica Neue"/>
                          <a:cs typeface="Arial" panose="020B0604020202020204" pitchFamily="34" charset="0"/>
                          <a:sym typeface="Helvetica Neue"/>
                        </a:rPr>
                        <a:t>  • ice, snow, slush and standing water is present on the ramps, taxiways, or runways.</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340893">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PRELIMINARY (OAT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800" b="1" dirty="0">
                          <a:solidFill>
                            <a:schemeClr val="bg1"/>
                          </a:solidFill>
                          <a:latin typeface="Arial" panose="020B0604020202020204" pitchFamily="34" charset="0"/>
                          <a:ea typeface="Helvetica Neue"/>
                          <a:cs typeface="Arial" panose="020B0604020202020204" pitchFamily="34" charset="0"/>
                          <a:sym typeface="Helvetica Neue"/>
                        </a:rPr>
                        <a:t>LOGBOOK </a:t>
                      </a:r>
                      <a:r>
                        <a:rPr lang="en-US" altLang="ko-KR" sz="800" b="1" dirty="0">
                          <a:solidFill>
                            <a:schemeClr val="bg1"/>
                          </a:solidFill>
                          <a:latin typeface="Arial" panose="020B0604020202020204" pitchFamily="34" charset="0"/>
                          <a:ea typeface="Helvetica Neue"/>
                          <a:cs typeface="Arial" panose="020B0604020202020204" pitchFamily="34" charset="0"/>
                          <a:sym typeface="Helvetica Neue"/>
                        </a:rPr>
                        <a:t>--------------------------------------</a:t>
                      </a:r>
                      <a:r>
                        <a:rPr lang="en-US" sz="800" b="1" dirty="0">
                          <a:solidFill>
                            <a:schemeClr val="bg1"/>
                          </a:solidFill>
                          <a:latin typeface="Arial" panose="020B0604020202020204" pitchFamily="34" charset="0"/>
                          <a:ea typeface="Helvetica Neue"/>
                          <a:cs typeface="Arial" panose="020B0604020202020204" pitchFamily="34" charset="0"/>
                          <a:sym typeface="Helvetica Neue"/>
                        </a:rPr>
                        <a:t>  CHECK</a:t>
                      </a:r>
                    </a:p>
                    <a:p>
                      <a:pPr marL="0" marR="0" lvl="0" indent="0" algn="l" rtl="0">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MAX TIME TO NEXT ENG ACC ---- DETERMINE</a:t>
                      </a:r>
                    </a:p>
                    <a:p>
                      <a:pPr marL="0" marR="0" lvl="0" indent="0" algn="l" rtl="0">
                        <a:spcBef>
                          <a:spcPts val="0"/>
                        </a:spcBef>
                        <a:spcAft>
                          <a:spcPts val="0"/>
                        </a:spcAft>
                        <a:buNone/>
                      </a:pPr>
                      <a:r>
                        <a:rPr lang="en-US" sz="600" b="1" dirty="0">
                          <a:solidFill>
                            <a:schemeClr val="bg1"/>
                          </a:solidFill>
                          <a:latin typeface="Arial" panose="020B0604020202020204" pitchFamily="34" charset="0"/>
                          <a:cs typeface="Arial" panose="020B0604020202020204" pitchFamily="34" charset="0"/>
                        </a:rPr>
                        <a:t>TAXI IN TIME – NEXT ENG ACC TIME 15</a:t>
                      </a:r>
                      <a:r>
                        <a:rPr lang="ko-KR" altLang="en-US" sz="600" b="1" dirty="0">
                          <a:solidFill>
                            <a:schemeClr val="bg1"/>
                          </a:solidFill>
                          <a:latin typeface="Arial" panose="020B0604020202020204" pitchFamily="34" charset="0"/>
                          <a:cs typeface="Arial" panose="020B0604020202020204" pitchFamily="34" charset="0"/>
                        </a:rPr>
                        <a:t>분 이내인지 확인</a:t>
                      </a:r>
                      <a:endParaRPr sz="600" b="1" dirty="0">
                        <a:solidFill>
                          <a:schemeClr val="bg1"/>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2"/>
                  </a:ext>
                </a:extLst>
              </a:tr>
              <a:tr h="591961">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TAXI-OUT</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TAXI TIME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MONITOR</a:t>
                      </a: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700" b="0" dirty="0">
                          <a:latin typeface="Arial" panose="020B0604020202020204" pitchFamily="34" charset="0"/>
                          <a:ea typeface="Helvetica Neue"/>
                          <a:cs typeface="Arial" panose="020B0604020202020204" pitchFamily="34" charset="0"/>
                          <a:sym typeface="Helvetica Neue"/>
                        </a:rPr>
                        <a:t>15</a:t>
                      </a:r>
                      <a:r>
                        <a:rPr lang="ko-KR" altLang="en-US" sz="700" b="0" dirty="0">
                          <a:latin typeface="Arial" panose="020B0604020202020204" pitchFamily="34" charset="0"/>
                          <a:ea typeface="Helvetica Neue"/>
                          <a:cs typeface="Arial" panose="020B0604020202020204" pitchFamily="34" charset="0"/>
                          <a:sym typeface="Helvetica Neue"/>
                        </a:rPr>
                        <a:t>분 초과 또는 </a:t>
                      </a:r>
                      <a:r>
                        <a:rPr lang="en-US" altLang="ko-KR" sz="700" b="0" dirty="0">
                          <a:latin typeface="Arial" panose="020B0604020202020204" pitchFamily="34" charset="0"/>
                          <a:ea typeface="Helvetica Neue"/>
                          <a:cs typeface="Arial" panose="020B0604020202020204" pitchFamily="34" charset="0"/>
                          <a:sym typeface="Helvetica Neue"/>
                        </a:rPr>
                        <a:t>Eng Vibrations</a:t>
                      </a:r>
                      <a:r>
                        <a:rPr lang="ko-KR" altLang="en-US" sz="700" b="0" dirty="0">
                          <a:latin typeface="Arial" panose="020B0604020202020204" pitchFamily="34" charset="0"/>
                          <a:ea typeface="Helvetica Neue"/>
                          <a:cs typeface="Arial" panose="020B0604020202020204" pitchFamily="34" charset="0"/>
                          <a:sym typeface="Helvetica Neue"/>
                        </a:rPr>
                        <a:t>시 절차 수행</a:t>
                      </a:r>
                      <a:endParaRPr lang="en-US" altLang="ko-KR" sz="700" b="0" dirty="0">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SURFACE COND &amp; AREA ---------- CHECK</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ATC ------------------------------------------------ NOTIFY</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PARKING BRAKE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the aircraft starts to move, immediately retard the thrust levers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7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Repeat this procedure at intervals not longer than 15 min, or if the engine vibrations increase.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SOP TAXI -------------------------------------- RESUME</a:t>
                      </a:r>
                    </a:p>
                  </a:txBody>
                  <a:tcPr marL="36000" marR="36000" marT="36000" marB="36000"/>
                </a:tc>
                <a:extLst>
                  <a:ext uri="{0D108BD9-81ED-4DB2-BD59-A6C34878D82A}">
                    <a16:rowId xmlns:a16="http://schemas.microsoft.com/office/drawing/2014/main" val="10003"/>
                  </a:ext>
                </a:extLst>
              </a:tr>
              <a:tr h="500545">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BEFORE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FLAPS lever ------------------ SET FOR TAKEOFF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FLAPS ------------------------------------- CHECK PSN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CONFIG pb ---------------------------------- TEST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T/O MEMO ------------------------ CHECK NO BLUE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AFTER START checklist ------------- COMPLETE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BEFORE TAKEOFF checklist --- ACCOMPLISH</a:t>
                      </a:r>
                      <a:endParaRPr lang="en-US" sz="900" b="1" dirty="0">
                        <a:solidFill>
                          <a:schemeClr val="bg1"/>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4"/>
                  </a:ext>
                </a:extLst>
              </a:tr>
              <a:tr h="46642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lang="en-US" sz="900" b="1" dirty="0">
                          <a:latin typeface="Arial" panose="020B0604020202020204" pitchFamily="34" charset="0"/>
                          <a:ea typeface="Helvetica Neue"/>
                          <a:cs typeface="Arial" panose="020B0604020202020204" pitchFamily="34" charset="0"/>
                          <a:sym typeface="Helvetica Neue"/>
                        </a:rPr>
                        <a:t>TAKEOFF</a:t>
                      </a: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(OAT 3</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 </a:t>
                      </a:r>
                      <a:r>
                        <a:rPr kumimoji="0" lang="ko-Kore-KR" altLang="en-US"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이하</a:t>
                      </a:r>
                      <a:r>
                        <a:rPr kumimoji="0" lang="en-US" altLang="ko-Kore-KR" sz="8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 final engine acceleration must be performed before takeoff to entirely clean the engine from ice accretion.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ATC ------------------------------------------------ NOTIFY</a:t>
                      </a:r>
                      <a:endParaRPr lang="en-US" sz="900" b="1" dirty="0">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None/>
                      </a:pPr>
                      <a:r>
                        <a:rPr lang="en-US" sz="800" b="1" dirty="0">
                          <a:solidFill>
                            <a:srgbClr val="0070C0"/>
                          </a:solidFill>
                          <a:latin typeface="Arial" panose="020B0604020202020204" pitchFamily="34" charset="0"/>
                          <a:ea typeface="Helvetica Neue"/>
                          <a:cs typeface="Arial" panose="020B0604020202020204" pitchFamily="34" charset="0"/>
                          <a:sym typeface="Helvetica Neue"/>
                        </a:rPr>
                        <a:t>PARKING BRK(OR BRK PEDALS) ------ APPLY</a:t>
                      </a:r>
                      <a:endParaRPr sz="500" dirty="0">
                        <a:solidFill>
                          <a:srgbClr val="0070C0"/>
                        </a:solidFill>
                        <a:latin typeface="Arial" panose="020B0604020202020204" pitchFamily="34" charset="0"/>
                        <a:cs typeface="Arial" panose="020B0604020202020204" pitchFamily="34" charset="0"/>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----- 50% N1 (NO HOLD TIME)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 LEVERS ------</a:t>
                      </a: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RETARD TO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SOP TAKEOFF ------------------------------- RESUME</a:t>
                      </a:r>
                    </a:p>
                  </a:txBody>
                  <a:tcPr marL="36000" marR="36000" marT="36000" marB="36000"/>
                </a:tc>
                <a:extLst>
                  <a:ext uri="{0D108BD9-81ED-4DB2-BD59-A6C34878D82A}">
                    <a16:rowId xmlns:a16="http://schemas.microsoft.com/office/drawing/2014/main" val="10005"/>
                  </a:ext>
                </a:extLst>
              </a:tr>
              <a:tr h="466427">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9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AFTER L/D, PARKING</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DO NOT RETRACT FLAPS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Ice Shedding </a:t>
                      </a:r>
                      <a:r>
                        <a:rPr kumimoji="0" lang="ko-KR" altLang="en-US"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절차 반복</a:t>
                      </a:r>
                      <a:endParaRPr kumimoji="0" lang="en-US" altLang="ko-KR" sz="800" b="0"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2064318730"/>
                  </a:ext>
                </a:extLst>
              </a:tr>
            </a:tbl>
          </a:graphicData>
        </a:graphic>
      </p:graphicFrame>
      <p:sp>
        <p:nvSpPr>
          <p:cNvPr id="3" name="직사각형 2">
            <a:hlinkClick r:id="" action="ppaction://hlinkshowjump?jump=firstslide"/>
            <a:extLst>
              <a:ext uri="{FF2B5EF4-FFF2-40B4-BE49-F238E27FC236}">
                <a16:creationId xmlns:a16="http://schemas.microsoft.com/office/drawing/2014/main" id="{3C10DF26-E717-6E81-27C6-F6B26E149BB6}"/>
              </a:ext>
            </a:extLst>
          </p:cNvPr>
          <p:cNvSpPr/>
          <p:nvPr/>
        </p:nvSpPr>
        <p:spPr>
          <a:xfrm>
            <a:off x="1461607" y="5166290"/>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graphicFrame>
        <p:nvGraphicFramePr>
          <p:cNvPr id="414" name="Google Shape;414;p33"/>
          <p:cNvGraphicFramePr/>
          <p:nvPr>
            <p:extLst>
              <p:ext uri="{D42A27DB-BD31-4B8C-83A1-F6EECF244321}">
                <p14:modId xmlns:p14="http://schemas.microsoft.com/office/powerpoint/2010/main" val="2345691541"/>
              </p:ext>
            </p:extLst>
          </p:nvPr>
        </p:nvGraphicFramePr>
        <p:xfrm>
          <a:off x="0" y="7749"/>
          <a:ext cx="2326511" cy="5472240"/>
        </p:xfrm>
        <a:graphic>
          <a:graphicData uri="http://schemas.openxmlformats.org/drawingml/2006/table">
            <a:tbl>
              <a:tblPr firstRow="1" bandRow="1">
                <a:noFill/>
                <a:tableStyleId>{A521BE36-7E6F-4EC9-8D66-1CF97A6895EC}</a:tableStyleId>
              </a:tblPr>
              <a:tblGrid>
                <a:gridCol w="2326511">
                  <a:extLst>
                    <a:ext uri="{9D8B030D-6E8A-4147-A177-3AD203B41FA5}">
                      <a16:colId xmlns:a16="http://schemas.microsoft.com/office/drawing/2014/main" val="20000"/>
                    </a:ext>
                  </a:extLst>
                </a:gridCol>
              </a:tblGrid>
              <a:tr h="315307">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ON Deicing in </a:t>
                      </a:r>
                      <a:r>
                        <a:rPr lang="en-US" sz="1100" dirty="0">
                          <a:solidFill>
                            <a:srgbClr val="00B050"/>
                          </a:solidFill>
                          <a:latin typeface="Arial" panose="020B0604020202020204" pitchFamily="34" charset="0"/>
                          <a:cs typeface="Arial" panose="020B0604020202020204" pitchFamily="34" charset="0"/>
                        </a:rPr>
                        <a:t>ICN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TOBT- 40min CTC KE ICN (</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사전신청</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r>
                        <a:rPr kumimoji="0" lang="ko-KR" altLang="en-US" sz="800" b="1" i="0" u="none" strike="noStrike" kern="0" cap="none" spc="0" normalizeH="0" baseline="0" noProof="0" dirty="0">
                          <a:ln>
                            <a:noFill/>
                          </a:ln>
                          <a:solidFill>
                            <a:srgbClr val="FFC000"/>
                          </a:solidFill>
                          <a:effectLst/>
                          <a:uLnTx/>
                          <a:uFillTx/>
                          <a:latin typeface="Arial" panose="020B0604020202020204" pitchFamily="34" charset="0"/>
                          <a:ea typeface="+mn-ea"/>
                          <a:cs typeface="Arial" panose="020B0604020202020204" pitchFamily="34" charset="0"/>
                          <a:sym typeface="Helvetica Neue"/>
                        </a:rPr>
                        <a:t> 결과확인</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4920">
                <a:tc>
                  <a:txBody>
                    <a:bodyPr/>
                    <a:lstStyle/>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Deicing </a:t>
                      </a:r>
                      <a:r>
                        <a:rPr lang="en-US" sz="700" dirty="0">
                          <a:latin typeface="Arial" panose="020B0604020202020204" pitchFamily="34" charset="0"/>
                          <a:ea typeface="Helvetica Neue"/>
                          <a:cs typeface="Arial" panose="020B0604020202020204" pitchFamily="34" charset="0"/>
                          <a:sym typeface="Helvetica Neue"/>
                        </a:rPr>
                        <a:t>”Deicing Required ENG On Deicing”</a:t>
                      </a:r>
                      <a:endParaRPr sz="7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ICN Apron </a:t>
                      </a:r>
                      <a:r>
                        <a:rPr lang="en-US" sz="700" dirty="0">
                          <a:latin typeface="Arial" panose="020B0604020202020204" pitchFamily="34" charset="0"/>
                          <a:ea typeface="Helvetica Neue"/>
                          <a:cs typeface="Arial" panose="020B0604020202020204" pitchFamily="34" charset="0"/>
                          <a:sym typeface="Helvetica Neue"/>
                        </a:rPr>
                        <a:t>“Req Pushback Deicing Zone xx”</a:t>
                      </a:r>
                      <a:r>
                        <a:rPr lang="ko-KR" altLang="en-US" sz="700" dirty="0">
                          <a:latin typeface="Arial" panose="020B0604020202020204" pitchFamily="34" charset="0"/>
                          <a:ea typeface="Helvetica Neue"/>
                          <a:cs typeface="Arial" panose="020B0604020202020204" pitchFamily="34" charset="0"/>
                          <a:sym typeface="Helvetica Neue"/>
                        </a:rPr>
                        <a:t> </a:t>
                      </a:r>
                      <a:r>
                        <a:rPr lang="en-US" sz="700" b="1" dirty="0">
                          <a:solidFill>
                            <a:srgbClr val="00B050"/>
                          </a:solidFill>
                          <a:latin typeface="Arial" panose="020B0604020202020204" pitchFamily="34" charset="0"/>
                          <a:ea typeface="Helvetica Neue"/>
                          <a:cs typeface="Arial" panose="020B0604020202020204" pitchFamily="34" charset="0"/>
                          <a:sym typeface="Helvetica Neue"/>
                        </a:rPr>
                        <a:t>SQ2000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700" dirty="0">
                          <a:solidFill>
                            <a:srgbClr val="0070C0"/>
                          </a:solidFill>
                          <a:latin typeface="Arial" panose="020B0604020202020204" pitchFamily="34" charset="0"/>
                          <a:ea typeface="Helvetica Neue"/>
                          <a:cs typeface="Arial" panose="020B0604020202020204" pitchFamily="34" charset="0"/>
                          <a:sym typeface="Helvetica Neue"/>
                        </a:rPr>
                        <a:t>Pad Control </a:t>
                      </a:r>
                      <a:r>
                        <a:rPr kumimoji="0" lang="en-US"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Arrange</a:t>
                      </a:r>
                      <a:r>
                        <a:rPr kumimoji="0" lang="en-US" altLang="ko-Kore-KR" sz="7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Deicing Pad No.</a:t>
                      </a:r>
                      <a:endParaRPr lang="en-US" sz="700"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700" dirty="0">
                          <a:solidFill>
                            <a:srgbClr val="0070C0"/>
                          </a:solidFill>
                          <a:latin typeface="Arial" panose="020B0604020202020204" pitchFamily="34" charset="0"/>
                          <a:ea typeface="Helvetica Neue"/>
                          <a:cs typeface="Arial" panose="020B0604020202020204" pitchFamily="34" charset="0"/>
                          <a:sym typeface="Helvetica Neue"/>
                        </a:rPr>
                        <a:t>Ice Man</a:t>
                      </a:r>
                      <a:r>
                        <a:rPr lang="en-US" sz="700" dirty="0">
                          <a:latin typeface="Arial" panose="020B0604020202020204" pitchFamily="34" charset="0"/>
                          <a:ea typeface="Helvetica Neue"/>
                          <a:cs typeface="Arial" panose="020B0604020202020204" pitchFamily="34" charset="0"/>
                          <a:sym typeface="Helvetica Neue"/>
                        </a:rPr>
                        <a:t> Manage Deicing Process</a:t>
                      </a:r>
                      <a:endParaRPr sz="700"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6734">
                <a:tc>
                  <a:txBody>
                    <a:bodyPr/>
                    <a:lstStyle/>
                    <a:p>
                      <a:pPr marL="0" marR="0" lvl="0" indent="0" algn="l" rtl="0">
                        <a:spcBef>
                          <a:spcPts val="0"/>
                        </a:spcBef>
                        <a:spcAft>
                          <a:spcPts val="0"/>
                        </a:spcAft>
                        <a:buNone/>
                      </a:pPr>
                      <a:r>
                        <a:rPr lang="en-US" sz="800" b="1" dirty="0">
                          <a:solidFill>
                            <a:srgbClr val="C00000"/>
                          </a:solidFill>
                          <a:latin typeface="Arial" panose="020B0604020202020204" pitchFamily="34" charset="0"/>
                          <a:ea typeface="Helvetica Neue"/>
                          <a:cs typeface="Arial" panose="020B0604020202020204" pitchFamily="34" charset="0"/>
                          <a:sym typeface="Helvetica Neue"/>
                        </a:rPr>
                        <a:t>Gate </a:t>
                      </a:r>
                      <a:r>
                        <a:rPr lang="ko-KR" altLang="en-US" sz="800" b="1" dirty="0" err="1">
                          <a:solidFill>
                            <a:srgbClr val="C00000"/>
                          </a:solidFill>
                          <a:latin typeface="Arial" panose="020B0604020202020204" pitchFamily="34" charset="0"/>
                          <a:ea typeface="Helvetica Neue"/>
                          <a:cs typeface="Arial" panose="020B0604020202020204" pitchFamily="34" charset="0"/>
                          <a:sym typeface="Helvetica Neue"/>
                        </a:rPr>
                        <a:t>시동후</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 </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(FLAP UP, FLT CTL CHK </a:t>
                      </a:r>
                      <a:r>
                        <a:rPr lang="ko-KR" altLang="en-US" sz="800" b="1" dirty="0">
                          <a:solidFill>
                            <a:srgbClr val="C00000"/>
                          </a:solidFill>
                          <a:latin typeface="Arial" panose="020B0604020202020204" pitchFamily="34" charset="0"/>
                          <a:ea typeface="Helvetica Neue"/>
                          <a:cs typeface="Arial" panose="020B0604020202020204" pitchFamily="34" charset="0"/>
                          <a:sym typeface="Helvetica Neue"/>
                        </a:rPr>
                        <a:t>없이</a:t>
                      </a:r>
                      <a:r>
                        <a:rPr lang="en-US" altLang="ko-KR" sz="800" b="1" dirty="0">
                          <a:solidFill>
                            <a:srgbClr val="C00000"/>
                          </a:solidFill>
                          <a:latin typeface="Arial" panose="020B0604020202020204" pitchFamily="34" charset="0"/>
                          <a:ea typeface="Helvetica Neue"/>
                          <a:cs typeface="Arial" panose="020B0604020202020204" pitchFamily="34" charset="0"/>
                          <a:sym typeface="Helvetica Neue"/>
                        </a:rPr>
                        <a:t>)</a:t>
                      </a:r>
                      <a:endParaRPr lang="en-US" sz="900" b="1"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SET </a:t>
                      </a:r>
                      <a:endParaRPr dirty="0">
                        <a:solidFill>
                          <a:srgbClr val="0070C0"/>
                        </a:solidFill>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Report Parking Brake SET - &gt; Ice Man</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altLang="ko-Kore-KR" sz="900" b="1" i="0" kern="1200"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OFF </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COMMUNICATION with GND </a:t>
                      </a:r>
                      <a:r>
                        <a:rPr lang="en-US" sz="900" b="1" i="0" kern="1200" dirty="0">
                          <a:solidFill>
                            <a:schemeClr val="bg1"/>
                          </a:solidFill>
                          <a:latin typeface="Arial" panose="020B0604020202020204" pitchFamily="34" charset="0"/>
                          <a:ea typeface="Helvetica Neue"/>
                          <a:cs typeface="Arial" panose="020B0604020202020204" pitchFamily="34" charset="0"/>
                          <a:sym typeface="Helvetica Neue"/>
                        </a:rPr>
                        <a:t>------ </a:t>
                      </a:r>
                      <a:r>
                        <a:rPr lang="en-US" sz="900" b="1" dirty="0">
                          <a:solidFill>
                            <a:schemeClr val="bg1"/>
                          </a:solidFill>
                          <a:latin typeface="Arial" panose="020B0604020202020204" pitchFamily="34" charset="0"/>
                          <a:ea typeface="Helvetica Neue"/>
                          <a:cs typeface="Arial" panose="020B0604020202020204" pitchFamily="34" charset="0"/>
                          <a:sym typeface="Helvetica Neue"/>
                        </a:rPr>
                        <a:t>ESTAB</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rtl="0">
                        <a:spcBef>
                          <a:spcPts val="0"/>
                        </a:spcBef>
                        <a:spcAft>
                          <a:spcPts val="0"/>
                        </a:spcAft>
                        <a:buNone/>
                      </a:pPr>
                      <a:r>
                        <a:rPr lang="en-US" sz="700" b="1" dirty="0">
                          <a:solidFill>
                            <a:srgbClr val="0070C0"/>
                          </a:solidFill>
                          <a:latin typeface="Arial" panose="020B0604020202020204" pitchFamily="34" charset="0"/>
                          <a:ea typeface="Helvetica Neue"/>
                          <a:cs typeface="Arial" panose="020B0604020202020204" pitchFamily="34" charset="0"/>
                          <a:sym typeface="Helvetica Neue"/>
                        </a:rPr>
                        <a:t>Note</a:t>
                      </a:r>
                      <a:r>
                        <a:rPr lang="en-US" sz="700" b="1" dirty="0">
                          <a:solidFill>
                            <a:schemeClr val="bg1"/>
                          </a:solidFill>
                          <a:latin typeface="Arial" panose="020B0604020202020204" pitchFamily="34" charset="0"/>
                          <a:ea typeface="Helvetica Neue"/>
                          <a:cs typeface="Arial" panose="020B0604020202020204" pitchFamily="34" charset="0"/>
                          <a:sym typeface="Helvetica Neue"/>
                        </a:rPr>
                        <a:t> : </a:t>
                      </a:r>
                      <a:r>
                        <a:rPr lang="en-US" sz="700" b="1" dirty="0">
                          <a:solidFill>
                            <a:srgbClr val="FFC000"/>
                          </a:solidFill>
                          <a:latin typeface="Arial" panose="020B0604020202020204" pitchFamily="34" charset="0"/>
                          <a:ea typeface="Helvetica Neue"/>
                          <a:cs typeface="Arial" panose="020B0604020202020204" pitchFamily="34" charset="0"/>
                          <a:sym typeface="Helvetica Neue"/>
                        </a:rPr>
                        <a:t>AIR ENG 1+2 BLEED FAULT </a:t>
                      </a:r>
                      <a:r>
                        <a:rPr lang="en-US" sz="700" b="0" dirty="0">
                          <a:solidFill>
                            <a:schemeClr val="bg1"/>
                          </a:solidFill>
                          <a:latin typeface="Arial" panose="020B0604020202020204" pitchFamily="34" charset="0"/>
                          <a:ea typeface="Helvetica Neue"/>
                          <a:cs typeface="Arial" panose="020B0604020202020204" pitchFamily="34" charset="0"/>
                          <a:sym typeface="Helvetica Neue"/>
                        </a:rPr>
                        <a:t>– Disregard</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700" b="1" i="0" u="none" strike="noStrike" kern="120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7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sz="7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THRUST LEVERS ----------------- CHK IDLE</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sz="700" b="0"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Report Ready for Deicing - &gt; Ice Man</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2"/>
                  </a:ext>
                </a:extLst>
              </a:tr>
              <a:tr h="182403">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START</a:t>
                      </a:r>
                      <a:r>
                        <a:rPr lang="ko-KR" altLang="en-US" sz="900" b="1" dirty="0">
                          <a:latin typeface="Arial" panose="020B0604020202020204" pitchFamily="34" charset="0"/>
                          <a:ea typeface="Helvetica Neue"/>
                          <a:cs typeface="Arial" panose="020B0604020202020204" pitchFamily="34" charset="0"/>
                          <a:sym typeface="Helvetica Neue"/>
                        </a:rPr>
                        <a:t> </a:t>
                      </a:r>
                      <a:r>
                        <a:rPr lang="en-US" altLang="ko-KR" sz="900" b="1" dirty="0">
                          <a:latin typeface="Arial" panose="020B0604020202020204" pitchFamily="34" charset="0"/>
                          <a:ea typeface="Helvetica Neue"/>
                          <a:cs typeface="Arial" panose="020B0604020202020204" pitchFamily="34" charset="0"/>
                          <a:sym typeface="Helvetica Neue"/>
                        </a:rPr>
                        <a:t>SPRAY</a:t>
                      </a:r>
                      <a:r>
                        <a:rPr lang="en-US" sz="900" b="1" dirty="0">
                          <a:latin typeface="Arial" panose="020B0604020202020204" pitchFamily="34" charset="0"/>
                          <a:ea typeface="Helvetica Neue"/>
                          <a:cs typeface="Arial" panose="020B0604020202020204" pitchFamily="34" charset="0"/>
                          <a:sym typeface="Helvetica Neue"/>
                        </a:rPr>
                        <a:t>  </a:t>
                      </a:r>
                      <a:r>
                        <a:rPr lang="en-US" sz="800" b="1" dirty="0">
                          <a:solidFill>
                            <a:srgbClr val="7030A0"/>
                          </a:solidFill>
                          <a:latin typeface="Arial" panose="020B0604020202020204" pitchFamily="34" charset="0"/>
                          <a:ea typeface="Helvetica Neue"/>
                          <a:cs typeface="Arial" panose="020B0604020202020204" pitchFamily="34" charset="0"/>
                          <a:sym typeface="Helvetica Neue"/>
                        </a:rPr>
                        <a:t>REQ DCL(CTC DEL)</a:t>
                      </a:r>
                      <a:endParaRPr sz="900" b="1"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3"/>
                  </a:ext>
                </a:extLst>
              </a:tr>
              <a:tr h="846922">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UPON COMPLETE SPRAY</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(TIME CHK 1분)</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err="1">
                          <a:latin typeface="Arial" panose="020B0604020202020204" pitchFamily="34" charset="0"/>
                          <a:ea typeface="Helvetica Neue"/>
                          <a:cs typeface="Arial" panose="020B0604020202020204" pitchFamily="34" charset="0"/>
                          <a:sym typeface="Helvetica Neue"/>
                        </a:rPr>
                        <a:t>용액과</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마지막</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용액</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뿌린</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시간</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받고</a:t>
                      </a:r>
                      <a:r>
                        <a:rPr lang="en-US" sz="700" b="0" dirty="0">
                          <a:latin typeface="Arial" panose="020B0604020202020204" pitchFamily="34" charset="0"/>
                          <a:ea typeface="Helvetica Neue"/>
                          <a:cs typeface="Arial" panose="020B0604020202020204" pitchFamily="34" charset="0"/>
                          <a:sym typeface="Helvetica Neue"/>
                        </a:rPr>
                        <a:t> </a:t>
                      </a:r>
                      <a:r>
                        <a:rPr lang="en-US" sz="700" b="0" dirty="0" err="1">
                          <a:latin typeface="Arial" panose="020B0604020202020204" pitchFamily="34" charset="0"/>
                          <a:ea typeface="Helvetica Neue"/>
                          <a:cs typeface="Arial" panose="020B0604020202020204" pitchFamily="34" charset="0"/>
                          <a:sym typeface="Helvetica Neue"/>
                        </a:rPr>
                        <a:t>적는다</a:t>
                      </a:r>
                      <a:r>
                        <a:rPr lang="en-US" sz="700" b="0" dirty="0">
                          <a:latin typeface="Arial" panose="020B0604020202020204" pitchFamily="34" charset="0"/>
                          <a:ea typeface="Helvetica Neue"/>
                          <a:cs typeface="Arial" panose="020B0604020202020204" pitchFamily="34" charset="0"/>
                          <a:sym typeface="Helvetica Neue"/>
                        </a:rPr>
                        <a:t>. </a:t>
                      </a:r>
                      <a:endParaRPr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700" b="0" dirty="0">
                          <a:latin typeface="Arial" panose="020B0604020202020204" pitchFamily="34" charset="0"/>
                          <a:ea typeface="Helvetica Neue"/>
                          <a:cs typeface="Arial" panose="020B0604020202020204" pitchFamily="34" charset="0"/>
                          <a:sym typeface="Helvetica Neue"/>
                        </a:rPr>
                        <a:t>Holdover Time </a:t>
                      </a:r>
                      <a:r>
                        <a:rPr lang="en-US" sz="700" b="0" dirty="0" err="1">
                          <a:latin typeface="Arial" panose="020B0604020202020204" pitchFamily="34" charset="0"/>
                          <a:ea typeface="Helvetica Neue"/>
                          <a:cs typeface="Arial" panose="020B0604020202020204" pitchFamily="34" charset="0"/>
                          <a:sym typeface="Helvetica Neue"/>
                        </a:rPr>
                        <a:t>결정</a:t>
                      </a:r>
                      <a:r>
                        <a:rPr lang="en-US" sz="700" b="0" dirty="0">
                          <a:latin typeface="Arial" panose="020B0604020202020204" pitchFamily="34" charset="0"/>
                          <a:ea typeface="Helvetica Neue"/>
                          <a:cs typeface="Arial" panose="020B0604020202020204" pitchFamily="34" charset="0"/>
                          <a:sym typeface="Helvetica Neue"/>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10004"/>
                  </a:ext>
                </a:extLst>
              </a:tr>
              <a:tr h="901306">
                <a:tc>
                  <a:txBody>
                    <a:bodyPr/>
                    <a:lstStyle/>
                    <a:p>
                      <a:pPr marL="0" marR="0" lvl="0" indent="0" algn="l" rtl="0">
                        <a:lnSpc>
                          <a:spcPct val="100000"/>
                        </a:lnSpc>
                        <a:spcBef>
                          <a:spcPts val="0"/>
                        </a:spcBef>
                        <a:spcAft>
                          <a:spcPts val="0"/>
                        </a:spcAft>
                        <a:buClr>
                          <a:srgbClr val="00B050"/>
                        </a:buClr>
                        <a:buSzPts val="800"/>
                        <a:buFont typeface="Helvetica Neue"/>
                        <a:buNone/>
                      </a:pPr>
                      <a:r>
                        <a:rPr lang="en-US"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rPr>
                        <a:t>TIME CHECK 1분후 </a:t>
                      </a:r>
                      <a:endParaRPr sz="800" b="1" i="0" u="none" strike="noStrike" cap="none"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 1 &amp; 2 BLEED -</a:t>
                      </a:r>
                      <a:r>
                        <a:rPr lang="en-US" altLang="ko-KR" sz="900" b="1" dirty="0">
                          <a:solidFill>
                            <a:srgbClr val="0070C0"/>
                          </a:solidFill>
                          <a:latin typeface="Arial" panose="020B0604020202020204" pitchFamily="34" charset="0"/>
                          <a:ea typeface="Helvetica Neue"/>
                          <a:cs typeface="Arial" panose="020B0604020202020204" pitchFamily="34" charset="0"/>
                          <a:sym typeface="Helvetica Neue"/>
                        </a:rPr>
                        <a:t>----------------</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ON</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B050"/>
                          </a:solidFill>
                          <a:latin typeface="Arial" panose="020B0604020202020204" pitchFamily="34" charset="0"/>
                          <a:ea typeface="Helvetica Neue"/>
                          <a:cs typeface="Arial" panose="020B0604020202020204" pitchFamily="34" charset="0"/>
                          <a:sym typeface="Helvetica Neue"/>
                        </a:rPr>
                        <a:t>5</a:t>
                      </a:r>
                      <a:r>
                        <a:rPr lang="ko-KR" altLang="en-US" sz="900" b="1" dirty="0" err="1">
                          <a:solidFill>
                            <a:srgbClr val="00B050"/>
                          </a:solidFill>
                          <a:latin typeface="Arial" panose="020B0604020202020204" pitchFamily="34" charset="0"/>
                          <a:ea typeface="Helvetica Neue"/>
                          <a:cs typeface="Arial" panose="020B0604020202020204" pitchFamily="34" charset="0"/>
                          <a:sym typeface="Helvetica Neue"/>
                        </a:rPr>
                        <a:t>분후</a:t>
                      </a:r>
                      <a:r>
                        <a:rPr lang="ko-KR" altLang="en-US" sz="900" b="1" dirty="0">
                          <a:solidFill>
                            <a:srgbClr val="00B050"/>
                          </a:solidFill>
                          <a:latin typeface="Arial" panose="020B0604020202020204" pitchFamily="34" charset="0"/>
                          <a:ea typeface="Helvetica Neue"/>
                          <a:cs typeface="Arial" panose="020B0604020202020204" pitchFamily="34" charset="0"/>
                          <a:sym typeface="Helvetica Neue"/>
                        </a:rPr>
                        <a:t> </a:t>
                      </a:r>
                      <a:endParaRPr lang="en-US" altLang="ko-KR" sz="900" b="1" dirty="0">
                        <a:solidFill>
                          <a:srgbClr val="00B050"/>
                        </a:solidFill>
                        <a:latin typeface="Arial" panose="020B0604020202020204" pitchFamily="34" charset="0"/>
                        <a:ea typeface="Helvetica Neue"/>
                        <a:cs typeface="Arial" panose="020B0604020202020204" pitchFamily="34" charset="0"/>
                        <a:sym typeface="Helvetica Neue"/>
                      </a:endParaRP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APU BLEED -------------------------- AS RQRD </a:t>
                      </a:r>
                    </a:p>
                    <a:p>
                      <a:pPr marL="0" marR="0" lvl="0" indent="0" algn="l" rtl="0">
                        <a:lnSpc>
                          <a:spcPct val="100000"/>
                        </a:lnSpc>
                        <a:spcBef>
                          <a:spcPts val="0"/>
                        </a:spcBef>
                        <a:spcAft>
                          <a:spcPts val="0"/>
                        </a:spcAft>
                        <a:buClr>
                          <a:schemeClr val="dk1"/>
                        </a:buClr>
                        <a:buSzPts val="900"/>
                        <a:buFont typeface="Helvetica Neue"/>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NORMAL PROCEDURE ----------- RESUME</a:t>
                      </a:r>
                    </a:p>
                    <a:p>
                      <a:pPr marL="0" marR="0" lvl="0" indent="0" algn="l" rtl="0">
                        <a:lnSpc>
                          <a:spcPct val="100000"/>
                        </a:lnSpc>
                        <a:spcBef>
                          <a:spcPts val="0"/>
                        </a:spcBef>
                        <a:spcAft>
                          <a:spcPts val="0"/>
                        </a:spcAft>
                        <a:buClr>
                          <a:schemeClr val="dk1"/>
                        </a:buClr>
                        <a:buSzPts val="900"/>
                        <a:buFont typeface="Helvetica Neue"/>
                        <a:buNone/>
                      </a:pPr>
                      <a:r>
                        <a:rPr lang="en-US" sz="800" b="1" dirty="0">
                          <a:solidFill>
                            <a:srgbClr val="7030A0"/>
                          </a:solidFill>
                          <a:latin typeface="Arial" panose="020B0604020202020204" pitchFamily="34" charset="0"/>
                          <a:cs typeface="Arial" panose="020B0604020202020204" pitchFamily="34" charset="0"/>
                        </a:rPr>
                        <a:t>FLT CONTROL CHK, FLAPS UP </a:t>
                      </a:r>
                      <a:endParaRPr sz="800" b="1" dirty="0">
                        <a:solidFill>
                          <a:srgbClr val="7030A0"/>
                        </a:solidFill>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5"/>
                  </a:ext>
                </a:extLst>
              </a:tr>
              <a:tr h="18240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0000"/>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kumimoji="0" lang="en-US" altLang="ko-Kore-KR" sz="1400" b="0" i="0" u="none" strike="noStrike" kern="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Arial"/>
                      </a:endParaRPr>
                    </a:p>
                  </a:txBody>
                  <a:tcPr marL="36000" marR="36000" marT="36000" marB="36000"/>
                </a:tc>
                <a:extLst>
                  <a:ext uri="{0D108BD9-81ED-4DB2-BD59-A6C34878D82A}">
                    <a16:rowId xmlns:a16="http://schemas.microsoft.com/office/drawing/2014/main" val="871598603"/>
                  </a:ext>
                </a:extLst>
              </a:tr>
            </a:tbl>
          </a:graphicData>
        </a:graphic>
      </p:graphicFrame>
      <p:sp>
        <p:nvSpPr>
          <p:cNvPr id="2" name="직사각형 1">
            <a:hlinkClick r:id="" action="ppaction://hlinkshowjump?jump=firstslide"/>
            <a:extLst>
              <a:ext uri="{FF2B5EF4-FFF2-40B4-BE49-F238E27FC236}">
                <a16:creationId xmlns:a16="http://schemas.microsoft.com/office/drawing/2014/main" id="{654F4649-BD0D-E760-E72F-6EB5CB4F04CE}"/>
              </a:ext>
            </a:extLst>
          </p:cNvPr>
          <p:cNvSpPr/>
          <p:nvPr/>
        </p:nvSpPr>
        <p:spPr>
          <a:xfrm>
            <a:off x="1577175" y="5184465"/>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5" name="직사각형 4">
            <a:hlinkClick r:id="" action="ppaction://hlinkshowjump?jump=firstslide"/>
            <a:extLst>
              <a:ext uri="{FF2B5EF4-FFF2-40B4-BE49-F238E27FC236}">
                <a16:creationId xmlns:a16="http://schemas.microsoft.com/office/drawing/2014/main" id="{FE7F3A02-AA51-DBC3-F6F5-0AAFB47EC18F}"/>
              </a:ext>
            </a:extLst>
          </p:cNvPr>
          <p:cNvSpPr/>
          <p:nvPr/>
        </p:nvSpPr>
        <p:spPr>
          <a:xfrm>
            <a:off x="1452341" y="633587"/>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3"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4" name="Google Shape;424;p34"/>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 name="직사각형 2">
            <a:hlinkClick r:id="" action="ppaction://hlinkshowjump?jump=firstslide"/>
            <a:extLst>
              <a:ext uri="{FF2B5EF4-FFF2-40B4-BE49-F238E27FC236}">
                <a16:creationId xmlns:a16="http://schemas.microsoft.com/office/drawing/2014/main" id="{C997E6E1-18FF-431A-35CB-6F548E671CDF}"/>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2" name="그림 1">
            <a:extLst>
              <a:ext uri="{FF2B5EF4-FFF2-40B4-BE49-F238E27FC236}">
                <a16:creationId xmlns:a16="http://schemas.microsoft.com/office/drawing/2014/main" id="{A7687D0D-8717-8A42-EC79-38E080108ABA}"/>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834F9B4-A3F9-8E74-8FCA-4558DBC4CA92}"/>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61A8D325-7FFC-E9C0-0360-CA6286DAF7B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30" name="Google Shape;430;p35"/>
              <p:cNvGraphicFramePr/>
              <p:nvPr>
                <p:extLst>
                  <p:ext uri="{D42A27DB-BD31-4B8C-83A1-F6EECF244321}">
                    <p14:modId xmlns:p14="http://schemas.microsoft.com/office/powerpoint/2010/main" val="80189862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48428">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218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REQ DCL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0"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Deicing </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“Deicing Required </a:t>
                          </a:r>
                          <a:r>
                            <a:rPr kumimoji="0" lang="en-US" altLang="ko-Kore-KR" sz="800" b="0" i="0" u="none" strike="noStrike" kern="0" cap="none" spc="0" normalizeH="0" baseline="0" noProof="0" dirty="0" err="1">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PADxxx</a:t>
                          </a:r>
                          <a:r>
                            <a:rPr kumimoji="0" lang="en-US" altLang="ko-Kore-KR" sz="800" b="0" i="0" u="none" strike="noStrike" kern="0" cap="none" spc="0" normalizeH="0" baseline="0" noProof="0" dirty="0">
                              <a:ln>
                                <a:noFill/>
                              </a:ln>
                              <a:solidFill>
                                <a:srgbClr val="000000"/>
                              </a:solidFill>
                              <a:effectLst/>
                              <a:uLnTx/>
                              <a:uFillTx/>
                              <a:latin typeface="Arial" panose="020B0604020202020204" pitchFamily="34" charset="0"/>
                              <a:ea typeface="Helvetica Neue"/>
                              <a:cs typeface="Arial" panose="020B0604020202020204" pitchFamily="34" charset="0"/>
                              <a:sym typeface="Helvetica Neue"/>
                            </a:rPr>
                            <a:t>” </a:t>
                          </a:r>
                          <a14:m>
                            <m:oMath xmlns:m="http://schemas.openxmlformats.org/officeDocument/2006/math">
                              <m:r>
                                <a:rPr kumimoji="0" lang="en-US" altLang="ko-Kore-KR" sz="800" b="0" i="1" u="none" strike="noStrike" kern="0" cap="none" spc="0" normalizeH="0" baseline="0" noProof="0" smtClean="0">
                                  <a:ln>
                                    <a:noFill/>
                                  </a:ln>
                                  <a:solidFill>
                                    <a:srgbClr val="C00000"/>
                                  </a:solidFill>
                                  <a:effectLst/>
                                  <a:uLnTx/>
                                  <a:uFillTx/>
                                  <a:latin typeface="Cambria Math" panose="02040503050406030204" pitchFamily="18" charset="0"/>
                                  <a:ea typeface="Cambria Math" panose="02040503050406030204" pitchFamily="18" charset="0"/>
                                  <a:cs typeface="Helvetica Neue"/>
                                  <a:sym typeface="Helvetica Neue"/>
                                </a:rPr>
                                <m:t>±</m:t>
                              </m:r>
                            </m:oMath>
                          </a14:m>
                          <a:r>
                            <a:rPr kumimoji="0" lang="en-US" altLang="ko-Kore-KR" sz="700" b="0" i="0" u="none" strike="noStrike" kern="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5min TOBT</a:t>
                          </a:r>
                          <a:endParaRPr lang="en-US" sz="800" dirty="0">
                            <a:solidFill>
                              <a:srgbClr val="C0000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800" dirty="0">
                              <a:solidFill>
                                <a:srgbClr val="0070C0"/>
                              </a:solidFill>
                              <a:latin typeface="Arial" panose="020B0604020202020204" pitchFamily="34" charset="0"/>
                              <a:ea typeface="Helvetica Neue"/>
                              <a:cs typeface="Arial" panose="020B0604020202020204" pitchFamily="34" charset="0"/>
                              <a:sym typeface="Helvetica Neue"/>
                            </a:rPr>
                            <a:t>Apron</a:t>
                          </a:r>
                          <a:r>
                            <a:rPr lang="en-US" sz="800" dirty="0">
                              <a:latin typeface="Arial" panose="020B0604020202020204" pitchFamily="34" charset="0"/>
                              <a:ea typeface="Helvetica Neue"/>
                              <a:cs typeface="Arial" panose="020B0604020202020204" pitchFamily="34" charset="0"/>
                              <a:sym typeface="Helvetica Neue"/>
                            </a:rPr>
                            <a:t> ”Req Pushback Deicing </a:t>
                          </a:r>
                          <a:r>
                            <a:rPr lang="en-US" sz="800" dirty="0" err="1">
                              <a:latin typeface="Arial" panose="020B0604020202020204" pitchFamily="34" charset="0"/>
                              <a:ea typeface="Helvetica Neue"/>
                              <a:cs typeface="Arial" panose="020B0604020202020204" pitchFamily="34" charset="0"/>
                              <a:sym typeface="Helvetica Neue"/>
                            </a:rPr>
                            <a:t>PADxxx</a:t>
                          </a:r>
                          <a:r>
                            <a:rPr lang="en-US" sz="800" dirty="0">
                              <a:latin typeface="Arial" panose="020B0604020202020204" pitchFamily="34" charset="0"/>
                              <a:ea typeface="Helvetica Neue"/>
                              <a:cs typeface="Arial" panose="020B0604020202020204" pitchFamily="34" charset="0"/>
                              <a:sym typeface="Helvetica Neue"/>
                            </a:rPr>
                            <a:t>”  </a:t>
                          </a:r>
                          <a:endParaRPr dirty="0">
                            <a:latin typeface="Arial" panose="020B0604020202020204" pitchFamily="34" charset="0"/>
                            <a:cs typeface="Arial" panose="020B0604020202020204" pitchFamily="34" charset="0"/>
                          </a:endParaRPr>
                        </a:p>
                      </a:txBody>
                      <a:tcPr marL="36000" marR="36000" marT="36000" marB="36000"/>
                    </a:tc>
                    <a:extLst>
                      <a:ext uri="{0D108BD9-81ED-4DB2-BD59-A6C34878D82A}">
                        <a16:rowId xmlns:a16="http://schemas.microsoft.com/office/drawing/2014/main" val="10001"/>
                      </a:ext>
                    </a:extLst>
                  </a:tr>
                  <a:tr h="1938622">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955056">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969311">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Choice>
        <mc:Fallback xmlns="">
          <p:graphicFrame>
            <p:nvGraphicFramePr>
              <p:cNvPr id="430" name="Google Shape;430;p35"/>
              <p:cNvGraphicFramePr/>
              <p:nvPr>
                <p:extLst>
                  <p:ext uri="{D42A27DB-BD31-4B8C-83A1-F6EECF244321}">
                    <p14:modId xmlns:p14="http://schemas.microsoft.com/office/powerpoint/2010/main" val="801898626"/>
                  </p:ext>
                </p:extLst>
              </p:nvPr>
            </p:nvGraphicFramePr>
            <p:xfrm>
              <a:off x="8056" y="-4101"/>
              <a:ext cx="2332393" cy="5325894"/>
            </p:xfrm>
            <a:graphic>
              <a:graphicData uri="http://schemas.openxmlformats.org/drawingml/2006/table">
                <a:tbl>
                  <a:tblPr firstRow="1" bandRow="1">
                    <a:noFill/>
                    <a:tableStyleId>{A521BE36-7E6F-4EC9-8D66-1CF97A6895EC}</a:tableStyleId>
                  </a:tblPr>
                  <a:tblGrid>
                    <a:gridCol w="2332393">
                      <a:extLst>
                        <a:ext uri="{9D8B030D-6E8A-4147-A177-3AD203B41FA5}">
                          <a16:colId xmlns:a16="http://schemas.microsoft.com/office/drawing/2014/main" val="20000"/>
                        </a:ext>
                      </a:extLst>
                    </a:gridCol>
                  </a:tblGrid>
                  <a:tr h="361560">
                    <a:tc>
                      <a:txBody>
                        <a:bodyPr/>
                        <a:lstStyle/>
                        <a:p>
                          <a:pPr marL="0" marR="0" lvl="0" indent="0" algn="l" rtl="0">
                            <a:spcBef>
                              <a:spcPts val="0"/>
                            </a:spcBef>
                            <a:spcAft>
                              <a:spcPts val="0"/>
                            </a:spcAft>
                            <a:buNone/>
                          </a:pPr>
                          <a:r>
                            <a:rPr lang="en-US" sz="1100" dirty="0">
                              <a:latin typeface="Arial" panose="020B0604020202020204" pitchFamily="34" charset="0"/>
                              <a:cs typeface="Arial" panose="020B0604020202020204" pitchFamily="34" charset="0"/>
                            </a:rPr>
                            <a:t>ENG OFF Deicing in </a:t>
                          </a:r>
                          <a:r>
                            <a:rPr lang="en-US" sz="1100" dirty="0">
                              <a:solidFill>
                                <a:srgbClr val="00B050"/>
                              </a:solidFill>
                              <a:latin typeface="Arial" panose="020B0604020202020204" pitchFamily="34" charset="0"/>
                              <a:cs typeface="Arial" panose="020B0604020202020204" pitchFamily="34" charset="0"/>
                            </a:rPr>
                            <a:t>GMP...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TOBT- 20min CTC KE GMP (</a:t>
                          </a:r>
                          <a:r>
                            <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맑은 고딕" panose="020B0503020000020004" pitchFamily="34" charset="-127"/>
                              <a:cs typeface="Arial" panose="020B0604020202020204" pitchFamily="34" charset="0"/>
                              <a:sym typeface="Helvetica Neue"/>
                            </a:rPr>
                            <a:t>PAD, New TOBT</a:t>
                          </a:r>
                          <a:r>
                            <a:rPr kumimoji="0" lang="en-US" altLang="ko-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a:t>
                          </a:r>
                          <a:endParaRPr kumimoji="0" lang="en-US" altLang="ko-Kore-KR" sz="800" b="1" i="0" u="none" strike="noStrike" kern="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endParaRPr>
                        </a:p>
                      </a:txBody>
                      <a:tcPr marL="36000" marR="36000" marT="36000" marB="36000"/>
                    </a:tc>
                    <a:extLst>
                      <a:ext uri="{0D108BD9-81ED-4DB2-BD59-A6C34878D82A}">
                        <a16:rowId xmlns:a16="http://schemas.microsoft.com/office/drawing/2014/main" val="10000"/>
                      </a:ext>
                    </a:extLst>
                  </a:tr>
                  <a:tr h="437760">
                    <a:tc>
                      <a:txBody>
                        <a:bodyPr/>
                        <a:lstStyle/>
                        <a:p>
                          <a:endParaRPr lang="ko-Kore-KR"/>
                        </a:p>
                      </a:txBody>
                      <a:tcPr marL="36000" marR="36000" marT="36000" marB="36000">
                        <a:blipFill>
                          <a:blip r:embed="rId3"/>
                          <a:stretch>
                            <a:fillRect t="-85294" r="-1081" b="-1061765"/>
                          </a:stretch>
                        </a:blipFill>
                      </a:tcPr>
                    </a:tc>
                    <a:extLst>
                      <a:ext uri="{0D108BD9-81ED-4DB2-BD59-A6C34878D82A}">
                        <a16:rowId xmlns:a16="http://schemas.microsoft.com/office/drawing/2014/main" val="10001"/>
                      </a:ext>
                    </a:extLst>
                  </a:tr>
                  <a:tr h="2072640">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Gate </a:t>
                          </a:r>
                          <a:r>
                            <a:rPr kumimoji="0" lang="ko-KR" altLang="en-US" sz="700" b="1" i="0" u="none" strike="noStrike" kern="1200" cap="none" spc="0" normalizeH="0" baseline="0" noProof="0" dirty="0" err="1">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시동후</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 </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(FLAP UP, FLT CTL CHK, APU OFF </a:t>
                          </a:r>
                          <a:r>
                            <a:rPr kumimoji="0" lang="ko-KR" altLang="en-US"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없이</a:t>
                          </a:r>
                          <a:r>
                            <a:rPr kumimoji="0" lang="en-US" altLang="ko-KR" sz="700" b="1" i="0" u="none" strike="noStrike" kern="1200" cap="none" spc="0" normalizeH="0" baseline="0" noProof="0" dirty="0">
                              <a:ln>
                                <a:noFill/>
                              </a:ln>
                              <a:solidFill>
                                <a:srgbClr val="C00000"/>
                              </a:solidFill>
                              <a:effectLst/>
                              <a:uLnTx/>
                              <a:uFillTx/>
                              <a:latin typeface="Arial" panose="020B0604020202020204" pitchFamily="34" charset="0"/>
                              <a:ea typeface="Helvetica Neue"/>
                              <a:cs typeface="Arial" panose="020B0604020202020204" pitchFamily="34" charset="0"/>
                              <a:sym typeface="Helvetica Neue"/>
                            </a:rPr>
                            <a:t>)</a:t>
                          </a:r>
                          <a:endParaRPr lang="en-US"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Engine anti-ice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PARKING BRAKE -------------------------- SET </a:t>
                          </a:r>
                          <a:endParaRPr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BROADBAND XMT </a:t>
                          </a:r>
                          <a:r>
                            <a:rPr lang="en-US" sz="900" b="1" dirty="0" err="1">
                              <a:solidFill>
                                <a:srgbClr val="0070C0"/>
                              </a:solidFill>
                              <a:latin typeface="Arial" panose="020B0604020202020204" pitchFamily="34" charset="0"/>
                              <a:ea typeface="Helvetica Neue"/>
                              <a:cs typeface="Arial" panose="020B0604020202020204" pitchFamily="34" charset="0"/>
                              <a:sym typeface="Helvetica Neue"/>
                            </a:rPr>
                            <a:t>sw</a:t>
                          </a:r>
                          <a:r>
                            <a:rPr lang="en-US" sz="900" b="1" dirty="0">
                              <a:solidFill>
                                <a:srgbClr val="0070C0"/>
                              </a:solidFill>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COMMUNICATION with GND ------ ESTAB</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DE/ANTI-ICING FLUID TYPE ------ CHECK</a:t>
                          </a:r>
                        </a:p>
                        <a:p>
                          <a:pPr marL="0" marR="0" lvl="0" indent="0" algn="l" rtl="0">
                            <a:spcBef>
                              <a:spcPts val="0"/>
                            </a:spcBef>
                            <a:spcAft>
                              <a:spcPts val="0"/>
                            </a:spcAft>
                            <a:buNone/>
                          </a:pPr>
                          <a:r>
                            <a:rPr lang="en-US" altLang="ko-Kore-KR" sz="900" b="1" dirty="0">
                              <a:solidFill>
                                <a:schemeClr val="bg1"/>
                              </a:solidFill>
                              <a:latin typeface="Arial" panose="020B0604020202020204" pitchFamily="34" charset="0"/>
                              <a:ea typeface="Helvetica Neue"/>
                              <a:cs typeface="Arial" panose="020B0604020202020204" pitchFamily="34" charset="0"/>
                              <a:sym typeface="Helvetica Neue"/>
                            </a:rPr>
                            <a:t>CABIN PRESS MODE SEL ---- CHK AUTO</a:t>
                          </a:r>
                        </a:p>
                        <a:p>
                          <a:pPr marL="0" marR="0" lvl="0" indent="0" algn="l" rtl="0">
                            <a:spcBef>
                              <a:spcPts val="0"/>
                            </a:spcBef>
                            <a:spcAft>
                              <a:spcPts val="0"/>
                            </a:spcAft>
                            <a:buNone/>
                          </a:pPr>
                          <a:r>
                            <a:rPr lang="en-US" sz="900" b="1" dirty="0">
                              <a:solidFill>
                                <a:srgbClr val="0070C0"/>
                              </a:solidFill>
                              <a:latin typeface="Arial" panose="020B0604020202020204" pitchFamily="34" charset="0"/>
                              <a:ea typeface="Helvetica Neue"/>
                              <a:cs typeface="Arial" panose="020B0604020202020204" pitchFamily="34" charset="0"/>
                              <a:sym typeface="Helvetica Neue"/>
                            </a:rPr>
                            <a:t>     </a:t>
                          </a:r>
                          <a:r>
                            <a:rPr lang="en-US" sz="800" b="1" dirty="0">
                              <a:solidFill>
                                <a:srgbClr val="0070C0"/>
                              </a:solidFill>
                              <a:latin typeface="Arial" panose="020B0604020202020204" pitchFamily="34" charset="0"/>
                              <a:ea typeface="Helvetica Neue"/>
                              <a:cs typeface="Arial" panose="020B0604020202020204" pitchFamily="34" charset="0"/>
                              <a:sym typeface="Helvetica Neue"/>
                            </a:rPr>
                            <a:t>(HL7524-7720) GND COOL ----------- OFF</a:t>
                          </a:r>
                          <a:endParaRPr sz="800" b="1" dirty="0">
                            <a:solidFill>
                              <a:srgbClr val="0070C0"/>
                            </a:solidFill>
                            <a:latin typeface="Arial" panose="020B0604020202020204" pitchFamily="34" charset="0"/>
                            <a:ea typeface="Helvetica Neue"/>
                            <a:cs typeface="Arial" panose="020B0604020202020204" pitchFamily="34" charset="0"/>
                            <a:sym typeface="Helvetica Neue"/>
                          </a:endParaRPr>
                        </a:p>
                        <a:p>
                          <a:pPr marL="0" marR="0" lvl="0" indent="0" algn="l" rtl="0">
                            <a:spcBef>
                              <a:spcPts val="0"/>
                            </a:spcBef>
                            <a:spcAft>
                              <a:spcPts val="0"/>
                            </a:spcAft>
                            <a:buNone/>
                          </a:pPr>
                          <a:r>
                            <a:rPr lang="en-US" altLang="ko-Kore-KR" sz="900" b="1" dirty="0">
                              <a:solidFill>
                                <a:srgbClr val="0070C0"/>
                              </a:solidFill>
                              <a:latin typeface="Arial" panose="020B0604020202020204" pitchFamily="34" charset="0"/>
                              <a:ea typeface="Helvetica Neue"/>
                              <a:cs typeface="Arial" panose="020B0604020202020204" pitchFamily="34" charset="0"/>
                              <a:sym typeface="Helvetica Neue"/>
                            </a:rPr>
                            <a:t>ENG 1 &amp; 2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a:t>
                          </a:r>
                          <a:r>
                            <a:rPr kumimoji="0" lang="en-US" altLang="ko-Kore-KR" sz="700" b="1"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 : </a:t>
                          </a:r>
                          <a:r>
                            <a:rPr kumimoji="0" lang="en-US" altLang="ko-Kore-KR" sz="600" b="1" i="0" u="none" strike="noStrike" kern="1200" cap="none" spc="0" normalizeH="0" baseline="0" noProof="0" dirty="0">
                              <a:ln>
                                <a:noFill/>
                              </a:ln>
                              <a:solidFill>
                                <a:srgbClr val="FFC000"/>
                              </a:solidFill>
                              <a:effectLst/>
                              <a:uLnTx/>
                              <a:uFillTx/>
                              <a:latin typeface="Arial" panose="020B0604020202020204" pitchFamily="34" charset="0"/>
                              <a:ea typeface="Helvetica Neue"/>
                              <a:cs typeface="Arial" panose="020B0604020202020204" pitchFamily="34" charset="0"/>
                              <a:sym typeface="Helvetica Neue"/>
                            </a:rPr>
                            <a:t>CAB PR FWD OFV NOT OPEN, CAB PR AFT OFV NOT OPEN, COND LAV + GAL VENT FALUT </a:t>
                          </a:r>
                          <a:r>
                            <a:rPr kumimoji="0" lang="en-US" altLang="ko-Kore-KR" sz="600" b="0" i="0" u="none" strike="noStrike" kern="1200" cap="none" spc="0" normalizeH="0" baseline="0" noProof="0" dirty="0">
                              <a:ln>
                                <a:noFill/>
                              </a:ln>
                              <a:solidFill>
                                <a:prstClr val="black"/>
                              </a:solidFill>
                              <a:effectLst/>
                              <a:uLnTx/>
                              <a:uFillTx/>
                              <a:latin typeface="Arial" panose="020B0604020202020204" pitchFamily="34" charset="0"/>
                              <a:ea typeface="Helvetica Neue"/>
                              <a:cs typeface="Arial" panose="020B0604020202020204" pitchFamily="34" charset="0"/>
                              <a:sym typeface="Helvetica Neue"/>
                            </a:rPr>
                            <a:t>–Disregard</a:t>
                          </a:r>
                          <a:endParaRPr lang="en-US" altLang="ko-Kore-KR" sz="600" b="0" dirty="0">
                            <a:solidFill>
                              <a:schemeClr val="bg1"/>
                            </a:solidFill>
                            <a:latin typeface="Arial" panose="020B0604020202020204" pitchFamily="34" charset="0"/>
                            <a:ea typeface="Helvetica Neue"/>
                            <a:cs typeface="Arial" panose="020B0604020202020204" pitchFamily="34" charset="0"/>
                            <a:sym typeface="Helvetica Neue"/>
                          </a:endParaRP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MASTER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OFF</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SHUTDOWN CHECKLIST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“A/C PREPARED FOR SPRAYING”</a:t>
                          </a:r>
                          <a:endParaRPr lang="en-US" altLang="ko-Kore-KR" sz="700" b="0"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2"/>
                      </a:ext>
                    </a:extLst>
                  </a:tr>
                  <a:tr h="1021080">
                    <a:tc>
                      <a:txBody>
                        <a:bodyPr/>
                        <a:lstStyle/>
                        <a:p>
                          <a:pPr marL="0" marR="0" lvl="0" indent="0" algn="l" rtl="0">
                            <a:spcBef>
                              <a:spcPts val="0"/>
                            </a:spcBef>
                            <a:spcAft>
                              <a:spcPts val="0"/>
                            </a:spcAft>
                            <a:buNone/>
                          </a:pPr>
                          <a:r>
                            <a:rPr lang="en-US" altLang="ko-Kore-KR" sz="900" b="1" dirty="0">
                              <a:latin typeface="Arial" panose="020B0604020202020204" pitchFamily="34" charset="0"/>
                              <a:ea typeface="Helvetica Neue"/>
                              <a:cs typeface="Arial" panose="020B0604020202020204" pitchFamily="34" charset="0"/>
                              <a:sym typeface="Helvetica Neue"/>
                            </a:rPr>
                            <a:t>UPON COMPLETE SPRAY</a:t>
                          </a:r>
                          <a:r>
                            <a:rPr lang="en-US" altLang="ko-Kore-KR" sz="800" b="1" dirty="0">
                              <a:solidFill>
                                <a:srgbClr val="00B050"/>
                              </a:solidFill>
                              <a:latin typeface="Arial" panose="020B0604020202020204" pitchFamily="34" charset="0"/>
                              <a:ea typeface="Helvetica Neue"/>
                              <a:cs typeface="Arial" panose="020B0604020202020204" pitchFamily="34" charset="0"/>
                              <a:sym typeface="Helvetica Neue"/>
                            </a:rPr>
                            <a:t>(TIME CHK 1</a:t>
                          </a:r>
                          <a:r>
                            <a:rPr lang="ko-KR" altLang="en-US" sz="800" b="1" dirty="0">
                              <a:solidFill>
                                <a:srgbClr val="00B050"/>
                              </a:solidFill>
                              <a:latin typeface="Arial" panose="020B0604020202020204" pitchFamily="34" charset="0"/>
                              <a:ea typeface="Helvetica Neue"/>
                              <a:cs typeface="Arial" panose="020B0604020202020204" pitchFamily="34" charset="0"/>
                              <a:sym typeface="Helvetica Neue"/>
                            </a:rPr>
                            <a:t>분</a:t>
                          </a:r>
                          <a:r>
                            <a:rPr lang="en-US" altLang="ko-KR" sz="800" b="1" dirty="0">
                              <a:solidFill>
                                <a:srgbClr val="00B050"/>
                              </a:solidFill>
                              <a:latin typeface="Arial" panose="020B0604020202020204" pitchFamily="34" charset="0"/>
                              <a:ea typeface="Helvetica Neue"/>
                              <a:cs typeface="Arial" panose="020B0604020202020204" pitchFamily="34" charset="0"/>
                              <a:sym typeface="Helvetica Neue"/>
                            </a:rPr>
                            <a:t>)</a:t>
                          </a:r>
                          <a:endParaRPr lang="ko-KR" altLang="en-US" sz="6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ko-KR" altLang="en-US" sz="700" b="0" dirty="0">
                              <a:latin typeface="Arial" panose="020B0604020202020204" pitchFamily="34" charset="0"/>
                              <a:ea typeface="Helvetica Neue"/>
                              <a:cs typeface="Arial" panose="020B0604020202020204" pitchFamily="34" charset="0"/>
                              <a:sym typeface="Helvetica Neue"/>
                            </a:rPr>
                            <a:t>용액과 마지막 용액 뿌린 시간 받고 적는다</a:t>
                          </a:r>
                          <a:r>
                            <a:rPr lang="en-US" altLang="ko-KR" sz="700" b="0" dirty="0">
                              <a:latin typeface="Arial" panose="020B0604020202020204" pitchFamily="34" charset="0"/>
                              <a:ea typeface="Helvetica Neue"/>
                              <a:cs typeface="Arial" panose="020B0604020202020204" pitchFamily="34" charset="0"/>
                              <a:sym typeface="Helvetica Neue"/>
                            </a:rPr>
                            <a:t>. </a:t>
                          </a:r>
                          <a:endParaRPr lang="ko-KR" altLang="en-US" sz="400" dirty="0">
                            <a:latin typeface="Arial" panose="020B0604020202020204" pitchFamily="34" charset="0"/>
                            <a:cs typeface="Arial" panose="020B0604020202020204" pitchFamily="34" charset="0"/>
                          </a:endParaRPr>
                        </a:p>
                        <a:p>
                          <a:pPr marL="0" marR="0" lvl="0" indent="0" algn="l" rtl="0">
                            <a:spcBef>
                              <a:spcPts val="0"/>
                            </a:spcBef>
                            <a:spcAft>
                              <a:spcPts val="0"/>
                            </a:spcAft>
                            <a:buNone/>
                          </a:pPr>
                          <a:r>
                            <a:rPr lang="en-US" altLang="ko-Kore-KR" sz="700" b="0" dirty="0">
                              <a:latin typeface="Arial" panose="020B0604020202020204" pitchFamily="34" charset="0"/>
                              <a:ea typeface="Helvetica Neue"/>
                              <a:cs typeface="Arial" panose="020B0604020202020204" pitchFamily="34" charset="0"/>
                              <a:sym typeface="Helvetica Neue"/>
                            </a:rPr>
                            <a:t>Holdover Time </a:t>
                          </a:r>
                          <a:r>
                            <a:rPr lang="ko-KR" altLang="en-US" sz="700" b="0" dirty="0">
                              <a:latin typeface="Arial" panose="020B0604020202020204" pitchFamily="34" charset="0"/>
                              <a:ea typeface="Helvetica Neue"/>
                              <a:cs typeface="Arial" panose="020B0604020202020204" pitchFamily="34" charset="0"/>
                              <a:sym typeface="Helvetica Neue"/>
                            </a:rPr>
                            <a:t>결정</a:t>
                          </a:r>
                          <a:r>
                            <a:rPr lang="en-US" altLang="ko-KR" sz="700" b="0" dirty="0">
                              <a:latin typeface="Arial" panose="020B0604020202020204" pitchFamily="34" charset="0"/>
                              <a:ea typeface="Helvetica Neue"/>
                              <a:cs typeface="Arial" panose="020B0604020202020204" pitchFamily="34" charset="0"/>
                              <a:sym typeface="Helvetica Neue"/>
                            </a:rPr>
                            <a:t>!!!</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(HL7524-7720) GND COOL ----------- OFF</a:t>
                          </a:r>
                          <a:endParaRPr lang="en-US" altLang="ko-KR" sz="800" b="0" dirty="0">
                            <a:latin typeface="Arial" panose="020B0604020202020204" pitchFamily="34" charset="0"/>
                            <a:ea typeface="Helvetica Neue"/>
                            <a:cs typeface="Arial" panose="020B0604020202020204" pitchFamily="34" charset="0"/>
                            <a:sym typeface="Helvetica Neue"/>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PITOT STATICS (GND Crew) ---------- CHK</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GND EQUIPMENT ------------------- REMOVE</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DITCHING pb ------------------------------- OFF</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altLang="ko-Kore-KR" sz="900" b="1" i="0" u="none" strike="noStrike" kern="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OUTFLOW V/V - CHK OPEN(ECAM press)</a:t>
                          </a:r>
                          <a:endParaRPr kumimoji="0" lang="en-US" altLang="ko-Kore-KR" sz="1400" b="0" i="0" u="none" strike="noStrike" kern="0" cap="none" spc="0" normalizeH="0" baseline="0" noProof="0" dirty="0">
                            <a:ln>
                              <a:noFill/>
                            </a:ln>
                            <a:solidFill>
                              <a:srgbClr val="0070C0"/>
                            </a:solidFill>
                            <a:effectLst/>
                            <a:uLnTx/>
                            <a:uFillTx/>
                            <a:latin typeface="Arial" panose="020B0604020202020204" pitchFamily="34" charset="0"/>
                            <a:cs typeface="Arial" panose="020B0604020202020204" pitchFamily="34" charset="0"/>
                            <a:sym typeface="Arial"/>
                          </a:endParaRPr>
                        </a:p>
                      </a:txBody>
                      <a:tcPr marL="36000" marR="36000" marT="0" marB="0"/>
                    </a:tc>
                    <a:extLst>
                      <a:ext uri="{0D108BD9-81ED-4DB2-BD59-A6C34878D82A}">
                        <a16:rowId xmlns:a16="http://schemas.microsoft.com/office/drawing/2014/main" val="10005"/>
                      </a:ext>
                    </a:extLst>
                  </a:tr>
                  <a:tr h="1036320">
                    <a:tc>
                      <a:txBody>
                        <a:bodyPr/>
                        <a:lstStyle/>
                        <a:p>
                          <a:pPr marL="0" marR="0" lvl="0" indent="0" algn="l" defTabSz="116449" rtl="0" eaLnBrk="1" fontAlgn="auto" latinLnBrk="0" hangingPunct="1">
                            <a:lnSpc>
                              <a:spcPct val="100000"/>
                            </a:lnSpc>
                            <a:spcBef>
                              <a:spcPts val="0"/>
                            </a:spcBef>
                            <a:spcAft>
                              <a:spcPts val="0"/>
                            </a:spcAft>
                            <a:buClr>
                              <a:srgbClr val="00B050"/>
                            </a:buClr>
                            <a:buSzPts val="800"/>
                            <a:buFont typeface="Helvetica Neue"/>
                            <a:buNone/>
                            <a:tabLst/>
                            <a:defRPr/>
                          </a:pPr>
                          <a:r>
                            <a:rPr kumimoji="0" lang="en-US" altLang="ko-Kore-KR"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TIME CHECK 1</a:t>
                          </a:r>
                          <a:r>
                            <a:rPr kumimoji="0" lang="ko-KR" altLang="en-US" sz="8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8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ENG 1 &amp; 2 BLEED -</a:t>
                          </a:r>
                          <a:r>
                            <a:rPr kumimoji="0" lang="en-US" altLang="ko-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BROADBAND XMT </a:t>
                          </a:r>
                          <a:r>
                            <a:rPr kumimoji="0" lang="en-US" altLang="ko-Kore-KR" sz="900" b="1" i="0" u="none" strike="noStrike" kern="1200" cap="none" spc="0" normalizeH="0" baseline="0" noProof="0" dirty="0" err="1">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sw</a:t>
                          </a: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 --------------------- ON</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5</a:t>
                          </a:r>
                          <a:r>
                            <a:rPr kumimoji="0" lang="ko-KR" altLang="en-US" sz="900" b="1" i="0" u="none" strike="noStrike" kern="1200" cap="none" spc="0" normalizeH="0" baseline="0" noProof="0" dirty="0" err="1">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분후</a:t>
                          </a:r>
                          <a:r>
                            <a:rPr kumimoji="0" lang="ko-KR" altLang="en-US" sz="900" b="1" i="0" u="none" strike="noStrike" kern="1200" cap="none" spc="0" normalizeH="0" baseline="0" noProof="0" dirty="0">
                              <a:ln>
                                <a:noFill/>
                              </a:ln>
                              <a:solidFill>
                                <a:srgbClr val="00B050"/>
                              </a:solidFill>
                              <a:effectLst/>
                              <a:uLnTx/>
                              <a:uFillTx/>
                              <a:latin typeface="Arial" panose="020B0604020202020204" pitchFamily="34" charset="0"/>
                              <a:ea typeface="Helvetica Neue"/>
                              <a:cs typeface="Arial" panose="020B0604020202020204" pitchFamily="34" charset="0"/>
                              <a:sym typeface="Helvetica Neue"/>
                            </a:rPr>
                            <a:t>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APU BLEED ----------------------------------- ON </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9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NORMAL PROCEDURE ----------- RESUME</a:t>
                          </a:r>
                        </a:p>
                        <a:p>
                          <a:pPr marL="0" marR="0" lvl="0" indent="0" algn="l" defTabSz="116449" rtl="0" eaLnBrk="1" fontAlgn="auto" latinLnBrk="0" hangingPunct="1">
                            <a:lnSpc>
                              <a:spcPct val="100000"/>
                            </a:lnSpc>
                            <a:spcBef>
                              <a:spcPts val="0"/>
                            </a:spcBef>
                            <a:spcAft>
                              <a:spcPts val="0"/>
                            </a:spcAft>
                            <a:buClr>
                              <a:prstClr val="black"/>
                            </a:buClr>
                            <a:buSzPts val="900"/>
                            <a:buFont typeface="Helvetica Neue"/>
                            <a:buNone/>
                            <a:tabLst/>
                            <a:defRPr/>
                          </a:pPr>
                          <a:r>
                            <a:rPr kumimoji="0" lang="en-US" altLang="ko-Kore-KR" sz="700" b="1" i="0" u="none" strike="noStrike" kern="1200" cap="none" spc="0" normalizeH="0" baseline="0" noProof="0" dirty="0">
                              <a:ln>
                                <a:noFill/>
                              </a:ln>
                              <a:solidFill>
                                <a:srgbClr val="0070C0"/>
                              </a:solidFill>
                              <a:effectLst/>
                              <a:uLnTx/>
                              <a:uFillTx/>
                              <a:latin typeface="Arial" panose="020B0604020202020204" pitchFamily="34" charset="0"/>
                              <a:ea typeface="Helvetica Neue"/>
                              <a:cs typeface="Arial" panose="020B0604020202020204" pitchFamily="34" charset="0"/>
                              <a:sym typeface="Helvetica Neue"/>
                            </a:rPr>
                            <a:t>Note : </a:t>
                          </a:r>
                          <a:r>
                            <a:rPr kumimoji="0" lang="en-US" altLang="ko-Kore-KR" sz="700" b="1" i="0" u="none" strike="noStrike" kern="1200" cap="none" spc="0" normalizeH="0" baseline="0" noProof="0" dirty="0">
                              <a:ln>
                                <a:noFill/>
                              </a:ln>
                              <a:solidFill>
                                <a:schemeClr val="bg1"/>
                              </a:solidFill>
                              <a:effectLst/>
                              <a:uLnTx/>
                              <a:uFillTx/>
                              <a:latin typeface="Arial" panose="020B0604020202020204" pitchFamily="34" charset="0"/>
                              <a:ea typeface="Helvetica Neue"/>
                              <a:cs typeface="Arial" panose="020B0604020202020204" pitchFamily="34" charset="0"/>
                              <a:sym typeface="Helvetica Neue"/>
                            </a:rPr>
                            <a:t>INIT B check &amp; re-enter</a:t>
                          </a:r>
                        </a:p>
                        <a:p>
                          <a:pPr marL="0" marR="0" lvl="0" indent="0" algn="l" rtl="0">
                            <a:lnSpc>
                              <a:spcPct val="100000"/>
                            </a:lnSpc>
                            <a:spcBef>
                              <a:spcPts val="0"/>
                            </a:spcBef>
                            <a:spcAft>
                              <a:spcPts val="0"/>
                            </a:spcAft>
                            <a:buClr>
                              <a:srgbClr val="00B050"/>
                            </a:buClr>
                            <a:buSzPts val="800"/>
                            <a:buFont typeface="Helvetica Neue"/>
                            <a:buNone/>
                          </a:pPr>
                          <a:r>
                            <a:rPr lang="en-US" sz="800" b="1" dirty="0">
                              <a:solidFill>
                                <a:srgbClr val="00B050"/>
                              </a:solidFill>
                              <a:latin typeface="Arial" panose="020B0604020202020204" pitchFamily="34" charset="0"/>
                              <a:ea typeface="Helvetica Neue"/>
                              <a:cs typeface="Arial" panose="020B0604020202020204" pitchFamily="34" charset="0"/>
                              <a:sym typeface="Helvetica Neue"/>
                            </a:rPr>
                            <a:t>PREFLT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r>
                            <a:rPr lang="en-US" sz="800" b="1" dirty="0">
                              <a:solidFill>
                                <a:srgbClr val="00B050"/>
                              </a:solidFill>
                              <a:latin typeface="Arial" panose="020B0604020202020204" pitchFamily="34" charset="0"/>
                              <a:ea typeface="Helvetica Neue"/>
                              <a:cs typeface="Arial" panose="020B0604020202020204" pitchFamily="34" charset="0"/>
                              <a:sym typeface="Helvetica Neue"/>
                            </a:rPr>
                            <a:t> -&gt; Req STARTUP -&gt; </a:t>
                          </a:r>
                          <a:r>
                            <a:rPr lang="en-US" sz="800" b="1" dirty="0" err="1">
                              <a:solidFill>
                                <a:srgbClr val="00B050"/>
                              </a:solidFill>
                              <a:latin typeface="Arial" panose="020B0604020202020204" pitchFamily="34" charset="0"/>
                              <a:ea typeface="Helvetica Neue"/>
                              <a:cs typeface="Arial" panose="020B0604020202020204" pitchFamily="34" charset="0"/>
                              <a:sym typeface="Helvetica Neue"/>
                            </a:rPr>
                            <a:t>CHKlist</a:t>
                          </a:r>
                          <a:endParaRPr sz="800" b="1" dirty="0">
                            <a:solidFill>
                              <a:srgbClr val="00B05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6"/>
                      </a:ext>
                    </a:extLst>
                  </a:tr>
                  <a:tr h="396534">
                    <a:tc>
                      <a:txBody>
                        <a:bodyPr/>
                        <a:lstStyle/>
                        <a:p>
                          <a:pPr marL="0" marR="0" lvl="0" indent="0" algn="l" rtl="0">
                            <a:spcBef>
                              <a:spcPts val="0"/>
                            </a:spcBef>
                            <a:spcAft>
                              <a:spcPts val="0"/>
                            </a:spcAft>
                            <a:buNone/>
                          </a:pPr>
                          <a:r>
                            <a:rPr lang="en-US" sz="900" b="1" dirty="0">
                              <a:latin typeface="Arial" panose="020B0604020202020204" pitchFamily="34" charset="0"/>
                              <a:ea typeface="Helvetica Neue"/>
                              <a:cs typeface="Arial" panose="020B0604020202020204" pitchFamily="34" charset="0"/>
                              <a:sym typeface="Helvetica Neue"/>
                            </a:rPr>
                            <a:t>BOTH ENGINES ARE STARTED</a:t>
                          </a:r>
                        </a:p>
                        <a:p>
                          <a:pPr marL="0" marR="0" lvl="0" indent="0" algn="l" rtl="0">
                            <a:spcBef>
                              <a:spcPts val="0"/>
                            </a:spcBef>
                            <a:spcAft>
                              <a:spcPts val="0"/>
                            </a:spcAft>
                            <a:buNone/>
                          </a:pPr>
                          <a:r>
                            <a:rPr lang="en-US" sz="800" b="1" dirty="0">
                              <a:solidFill>
                                <a:srgbClr val="7030A0"/>
                              </a:solidFill>
                              <a:latin typeface="Arial" panose="020B0604020202020204" pitchFamily="34" charset="0"/>
                              <a:ea typeface="Helvetica Neue"/>
                              <a:cs typeface="Arial" panose="020B0604020202020204" pitchFamily="34" charset="0"/>
                              <a:sym typeface="Helvetica Neue"/>
                            </a:rPr>
                            <a:t>FLT CTL CHK, FLAPS UP, APU as REQ</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highlight>
                                <a:srgbClr val="FFFF00"/>
                              </a:highlight>
                              <a:uLnTx/>
                              <a:uFillTx/>
                              <a:latin typeface="Arial" panose="020B0604020202020204" pitchFamily="34" charset="0"/>
                              <a:ea typeface="Helvetica Neue"/>
                              <a:cs typeface="Arial" panose="020B0604020202020204" pitchFamily="34" charset="0"/>
                              <a:sym typeface="Helvetica Neue"/>
                            </a:rPr>
                            <a:t>DECISION TREE next page</a:t>
                          </a:r>
                          <a:endParaRPr sz="700" dirty="0">
                            <a:solidFill>
                              <a:srgbClr val="7030A0"/>
                            </a:solidFill>
                            <a:latin typeface="Arial" panose="020B0604020202020204" pitchFamily="34" charset="0"/>
                            <a:ea typeface="Helvetica Neue"/>
                            <a:cs typeface="Arial" panose="020B0604020202020204" pitchFamily="34" charset="0"/>
                            <a:sym typeface="Helvetica Neue"/>
                          </a:endParaRPr>
                        </a:p>
                      </a:txBody>
                      <a:tcPr marL="36000" marR="36000" marT="0" marB="0"/>
                    </a:tc>
                    <a:extLst>
                      <a:ext uri="{0D108BD9-81ED-4DB2-BD59-A6C34878D82A}">
                        <a16:rowId xmlns:a16="http://schemas.microsoft.com/office/drawing/2014/main" val="10007"/>
                      </a:ext>
                    </a:extLst>
                  </a:tr>
                </a:tbl>
              </a:graphicData>
            </a:graphic>
          </p:graphicFrame>
        </mc:Fallback>
      </mc:AlternateContent>
      <p:sp>
        <p:nvSpPr>
          <p:cNvPr id="2" name="직사각형 1">
            <a:hlinkClick r:id="" action="ppaction://hlinkshowjump?jump=firstslide"/>
            <a:extLst>
              <a:ext uri="{FF2B5EF4-FFF2-40B4-BE49-F238E27FC236}">
                <a16:creationId xmlns:a16="http://schemas.microsoft.com/office/drawing/2014/main" id="{B03DDE63-4142-5292-5212-CBAA9E926A97}"/>
              </a:ext>
            </a:extLst>
          </p:cNvPr>
          <p:cNvSpPr/>
          <p:nvPr/>
        </p:nvSpPr>
        <p:spPr>
          <a:xfrm>
            <a:off x="311673" y="5279727"/>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
        <p:nvSpPr>
          <p:cNvPr id="3" name="직사각형 2">
            <a:hlinkClick r:id="" action="ppaction://hlinkshowjump?jump=firstslide"/>
            <a:extLst>
              <a:ext uri="{FF2B5EF4-FFF2-40B4-BE49-F238E27FC236}">
                <a16:creationId xmlns:a16="http://schemas.microsoft.com/office/drawing/2014/main" id="{FBAAC3CB-C309-1E4C-1777-F739C1CDA2CB}"/>
              </a:ext>
            </a:extLst>
          </p:cNvPr>
          <p:cNvSpPr/>
          <p:nvPr/>
        </p:nvSpPr>
        <p:spPr>
          <a:xfrm>
            <a:off x="1266727" y="5274374"/>
            <a:ext cx="894198" cy="276999"/>
          </a:xfrm>
          <a:prstGeom prst="rect">
            <a:avLst/>
          </a:prstGeom>
          <a:noFill/>
        </p:spPr>
        <p:txBody>
          <a:bodyPr wrap="square" lIns="0" tIns="0" rIns="0" bIns="0">
            <a:spAutoFit/>
          </a:bodyPr>
          <a:lstStyle/>
          <a:p>
            <a:pPr algn="ctr"/>
            <a:r>
              <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Cold Wx</a:t>
            </a:r>
            <a:endParaRPr lang="en-US" altLang="ko-KR" sz="1800" b="1" cap="none" spc="0" dirty="0">
              <a:ln w="0"/>
              <a:solidFill>
                <a:srgbClr val="AA47F5"/>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419">
          <a:extLst>
            <a:ext uri="{FF2B5EF4-FFF2-40B4-BE49-F238E27FC236}">
              <a16:creationId xmlns:a16="http://schemas.microsoft.com/office/drawing/2014/main" id="{FC9246D4-B972-04E3-AE79-33BCB48D6A9F}"/>
            </a:ext>
          </a:extLst>
        </p:cNvPr>
        <p:cNvGrpSpPr/>
        <p:nvPr/>
      </p:nvGrpSpPr>
      <p:grpSpPr>
        <a:xfrm>
          <a:off x="0" y="0"/>
          <a:ext cx="0" cy="0"/>
          <a:chOff x="0" y="0"/>
          <a:chExt cx="0" cy="0"/>
        </a:xfrm>
      </p:grpSpPr>
      <p:sp>
        <p:nvSpPr>
          <p:cNvPr id="424" name="Google Shape;424;p34">
            <a:extLst>
              <a:ext uri="{FF2B5EF4-FFF2-40B4-BE49-F238E27FC236}">
                <a16:creationId xmlns:a16="http://schemas.microsoft.com/office/drawing/2014/main" id="{9CD364A1-1923-FCA2-DF50-03CD66D3AB74}"/>
              </a:ext>
            </a:extLst>
          </p:cNvPr>
          <p:cNvSpPr/>
          <p:nvPr/>
        </p:nvSpPr>
        <p:spPr>
          <a:xfrm>
            <a:off x="178231" y="2526223"/>
            <a:ext cx="759416" cy="348713"/>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25" name="Google Shape;425;p34">
            <a:extLst>
              <a:ext uri="{FF2B5EF4-FFF2-40B4-BE49-F238E27FC236}">
                <a16:creationId xmlns:a16="http://schemas.microsoft.com/office/drawing/2014/main" id="{43B46998-1C73-5B27-ED54-E51E6F8BC458}"/>
              </a:ext>
            </a:extLst>
          </p:cNvPr>
          <p:cNvSpPr/>
          <p:nvPr/>
        </p:nvSpPr>
        <p:spPr>
          <a:xfrm>
            <a:off x="1164430" y="2545838"/>
            <a:ext cx="850349" cy="406589"/>
          </a:xfrm>
          <a:prstGeom prst="frame">
            <a:avLst>
              <a:gd name="adj1" fmla="val 12500"/>
            </a:avLst>
          </a:prstGeom>
          <a:solidFill>
            <a:srgbClr val="00B0F0"/>
          </a:solidFill>
          <a:ln w="12700" cap="flat" cmpd="sng">
            <a:solidFill>
              <a:srgbClr val="00B0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 name="직사각형 2">
            <a:hlinkClick r:id="" action="ppaction://hlinkshowjump?jump=firstslide"/>
            <a:extLst>
              <a:ext uri="{FF2B5EF4-FFF2-40B4-BE49-F238E27FC236}">
                <a16:creationId xmlns:a16="http://schemas.microsoft.com/office/drawing/2014/main" id="{7D2828E4-8C91-E9E0-8C77-4D726F2B466F}"/>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pic>
        <p:nvPicPr>
          <p:cNvPr id="2" name="그림 1">
            <a:extLst>
              <a:ext uri="{FF2B5EF4-FFF2-40B4-BE49-F238E27FC236}">
                <a16:creationId xmlns:a16="http://schemas.microsoft.com/office/drawing/2014/main" id="{93D88787-488F-7509-F6B4-97C0E60F836D}"/>
              </a:ext>
            </a:extLst>
          </p:cNvPr>
          <p:cNvPicPr>
            <a:picLocks noChangeAspect="1"/>
          </p:cNvPicPr>
          <p:nvPr/>
        </p:nvPicPr>
        <p:blipFill>
          <a:blip r:embed="rId3"/>
          <a:stretch>
            <a:fillRect/>
          </a:stretch>
        </p:blipFill>
        <p:spPr>
          <a:xfrm>
            <a:off x="0" y="279203"/>
            <a:ext cx="2328863" cy="4389011"/>
          </a:xfrm>
          <a:prstGeom prst="rect">
            <a:avLst/>
          </a:prstGeom>
        </p:spPr>
      </p:pic>
      <p:sp>
        <p:nvSpPr>
          <p:cNvPr id="4" name="직사각형 3">
            <a:extLst>
              <a:ext uri="{FF2B5EF4-FFF2-40B4-BE49-F238E27FC236}">
                <a16:creationId xmlns:a16="http://schemas.microsoft.com/office/drawing/2014/main" id="{292BB7D8-0156-671C-13CE-CA7A119EA787}"/>
              </a:ext>
            </a:extLst>
          </p:cNvPr>
          <p:cNvSpPr/>
          <p:nvPr/>
        </p:nvSpPr>
        <p:spPr>
          <a:xfrm>
            <a:off x="168333" y="2786062"/>
            <a:ext cx="679020"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
        <p:nvSpPr>
          <p:cNvPr id="5" name="직사각형 4">
            <a:extLst>
              <a:ext uri="{FF2B5EF4-FFF2-40B4-BE49-F238E27FC236}">
                <a16:creationId xmlns:a16="http://schemas.microsoft.com/office/drawing/2014/main" id="{0FD562C0-A7DF-85F6-E24B-3FCFEA41881D}"/>
              </a:ext>
            </a:extLst>
          </p:cNvPr>
          <p:cNvSpPr/>
          <p:nvPr/>
        </p:nvSpPr>
        <p:spPr>
          <a:xfrm>
            <a:off x="1170547" y="2809551"/>
            <a:ext cx="1022583" cy="285751"/>
          </a:xfrm>
          <a:prstGeom prst="rect">
            <a:avLst/>
          </a:prstGeom>
          <a:noFill/>
          <a:ln w="47625"/>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ko-Kore-KR" altLang="en-US"/>
          </a:p>
        </p:txBody>
      </p:sp>
    </p:spTree>
    <p:extLst>
      <p:ext uri="{BB962C8B-B14F-4D97-AF65-F5344CB8AC3E}">
        <p14:creationId xmlns:p14="http://schemas.microsoft.com/office/powerpoint/2010/main" val="5527617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763859038"/>
              </p:ext>
            </p:extLst>
          </p:nvPr>
        </p:nvGraphicFramePr>
        <p:xfrm>
          <a:off x="-4122" y="4139510"/>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284 </a:t>
                      </a:r>
                      <a:r>
                        <a:rPr lang="en-US" altLang="ko-KR" sz="900" dirty="0"/>
                        <a:t>OUTBD </a:t>
                      </a:r>
                    </a:p>
                    <a:p>
                      <a:pPr marL="0" marR="0" lvl="0" indent="0" algn="l" rtl="0">
                        <a:spcBef>
                          <a:spcPts val="0"/>
                        </a:spcBef>
                        <a:spcAft>
                          <a:spcPts val="0"/>
                        </a:spcAft>
                        <a:buNone/>
                      </a:pPr>
                      <a:r>
                        <a:rPr lang="en-US" altLang="ko-KR" sz="900" dirty="0"/>
                        <a:t>(PULL TRK) </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284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2" name="그룹 151">
            <a:extLst>
              <a:ext uri="{FF2B5EF4-FFF2-40B4-BE49-F238E27FC236}">
                <a16:creationId xmlns:a16="http://schemas.microsoft.com/office/drawing/2014/main" id="{4BE8B393-F758-B69E-C71F-41B24ABD3B39}"/>
              </a:ext>
            </a:extLst>
          </p:cNvPr>
          <p:cNvGrpSpPr/>
          <p:nvPr/>
        </p:nvGrpSpPr>
        <p:grpSpPr>
          <a:xfrm>
            <a:off x="-55490" y="1019432"/>
            <a:ext cx="2394309" cy="3138086"/>
            <a:chOff x="-48346" y="990763"/>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21136"/>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548692"/>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V="1">
              <a:off x="331437" y="2745299"/>
              <a:ext cx="354533" cy="488137"/>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639281"/>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14257"/>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1967600"/>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14708"/>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19339"/>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996764"/>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991120"/>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578344"/>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551319"/>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374350"/>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990763"/>
              <a:ext cx="527709" cy="338554"/>
            </a:xfrm>
            <a:prstGeom prst="rect">
              <a:avLst/>
            </a:prstGeom>
            <a:noFill/>
          </p:spPr>
          <p:txBody>
            <a:bodyPr wrap="none" rtlCol="0">
              <a:spAutoFit/>
            </a:bodyPr>
            <a:lstStyle/>
            <a:p>
              <a:pPr algn="ctr"/>
              <a:r>
                <a:rPr kumimoji="1" lang="en-US" altLang="ko-Kore-KR" sz="800" b="1" dirty="0">
                  <a:solidFill>
                    <a:srgbClr val="92D050"/>
                  </a:solidFill>
                </a:rPr>
                <a:t>KMH35</a:t>
              </a:r>
            </a:p>
            <a:p>
              <a:pPr algn="ctr"/>
              <a:r>
                <a:rPr kumimoji="1" lang="en-US" altLang="ko-Kore-KR" sz="800" b="1" dirty="0">
                  <a:solidFill>
                    <a:srgbClr val="92D050"/>
                  </a:solidFill>
                </a:rPr>
                <a:t>(18L)</a:t>
              </a:r>
              <a:endParaRPr kumimoji="1" lang="ko-Kore-KR" altLang="en-US" sz="800" b="1" dirty="0">
                <a:solidFill>
                  <a:srgbClr val="92D050"/>
                </a:solidFill>
              </a:endParaRP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165881"/>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13484"/>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1956094"/>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76709" y="2599564"/>
              <a:ext cx="599844" cy="338554"/>
            </a:xfrm>
            <a:prstGeom prst="rect">
              <a:avLst/>
            </a:prstGeom>
            <a:noFill/>
          </p:spPr>
          <p:txBody>
            <a:bodyPr wrap="none" rtlCol="0">
              <a:spAutoFit/>
            </a:bodyPr>
            <a:lstStyle/>
            <a:p>
              <a:pPr algn="ctr"/>
              <a:r>
                <a:rPr kumimoji="1" lang="en-US" altLang="ko-Kore-KR" sz="800" dirty="0"/>
                <a:t>KMH22</a:t>
              </a:r>
            </a:p>
            <a:p>
              <a:pPr algn="ctr"/>
              <a:r>
                <a:rPr kumimoji="1" lang="en-US" altLang="ko-Kore-KR" sz="800" dirty="0"/>
                <a:t>(MA046)</a:t>
              </a: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p:nvPr/>
          </p:nvCxnSpPr>
          <p:spPr>
            <a:xfrm>
              <a:off x="191911" y="3164206"/>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2" name="구부러진 연결선[U] 131">
              <a:extLst>
                <a:ext uri="{FF2B5EF4-FFF2-40B4-BE49-F238E27FC236}">
                  <a16:creationId xmlns:a16="http://schemas.microsoft.com/office/drawing/2014/main" id="{414C5854-DCF3-751F-4CA3-DD8A308A66C6}"/>
                </a:ext>
              </a:extLst>
            </p:cNvPr>
            <p:cNvCxnSpPr/>
            <p:nvPr/>
          </p:nvCxnSpPr>
          <p:spPr>
            <a:xfrm>
              <a:off x="152401" y="3226298"/>
              <a:ext cx="279053" cy="138461"/>
            </a:xfrm>
            <a:prstGeom prst="curvedConnector3">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V="1">
              <a:off x="0" y="3298447"/>
              <a:ext cx="302153" cy="381645"/>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54533" y="3395637"/>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21224"/>
              <a:ext cx="836148" cy="465790"/>
            </a:xfrm>
            <a:prstGeom prst="wedgeRectCallout">
              <a:avLst>
                <a:gd name="adj1" fmla="val -118823"/>
                <a:gd name="adj2" fmla="val -3300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L/D CHK Complete</a:t>
              </a:r>
            </a:p>
            <a:p>
              <a:r>
                <a:rPr kumimoji="1" lang="en-US" altLang="ko-Kore-KR" sz="800" dirty="0"/>
                <a:t>NEXT 1700ft</a:t>
              </a:r>
              <a:endParaRPr kumimoji="1" lang="ko-Kore-KR" altLang="en-US" sz="800" dirty="0"/>
            </a:p>
          </p:txBody>
        </p:sp>
        <p:sp>
          <p:nvSpPr>
            <p:cNvPr id="143" name="TextBox 142">
              <a:extLst>
                <a:ext uri="{FF2B5EF4-FFF2-40B4-BE49-F238E27FC236}">
                  <a16:creationId xmlns:a16="http://schemas.microsoft.com/office/drawing/2014/main" id="{E7A4A2FD-4EC4-596A-9970-F3E9CA163536}"/>
                </a:ext>
              </a:extLst>
            </p:cNvPr>
            <p:cNvSpPr txBox="1"/>
            <p:nvPr/>
          </p:nvSpPr>
          <p:spPr>
            <a:xfrm>
              <a:off x="28182" y="3553474"/>
              <a:ext cx="550151" cy="338554"/>
            </a:xfrm>
            <a:prstGeom prst="rect">
              <a:avLst/>
            </a:prstGeom>
            <a:noFill/>
          </p:spPr>
          <p:txBody>
            <a:bodyPr wrap="none" rtlCol="0">
              <a:spAutoFit/>
            </a:bodyPr>
            <a:lstStyle/>
            <a:p>
              <a:pPr algn="ctr"/>
              <a:r>
                <a:rPr kumimoji="1" lang="en-US" altLang="ko-Kore-KR" sz="800" dirty="0"/>
                <a:t>FAF</a:t>
              </a:r>
            </a:p>
            <a:p>
              <a:pPr algn="ctr"/>
              <a:r>
                <a:rPr kumimoji="1" lang="en-US" altLang="ko-Kore-KR" sz="800" dirty="0"/>
                <a:t>(FF046)</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907946" y="2889323"/>
              <a:ext cx="1243293" cy="637768"/>
            </a:xfrm>
            <a:prstGeom prst="wedgeRectCallout">
              <a:avLst>
                <a:gd name="adj1" fmla="val -76304"/>
                <a:gd name="adj2" fmla="val -40843"/>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1700ft L/O 6000ft SET</a:t>
              </a:r>
            </a:p>
            <a:p>
              <a:r>
                <a:rPr kumimoji="1" lang="en-US" altLang="ko-Kore-KR" sz="800" dirty="0"/>
                <a:t>TRK to KMH22</a:t>
              </a:r>
            </a:p>
            <a:p>
              <a:r>
                <a:rPr kumimoji="1" lang="en-US" altLang="ko-Kore-KR" sz="800" dirty="0"/>
                <a:t>Act SEC F-PLN</a:t>
              </a:r>
            </a:p>
            <a:p>
              <a:r>
                <a:rPr kumimoji="1" lang="en-US" altLang="ko-Kore-KR" sz="800" dirty="0"/>
                <a:t>DCT KMH22 - NAV </a:t>
              </a:r>
            </a:p>
            <a:p>
              <a:r>
                <a:rPr kumimoji="1" lang="en-US" altLang="ko-Kore-KR" sz="800" dirty="0"/>
                <a:t>ECAM memo no blue</a:t>
              </a:r>
              <a:endParaRPr kumimoji="1" lang="ko-Kore-KR" altLang="en-US" sz="800" dirty="0"/>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258171"/>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TRK110</a:t>
              </a:r>
            </a:p>
            <a:p>
              <a:r>
                <a:rPr kumimoji="1" lang="en-US" altLang="ko-Kore-KR" sz="800" b="1" dirty="0">
                  <a:solidFill>
                    <a:srgbClr val="FFC000"/>
                  </a:solidFill>
                </a:rPr>
                <a:t> KMH30-1NM</a:t>
              </a:r>
            </a:p>
            <a:p>
              <a:r>
                <a:rPr kumimoji="1" lang="en-US" altLang="ko-Kore-KR" sz="800" dirty="0"/>
                <a:t> -3 FPA Des</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07131"/>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488263"/>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441619"/>
              <a:ext cx="418277" cy="421925"/>
            </a:xfrm>
            <a:prstGeom prst="wedgeRectCallout">
              <a:avLst>
                <a:gd name="adj1" fmla="val -90896"/>
                <a:gd name="adj2" fmla="val -29838"/>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A/P Off  </a:t>
              </a:r>
            </a:p>
            <a:p>
              <a:r>
                <a:rPr kumimoji="1" lang="ko-KR" altLang="en-US" sz="800" dirty="0"/>
                <a:t> </a:t>
              </a:r>
              <a:r>
                <a:rPr kumimoji="1" lang="en-US" altLang="ko-Kore-KR" sz="800" dirty="0"/>
                <a:t>FD Off - </a:t>
              </a:r>
              <a:r>
                <a:rPr kumimoji="1" lang="ko-KR" altLang="en-US" sz="800" dirty="0"/>
                <a:t> </a:t>
              </a:r>
              <a:endParaRPr kumimoji="1" lang="en-US" altLang="ko-KR" sz="800" dirty="0"/>
            </a:p>
            <a:p>
              <a:r>
                <a:rPr kumimoji="1" lang="ko-KR" altLang="en-US" sz="800" dirty="0"/>
                <a:t> </a:t>
              </a:r>
              <a:r>
                <a:rPr kumimoji="1" lang="en-US" altLang="ko-Kore-KR" sz="800" dirty="0"/>
                <a:t>On</a:t>
              </a:r>
            </a:p>
          </p:txBody>
        </p:sp>
      </p:grpSp>
      <p:sp>
        <p:nvSpPr>
          <p:cNvPr id="153" name="TextBox 152">
            <a:extLst>
              <a:ext uri="{FF2B5EF4-FFF2-40B4-BE49-F238E27FC236}">
                <a16:creationId xmlns:a16="http://schemas.microsoft.com/office/drawing/2014/main" id="{97F6DB83-E6BE-C7AD-44FF-AB2D0BD878C7}"/>
              </a:ext>
            </a:extLst>
          </p:cNvPr>
          <p:cNvSpPr txBox="1"/>
          <p:nvPr/>
        </p:nvSpPr>
        <p:spPr>
          <a:xfrm>
            <a:off x="1427395" y="5172015"/>
            <a:ext cx="973343" cy="400110"/>
          </a:xfrm>
          <a:prstGeom prst="rect">
            <a:avLst/>
          </a:prstGeom>
          <a:noFill/>
        </p:spPr>
        <p:txBody>
          <a:bodyPr wrap="none" rtlCol="0">
            <a:spAutoFit/>
          </a:bodyPr>
          <a:lstStyle/>
          <a:p>
            <a:r>
              <a:rPr lang="en-US" altLang="ko-KR" sz="1000" b="1" dirty="0">
                <a:solidFill>
                  <a:srgbClr val="C00000"/>
                </a:solidFill>
                <a:latin typeface="Calibri" panose="020F0502020204030204" pitchFamily="34" charset="0"/>
                <a:cs typeface="Calibri" panose="020F0502020204030204" pitchFamily="34" charset="0"/>
              </a:rPr>
              <a:t>LOC 36 Circling</a:t>
            </a:r>
          </a:p>
          <a:p>
            <a:r>
              <a:rPr kumimoji="1" lang="en-US" altLang="ko-Kore-KR" sz="1000" b="1" dirty="0">
                <a:solidFill>
                  <a:srgbClr val="C00000"/>
                </a:solidFill>
                <a:latin typeface="Calibri" panose="020F0502020204030204" pitchFamily="34" charset="0"/>
                <a:cs typeface="Calibri" panose="020F0502020204030204" pitchFamily="34" charset="0"/>
              </a:rPr>
              <a:t>Next Page</a:t>
            </a:r>
            <a:endParaRPr kumimoji="1" lang="ko-Kore-KR" altLang="en-US" sz="1000" b="1" dirty="0">
              <a:solidFill>
                <a:srgbClr val="C00000"/>
              </a:solidFill>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D49E31F1-F9F0-C78C-4D15-80D409335936}"/>
              </a:ext>
            </a:extLst>
          </p:cNvPr>
          <p:cNvSpPr txBox="1"/>
          <p:nvPr/>
        </p:nvSpPr>
        <p:spPr>
          <a:xfrm>
            <a:off x="515207" y="5165987"/>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graphicFrame>
        <p:nvGraphicFramePr>
          <p:cNvPr id="138" name="Google Shape;138;p4"/>
          <p:cNvGraphicFramePr/>
          <p:nvPr>
            <p:extLst>
              <p:ext uri="{D42A27DB-BD31-4B8C-83A1-F6EECF244321}">
                <p14:modId xmlns:p14="http://schemas.microsoft.com/office/powerpoint/2010/main" val="3165188743"/>
              </p:ext>
            </p:extLst>
          </p:nvPr>
        </p:nvGraphicFramePr>
        <p:xfrm>
          <a:off x="0" y="0"/>
          <a:ext cx="2328850" cy="1016880"/>
        </p:xfrm>
        <a:graphic>
          <a:graphicData uri="http://schemas.openxmlformats.org/drawingml/2006/table">
            <a:tbl>
              <a:tblPr firstRow="1" bandRow="1">
                <a:noFill/>
                <a:tableStyleId>{A521BE36-7E6F-4EC9-8D66-1CF97A6895EC}</a:tableStyleId>
              </a:tblPr>
              <a:tblGrid>
                <a:gridCol w="1471613">
                  <a:extLst>
                    <a:ext uri="{9D8B030D-6E8A-4147-A177-3AD203B41FA5}">
                      <a16:colId xmlns:a16="http://schemas.microsoft.com/office/drawing/2014/main" val="20000"/>
                    </a:ext>
                  </a:extLst>
                </a:gridCol>
                <a:gridCol w="857237">
                  <a:extLst>
                    <a:ext uri="{9D8B030D-6E8A-4147-A177-3AD203B41FA5}">
                      <a16:colId xmlns:a16="http://schemas.microsoft.com/office/drawing/2014/main" val="906161869"/>
                    </a:ext>
                  </a:extLst>
                </a:gridCol>
              </a:tblGrid>
              <a:tr h="202565">
                <a:tc gridSpan="2">
                  <a:txBody>
                    <a:bodyPr/>
                    <a:lstStyle/>
                    <a:p>
                      <a:pPr marL="0" marR="0" lvl="0" indent="0" algn="ctr" rtl="0">
                        <a:spcBef>
                          <a:spcPts val="0"/>
                        </a:spcBef>
                        <a:spcAft>
                          <a:spcPts val="0"/>
                        </a:spcAft>
                        <a:buNone/>
                      </a:pPr>
                      <a:r>
                        <a:rPr lang="en-US" sz="1100" dirty="0"/>
                        <a:t>PUS VOR 18L/R </a:t>
                      </a:r>
                      <a:endParaRPr lang="en-US" sz="1100" dirty="0">
                        <a:solidFill>
                          <a:srgbClr val="FFC000"/>
                        </a:solidFill>
                      </a:endParaRP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STAR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VOR18L/R  GAYHA  GAYHA x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                                           TRANS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                                     MASTA</a:t>
                      </a:r>
                      <a:endParaRPr kumimoji="0" lang="en-US" altLang="ko-Kore-KR" sz="900" b="1" i="0" u="none" strike="noStrike" kern="1200" cap="none" spc="0" normalizeH="0" baseline="0" noProof="0" dirty="0">
                        <a:ln>
                          <a:noFill/>
                        </a:ln>
                        <a:solidFill>
                          <a:srgbClr val="00B050"/>
                        </a:solidFill>
                        <a:effectLst/>
                        <a:uLnTx/>
                        <a:uFillTx/>
                        <a:latin typeface="Calibri"/>
                        <a:cs typeface="Calibri"/>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SEC 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a:t>
                      </a:r>
                      <a:r>
                        <a:rPr kumimoji="0" lang="en-US" altLang="ko-Kore-KR" sz="900" b="1" i="0" u="none" strike="noStrike" kern="1200" cap="none" spc="0" normalizeH="0" baseline="0" noProof="0" dirty="0">
                          <a:ln>
                            <a:noFill/>
                          </a:ln>
                          <a:solidFill>
                            <a:srgbClr val="6F6F6F"/>
                          </a:solidFill>
                          <a:effectLst/>
                          <a:uLnTx/>
                          <a:uFillTx/>
                          <a:latin typeface="Calibri"/>
                          <a:cs typeface="Calibri"/>
                        </a:rPr>
                        <a:t>R18L/R  V18L/R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Blank)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(LDG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r>
                        <a:rPr kumimoji="0" lang="en-US" altLang="ko-Kore-KR" sz="800" b="1" i="0" u="none" strike="noStrike" kern="1200" cap="none" spc="0" normalizeH="0" baseline="0" noProof="0" dirty="0">
                          <a:ln>
                            <a:noFill/>
                          </a:ln>
                          <a:solidFill>
                            <a:srgbClr val="C00000"/>
                          </a:solidFill>
                          <a:effectLst/>
                          <a:uLnTx/>
                          <a:uFillTx/>
                          <a:latin typeface="Calibri"/>
                          <a:cs typeface="Calibri"/>
                        </a:rPr>
                        <a:t>)</a:t>
                      </a:r>
                    </a:p>
                  </a:txBody>
                  <a:tcPr marL="36000" marR="36000" marT="0" marB="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284(Missed App)</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2408181646"/>
                  </a:ext>
                </a:extLst>
              </a:tr>
            </a:tbl>
          </a:graphicData>
        </a:graphic>
      </p:graphicFrame>
    </p:spTree>
    <p:extLst>
      <p:ext uri="{BB962C8B-B14F-4D97-AF65-F5344CB8AC3E}">
        <p14:creationId xmlns:p14="http://schemas.microsoft.com/office/powerpoint/2010/main" val="174513959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graphicFrame>
        <p:nvGraphicFramePr>
          <p:cNvPr id="145" name="Google Shape;138;p4">
            <a:extLst>
              <a:ext uri="{FF2B5EF4-FFF2-40B4-BE49-F238E27FC236}">
                <a16:creationId xmlns:a16="http://schemas.microsoft.com/office/drawing/2014/main" id="{2DD2492E-25C7-6F3E-A765-74CDA0855231}"/>
              </a:ext>
            </a:extLst>
          </p:cNvPr>
          <p:cNvGraphicFramePr/>
          <p:nvPr>
            <p:extLst>
              <p:ext uri="{D42A27DB-BD31-4B8C-83A1-F6EECF244321}">
                <p14:modId xmlns:p14="http://schemas.microsoft.com/office/powerpoint/2010/main" val="2135400964"/>
              </p:ext>
            </p:extLst>
          </p:nvPr>
        </p:nvGraphicFramePr>
        <p:xfrm>
          <a:off x="-4122" y="4335832"/>
          <a:ext cx="2328850" cy="932280"/>
        </p:xfrm>
        <a:graphic>
          <a:graphicData uri="http://schemas.openxmlformats.org/drawingml/2006/table">
            <a:tbl>
              <a:tblPr firstRow="1" bandRow="1">
                <a:noFill/>
                <a:tableStyleId>{A521BE36-7E6F-4EC9-8D66-1CF97A6895EC}</a:tableStyleId>
              </a:tblPr>
              <a:tblGrid>
                <a:gridCol w="2328850">
                  <a:extLst>
                    <a:ext uri="{9D8B030D-6E8A-4147-A177-3AD203B41FA5}">
                      <a16:colId xmlns:a16="http://schemas.microsoft.com/office/drawing/2014/main" val="20000"/>
                    </a:ext>
                  </a:extLst>
                </a:gridCol>
              </a:tblGrid>
              <a:tr h="152551">
                <a:tc>
                  <a:txBody>
                    <a:bodyPr/>
                    <a:lstStyle/>
                    <a:p>
                      <a:pPr marL="0" marR="0" lvl="0" indent="0" algn="ctr" rtl="0">
                        <a:spcBef>
                          <a:spcPts val="0"/>
                        </a:spcBef>
                        <a:spcAft>
                          <a:spcPts val="0"/>
                        </a:spcAft>
                        <a:buNone/>
                      </a:pPr>
                      <a:r>
                        <a:rPr lang="en-US" sz="1100" dirty="0"/>
                        <a:t>Missed App</a:t>
                      </a:r>
                    </a:p>
                  </a:txBody>
                  <a:tcPr marL="36000" marR="36000" marT="36000" marB="36000" anchor="ctr"/>
                </a:tc>
                <a:extLst>
                  <a:ext uri="{0D108BD9-81ED-4DB2-BD59-A6C34878D82A}">
                    <a16:rowId xmlns:a16="http://schemas.microsoft.com/office/drawing/2014/main" val="10000"/>
                  </a:ext>
                </a:extLst>
              </a:tr>
              <a:tr h="220461">
                <a:tc>
                  <a:txBody>
                    <a:bodyPr/>
                    <a:lstStyle/>
                    <a:p>
                      <a:pPr marL="0" marR="0" lvl="0" indent="0" algn="l" rtl="0">
                        <a:spcBef>
                          <a:spcPts val="0"/>
                        </a:spcBef>
                        <a:spcAft>
                          <a:spcPts val="0"/>
                        </a:spcAft>
                        <a:buNone/>
                      </a:pPr>
                      <a:r>
                        <a:rPr lang="en-US" altLang="ko-Kore-KR" sz="900" dirty="0"/>
                        <a:t>Base Turn </a:t>
                      </a:r>
                      <a:r>
                        <a:rPr lang="ko-KR" altLang="en-US" sz="900" dirty="0"/>
                        <a:t>이전 </a:t>
                      </a:r>
                      <a:r>
                        <a:rPr lang="en-US" altLang="ko-KR" sz="900" dirty="0"/>
                        <a:t>:</a:t>
                      </a:r>
                      <a:r>
                        <a:rPr lang="ko-KR" altLang="en-US" sz="900" dirty="0"/>
                        <a:t> </a:t>
                      </a:r>
                      <a:r>
                        <a:rPr lang="en-US" altLang="ko-KR" sz="900" dirty="0"/>
                        <a:t>L/H Turn </a:t>
                      </a:r>
                      <a:r>
                        <a:rPr lang="en-US" altLang="ko-KR" sz="900" b="1" dirty="0">
                          <a:solidFill>
                            <a:srgbClr val="C00000"/>
                          </a:solidFill>
                        </a:rPr>
                        <a:t>KMH 310 </a:t>
                      </a:r>
                      <a:r>
                        <a:rPr lang="en-US" altLang="ko-KR" sz="900" dirty="0"/>
                        <a:t>OUTBD </a:t>
                      </a:r>
                    </a:p>
                    <a:p>
                      <a:pPr marL="0" marR="0" lvl="0" indent="0" algn="l" rtl="0">
                        <a:spcBef>
                          <a:spcPts val="0"/>
                        </a:spcBef>
                        <a:spcAft>
                          <a:spcPts val="0"/>
                        </a:spcAft>
                        <a:buNone/>
                      </a:pPr>
                      <a:r>
                        <a:rPr lang="en-US" altLang="ko-KR" sz="900" dirty="0"/>
                        <a:t>(PULL TRK)</a:t>
                      </a:r>
                    </a:p>
                  </a:txBody>
                  <a:tcPr marL="36000" marR="36000" marT="36000" marB="36000" anchor="ctr"/>
                </a:tc>
                <a:extLst>
                  <a:ext uri="{0D108BD9-81ED-4DB2-BD59-A6C34878D82A}">
                    <a16:rowId xmlns:a16="http://schemas.microsoft.com/office/drawing/2014/main" val="10001"/>
                  </a:ext>
                </a:extLst>
              </a:tr>
              <a:tr h="307775">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altLang="ko-KR" sz="900" dirty="0"/>
                        <a:t>Base Turn </a:t>
                      </a:r>
                      <a:r>
                        <a:rPr lang="ko-KR" altLang="en-US" sz="900" dirty="0"/>
                        <a:t>이후 </a:t>
                      </a:r>
                      <a:r>
                        <a:rPr lang="en-US" altLang="ko-KR" sz="900" dirty="0"/>
                        <a:t>:</a:t>
                      </a:r>
                      <a:r>
                        <a:rPr lang="ko-KR" altLang="en-US" sz="900" dirty="0"/>
                        <a:t> </a:t>
                      </a:r>
                      <a:r>
                        <a:rPr lang="en-US" altLang="ko-KR" sz="900" dirty="0"/>
                        <a:t>Continue R/H Turn </a:t>
                      </a:r>
                      <a:r>
                        <a:rPr lang="en-US" altLang="ko-KR" sz="900" b="1" dirty="0">
                          <a:solidFill>
                            <a:srgbClr val="C00000"/>
                          </a:solidFill>
                        </a:rPr>
                        <a:t>KMH 310 </a:t>
                      </a:r>
                      <a:r>
                        <a:rPr lang="en-US" altLang="ko-KR" sz="900" dirty="0"/>
                        <a:t>OUTBD  (PULL TRK)</a:t>
                      </a:r>
                    </a:p>
                  </a:txBody>
                  <a:tcPr marL="36000" marR="36000" marT="36000" marB="36000" anchor="ctr"/>
                </a:tc>
                <a:extLst>
                  <a:ext uri="{0D108BD9-81ED-4DB2-BD59-A6C34878D82A}">
                    <a16:rowId xmlns:a16="http://schemas.microsoft.com/office/drawing/2014/main" val="3324277550"/>
                  </a:ext>
                </a:extLst>
              </a:tr>
            </a:tbl>
          </a:graphicData>
        </a:graphic>
      </p:graphicFrame>
      <p:grpSp>
        <p:nvGrpSpPr>
          <p:cNvPr id="15" name="그룹 14">
            <a:extLst>
              <a:ext uri="{FF2B5EF4-FFF2-40B4-BE49-F238E27FC236}">
                <a16:creationId xmlns:a16="http://schemas.microsoft.com/office/drawing/2014/main" id="{EA4E3C12-23F7-925D-4989-9A1D08C75E1F}"/>
              </a:ext>
            </a:extLst>
          </p:cNvPr>
          <p:cNvGrpSpPr/>
          <p:nvPr/>
        </p:nvGrpSpPr>
        <p:grpSpPr>
          <a:xfrm>
            <a:off x="-48346" y="1189404"/>
            <a:ext cx="2394309" cy="3138086"/>
            <a:chOff x="-48346" y="1067956"/>
            <a:chExt cx="2394309" cy="3138086"/>
          </a:xfrm>
        </p:grpSpPr>
        <p:pic>
          <p:nvPicPr>
            <p:cNvPr id="12" name="그림 11" descr="나무, 식물이(가) 표시된 사진&#10;&#10;자동 생성된 설명">
              <a:extLst>
                <a:ext uri="{FF2B5EF4-FFF2-40B4-BE49-F238E27FC236}">
                  <a16:creationId xmlns:a16="http://schemas.microsoft.com/office/drawing/2014/main" id="{CDDBC3DB-6733-2907-F7DB-E2FDA5AE9F63}"/>
                </a:ext>
              </a:extLst>
            </p:cNvPr>
            <p:cNvPicPr>
              <a:picLocks noChangeAspect="1"/>
            </p:cNvPicPr>
            <p:nvPr/>
          </p:nvPicPr>
          <p:blipFill rotWithShape="1">
            <a:blip r:embed="rId3"/>
            <a:stretch/>
          </p:blipFill>
          <p:spPr>
            <a:xfrm>
              <a:off x="-361" y="1098329"/>
              <a:ext cx="2346324" cy="3107713"/>
            </a:xfrm>
            <a:prstGeom prst="rect">
              <a:avLst/>
            </a:prstGeom>
          </p:spPr>
        </p:pic>
        <p:cxnSp>
          <p:nvCxnSpPr>
            <p:cNvPr id="27" name="직선 연결선[R] 26">
              <a:extLst>
                <a:ext uri="{FF2B5EF4-FFF2-40B4-BE49-F238E27FC236}">
                  <a16:creationId xmlns:a16="http://schemas.microsoft.com/office/drawing/2014/main" id="{A447B34E-85E3-7041-0027-4D72BCEB8F48}"/>
                </a:ext>
              </a:extLst>
            </p:cNvPr>
            <p:cNvCxnSpPr>
              <a:cxnSpLocks/>
              <a:endCxn id="29" idx="0"/>
            </p:cNvCxnSpPr>
            <p:nvPr/>
          </p:nvCxnSpPr>
          <p:spPr>
            <a:xfrm flipH="1" flipV="1">
              <a:off x="647706" y="1625885"/>
              <a:ext cx="35808" cy="119660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1" name="직선 연결선[R] 40">
              <a:extLst>
                <a:ext uri="{FF2B5EF4-FFF2-40B4-BE49-F238E27FC236}">
                  <a16:creationId xmlns:a16="http://schemas.microsoft.com/office/drawing/2014/main" id="{AF422B5F-7DE7-D8E9-59E5-31D47952B5A3}"/>
                </a:ext>
              </a:extLst>
            </p:cNvPr>
            <p:cNvCxnSpPr>
              <a:cxnSpLocks/>
            </p:cNvCxnSpPr>
            <p:nvPr/>
          </p:nvCxnSpPr>
          <p:spPr>
            <a:xfrm flipH="1" flipV="1">
              <a:off x="685970" y="2822492"/>
              <a:ext cx="1038585" cy="862373"/>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23" name="포인트가 4개인 별 22">
              <a:extLst>
                <a:ext uri="{FF2B5EF4-FFF2-40B4-BE49-F238E27FC236}">
                  <a16:creationId xmlns:a16="http://schemas.microsoft.com/office/drawing/2014/main" id="{34EBE2B8-A456-4BC0-19B9-499481DE4E5C}"/>
                </a:ext>
              </a:extLst>
            </p:cNvPr>
            <p:cNvSpPr/>
            <p:nvPr/>
          </p:nvSpPr>
          <p:spPr>
            <a:xfrm>
              <a:off x="590749" y="2716474"/>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호 28">
              <a:extLst>
                <a:ext uri="{FF2B5EF4-FFF2-40B4-BE49-F238E27FC236}">
                  <a16:creationId xmlns:a16="http://schemas.microsoft.com/office/drawing/2014/main" id="{0EDEDCBE-E5F5-DEFE-E89D-A65BA4BB793D}"/>
                </a:ext>
              </a:extLst>
            </p:cNvPr>
            <p:cNvSpPr/>
            <p:nvPr/>
          </p:nvSpPr>
          <p:spPr>
            <a:xfrm>
              <a:off x="647194" y="1191450"/>
              <a:ext cx="956185" cy="911025"/>
            </a:xfrm>
            <a:prstGeom prst="arc">
              <a:avLst>
                <a:gd name="adj1" fmla="val 10951624"/>
                <a:gd name="adj2" fmla="val 61662"/>
              </a:avLst>
            </a:prstGeom>
            <a:ln w="28575">
              <a:solidFill>
                <a:srgbClr val="AA47F5"/>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1" name="포인트가 4개인 별 30">
              <a:extLst>
                <a:ext uri="{FF2B5EF4-FFF2-40B4-BE49-F238E27FC236}">
                  <a16:creationId xmlns:a16="http://schemas.microsoft.com/office/drawing/2014/main" id="{58BD0D03-CFFD-7313-7A4A-408AE9CE381A}"/>
                </a:ext>
              </a:extLst>
            </p:cNvPr>
            <p:cNvSpPr/>
            <p:nvPr/>
          </p:nvSpPr>
          <p:spPr>
            <a:xfrm>
              <a:off x="573819" y="2044793"/>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호 34">
              <a:extLst>
                <a:ext uri="{FF2B5EF4-FFF2-40B4-BE49-F238E27FC236}">
                  <a16:creationId xmlns:a16="http://schemas.microsoft.com/office/drawing/2014/main" id="{930CEE6A-5EFE-59E6-5594-85206F09186A}"/>
                </a:ext>
              </a:extLst>
            </p:cNvPr>
            <p:cNvSpPr/>
            <p:nvPr/>
          </p:nvSpPr>
          <p:spPr>
            <a:xfrm>
              <a:off x="686711" y="1191901"/>
              <a:ext cx="973831" cy="1004707"/>
            </a:xfrm>
            <a:prstGeom prst="arc">
              <a:avLst>
                <a:gd name="adj1" fmla="val 16012884"/>
                <a:gd name="adj2" fmla="val 21134675"/>
              </a:avLst>
            </a:prstGeom>
            <a:ln w="28575">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ko-Kore-KR" altLang="en-US"/>
            </a:p>
          </p:txBody>
        </p:sp>
        <p:sp>
          <p:nvSpPr>
            <p:cNvPr id="38" name="포인트가 4개인 별 37">
              <a:extLst>
                <a:ext uri="{FF2B5EF4-FFF2-40B4-BE49-F238E27FC236}">
                  <a16:creationId xmlns:a16="http://schemas.microsoft.com/office/drawing/2014/main" id="{7EB48E4E-D41B-9BE2-A6CB-DE56A1828C44}"/>
                </a:ext>
              </a:extLst>
            </p:cNvPr>
            <p:cNvSpPr/>
            <p:nvPr/>
          </p:nvSpPr>
          <p:spPr>
            <a:xfrm>
              <a:off x="539954" y="109653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9" name="포인트가 4개인 별 38">
              <a:extLst>
                <a:ext uri="{FF2B5EF4-FFF2-40B4-BE49-F238E27FC236}">
                  <a16:creationId xmlns:a16="http://schemas.microsoft.com/office/drawing/2014/main" id="{4623912B-268E-11E3-0FE7-B2FCDA90C0C0}"/>
                </a:ext>
              </a:extLst>
            </p:cNvPr>
            <p:cNvSpPr/>
            <p:nvPr/>
          </p:nvSpPr>
          <p:spPr>
            <a:xfrm>
              <a:off x="1431776" y="1073957"/>
              <a:ext cx="185531" cy="212035"/>
            </a:xfrm>
            <a:prstGeom prst="star4">
              <a:avLst>
                <a:gd name="adj" fmla="val 18750"/>
              </a:avLst>
            </a:prstGeom>
            <a:solidFill>
              <a:srgbClr val="AA47F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0" name="포인트가 4개인 별 39">
              <a:extLst>
                <a:ext uri="{FF2B5EF4-FFF2-40B4-BE49-F238E27FC236}">
                  <a16:creationId xmlns:a16="http://schemas.microsoft.com/office/drawing/2014/main" id="{00C949CF-AF86-BF74-7612-33AF2285DACA}"/>
                </a:ext>
              </a:extLst>
            </p:cNvPr>
            <p:cNvSpPr/>
            <p:nvPr/>
          </p:nvSpPr>
          <p:spPr>
            <a:xfrm>
              <a:off x="1539024" y="1068313"/>
              <a:ext cx="185531" cy="212035"/>
            </a:xfrm>
            <a:prstGeom prst="star4">
              <a:avLst>
                <a:gd name="adj" fmla="val 18750"/>
              </a:avLst>
            </a:prstGeom>
            <a:solidFill>
              <a:srgbClr val="92D05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cxnSp>
          <p:nvCxnSpPr>
            <p:cNvPr id="44" name="직선 연결선[R] 43">
              <a:extLst>
                <a:ext uri="{FF2B5EF4-FFF2-40B4-BE49-F238E27FC236}">
                  <a16:creationId xmlns:a16="http://schemas.microsoft.com/office/drawing/2014/main" id="{868CF2DE-D380-1488-974D-31BDE8684A05}"/>
                </a:ext>
              </a:extLst>
            </p:cNvPr>
            <p:cNvCxnSpPr>
              <a:cxnSpLocks/>
              <a:endCxn id="29" idx="2"/>
            </p:cNvCxnSpPr>
            <p:nvPr/>
          </p:nvCxnSpPr>
          <p:spPr>
            <a:xfrm flipH="1" flipV="1">
              <a:off x="1603294" y="1655537"/>
              <a:ext cx="22873" cy="389256"/>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49" name="직선 연결선[R] 48">
              <a:extLst>
                <a:ext uri="{FF2B5EF4-FFF2-40B4-BE49-F238E27FC236}">
                  <a16:creationId xmlns:a16="http://schemas.microsoft.com/office/drawing/2014/main" id="{66964C75-BD54-9870-DA4E-4CA275254DF7}"/>
                </a:ext>
              </a:extLst>
            </p:cNvPr>
            <p:cNvCxnSpPr>
              <a:cxnSpLocks/>
              <a:endCxn id="35" idx="2"/>
            </p:cNvCxnSpPr>
            <p:nvPr/>
          </p:nvCxnSpPr>
          <p:spPr>
            <a:xfrm flipH="1" flipV="1">
              <a:off x="1656354" y="1628512"/>
              <a:ext cx="22321" cy="421925"/>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54" name="직선 연결선[R] 53">
              <a:extLst>
                <a:ext uri="{FF2B5EF4-FFF2-40B4-BE49-F238E27FC236}">
                  <a16:creationId xmlns:a16="http://schemas.microsoft.com/office/drawing/2014/main" id="{DA8E6069-ABB3-A90D-9CB2-412A7718E23F}"/>
                </a:ext>
              </a:extLst>
            </p:cNvPr>
            <p:cNvCxnSpPr>
              <a:cxnSpLocks/>
            </p:cNvCxnSpPr>
            <p:nvPr/>
          </p:nvCxnSpPr>
          <p:spPr>
            <a:xfrm>
              <a:off x="79022" y="1451543"/>
              <a:ext cx="1538285" cy="603307"/>
            </a:xfrm>
            <a:prstGeom prst="line">
              <a:avLst/>
            </a:prstGeom>
            <a:ln w="19050">
              <a:solidFill>
                <a:srgbClr val="FFC000"/>
              </a:solidFill>
              <a:prstDash val="dash"/>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4E0B4524-D5ED-0F82-3605-CE03D6D8F41C}"/>
                </a:ext>
              </a:extLst>
            </p:cNvPr>
            <p:cNvSpPr txBox="1"/>
            <p:nvPr/>
          </p:nvSpPr>
          <p:spPr>
            <a:xfrm>
              <a:off x="1670760" y="1067956"/>
              <a:ext cx="527709" cy="338554"/>
            </a:xfrm>
            <a:prstGeom prst="rect">
              <a:avLst/>
            </a:prstGeom>
            <a:noFill/>
          </p:spPr>
          <p:txBody>
            <a:bodyPr wrap="none" rtlCol="0">
              <a:spAutoFit/>
            </a:bodyPr>
            <a:lstStyle/>
            <a:p>
              <a:pPr algn="ctr"/>
              <a:r>
                <a:rPr kumimoji="1" lang="en-US" altLang="ko-Kore-KR" sz="800" dirty="0">
                  <a:solidFill>
                    <a:srgbClr val="92D050"/>
                  </a:solidFill>
                </a:rPr>
                <a:t>KMH35</a:t>
              </a:r>
            </a:p>
            <a:p>
              <a:pPr algn="ctr"/>
              <a:r>
                <a:rPr kumimoji="1" lang="en-US" altLang="ko-Kore-KR" sz="800" dirty="0">
                  <a:solidFill>
                    <a:srgbClr val="92D050"/>
                  </a:solidFill>
                </a:rPr>
                <a:t>(18L)</a:t>
              </a:r>
              <a:endParaRPr kumimoji="1" lang="ko-Kore-KR" altLang="en-US" sz="800" dirty="0">
                <a:solidFill>
                  <a:srgbClr val="92D050"/>
                </a:solidFill>
              </a:endParaRPr>
            </a:p>
          </p:txBody>
        </p:sp>
        <p:sp>
          <p:nvSpPr>
            <p:cNvPr id="61" name="TextBox 60">
              <a:extLst>
                <a:ext uri="{FF2B5EF4-FFF2-40B4-BE49-F238E27FC236}">
                  <a16:creationId xmlns:a16="http://schemas.microsoft.com/office/drawing/2014/main" id="{C03758C5-ABCE-E358-B805-F5F84F53890B}"/>
                </a:ext>
              </a:extLst>
            </p:cNvPr>
            <p:cNvSpPr txBox="1"/>
            <p:nvPr/>
          </p:nvSpPr>
          <p:spPr>
            <a:xfrm>
              <a:off x="984588" y="1243074"/>
              <a:ext cx="527709" cy="338554"/>
            </a:xfrm>
            <a:prstGeom prst="rect">
              <a:avLst/>
            </a:prstGeom>
            <a:noFill/>
          </p:spPr>
          <p:txBody>
            <a:bodyPr wrap="none" rtlCol="0">
              <a:spAutoFit/>
            </a:bodyPr>
            <a:lstStyle/>
            <a:p>
              <a:pPr algn="ctr"/>
              <a:r>
                <a:rPr kumimoji="1" lang="en-US" altLang="ko-Kore-KR" sz="800" dirty="0"/>
                <a:t>KMH34</a:t>
              </a:r>
            </a:p>
            <a:p>
              <a:pPr algn="ctr"/>
              <a:r>
                <a:rPr kumimoji="1" lang="en-US" altLang="ko-Kore-KR" sz="800" dirty="0"/>
                <a:t>(18R)</a:t>
              </a:r>
              <a:endParaRPr kumimoji="1" lang="ko-Kore-KR" altLang="en-US" sz="800" dirty="0"/>
            </a:p>
          </p:txBody>
        </p:sp>
        <p:sp>
          <p:nvSpPr>
            <p:cNvPr id="62" name="TextBox 61">
              <a:extLst>
                <a:ext uri="{FF2B5EF4-FFF2-40B4-BE49-F238E27FC236}">
                  <a16:creationId xmlns:a16="http://schemas.microsoft.com/office/drawing/2014/main" id="{BAB56EBB-C6CC-544B-6B1B-7AD74DDE9799}"/>
                </a:ext>
              </a:extLst>
            </p:cNvPr>
            <p:cNvSpPr txBox="1"/>
            <p:nvPr/>
          </p:nvSpPr>
          <p:spPr>
            <a:xfrm>
              <a:off x="70193" y="1090677"/>
              <a:ext cx="527709" cy="215444"/>
            </a:xfrm>
            <a:prstGeom prst="rect">
              <a:avLst/>
            </a:prstGeom>
            <a:noFill/>
          </p:spPr>
          <p:txBody>
            <a:bodyPr wrap="none" rtlCol="0">
              <a:spAutoFit/>
            </a:bodyPr>
            <a:lstStyle/>
            <a:p>
              <a:r>
                <a:rPr kumimoji="1" lang="en-US" altLang="ko-Kore-KR" sz="800" dirty="0"/>
                <a:t>KMH32</a:t>
              </a:r>
              <a:endParaRPr kumimoji="1" lang="ko-Kore-KR" altLang="en-US" sz="800" dirty="0"/>
            </a:p>
          </p:txBody>
        </p:sp>
        <p:sp>
          <p:nvSpPr>
            <p:cNvPr id="63" name="TextBox 62">
              <a:extLst>
                <a:ext uri="{FF2B5EF4-FFF2-40B4-BE49-F238E27FC236}">
                  <a16:creationId xmlns:a16="http://schemas.microsoft.com/office/drawing/2014/main" id="{F26F0C7B-7DBA-0E46-EAB1-02BB391E9101}"/>
                </a:ext>
              </a:extLst>
            </p:cNvPr>
            <p:cNvSpPr txBox="1"/>
            <p:nvPr/>
          </p:nvSpPr>
          <p:spPr>
            <a:xfrm>
              <a:off x="104058" y="2033287"/>
              <a:ext cx="527709" cy="215444"/>
            </a:xfrm>
            <a:prstGeom prst="rect">
              <a:avLst/>
            </a:prstGeom>
            <a:noFill/>
          </p:spPr>
          <p:txBody>
            <a:bodyPr wrap="none" rtlCol="0">
              <a:spAutoFit/>
            </a:bodyPr>
            <a:lstStyle/>
            <a:p>
              <a:r>
                <a:rPr kumimoji="1" lang="en-US" altLang="ko-Kore-KR" sz="800" dirty="0"/>
                <a:t>KMH30</a:t>
              </a:r>
              <a:endParaRPr kumimoji="1" lang="ko-Kore-KR" altLang="en-US" sz="800" dirty="0"/>
            </a:p>
          </p:txBody>
        </p:sp>
        <p:sp>
          <p:nvSpPr>
            <p:cNvPr id="128" name="TextBox 127">
              <a:extLst>
                <a:ext uri="{FF2B5EF4-FFF2-40B4-BE49-F238E27FC236}">
                  <a16:creationId xmlns:a16="http://schemas.microsoft.com/office/drawing/2014/main" id="{246E7BA4-156E-250A-F438-49FB015FCB5C}"/>
                </a:ext>
              </a:extLst>
            </p:cNvPr>
            <p:cNvSpPr txBox="1"/>
            <p:nvPr/>
          </p:nvSpPr>
          <p:spPr>
            <a:xfrm>
              <a:off x="115180" y="2676757"/>
              <a:ext cx="522900" cy="338554"/>
            </a:xfrm>
            <a:prstGeom prst="rect">
              <a:avLst/>
            </a:prstGeom>
            <a:noFill/>
          </p:spPr>
          <p:txBody>
            <a:bodyPr wrap="none" rtlCol="0">
              <a:spAutoFit/>
            </a:bodyPr>
            <a:lstStyle/>
            <a:p>
              <a:pPr algn="ctr"/>
              <a:r>
                <a:rPr kumimoji="1" lang="en-US" altLang="ko-Kore-KR" sz="800" dirty="0"/>
                <a:t>KMH22</a:t>
              </a:r>
            </a:p>
            <a:p>
              <a:pPr algn="ctr"/>
              <a:endParaRPr kumimoji="1" lang="ko-Kore-KR" altLang="en-US" sz="800" dirty="0"/>
            </a:p>
          </p:txBody>
        </p:sp>
        <p:cxnSp>
          <p:nvCxnSpPr>
            <p:cNvPr id="130" name="구부러진 연결선[U] 129">
              <a:extLst>
                <a:ext uri="{FF2B5EF4-FFF2-40B4-BE49-F238E27FC236}">
                  <a16:creationId xmlns:a16="http://schemas.microsoft.com/office/drawing/2014/main" id="{CF940597-B6DB-F9E0-2BFE-9248A4AEFCD5}"/>
                </a:ext>
              </a:extLst>
            </p:cNvPr>
            <p:cNvCxnSpPr>
              <a:cxnSpLocks/>
            </p:cNvCxnSpPr>
            <p:nvPr/>
          </p:nvCxnSpPr>
          <p:spPr>
            <a:xfrm>
              <a:off x="1610387" y="3841126"/>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cxnSp>
          <p:nvCxnSpPr>
            <p:cNvPr id="133" name="직선 연결선[R] 132">
              <a:extLst>
                <a:ext uri="{FF2B5EF4-FFF2-40B4-BE49-F238E27FC236}">
                  <a16:creationId xmlns:a16="http://schemas.microsoft.com/office/drawing/2014/main" id="{CBE8342F-5466-CF7A-EF58-F1468E9658D9}"/>
                </a:ext>
              </a:extLst>
            </p:cNvPr>
            <p:cNvCxnSpPr>
              <a:cxnSpLocks/>
            </p:cNvCxnSpPr>
            <p:nvPr/>
          </p:nvCxnSpPr>
          <p:spPr>
            <a:xfrm flipH="1" flipV="1">
              <a:off x="1768383" y="3786668"/>
              <a:ext cx="4117" cy="397222"/>
            </a:xfrm>
            <a:prstGeom prst="line">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sp>
          <p:nvSpPr>
            <p:cNvPr id="142" name="포인트가 4개인 별 141">
              <a:extLst>
                <a:ext uri="{FF2B5EF4-FFF2-40B4-BE49-F238E27FC236}">
                  <a16:creationId xmlns:a16="http://schemas.microsoft.com/office/drawing/2014/main" id="{A338195F-D345-F96E-91F4-57F2A830C58D}"/>
                </a:ext>
              </a:extLst>
            </p:cNvPr>
            <p:cNvSpPr/>
            <p:nvPr/>
          </p:nvSpPr>
          <p:spPr>
            <a:xfrm>
              <a:off x="1679774" y="3607592"/>
              <a:ext cx="185531" cy="212035"/>
            </a:xfrm>
            <a:prstGeom prst="star4">
              <a:avLst>
                <a:gd name="adj" fmla="val 18750"/>
              </a:avLst>
            </a:prstGeom>
            <a:solidFill>
              <a:srgbClr val="FFFF0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46" name="사각형 설명선[R] 145">
              <a:extLst>
                <a:ext uri="{FF2B5EF4-FFF2-40B4-BE49-F238E27FC236}">
                  <a16:creationId xmlns:a16="http://schemas.microsoft.com/office/drawing/2014/main" id="{CFB9E6EC-B866-FE82-A5A6-F4E244DD87CD}"/>
                </a:ext>
              </a:extLst>
            </p:cNvPr>
            <p:cNvSpPr/>
            <p:nvPr/>
          </p:nvSpPr>
          <p:spPr>
            <a:xfrm>
              <a:off x="596770" y="3653893"/>
              <a:ext cx="836148" cy="510314"/>
            </a:xfrm>
            <a:prstGeom prst="wedgeRectCallout">
              <a:avLst>
                <a:gd name="adj1" fmla="val 84272"/>
                <a:gd name="adj2" fmla="val 1671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Before FAF L/G DN CONF 3</a:t>
              </a:r>
            </a:p>
            <a:p>
              <a:r>
                <a:rPr kumimoji="1" lang="en-US" altLang="ko-Kore-KR" sz="800" dirty="0"/>
                <a:t>1700ft L/O</a:t>
              </a:r>
            </a:p>
            <a:p>
              <a:r>
                <a:rPr kumimoji="1" lang="en-US" altLang="ko-Kore-KR" sz="800" dirty="0"/>
                <a:t>6000ft SET</a:t>
              </a:r>
            </a:p>
          </p:txBody>
        </p:sp>
        <p:sp>
          <p:nvSpPr>
            <p:cNvPr id="143" name="TextBox 142">
              <a:extLst>
                <a:ext uri="{FF2B5EF4-FFF2-40B4-BE49-F238E27FC236}">
                  <a16:creationId xmlns:a16="http://schemas.microsoft.com/office/drawing/2014/main" id="{E7A4A2FD-4EC4-596A-9970-F3E9CA163536}"/>
                </a:ext>
              </a:extLst>
            </p:cNvPr>
            <p:cNvSpPr txBox="1"/>
            <p:nvPr/>
          </p:nvSpPr>
          <p:spPr>
            <a:xfrm>
              <a:off x="1711414" y="3383086"/>
              <a:ext cx="527709" cy="215444"/>
            </a:xfrm>
            <a:prstGeom prst="rect">
              <a:avLst/>
            </a:prstGeom>
            <a:noFill/>
          </p:spPr>
          <p:txBody>
            <a:bodyPr wrap="none" rtlCol="0">
              <a:spAutoFit/>
            </a:bodyPr>
            <a:lstStyle/>
            <a:p>
              <a:pPr algn="ctr"/>
              <a:r>
                <a:rPr kumimoji="1" lang="en-US" altLang="ko-Kore-KR" sz="800" dirty="0"/>
                <a:t>KMH18</a:t>
              </a:r>
            </a:p>
          </p:txBody>
        </p:sp>
        <p:sp>
          <p:nvSpPr>
            <p:cNvPr id="147" name="사각형 설명선[R] 146">
              <a:extLst>
                <a:ext uri="{FF2B5EF4-FFF2-40B4-BE49-F238E27FC236}">
                  <a16:creationId xmlns:a16="http://schemas.microsoft.com/office/drawing/2014/main" id="{AE343AE0-07BA-1600-95F8-3A2E7E340B60}"/>
                </a:ext>
              </a:extLst>
            </p:cNvPr>
            <p:cNvSpPr/>
            <p:nvPr/>
          </p:nvSpPr>
          <p:spPr>
            <a:xfrm>
              <a:off x="25793" y="2982213"/>
              <a:ext cx="1171053" cy="629402"/>
            </a:xfrm>
            <a:prstGeom prst="wedgeRectCallout">
              <a:avLst>
                <a:gd name="adj1" fmla="val 68256"/>
                <a:gd name="adj2" fmla="val 27380"/>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TRK to KMH22</a:t>
              </a:r>
            </a:p>
            <a:p>
              <a:r>
                <a:rPr kumimoji="1" lang="en-US" altLang="ko-Kore-KR" sz="800" dirty="0"/>
                <a:t>Act SEC F-PLN</a:t>
              </a:r>
            </a:p>
            <a:p>
              <a:r>
                <a:rPr kumimoji="1" lang="en-US" altLang="ko-Kore-KR" sz="800" dirty="0"/>
                <a:t>DCT KMH22 - NAV</a:t>
              </a:r>
            </a:p>
            <a:p>
              <a:r>
                <a:rPr kumimoji="1" lang="en-US" altLang="ko-Kore-KR" sz="800" dirty="0"/>
                <a:t>FLAP FULL(LD no blue)</a:t>
              </a:r>
            </a:p>
            <a:p>
              <a:r>
                <a:rPr kumimoji="1" lang="en-US" altLang="ko-Kore-KR" sz="800" dirty="0"/>
                <a:t>Before L/D CHK</a:t>
              </a:r>
            </a:p>
          </p:txBody>
        </p:sp>
        <p:sp>
          <p:nvSpPr>
            <p:cNvPr id="148" name="사각형 설명선[R] 147">
              <a:extLst>
                <a:ext uri="{FF2B5EF4-FFF2-40B4-BE49-F238E27FC236}">
                  <a16:creationId xmlns:a16="http://schemas.microsoft.com/office/drawing/2014/main" id="{E871E623-1836-7590-4F6F-CB1F7591C0E6}"/>
                </a:ext>
              </a:extLst>
            </p:cNvPr>
            <p:cNvSpPr/>
            <p:nvPr/>
          </p:nvSpPr>
          <p:spPr>
            <a:xfrm>
              <a:off x="828719" y="2335364"/>
              <a:ext cx="708292" cy="465790"/>
            </a:xfrm>
            <a:prstGeom prst="wedgeRectCallout">
              <a:avLst>
                <a:gd name="adj1" fmla="val -69799"/>
                <a:gd name="adj2" fmla="val -47152"/>
              </a:avLst>
            </a:prstGeom>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r>
                <a:rPr kumimoji="1" lang="en-US" altLang="ko-Kore-KR" sz="800" dirty="0"/>
                <a:t> TRK 110</a:t>
              </a:r>
            </a:p>
            <a:p>
              <a:r>
                <a:rPr kumimoji="1" lang="en-US" altLang="ko-Kore-KR" sz="800" b="1" dirty="0">
                  <a:solidFill>
                    <a:srgbClr val="FFC000"/>
                  </a:solidFill>
                </a:rPr>
                <a:t> KMH30-1NM</a:t>
              </a:r>
            </a:p>
            <a:p>
              <a:r>
                <a:rPr kumimoji="1" lang="en-US" altLang="ko-Kore-KR" sz="800" dirty="0"/>
                <a:t> -3 FPA Des</a:t>
              </a:r>
            </a:p>
          </p:txBody>
        </p:sp>
        <p:sp>
          <p:nvSpPr>
            <p:cNvPr id="149" name="TextBox 148">
              <a:extLst>
                <a:ext uri="{FF2B5EF4-FFF2-40B4-BE49-F238E27FC236}">
                  <a16:creationId xmlns:a16="http://schemas.microsoft.com/office/drawing/2014/main" id="{C0E1023B-1541-46CF-70D1-CCD44038861A}"/>
                </a:ext>
              </a:extLst>
            </p:cNvPr>
            <p:cNvSpPr txBox="1"/>
            <p:nvPr/>
          </p:nvSpPr>
          <p:spPr>
            <a:xfrm>
              <a:off x="-48346" y="1584324"/>
              <a:ext cx="688009" cy="338554"/>
            </a:xfrm>
            <a:prstGeom prst="rect">
              <a:avLst/>
            </a:prstGeom>
            <a:noFill/>
          </p:spPr>
          <p:txBody>
            <a:bodyPr wrap="none" rtlCol="0">
              <a:spAutoFit/>
            </a:bodyPr>
            <a:lstStyle/>
            <a:p>
              <a:r>
                <a:rPr kumimoji="1" lang="en-US" altLang="ko-Kore-KR" sz="800" b="1" dirty="0">
                  <a:solidFill>
                    <a:srgbClr val="FFC000"/>
                  </a:solidFill>
                </a:rPr>
                <a:t>KMH R280</a:t>
              </a:r>
            </a:p>
            <a:p>
              <a:r>
                <a:rPr kumimoji="1" lang="en-US" altLang="ko-Kore-KR" sz="800" b="1" dirty="0">
                  <a:solidFill>
                    <a:srgbClr val="FFC000"/>
                  </a:solidFill>
                </a:rPr>
                <a:t>Start Turn</a:t>
              </a:r>
              <a:endParaRPr kumimoji="1" lang="ko-Kore-KR" altLang="en-US" sz="800" b="1" dirty="0">
                <a:solidFill>
                  <a:srgbClr val="FFC000"/>
                </a:solidFill>
              </a:endParaRPr>
            </a:p>
          </p:txBody>
        </p:sp>
        <p:sp>
          <p:nvSpPr>
            <p:cNvPr id="150" name="사각형 설명선[R] 149">
              <a:extLst>
                <a:ext uri="{FF2B5EF4-FFF2-40B4-BE49-F238E27FC236}">
                  <a16:creationId xmlns:a16="http://schemas.microsoft.com/office/drawing/2014/main" id="{FD89808B-5034-A5A3-931F-51E835F84D56}"/>
                </a:ext>
              </a:extLst>
            </p:cNvPr>
            <p:cNvSpPr/>
            <p:nvPr/>
          </p:nvSpPr>
          <p:spPr>
            <a:xfrm>
              <a:off x="931503" y="1565456"/>
              <a:ext cx="605516" cy="353512"/>
            </a:xfrm>
            <a:prstGeom prst="wedgeRectCallout">
              <a:avLst>
                <a:gd name="adj1" fmla="val -86957"/>
                <a:gd name="adj2" fmla="val -7794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TRK 182</a:t>
              </a:r>
            </a:p>
            <a:p>
              <a:r>
                <a:rPr kumimoji="1" lang="en-US" altLang="ko-Kore-KR" sz="800" b="1" dirty="0">
                  <a:solidFill>
                    <a:srgbClr val="FFC000"/>
                  </a:solidFill>
                </a:rPr>
                <a:t>  090-1000ft</a:t>
              </a:r>
            </a:p>
            <a:p>
              <a:r>
                <a:rPr kumimoji="1" lang="en-US" altLang="ko-Kore-KR" sz="800" b="1" dirty="0">
                  <a:solidFill>
                    <a:srgbClr val="FFC000"/>
                  </a:solidFill>
                </a:rPr>
                <a:t> </a:t>
              </a:r>
              <a:r>
                <a:rPr kumimoji="1" lang="en-US" altLang="ko-Kore-KR" sz="800" b="1" dirty="0">
                  <a:solidFill>
                    <a:srgbClr val="92D050"/>
                  </a:solidFill>
                </a:rPr>
                <a:t>(900ft)</a:t>
              </a:r>
            </a:p>
          </p:txBody>
        </p:sp>
        <p:sp>
          <p:nvSpPr>
            <p:cNvPr id="151" name="사각형 설명선[R] 150">
              <a:extLst>
                <a:ext uri="{FF2B5EF4-FFF2-40B4-BE49-F238E27FC236}">
                  <a16:creationId xmlns:a16="http://schemas.microsoft.com/office/drawing/2014/main" id="{976C1F7A-E636-B87D-52FD-AEB37F9F32B9}"/>
                </a:ext>
              </a:extLst>
            </p:cNvPr>
            <p:cNvSpPr/>
            <p:nvPr/>
          </p:nvSpPr>
          <p:spPr>
            <a:xfrm>
              <a:off x="1848171" y="1554533"/>
              <a:ext cx="418277" cy="441368"/>
            </a:xfrm>
            <a:prstGeom prst="wedgeRectCallout">
              <a:avLst>
                <a:gd name="adj1" fmla="val -90896"/>
                <a:gd name="adj2" fmla="val -29838"/>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kumimoji="1" lang="en-US" altLang="ko-Kore-KR" sz="800" dirty="0"/>
                <a:t> A/P Off  </a:t>
              </a:r>
            </a:p>
            <a:p>
              <a:r>
                <a:rPr kumimoji="1" lang="ko-KR" altLang="en-US" sz="800" dirty="0"/>
                <a:t> </a:t>
              </a:r>
              <a:r>
                <a:rPr kumimoji="1" lang="en-US" altLang="ko-Kore-KR" sz="800" dirty="0"/>
                <a:t>FD Off - </a:t>
              </a:r>
              <a:r>
                <a:rPr kumimoji="1" lang="ko-KR" altLang="en-US" sz="800" dirty="0"/>
                <a:t> </a:t>
              </a:r>
              <a:endParaRPr kumimoji="1" lang="en-US" altLang="ko-KR" sz="800" dirty="0"/>
            </a:p>
            <a:p>
              <a:r>
                <a:rPr kumimoji="1" lang="ko-KR" altLang="en-US" sz="800" dirty="0"/>
                <a:t> </a:t>
              </a:r>
              <a:r>
                <a:rPr kumimoji="1" lang="en-US" altLang="ko-Kore-KR" sz="800" dirty="0"/>
                <a:t>On</a:t>
              </a:r>
            </a:p>
          </p:txBody>
        </p:sp>
        <p:cxnSp>
          <p:nvCxnSpPr>
            <p:cNvPr id="13" name="구부러진 연결선[U] 12">
              <a:extLst>
                <a:ext uri="{FF2B5EF4-FFF2-40B4-BE49-F238E27FC236}">
                  <a16:creationId xmlns:a16="http://schemas.microsoft.com/office/drawing/2014/main" id="{3FA0277A-46F3-9B10-43A1-F9FC3A7CADA4}"/>
                </a:ext>
              </a:extLst>
            </p:cNvPr>
            <p:cNvCxnSpPr>
              <a:cxnSpLocks/>
            </p:cNvCxnSpPr>
            <p:nvPr/>
          </p:nvCxnSpPr>
          <p:spPr>
            <a:xfrm>
              <a:off x="1603294" y="3938785"/>
              <a:ext cx="324227" cy="49428"/>
            </a:xfrm>
            <a:prstGeom prst="curvedConnector3">
              <a:avLst>
                <a:gd name="adj1" fmla="val 44506"/>
              </a:avLst>
            </a:prstGeom>
            <a:ln w="28575">
              <a:solidFill>
                <a:srgbClr val="AA47F5"/>
              </a:solidFill>
            </a:ln>
          </p:spPr>
          <p:style>
            <a:lnRef idx="1">
              <a:schemeClr val="accent1"/>
            </a:lnRef>
            <a:fillRef idx="0">
              <a:schemeClr val="accent1"/>
            </a:fillRef>
            <a:effectRef idx="0">
              <a:schemeClr val="accent1"/>
            </a:effectRef>
            <a:fontRef idx="minor">
              <a:schemeClr val="tx1"/>
            </a:fontRef>
          </p:style>
        </p:cxnSp>
      </p:grpSp>
      <p:graphicFrame>
        <p:nvGraphicFramePr>
          <p:cNvPr id="138" name="Google Shape;138;p4"/>
          <p:cNvGraphicFramePr/>
          <p:nvPr>
            <p:extLst>
              <p:ext uri="{D42A27DB-BD31-4B8C-83A1-F6EECF244321}">
                <p14:modId xmlns:p14="http://schemas.microsoft.com/office/powerpoint/2010/main" val="1148645136"/>
              </p:ext>
            </p:extLst>
          </p:nvPr>
        </p:nvGraphicFramePr>
        <p:xfrm>
          <a:off x="0" y="0"/>
          <a:ext cx="2328850" cy="1210800"/>
        </p:xfrm>
        <a:graphic>
          <a:graphicData uri="http://schemas.openxmlformats.org/drawingml/2006/table">
            <a:tbl>
              <a:tblPr firstRow="1" bandRow="1">
                <a:noFill/>
                <a:tableStyleId>{A521BE36-7E6F-4EC9-8D66-1CF97A6895EC}</a:tableStyleId>
              </a:tblPr>
              <a:tblGrid>
                <a:gridCol w="1485900">
                  <a:extLst>
                    <a:ext uri="{9D8B030D-6E8A-4147-A177-3AD203B41FA5}">
                      <a16:colId xmlns:a16="http://schemas.microsoft.com/office/drawing/2014/main" val="20000"/>
                    </a:ext>
                  </a:extLst>
                </a:gridCol>
                <a:gridCol w="842950">
                  <a:extLst>
                    <a:ext uri="{9D8B030D-6E8A-4147-A177-3AD203B41FA5}">
                      <a16:colId xmlns:a16="http://schemas.microsoft.com/office/drawing/2014/main" val="3596387649"/>
                    </a:ext>
                  </a:extLst>
                </a:gridCol>
              </a:tblGrid>
              <a:tr h="202565">
                <a:tc gridSpan="2">
                  <a:txBody>
                    <a:bodyPr/>
                    <a:lstStyle/>
                    <a:p>
                      <a:pPr marL="0" marR="0" lvl="0" indent="0" algn="ctr" rtl="0">
                        <a:spcBef>
                          <a:spcPts val="0"/>
                        </a:spcBef>
                        <a:spcAft>
                          <a:spcPts val="0"/>
                        </a:spcAft>
                        <a:buNone/>
                      </a:pPr>
                      <a:r>
                        <a:rPr lang="en-US" sz="1100" dirty="0"/>
                        <a:t>PUS LOC 36L/R Circling 18L/R</a:t>
                      </a:r>
                    </a:p>
                  </a:txBody>
                  <a:tcPr marL="91450" marR="91450" marT="36000" marB="36000" anchor="ctr"/>
                </a:tc>
                <a:tc hMerge="1">
                  <a:txBody>
                    <a:bodyPr/>
                    <a:lstStyle/>
                    <a:p>
                      <a:endParaRPr lang="ko-Kore-KR" altLang="en-US"/>
                    </a:p>
                  </a:txBody>
                  <a:tcPr/>
                </a:tc>
                <a:extLst>
                  <a:ext uri="{0D108BD9-81ED-4DB2-BD59-A6C34878D82A}">
                    <a16:rowId xmlns:a16="http://schemas.microsoft.com/office/drawing/2014/main" val="10000"/>
                  </a:ext>
                </a:extLst>
              </a:tr>
              <a:tr h="498856">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STAR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LOC36L     KEVOX     KEVOX x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                                           TRANS</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900" b="1" i="0" u="none" strike="noStrike" kern="1200" cap="none" spc="0" normalizeH="0" baseline="0" noProof="0" dirty="0">
                          <a:ln>
                            <a:noFill/>
                          </a:ln>
                          <a:solidFill>
                            <a:srgbClr val="6F6F6F"/>
                          </a:solidFill>
                          <a:effectLst/>
                          <a:uLnTx/>
                          <a:uFillTx/>
                          <a:latin typeface="Calibri"/>
                          <a:cs typeface="Calibri"/>
                        </a:rPr>
                        <a:t>                                     MASTA</a:t>
                      </a:r>
                      <a:endParaRPr kumimoji="0" lang="en-US" altLang="ko-Kore-KR" sz="900" b="1" i="0" u="none" strike="noStrike" kern="1200" cap="none" spc="0" normalizeH="0" baseline="0" noProof="0" dirty="0">
                        <a:ln>
                          <a:noFill/>
                        </a:ln>
                        <a:solidFill>
                          <a:srgbClr val="00B050"/>
                        </a:solidFill>
                        <a:effectLst/>
                        <a:uLnTx/>
                        <a:uFillTx/>
                        <a:latin typeface="Calibri"/>
                        <a:cs typeface="Calibri"/>
                      </a:endParaRPr>
                    </a:p>
                  </a:txBody>
                  <a:tcPr marL="36000" marR="36000" marT="0" marB="0" anchor="ctr"/>
                </a:tc>
                <a:tc>
                  <a:txBody>
                    <a:bodyPr/>
                    <a:lstStyle/>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prstClr val="black"/>
                          </a:solidFill>
                          <a:effectLst/>
                          <a:uLnTx/>
                          <a:uFillTx/>
                          <a:latin typeface="Calibri"/>
                          <a:cs typeface="Calibri"/>
                        </a:rPr>
                        <a:t>SEC F-PLN</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0" i="0" u="none" strike="noStrike" kern="1200" cap="none" spc="0" normalizeH="0" baseline="0" noProof="0" dirty="0">
                          <a:ln>
                            <a:noFill/>
                          </a:ln>
                          <a:solidFill>
                            <a:prstClr val="black"/>
                          </a:solidFill>
                          <a:effectLst/>
                          <a:uLnTx/>
                          <a:uFillTx/>
                          <a:latin typeface="Calibri"/>
                          <a:cs typeface="Calibri"/>
                        </a:rPr>
                        <a:t>APPR        VIA   </a:t>
                      </a:r>
                      <a:r>
                        <a:rPr kumimoji="0" lang="en-US" altLang="ko-Kore-KR" sz="900" b="1" i="0" u="none" strike="noStrike" kern="1200" cap="none" spc="0" normalizeH="0" baseline="0" noProof="0" dirty="0">
                          <a:ln>
                            <a:noFill/>
                          </a:ln>
                          <a:solidFill>
                            <a:srgbClr val="6F6F6F"/>
                          </a:solidFill>
                          <a:effectLst/>
                          <a:uLnTx/>
                          <a:uFillTx/>
                          <a:latin typeface="Calibri"/>
                          <a:cs typeface="Calibri"/>
                        </a:rPr>
                        <a:t>R18L/R  V18L/R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(MDA: Blank)    </a:t>
                      </a:r>
                    </a:p>
                    <a:p>
                      <a:pPr marL="0" marR="0" lvl="0" indent="0" algn="l" defTabSz="116449" rtl="0" eaLnBrk="1" fontAlgn="auto" latinLnBrk="0" hangingPunct="1">
                        <a:lnSpc>
                          <a:spcPct val="100000"/>
                        </a:lnSpc>
                        <a:spcBef>
                          <a:spcPts val="0"/>
                        </a:spcBef>
                        <a:spcAft>
                          <a:spcPts val="0"/>
                        </a:spcAft>
                        <a:buClrTx/>
                        <a:buSzTx/>
                        <a:buFontTx/>
                        <a:buNone/>
                        <a:tabLst/>
                        <a:defRPr/>
                      </a:pPr>
                      <a:r>
                        <a:rPr kumimoji="0" lang="en-US" altLang="ko-Kore-KR" sz="800" b="1" i="0" u="none" strike="noStrike" kern="1200" cap="none" spc="0" normalizeH="0" baseline="0" noProof="0" dirty="0">
                          <a:ln>
                            <a:noFill/>
                          </a:ln>
                          <a:solidFill>
                            <a:srgbClr val="C00000"/>
                          </a:solidFill>
                          <a:effectLst/>
                          <a:uLnTx/>
                          <a:uFillTx/>
                          <a:latin typeface="Calibri"/>
                          <a:cs typeface="Calibri"/>
                        </a:rPr>
                        <a:t>(LDG CONF </a:t>
                      </a:r>
                      <a:r>
                        <a:rPr kumimoji="0" lang="en-US" altLang="ko-Kore-KR" sz="800" b="1" i="0" u="none" strike="noStrike" kern="1200" cap="none" spc="0" normalizeH="0" baseline="0" noProof="0" dirty="0" err="1">
                          <a:ln>
                            <a:noFill/>
                          </a:ln>
                          <a:solidFill>
                            <a:srgbClr val="C00000"/>
                          </a:solidFill>
                          <a:effectLst/>
                          <a:uLnTx/>
                          <a:uFillTx/>
                          <a:latin typeface="Calibri"/>
                          <a:cs typeface="Calibri"/>
                        </a:rPr>
                        <a:t>chk</a:t>
                      </a:r>
                      <a:r>
                        <a:rPr kumimoji="0" lang="en-US" altLang="ko-Kore-KR" sz="800" b="1" i="0" u="none" strike="noStrike" kern="1200" cap="none" spc="0" normalizeH="0" baseline="0" noProof="0" dirty="0">
                          <a:ln>
                            <a:noFill/>
                          </a:ln>
                          <a:solidFill>
                            <a:srgbClr val="C00000"/>
                          </a:solidFill>
                          <a:effectLst/>
                          <a:uLnTx/>
                          <a:uFillTx/>
                          <a:latin typeface="Calibri"/>
                          <a:cs typeface="Calibri"/>
                        </a:rPr>
                        <a:t>)</a:t>
                      </a:r>
                    </a:p>
                  </a:txBody>
                  <a:tcPr marL="36000" marR="36000" marT="36000" marB="36000" anchor="ctr"/>
                </a:tc>
                <a:extLst>
                  <a:ext uri="{0D108BD9-81ED-4DB2-BD59-A6C34878D82A}">
                    <a16:rowId xmlns:a16="http://schemas.microsoft.com/office/drawing/2014/main" val="10001"/>
                  </a:ext>
                </a:extLst>
              </a:tr>
              <a:tr h="115940">
                <a:tc gridSpan="2">
                  <a:txBody>
                    <a:bodyPr/>
                    <a:lstStyle/>
                    <a:p>
                      <a:pPr marL="0" marR="0" lvl="0" indent="0" algn="ctr" rtl="0">
                        <a:spcBef>
                          <a:spcPts val="0"/>
                        </a:spcBef>
                        <a:spcAft>
                          <a:spcPts val="0"/>
                        </a:spcAft>
                        <a:buNone/>
                      </a:pPr>
                      <a:r>
                        <a:rPr lang="en-US" sz="900" b="1" dirty="0">
                          <a:solidFill>
                            <a:srgbClr val="FF0000"/>
                          </a:solidFill>
                        </a:rPr>
                        <a:t>CI36L(CF36R) 3500 FI36L(FF36R) 2100</a:t>
                      </a:r>
                    </a:p>
                  </a:txBody>
                  <a:tcPr marL="90000" marR="91450" marT="0" marB="0" anchor="ctr"/>
                </a:tc>
                <a:tc hMerge="1">
                  <a:txBody>
                    <a:bodyPr/>
                    <a:lstStyle/>
                    <a:p>
                      <a:endParaRPr lang="ko-Kore-KR" altLang="en-US"/>
                    </a:p>
                  </a:txBody>
                  <a:tcPr/>
                </a:tc>
                <a:extLst>
                  <a:ext uri="{0D108BD9-81ED-4DB2-BD59-A6C34878D82A}">
                    <a16:rowId xmlns:a16="http://schemas.microsoft.com/office/drawing/2014/main" val="3929884486"/>
                  </a:ext>
                </a:extLst>
              </a:tr>
              <a:tr h="115940">
                <a:tc gridSpan="2">
                  <a:txBody>
                    <a:bodyPr/>
                    <a:lstStyle/>
                    <a:p>
                      <a:pPr marL="0" marR="0" lvl="0" indent="0" algn="ctr" rtl="0">
                        <a:spcBef>
                          <a:spcPts val="0"/>
                        </a:spcBef>
                        <a:spcAft>
                          <a:spcPts val="0"/>
                        </a:spcAft>
                        <a:buNone/>
                      </a:pPr>
                      <a:r>
                        <a:rPr lang="en-US" sz="900" b="1" dirty="0">
                          <a:solidFill>
                            <a:srgbClr val="0070C0"/>
                          </a:solidFill>
                        </a:rPr>
                        <a:t>FIX : KMH 280(Base Turn), 310(Missed App)</a:t>
                      </a:r>
                    </a:p>
                  </a:txBody>
                  <a:tcPr marL="90000" marR="91450" marT="0" marB="0" anchor="ctr"/>
                </a:tc>
                <a:tc hMerge="1">
                  <a:txBody>
                    <a:bodyPr/>
                    <a:lstStyle/>
                    <a:p>
                      <a:pPr marL="0" marR="0" lvl="0" indent="0" algn="l" rtl="0">
                        <a:spcBef>
                          <a:spcPts val="0"/>
                        </a:spcBef>
                        <a:spcAft>
                          <a:spcPts val="0"/>
                        </a:spcAft>
                        <a:buNone/>
                      </a:pPr>
                      <a:endParaRPr lang="en-US" altLang="ko-Kore-KR" sz="900" b="1" dirty="0">
                        <a:solidFill>
                          <a:schemeClr val="accent1"/>
                        </a:solidFill>
                      </a:endParaRPr>
                    </a:p>
                  </a:txBody>
                  <a:tcPr marL="91450" marR="91450" marT="0" marB="0" anchor="ctr"/>
                </a:tc>
                <a:extLst>
                  <a:ext uri="{0D108BD9-81ED-4DB2-BD59-A6C34878D82A}">
                    <a16:rowId xmlns:a16="http://schemas.microsoft.com/office/drawing/2014/main" val="2408181646"/>
                  </a:ext>
                </a:extLst>
              </a:tr>
            </a:tbl>
          </a:graphicData>
        </a:graphic>
      </p:graphicFrame>
      <p:sp>
        <p:nvSpPr>
          <p:cNvPr id="4" name="TextBox 3">
            <a:extLst>
              <a:ext uri="{FF2B5EF4-FFF2-40B4-BE49-F238E27FC236}">
                <a16:creationId xmlns:a16="http://schemas.microsoft.com/office/drawing/2014/main" id="{4BD0B5CA-87B6-4833-6589-576CFFE0A29B}"/>
              </a:ext>
            </a:extLst>
          </p:cNvPr>
          <p:cNvSpPr txBox="1"/>
          <p:nvPr/>
        </p:nvSpPr>
        <p:spPr>
          <a:xfrm>
            <a:off x="515207" y="5165987"/>
            <a:ext cx="1232704" cy="307777"/>
          </a:xfrm>
          <a:prstGeom prst="rect">
            <a:avLst/>
          </a:prstGeom>
          <a:noFill/>
        </p:spPr>
        <p:txBody>
          <a:bodyPr wrap="square">
            <a:spAutoFit/>
          </a:bodyPr>
          <a:lstStyle/>
          <a:p>
            <a:pPr algn="ctr"/>
            <a:r>
              <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rId4" action="ppaction://hlinksldjump">
                  <a:extLst>
                    <a:ext uri="{A12FA001-AC4F-418D-AE19-62706E023703}">
                      <ahyp:hlinkClr xmlns:ahyp="http://schemas.microsoft.com/office/drawing/2018/hyperlinkcolor" val="tx"/>
                    </a:ext>
                  </a:extLst>
                </a:hlinkClick>
              </a:rPr>
              <a:t>Domestic</a:t>
            </a:r>
            <a:endParaRPr lang="en-US" altLang="ko-KR" sz="14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111389871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graphicFrame>
        <p:nvGraphicFramePr>
          <p:cNvPr id="365" name="Google Shape;365;p26"/>
          <p:cNvGraphicFramePr/>
          <p:nvPr/>
        </p:nvGraphicFramePr>
        <p:xfrm>
          <a:off x="388143" y="11369"/>
          <a:ext cx="1552575" cy="5193220"/>
        </p:xfrm>
        <a:graphic>
          <a:graphicData uri="http://schemas.openxmlformats.org/drawingml/2006/table">
            <a:tbl>
              <a:tblPr firstRow="1" bandRow="1">
                <a:noFill/>
                <a:tableStyleId>{A521BE36-7E6F-4EC9-8D66-1CF97A6895EC}</a:tableStyleId>
              </a:tblPr>
              <a:tblGrid>
                <a:gridCol w="517525">
                  <a:extLst>
                    <a:ext uri="{9D8B030D-6E8A-4147-A177-3AD203B41FA5}">
                      <a16:colId xmlns:a16="http://schemas.microsoft.com/office/drawing/2014/main" val="20000"/>
                    </a:ext>
                  </a:extLst>
                </a:gridCol>
                <a:gridCol w="517525">
                  <a:extLst>
                    <a:ext uri="{9D8B030D-6E8A-4147-A177-3AD203B41FA5}">
                      <a16:colId xmlns:a16="http://schemas.microsoft.com/office/drawing/2014/main" val="20001"/>
                    </a:ext>
                  </a:extLst>
                </a:gridCol>
                <a:gridCol w="517525">
                  <a:extLst>
                    <a:ext uri="{9D8B030D-6E8A-4147-A177-3AD203B41FA5}">
                      <a16:colId xmlns:a16="http://schemas.microsoft.com/office/drawing/2014/main" val="20002"/>
                    </a:ext>
                  </a:extLst>
                </a:gridCol>
              </a:tblGrid>
              <a:tr h="194500">
                <a:tc>
                  <a:txBody>
                    <a:bodyPr/>
                    <a:lstStyle/>
                    <a:p>
                      <a:pPr marL="0" marR="0" lvl="0" indent="0" algn="ctr" rtl="0">
                        <a:spcBef>
                          <a:spcPts val="0"/>
                        </a:spcBef>
                        <a:spcAft>
                          <a:spcPts val="0"/>
                        </a:spcAft>
                        <a:buNone/>
                      </a:pPr>
                      <a:r>
                        <a:rPr lang="en-US" sz="800"/>
                        <a:t>GS KTS</a:t>
                      </a:r>
                      <a:endParaRPr sz="800"/>
                    </a:p>
                  </a:txBody>
                  <a:tcPr marL="72000" marR="72000" marT="0" marB="0" anchor="ctr"/>
                </a:tc>
                <a:tc>
                  <a:txBody>
                    <a:bodyPr/>
                    <a:lstStyle/>
                    <a:p>
                      <a:pPr marL="0" marR="0" lvl="0" indent="0" algn="ctr" rtl="0">
                        <a:spcBef>
                          <a:spcPts val="0"/>
                        </a:spcBef>
                        <a:spcAft>
                          <a:spcPts val="0"/>
                        </a:spcAft>
                        <a:buNone/>
                      </a:pPr>
                      <a:r>
                        <a:rPr lang="en-US" sz="800"/>
                        <a:t>KM</a:t>
                      </a:r>
                      <a:endParaRPr sz="800"/>
                    </a:p>
                  </a:txBody>
                  <a:tcPr marL="72000" marR="72000" marT="0" marB="0" anchor="ctr"/>
                </a:tc>
                <a:tc>
                  <a:txBody>
                    <a:bodyPr/>
                    <a:lstStyle/>
                    <a:p>
                      <a:pPr marL="0" marR="0" lvl="0" indent="0" algn="ctr" rtl="0">
                        <a:spcBef>
                          <a:spcPts val="0"/>
                        </a:spcBef>
                        <a:spcAft>
                          <a:spcPts val="0"/>
                        </a:spcAft>
                        <a:buNone/>
                      </a:pPr>
                      <a:r>
                        <a:rPr lang="en-US" sz="800"/>
                        <a:t>MILES</a:t>
                      </a:r>
                      <a:endParaRPr sz="800"/>
                    </a:p>
                  </a:txBody>
                  <a:tcPr marL="72000" marR="72000" marT="0" marB="0" anchor="ctr"/>
                </a:tc>
                <a:extLst>
                  <a:ext uri="{0D108BD9-81ED-4DB2-BD59-A6C34878D82A}">
                    <a16:rowId xmlns:a16="http://schemas.microsoft.com/office/drawing/2014/main" val="10000"/>
                  </a:ext>
                </a:extLst>
              </a:tr>
              <a:tr h="560275">
                <a:tc>
                  <a:txBody>
                    <a:bodyPr/>
                    <a:lstStyle/>
                    <a:p>
                      <a:pPr marL="0" marR="0" lvl="0" indent="0" algn="ctr" rtl="0">
                        <a:spcBef>
                          <a:spcPts val="0"/>
                        </a:spcBef>
                        <a:spcAft>
                          <a:spcPts val="0"/>
                        </a:spcAft>
                        <a:buNone/>
                      </a:pPr>
                      <a:r>
                        <a:rPr lang="en-US" sz="800" b="1">
                          <a:solidFill>
                            <a:schemeClr val="dk1"/>
                          </a:solidFill>
                        </a:rPr>
                        <a:t>300</a:t>
                      </a:r>
                      <a:endParaRPr/>
                    </a:p>
                    <a:p>
                      <a:pPr marL="0" marR="0" lvl="0" indent="0" algn="ctr" rtl="0">
                        <a:spcBef>
                          <a:spcPts val="0"/>
                        </a:spcBef>
                        <a:spcAft>
                          <a:spcPts val="0"/>
                        </a:spcAft>
                        <a:buNone/>
                      </a:pPr>
                      <a:r>
                        <a:rPr lang="en-US" sz="800" b="1">
                          <a:solidFill>
                            <a:schemeClr val="dk1"/>
                          </a:solidFill>
                        </a:rPr>
                        <a:t>310</a:t>
                      </a:r>
                      <a:endParaRPr/>
                    </a:p>
                    <a:p>
                      <a:pPr marL="0" marR="0" lvl="0" indent="0" algn="ctr" rtl="0">
                        <a:spcBef>
                          <a:spcPts val="0"/>
                        </a:spcBef>
                        <a:spcAft>
                          <a:spcPts val="0"/>
                        </a:spcAft>
                        <a:buNone/>
                      </a:pPr>
                      <a:r>
                        <a:rPr lang="en-US" sz="800" b="1">
                          <a:solidFill>
                            <a:schemeClr val="dk1"/>
                          </a:solidFill>
                        </a:rPr>
                        <a:t>320</a:t>
                      </a:r>
                      <a:endParaRPr/>
                    </a:p>
                    <a:p>
                      <a:pPr marL="0" marR="0" lvl="0" indent="0" algn="ctr" rtl="0">
                        <a:spcBef>
                          <a:spcPts val="0"/>
                        </a:spcBef>
                        <a:spcAft>
                          <a:spcPts val="0"/>
                        </a:spcAft>
                        <a:buNone/>
                      </a:pPr>
                      <a:r>
                        <a:rPr lang="en-US" sz="800" b="1">
                          <a:solidFill>
                            <a:schemeClr val="dk1"/>
                          </a:solidFill>
                        </a:rPr>
                        <a:t>330</a:t>
                      </a:r>
                      <a:endParaRPr/>
                    </a:p>
                    <a:p>
                      <a:pPr marL="0" marR="0" lvl="0" indent="0" algn="ctr" rtl="0">
                        <a:spcBef>
                          <a:spcPts val="0"/>
                        </a:spcBef>
                        <a:spcAft>
                          <a:spcPts val="0"/>
                        </a:spcAft>
                        <a:buNone/>
                      </a:pPr>
                      <a:r>
                        <a:rPr lang="en-US" sz="800" b="1">
                          <a:solidFill>
                            <a:schemeClr val="dk1"/>
                          </a:solidFill>
                        </a:rPr>
                        <a:t>340</a:t>
                      </a:r>
                      <a:endParaRPr/>
                    </a:p>
                    <a:p>
                      <a:pPr marL="0" marR="0" lvl="0" indent="0" algn="ctr" rtl="0">
                        <a:spcBef>
                          <a:spcPts val="0"/>
                        </a:spcBef>
                        <a:spcAft>
                          <a:spcPts val="0"/>
                        </a:spcAft>
                        <a:buNone/>
                      </a:pPr>
                      <a:r>
                        <a:rPr lang="en-US" sz="800" b="1">
                          <a:solidFill>
                            <a:schemeClr val="dk1"/>
                          </a:solidFill>
                        </a:rPr>
                        <a:t>350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560</a:t>
                      </a:r>
                      <a:endParaRPr/>
                    </a:p>
                    <a:p>
                      <a:pPr marL="0" marR="0" lvl="0" indent="0" algn="ctr" rtl="0">
                        <a:spcBef>
                          <a:spcPts val="0"/>
                        </a:spcBef>
                        <a:spcAft>
                          <a:spcPts val="0"/>
                        </a:spcAft>
                        <a:buNone/>
                      </a:pPr>
                      <a:r>
                        <a:rPr lang="en-US" sz="800" b="1">
                          <a:solidFill>
                            <a:srgbClr val="0070C0"/>
                          </a:solidFill>
                        </a:rPr>
                        <a:t>570</a:t>
                      </a:r>
                      <a:endParaRPr/>
                    </a:p>
                    <a:p>
                      <a:pPr marL="0" marR="0" lvl="0" indent="0" algn="ctr" rtl="0">
                        <a:spcBef>
                          <a:spcPts val="0"/>
                        </a:spcBef>
                        <a:spcAft>
                          <a:spcPts val="0"/>
                        </a:spcAft>
                        <a:buNone/>
                      </a:pPr>
                      <a:r>
                        <a:rPr lang="en-US" sz="800" b="1">
                          <a:solidFill>
                            <a:srgbClr val="0070C0"/>
                          </a:solidFill>
                        </a:rPr>
                        <a:t>590</a:t>
                      </a:r>
                      <a:endParaRPr/>
                    </a:p>
                    <a:p>
                      <a:pPr marL="0" marR="0" lvl="0" indent="0" algn="ctr" rtl="0">
                        <a:spcBef>
                          <a:spcPts val="0"/>
                        </a:spcBef>
                        <a:spcAft>
                          <a:spcPts val="0"/>
                        </a:spcAft>
                        <a:buNone/>
                      </a:pPr>
                      <a:r>
                        <a:rPr lang="en-US" sz="800" b="1">
                          <a:solidFill>
                            <a:srgbClr val="0070C0"/>
                          </a:solidFill>
                        </a:rPr>
                        <a:t>610</a:t>
                      </a:r>
                      <a:endParaRPr/>
                    </a:p>
                    <a:p>
                      <a:pPr marL="0" marR="0" lvl="0" indent="0" algn="ctr" rtl="0">
                        <a:spcBef>
                          <a:spcPts val="0"/>
                        </a:spcBef>
                        <a:spcAft>
                          <a:spcPts val="0"/>
                        </a:spcAft>
                        <a:buNone/>
                      </a:pPr>
                      <a:r>
                        <a:rPr lang="en-US" sz="800" b="1">
                          <a:solidFill>
                            <a:srgbClr val="0070C0"/>
                          </a:solidFill>
                        </a:rPr>
                        <a:t>630</a:t>
                      </a:r>
                      <a:endParaRPr/>
                    </a:p>
                    <a:p>
                      <a:pPr marL="0" marR="0" lvl="0" indent="0" algn="ctr" rtl="0">
                        <a:spcBef>
                          <a:spcPts val="0"/>
                        </a:spcBef>
                        <a:spcAft>
                          <a:spcPts val="0"/>
                        </a:spcAft>
                        <a:buNone/>
                      </a:pPr>
                      <a:r>
                        <a:rPr lang="en-US" sz="800" b="1">
                          <a:solidFill>
                            <a:srgbClr val="0070C0"/>
                          </a:solidFill>
                        </a:rPr>
                        <a:t>650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350</a:t>
                      </a:r>
                      <a:endParaRPr/>
                    </a:p>
                    <a:p>
                      <a:pPr marL="0" marR="0" lvl="0" indent="0" algn="ctr" rtl="0">
                        <a:spcBef>
                          <a:spcPts val="0"/>
                        </a:spcBef>
                        <a:spcAft>
                          <a:spcPts val="0"/>
                        </a:spcAft>
                        <a:buNone/>
                      </a:pPr>
                      <a:r>
                        <a:rPr lang="en-US" sz="800" b="1">
                          <a:solidFill>
                            <a:srgbClr val="00B050"/>
                          </a:solidFill>
                        </a:rPr>
                        <a:t>360</a:t>
                      </a:r>
                      <a:endParaRPr/>
                    </a:p>
                    <a:p>
                      <a:pPr marL="0" marR="0" lvl="0" indent="0" algn="ctr" rtl="0">
                        <a:spcBef>
                          <a:spcPts val="0"/>
                        </a:spcBef>
                        <a:spcAft>
                          <a:spcPts val="0"/>
                        </a:spcAft>
                        <a:buNone/>
                      </a:pPr>
                      <a:r>
                        <a:rPr lang="en-US" sz="800" b="1">
                          <a:solidFill>
                            <a:srgbClr val="00B050"/>
                          </a:solidFill>
                        </a:rPr>
                        <a:t>370</a:t>
                      </a:r>
                      <a:endParaRPr/>
                    </a:p>
                    <a:p>
                      <a:pPr marL="0" marR="0" lvl="0" indent="0" algn="ctr" rtl="0">
                        <a:spcBef>
                          <a:spcPts val="0"/>
                        </a:spcBef>
                        <a:spcAft>
                          <a:spcPts val="0"/>
                        </a:spcAft>
                        <a:buNone/>
                      </a:pPr>
                      <a:r>
                        <a:rPr lang="en-US" sz="800" b="1">
                          <a:solidFill>
                            <a:srgbClr val="00B050"/>
                          </a:solidFill>
                        </a:rPr>
                        <a:t>380</a:t>
                      </a:r>
                      <a:endParaRPr/>
                    </a:p>
                    <a:p>
                      <a:pPr marL="0" marR="0" lvl="0" indent="0" algn="ctr" rtl="0">
                        <a:spcBef>
                          <a:spcPts val="0"/>
                        </a:spcBef>
                        <a:spcAft>
                          <a:spcPts val="0"/>
                        </a:spcAft>
                        <a:buNone/>
                      </a:pPr>
                      <a:r>
                        <a:rPr lang="en-US" sz="800" b="1">
                          <a:solidFill>
                            <a:srgbClr val="00B050"/>
                          </a:solidFill>
                        </a:rPr>
                        <a:t>390</a:t>
                      </a:r>
                      <a:endParaRPr/>
                    </a:p>
                    <a:p>
                      <a:pPr marL="0" marR="0" lvl="0" indent="0" algn="ctr" rtl="0">
                        <a:spcBef>
                          <a:spcPts val="0"/>
                        </a:spcBef>
                        <a:spcAft>
                          <a:spcPts val="0"/>
                        </a:spcAft>
                        <a:buNone/>
                      </a:pPr>
                      <a:r>
                        <a:rPr lang="en-US" sz="800" b="1">
                          <a:solidFill>
                            <a:srgbClr val="00B050"/>
                          </a:solidFill>
                        </a:rPr>
                        <a:t>400</a:t>
                      </a:r>
                      <a:endParaRPr sz="800" b="1">
                        <a:solidFill>
                          <a:srgbClr val="00B050"/>
                        </a:solidFill>
                      </a:endParaRPr>
                    </a:p>
                  </a:txBody>
                  <a:tcPr marL="72000" marR="72000" marT="0" marB="0" anchor="ctr"/>
                </a:tc>
                <a:extLst>
                  <a:ext uri="{0D108BD9-81ED-4DB2-BD59-A6C34878D82A}">
                    <a16:rowId xmlns:a16="http://schemas.microsoft.com/office/drawing/2014/main" val="10001"/>
                  </a:ext>
                </a:extLst>
              </a:tr>
              <a:tr h="477275">
                <a:tc>
                  <a:txBody>
                    <a:bodyPr/>
                    <a:lstStyle/>
                    <a:p>
                      <a:pPr marL="0" marR="0" lvl="0" indent="0" algn="ctr" rtl="0">
                        <a:spcBef>
                          <a:spcPts val="0"/>
                        </a:spcBef>
                        <a:spcAft>
                          <a:spcPts val="0"/>
                        </a:spcAft>
                        <a:buNone/>
                      </a:pPr>
                      <a:r>
                        <a:rPr lang="en-US" sz="800" b="1">
                          <a:solidFill>
                            <a:schemeClr val="dk1"/>
                          </a:solidFill>
                        </a:rPr>
                        <a:t>360</a:t>
                      </a:r>
                      <a:endParaRPr/>
                    </a:p>
                    <a:p>
                      <a:pPr marL="0" marR="0" lvl="0" indent="0" algn="ctr" rtl="0">
                        <a:spcBef>
                          <a:spcPts val="0"/>
                        </a:spcBef>
                        <a:spcAft>
                          <a:spcPts val="0"/>
                        </a:spcAft>
                        <a:buNone/>
                      </a:pPr>
                      <a:r>
                        <a:rPr lang="en-US" sz="800" b="1">
                          <a:solidFill>
                            <a:schemeClr val="dk1"/>
                          </a:solidFill>
                        </a:rPr>
                        <a:t>370</a:t>
                      </a:r>
                      <a:endParaRPr/>
                    </a:p>
                    <a:p>
                      <a:pPr marL="0" marR="0" lvl="0" indent="0" algn="ctr" rtl="0">
                        <a:spcBef>
                          <a:spcPts val="0"/>
                        </a:spcBef>
                        <a:spcAft>
                          <a:spcPts val="0"/>
                        </a:spcAft>
                        <a:buNone/>
                      </a:pPr>
                      <a:r>
                        <a:rPr lang="en-US" sz="800" b="1">
                          <a:solidFill>
                            <a:schemeClr val="dk1"/>
                          </a:solidFill>
                        </a:rPr>
                        <a:t>380</a:t>
                      </a:r>
                      <a:endParaRPr/>
                    </a:p>
                    <a:p>
                      <a:pPr marL="0" marR="0" lvl="0" indent="0" algn="ctr" rtl="0">
                        <a:spcBef>
                          <a:spcPts val="0"/>
                        </a:spcBef>
                        <a:spcAft>
                          <a:spcPts val="0"/>
                        </a:spcAft>
                        <a:buNone/>
                      </a:pPr>
                      <a:r>
                        <a:rPr lang="en-US" sz="800" b="1">
                          <a:solidFill>
                            <a:schemeClr val="dk1"/>
                          </a:solidFill>
                        </a:rPr>
                        <a:t>390</a:t>
                      </a:r>
                      <a:endParaRPr/>
                    </a:p>
                    <a:p>
                      <a:pPr marL="0" marR="0" lvl="0" indent="0" algn="ctr" rtl="0">
                        <a:spcBef>
                          <a:spcPts val="0"/>
                        </a:spcBef>
                        <a:spcAft>
                          <a:spcPts val="0"/>
                        </a:spcAft>
                        <a:buNone/>
                      </a:pPr>
                      <a:r>
                        <a:rPr lang="en-US" sz="800" b="1">
                          <a:solidFill>
                            <a:schemeClr val="dk1"/>
                          </a:solidFill>
                        </a:rPr>
                        <a:t>400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670</a:t>
                      </a:r>
                      <a:endParaRPr/>
                    </a:p>
                    <a:p>
                      <a:pPr marL="0" marR="0" lvl="0" indent="0" algn="ctr" rtl="0">
                        <a:spcBef>
                          <a:spcPts val="0"/>
                        </a:spcBef>
                        <a:spcAft>
                          <a:spcPts val="0"/>
                        </a:spcAft>
                        <a:buNone/>
                      </a:pPr>
                      <a:r>
                        <a:rPr lang="en-US" sz="800" b="1">
                          <a:solidFill>
                            <a:srgbClr val="0070C0"/>
                          </a:solidFill>
                        </a:rPr>
                        <a:t>690</a:t>
                      </a:r>
                      <a:endParaRPr/>
                    </a:p>
                    <a:p>
                      <a:pPr marL="0" marR="0" lvl="0" indent="0" algn="ctr" rtl="0">
                        <a:spcBef>
                          <a:spcPts val="0"/>
                        </a:spcBef>
                        <a:spcAft>
                          <a:spcPts val="0"/>
                        </a:spcAft>
                        <a:buNone/>
                      </a:pPr>
                      <a:r>
                        <a:rPr lang="en-US" sz="800" b="1">
                          <a:solidFill>
                            <a:srgbClr val="0070C0"/>
                          </a:solidFill>
                        </a:rPr>
                        <a:t>710</a:t>
                      </a:r>
                      <a:endParaRPr/>
                    </a:p>
                    <a:p>
                      <a:pPr marL="0" marR="0" lvl="0" indent="0" algn="ctr" rtl="0">
                        <a:spcBef>
                          <a:spcPts val="0"/>
                        </a:spcBef>
                        <a:spcAft>
                          <a:spcPts val="0"/>
                        </a:spcAft>
                        <a:buNone/>
                      </a:pPr>
                      <a:r>
                        <a:rPr lang="en-US" sz="800" b="1">
                          <a:solidFill>
                            <a:srgbClr val="0070C0"/>
                          </a:solidFill>
                        </a:rPr>
                        <a:t>720</a:t>
                      </a:r>
                      <a:endParaRPr/>
                    </a:p>
                    <a:p>
                      <a:pPr marL="0" marR="0" lvl="0" indent="0" algn="ctr" rtl="0">
                        <a:spcBef>
                          <a:spcPts val="0"/>
                        </a:spcBef>
                        <a:spcAft>
                          <a:spcPts val="0"/>
                        </a:spcAft>
                        <a:buNone/>
                      </a:pPr>
                      <a:r>
                        <a:rPr lang="en-US" sz="800" b="1">
                          <a:solidFill>
                            <a:srgbClr val="0070C0"/>
                          </a:solidFill>
                        </a:rPr>
                        <a:t>740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410</a:t>
                      </a:r>
                      <a:endParaRPr/>
                    </a:p>
                    <a:p>
                      <a:pPr marL="0" marR="0" lvl="0" indent="0" algn="ctr" rtl="0">
                        <a:spcBef>
                          <a:spcPts val="0"/>
                        </a:spcBef>
                        <a:spcAft>
                          <a:spcPts val="0"/>
                        </a:spcAft>
                        <a:buNone/>
                      </a:pPr>
                      <a:r>
                        <a:rPr lang="en-US" sz="800" b="1">
                          <a:solidFill>
                            <a:srgbClr val="00B050"/>
                          </a:solidFill>
                        </a:rPr>
                        <a:t>430</a:t>
                      </a:r>
                      <a:endParaRPr/>
                    </a:p>
                    <a:p>
                      <a:pPr marL="0" marR="0" lvl="0" indent="0" algn="ctr" rtl="0">
                        <a:spcBef>
                          <a:spcPts val="0"/>
                        </a:spcBef>
                        <a:spcAft>
                          <a:spcPts val="0"/>
                        </a:spcAft>
                        <a:buNone/>
                      </a:pPr>
                      <a:r>
                        <a:rPr lang="en-US" sz="800" b="1">
                          <a:solidFill>
                            <a:srgbClr val="00B050"/>
                          </a:solidFill>
                        </a:rPr>
                        <a:t>440</a:t>
                      </a:r>
                      <a:endParaRPr/>
                    </a:p>
                    <a:p>
                      <a:pPr marL="0" marR="0" lvl="0" indent="0" algn="ctr" rtl="0">
                        <a:spcBef>
                          <a:spcPts val="0"/>
                        </a:spcBef>
                        <a:spcAft>
                          <a:spcPts val="0"/>
                        </a:spcAft>
                        <a:buNone/>
                      </a:pPr>
                      <a:r>
                        <a:rPr lang="en-US" sz="800" b="1">
                          <a:solidFill>
                            <a:srgbClr val="00B050"/>
                          </a:solidFill>
                        </a:rPr>
                        <a:t>450</a:t>
                      </a:r>
                      <a:endParaRPr/>
                    </a:p>
                    <a:p>
                      <a:pPr marL="0" marR="0" lvl="0" indent="0" algn="ctr" rtl="0">
                        <a:spcBef>
                          <a:spcPts val="0"/>
                        </a:spcBef>
                        <a:spcAft>
                          <a:spcPts val="0"/>
                        </a:spcAft>
                        <a:buNone/>
                      </a:pPr>
                      <a:r>
                        <a:rPr lang="en-US" sz="800" b="1">
                          <a:solidFill>
                            <a:srgbClr val="00B050"/>
                          </a:solidFill>
                        </a:rPr>
                        <a:t>460</a:t>
                      </a:r>
                      <a:endParaRPr sz="800" b="1">
                        <a:solidFill>
                          <a:srgbClr val="00B050"/>
                        </a:solidFill>
                      </a:endParaRPr>
                    </a:p>
                  </a:txBody>
                  <a:tcPr marL="72000" marR="72000" marT="0" marB="0" anchor="ctr"/>
                </a:tc>
                <a:extLst>
                  <a:ext uri="{0D108BD9-81ED-4DB2-BD59-A6C34878D82A}">
                    <a16:rowId xmlns:a16="http://schemas.microsoft.com/office/drawing/2014/main" val="10002"/>
                  </a:ext>
                </a:extLst>
              </a:tr>
              <a:tr h="477275">
                <a:tc>
                  <a:txBody>
                    <a:bodyPr/>
                    <a:lstStyle/>
                    <a:p>
                      <a:pPr marL="0" marR="0" lvl="0" indent="0" algn="ctr" rtl="0">
                        <a:spcBef>
                          <a:spcPts val="0"/>
                        </a:spcBef>
                        <a:spcAft>
                          <a:spcPts val="0"/>
                        </a:spcAft>
                        <a:buNone/>
                      </a:pPr>
                      <a:r>
                        <a:rPr lang="en-US" sz="800" b="1">
                          <a:solidFill>
                            <a:schemeClr val="dk1"/>
                          </a:solidFill>
                        </a:rPr>
                        <a:t>410</a:t>
                      </a:r>
                      <a:endParaRPr/>
                    </a:p>
                    <a:p>
                      <a:pPr marL="0" marR="0" lvl="0" indent="0" algn="ctr" rtl="0">
                        <a:spcBef>
                          <a:spcPts val="0"/>
                        </a:spcBef>
                        <a:spcAft>
                          <a:spcPts val="0"/>
                        </a:spcAft>
                        <a:buNone/>
                      </a:pPr>
                      <a:r>
                        <a:rPr lang="en-US" sz="800" b="1">
                          <a:solidFill>
                            <a:schemeClr val="dk1"/>
                          </a:solidFill>
                        </a:rPr>
                        <a:t>420</a:t>
                      </a:r>
                      <a:endParaRPr/>
                    </a:p>
                    <a:p>
                      <a:pPr marL="0" marR="0" lvl="0" indent="0" algn="ctr" rtl="0">
                        <a:spcBef>
                          <a:spcPts val="0"/>
                        </a:spcBef>
                        <a:spcAft>
                          <a:spcPts val="0"/>
                        </a:spcAft>
                        <a:buNone/>
                      </a:pPr>
                      <a:r>
                        <a:rPr lang="en-US" sz="800" b="1">
                          <a:solidFill>
                            <a:schemeClr val="dk1"/>
                          </a:solidFill>
                        </a:rPr>
                        <a:t>430</a:t>
                      </a:r>
                      <a:endParaRPr/>
                    </a:p>
                    <a:p>
                      <a:pPr marL="0" marR="0" lvl="0" indent="0" algn="ctr" rtl="0">
                        <a:spcBef>
                          <a:spcPts val="0"/>
                        </a:spcBef>
                        <a:spcAft>
                          <a:spcPts val="0"/>
                        </a:spcAft>
                        <a:buNone/>
                      </a:pPr>
                      <a:r>
                        <a:rPr lang="en-US" sz="800" b="1">
                          <a:solidFill>
                            <a:schemeClr val="dk1"/>
                          </a:solidFill>
                        </a:rPr>
                        <a:t>440</a:t>
                      </a:r>
                      <a:endParaRPr/>
                    </a:p>
                    <a:p>
                      <a:pPr marL="0" marR="0" lvl="0" indent="0" algn="ctr" rtl="0">
                        <a:spcBef>
                          <a:spcPts val="0"/>
                        </a:spcBef>
                        <a:spcAft>
                          <a:spcPts val="0"/>
                        </a:spcAft>
                        <a:buNone/>
                      </a:pPr>
                      <a:r>
                        <a:rPr lang="en-US" sz="800" b="1">
                          <a:solidFill>
                            <a:schemeClr val="dk1"/>
                          </a:solidFill>
                        </a:rPr>
                        <a:t>450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760</a:t>
                      </a:r>
                      <a:endParaRPr/>
                    </a:p>
                    <a:p>
                      <a:pPr marL="0" marR="0" lvl="0" indent="0" algn="ctr" rtl="0">
                        <a:spcBef>
                          <a:spcPts val="0"/>
                        </a:spcBef>
                        <a:spcAft>
                          <a:spcPts val="0"/>
                        </a:spcAft>
                        <a:buNone/>
                      </a:pPr>
                      <a:r>
                        <a:rPr lang="en-US" sz="800" b="1">
                          <a:solidFill>
                            <a:srgbClr val="0070C0"/>
                          </a:solidFill>
                        </a:rPr>
                        <a:t>780</a:t>
                      </a:r>
                      <a:endParaRPr/>
                    </a:p>
                    <a:p>
                      <a:pPr marL="0" marR="0" lvl="0" indent="0" algn="ctr" rtl="0">
                        <a:spcBef>
                          <a:spcPts val="0"/>
                        </a:spcBef>
                        <a:spcAft>
                          <a:spcPts val="0"/>
                        </a:spcAft>
                        <a:buNone/>
                      </a:pPr>
                      <a:r>
                        <a:rPr lang="en-US" sz="800" b="1">
                          <a:solidFill>
                            <a:srgbClr val="0070C0"/>
                          </a:solidFill>
                        </a:rPr>
                        <a:t>800</a:t>
                      </a:r>
                      <a:endParaRPr/>
                    </a:p>
                    <a:p>
                      <a:pPr marL="0" marR="0" lvl="0" indent="0" algn="ctr" rtl="0">
                        <a:spcBef>
                          <a:spcPts val="0"/>
                        </a:spcBef>
                        <a:spcAft>
                          <a:spcPts val="0"/>
                        </a:spcAft>
                        <a:buNone/>
                      </a:pPr>
                      <a:r>
                        <a:rPr lang="en-US" sz="800" b="1">
                          <a:solidFill>
                            <a:srgbClr val="0070C0"/>
                          </a:solidFill>
                        </a:rPr>
                        <a:t>820</a:t>
                      </a:r>
                      <a:endParaRPr/>
                    </a:p>
                    <a:p>
                      <a:pPr marL="0" marR="0" lvl="0" indent="0" algn="ctr" rtl="0">
                        <a:spcBef>
                          <a:spcPts val="0"/>
                        </a:spcBef>
                        <a:spcAft>
                          <a:spcPts val="0"/>
                        </a:spcAft>
                        <a:buNone/>
                      </a:pPr>
                      <a:r>
                        <a:rPr lang="en-US" sz="800" b="1">
                          <a:solidFill>
                            <a:srgbClr val="0070C0"/>
                          </a:solidFill>
                        </a:rPr>
                        <a:t>830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470</a:t>
                      </a:r>
                      <a:endParaRPr/>
                    </a:p>
                    <a:p>
                      <a:pPr marL="0" marR="0" lvl="0" indent="0" algn="ctr" rtl="0">
                        <a:spcBef>
                          <a:spcPts val="0"/>
                        </a:spcBef>
                        <a:spcAft>
                          <a:spcPts val="0"/>
                        </a:spcAft>
                        <a:buNone/>
                      </a:pPr>
                      <a:r>
                        <a:rPr lang="en-US" sz="800" b="1">
                          <a:solidFill>
                            <a:srgbClr val="00B050"/>
                          </a:solidFill>
                        </a:rPr>
                        <a:t>480</a:t>
                      </a:r>
                      <a:endParaRPr/>
                    </a:p>
                    <a:p>
                      <a:pPr marL="0" marR="0" lvl="0" indent="0" algn="ctr" rtl="0">
                        <a:spcBef>
                          <a:spcPts val="0"/>
                        </a:spcBef>
                        <a:spcAft>
                          <a:spcPts val="0"/>
                        </a:spcAft>
                        <a:buNone/>
                      </a:pPr>
                      <a:r>
                        <a:rPr lang="en-US" sz="800" b="1">
                          <a:solidFill>
                            <a:srgbClr val="00B050"/>
                          </a:solidFill>
                        </a:rPr>
                        <a:t>500</a:t>
                      </a:r>
                      <a:endParaRPr/>
                    </a:p>
                    <a:p>
                      <a:pPr marL="0" marR="0" lvl="0" indent="0" algn="ctr" rtl="0">
                        <a:spcBef>
                          <a:spcPts val="0"/>
                        </a:spcBef>
                        <a:spcAft>
                          <a:spcPts val="0"/>
                        </a:spcAft>
                        <a:buNone/>
                      </a:pPr>
                      <a:r>
                        <a:rPr lang="en-US" sz="800" b="1">
                          <a:solidFill>
                            <a:srgbClr val="00B050"/>
                          </a:solidFill>
                        </a:rPr>
                        <a:t>510</a:t>
                      </a:r>
                      <a:endParaRPr/>
                    </a:p>
                    <a:p>
                      <a:pPr marL="0" marR="0" lvl="0" indent="0" algn="ctr" rtl="0">
                        <a:spcBef>
                          <a:spcPts val="0"/>
                        </a:spcBef>
                        <a:spcAft>
                          <a:spcPts val="0"/>
                        </a:spcAft>
                        <a:buNone/>
                      </a:pPr>
                      <a:r>
                        <a:rPr lang="en-US" sz="800" b="1">
                          <a:solidFill>
                            <a:srgbClr val="00B050"/>
                          </a:solidFill>
                        </a:rPr>
                        <a:t>520</a:t>
                      </a:r>
                      <a:endParaRPr sz="800" b="1">
                        <a:solidFill>
                          <a:srgbClr val="00B050"/>
                        </a:solidFill>
                      </a:endParaRPr>
                    </a:p>
                  </a:txBody>
                  <a:tcPr marL="72000" marR="72000" marT="0" marB="0" anchor="ctr"/>
                </a:tc>
                <a:extLst>
                  <a:ext uri="{0D108BD9-81ED-4DB2-BD59-A6C34878D82A}">
                    <a16:rowId xmlns:a16="http://schemas.microsoft.com/office/drawing/2014/main" val="10003"/>
                  </a:ext>
                </a:extLst>
              </a:tr>
              <a:tr h="477275">
                <a:tc>
                  <a:txBody>
                    <a:bodyPr/>
                    <a:lstStyle/>
                    <a:p>
                      <a:pPr marL="0" marR="0" lvl="0" indent="0" algn="ctr" rtl="0">
                        <a:spcBef>
                          <a:spcPts val="0"/>
                        </a:spcBef>
                        <a:spcAft>
                          <a:spcPts val="0"/>
                        </a:spcAft>
                        <a:buNone/>
                      </a:pPr>
                      <a:r>
                        <a:rPr lang="en-US" sz="800" b="1">
                          <a:solidFill>
                            <a:schemeClr val="dk1"/>
                          </a:solidFill>
                        </a:rPr>
                        <a:t>460</a:t>
                      </a:r>
                      <a:endParaRPr/>
                    </a:p>
                    <a:p>
                      <a:pPr marL="0" marR="0" lvl="0" indent="0" algn="ctr" rtl="0">
                        <a:spcBef>
                          <a:spcPts val="0"/>
                        </a:spcBef>
                        <a:spcAft>
                          <a:spcPts val="0"/>
                        </a:spcAft>
                        <a:buNone/>
                      </a:pPr>
                      <a:r>
                        <a:rPr lang="en-US" sz="800" b="1">
                          <a:solidFill>
                            <a:schemeClr val="dk1"/>
                          </a:solidFill>
                        </a:rPr>
                        <a:t>470</a:t>
                      </a:r>
                      <a:endParaRPr/>
                    </a:p>
                    <a:p>
                      <a:pPr marL="0" marR="0" lvl="0" indent="0" algn="ctr" rtl="0">
                        <a:spcBef>
                          <a:spcPts val="0"/>
                        </a:spcBef>
                        <a:spcAft>
                          <a:spcPts val="0"/>
                        </a:spcAft>
                        <a:buNone/>
                      </a:pPr>
                      <a:r>
                        <a:rPr lang="en-US" sz="800" b="1">
                          <a:solidFill>
                            <a:schemeClr val="dk1"/>
                          </a:solidFill>
                        </a:rPr>
                        <a:t>480</a:t>
                      </a:r>
                      <a:endParaRPr/>
                    </a:p>
                    <a:p>
                      <a:pPr marL="0" marR="0" lvl="0" indent="0" algn="ctr" rtl="0">
                        <a:spcBef>
                          <a:spcPts val="0"/>
                        </a:spcBef>
                        <a:spcAft>
                          <a:spcPts val="0"/>
                        </a:spcAft>
                        <a:buNone/>
                      </a:pPr>
                      <a:r>
                        <a:rPr lang="en-US" sz="800" b="1">
                          <a:solidFill>
                            <a:schemeClr val="dk1"/>
                          </a:solidFill>
                        </a:rPr>
                        <a:t>490</a:t>
                      </a:r>
                      <a:endParaRPr/>
                    </a:p>
                    <a:p>
                      <a:pPr marL="0" marR="0" lvl="0" indent="0" algn="ctr" rtl="0">
                        <a:spcBef>
                          <a:spcPts val="0"/>
                        </a:spcBef>
                        <a:spcAft>
                          <a:spcPts val="0"/>
                        </a:spcAft>
                        <a:buNone/>
                      </a:pPr>
                      <a:r>
                        <a:rPr lang="en-US" sz="800" b="1">
                          <a:solidFill>
                            <a:schemeClr val="dk1"/>
                          </a:solidFill>
                        </a:rPr>
                        <a:t>500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850</a:t>
                      </a:r>
                      <a:endParaRPr/>
                    </a:p>
                    <a:p>
                      <a:pPr marL="0" marR="0" lvl="0" indent="0" algn="ctr" rtl="0">
                        <a:spcBef>
                          <a:spcPts val="0"/>
                        </a:spcBef>
                        <a:spcAft>
                          <a:spcPts val="0"/>
                        </a:spcAft>
                        <a:buNone/>
                      </a:pPr>
                      <a:r>
                        <a:rPr lang="en-US" sz="800" b="1">
                          <a:solidFill>
                            <a:srgbClr val="0070C0"/>
                          </a:solidFill>
                        </a:rPr>
                        <a:t>870</a:t>
                      </a:r>
                      <a:endParaRPr/>
                    </a:p>
                    <a:p>
                      <a:pPr marL="0" marR="0" lvl="0" indent="0" algn="ctr" rtl="0">
                        <a:spcBef>
                          <a:spcPts val="0"/>
                        </a:spcBef>
                        <a:spcAft>
                          <a:spcPts val="0"/>
                        </a:spcAft>
                        <a:buNone/>
                      </a:pPr>
                      <a:r>
                        <a:rPr lang="en-US" sz="800" b="1">
                          <a:solidFill>
                            <a:srgbClr val="0070C0"/>
                          </a:solidFill>
                        </a:rPr>
                        <a:t>890</a:t>
                      </a:r>
                      <a:endParaRPr/>
                    </a:p>
                    <a:p>
                      <a:pPr marL="0" marR="0" lvl="0" indent="0" algn="ctr" rtl="0">
                        <a:spcBef>
                          <a:spcPts val="0"/>
                        </a:spcBef>
                        <a:spcAft>
                          <a:spcPts val="0"/>
                        </a:spcAft>
                        <a:buNone/>
                      </a:pPr>
                      <a:r>
                        <a:rPr lang="en-US" sz="800" b="1">
                          <a:solidFill>
                            <a:srgbClr val="0070C0"/>
                          </a:solidFill>
                        </a:rPr>
                        <a:t>910</a:t>
                      </a:r>
                      <a:endParaRPr/>
                    </a:p>
                    <a:p>
                      <a:pPr marL="0" marR="0" lvl="0" indent="0" algn="ctr" rtl="0">
                        <a:spcBef>
                          <a:spcPts val="0"/>
                        </a:spcBef>
                        <a:spcAft>
                          <a:spcPts val="0"/>
                        </a:spcAft>
                        <a:buNone/>
                      </a:pPr>
                      <a:r>
                        <a:rPr lang="en-US" sz="800" b="1">
                          <a:solidFill>
                            <a:srgbClr val="0070C0"/>
                          </a:solidFill>
                        </a:rPr>
                        <a:t>930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530</a:t>
                      </a:r>
                      <a:endParaRPr/>
                    </a:p>
                    <a:p>
                      <a:pPr marL="0" marR="0" lvl="0" indent="0" algn="ctr" rtl="0">
                        <a:spcBef>
                          <a:spcPts val="0"/>
                        </a:spcBef>
                        <a:spcAft>
                          <a:spcPts val="0"/>
                        </a:spcAft>
                        <a:buNone/>
                      </a:pPr>
                      <a:r>
                        <a:rPr lang="en-US" sz="800" b="1">
                          <a:solidFill>
                            <a:srgbClr val="00B050"/>
                          </a:solidFill>
                        </a:rPr>
                        <a:t>540</a:t>
                      </a:r>
                      <a:endParaRPr/>
                    </a:p>
                    <a:p>
                      <a:pPr marL="0" marR="0" lvl="0" indent="0" algn="ctr" rtl="0">
                        <a:spcBef>
                          <a:spcPts val="0"/>
                        </a:spcBef>
                        <a:spcAft>
                          <a:spcPts val="0"/>
                        </a:spcAft>
                        <a:buNone/>
                      </a:pPr>
                      <a:r>
                        <a:rPr lang="en-US" sz="800" b="1">
                          <a:solidFill>
                            <a:srgbClr val="00B050"/>
                          </a:solidFill>
                        </a:rPr>
                        <a:t>550</a:t>
                      </a:r>
                      <a:endParaRPr/>
                    </a:p>
                    <a:p>
                      <a:pPr marL="0" marR="0" lvl="0" indent="0" algn="ctr" rtl="0">
                        <a:spcBef>
                          <a:spcPts val="0"/>
                        </a:spcBef>
                        <a:spcAft>
                          <a:spcPts val="0"/>
                        </a:spcAft>
                        <a:buNone/>
                      </a:pPr>
                      <a:r>
                        <a:rPr lang="en-US" sz="800" b="1">
                          <a:solidFill>
                            <a:srgbClr val="00B050"/>
                          </a:solidFill>
                        </a:rPr>
                        <a:t>560</a:t>
                      </a:r>
                      <a:endParaRPr/>
                    </a:p>
                    <a:p>
                      <a:pPr marL="0" marR="0" lvl="0" indent="0" algn="ctr" rtl="0">
                        <a:spcBef>
                          <a:spcPts val="0"/>
                        </a:spcBef>
                        <a:spcAft>
                          <a:spcPts val="0"/>
                        </a:spcAft>
                        <a:buNone/>
                      </a:pPr>
                      <a:r>
                        <a:rPr lang="en-US" sz="800" b="1">
                          <a:solidFill>
                            <a:srgbClr val="00B050"/>
                          </a:solidFill>
                        </a:rPr>
                        <a:t>580</a:t>
                      </a:r>
                      <a:endParaRPr sz="800" b="1">
                        <a:solidFill>
                          <a:srgbClr val="00B050"/>
                        </a:solidFill>
                      </a:endParaRPr>
                    </a:p>
                  </a:txBody>
                  <a:tcPr marL="72000" marR="72000" marT="0" marB="0" anchor="ctr"/>
                </a:tc>
                <a:extLst>
                  <a:ext uri="{0D108BD9-81ED-4DB2-BD59-A6C34878D82A}">
                    <a16:rowId xmlns:a16="http://schemas.microsoft.com/office/drawing/2014/main" val="10004"/>
                  </a:ext>
                </a:extLst>
              </a:tr>
              <a:tr h="477275">
                <a:tc>
                  <a:txBody>
                    <a:bodyPr/>
                    <a:lstStyle/>
                    <a:p>
                      <a:pPr marL="0" marR="0" lvl="0" indent="0" algn="ctr" rtl="0">
                        <a:spcBef>
                          <a:spcPts val="0"/>
                        </a:spcBef>
                        <a:spcAft>
                          <a:spcPts val="0"/>
                        </a:spcAft>
                        <a:buNone/>
                      </a:pPr>
                      <a:r>
                        <a:rPr lang="en-US" sz="800" b="1">
                          <a:solidFill>
                            <a:schemeClr val="dk1"/>
                          </a:solidFill>
                        </a:rPr>
                        <a:t>510</a:t>
                      </a:r>
                      <a:endParaRPr/>
                    </a:p>
                    <a:p>
                      <a:pPr marL="0" marR="0" lvl="0" indent="0" algn="ctr" rtl="0">
                        <a:spcBef>
                          <a:spcPts val="0"/>
                        </a:spcBef>
                        <a:spcAft>
                          <a:spcPts val="0"/>
                        </a:spcAft>
                        <a:buNone/>
                      </a:pPr>
                      <a:r>
                        <a:rPr lang="en-US" sz="800" b="1">
                          <a:solidFill>
                            <a:schemeClr val="dk1"/>
                          </a:solidFill>
                        </a:rPr>
                        <a:t>520</a:t>
                      </a:r>
                      <a:endParaRPr/>
                    </a:p>
                    <a:p>
                      <a:pPr marL="0" marR="0" lvl="0" indent="0" algn="ctr" rtl="0">
                        <a:spcBef>
                          <a:spcPts val="0"/>
                        </a:spcBef>
                        <a:spcAft>
                          <a:spcPts val="0"/>
                        </a:spcAft>
                        <a:buNone/>
                      </a:pPr>
                      <a:r>
                        <a:rPr lang="en-US" sz="800" b="1">
                          <a:solidFill>
                            <a:schemeClr val="dk1"/>
                          </a:solidFill>
                        </a:rPr>
                        <a:t>530</a:t>
                      </a:r>
                      <a:endParaRPr/>
                    </a:p>
                    <a:p>
                      <a:pPr marL="0" marR="0" lvl="0" indent="0" algn="ctr" rtl="0">
                        <a:spcBef>
                          <a:spcPts val="0"/>
                        </a:spcBef>
                        <a:spcAft>
                          <a:spcPts val="0"/>
                        </a:spcAft>
                        <a:buNone/>
                      </a:pPr>
                      <a:r>
                        <a:rPr lang="en-US" sz="800" b="1">
                          <a:solidFill>
                            <a:schemeClr val="dk1"/>
                          </a:solidFill>
                        </a:rPr>
                        <a:t>540</a:t>
                      </a:r>
                      <a:endParaRPr/>
                    </a:p>
                    <a:p>
                      <a:pPr marL="0" marR="0" lvl="0" indent="0" algn="ctr" rtl="0">
                        <a:spcBef>
                          <a:spcPts val="0"/>
                        </a:spcBef>
                        <a:spcAft>
                          <a:spcPts val="0"/>
                        </a:spcAft>
                        <a:buNone/>
                      </a:pPr>
                      <a:r>
                        <a:rPr lang="en-US" sz="800" b="1">
                          <a:solidFill>
                            <a:schemeClr val="dk1"/>
                          </a:solidFill>
                        </a:rPr>
                        <a:t>550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950</a:t>
                      </a:r>
                      <a:endParaRPr/>
                    </a:p>
                    <a:p>
                      <a:pPr marL="0" marR="0" lvl="0" indent="0" algn="ctr" rtl="0">
                        <a:spcBef>
                          <a:spcPts val="0"/>
                        </a:spcBef>
                        <a:spcAft>
                          <a:spcPts val="0"/>
                        </a:spcAft>
                        <a:buNone/>
                      </a:pPr>
                      <a:r>
                        <a:rPr lang="en-US" sz="800" b="1">
                          <a:solidFill>
                            <a:srgbClr val="0070C0"/>
                          </a:solidFill>
                        </a:rPr>
                        <a:t>960</a:t>
                      </a:r>
                      <a:endParaRPr/>
                    </a:p>
                    <a:p>
                      <a:pPr marL="0" marR="0" lvl="0" indent="0" algn="ctr" rtl="0">
                        <a:spcBef>
                          <a:spcPts val="0"/>
                        </a:spcBef>
                        <a:spcAft>
                          <a:spcPts val="0"/>
                        </a:spcAft>
                        <a:buNone/>
                      </a:pPr>
                      <a:r>
                        <a:rPr lang="en-US" sz="800" b="1">
                          <a:solidFill>
                            <a:srgbClr val="0070C0"/>
                          </a:solidFill>
                        </a:rPr>
                        <a:t>980</a:t>
                      </a:r>
                      <a:endParaRPr/>
                    </a:p>
                    <a:p>
                      <a:pPr marL="0" marR="0" lvl="0" indent="0" algn="ctr" rtl="0">
                        <a:spcBef>
                          <a:spcPts val="0"/>
                        </a:spcBef>
                        <a:spcAft>
                          <a:spcPts val="0"/>
                        </a:spcAft>
                        <a:buNone/>
                      </a:pPr>
                      <a:r>
                        <a:rPr lang="en-US" sz="800" b="1">
                          <a:solidFill>
                            <a:srgbClr val="0070C0"/>
                          </a:solidFill>
                        </a:rPr>
                        <a:t>1000</a:t>
                      </a:r>
                      <a:endParaRPr/>
                    </a:p>
                    <a:p>
                      <a:pPr marL="0" marR="0" lvl="0" indent="0" algn="ctr" rtl="0">
                        <a:spcBef>
                          <a:spcPts val="0"/>
                        </a:spcBef>
                        <a:spcAft>
                          <a:spcPts val="0"/>
                        </a:spcAft>
                        <a:buNone/>
                      </a:pPr>
                      <a:r>
                        <a:rPr lang="en-US" sz="800" b="1">
                          <a:solidFill>
                            <a:srgbClr val="0070C0"/>
                          </a:solidFill>
                        </a:rPr>
                        <a:t>1020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590</a:t>
                      </a:r>
                      <a:endParaRPr/>
                    </a:p>
                    <a:p>
                      <a:pPr marL="0" marR="0" lvl="0" indent="0" algn="ctr" rtl="0">
                        <a:spcBef>
                          <a:spcPts val="0"/>
                        </a:spcBef>
                        <a:spcAft>
                          <a:spcPts val="0"/>
                        </a:spcAft>
                        <a:buNone/>
                      </a:pPr>
                      <a:r>
                        <a:rPr lang="en-US" sz="800" b="1">
                          <a:solidFill>
                            <a:srgbClr val="00B050"/>
                          </a:solidFill>
                        </a:rPr>
                        <a:t>600</a:t>
                      </a:r>
                      <a:endParaRPr/>
                    </a:p>
                    <a:p>
                      <a:pPr marL="0" marR="0" lvl="0" indent="0" algn="ctr" rtl="0">
                        <a:spcBef>
                          <a:spcPts val="0"/>
                        </a:spcBef>
                        <a:spcAft>
                          <a:spcPts val="0"/>
                        </a:spcAft>
                        <a:buNone/>
                      </a:pPr>
                      <a:r>
                        <a:rPr lang="en-US" sz="800" b="1">
                          <a:solidFill>
                            <a:srgbClr val="00B050"/>
                          </a:solidFill>
                        </a:rPr>
                        <a:t>610</a:t>
                      </a:r>
                      <a:endParaRPr/>
                    </a:p>
                    <a:p>
                      <a:pPr marL="0" marR="0" lvl="0" indent="0" algn="ctr" rtl="0">
                        <a:spcBef>
                          <a:spcPts val="0"/>
                        </a:spcBef>
                        <a:spcAft>
                          <a:spcPts val="0"/>
                        </a:spcAft>
                        <a:buNone/>
                      </a:pPr>
                      <a:r>
                        <a:rPr lang="en-US" sz="800" b="1">
                          <a:solidFill>
                            <a:srgbClr val="00B050"/>
                          </a:solidFill>
                        </a:rPr>
                        <a:t>620</a:t>
                      </a:r>
                      <a:endParaRPr/>
                    </a:p>
                    <a:p>
                      <a:pPr marL="0" marR="0" lvl="0" indent="0" algn="ctr" rtl="0">
                        <a:spcBef>
                          <a:spcPts val="0"/>
                        </a:spcBef>
                        <a:spcAft>
                          <a:spcPts val="0"/>
                        </a:spcAft>
                        <a:buNone/>
                      </a:pPr>
                      <a:r>
                        <a:rPr lang="en-US" sz="800" b="1">
                          <a:solidFill>
                            <a:srgbClr val="00B050"/>
                          </a:solidFill>
                        </a:rPr>
                        <a:t>630</a:t>
                      </a:r>
                      <a:endParaRPr sz="800" b="1">
                        <a:solidFill>
                          <a:srgbClr val="00B050"/>
                        </a:solidFill>
                      </a:endParaRPr>
                    </a:p>
                  </a:txBody>
                  <a:tcPr marL="72000" marR="72000" marT="0" marB="0" anchor="ctr"/>
                </a:tc>
                <a:extLst>
                  <a:ext uri="{0D108BD9-81ED-4DB2-BD59-A6C34878D82A}">
                    <a16:rowId xmlns:a16="http://schemas.microsoft.com/office/drawing/2014/main" val="10005"/>
                  </a:ext>
                </a:extLst>
              </a:tr>
              <a:tr h="477275">
                <a:tc>
                  <a:txBody>
                    <a:bodyPr/>
                    <a:lstStyle/>
                    <a:p>
                      <a:pPr marL="0" marR="0" lvl="0" indent="0" algn="ctr" rtl="0">
                        <a:spcBef>
                          <a:spcPts val="0"/>
                        </a:spcBef>
                        <a:spcAft>
                          <a:spcPts val="0"/>
                        </a:spcAft>
                        <a:buNone/>
                      </a:pPr>
                      <a:r>
                        <a:rPr lang="en-US" sz="800" b="1">
                          <a:solidFill>
                            <a:schemeClr val="dk1"/>
                          </a:solidFill>
                        </a:rPr>
                        <a:t>560</a:t>
                      </a:r>
                      <a:endParaRPr/>
                    </a:p>
                    <a:p>
                      <a:pPr marL="0" marR="0" lvl="0" indent="0" algn="ctr" rtl="0">
                        <a:spcBef>
                          <a:spcPts val="0"/>
                        </a:spcBef>
                        <a:spcAft>
                          <a:spcPts val="0"/>
                        </a:spcAft>
                        <a:buNone/>
                      </a:pPr>
                      <a:r>
                        <a:rPr lang="en-US" sz="800" b="1">
                          <a:solidFill>
                            <a:schemeClr val="dk1"/>
                          </a:solidFill>
                        </a:rPr>
                        <a:t>570</a:t>
                      </a:r>
                      <a:endParaRPr/>
                    </a:p>
                    <a:p>
                      <a:pPr marL="0" marR="0" lvl="0" indent="0" algn="ctr" rtl="0">
                        <a:spcBef>
                          <a:spcPts val="0"/>
                        </a:spcBef>
                        <a:spcAft>
                          <a:spcPts val="0"/>
                        </a:spcAft>
                        <a:buNone/>
                      </a:pPr>
                      <a:r>
                        <a:rPr lang="en-US" sz="800" b="1">
                          <a:solidFill>
                            <a:schemeClr val="dk1"/>
                          </a:solidFill>
                        </a:rPr>
                        <a:t>580</a:t>
                      </a:r>
                      <a:endParaRPr/>
                    </a:p>
                    <a:p>
                      <a:pPr marL="0" marR="0" lvl="0" indent="0" algn="ctr" rtl="0">
                        <a:spcBef>
                          <a:spcPts val="0"/>
                        </a:spcBef>
                        <a:spcAft>
                          <a:spcPts val="0"/>
                        </a:spcAft>
                        <a:buNone/>
                      </a:pPr>
                      <a:r>
                        <a:rPr lang="en-US" sz="800" b="1">
                          <a:solidFill>
                            <a:schemeClr val="dk1"/>
                          </a:solidFill>
                        </a:rPr>
                        <a:t>590</a:t>
                      </a:r>
                      <a:endParaRPr/>
                    </a:p>
                    <a:p>
                      <a:pPr marL="0" marR="0" lvl="0" indent="0" algn="ctr" rtl="0">
                        <a:spcBef>
                          <a:spcPts val="0"/>
                        </a:spcBef>
                        <a:spcAft>
                          <a:spcPts val="0"/>
                        </a:spcAft>
                        <a:buNone/>
                      </a:pPr>
                      <a:r>
                        <a:rPr lang="en-US" sz="800" b="1">
                          <a:solidFill>
                            <a:schemeClr val="dk1"/>
                          </a:solidFill>
                        </a:rPr>
                        <a:t>600</a:t>
                      </a:r>
                      <a:endParaRPr sz="800" b="1">
                        <a:solidFill>
                          <a:schemeClr val="dk1"/>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1040</a:t>
                      </a:r>
                      <a:endParaRPr/>
                    </a:p>
                    <a:p>
                      <a:pPr marL="0" marR="0" lvl="0" indent="0" algn="ctr" rtl="0">
                        <a:spcBef>
                          <a:spcPts val="0"/>
                        </a:spcBef>
                        <a:spcAft>
                          <a:spcPts val="0"/>
                        </a:spcAft>
                        <a:buNone/>
                      </a:pPr>
                      <a:r>
                        <a:rPr lang="en-US" sz="800" b="1">
                          <a:solidFill>
                            <a:srgbClr val="0070C0"/>
                          </a:solidFill>
                        </a:rPr>
                        <a:t>1060</a:t>
                      </a:r>
                      <a:endParaRPr/>
                    </a:p>
                    <a:p>
                      <a:pPr marL="0" marR="0" lvl="0" indent="0" algn="ctr" rtl="0">
                        <a:spcBef>
                          <a:spcPts val="0"/>
                        </a:spcBef>
                        <a:spcAft>
                          <a:spcPts val="0"/>
                        </a:spcAft>
                        <a:buNone/>
                      </a:pPr>
                      <a:r>
                        <a:rPr lang="en-US" sz="800" b="1">
                          <a:solidFill>
                            <a:srgbClr val="0070C0"/>
                          </a:solidFill>
                        </a:rPr>
                        <a:t>1070</a:t>
                      </a:r>
                      <a:endParaRPr/>
                    </a:p>
                    <a:p>
                      <a:pPr marL="0" marR="0" lvl="0" indent="0" algn="ctr" rtl="0">
                        <a:spcBef>
                          <a:spcPts val="0"/>
                        </a:spcBef>
                        <a:spcAft>
                          <a:spcPts val="0"/>
                        </a:spcAft>
                        <a:buNone/>
                      </a:pPr>
                      <a:r>
                        <a:rPr lang="en-US" sz="800" b="1">
                          <a:solidFill>
                            <a:srgbClr val="0070C0"/>
                          </a:solidFill>
                        </a:rPr>
                        <a:t>1090</a:t>
                      </a:r>
                      <a:endParaRPr/>
                    </a:p>
                    <a:p>
                      <a:pPr marL="0" marR="0" lvl="0" indent="0" algn="ctr" rtl="0">
                        <a:spcBef>
                          <a:spcPts val="0"/>
                        </a:spcBef>
                        <a:spcAft>
                          <a:spcPts val="0"/>
                        </a:spcAft>
                        <a:buNone/>
                      </a:pPr>
                      <a:r>
                        <a:rPr lang="en-US" sz="800" b="1">
                          <a:solidFill>
                            <a:srgbClr val="0070C0"/>
                          </a:solidFill>
                        </a:rPr>
                        <a:t>1110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650</a:t>
                      </a:r>
                      <a:endParaRPr/>
                    </a:p>
                    <a:p>
                      <a:pPr marL="0" marR="0" lvl="0" indent="0" algn="ctr" rtl="0">
                        <a:spcBef>
                          <a:spcPts val="0"/>
                        </a:spcBef>
                        <a:spcAft>
                          <a:spcPts val="0"/>
                        </a:spcAft>
                        <a:buNone/>
                      </a:pPr>
                      <a:r>
                        <a:rPr lang="en-US" sz="800" b="1">
                          <a:solidFill>
                            <a:srgbClr val="00B050"/>
                          </a:solidFill>
                        </a:rPr>
                        <a:t>660</a:t>
                      </a:r>
                      <a:endParaRPr/>
                    </a:p>
                    <a:p>
                      <a:pPr marL="0" marR="0" lvl="0" indent="0" algn="ctr" rtl="0">
                        <a:spcBef>
                          <a:spcPts val="0"/>
                        </a:spcBef>
                        <a:spcAft>
                          <a:spcPts val="0"/>
                        </a:spcAft>
                        <a:buNone/>
                      </a:pPr>
                      <a:r>
                        <a:rPr lang="en-US" sz="800" b="1">
                          <a:solidFill>
                            <a:srgbClr val="00B050"/>
                          </a:solidFill>
                        </a:rPr>
                        <a:t>670</a:t>
                      </a:r>
                      <a:endParaRPr/>
                    </a:p>
                    <a:p>
                      <a:pPr marL="0" marR="0" lvl="0" indent="0" algn="ctr" rtl="0">
                        <a:spcBef>
                          <a:spcPts val="0"/>
                        </a:spcBef>
                        <a:spcAft>
                          <a:spcPts val="0"/>
                        </a:spcAft>
                        <a:buNone/>
                      </a:pPr>
                      <a:r>
                        <a:rPr lang="en-US" sz="800" b="1">
                          <a:solidFill>
                            <a:srgbClr val="00B050"/>
                          </a:solidFill>
                        </a:rPr>
                        <a:t>680</a:t>
                      </a:r>
                      <a:endParaRPr/>
                    </a:p>
                    <a:p>
                      <a:pPr marL="0" marR="0" lvl="0" indent="0" algn="ctr" rtl="0">
                        <a:spcBef>
                          <a:spcPts val="0"/>
                        </a:spcBef>
                        <a:spcAft>
                          <a:spcPts val="0"/>
                        </a:spcAft>
                        <a:buNone/>
                      </a:pPr>
                      <a:r>
                        <a:rPr lang="en-US" sz="800" b="1">
                          <a:solidFill>
                            <a:srgbClr val="00B050"/>
                          </a:solidFill>
                        </a:rPr>
                        <a:t>690</a:t>
                      </a:r>
                      <a:endParaRPr sz="800" b="1">
                        <a:solidFill>
                          <a:srgbClr val="00B050"/>
                        </a:solidFill>
                      </a:endParaRPr>
                    </a:p>
                  </a:txBody>
                  <a:tcPr marL="72000" marR="72000" marT="0" marB="0" anchor="ctr"/>
                </a:tc>
                <a:extLst>
                  <a:ext uri="{0D108BD9-81ED-4DB2-BD59-A6C34878D82A}">
                    <a16:rowId xmlns:a16="http://schemas.microsoft.com/office/drawing/2014/main" val="10006"/>
                  </a:ext>
                </a:extLst>
              </a:tr>
              <a:tr h="477275">
                <a:tc>
                  <a:txBody>
                    <a:bodyPr/>
                    <a:lstStyle/>
                    <a:p>
                      <a:pPr marL="0" marR="0" lvl="0" indent="0" algn="ctr" rtl="0">
                        <a:spcBef>
                          <a:spcPts val="0"/>
                        </a:spcBef>
                        <a:spcAft>
                          <a:spcPts val="0"/>
                        </a:spcAft>
                        <a:buNone/>
                      </a:pPr>
                      <a:r>
                        <a:rPr lang="en-US" sz="800" b="1">
                          <a:solidFill>
                            <a:schemeClr val="dk1"/>
                          </a:solidFill>
                        </a:rPr>
                        <a:t>610</a:t>
                      </a:r>
                      <a:endParaRPr/>
                    </a:p>
                    <a:p>
                      <a:pPr marL="0" marR="0" lvl="0" indent="0" algn="ctr" rtl="0">
                        <a:spcBef>
                          <a:spcPts val="0"/>
                        </a:spcBef>
                        <a:spcAft>
                          <a:spcPts val="0"/>
                        </a:spcAft>
                        <a:buNone/>
                      </a:pPr>
                      <a:r>
                        <a:rPr lang="en-US" sz="800" b="1">
                          <a:solidFill>
                            <a:schemeClr val="dk1"/>
                          </a:solidFill>
                        </a:rPr>
                        <a:t>620</a:t>
                      </a:r>
                      <a:endParaRPr/>
                    </a:p>
                    <a:p>
                      <a:pPr marL="0" marR="0" lvl="0" indent="0" algn="ctr" rtl="0">
                        <a:spcBef>
                          <a:spcPts val="0"/>
                        </a:spcBef>
                        <a:spcAft>
                          <a:spcPts val="0"/>
                        </a:spcAft>
                        <a:buNone/>
                      </a:pPr>
                      <a:r>
                        <a:rPr lang="en-US" sz="800" b="1">
                          <a:solidFill>
                            <a:schemeClr val="dk1"/>
                          </a:solidFill>
                        </a:rPr>
                        <a:t>630</a:t>
                      </a:r>
                      <a:endParaRPr/>
                    </a:p>
                    <a:p>
                      <a:pPr marL="0" marR="0" lvl="0" indent="0" algn="ctr" rtl="0">
                        <a:spcBef>
                          <a:spcPts val="0"/>
                        </a:spcBef>
                        <a:spcAft>
                          <a:spcPts val="0"/>
                        </a:spcAft>
                        <a:buNone/>
                      </a:pPr>
                      <a:r>
                        <a:rPr lang="en-US" sz="800" b="1">
                          <a:solidFill>
                            <a:schemeClr val="dk1"/>
                          </a:solidFill>
                        </a:rPr>
                        <a:t>640</a:t>
                      </a:r>
                      <a:endParaRPr/>
                    </a:p>
                    <a:p>
                      <a:pPr marL="0" marR="0" lvl="0" indent="0" algn="ctr" rtl="0">
                        <a:spcBef>
                          <a:spcPts val="0"/>
                        </a:spcBef>
                        <a:spcAft>
                          <a:spcPts val="0"/>
                        </a:spcAft>
                        <a:buNone/>
                      </a:pPr>
                      <a:r>
                        <a:rPr lang="en-US" sz="800" b="1">
                          <a:solidFill>
                            <a:schemeClr val="dk1"/>
                          </a:solidFill>
                        </a:rPr>
                        <a:t>650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1130</a:t>
                      </a:r>
                      <a:endParaRPr/>
                    </a:p>
                    <a:p>
                      <a:pPr marL="0" marR="0" lvl="0" indent="0" algn="ctr" rtl="0">
                        <a:spcBef>
                          <a:spcPts val="0"/>
                        </a:spcBef>
                        <a:spcAft>
                          <a:spcPts val="0"/>
                        </a:spcAft>
                        <a:buNone/>
                      </a:pPr>
                      <a:r>
                        <a:rPr lang="en-US" sz="800" b="1">
                          <a:solidFill>
                            <a:srgbClr val="0070C0"/>
                          </a:solidFill>
                        </a:rPr>
                        <a:t>1150</a:t>
                      </a:r>
                      <a:endParaRPr/>
                    </a:p>
                    <a:p>
                      <a:pPr marL="0" marR="0" lvl="0" indent="0" algn="ctr" rtl="0">
                        <a:spcBef>
                          <a:spcPts val="0"/>
                        </a:spcBef>
                        <a:spcAft>
                          <a:spcPts val="0"/>
                        </a:spcAft>
                        <a:buNone/>
                      </a:pPr>
                      <a:r>
                        <a:rPr lang="en-US" sz="800" b="1">
                          <a:solidFill>
                            <a:srgbClr val="0070C0"/>
                          </a:solidFill>
                        </a:rPr>
                        <a:t>1170</a:t>
                      </a:r>
                      <a:endParaRPr/>
                    </a:p>
                    <a:p>
                      <a:pPr marL="0" marR="0" lvl="0" indent="0" algn="ctr" rtl="0">
                        <a:spcBef>
                          <a:spcPts val="0"/>
                        </a:spcBef>
                        <a:spcAft>
                          <a:spcPts val="0"/>
                        </a:spcAft>
                        <a:buNone/>
                      </a:pPr>
                      <a:r>
                        <a:rPr lang="en-US" sz="800" b="1">
                          <a:solidFill>
                            <a:srgbClr val="0070C0"/>
                          </a:solidFill>
                        </a:rPr>
                        <a:t>1190</a:t>
                      </a:r>
                      <a:endParaRPr/>
                    </a:p>
                    <a:p>
                      <a:pPr marL="0" marR="0" lvl="0" indent="0" algn="ctr" rtl="0">
                        <a:spcBef>
                          <a:spcPts val="0"/>
                        </a:spcBef>
                        <a:spcAft>
                          <a:spcPts val="0"/>
                        </a:spcAft>
                        <a:buNone/>
                      </a:pPr>
                      <a:r>
                        <a:rPr lang="en-US" sz="800" b="1">
                          <a:solidFill>
                            <a:srgbClr val="0070C0"/>
                          </a:solidFill>
                        </a:rPr>
                        <a:t>1200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700</a:t>
                      </a:r>
                      <a:endParaRPr/>
                    </a:p>
                    <a:p>
                      <a:pPr marL="0" marR="0" lvl="0" indent="0" algn="ctr" rtl="0">
                        <a:spcBef>
                          <a:spcPts val="0"/>
                        </a:spcBef>
                        <a:spcAft>
                          <a:spcPts val="0"/>
                        </a:spcAft>
                        <a:buNone/>
                      </a:pPr>
                      <a:r>
                        <a:rPr lang="en-US" sz="800" b="1">
                          <a:solidFill>
                            <a:srgbClr val="00B050"/>
                          </a:solidFill>
                        </a:rPr>
                        <a:t>710</a:t>
                      </a:r>
                      <a:endParaRPr/>
                    </a:p>
                    <a:p>
                      <a:pPr marL="0" marR="0" lvl="0" indent="0" algn="ctr" rtl="0">
                        <a:spcBef>
                          <a:spcPts val="0"/>
                        </a:spcBef>
                        <a:spcAft>
                          <a:spcPts val="0"/>
                        </a:spcAft>
                        <a:buNone/>
                      </a:pPr>
                      <a:r>
                        <a:rPr lang="en-US" sz="800" b="1">
                          <a:solidFill>
                            <a:srgbClr val="00B050"/>
                          </a:solidFill>
                        </a:rPr>
                        <a:t>730</a:t>
                      </a:r>
                      <a:endParaRPr/>
                    </a:p>
                    <a:p>
                      <a:pPr marL="0" marR="0" lvl="0" indent="0" algn="ctr" rtl="0">
                        <a:spcBef>
                          <a:spcPts val="0"/>
                        </a:spcBef>
                        <a:spcAft>
                          <a:spcPts val="0"/>
                        </a:spcAft>
                        <a:buNone/>
                      </a:pPr>
                      <a:r>
                        <a:rPr lang="en-US" sz="800" b="1">
                          <a:solidFill>
                            <a:srgbClr val="00B050"/>
                          </a:solidFill>
                        </a:rPr>
                        <a:t>740</a:t>
                      </a:r>
                      <a:endParaRPr/>
                    </a:p>
                    <a:p>
                      <a:pPr marL="0" marR="0" lvl="0" indent="0" algn="ctr" rtl="0">
                        <a:spcBef>
                          <a:spcPts val="0"/>
                        </a:spcBef>
                        <a:spcAft>
                          <a:spcPts val="0"/>
                        </a:spcAft>
                        <a:buNone/>
                      </a:pPr>
                      <a:r>
                        <a:rPr lang="en-US" sz="800" b="1">
                          <a:solidFill>
                            <a:srgbClr val="00B050"/>
                          </a:solidFill>
                        </a:rPr>
                        <a:t>750</a:t>
                      </a:r>
                      <a:endParaRPr sz="800" b="1">
                        <a:solidFill>
                          <a:srgbClr val="00B050"/>
                        </a:solidFill>
                      </a:endParaRPr>
                    </a:p>
                  </a:txBody>
                  <a:tcPr marL="72000" marR="72000" marT="0" marB="0" anchor="ctr"/>
                </a:tc>
                <a:extLst>
                  <a:ext uri="{0D108BD9-81ED-4DB2-BD59-A6C34878D82A}">
                    <a16:rowId xmlns:a16="http://schemas.microsoft.com/office/drawing/2014/main" val="10007"/>
                  </a:ext>
                </a:extLst>
              </a:tr>
              <a:tr h="477275">
                <a:tc>
                  <a:txBody>
                    <a:bodyPr/>
                    <a:lstStyle/>
                    <a:p>
                      <a:pPr marL="0" marR="0" lvl="0" indent="0" algn="ctr" rtl="0">
                        <a:spcBef>
                          <a:spcPts val="0"/>
                        </a:spcBef>
                        <a:spcAft>
                          <a:spcPts val="0"/>
                        </a:spcAft>
                        <a:buNone/>
                      </a:pPr>
                      <a:r>
                        <a:rPr lang="en-US" sz="800" b="1">
                          <a:solidFill>
                            <a:schemeClr val="dk1"/>
                          </a:solidFill>
                        </a:rPr>
                        <a:t>660</a:t>
                      </a:r>
                      <a:endParaRPr/>
                    </a:p>
                    <a:p>
                      <a:pPr marL="0" marR="0" lvl="0" indent="0" algn="ctr" rtl="0">
                        <a:spcBef>
                          <a:spcPts val="0"/>
                        </a:spcBef>
                        <a:spcAft>
                          <a:spcPts val="0"/>
                        </a:spcAft>
                        <a:buNone/>
                      </a:pPr>
                      <a:r>
                        <a:rPr lang="en-US" sz="800" b="1">
                          <a:solidFill>
                            <a:schemeClr val="dk1"/>
                          </a:solidFill>
                        </a:rPr>
                        <a:t>670</a:t>
                      </a:r>
                      <a:endParaRPr/>
                    </a:p>
                    <a:p>
                      <a:pPr marL="0" marR="0" lvl="0" indent="0" algn="ctr" rtl="0">
                        <a:spcBef>
                          <a:spcPts val="0"/>
                        </a:spcBef>
                        <a:spcAft>
                          <a:spcPts val="0"/>
                        </a:spcAft>
                        <a:buNone/>
                      </a:pPr>
                      <a:r>
                        <a:rPr lang="en-US" sz="800" b="1">
                          <a:solidFill>
                            <a:schemeClr val="dk1"/>
                          </a:solidFill>
                        </a:rPr>
                        <a:t>680</a:t>
                      </a:r>
                      <a:endParaRPr/>
                    </a:p>
                    <a:p>
                      <a:pPr marL="0" marR="0" lvl="0" indent="0" algn="ctr" rtl="0">
                        <a:spcBef>
                          <a:spcPts val="0"/>
                        </a:spcBef>
                        <a:spcAft>
                          <a:spcPts val="0"/>
                        </a:spcAft>
                        <a:buNone/>
                      </a:pPr>
                      <a:r>
                        <a:rPr lang="en-US" sz="800" b="1">
                          <a:solidFill>
                            <a:schemeClr val="dk1"/>
                          </a:solidFill>
                        </a:rPr>
                        <a:t>690</a:t>
                      </a:r>
                      <a:endParaRPr/>
                    </a:p>
                    <a:p>
                      <a:pPr marL="0" marR="0" lvl="0" indent="0" algn="ctr" rtl="0">
                        <a:spcBef>
                          <a:spcPts val="0"/>
                        </a:spcBef>
                        <a:spcAft>
                          <a:spcPts val="0"/>
                        </a:spcAft>
                        <a:buNone/>
                      </a:pPr>
                      <a:r>
                        <a:rPr lang="en-US" sz="800" b="1">
                          <a:solidFill>
                            <a:schemeClr val="dk1"/>
                          </a:solidFill>
                        </a:rPr>
                        <a:t>700</a:t>
                      </a:r>
                      <a:endParaRPr/>
                    </a:p>
                  </a:txBody>
                  <a:tcPr marL="72000" marR="72000" marT="0" marB="0" anchor="ctr"/>
                </a:tc>
                <a:tc>
                  <a:txBody>
                    <a:bodyPr/>
                    <a:lstStyle/>
                    <a:p>
                      <a:pPr marL="0" marR="0" lvl="0" indent="0" algn="ctr" rtl="0">
                        <a:spcBef>
                          <a:spcPts val="0"/>
                        </a:spcBef>
                        <a:spcAft>
                          <a:spcPts val="0"/>
                        </a:spcAft>
                        <a:buNone/>
                      </a:pPr>
                      <a:r>
                        <a:rPr lang="en-US" sz="800" b="1">
                          <a:solidFill>
                            <a:srgbClr val="0070C0"/>
                          </a:solidFill>
                        </a:rPr>
                        <a:t>1220</a:t>
                      </a:r>
                      <a:endParaRPr/>
                    </a:p>
                    <a:p>
                      <a:pPr marL="0" marR="0" lvl="0" indent="0" algn="ctr" rtl="0">
                        <a:spcBef>
                          <a:spcPts val="0"/>
                        </a:spcBef>
                        <a:spcAft>
                          <a:spcPts val="0"/>
                        </a:spcAft>
                        <a:buNone/>
                      </a:pPr>
                      <a:r>
                        <a:rPr lang="en-US" sz="800" b="1">
                          <a:solidFill>
                            <a:srgbClr val="0070C0"/>
                          </a:solidFill>
                        </a:rPr>
                        <a:t>1240</a:t>
                      </a:r>
                      <a:endParaRPr/>
                    </a:p>
                    <a:p>
                      <a:pPr marL="0" marR="0" lvl="0" indent="0" algn="ctr" rtl="0">
                        <a:spcBef>
                          <a:spcPts val="0"/>
                        </a:spcBef>
                        <a:spcAft>
                          <a:spcPts val="0"/>
                        </a:spcAft>
                        <a:buNone/>
                      </a:pPr>
                      <a:r>
                        <a:rPr lang="en-US" sz="800" b="1">
                          <a:solidFill>
                            <a:srgbClr val="0070C0"/>
                          </a:solidFill>
                        </a:rPr>
                        <a:t>1260</a:t>
                      </a:r>
                      <a:endParaRPr/>
                    </a:p>
                    <a:p>
                      <a:pPr marL="0" marR="0" lvl="0" indent="0" algn="ctr" rtl="0">
                        <a:spcBef>
                          <a:spcPts val="0"/>
                        </a:spcBef>
                        <a:spcAft>
                          <a:spcPts val="0"/>
                        </a:spcAft>
                        <a:buNone/>
                      </a:pPr>
                      <a:r>
                        <a:rPr lang="en-US" sz="800" b="1">
                          <a:solidFill>
                            <a:srgbClr val="0070C0"/>
                          </a:solidFill>
                        </a:rPr>
                        <a:t>1280</a:t>
                      </a:r>
                      <a:endParaRPr/>
                    </a:p>
                    <a:p>
                      <a:pPr marL="0" marR="0" lvl="0" indent="0" algn="ctr" rtl="0">
                        <a:spcBef>
                          <a:spcPts val="0"/>
                        </a:spcBef>
                        <a:spcAft>
                          <a:spcPts val="0"/>
                        </a:spcAft>
                        <a:buNone/>
                      </a:pPr>
                      <a:r>
                        <a:rPr lang="en-US" sz="800" b="1">
                          <a:solidFill>
                            <a:srgbClr val="0070C0"/>
                          </a:solidFill>
                        </a:rPr>
                        <a:t>1300</a:t>
                      </a:r>
                      <a:endParaRPr sz="800" b="1">
                        <a:solidFill>
                          <a:srgbClr val="0070C0"/>
                        </a:solidFill>
                      </a:endParaRPr>
                    </a:p>
                  </a:txBody>
                  <a:tcPr marL="72000" marR="72000" marT="0" marB="0" anchor="ctr"/>
                </a:tc>
                <a:tc>
                  <a:txBody>
                    <a:bodyPr/>
                    <a:lstStyle/>
                    <a:p>
                      <a:pPr marL="0" marR="0" lvl="0" indent="0" algn="ctr" rtl="0">
                        <a:spcBef>
                          <a:spcPts val="0"/>
                        </a:spcBef>
                        <a:spcAft>
                          <a:spcPts val="0"/>
                        </a:spcAft>
                        <a:buNone/>
                      </a:pPr>
                      <a:r>
                        <a:rPr lang="en-US" sz="800" b="1">
                          <a:solidFill>
                            <a:srgbClr val="00B050"/>
                          </a:solidFill>
                        </a:rPr>
                        <a:t>760</a:t>
                      </a:r>
                      <a:endParaRPr/>
                    </a:p>
                    <a:p>
                      <a:pPr marL="0" marR="0" lvl="0" indent="0" algn="ctr" rtl="0">
                        <a:spcBef>
                          <a:spcPts val="0"/>
                        </a:spcBef>
                        <a:spcAft>
                          <a:spcPts val="0"/>
                        </a:spcAft>
                        <a:buNone/>
                      </a:pPr>
                      <a:r>
                        <a:rPr lang="en-US" sz="800" b="1">
                          <a:solidFill>
                            <a:srgbClr val="00B050"/>
                          </a:solidFill>
                        </a:rPr>
                        <a:t>770</a:t>
                      </a:r>
                      <a:endParaRPr/>
                    </a:p>
                    <a:p>
                      <a:pPr marL="0" marR="0" lvl="0" indent="0" algn="ctr" rtl="0">
                        <a:spcBef>
                          <a:spcPts val="0"/>
                        </a:spcBef>
                        <a:spcAft>
                          <a:spcPts val="0"/>
                        </a:spcAft>
                        <a:buNone/>
                      </a:pPr>
                      <a:r>
                        <a:rPr lang="en-US" sz="800" b="1">
                          <a:solidFill>
                            <a:srgbClr val="00B050"/>
                          </a:solidFill>
                        </a:rPr>
                        <a:t>780</a:t>
                      </a:r>
                      <a:endParaRPr/>
                    </a:p>
                    <a:p>
                      <a:pPr marL="0" marR="0" lvl="0" indent="0" algn="ctr" rtl="0">
                        <a:spcBef>
                          <a:spcPts val="0"/>
                        </a:spcBef>
                        <a:spcAft>
                          <a:spcPts val="0"/>
                        </a:spcAft>
                        <a:buNone/>
                      </a:pPr>
                      <a:r>
                        <a:rPr lang="en-US" sz="800" b="1">
                          <a:solidFill>
                            <a:srgbClr val="00B050"/>
                          </a:solidFill>
                        </a:rPr>
                        <a:t>800</a:t>
                      </a:r>
                      <a:endParaRPr/>
                    </a:p>
                    <a:p>
                      <a:pPr marL="0" marR="0" lvl="0" indent="0" algn="ctr" rtl="0">
                        <a:spcBef>
                          <a:spcPts val="0"/>
                        </a:spcBef>
                        <a:spcAft>
                          <a:spcPts val="0"/>
                        </a:spcAft>
                        <a:buNone/>
                      </a:pPr>
                      <a:r>
                        <a:rPr lang="en-US" sz="800" b="1">
                          <a:solidFill>
                            <a:srgbClr val="00B050"/>
                          </a:solidFill>
                        </a:rPr>
                        <a:t>810</a:t>
                      </a:r>
                      <a:endParaRPr sz="800" b="1">
                        <a:solidFill>
                          <a:srgbClr val="00B050"/>
                        </a:solidFill>
                      </a:endParaRPr>
                    </a:p>
                  </a:txBody>
                  <a:tcPr marL="72000" marR="72000" marT="0" marB="0" anchor="ctr"/>
                </a:tc>
                <a:extLst>
                  <a:ext uri="{0D108BD9-81ED-4DB2-BD59-A6C34878D82A}">
                    <a16:rowId xmlns:a16="http://schemas.microsoft.com/office/drawing/2014/main" val="10008"/>
                  </a:ext>
                </a:extLst>
              </a:tr>
            </a:tbl>
          </a:graphicData>
        </a:graphic>
      </p:graphicFrame>
      <p:sp>
        <p:nvSpPr>
          <p:cNvPr id="2" name="직사각형 1">
            <a:hlinkClick r:id="" action="ppaction://hlinkshowjump?jump=firstslide"/>
            <a:extLst>
              <a:ext uri="{FF2B5EF4-FFF2-40B4-BE49-F238E27FC236}">
                <a16:creationId xmlns:a16="http://schemas.microsoft.com/office/drawing/2014/main" id="{1B02B414-F437-EC29-A025-C000B0E23D64}"/>
              </a:ext>
            </a:extLst>
          </p:cNvPr>
          <p:cNvSpPr/>
          <p:nvPr/>
        </p:nvSpPr>
        <p:spPr>
          <a:xfrm>
            <a:off x="847353" y="5222131"/>
            <a:ext cx="644531" cy="276999"/>
          </a:xfrm>
          <a:prstGeom prst="rect">
            <a:avLst/>
          </a:prstGeom>
          <a:noFill/>
        </p:spPr>
        <p:txBody>
          <a:bodyPr wrap="square" lIns="0" tIns="0" rIns="0" bIns="0">
            <a:spAutoFit/>
          </a:bodyPr>
          <a:lstStyle/>
          <a:p>
            <a:pPr algn="ctr"/>
            <a:r>
              <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hlinkClick r:id="" action="ppaction://hlinkshowjump?jump=firstslide"/>
              </a:rPr>
              <a:t>Home</a:t>
            </a:r>
            <a:endParaRPr lang="en-US" altLang="ko-KR" sz="1800" b="1" cap="none" spc="0" dirty="0">
              <a:ln w="0"/>
              <a:solidFill>
                <a:schemeClr val="tx1"/>
              </a:solidFill>
              <a:effectLst>
                <a:reflection blurRad="6350" stA="53000" endA="300" endPos="35500" dir="5400000" sy="-90000" algn="bl" rotWithShape="0"/>
              </a:effectLst>
              <a:latin typeface="Britannic Bold" panose="020B0903060703020204" pitchFamily="34" charset="0"/>
              <a:ea typeface="HeadLineA" pitchFamily="2" charset="-127"/>
            </a:endParaRPr>
          </a:p>
        </p:txBody>
      </p:sp>
    </p:spTree>
    <p:extLst>
      <p:ext uri="{BB962C8B-B14F-4D97-AF65-F5344CB8AC3E}">
        <p14:creationId xmlns:p14="http://schemas.microsoft.com/office/powerpoint/2010/main" val="4164234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그물">
  <a:themeElements>
    <a:clrScheme name="그물">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그물">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그물">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Mesh</Template>
  <TotalTime>46522</TotalTime>
  <Words>27652</Words>
  <Application>Microsoft Macintosh PowerPoint</Application>
  <PresentationFormat>사용자 지정</PresentationFormat>
  <Paragraphs>7464</Paragraphs>
  <Slides>140</Slides>
  <Notes>137</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140</vt:i4>
      </vt:variant>
    </vt:vector>
  </HeadingPairs>
  <TitlesOfParts>
    <vt:vector size="150" baseType="lpstr">
      <vt:lpstr>Britannic Bold</vt:lpstr>
      <vt:lpstr>Wingdings</vt:lpstr>
      <vt:lpstr>Gulim</vt:lpstr>
      <vt:lpstr>Arial</vt:lpstr>
      <vt:lpstr>Lato</vt:lpstr>
      <vt:lpstr>Helvetica Neue</vt:lpstr>
      <vt:lpstr>Century Gothic</vt:lpstr>
      <vt:lpstr>Calibri</vt:lpstr>
      <vt:lpstr>Cambria Math</vt:lpstr>
      <vt:lpstr>그물</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cho deukhyeon</dc:creator>
  <cp:lastModifiedBy>deukhyeon cho</cp:lastModifiedBy>
  <cp:revision>395</cp:revision>
  <dcterms:created xsi:type="dcterms:W3CDTF">2022-05-17T08:00:10Z</dcterms:created>
  <dcterms:modified xsi:type="dcterms:W3CDTF">2025-01-22T15:27:03Z</dcterms:modified>
</cp:coreProperties>
</file>