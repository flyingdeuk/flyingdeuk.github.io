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1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76" r:id="rId70"/>
    <p:sldId id="478" r:id="rId71"/>
    <p:sldId id="359" r:id="rId72"/>
    <p:sldId id="360" r:id="rId73"/>
    <p:sldId id="374" r:id="rId74"/>
    <p:sldId id="375" r:id="rId75"/>
    <p:sldId id="436" r:id="rId76"/>
    <p:sldId id="376" r:id="rId77"/>
    <p:sldId id="434" r:id="rId78"/>
    <p:sldId id="437" r:id="rId79"/>
    <p:sldId id="439" r:id="rId80"/>
    <p:sldId id="438" r:id="rId81"/>
    <p:sldId id="444" r:id="rId82"/>
    <p:sldId id="445" r:id="rId83"/>
    <p:sldId id="446" r:id="rId84"/>
    <p:sldId id="469" r:id="rId85"/>
    <p:sldId id="470" r:id="rId86"/>
    <p:sldId id="471" r:id="rId87"/>
    <p:sldId id="472" r:id="rId88"/>
    <p:sldId id="473" r:id="rId89"/>
    <p:sldId id="474" r:id="rId90"/>
    <p:sldId id="422" r:id="rId91"/>
    <p:sldId id="385" r:id="rId92"/>
    <p:sldId id="365" r:id="rId93"/>
    <p:sldId id="366" r:id="rId94"/>
    <p:sldId id="423" r:id="rId95"/>
    <p:sldId id="384" r:id="rId96"/>
    <p:sldId id="283" r:id="rId97"/>
    <p:sldId id="286" r:id="rId98"/>
    <p:sldId id="428" r:id="rId99"/>
    <p:sldId id="288" r:id="rId100"/>
    <p:sldId id="289" r:id="rId101"/>
    <p:sldId id="290" r:id="rId102"/>
    <p:sldId id="424" r:id="rId103"/>
    <p:sldId id="302" r:id="rId104"/>
    <p:sldId id="303" r:id="rId105"/>
    <p:sldId id="426" r:id="rId106"/>
    <p:sldId id="427" r:id="rId107"/>
    <p:sldId id="430" r:id="rId108"/>
    <p:sldId id="281" r:id="rId109"/>
  </p:sldIdLst>
  <p:sldSz cx="2328863" cy="5572125"/>
  <p:notesSz cx="6858000" cy="9144000"/>
  <p:embeddedFontLst>
    <p:embeddedFont>
      <p:font typeface="맑은 고딕" panose="020B0503020000020004" pitchFamily="34" charset="-127"/>
      <p:regular r:id="rId111"/>
      <p:bold r:id="rId112"/>
    </p:embeddedFont>
    <p:embeddedFont>
      <p:font typeface="Cambria Math" panose="02040503050406030204" pitchFamily="18" charset="0"/>
      <p:regular r:id="rId113"/>
    </p:embeddedFont>
    <p:embeddedFont>
      <p:font typeface="Century Gothic" panose="020B0502020202020204" pitchFamily="34" charset="0"/>
      <p:regular r:id="rId114"/>
      <p:bold r:id="rId115"/>
      <p:italic r:id="rId116"/>
      <p:boldItalic r:id="rId117"/>
    </p:embeddedFont>
    <p:embeddedFont>
      <p:font typeface="Helvetica Neue" panose="02000503000000020004" pitchFamily="2" charset="0"/>
      <p:regular r:id="rId118"/>
      <p:bold r:id="rId119"/>
      <p:italic r:id="rId120"/>
      <p:boldItalic r:id="rId121"/>
    </p:embeddedFont>
    <p:embeddedFont>
      <p:font typeface="Lato" panose="020F0502020204030203" pitchFamily="34" charset="0"/>
      <p:regular r:id="rId122"/>
      <p:bold r:id="rId123"/>
      <p:italic r:id="rId124"/>
      <p:boldItalic r:id="rId12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0818"/>
    <p:restoredTop sz="96966"/>
  </p:normalViewPr>
  <p:slideViewPr>
    <p:cSldViewPr snapToGrid="0" showGuides="1">
      <p:cViewPr>
        <p:scale>
          <a:sx n="218" d="100"/>
          <a:sy n="218" d="100"/>
        </p:scale>
        <p:origin x="960"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7.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2.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3.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3.fntdata"/><Relationship Id="rId118" Type="http://schemas.openxmlformats.org/officeDocument/2006/relationships/font" Target="fonts/font8.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4.fntdata"/><Relationship Id="rId119" Type="http://schemas.openxmlformats.org/officeDocument/2006/relationships/font" Target="fonts/font9.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10.fntdata"/><Relationship Id="rId125"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115"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11.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92.xml"/><Relationship Id="rId18" Type="http://schemas.openxmlformats.org/officeDocument/2006/relationships/slide" Target="slide10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91.xml"/><Relationship Id="rId17" Type="http://schemas.openxmlformats.org/officeDocument/2006/relationships/slide" Target="slide101.xml"/><Relationship Id="rId2" Type="http://schemas.openxmlformats.org/officeDocument/2006/relationships/notesSlide" Target="../notesSlides/notesSlide1.xml"/><Relationship Id="rId16" Type="http://schemas.openxmlformats.org/officeDocument/2006/relationships/slide" Target="slide9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90.xml"/><Relationship Id="rId5" Type="http://schemas.openxmlformats.org/officeDocument/2006/relationships/slide" Target="slide7.xml"/><Relationship Id="rId15" Type="http://schemas.openxmlformats.org/officeDocument/2006/relationships/slide" Target="slide97.xml"/><Relationship Id="rId10" Type="http://schemas.openxmlformats.org/officeDocument/2006/relationships/hyperlink" Target="https://flyingdeuk.github.io/posts/A330-kneeboard/" TargetMode="External"/><Relationship Id="rId19" Type="http://schemas.openxmlformats.org/officeDocument/2006/relationships/slide" Target="slide10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9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18" Type="http://schemas.openxmlformats.org/officeDocument/2006/relationships/slide" Target="slide72.xml"/><Relationship Id="rId3" Type="http://schemas.openxmlformats.org/officeDocument/2006/relationships/slide" Target="slide56.xml"/><Relationship Id="rId21" Type="http://schemas.openxmlformats.org/officeDocument/2006/relationships/image" Target="../media/image2.png"/><Relationship Id="rId7" Type="http://schemas.openxmlformats.org/officeDocument/2006/relationships/slide" Target="slide60.xml"/><Relationship Id="rId12" Type="http://schemas.openxmlformats.org/officeDocument/2006/relationships/slide" Target="slide65.xml"/><Relationship Id="rId17" Type="http://schemas.openxmlformats.org/officeDocument/2006/relationships/slide" Target="slide71.xml"/><Relationship Id="rId2" Type="http://schemas.openxmlformats.org/officeDocument/2006/relationships/notesSlide" Target="../notesSlides/notesSlide9.xml"/><Relationship Id="rId16" Type="http://schemas.openxmlformats.org/officeDocument/2006/relationships/slide" Target="slide70.xml"/><Relationship Id="rId20" Type="http://schemas.openxmlformats.org/officeDocument/2006/relationships/slide" Target="slide74.xml"/><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slide" Target="slide69.xml"/><Relationship Id="rId10" Type="http://schemas.openxmlformats.org/officeDocument/2006/relationships/slide" Target="slide63.xml"/><Relationship Id="rId19" Type="http://schemas.openxmlformats.org/officeDocument/2006/relationships/slide" Target="slide7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 Id="rId22"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83.xml"/><Relationship Id="rId3" Type="http://schemas.openxmlformats.org/officeDocument/2006/relationships/slide" Target="slide75.xml"/><Relationship Id="rId7" Type="http://schemas.openxmlformats.org/officeDocument/2006/relationships/slide" Target="slide81.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80.xml"/><Relationship Id="rId5" Type="http://schemas.openxmlformats.org/officeDocument/2006/relationships/slide" Target="slide78.xml"/><Relationship Id="rId10" Type="http://schemas.openxmlformats.org/officeDocument/2006/relationships/image" Target="../media/image3.svg"/><Relationship Id="rId4" Type="http://schemas.openxmlformats.org/officeDocument/2006/relationships/slide" Target="slide77.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4.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9.xml"/><Relationship Id="rId5" Type="http://schemas.openxmlformats.org/officeDocument/2006/relationships/slide" Target="slide87.xml"/><Relationship Id="rId4" Type="http://schemas.openxmlformats.org/officeDocument/2006/relationships/slide" Target="slide86.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0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0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0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0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7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DPP-PNH/"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1.jpeg"/><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9.xml.rels><?xml version="1.0" encoding="UTF-8" standalone="yes"?>
<Relationships xmlns="http://schemas.openxmlformats.org/package/2006/relationships"><Relationship Id="rId3" Type="http://schemas.openxmlformats.org/officeDocument/2006/relationships/slide" Target="slide97.xml"/><Relationship Id="rId2" Type="http://schemas.openxmlformats.org/officeDocument/2006/relationships/notesSlide" Target="../notesSlides/notesSlide9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7.xml"/></Relationships>
</file>

<file path=ppt/slides/_rels/slide10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3.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0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8</a:t>
            </a:r>
            <a:r>
              <a:rPr lang="en-US" sz="1100" b="1" dirty="0">
                <a:solidFill>
                  <a:srgbClr val="92D050"/>
                </a:solidFill>
                <a:latin typeface="Calibri"/>
                <a:ea typeface="Calibri"/>
                <a:cs typeface="Calibri"/>
                <a:sym typeface="Calibri"/>
              </a:rPr>
              <a:t>.</a:t>
            </a:r>
            <a:r>
              <a:rPr lang="en-US" altLang="ko-KR" sz="1100" b="1" dirty="0">
                <a:solidFill>
                  <a:srgbClr val="92D050"/>
                </a:solidFill>
                <a:latin typeface="Calibri"/>
                <a:ea typeface="Calibri"/>
                <a:cs typeface="Calibri"/>
                <a:sym typeface="Calibri"/>
              </a:rPr>
              <a:t>30</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008787973"/>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6453901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4269935988"/>
              </p:ext>
            </p:extLst>
          </p:nvPr>
        </p:nvGraphicFramePr>
        <p:xfrm>
          <a:off x="114028" y="3392603"/>
          <a:ext cx="2100805" cy="180681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356713876"/>
              </p:ext>
            </p:extLst>
          </p:nvPr>
        </p:nvGraphicFramePr>
        <p:xfrm>
          <a:off x="0" y="3"/>
          <a:ext cx="2328875" cy="33706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067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36000" marB="36000"/>
                </a:tc>
                <a:extLst>
                  <a:ext uri="{0D108BD9-81ED-4DB2-BD59-A6C34878D82A}">
                    <a16:rowId xmlns:a16="http://schemas.microsoft.com/office/drawing/2014/main" val="10000"/>
                  </a:ext>
                </a:extLst>
              </a:tr>
              <a:tr h="1268798">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36000" marB="36000" anchor="ctr"/>
                </a:tc>
                <a:extLst>
                  <a:ext uri="{0D108BD9-81ED-4DB2-BD59-A6C34878D82A}">
                    <a16:rowId xmlns:a16="http://schemas.microsoft.com/office/drawing/2014/main" val="10001"/>
                  </a:ext>
                </a:extLst>
              </a:tr>
              <a:tr h="1306588">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71104066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717443"/>
            <a:ext cx="102111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ore-KR" sz="700" b="1" u="sng" dirty="0">
                <a:latin typeface="Gulim" panose="020B0600000101010101" pitchFamily="34" charset="-127"/>
                <a:ea typeface="Gulim" panose="020B0600000101010101" pitchFamily="34" charset="-127"/>
              </a:rPr>
              <a:t>SANYA 122.6</a:t>
            </a:r>
          </a:p>
          <a:p>
            <a:pPr>
              <a:lnSpc>
                <a:spcPct val="150000"/>
              </a:lnSpc>
            </a:pPr>
            <a:r>
              <a:rPr kumimoji="1" lang="en-US" altLang="ko-Kore-KR" sz="700" b="1" u="sng" dirty="0">
                <a:latin typeface="Gulim" panose="020B0600000101010101" pitchFamily="34" charset="-127"/>
                <a:ea typeface="Gulim" panose="020B0600000101010101" pitchFamily="34" charset="-127"/>
              </a:rPr>
              <a:t>TPE 125.5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078689007"/>
              </p:ext>
            </p:extLst>
          </p:nvPr>
        </p:nvGraphicFramePr>
        <p:xfrm>
          <a:off x="-2500" y="378245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Before DOBMA(EMTAS) FL300 for CTC Bali 119.7</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227828025"/>
              </p:ext>
            </p:extLst>
          </p:nvPr>
        </p:nvGraphicFramePr>
        <p:xfrm>
          <a:off x="20430" y="3995008"/>
          <a:ext cx="2286834" cy="154873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PNH </a:t>
                      </a:r>
                      <a:r>
                        <a:rPr lang="en-US" sz="800" dirty="0">
                          <a:solidFill>
                            <a:srgbClr val="00B0F0"/>
                          </a:solidFill>
                        </a:rPr>
                        <a:t>[046/226]</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KOSDA </a:t>
                      </a:r>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PNH,</a:t>
                      </a:r>
                      <a:r>
                        <a:rPr lang="en-US" sz="800" b="1" dirty="0">
                          <a:solidFill>
                            <a:srgbClr val="00B050"/>
                          </a:solidFill>
                        </a:rPr>
                        <a:t> </a:t>
                      </a:r>
                      <a:r>
                        <a:rPr lang="en-US" sz="800" b="1" dirty="0">
                          <a:solidFill>
                            <a:srgbClr val="C00000"/>
                          </a:solidFill>
                        </a:rPr>
                        <a:t>23 PNP</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E(6240’), H(7148’),     23 </a:t>
                      </a:r>
                      <a:r>
                        <a:rPr lang="en-US" sz="800" b="1" dirty="0">
                          <a:solidFill>
                            <a:srgbClr val="C00000"/>
                          </a:solidFill>
                        </a:rPr>
                        <a:t>DIS</a:t>
                      </a:r>
                      <a:r>
                        <a:rPr lang="en-US" sz="800" b="1" dirty="0">
                          <a:solidFill>
                            <a:schemeClr val="bg1"/>
                          </a:solidFill>
                        </a:rPr>
                        <a:t> </a:t>
                      </a:r>
                      <a:r>
                        <a:rPr lang="en-US" altLang="ko-Kore-KR" sz="800" b="1" dirty="0">
                          <a:solidFill>
                            <a:schemeClr val="bg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No Centerline L/T,</a:t>
                      </a:r>
                      <a:r>
                        <a:rPr lang="ko-KR" altLang="en-US" sz="800" b="1" dirty="0">
                          <a:solidFill>
                            <a:srgbClr val="0070C0"/>
                          </a:solidFill>
                        </a:rPr>
                        <a:t> </a:t>
                      </a:r>
                      <a:r>
                        <a:rPr lang="en-US" altLang="ko-KR" sz="800" b="1" dirty="0">
                          <a:solidFill>
                            <a:srgbClr val="0070C0"/>
                          </a:solidFill>
                        </a:rPr>
                        <a:t>No Vacate Lead L/T, </a:t>
                      </a:r>
                      <a:r>
                        <a:rPr lang="en-US" altLang="ko-KR" sz="800" b="1" dirty="0">
                          <a:solidFill>
                            <a:srgbClr val="C00000"/>
                          </a:solidFill>
                        </a:rPr>
                        <a:t>All 90 Turn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bg1"/>
                          </a:solidFill>
                        </a:rPr>
                        <a:t>APU Off after 5min after parking or Keep APU</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12 Caution Complex Solid Lead Line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1826179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02562882"/>
              </p:ext>
            </p:extLst>
          </p:nvPr>
        </p:nvGraphicFramePr>
        <p:xfrm>
          <a:off x="-15808" y="580010"/>
          <a:ext cx="2349161" cy="151318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97551">
                <a:tc gridSpan="4">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046 </a:t>
                      </a:r>
                      <a:r>
                        <a:rPr lang="en-US" sz="800" b="1" u="none" strike="noStrike" cap="none" dirty="0">
                          <a:solidFill>
                            <a:srgbClr val="0070C0"/>
                          </a:solidFill>
                        </a:rPr>
                        <a:t>ATC (5000)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226 </a:t>
                      </a:r>
                      <a:r>
                        <a:rPr lang="en-US" sz="800" b="1" u="none" strike="noStrike" cap="none" dirty="0">
                          <a:solidFill>
                            <a:srgbClr val="0070C0"/>
                          </a:solidFill>
                        </a:rPr>
                        <a:t>ATC </a:t>
                      </a: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PNP 109.7</a:t>
                      </a: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cs typeface="Calibri"/>
                          <a:sym typeface="Calibri"/>
                        </a:rPr>
                        <a:t>RW 23 : 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5130092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PNH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5"/>
          <a:stretch>
            <a:fillRect/>
          </a:stretch>
        </p:blipFill>
        <p:spPr>
          <a:xfrm>
            <a:off x="-15808" y="2107214"/>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729530"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1741463358"/>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287755798"/>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75781</TotalTime>
  <Words>24307</Words>
  <Application>Microsoft Macintosh PowerPoint</Application>
  <PresentationFormat>사용자 지정</PresentationFormat>
  <Paragraphs>5708</Paragraphs>
  <Slides>108</Slides>
  <Notes>99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108</vt:i4>
      </vt:variant>
    </vt:vector>
  </HeadingPairs>
  <TitlesOfParts>
    <vt:vector size="118" baseType="lpstr">
      <vt:lpstr>Century Gothic</vt:lpstr>
      <vt:lpstr>Calibri</vt:lpstr>
      <vt:lpstr>Cambria Math</vt:lpstr>
      <vt:lpstr>Britannic Bold</vt:lpstr>
      <vt:lpstr>맑은 고딕</vt:lpstr>
      <vt:lpstr>Gulim</vt:lpstr>
      <vt:lpstr>Helvetica Neue</vt:lpstr>
      <vt:lpstr>Arial</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560</cp:revision>
  <dcterms:created xsi:type="dcterms:W3CDTF">2022-05-17T08:00:10Z</dcterms:created>
  <dcterms:modified xsi:type="dcterms:W3CDTF">2025-08-30T05:02:52Z</dcterms:modified>
</cp:coreProperties>
</file>