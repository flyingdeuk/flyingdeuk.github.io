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2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483" r:id="rId57"/>
    <p:sldId id="484" r:id="rId58"/>
    <p:sldId id="485" r:id="rId59"/>
    <p:sldId id="486" r:id="rId60"/>
    <p:sldId id="487" r:id="rId61"/>
    <p:sldId id="488" r:id="rId62"/>
    <p:sldId id="389" r:id="rId63"/>
    <p:sldId id="390" r:id="rId64"/>
    <p:sldId id="442" r:id="rId65"/>
    <p:sldId id="443" r:id="rId66"/>
    <p:sldId id="447" r:id="rId67"/>
    <p:sldId id="448" r:id="rId68"/>
    <p:sldId id="449" r:id="rId69"/>
    <p:sldId id="479" r:id="rId70"/>
    <p:sldId id="450" r:id="rId71"/>
    <p:sldId id="452" r:id="rId72"/>
    <p:sldId id="453" r:id="rId73"/>
    <p:sldId id="460" r:id="rId74"/>
    <p:sldId id="462" r:id="rId75"/>
    <p:sldId id="461" r:id="rId76"/>
    <p:sldId id="476" r:id="rId77"/>
    <p:sldId id="478" r:id="rId78"/>
    <p:sldId id="359" r:id="rId79"/>
    <p:sldId id="360" r:id="rId80"/>
    <p:sldId id="374" r:id="rId81"/>
    <p:sldId id="375" r:id="rId82"/>
    <p:sldId id="480" r:id="rId83"/>
    <p:sldId id="482" r:id="rId84"/>
    <p:sldId id="481" r:id="rId85"/>
    <p:sldId id="489" r:id="rId86"/>
    <p:sldId id="490" r:id="rId87"/>
    <p:sldId id="491" r:id="rId88"/>
    <p:sldId id="492" r:id="rId89"/>
    <p:sldId id="436" r:id="rId90"/>
    <p:sldId id="376" r:id="rId91"/>
    <p:sldId id="434" r:id="rId92"/>
    <p:sldId id="437" r:id="rId93"/>
    <p:sldId id="439" r:id="rId94"/>
    <p:sldId id="438" r:id="rId95"/>
    <p:sldId id="444" r:id="rId96"/>
    <p:sldId id="445" r:id="rId97"/>
    <p:sldId id="446" r:id="rId98"/>
    <p:sldId id="469" r:id="rId99"/>
    <p:sldId id="470" r:id="rId100"/>
    <p:sldId id="471" r:id="rId101"/>
    <p:sldId id="472" r:id="rId102"/>
    <p:sldId id="473" r:id="rId103"/>
    <p:sldId id="474" r:id="rId104"/>
    <p:sldId id="422" r:id="rId105"/>
    <p:sldId id="385" r:id="rId106"/>
    <p:sldId id="365" r:id="rId107"/>
    <p:sldId id="366" r:id="rId108"/>
    <p:sldId id="423" r:id="rId109"/>
    <p:sldId id="384" r:id="rId110"/>
    <p:sldId id="283" r:id="rId111"/>
    <p:sldId id="286" r:id="rId112"/>
    <p:sldId id="428" r:id="rId113"/>
    <p:sldId id="288" r:id="rId114"/>
    <p:sldId id="289" r:id="rId115"/>
    <p:sldId id="290" r:id="rId116"/>
    <p:sldId id="424" r:id="rId117"/>
    <p:sldId id="302" r:id="rId118"/>
    <p:sldId id="303" r:id="rId119"/>
    <p:sldId id="426" r:id="rId120"/>
    <p:sldId id="427" r:id="rId121"/>
    <p:sldId id="430" r:id="rId122"/>
    <p:sldId id="281" r:id="rId123"/>
  </p:sldIdLst>
  <p:sldSz cx="2328863" cy="5572125"/>
  <p:notesSz cx="6858000" cy="9144000"/>
  <p:embeddedFontLst>
    <p:embeddedFont>
      <p:font typeface="맑은 고딕" panose="020B0503020000020004" pitchFamily="34" charset="-127"/>
      <p:regular r:id="rId125"/>
      <p:bold r:id="rId126"/>
    </p:embeddedFont>
    <p:embeddedFont>
      <p:font typeface="Cambria Math" panose="02040503050406030204" pitchFamily="18" charset="0"/>
      <p:regular r:id="rId127"/>
    </p:embeddedFont>
    <p:embeddedFont>
      <p:font typeface="Century Gothic" panose="020B0502020202020204" pitchFamily="34" charset="0"/>
      <p:regular r:id="rId128"/>
      <p:bold r:id="rId129"/>
      <p:italic r:id="rId130"/>
      <p:boldItalic r:id="rId131"/>
    </p:embeddedFont>
    <p:embeddedFont>
      <p:font typeface="Helvetica Neue" panose="02000503000000020004" pitchFamily="2" charset="0"/>
      <p:regular r:id="rId132"/>
      <p:bold r:id="rId133"/>
      <p:italic r:id="rId134"/>
      <p:boldItalic r:id="rId135"/>
    </p:embeddedFont>
    <p:embeddedFont>
      <p:font typeface="Lato" panose="020F0502020204030203" pitchFamily="34" charset="0"/>
      <p:regular r:id="rId136"/>
      <p:bold r:id="rId137"/>
      <p:italic r:id="rId138"/>
      <p:boldItalic r:id="rId13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a:srgbClr val="F2894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7912"/>
    <p:restoredTop sz="96966"/>
  </p:normalViewPr>
  <p:slideViewPr>
    <p:cSldViewPr snapToGrid="0" showGuides="1">
      <p:cViewPr>
        <p:scale>
          <a:sx n="308" d="100"/>
          <a:sy n="308" d="100"/>
        </p:scale>
        <p:origin x="1576" y="-646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font" Target="fonts/font14.fntdata"/><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font" Target="fonts/font4.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font" Target="fonts/font10.fntdata"/><Relationship Id="rId139" Type="http://schemas.openxmlformats.org/officeDocument/2006/relationships/font" Target="fonts/font15.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notesMaster" Target="notesMasters/notesMaster1.xml"/><Relationship Id="rId129" Type="http://schemas.openxmlformats.org/officeDocument/2006/relationships/font" Target="fonts/font5.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font" Target="fonts/font6.fntdata"/><Relationship Id="rId135" Type="http://schemas.openxmlformats.org/officeDocument/2006/relationships/font" Target="fonts/font11.fntdata"/><Relationship Id="rId177"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font" Target="fonts/font1.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font" Target="fonts/font7.fntdata"/><Relationship Id="rId136" Type="http://schemas.openxmlformats.org/officeDocument/2006/relationships/font" Target="fonts/font12.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font" Target="fonts/font2.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font" Target="fonts/font13.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font" Target="fonts/font8.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font" Target="fonts/font3.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font" Target="fonts/font9.fntdata"/><Relationship Id="rId175" Type="http://schemas.openxmlformats.org/officeDocument/2006/relationships/presProps" Target="presProps.xml"/><Relationship Id="rId16"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1FF93BF-508E-CF4F-5AC7-31AD1900C591}"/>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02F6920-F028-A8AA-7695-A4ACD3B7E21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FDC43B7B-4A30-8C0E-1A19-EC744F1D528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556016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75664AE-AD5F-BE4A-CC07-E504D150751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6A6417D-B2BB-90C9-1C10-1DD6227DC75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305CC4E3-0F65-A4A4-587E-79FB8ED5F47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6161577"/>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0AB9BBD-47B2-C548-F51D-4243F985FFA2}"/>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9A27EE0-30EF-6FF2-9960-E674EEDE056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7575E27F-48A6-8255-53E9-44DF6F7F03C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443410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E1A6927A-89ED-B2E5-8B9E-96A15CF8C98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782C6369-4A45-CC4F-5E6A-89E8F30385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4613D65-A925-7DBC-7E52-11FCEC235E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561708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CDC468B5-5BC6-CDB6-FBD0-69FDB6D18C55}"/>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DA42E90B-1992-058D-35CD-78EF1C38C5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D88B8-12C0-B903-D2F7-757AC147A90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575310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73ADF9E0-8A03-79AB-3AED-DC7CE29C9512}"/>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C3E7A42-08D2-1B41-7D49-BF7F4807DBD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ED49BFC-BEB8-4553-5085-5908EA33976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4994276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335809"/>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5349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925406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1253552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D4D4FBC-D175-DEDD-EF94-25F749F8E46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A40AE2BB-00EC-1BCC-FA83-AF2888DFE7C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1D6F032D-B7D9-9A22-D3A5-8890A41ECE0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35156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466C6E54-8713-771C-6D7C-E093CE43711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75E8BF7-74DD-8A48-71B9-94FAF1C56EC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EDFC59E8-B103-4E2C-3E45-50972C62BB5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7263488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3A05C23-C04D-095A-7BD0-7F686EF6DB5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6CF72FC-CD0E-9D4F-8070-48FF2B948D6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FE1C4BF-6721-F604-6FFC-51CDE1415C2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322876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D6D2006-D2CB-6D12-D3FC-17526D5D5584}"/>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40846F7-1786-72D3-7E3A-6256A60E957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6C590D3-F071-6353-539D-773F927160F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82138"/>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4F39ABDB-F67B-937E-DB92-03C331365D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B58690F7-C671-2913-E422-71B0F8CCED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2AAF833-F310-CAE7-B040-11F57202564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5152607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9BF61BA2-E665-3B0C-CDF9-47143FD0996A}"/>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95A1E52-FCC0-C746-12FD-8BA4D063A2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C7D008BA-1199-EEA5-680D-E9E989DBC7A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594156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106.xml"/><Relationship Id="rId18" Type="http://schemas.openxmlformats.org/officeDocument/2006/relationships/slide" Target="slide11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105.xml"/><Relationship Id="rId17" Type="http://schemas.openxmlformats.org/officeDocument/2006/relationships/slide" Target="slide115.xml"/><Relationship Id="rId2" Type="http://schemas.openxmlformats.org/officeDocument/2006/relationships/notesSlide" Target="../notesSlides/notesSlide1.xml"/><Relationship Id="rId16" Type="http://schemas.openxmlformats.org/officeDocument/2006/relationships/slide" Target="slide11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104.xml"/><Relationship Id="rId5" Type="http://schemas.openxmlformats.org/officeDocument/2006/relationships/slide" Target="slide7.xml"/><Relationship Id="rId15" Type="http://schemas.openxmlformats.org/officeDocument/2006/relationships/slide" Target="slide111.xml"/><Relationship Id="rId10" Type="http://schemas.openxmlformats.org/officeDocument/2006/relationships/hyperlink" Target="https://flyingdeuk.github.io/posts/A330-kneeboard/" TargetMode="External"/><Relationship Id="rId19" Type="http://schemas.openxmlformats.org/officeDocument/2006/relationships/slide" Target="slide12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10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18" Type="http://schemas.openxmlformats.org/officeDocument/2006/relationships/slide" Target="slide61.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17" Type="http://schemas.openxmlformats.org/officeDocument/2006/relationships/slide" Target="slide59.xml"/><Relationship Id="rId2" Type="http://schemas.openxmlformats.org/officeDocument/2006/relationships/notesSlide" Target="../notesSlides/notesSlide7.xml"/><Relationship Id="rId16" Type="http://schemas.openxmlformats.org/officeDocument/2006/relationships/slide" Target="slide58.xml"/><Relationship Id="rId20"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slide" Target="slide56.xml"/><Relationship Id="rId10" Type="http://schemas.openxmlformats.org/officeDocument/2006/relationships/slide" Target="slide49.xml"/><Relationship Id="rId19" Type="http://schemas.openxmlformats.org/officeDocument/2006/relationships/image" Target="../media/image2.png"/><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7.xml"/><Relationship Id="rId13" Type="http://schemas.openxmlformats.org/officeDocument/2006/relationships/slide" Target="slide73.xml"/><Relationship Id="rId18" Type="http://schemas.openxmlformats.org/officeDocument/2006/relationships/slide" Target="slide79.xml"/><Relationship Id="rId26" Type="http://schemas.openxmlformats.org/officeDocument/2006/relationships/slide" Target="slide88.xml"/><Relationship Id="rId3" Type="http://schemas.openxmlformats.org/officeDocument/2006/relationships/slide" Target="slide62.xml"/><Relationship Id="rId21" Type="http://schemas.openxmlformats.org/officeDocument/2006/relationships/slide" Target="slide82.xml"/><Relationship Id="rId7" Type="http://schemas.openxmlformats.org/officeDocument/2006/relationships/slide" Target="slide66.xml"/><Relationship Id="rId12" Type="http://schemas.openxmlformats.org/officeDocument/2006/relationships/slide" Target="slide72.xml"/><Relationship Id="rId17" Type="http://schemas.openxmlformats.org/officeDocument/2006/relationships/slide" Target="slide78.xml"/><Relationship Id="rId25" Type="http://schemas.openxmlformats.org/officeDocument/2006/relationships/slide" Target="slide87.xml"/><Relationship Id="rId2" Type="http://schemas.openxmlformats.org/officeDocument/2006/relationships/notesSlide" Target="../notesSlides/notesSlide9.xml"/><Relationship Id="rId16" Type="http://schemas.openxmlformats.org/officeDocument/2006/relationships/slide" Target="slide77.xml"/><Relationship Id="rId20" Type="http://schemas.openxmlformats.org/officeDocument/2006/relationships/slide" Target="slide81.xml"/><Relationship Id="rId1" Type="http://schemas.openxmlformats.org/officeDocument/2006/relationships/slideLayout" Target="../slideLayouts/slideLayout1.xml"/><Relationship Id="rId6" Type="http://schemas.openxmlformats.org/officeDocument/2006/relationships/slide" Target="slide65.xml"/><Relationship Id="rId11" Type="http://schemas.openxmlformats.org/officeDocument/2006/relationships/slide" Target="slide71.xml"/><Relationship Id="rId24" Type="http://schemas.openxmlformats.org/officeDocument/2006/relationships/slide" Target="slide86.xml"/><Relationship Id="rId5" Type="http://schemas.openxmlformats.org/officeDocument/2006/relationships/slide" Target="slide64.xml"/><Relationship Id="rId15" Type="http://schemas.openxmlformats.org/officeDocument/2006/relationships/slide" Target="slide76.xml"/><Relationship Id="rId23" Type="http://schemas.openxmlformats.org/officeDocument/2006/relationships/slide" Target="slide85.xml"/><Relationship Id="rId28" Type="http://schemas.openxmlformats.org/officeDocument/2006/relationships/image" Target="../media/image3.svg"/><Relationship Id="rId10" Type="http://schemas.openxmlformats.org/officeDocument/2006/relationships/slide" Target="slide70.xml"/><Relationship Id="rId19" Type="http://schemas.openxmlformats.org/officeDocument/2006/relationships/slide" Target="slide80.xml"/><Relationship Id="rId4" Type="http://schemas.openxmlformats.org/officeDocument/2006/relationships/slide" Target="slide63.xml"/><Relationship Id="rId9" Type="http://schemas.openxmlformats.org/officeDocument/2006/relationships/slide" Target="slide68.xml"/><Relationship Id="rId14" Type="http://schemas.openxmlformats.org/officeDocument/2006/relationships/slide" Target="slide75.xml"/><Relationship Id="rId22" Type="http://schemas.openxmlformats.org/officeDocument/2006/relationships/slide" Target="slide84.xml"/><Relationship Id="rId27"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97.xml"/><Relationship Id="rId3" Type="http://schemas.openxmlformats.org/officeDocument/2006/relationships/slide" Target="slide89.xml"/><Relationship Id="rId7" Type="http://schemas.openxmlformats.org/officeDocument/2006/relationships/slide" Target="slide9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94.xml"/><Relationship Id="rId5" Type="http://schemas.openxmlformats.org/officeDocument/2006/relationships/slide" Target="slide92.xml"/><Relationship Id="rId10" Type="http://schemas.openxmlformats.org/officeDocument/2006/relationships/image" Target="../media/image3.svg"/><Relationship Id="rId4" Type="http://schemas.openxmlformats.org/officeDocument/2006/relationships/slide" Target="slide9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103.xml"/><Relationship Id="rId5" Type="http://schemas.openxmlformats.org/officeDocument/2006/relationships/slide" Target="slide101.xml"/><Relationship Id="rId4" Type="http://schemas.openxmlformats.org/officeDocument/2006/relationships/slide" Target="slide10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11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11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11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slide" Target="slide3.xml"/><Relationship Id="rId4" Type="http://schemas.openxmlformats.org/officeDocument/2006/relationships/hyperlink" Target="https://flyingdeuk.github.io/posts/RKSS-GMP/" TargetMode="External"/><Relationship Id="rId9" Type="http://schemas.openxmlformats.org/officeDocument/2006/relationships/image" Target="../media/image13.jpe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flyingdeuk.github.io/posts/RJTT-HND/" TargetMode="External"/><Relationship Id="rId7" Type="http://schemas.openxmlformats.org/officeDocument/2006/relationships/image" Target="../media/image3.sv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SQD-TAO/"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ZSQD-TAO/"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SZ-SZX/"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8" Type="http://schemas.openxmlformats.org/officeDocument/2006/relationships/image" Target="../media/image18.jpeg"/><Relationship Id="rId3" Type="http://schemas.openxmlformats.org/officeDocument/2006/relationships/hyperlink" Target="https://flyingdeuk.github.io/posts/ZGSZ-SZX/"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slide" Target="slide11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TS-SGN/"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ADD-DPS/" TargetMode="External"/></Relationships>
</file>

<file path=ppt/slides/_rels/slide77.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WADD-DPS/"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DTI-KTI/" TargetMode="External"/></Relationships>
</file>

<file path=ppt/slides/_rels/slide79.xml.rels><?xml version="1.0" encoding="UTF-8" standalone="yes"?>
<Relationships xmlns="http://schemas.openxmlformats.org/package/2006/relationships"><Relationship Id="rId3" Type="http://schemas.openxmlformats.org/officeDocument/2006/relationships/hyperlink" Target="https://flyingdeuk.github.io/posts/VDTI-KTI/" TargetMode="External"/><Relationship Id="rId7" Type="http://schemas.openxmlformats.org/officeDocument/2006/relationships/image" Target="../media/image3.sv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RCTP-TPE/"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CTP-TPE/"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YYY-RGN/"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hyperlink" Target="https://flyingdeuk.github.io/posts/VYYY-RG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PQ-PQC/" TargetMode="External"/></Relationships>
</file>

<file path=ppt/slides/_rels/slide86.xml.rels><?xml version="1.0" encoding="UTF-8" standalone="yes"?>
<Relationships xmlns="http://schemas.openxmlformats.org/package/2006/relationships"><Relationship Id="rId3" Type="http://schemas.openxmlformats.org/officeDocument/2006/relationships/hyperlink" Target="https://flyingdeuk.github.io/posts/VVPQ-PQC/" TargetMode="External"/><Relationship Id="rId7" Type="http://schemas.openxmlformats.org/officeDocument/2006/relationships/image" Target="../media/image3.sv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MKK-KUL/" TargetMode="External"/></Relationships>
</file>

<file path=ppt/slides/_rels/slide88.xml.rels><?xml version="1.0" encoding="UTF-8" standalone="yes"?>
<Relationships xmlns="http://schemas.openxmlformats.org/package/2006/relationships"><Relationship Id="rId3" Type="http://schemas.openxmlformats.org/officeDocument/2006/relationships/hyperlink" Target="https://flyingdeuk.github.io/posts/WMKK-KUL/" TargetMode="External"/><Relationship Id="rId7" Type="http://schemas.openxmlformats.org/officeDocument/2006/relationships/image" Target="../media/image3.svg"/><Relationship Id="rId2" Type="http://schemas.openxmlformats.org/officeDocument/2006/relationships/notesSlide" Target="../notesSlides/notesSlide7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7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9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8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9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8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9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9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10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6.png"/></Relationships>
</file>

<file path=ppt/slides/_rels/slide10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13.xml.rels><?xml version="1.0" encoding="UTF-8" standalone="yes"?>
<Relationships xmlns="http://schemas.openxmlformats.org/package/2006/relationships"><Relationship Id="rId3" Type="http://schemas.openxmlformats.org/officeDocument/2006/relationships/slide" Target="slide111.xml"/><Relationship Id="rId2" Type="http://schemas.openxmlformats.org/officeDocument/2006/relationships/notesSlide" Target="../notesSlides/notesSlide10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2.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111.xml"/></Relationships>
</file>

<file path=ppt/slides/_rels/slide1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28.jpeg"/><Relationship Id="rId7" Type="http://schemas.openxmlformats.org/officeDocument/2006/relationships/image" Target="../media/image3.svg"/><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30.jpeg"/><Relationship Id="rId4" Type="http://schemas.openxmlformats.org/officeDocument/2006/relationships/image" Target="../media/image29.jpeg"/></Relationships>
</file>

<file path=ppt/slides/_rels/slide118.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05.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9.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Toppan Bunkyu Midashi Gothic Ex" panose="020B0900000000000000" pitchFamily="34" charset="-128"/>
              <a:cs typeface="Calibri"/>
              <a:sym typeface="Calibri"/>
            </a:endParaRPr>
          </a:p>
        </p:txBody>
      </p:sp>
      <p:graphicFrame>
        <p:nvGraphicFramePr>
          <p:cNvPr id="90" name="Google Shape;90;p1"/>
          <p:cNvGraphicFramePr/>
          <p:nvPr>
            <p:extLst>
              <p:ext uri="{D42A27DB-BD31-4B8C-83A1-F6EECF244321}">
                <p14:modId xmlns:p14="http://schemas.microsoft.com/office/powerpoint/2010/main" val="363553593"/>
              </p:ext>
            </p:extLst>
          </p:nvPr>
        </p:nvGraphicFramePr>
        <p:xfrm>
          <a:off x="185895" y="3531746"/>
          <a:ext cx="1969476" cy="188263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0">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latin typeface="Calibri"/>
                <a:ea typeface="Calibri"/>
                <a:cs typeface="Calibri"/>
                <a:sym typeface="Calibri"/>
              </a:rPr>
              <a:t>by </a:t>
            </a:r>
            <a:r>
              <a:rPr lang="en-US" sz="1000" b="1" i="0" u="none" strike="noStrike" cap="none" dirty="0" err="1">
                <a:latin typeface="Calibri"/>
                <a:ea typeface="Calibri"/>
                <a:cs typeface="Calibri"/>
                <a:sym typeface="Calibri"/>
              </a:rPr>
              <a:t>Flyingdeuk</a:t>
            </a:r>
            <a:endParaRPr sz="1000" b="1" dirty="0">
              <a:latin typeface="Calibri"/>
              <a:ea typeface="Calibri"/>
              <a:cs typeface="Calibri"/>
              <a:sym typeface="Calibri"/>
            </a:endParaRPr>
          </a:p>
        </p:txBody>
      </p:sp>
      <p:sp>
        <p:nvSpPr>
          <p:cNvPr id="92" name="Google Shape;92;p1"/>
          <p:cNvSpPr txBox="1"/>
          <p:nvPr/>
        </p:nvSpPr>
        <p:spPr>
          <a:xfrm>
            <a:off x="1332359"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92D050"/>
                </a:solidFill>
                <a:latin typeface="Calibri"/>
                <a:ea typeface="Calibri"/>
                <a:cs typeface="Calibri"/>
                <a:sym typeface="Calibri"/>
              </a:rPr>
              <a:t>VER. 25.</a:t>
            </a:r>
            <a:r>
              <a:rPr lang="en-US" altLang="ko-KR" sz="1100" b="1" dirty="0">
                <a:solidFill>
                  <a:srgbClr val="92D050"/>
                </a:solidFill>
                <a:latin typeface="Calibri"/>
                <a:ea typeface="Calibri"/>
                <a:cs typeface="Calibri"/>
                <a:sym typeface="Calibri"/>
              </a:rPr>
              <a:t>11</a:t>
            </a:r>
            <a:r>
              <a:rPr lang="en-US" sz="1100" b="1" dirty="0">
                <a:solidFill>
                  <a:srgbClr val="92D050"/>
                </a:solidFill>
                <a:latin typeface="Calibri"/>
                <a:ea typeface="Calibri"/>
                <a:cs typeface="Calibri"/>
                <a:sym typeface="Calibri"/>
              </a:rPr>
              <a:t>.27</a:t>
            </a:r>
            <a:endParaRPr sz="1100" b="1" dirty="0">
              <a:solidFill>
                <a:srgbClr val="92D05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solidFill>
                  <a:srgbClr val="00B0F0"/>
                </a:solidFill>
                <a:latin typeface="Calibri"/>
                <a:ea typeface="Calibri"/>
                <a:cs typeface="Calibri"/>
                <a:sym typeface="Calibri"/>
                <a:hlinkClick r:id="rId10">
                  <a:extLst>
                    <a:ext uri="{A12FA001-AC4F-418D-AE19-62706E023703}">
                      <ahyp:hlinkClr xmlns:ahyp="http://schemas.microsoft.com/office/drawing/2018/hyperlinkcolor" val="tx"/>
                    </a:ext>
                  </a:extLst>
                </a:hlinkClick>
              </a:rPr>
              <a:t>☝️ </a:t>
            </a:r>
            <a:r>
              <a:rPr kumimoji="1" lang="en-US" altLang="ko-Kore-KR" sz="900" b="1" u="sng" dirty="0">
                <a:solidFill>
                  <a:srgbClr val="00B0F0"/>
                </a:solidFill>
                <a:hlinkClick r:id="rId10">
                  <a:extLst>
                    <a:ext uri="{A12FA001-AC4F-418D-AE19-62706E023703}">
                      <ahyp:hlinkClr xmlns:ahyp="http://schemas.microsoft.com/office/drawing/2018/hyperlinkcolor" val="tx"/>
                    </a:ext>
                  </a:extLst>
                </a:hlinkClick>
              </a:rPr>
              <a:t>Click for Update</a:t>
            </a:r>
            <a:endParaRPr kumimoji="1" lang="ko-Kore-KR" altLang="en-US" sz="900" b="1" u="sng" dirty="0">
              <a:solidFill>
                <a:srgbClr val="00B0F0"/>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8312558"/>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Japan</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1393679"/>
              </p:ext>
            </p:extLst>
          </p:nvPr>
        </p:nvGraphicFramePr>
        <p:xfrm>
          <a:off x="104230" y="114852"/>
          <a:ext cx="2115458" cy="3695978"/>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tx1"/>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2392428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SZX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09224305"/>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673965251"/>
              </p:ext>
            </p:extLst>
          </p:nvPr>
        </p:nvGraphicFramePr>
        <p:xfrm>
          <a:off x="121884" y="3798834"/>
          <a:ext cx="2069883" cy="1242387"/>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TAO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칭다오</a:t>
                      </a:r>
                      <a:r>
                        <a:rPr lang="en-US" altLang="ko-KR" sz="900" dirty="0">
                          <a:solidFill>
                            <a:srgbClr val="00B050"/>
                          </a:solidFill>
                        </a:rPr>
                        <a:t>/</a:t>
                      </a:r>
                      <a:r>
                        <a:rPr lang="ko-KR" altLang="en-US" sz="900" dirty="0" err="1">
                          <a:solidFill>
                            <a:srgbClr val="00B050"/>
                          </a:solidFill>
                        </a:rPr>
                        <a:t>자오둥</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SZX</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선전</a:t>
                      </a:r>
                      <a:r>
                        <a:rPr lang="en-US" altLang="ko-KR" sz="900" dirty="0">
                          <a:solidFill>
                            <a:srgbClr val="00B050"/>
                          </a:solidFill>
                        </a:rPr>
                        <a:t>/</a:t>
                      </a:r>
                      <a:r>
                        <a:rPr lang="ko-KR" altLang="en-US" sz="900" dirty="0" err="1">
                          <a:solidFill>
                            <a:srgbClr val="00B050"/>
                          </a:solidFill>
                        </a:rPr>
                        <a:t>바오안</a:t>
                      </a:r>
                      <a:endParaRPr lang="en-US" altLang="ko-Kore-KR" sz="900" dirty="0">
                        <a:solidFill>
                          <a:srgbClr val="AA47F5"/>
                        </a:solidFill>
                      </a:endParaRPr>
                    </a:p>
                  </a:txBody>
                  <a:tcPr marL="0" marR="0" marT="0" marB="0" anchor="ctr"/>
                </a:tc>
                <a:extLst>
                  <a:ext uri="{0D108BD9-81ED-4DB2-BD59-A6C34878D82A}">
                    <a16:rowId xmlns:a16="http://schemas.microsoft.com/office/drawing/2014/main" val="610266171"/>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23908053"/>
              </p:ext>
            </p:extLst>
          </p:nvPr>
        </p:nvGraphicFramePr>
        <p:xfrm>
          <a:off x="98101" y="184953"/>
          <a:ext cx="2132650" cy="498450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chemeClr val="tx1"/>
                          </a:solidFill>
                          <a:latin typeface="Calibri"/>
                          <a:ea typeface="Calibri"/>
                          <a:cs typeface="Calibri"/>
                          <a:sym typeface="Calibri"/>
                        </a:rPr>
                        <a:t>SE </a:t>
                      </a:r>
                      <a:r>
                        <a:rPr lang="en-US" sz="2400" b="1" u="none" strike="noStrike" cap="none" dirty="0">
                          <a:solidFill>
                            <a:schemeClr val="tx1"/>
                          </a:solidFill>
                          <a:latin typeface="Calibri"/>
                          <a:ea typeface="Calibri"/>
                          <a:cs typeface="Calibri"/>
                          <a:sym typeface="Calibri"/>
                        </a:rPr>
                        <a:t>Asia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DPS</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KTI</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0" action="ppaction://hlinksldjump">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2" action="ppaction://hlinksldjump">
                            <a:extLst>
                              <a:ext uri="{A12FA001-AC4F-418D-AE19-62706E023703}">
                                <ahyp:hlinkClr xmlns:ahyp="http://schemas.microsoft.com/office/drawing/2018/hyperlinkcolor" val="tx"/>
                              </a:ext>
                            </a:extLst>
                          </a:hlinkClick>
                        </a:rPr>
                        <a:t>RGN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477982926"/>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4" action="ppaction://hlinksldjump">
                            <a:extLst>
                              <a:ext uri="{A12FA001-AC4F-418D-AE19-62706E023703}">
                                <ahyp:hlinkClr xmlns:ahyp="http://schemas.microsoft.com/office/drawing/2018/hyperlinkcolor" val="tx"/>
                              </a:ext>
                            </a:extLst>
                          </a:hlinkClick>
                        </a:rPr>
                        <a:t>PQC</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94719372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26" action="ppaction://hlinksldjump">
                            <a:extLst>
                              <a:ext uri="{A12FA001-AC4F-418D-AE19-62706E023703}">
                                <ahyp:hlinkClr xmlns:ahyp="http://schemas.microsoft.com/office/drawing/2018/hyperlinkcolor" val="tx"/>
                              </a:ext>
                            </a:extLst>
                          </a:hlinkClick>
                        </a:rPr>
                        <a:t>KUL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9658543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499115835"/>
              </p:ext>
            </p:extLst>
          </p:nvPr>
        </p:nvGraphicFramePr>
        <p:xfrm>
          <a:off x="114028" y="3010332"/>
          <a:ext cx="2100805" cy="229769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S.E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r>
                        <a:rPr lang="en-US" sz="900" dirty="0">
                          <a:solidFill>
                            <a:srgbClr val="7030A0"/>
                          </a:solidFill>
                        </a:rPr>
                        <a:t>DPS</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덴파사르</a:t>
                      </a:r>
                      <a:r>
                        <a:rPr lang="ko-KR" altLang="en-US" sz="900" b="0" dirty="0">
                          <a:solidFill>
                            <a:srgbClr val="7030A0"/>
                          </a:solidFill>
                        </a:rPr>
                        <a:t> 발리</a:t>
                      </a:r>
                      <a:r>
                        <a:rPr lang="en-US" altLang="ko-KR" sz="900" b="0" dirty="0">
                          <a:solidFill>
                            <a:srgbClr val="7030A0"/>
                          </a:solidFill>
                        </a:rPr>
                        <a:t>/</a:t>
                      </a:r>
                      <a:r>
                        <a:rPr lang="ko-KR" altLang="en-US" sz="900" b="0" dirty="0" err="1">
                          <a:solidFill>
                            <a:srgbClr val="7030A0"/>
                          </a:solidFill>
                        </a:rPr>
                        <a:t>응우라라이</a:t>
                      </a: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r>
                        <a:rPr lang="en-US" sz="900" dirty="0">
                          <a:solidFill>
                            <a:srgbClr val="7030A0"/>
                          </a:solidFill>
                        </a:rPr>
                        <a:t>KTI</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프놈펜</a:t>
                      </a:r>
                      <a:r>
                        <a:rPr lang="en-US" altLang="ko-KR" sz="900" b="0" dirty="0">
                          <a:solidFill>
                            <a:srgbClr val="7030A0"/>
                          </a:solidFill>
                        </a:rPr>
                        <a:t>/</a:t>
                      </a:r>
                      <a:r>
                        <a:rPr lang="ko-KR" altLang="en-US" sz="900" b="0">
                          <a:solidFill>
                            <a:srgbClr val="7030A0"/>
                          </a:solidFill>
                        </a:rPr>
                        <a:t>테초</a:t>
                      </a:r>
                      <a:endParaRPr lang="ko-KR" altLang="en-US" sz="900" b="0" dirty="0">
                        <a:solidFill>
                          <a:srgbClr val="7030A0"/>
                        </a:solidFill>
                      </a:endParaRPr>
                    </a:p>
                  </a:txBody>
                  <a:tcPr marL="0" marR="0" marT="0" marB="0" anchor="ctr"/>
                </a:tc>
                <a:extLst>
                  <a:ext uri="{0D108BD9-81ED-4DB2-BD59-A6C34878D82A}">
                    <a16:rowId xmlns:a16="http://schemas.microsoft.com/office/drawing/2014/main" val="551135157"/>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686483843"/>
                  </a:ext>
                </a:extLst>
              </a:tr>
              <a:tr h="163628">
                <a:tc>
                  <a:txBody>
                    <a:bodyPr/>
                    <a:lstStyle/>
                    <a:p>
                      <a:pPr marL="0" marR="0" lvl="0" indent="0" algn="ctr" rtl="0">
                        <a:spcBef>
                          <a:spcPts val="0"/>
                        </a:spcBef>
                        <a:spcAft>
                          <a:spcPts val="0"/>
                        </a:spcAft>
                        <a:buNone/>
                      </a:pPr>
                      <a:r>
                        <a:rPr lang="en-US" sz="900" dirty="0">
                          <a:solidFill>
                            <a:srgbClr val="7030A0"/>
                          </a:solidFill>
                        </a:rPr>
                        <a:t>RGN</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양곤</a:t>
                      </a:r>
                    </a:p>
                  </a:txBody>
                  <a:tcPr marL="0" marR="0" marT="0" marB="0" anchor="ctr"/>
                </a:tc>
                <a:extLst>
                  <a:ext uri="{0D108BD9-81ED-4DB2-BD59-A6C34878D82A}">
                    <a16:rowId xmlns:a16="http://schemas.microsoft.com/office/drawing/2014/main" val="4151894381"/>
                  </a:ext>
                </a:extLst>
              </a:tr>
              <a:tr h="163628">
                <a:tc>
                  <a:txBody>
                    <a:bodyPr/>
                    <a:lstStyle/>
                    <a:p>
                      <a:pPr marL="0" marR="0" lvl="0" indent="0" algn="ctr" rtl="0">
                        <a:spcBef>
                          <a:spcPts val="0"/>
                        </a:spcBef>
                        <a:spcAft>
                          <a:spcPts val="0"/>
                        </a:spcAft>
                        <a:buNone/>
                      </a:pPr>
                      <a:r>
                        <a:rPr lang="en-US" sz="900" dirty="0">
                          <a:solidFill>
                            <a:srgbClr val="7030A0"/>
                          </a:solidFill>
                        </a:rPr>
                        <a:t>PQC</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err="1">
                          <a:solidFill>
                            <a:srgbClr val="7030A0"/>
                          </a:solidFill>
                        </a:rPr>
                        <a:t>푸꾸옥</a:t>
                      </a:r>
                      <a:endParaRPr lang="ko-KR" altLang="en-US" sz="900" b="0" dirty="0">
                        <a:solidFill>
                          <a:srgbClr val="7030A0"/>
                        </a:solidFill>
                      </a:endParaRPr>
                    </a:p>
                  </a:txBody>
                  <a:tcPr marL="0" marR="0" marT="0" marB="0" anchor="ctr"/>
                </a:tc>
                <a:extLst>
                  <a:ext uri="{0D108BD9-81ED-4DB2-BD59-A6C34878D82A}">
                    <a16:rowId xmlns:a16="http://schemas.microsoft.com/office/drawing/2014/main" val="1333652893"/>
                  </a:ext>
                </a:extLst>
              </a:tr>
              <a:tr h="163628">
                <a:tc>
                  <a:txBody>
                    <a:bodyPr/>
                    <a:lstStyle/>
                    <a:p>
                      <a:pPr marL="0" marR="0" lvl="0" indent="0" algn="ctr" rtl="0">
                        <a:spcBef>
                          <a:spcPts val="0"/>
                        </a:spcBef>
                        <a:spcAft>
                          <a:spcPts val="0"/>
                        </a:spcAft>
                        <a:buNone/>
                      </a:pPr>
                      <a:r>
                        <a:rPr lang="en-US" sz="900" dirty="0">
                          <a:solidFill>
                            <a:srgbClr val="7030A0"/>
                          </a:solidFill>
                        </a:rPr>
                        <a:t>KUL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쿠알라룸푸르</a:t>
                      </a:r>
                    </a:p>
                  </a:txBody>
                  <a:tcPr marL="0" marR="0" marT="0" marB="0" anchor="ctr"/>
                </a:tc>
                <a:extLst>
                  <a:ext uri="{0D108BD9-81ED-4DB2-BD59-A6C34878D82A}">
                    <a16:rowId xmlns:a16="http://schemas.microsoft.com/office/drawing/2014/main" val="2030899052"/>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360448728"/>
              </p:ext>
            </p:extLst>
          </p:nvPr>
        </p:nvGraphicFramePr>
        <p:xfrm>
          <a:off x="0" y="3"/>
          <a:ext cx="2328875" cy="317359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179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0" marB="0"/>
                </a:tc>
                <a:extLst>
                  <a:ext uri="{0D108BD9-81ED-4DB2-BD59-A6C34878D82A}">
                    <a16:rowId xmlns:a16="http://schemas.microsoft.com/office/drawing/2014/main" val="10000"/>
                  </a:ext>
                </a:extLst>
              </a:tr>
              <a:tr h="1215347">
                <a:tc>
                  <a:txBody>
                    <a:bodyPr/>
                    <a:lstStyle/>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손님</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여러분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안녕하십니까</a:t>
                      </a:r>
                      <a:r>
                        <a:rPr lang="en-US" sz="800" b="1" dirty="0">
                          <a:latin typeface="Gulim" panose="020B0600000101010101" pitchFamily="34" charset="-127"/>
                          <a:ea typeface="Gulim" panose="020B0600000101010101" pitchFamily="34" charset="-127"/>
                          <a:cs typeface="Calibri"/>
                          <a:sym typeface="Calibri"/>
                        </a:rPr>
                        <a:t>? </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저는</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여러분을 모시고 가는 </a:t>
                      </a:r>
                      <a:r>
                        <a:rPr lang="en-US" sz="800" b="1" dirty="0" err="1">
                          <a:latin typeface="Gulim" panose="020B0600000101010101" pitchFamily="34" charset="-127"/>
                          <a:ea typeface="Gulim" panose="020B0600000101010101" pitchFamily="34" charset="-127"/>
                          <a:cs typeface="Calibri"/>
                          <a:sym typeface="Calibri"/>
                        </a:rPr>
                        <a:t>기장</a:t>
                      </a:r>
                      <a:r>
                        <a:rPr lang="en-US" sz="800" b="1" dirty="0">
                          <a:latin typeface="Gulim" panose="020B0600000101010101" pitchFamily="34" charset="-127"/>
                          <a:ea typeface="Gulim" panose="020B0600000101010101" pitchFamily="34" charset="-127"/>
                          <a:cs typeface="Calibri"/>
                          <a:sym typeface="Calibri"/>
                        </a:rPr>
                        <a:t> ___</a:t>
                      </a:r>
                      <a:r>
                        <a:rPr lang="en-US" sz="800" b="1" dirty="0" err="1">
                          <a:latin typeface="Gulim" panose="020B0600000101010101" pitchFamily="34" charset="-127"/>
                          <a:ea typeface="Gulim" panose="020B0600000101010101" pitchFamily="34" charset="-127"/>
                          <a:cs typeface="Calibri"/>
                          <a:sym typeface="Calibri"/>
                        </a:rPr>
                        <a:t>입니다</a:t>
                      </a:r>
                      <a:r>
                        <a:rPr lang="en-US"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err="1">
                          <a:latin typeface="Gulim" panose="020B0600000101010101" pitchFamily="34" charset="-127"/>
                          <a:ea typeface="Gulim" panose="020B0600000101010101" pitchFamily="34" charset="-127"/>
                          <a:cs typeface="Calibri"/>
                          <a:sym typeface="Calibri"/>
                        </a:rPr>
                        <a:t>저희</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대한항공을</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이용해</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주셔서</a:t>
                      </a:r>
                      <a:r>
                        <a:rPr lang="en-US" sz="800" b="1" dirty="0">
                          <a:latin typeface="Gulim" panose="020B0600000101010101" pitchFamily="34" charset="-127"/>
                          <a:ea typeface="Gulim" panose="020B0600000101010101" pitchFamily="34" charset="-127"/>
                          <a:cs typeface="Calibri"/>
                          <a:sym typeface="Calibri"/>
                        </a:rPr>
                        <a:t> </a:t>
                      </a:r>
                      <a:r>
                        <a:rPr lang="en-US" sz="800" b="1" dirty="0" err="1">
                          <a:latin typeface="Gulim" panose="020B0600000101010101" pitchFamily="34" charset="-127"/>
                          <a:ea typeface="Gulim" panose="020B0600000101010101" pitchFamily="34" charset="-127"/>
                          <a:cs typeface="Calibri"/>
                          <a:sym typeface="Calibri"/>
                        </a:rPr>
                        <a:t>대단</a:t>
                      </a:r>
                      <a:r>
                        <a:rPr lang="ko-KR" altLang="en-US" sz="800" b="1" dirty="0">
                          <a:latin typeface="Gulim" panose="020B0600000101010101" pitchFamily="34" charset="-127"/>
                          <a:ea typeface="Gulim" panose="020B0600000101010101" pitchFamily="34" charset="-127"/>
                          <a:cs typeface="Calibri"/>
                          <a:sym typeface="Calibri"/>
                        </a:rPr>
                        <a:t>히 고맙습니다</a:t>
                      </a:r>
                      <a:r>
                        <a:rPr lang="en-US" altLang="ko-KR" sz="800" b="1" dirty="0">
                          <a:latin typeface="Gulim" panose="020B0600000101010101" pitchFamily="34" charset="-127"/>
                          <a:ea typeface="Gulim" panose="020B0600000101010101" pitchFamily="34" charset="-127"/>
                          <a:cs typeface="Calibri"/>
                          <a:sym typeface="Calibri"/>
                        </a:rPr>
                        <a:t>.</a:t>
                      </a:r>
                      <a:endParaRPr lang="ko-Kore-KR" altLang="en-US" sz="800" dirty="0">
                        <a:latin typeface="Gulim" panose="020B0600000101010101" pitchFamily="34" charset="-127"/>
                        <a:ea typeface="Gulim" panose="020B0600000101010101" pitchFamily="34" charset="-127"/>
                      </a:endParaRPr>
                    </a:p>
                    <a:p>
                      <a:pPr marL="0" marR="0" lvl="0" indent="0" algn="l" rtl="0">
                        <a:lnSpc>
                          <a:spcPct val="100000"/>
                        </a:lnSpc>
                        <a:spcBef>
                          <a:spcPts val="0"/>
                        </a:spcBef>
                        <a:spcAft>
                          <a:spcPts val="0"/>
                        </a:spcAft>
                        <a:buNone/>
                      </a:pPr>
                      <a:r>
                        <a:rPr lang="en-US" sz="800" b="1" dirty="0">
                          <a:latin typeface="Gulim" panose="020B0600000101010101" pitchFamily="34" charset="-127"/>
                          <a:ea typeface="Gulim" panose="020B0600000101010101" pitchFamily="34" charset="-127"/>
                          <a:cs typeface="Calibri"/>
                          <a:sym typeface="Calibri"/>
                        </a:rPr>
                        <a:t>___ (</a:t>
                      </a:r>
                      <a:r>
                        <a:rPr lang="en-US" sz="800" b="1" dirty="0" err="1">
                          <a:latin typeface="Gulim" panose="020B0600000101010101" pitchFamily="34" charset="-127"/>
                          <a:ea typeface="Gulim" panose="020B0600000101010101" pitchFamily="34" charset="-127"/>
                          <a:cs typeface="Calibri"/>
                          <a:sym typeface="Calibri"/>
                        </a:rPr>
                        <a:t>국제</a:t>
                      </a:r>
                      <a:r>
                        <a:rPr lang="en-US" sz="800" b="1" dirty="0">
                          <a:latin typeface="Gulim" panose="020B0600000101010101" pitchFamily="34" charset="-127"/>
                          <a:ea typeface="Gulim" panose="020B0600000101010101" pitchFamily="34" charset="-127"/>
                          <a:cs typeface="Calibri"/>
                          <a:sym typeface="Calibri"/>
                        </a:rPr>
                        <a:t>)</a:t>
                      </a:r>
                      <a:r>
                        <a:rPr lang="en-US" sz="800" b="1" dirty="0" err="1">
                          <a:latin typeface="Gulim" panose="020B0600000101010101" pitchFamily="34" charset="-127"/>
                          <a:ea typeface="Gulim" panose="020B0600000101010101" pitchFamily="34" charset="-127"/>
                          <a:cs typeface="Calibri"/>
                          <a:sym typeface="Calibri"/>
                        </a:rPr>
                        <a:t>공항까지</a:t>
                      </a:r>
                      <a:r>
                        <a:rPr lang="en-US" sz="800" b="1" dirty="0">
                          <a:latin typeface="Gulim" panose="020B0600000101010101" pitchFamily="34" charset="-127"/>
                          <a:ea typeface="Gulim" panose="020B0600000101010101" pitchFamily="34" charset="-127"/>
                          <a:cs typeface="Calibri"/>
                          <a:sym typeface="Calibri"/>
                        </a:rPr>
                        <a:t> </a:t>
                      </a:r>
                      <a:r>
                        <a:rPr lang="ko-KR" altLang="en-US" sz="800" b="1" dirty="0">
                          <a:latin typeface="Gulim" panose="020B0600000101010101" pitchFamily="34" charset="-127"/>
                          <a:ea typeface="Gulim" panose="020B0600000101010101" pitchFamily="34" charset="-127"/>
                          <a:cs typeface="Calibri"/>
                          <a:sym typeface="Calibri"/>
                        </a:rPr>
                        <a:t>비행시간은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시간 </a:t>
                      </a:r>
                      <a:r>
                        <a:rPr lang="en-US" altLang="ko-KR" sz="800" b="1" dirty="0">
                          <a:latin typeface="Gulim" panose="020B0600000101010101" pitchFamily="34" charset="-127"/>
                          <a:ea typeface="Gulim" panose="020B0600000101010101" pitchFamily="34" charset="-127"/>
                          <a:cs typeface="Calibri"/>
                          <a:sym typeface="Calibri"/>
                        </a:rPr>
                        <a:t>___</a:t>
                      </a:r>
                      <a:r>
                        <a:rPr lang="ko-KR" altLang="en-US" sz="800" b="1" dirty="0">
                          <a:latin typeface="Gulim" panose="020B0600000101010101" pitchFamily="34" charset="-127"/>
                          <a:ea typeface="Gulim" panose="020B0600000101010101" pitchFamily="34" charset="-127"/>
                          <a:cs typeface="Calibri"/>
                          <a:sym typeface="Calibri"/>
                        </a:rPr>
                        <a:t>분 </a:t>
                      </a:r>
                      <a:r>
                        <a:rPr lang="ko-KR" altLang="en-US" sz="800" b="1" dirty="0" err="1">
                          <a:latin typeface="Gulim" panose="020B0600000101010101" pitchFamily="34" charset="-127"/>
                          <a:ea typeface="Gulim" panose="020B0600000101010101" pitchFamily="34" charset="-127"/>
                          <a:cs typeface="Calibri"/>
                          <a:sym typeface="Calibri"/>
                        </a:rPr>
                        <a:t>으로</a:t>
                      </a:r>
                      <a:r>
                        <a:rPr lang="ko-KR" altLang="en-US" sz="800" b="1" dirty="0">
                          <a:latin typeface="Gulim" panose="020B0600000101010101" pitchFamily="34" charset="-127"/>
                          <a:ea typeface="Gulim" panose="020B0600000101010101" pitchFamily="34" charset="-127"/>
                          <a:cs typeface="Calibri"/>
                          <a:sym typeface="Calibri"/>
                        </a:rPr>
                        <a:t> 예상됩니다</a:t>
                      </a:r>
                      <a:r>
                        <a:rPr lang="en-US" altLang="ko-KR" sz="800" b="1" dirty="0">
                          <a:latin typeface="Gulim" panose="020B0600000101010101" pitchFamily="34" charset="-127"/>
                          <a:ea typeface="Gulim" panose="020B0600000101010101" pitchFamily="34" charset="-127"/>
                          <a:cs typeface="Calibri"/>
                          <a:sym typeface="Calibri"/>
                        </a:rPr>
                        <a:t>.</a:t>
                      </a: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비행 중에는 항공기가 갑자기 흔들릴 수도 있으니</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자리에 않아 계실 때에는 항상 좌석벨트를 매주시기 바랍니다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a:t>
                      </a:r>
                      <a:endParaRPr lang="en-US" altLang="ko-K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en-US" altLang="ko-Kore-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저희 승무원 모두는</a:t>
                      </a:r>
                      <a:r>
                        <a:rPr lang="en-US" altLang="ko-KR"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p>
                      <a:pPr marL="0" marR="0" lvl="0" indent="0" algn="l" rtl="0">
                        <a:lnSpc>
                          <a:spcPct val="100000"/>
                        </a:lnSpc>
                        <a:spcBef>
                          <a:spcPts val="0"/>
                        </a:spcBef>
                        <a:spcAft>
                          <a:spcPts val="0"/>
                        </a:spcAft>
                        <a:buNone/>
                      </a:pPr>
                      <a:r>
                        <a:rPr lang="ko-KR" altLang="en-US" sz="800" b="1" dirty="0">
                          <a:latin typeface="Gulim" panose="020B0600000101010101" pitchFamily="34" charset="-127"/>
                          <a:ea typeface="Gulim" panose="020B0600000101010101" pitchFamily="34" charset="-127"/>
                          <a:cs typeface="Calibri"/>
                          <a:sym typeface="Calibri"/>
                        </a:rPr>
                        <a:t>저는 여러분을 안전하게 모시기 위해 최선을 다하겠습니다</a:t>
                      </a:r>
                      <a:r>
                        <a:rPr lang="en-US" altLang="ko-KR" sz="800" b="1" dirty="0">
                          <a:latin typeface="Gulim" panose="020B0600000101010101" pitchFamily="34" charset="-127"/>
                          <a:ea typeface="Gulim" panose="020B0600000101010101" pitchFamily="34" charset="-127"/>
                          <a:cs typeface="Calibri"/>
                          <a:sym typeface="Calibri"/>
                        </a:rPr>
                        <a:t>.</a:t>
                      </a:r>
                      <a:r>
                        <a:rPr lang="ko-KR" altLang="en-US" sz="800" b="1" dirty="0">
                          <a:latin typeface="Gulim" panose="020B0600000101010101" pitchFamily="34" charset="-127"/>
                          <a:ea typeface="Gulim" panose="020B0600000101010101" pitchFamily="34" charset="-127"/>
                          <a:cs typeface="Calibri"/>
                          <a:sym typeface="Calibri"/>
                        </a:rPr>
                        <a:t> 고맙습니다</a:t>
                      </a:r>
                      <a:r>
                        <a:rPr lang="en-US" sz="800" b="1" dirty="0">
                          <a:latin typeface="Gulim" panose="020B0600000101010101" pitchFamily="34" charset="-127"/>
                          <a:ea typeface="Gulim" panose="020B0600000101010101" pitchFamily="34" charset="-127"/>
                          <a:cs typeface="Calibri"/>
                          <a:sym typeface="Calibri"/>
                        </a:rPr>
                        <a:t>.</a:t>
                      </a:r>
                      <a:endParaRPr sz="800" b="1" dirty="0">
                        <a:latin typeface="Gulim" panose="020B0600000101010101" pitchFamily="34" charset="-127"/>
                        <a:ea typeface="Gulim" panose="020B0600000101010101" pitchFamily="34" charset="-127"/>
                        <a:cs typeface="Calibri"/>
                        <a:sym typeface="Calibri"/>
                      </a:endParaRPr>
                    </a:p>
                  </a:txBody>
                  <a:tcPr marL="36000" marR="36000" marT="0" marB="0" anchor="ctr"/>
                </a:tc>
                <a:extLst>
                  <a:ext uri="{0D108BD9-81ED-4DB2-BD59-A6C34878D82A}">
                    <a16:rowId xmlns:a16="http://schemas.microsoft.com/office/drawing/2014/main" val="10001"/>
                  </a:ext>
                </a:extLst>
              </a:tr>
              <a:tr h="1251545">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0" marB="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17131" y="48128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2030849835"/>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tx1"/>
                          </a:solidFill>
                          <a:latin typeface="Calibri"/>
                          <a:ea typeface="Calibri"/>
                          <a:cs typeface="Calibri"/>
                          <a:sym typeface="Calibri"/>
                        </a:rPr>
                        <a:t>Oceania</a:t>
                      </a:r>
                      <a:endParaRPr sz="24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3365959265"/>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chemeClr val="tx1"/>
                          </a:solidFill>
                          <a:latin typeface="Calibri"/>
                          <a:ea typeface="Calibri"/>
                          <a:cs typeface="Calibri"/>
                          <a:sym typeface="Calibri"/>
                        </a:rPr>
                        <a:t>Mongo, ME Asia</a:t>
                      </a:r>
                      <a:endParaRPr sz="20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15521"/>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FCC2624-E781-95C1-E0B0-9B50AE82A2A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879618775"/>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TTE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1514582562"/>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460565506"/>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18347175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6"/>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pic>
        <p:nvPicPr>
          <p:cNvPr id="9" name="그림 8" descr="텍스트, 도표, 폰트, 스크린샷이(가) 표시된 사진&#10;&#10;자동 생성된 설명">
            <a:extLst>
              <a:ext uri="{FF2B5EF4-FFF2-40B4-BE49-F238E27FC236}">
                <a16:creationId xmlns:a16="http://schemas.microsoft.com/office/drawing/2014/main" id="{5AAE61DA-EABE-45F6-7BE8-656B4FC1438C}"/>
              </a:ext>
            </a:extLst>
          </p:cNvPr>
          <p:cNvPicPr>
            <a:picLocks noChangeAspect="1"/>
          </p:cNvPicPr>
          <p:nvPr/>
        </p:nvPicPr>
        <p:blipFill>
          <a:blip r:embed="rId9"/>
          <a:stretch>
            <a:fillRect/>
          </a:stretch>
        </p:blipFill>
        <p:spPr>
          <a:xfrm>
            <a:off x="1" y="2689627"/>
            <a:ext cx="973712" cy="744177"/>
          </a:xfrm>
          <a:prstGeom prst="rect">
            <a:avLst/>
          </a:prstGeom>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97766668"/>
              </p:ext>
            </p:extLst>
          </p:nvPr>
        </p:nvGraphicFramePr>
        <p:xfrm>
          <a:off x="4472" y="3760299"/>
          <a:ext cx="2331400" cy="1792570"/>
        </p:xfrm>
        <a:graphic>
          <a:graphicData uri="http://schemas.openxmlformats.org/drawingml/2006/table">
            <a:tbl>
              <a:tblPr firstRow="1" bandRow="1">
                <a:noFill/>
                <a:tableStyleId>{A521BE36-7E6F-4EC9-8D66-1CF97A6895EC}</a:tableStyleId>
              </a:tblPr>
              <a:tblGrid>
                <a:gridCol w="456115">
                  <a:extLst>
                    <a:ext uri="{9D8B030D-6E8A-4147-A177-3AD203B41FA5}">
                      <a16:colId xmlns:a16="http://schemas.microsoft.com/office/drawing/2014/main" val="20000"/>
                    </a:ext>
                  </a:extLst>
                </a:gridCol>
                <a:gridCol w="70958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a:t>
                      </a:r>
                      <a:r>
                        <a:rPr lang="en-US" altLang="ko-KR" sz="800" dirty="0">
                          <a:solidFill>
                            <a:srgbClr val="00B0F0"/>
                          </a:solidFill>
                        </a:rPr>
                        <a:t>9</a:t>
                      </a:r>
                      <a:r>
                        <a:rPr lang="en-US" sz="800" dirty="0">
                          <a:solidFill>
                            <a:srgbClr val="00B0F0"/>
                          </a:solidFill>
                        </a:rPr>
                        <a:t>/23</a:t>
                      </a:r>
                      <a:r>
                        <a:rPr lang="en-US" altLang="ko-KR" sz="800" dirty="0">
                          <a:solidFill>
                            <a:srgbClr val="00B0F0"/>
                          </a:solidFill>
                        </a:rPr>
                        <a:t>9</a:t>
                      </a:r>
                      <a:r>
                        <a:rPr lang="en-US" sz="800" dirty="0">
                          <a:solidFill>
                            <a:srgbClr val="00B0F0"/>
                          </a:solidFill>
                        </a:rPr>
                        <a:t>]</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06R</a:t>
                      </a:r>
                      <a:r>
                        <a:rPr lang="en-US" sz="800" b="0" dirty="0"/>
                        <a:t>/L</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B</a:t>
                      </a:r>
                    </a:p>
                    <a:p>
                      <a:pPr marL="0" marR="0" lvl="0" indent="0" algn="ctr" rtl="0">
                        <a:spcBef>
                          <a:spcPts val="0"/>
                        </a:spcBef>
                        <a:spcAft>
                          <a:spcPts val="0"/>
                        </a:spcAft>
                        <a:buNone/>
                      </a:pPr>
                      <a:r>
                        <a:rPr lang="en-US" sz="800" b="0" dirty="0"/>
                        <a:t>ATMUG A</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BERRY</a:t>
                      </a:r>
                    </a:p>
                    <a:p>
                      <a:pPr marL="0" marR="0" lvl="0" indent="0" algn="ctr" rtl="0">
                        <a:spcBef>
                          <a:spcPts val="0"/>
                        </a:spcBef>
                        <a:spcAft>
                          <a:spcPts val="0"/>
                        </a:spcAft>
                        <a:buNone/>
                      </a:pPr>
                      <a:r>
                        <a:rPr lang="en-US" sz="800" b="0" dirty="0"/>
                        <a:t>ATVID</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Z 06R</a:t>
                      </a:r>
                      <a:r>
                        <a:rPr lang="en-US" sz="800" b="0" dirty="0"/>
                        <a:t>/L</a:t>
                      </a:r>
                      <a:endParaRPr sz="800" b="0" dirty="0"/>
                    </a:p>
                  </a:txBody>
                  <a:tcPr marL="36000" marR="36000" marT="36000" marB="36000" anchor="ctr"/>
                </a:tc>
                <a:extLst>
                  <a:ext uri="{0D108BD9-81ED-4DB2-BD59-A6C34878D82A}">
                    <a16:rowId xmlns:a16="http://schemas.microsoft.com/office/drawing/2014/main" val="10001"/>
                  </a:ext>
                </a:extLst>
              </a:tr>
              <a:tr h="145629">
                <a:tc>
                  <a:txBody>
                    <a:bodyPr/>
                    <a:lstStyle/>
                    <a:p>
                      <a:pPr marL="0" marR="0" lvl="0" indent="0" algn="ctr" rtl="0">
                        <a:spcBef>
                          <a:spcPts val="0"/>
                        </a:spcBef>
                        <a:spcAft>
                          <a:spcPts val="0"/>
                        </a:spcAft>
                        <a:buNone/>
                      </a:pPr>
                      <a:r>
                        <a:rPr lang="en-US" sz="800" b="1" dirty="0"/>
                        <a:t>24L</a:t>
                      </a:r>
                      <a:r>
                        <a:rPr lang="en-US" sz="800" b="0" dirty="0"/>
                        <a:t>/R</a:t>
                      </a:r>
                      <a:endParaRPr sz="800" b="0"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ATMUG M/C</a:t>
                      </a:r>
                    </a:p>
                    <a:p>
                      <a:pPr marL="0" marR="0" lvl="0" indent="0" algn="ctr" rtl="0">
                        <a:spcBef>
                          <a:spcPts val="0"/>
                        </a:spcBef>
                        <a:spcAft>
                          <a:spcPts val="0"/>
                        </a:spcAft>
                        <a:buNone/>
                      </a:pPr>
                      <a:r>
                        <a:rPr lang="en-US" sz="800" b="0" dirty="0"/>
                        <a:t>ATMUG D/E</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MAYAH</a:t>
                      </a:r>
                    </a:p>
                    <a:p>
                      <a:pPr marL="0" marR="0" lvl="0" indent="0" algn="ctr" rtl="0">
                        <a:spcBef>
                          <a:spcPts val="0"/>
                        </a:spcBef>
                        <a:spcAft>
                          <a:spcPts val="0"/>
                        </a:spcAft>
                        <a:buNone/>
                      </a:pPr>
                      <a:r>
                        <a:rPr lang="en-US" sz="800" b="0" dirty="0">
                          <a:solidFill>
                            <a:srgbClr val="0070C0"/>
                          </a:solidFill>
                        </a:rPr>
                        <a:t>D/E Night</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Z 24L/R</a:t>
                      </a:r>
                      <a:endParaRPr sz="800" b="1" dirty="0"/>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06L : B8(5160’), B6(6751’), 24R : B7(5318’), B9(6751’)</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24L Downslope</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RWY06 : After 2500ft L/G DN, After 1500ft L/D FLAP</a:t>
                      </a:r>
                      <a:endParaRPr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latin typeface="Gulim" panose="020B0600000101010101" pitchFamily="34" charset="-127"/>
                <a:ea typeface="Gulim" panose="020B0600000101010101" pitchFamily="34" charset="-127"/>
              </a:rPr>
              <a:t>TKO 133.8</a:t>
            </a:r>
          </a:p>
          <a:p>
            <a:pPr>
              <a:lnSpc>
                <a:spcPct val="150000"/>
              </a:lnSpc>
            </a:pPr>
            <a:r>
              <a:rPr kumimoji="1" lang="en-US" altLang="ko-Kore-KR" sz="700" b="1" u="sng" dirty="0">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31721779"/>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06L</a:t>
                      </a:r>
                      <a:r>
                        <a:rPr lang="en-US" sz="800" b="0" dirty="0"/>
                        <a:t>/R</a:t>
                      </a:r>
                      <a:endParaRPr sz="800" b="0"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RINKU x</a:t>
                      </a:r>
                      <a:endParaRPr sz="800" b="1" dirty="0">
                        <a:solidFill>
                          <a:srgbClr val="0070C0"/>
                        </a:solidFill>
                      </a:endParaRPr>
                    </a:p>
                    <a:p>
                      <a:pPr marL="0" marR="0" lvl="0" indent="0" algn="ctr" rtl="0">
                        <a:spcBef>
                          <a:spcPts val="0"/>
                        </a:spcBef>
                        <a:spcAft>
                          <a:spcPts val="0"/>
                        </a:spcAft>
                        <a:buNone/>
                      </a:pPr>
                      <a:r>
                        <a:rPr lang="en-US" sz="800" dirty="0"/>
                        <a:t>- SOUJA </a:t>
                      </a:r>
                      <a:r>
                        <a:rPr lang="en-US" sz="800" dirty="0" err="1"/>
                        <a:t>tx</a:t>
                      </a:r>
                      <a:endParaRPr sz="800" dirty="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24R</a:t>
                      </a:r>
                      <a:r>
                        <a:rPr lang="en-US" sz="800" b="0" dirty="0"/>
                        <a:t>/L</a:t>
                      </a:r>
                      <a:endParaRPr sz="800" b="0"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a:t>
                      </a:r>
                      <a:r>
                        <a:rPr lang="en-US" sz="800" b="1" dirty="0">
                          <a:solidFill>
                            <a:srgbClr val="0070C0"/>
                          </a:solidFill>
                        </a:rPr>
                        <a:t>TAXI RTE 1(via J4), 2(via J3)</a:t>
                      </a:r>
                      <a:endParaRPr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a:t>
            </a:r>
          </a:p>
          <a:p>
            <a:pPr>
              <a:lnSpc>
                <a:spcPct val="150000"/>
              </a:lnSpc>
            </a:pPr>
            <a:r>
              <a:rPr kumimoji="1" lang="en-US" altLang="ko-KR" sz="700" b="1" u="sng" dirty="0">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latin typeface="Gulim" panose="020B0600000101010101" pitchFamily="34" charset="-127"/>
                <a:ea typeface="Gulim" panose="020B0600000101010101" pitchFamily="34" charset="-127"/>
              </a:rPr>
              <a:t>FUK 124.15</a:t>
            </a: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184"/>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01C0916-67C6-33D9-879E-9C9DA320619D}"/>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496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78C43CE0-36E4-0AF6-2E54-CF306B6F8B82}"/>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976296007"/>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TTE,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TTE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TTE 178</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134.17 – FUK</a:t>
            </a:r>
            <a:r>
              <a:rPr kumimoji="1" lang="en-US" altLang="ko-Kore-KR" sz="700" b="1" u="sng" dirty="0">
                <a:latin typeface="Gulim" panose="020B0600000101010101" pitchFamily="34" charset="-127"/>
                <a:ea typeface="Gulim" panose="020B0600000101010101" pitchFamily="34" charset="-127"/>
              </a:rPr>
              <a:t> 133.02  </a:t>
            </a:r>
          </a:p>
          <a:p>
            <a:pPr>
              <a:lnSpc>
                <a:spcPct val="150000"/>
              </a:lnSpc>
            </a:pPr>
            <a:r>
              <a:rPr kumimoji="1" lang="en-US" altLang="ko-Kore-KR" sz="700" b="1" u="sng" dirty="0">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latin typeface="Gulim" panose="020B0600000101010101" pitchFamily="34" charset="-127"/>
                <a:ea typeface="Gulim" panose="020B0600000101010101" pitchFamily="34" charset="-127"/>
              </a:rPr>
              <a:t>TKO APP 119.1 – 119.65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extLst>
              <p:ext uri="{D42A27DB-BD31-4B8C-83A1-F6EECF244321}">
                <p14:modId xmlns:p14="http://schemas.microsoft.com/office/powerpoint/2010/main" val="2064894858"/>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TTE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extLst>
              <p:ext uri="{D42A27DB-BD31-4B8C-83A1-F6EECF244321}">
                <p14:modId xmlns:p14="http://schemas.microsoft.com/office/powerpoint/2010/main" val="3302484684"/>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TTE 178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latin typeface="Gulim" panose="020B0600000101010101" pitchFamily="34" charset="-127"/>
                <a:ea typeface="Gulim" panose="020B0600000101010101" pitchFamily="34" charset="-127"/>
              </a:rPr>
              <a:t>TKO 120.5 – FUK 133.02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305581196"/>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TTE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117.4</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TTE 346/1.2, R095, 34R : TTE R071, R095, 22 : TTE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2617"/>
            <a:ext cx="457200" cy="457200"/>
          </a:xfrm>
          <a:prstGeom prst="rect">
            <a:avLst/>
          </a:prstGeom>
          <a:effectLst>
            <a:outerShdw blurRad="50800" dist="50800" dir="3660000" algn="ctr" rotWithShape="0">
              <a:schemeClr val="bg1">
                <a:alpha val="82714"/>
              </a:schemeClr>
            </a:outerShdw>
          </a:effectLst>
        </p:spPr>
      </p:pic>
      <p:pic>
        <p:nvPicPr>
          <p:cNvPr id="7" name="그림 6" descr="텍스트, 도표, 폰트, 스크린샷이(가) 표시된 사진&#10;&#10;자동 생성된 설명">
            <a:extLst>
              <a:ext uri="{FF2B5EF4-FFF2-40B4-BE49-F238E27FC236}">
                <a16:creationId xmlns:a16="http://schemas.microsoft.com/office/drawing/2014/main" id="{CBE4F2F1-4C9A-E184-62A3-F8EA85EBBF4E}"/>
              </a:ext>
            </a:extLst>
          </p:cNvPr>
          <p:cNvPicPr>
            <a:picLocks noChangeAspect="1"/>
          </p:cNvPicPr>
          <p:nvPr/>
        </p:nvPicPr>
        <p:blipFill>
          <a:blip r:embed="rId8"/>
          <a:stretch>
            <a:fillRect/>
          </a:stretch>
        </p:blipFill>
        <p:spPr>
          <a:xfrm>
            <a:off x="-2501" y="2229999"/>
            <a:ext cx="953780" cy="728943"/>
          </a:xfrm>
          <a:prstGeom prst="rect">
            <a:avLst/>
          </a:prstGeom>
        </p:spPr>
      </p:pic>
      <p:graphicFrame>
        <p:nvGraphicFramePr>
          <p:cNvPr id="4" name="Google Shape;283;p17">
            <a:extLst>
              <a:ext uri="{FF2B5EF4-FFF2-40B4-BE49-F238E27FC236}">
                <a16:creationId xmlns:a16="http://schemas.microsoft.com/office/drawing/2014/main" id="{7CE926EF-2955-EFE8-E1DB-12CAAC3F05A5}"/>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48655"/>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605B7DF-8A6B-ACE4-EBBD-78C25223B1F4}"/>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1853"/>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6995A1D0-6BC0-59D8-498C-1537F94121BC}"/>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124.7</a:t>
            </a:r>
          </a:p>
          <a:p>
            <a:pPr>
              <a:lnSpc>
                <a:spcPct val="150000"/>
              </a:lnSpc>
            </a:pPr>
            <a:r>
              <a:rPr kumimoji="1" lang="en-US" altLang="ko-KR" sz="700" b="1" u="sng" dirty="0">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latin typeface="Gulim" panose="020B0600000101010101" pitchFamily="34" charset="-127"/>
                <a:ea typeface="Gulim" panose="020B0600000101010101" pitchFamily="34" charset="-127"/>
              </a:rPr>
              <a:t>FUK 133.02 – 124.15 </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TGU 120.57</a:t>
            </a:r>
          </a:p>
          <a:p>
            <a:pPr>
              <a:lnSpc>
                <a:spcPct val="150000"/>
              </a:lnSpc>
            </a:pPr>
            <a:r>
              <a:rPr kumimoji="1" lang="en-US" altLang="ko-KR" sz="700" b="1" u="sng" dirty="0">
                <a:latin typeface="Gulim" panose="020B0600000101010101" pitchFamily="34" charset="-127"/>
                <a:ea typeface="Gulim" panose="020B0600000101010101" pitchFamily="34" charset="-127"/>
              </a:rPr>
              <a:t>APP 119.75</a:t>
            </a:r>
            <a:endParaRPr kumimoji="1" lang="ko-Kore-KR" altLang="en-US"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3993184712"/>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72985"/>
            <a:ext cx="1498808" cy="459613"/>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9750"/>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15204D4C-BEA5-EAB6-46B3-FEBC20C1800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56888552-4493-DABB-C1C9-B2A992A602E9}"/>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9076"/>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8250B686-D8C8-F6E8-5889-31A0E1A8FB3B}"/>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131716015"/>
              </p:ext>
            </p:extLst>
          </p:nvPr>
        </p:nvGraphicFramePr>
        <p:xfrm>
          <a:off x="55" y="359934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TL 108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a:t>
                      </a:r>
                      <a:r>
                        <a:rPr lang="en-US" altLang="ko-Kore-KR" sz="800" b="0" dirty="0">
                          <a:solidFill>
                            <a:schemeClr val="bg1"/>
                          </a:solidFill>
                        </a:rPr>
                        <a:t>L</a:t>
                      </a:r>
                      <a:r>
                        <a:rPr lang="en-US" altLang="ko-Kore-KR" sz="800" b="1" dirty="0">
                          <a:solidFill>
                            <a:schemeClr val="bg1"/>
                          </a:solidFill>
                        </a:rPr>
                        <a:t>,</a:t>
                      </a:r>
                      <a:r>
                        <a:rPr lang="en-US" sz="800" b="1" dirty="0">
                          <a:solidFill>
                            <a:schemeClr val="bg1"/>
                          </a:solidFill>
                        </a:rPr>
                        <a:t>01L</a:t>
                      </a:r>
                      <a:r>
                        <a:rPr lang="en-US" sz="800" b="0" dirty="0">
                          <a:solidFill>
                            <a:schemeClr val="bg1"/>
                          </a:solidFill>
                        </a:rPr>
                        <a:t>/R</a:t>
                      </a:r>
                      <a:endParaRPr sz="800" b="0" dirty="0">
                        <a:solidFill>
                          <a:schemeClr val="bg1"/>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chemeClr val="bg1"/>
                          </a:solidFill>
                        </a:rPr>
                        <a:t>,19R</a:t>
                      </a:r>
                      <a:r>
                        <a:rPr lang="en-US" altLang="ko-KR" sz="800" b="0" dirty="0">
                          <a:solidFill>
                            <a:schemeClr val="bg1"/>
                          </a:solidFill>
                        </a:rPr>
                        <a:t>/</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01L:N5(6453’),N4(7755’), 19R:N8(6423’),N9(7742’)</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Caution Cross RWY Intermediate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but Remain, </a:t>
                      </a:r>
                      <a:r>
                        <a:rPr lang="en-US" altLang="ko-KR" sz="800" b="1" dirty="0">
                          <a:solidFill>
                            <a:srgbClr val="C00000"/>
                          </a:solidFill>
                        </a:rPr>
                        <a:t>FLAP 0 for Refuel</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extLst>
              <p:ext uri="{D42A27DB-BD31-4B8C-83A1-F6EECF244321}">
                <p14:modId xmlns:p14="http://schemas.microsoft.com/office/powerpoint/2010/main" val="236181943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extLst>
              <p:ext uri="{D42A27DB-BD31-4B8C-83A1-F6EECF244321}">
                <p14:modId xmlns:p14="http://schemas.microsoft.com/office/powerpoint/2010/main" val="945612177"/>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4652A3C8-BD58-C163-44E3-0A03B919649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38A1B484-8980-63B1-2B41-EA5BA6DF2B4A}"/>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491101299"/>
              </p:ext>
            </p:extLst>
          </p:nvPr>
        </p:nvGraphicFramePr>
        <p:xfrm>
          <a:off x="-4046" y="682516"/>
          <a:ext cx="2334602" cy="186457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CAN : TA 8900 SID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chemeClr val="bg1"/>
                          </a:solidFill>
                        </a:rPr>
                        <a:t>01R</a:t>
                      </a:r>
                      <a:r>
                        <a:rPr lang="en-US" altLang="ko-KR" sz="800" b="0" u="none" strike="noStrike" cap="none" dirty="0">
                          <a:solidFill>
                            <a:schemeClr val="bg1"/>
                          </a:solidFill>
                        </a:rPr>
                        <a:t>/</a:t>
                      </a:r>
                      <a:r>
                        <a:rPr lang="en-US" altLang="ko-KR" sz="800" b="1" u="none" strike="noStrike" cap="none" dirty="0">
                          <a:solidFill>
                            <a:schemeClr val="bg1"/>
                          </a:solidFill>
                        </a:rPr>
                        <a:t>L</a:t>
                      </a:r>
                      <a:endParaRPr sz="800" b="0" u="none" strike="noStrike" cap="none" dirty="0">
                        <a:solidFill>
                          <a:schemeClr val="bg1"/>
                        </a:solidFill>
                      </a:endParaRPr>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chemeClr val="bg1"/>
                          </a:solidFill>
                        </a:rPr>
                        <a:t>19L</a:t>
                      </a:r>
                      <a:r>
                        <a:rPr lang="en-US" altLang="ko-Kore-KR"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a:t>HD 197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183843">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549528"/>
            <a:ext cx="1378904" cy="693899"/>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(DEP RWY)</a:t>
            </a: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570348"/>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52887"/>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ED3BB5D2-F6D9-5644-DA9B-7F55062C525D}"/>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graphicFrame>
        <p:nvGraphicFramePr>
          <p:cNvPr id="3" name="Google Shape;283;p17">
            <a:extLst>
              <a:ext uri="{FF2B5EF4-FFF2-40B4-BE49-F238E27FC236}">
                <a16:creationId xmlns:a16="http://schemas.microsoft.com/office/drawing/2014/main" id="{F1AD7E94-04C3-C8DF-1149-9AC5AD8DEB2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2988110"/>
            <a:ext cx="1887055"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125.15</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TGU</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132.8 – DLC 132.95</a:t>
            </a:r>
            <a:endParaRPr kumimoji="1" lang="en-US" altLang="ko-Kore-KR" sz="700" b="1" u="sng" dirty="0">
              <a:latin typeface="Gulim" panose="020B0600000101010101" pitchFamily="34" charset="-127"/>
              <a:ea typeface="Gulim" panose="020B0600000101010101" pitchFamily="34" charset="-127"/>
            </a:endParaRPr>
          </a:p>
          <a:p>
            <a:pPr>
              <a:lnSpc>
                <a:spcPct val="150000"/>
              </a:lnSpc>
            </a:pPr>
            <a:r>
              <a:rPr kumimoji="1" lang="en-US" altLang="ko-Kore-KR" sz="700" b="1" u="sng" dirty="0">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latin typeface="Gulim" panose="020B0600000101010101" pitchFamily="34" charset="-127"/>
                <a:ea typeface="Gulim" panose="020B0600000101010101" pitchFamily="34" charset="-127"/>
              </a:rPr>
              <a:t>TSN APP 119.27 </a:t>
            </a:r>
          </a:p>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119.27</a:t>
            </a:r>
          </a:p>
          <a:p>
            <a:pPr>
              <a:lnSpc>
                <a:spcPct val="150000"/>
              </a:lnSpc>
            </a:pPr>
            <a:r>
              <a:rPr kumimoji="1" lang="en-US" altLang="ko-Kore-KR" sz="700" b="1" u="sng" dirty="0">
                <a:latin typeface="Gulim" panose="020B0600000101010101" pitchFamily="34" charset="-127"/>
                <a:ea typeface="Gulim" panose="020B0600000101010101" pitchFamily="34" charset="-127"/>
              </a:rPr>
              <a:t>PEK 125.6</a:t>
            </a:r>
          </a:p>
          <a:p>
            <a:pPr>
              <a:lnSpc>
                <a:spcPct val="150000"/>
              </a:lnSpc>
            </a:pPr>
            <a:r>
              <a:rPr kumimoji="1" lang="en-US" altLang="ko-KR" sz="700" b="1" u="sng" dirty="0">
                <a:latin typeface="Gulim" panose="020B0600000101010101" pitchFamily="34" charset="-127"/>
                <a:ea typeface="Gulim" panose="020B0600000101010101" pitchFamily="34" charset="-127"/>
              </a:rPr>
              <a:t>DLC</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123.2 – </a:t>
            </a:r>
            <a:r>
              <a:rPr kumimoji="1" lang="en-US" altLang="ko-Kore-KR" sz="700" b="1" u="sng" dirty="0">
                <a:latin typeface="Gulim" panose="020B0600000101010101" pitchFamily="34" charset="-127"/>
                <a:ea typeface="Gulim" panose="020B0600000101010101" pitchFamily="34" charset="-127"/>
              </a:rPr>
              <a:t>132.95</a:t>
            </a: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722A2AD-126E-F46D-C046-E8A4EC830C40}"/>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386F00-8D5D-E8A4-F45E-4012C728BC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D202D59-F2D6-A9C1-A0A9-D51DFD578FA6}"/>
              </a:ext>
            </a:extLst>
          </p:cNvPr>
          <p:cNvSpPr txBox="1"/>
          <p:nvPr/>
        </p:nvSpPr>
        <p:spPr>
          <a:xfrm>
            <a:off x="-28168" y="2835445"/>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DEP 125.15</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TGU</a:t>
            </a:r>
            <a:r>
              <a:rPr kumimoji="1" lang="ko-KR" altLang="en-US" sz="700" b="1" u="sng" dirty="0">
                <a:solidFill>
                  <a:srgbClr val="FCFCFC"/>
                </a:solidFill>
                <a:latin typeface="Gulim" panose="020B0600000101010101" pitchFamily="34" charset="-127"/>
                <a:ea typeface="Gulim" panose="020B0600000101010101" pitchFamily="34" charset="-127"/>
              </a:rPr>
              <a:t> </a:t>
            </a:r>
            <a:r>
              <a:rPr kumimoji="1" lang="en-US" altLang="ko-KR" sz="700" b="1" u="sng" dirty="0">
                <a:solidFill>
                  <a:srgbClr val="FCFCFC"/>
                </a:solidFill>
                <a:latin typeface="Gulim" panose="020B0600000101010101" pitchFamily="34" charset="-127"/>
                <a:ea typeface="Gulim" panose="020B0600000101010101" pitchFamily="34" charset="-127"/>
              </a:rPr>
              <a:t>128.7 – DLC 132.95</a:t>
            </a:r>
            <a:endParaRPr kumimoji="1" lang="en-US" altLang="ko-Kore-KR" sz="700" b="1" u="sng" dirty="0">
              <a:solidFill>
                <a:srgbClr val="FCFCFC"/>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1</a:t>
            </a:r>
            <a:r>
              <a:rPr kumimoji="1" lang="en-US" altLang="ko-KR" sz="700" b="1" u="sng" dirty="0">
                <a:solidFill>
                  <a:srgbClr val="FCFCFC"/>
                </a:solidFill>
                <a:latin typeface="Gulim" panose="020B0600000101010101" pitchFamily="34" charset="-127"/>
                <a:ea typeface="Gulim" panose="020B0600000101010101" pitchFamily="34" charset="-127"/>
              </a:rPr>
              <a:t>28</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5</a:t>
            </a:r>
            <a:r>
              <a:rPr kumimoji="1" lang="en-US" altLang="ko-Kore-KR" sz="700" b="1" u="sng" dirty="0">
                <a:solidFill>
                  <a:srgbClr val="FCFCFC"/>
                </a:solidFill>
                <a:latin typeface="Gulim" panose="020B0600000101010101" pitchFamily="34" charset="-127"/>
                <a:ea typeface="Gulim" panose="020B0600000101010101" pitchFamily="34" charset="-127"/>
              </a:rPr>
              <a:t>5 – 134.85</a:t>
            </a:r>
          </a:p>
          <a:p>
            <a:pPr>
              <a:lnSpc>
                <a:spcPct val="150000"/>
              </a:lnSpc>
            </a:pPr>
            <a:r>
              <a:rPr kumimoji="1" lang="en-US" altLang="ko-Kore-KR" sz="700" b="1" u="sng" dirty="0">
                <a:solidFill>
                  <a:srgbClr val="FCFCFC"/>
                </a:solidFill>
                <a:latin typeface="Gulim" panose="020B0600000101010101" pitchFamily="34" charset="-127"/>
                <a:ea typeface="Gulim" panose="020B0600000101010101" pitchFamily="34" charset="-127"/>
              </a:rPr>
              <a:t>TAO APP 1</a:t>
            </a:r>
            <a:r>
              <a:rPr kumimoji="1" lang="en-US" altLang="ko-KR" sz="700" b="1" u="sng" dirty="0">
                <a:solidFill>
                  <a:srgbClr val="FCFCFC"/>
                </a:solidFill>
                <a:latin typeface="Gulim" panose="020B0600000101010101" pitchFamily="34" charset="-127"/>
                <a:ea typeface="Gulim" panose="020B0600000101010101" pitchFamily="34" charset="-127"/>
              </a:rPr>
              <a:t>19</a:t>
            </a:r>
            <a:r>
              <a:rPr kumimoji="1" lang="en-US" altLang="ko-Kore-KR" sz="700" b="1" u="sng" dirty="0">
                <a:solidFill>
                  <a:srgbClr val="FCFCFC"/>
                </a:solidFill>
                <a:latin typeface="Gulim" panose="020B0600000101010101" pitchFamily="34" charset="-127"/>
                <a:ea typeface="Gulim" panose="020B0600000101010101" pitchFamily="34" charset="-127"/>
              </a:rPr>
              <a:t>.</a:t>
            </a:r>
            <a:r>
              <a:rPr kumimoji="1" lang="en-US" altLang="ko-KR" sz="700" b="1" u="sng" dirty="0">
                <a:solidFill>
                  <a:srgbClr val="FCFCFC"/>
                </a:solidFill>
                <a:latin typeface="Gulim" panose="020B0600000101010101" pitchFamily="34" charset="-127"/>
                <a:ea typeface="Gulim" panose="020B0600000101010101" pitchFamily="34" charset="-127"/>
              </a:rPr>
              <a:t>77</a:t>
            </a:r>
            <a:r>
              <a:rPr kumimoji="1" lang="en-US" altLang="ko-Kore-KR" sz="700" b="1" u="sng" dirty="0">
                <a:solidFill>
                  <a:srgbClr val="FCFCFC"/>
                </a:solidFill>
                <a:latin typeface="Gulim" panose="020B0600000101010101" pitchFamily="34" charset="-127"/>
                <a:ea typeface="Gulim" panose="020B0600000101010101" pitchFamily="34" charset="-127"/>
              </a:rPr>
              <a:t> – 119.4 </a:t>
            </a:r>
          </a:p>
        </p:txBody>
      </p:sp>
      <p:graphicFrame>
        <p:nvGraphicFramePr>
          <p:cNvPr id="292" name="Google Shape;292;p18">
            <a:extLst>
              <a:ext uri="{FF2B5EF4-FFF2-40B4-BE49-F238E27FC236}">
                <a16:creationId xmlns:a16="http://schemas.microsoft.com/office/drawing/2014/main" id="{0101752F-937C-D3D5-A021-153D080880AB}"/>
              </a:ext>
            </a:extLst>
          </p:cNvPr>
          <p:cNvGraphicFramePr/>
          <p:nvPr>
            <p:extLst>
              <p:ext uri="{D42A27DB-BD31-4B8C-83A1-F6EECF244321}">
                <p14:modId xmlns:p14="http://schemas.microsoft.com/office/powerpoint/2010/main" val="2150391323"/>
              </p:ext>
            </p:extLst>
          </p:nvPr>
        </p:nvGraphicFramePr>
        <p:xfrm>
          <a:off x="-7530" y="380862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TAO </a:t>
                      </a:r>
                      <a:r>
                        <a:rPr lang="en-US" sz="800" dirty="0">
                          <a:solidFill>
                            <a:srgbClr val="00B0F0"/>
                          </a:solidFill>
                        </a:rPr>
                        <a:t>[350/170]</a:t>
                      </a:r>
                      <a:r>
                        <a:rPr lang="en-US" sz="800" dirty="0"/>
                        <a:t> : </a:t>
                      </a:r>
                      <a:r>
                        <a:rPr lang="en-US" sz="800" dirty="0">
                          <a:solidFill>
                            <a:srgbClr val="FFC000"/>
                          </a:solidFill>
                        </a:rPr>
                        <a:t>AFT AGAVO – IKEKA- LATUX</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35</a:t>
                      </a:r>
                      <a:r>
                        <a:rPr lang="en-US" sz="800" b="0" dirty="0"/>
                        <a:t>/34</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LAT 91A/01A </a:t>
                      </a:r>
                    </a:p>
                  </a:txBody>
                  <a:tcPr marL="36000" marR="36000" marT="36000" marB="36000" anchor="ctr"/>
                </a:tc>
                <a:tc>
                  <a:txBody>
                    <a:bodyPr/>
                    <a:lstStyle/>
                    <a:p>
                      <a:pPr marL="0" marR="0" lvl="0" indent="0" algn="ctr" rtl="0">
                        <a:spcBef>
                          <a:spcPts val="0"/>
                        </a:spcBef>
                        <a:spcAft>
                          <a:spcPts val="0"/>
                        </a:spcAft>
                        <a:buNone/>
                      </a:pPr>
                      <a:r>
                        <a:rPr lang="en-US" sz="800" b="1" dirty="0"/>
                        <a:t>QD700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35</a:t>
                      </a:r>
                      <a:r>
                        <a:rPr lang="en-US" sz="800" b="0" dirty="0"/>
                        <a:t>(34)</a:t>
                      </a:r>
                      <a:endParaRPr lang="en-US" sz="800" b="0"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17</a:t>
                      </a:r>
                      <a:r>
                        <a:rPr lang="en-US" altLang="ko-KR" sz="800" b="0" dirty="0"/>
                        <a:t>/</a:t>
                      </a:r>
                      <a:r>
                        <a:rPr lang="en-US" sz="800" b="0" dirty="0"/>
                        <a:t>16</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LAT 81A/11A</a:t>
                      </a:r>
                    </a:p>
                  </a:txBody>
                  <a:tcPr marL="36000" marR="36000" marT="36000" marB="36000" anchor="ctr"/>
                </a:tc>
                <a:tc>
                  <a:txBody>
                    <a:bodyPr/>
                    <a:lstStyle/>
                    <a:p>
                      <a:pPr marL="0" marR="0" lvl="0" indent="0" algn="ctr" rtl="0">
                        <a:spcBef>
                          <a:spcPts val="0"/>
                        </a:spcBef>
                        <a:spcAft>
                          <a:spcPts val="0"/>
                        </a:spcAft>
                        <a:buNone/>
                      </a:pPr>
                      <a:r>
                        <a:rPr lang="en-US" sz="800" b="1" dirty="0"/>
                        <a:t>QD305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17</a:t>
                      </a:r>
                      <a:r>
                        <a:rPr lang="en-US" sz="800" b="0" dirty="0"/>
                        <a:t>(16)</a:t>
                      </a:r>
                      <a:endParaRPr sz="800" b="0"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JDG, </a:t>
                      </a:r>
                      <a:r>
                        <a:rPr lang="en-US" sz="800" b="1" dirty="0">
                          <a:solidFill>
                            <a:srgbClr val="C00000"/>
                          </a:solidFill>
                        </a:rPr>
                        <a:t>35 IQX, 17 IQD, </a:t>
                      </a:r>
                      <a:r>
                        <a:rPr lang="en-US" sz="800" b="0" dirty="0">
                          <a:solidFill>
                            <a:srgbClr val="C00000"/>
                          </a:solidFill>
                        </a:rPr>
                        <a:t>34 IIN, 16 IDA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a:solidFill>
                            <a:schemeClr val="bg1"/>
                          </a:solidFill>
                        </a:rPr>
                        <a:t>RW xx /6 160kts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04729124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35 : S2(5255’), S4(6624’), 17 : S1(5282’), S3(6604’)</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34 : R2(5278’), R4(6650’), 16 : R1(5318’), R3(6706’) </a:t>
                      </a:r>
                      <a:endParaRPr b="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0070C0"/>
                          </a:solidFill>
                        </a:rPr>
                        <a:t>1</a:t>
                      </a:r>
                      <a:r>
                        <a:rPr lang="en-US" altLang="ko-KR" sz="800" baseline="30000" dirty="0">
                          <a:solidFill>
                            <a:srgbClr val="0070C0"/>
                          </a:solidFill>
                        </a:rPr>
                        <a:t>st</a:t>
                      </a:r>
                      <a:r>
                        <a:rPr lang="en-US" altLang="ko-KR" sz="800" dirty="0">
                          <a:solidFill>
                            <a:srgbClr val="0070C0"/>
                          </a:solidFill>
                        </a:rPr>
                        <a:t> TWY GND, 2</a:t>
                      </a:r>
                      <a:r>
                        <a:rPr lang="en-US" altLang="ko-KR" sz="800" baseline="30000" dirty="0">
                          <a:solidFill>
                            <a:srgbClr val="0070C0"/>
                          </a:solidFill>
                        </a:rPr>
                        <a:t>nd</a:t>
                      </a:r>
                      <a:r>
                        <a:rPr lang="en-US" altLang="ko-KR" sz="800" dirty="0">
                          <a:solidFill>
                            <a:srgbClr val="0070C0"/>
                          </a:solidFill>
                        </a:rPr>
                        <a:t> TWY Apron, </a:t>
                      </a:r>
                      <a:r>
                        <a:rPr lang="en-US" altLang="ko-KR" sz="800" dirty="0">
                          <a:solidFill>
                            <a:srgbClr val="C00000"/>
                          </a:solidFill>
                        </a:rPr>
                        <a:t>CTC</a:t>
                      </a:r>
                      <a:r>
                        <a:rPr lang="en-US" altLang="ko-KR" sz="800" dirty="0"/>
                        <a:t> </a:t>
                      </a:r>
                      <a:r>
                        <a:rPr lang="en-US" altLang="ko-KR" sz="800" dirty="0">
                          <a:solidFill>
                            <a:srgbClr val="C00000"/>
                          </a:solidFill>
                        </a:rPr>
                        <a:t>Apron</a:t>
                      </a:r>
                    </a:p>
                    <a:p>
                      <a:pPr marL="0" marR="0" lvl="0" indent="0" algn="ctr" rtl="0">
                        <a:lnSpc>
                          <a:spcPct val="100000"/>
                        </a:lnSpc>
                        <a:spcBef>
                          <a:spcPts val="0"/>
                        </a:spcBef>
                        <a:spcAft>
                          <a:spcPts val="0"/>
                        </a:spcAft>
                        <a:buClr>
                          <a:schemeClr val="dk1"/>
                        </a:buClr>
                        <a:buSzPts val="800"/>
                        <a:buFont typeface="Calibri"/>
                        <a:buNone/>
                      </a:pPr>
                      <a:r>
                        <a:rPr lang="en-US" altLang="ko-KR" sz="800" dirty="0">
                          <a:solidFill>
                            <a:srgbClr val="C00000"/>
                          </a:solidFill>
                        </a:rPr>
                        <a:t>Caution HOT SPOT (HP01,HP02)  </a:t>
                      </a:r>
                    </a:p>
                    <a:p>
                      <a:pPr marL="0" marR="0" lvl="0" indent="0" algn="ctr" rtl="0">
                        <a:lnSpc>
                          <a:spcPct val="100000"/>
                        </a:lnSpc>
                        <a:spcBef>
                          <a:spcPts val="0"/>
                        </a:spcBef>
                        <a:spcAft>
                          <a:spcPts val="0"/>
                        </a:spcAft>
                        <a:buClr>
                          <a:schemeClr val="dk1"/>
                        </a:buClr>
                        <a:buSzPts val="800"/>
                        <a:buFont typeface="Calibri"/>
                        <a:buNone/>
                      </a:pPr>
                      <a:r>
                        <a:rPr lang="en-US" altLang="ko-KR" sz="800" dirty="0"/>
                        <a:t> </a:t>
                      </a:r>
                      <a:r>
                        <a:rPr lang="en-US" sz="800" dirty="0"/>
                        <a:t>Follow Me Car on </a:t>
                      </a:r>
                      <a:r>
                        <a:rPr lang="en-US" sz="800" dirty="0" err="1"/>
                        <a:t>Lxx</a:t>
                      </a:r>
                      <a:r>
                        <a:rPr lang="en-US" sz="800" dirty="0"/>
                        <a:t>, APU off Procedure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2AADAA9-ECE8-66EA-FC58-DB2D69AEE3F1}"/>
              </a:ext>
            </a:extLst>
          </p:cNvPr>
          <p:cNvGraphicFramePr/>
          <p:nvPr>
            <p:extLst>
              <p:ext uri="{D42A27DB-BD31-4B8C-83A1-F6EECF244321}">
                <p14:modId xmlns:p14="http://schemas.microsoft.com/office/powerpoint/2010/main" val="2109258745"/>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ZSQD(TAO) 30ft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24679CE-739A-7A83-499E-7E1C840499F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002EB2-64E2-C324-6FAC-CB6E3BAF4C32}"/>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9565358-05EF-DF8E-656F-B91788E3B7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34248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70BD9-D9EA-B4D2-2D60-DE443D1A211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01AFF59-07B0-3DBA-46A8-52C61954C820}"/>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5E2EAE8-F889-1437-B115-DD478B11A35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D427601-ABE9-A5EF-B947-A04B4E16815A}"/>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6777C057-7E8B-EB48-3A12-DEC89831F216}"/>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11476752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A6643A2-E915-A221-9657-9E97E34197C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34263078-E3A7-E4B4-C046-62B08AAE6590}"/>
              </a:ext>
            </a:extLst>
          </p:cNvPr>
          <p:cNvGraphicFramePr/>
          <p:nvPr>
            <p:extLst>
              <p:ext uri="{D42A27DB-BD31-4B8C-83A1-F6EECF244321}">
                <p14:modId xmlns:p14="http://schemas.microsoft.com/office/powerpoint/2010/main" val="135456099"/>
              </p:ext>
            </p:extLst>
          </p:nvPr>
        </p:nvGraphicFramePr>
        <p:xfrm>
          <a:off x="-4046" y="756451"/>
          <a:ext cx="2330557" cy="147673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50079">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22307">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altLang="ko-Kore-KR" sz="800" u="none" strike="noStrike" cap="none" dirty="0"/>
                        <a:t>TAO : SID (NADP 1) </a:t>
                      </a:r>
                      <a:r>
                        <a:rPr lang="en-US" altLang="ko-Kore-KR" sz="800" u="none" strike="noStrike" cap="none" dirty="0">
                          <a:solidFill>
                            <a:srgbClr val="FFC000"/>
                          </a:solidFill>
                        </a:rPr>
                        <a:t>Walk Around Ramp Pass &amp; PW</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34</a:t>
                      </a:r>
                      <a:endParaRPr lang="en-US" sz="800" b="1" u="none" strike="noStrike" cap="none" dirty="0"/>
                    </a:p>
                    <a:p>
                      <a:pPr marL="0" marR="0" lvl="0" indent="0" algn="ctr" rtl="0">
                        <a:spcBef>
                          <a:spcPts val="0"/>
                        </a:spcBef>
                        <a:spcAft>
                          <a:spcPts val="0"/>
                        </a:spcAft>
                        <a:buNone/>
                      </a:pPr>
                      <a:r>
                        <a:rPr lang="en-US" sz="800" b="0" u="none" strike="noStrike" cap="none" dirty="0"/>
                        <a:t>(</a:t>
                      </a:r>
                      <a:r>
                        <a:rPr lang="en-US" altLang="ko-KR" sz="800" b="0" u="none" strike="noStrike" cap="none" dirty="0"/>
                        <a:t>35</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91D/01D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a:t>
                      </a:r>
                      <a:r>
                        <a:rPr lang="en-US" altLang="ko-KR" sz="800" b="1" u="none" strike="noStrike" cap="none" dirty="0"/>
                        <a:t>350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a:t>
                      </a:r>
                      <a:r>
                        <a:rPr lang="en-US" sz="800" b="1" u="none" strike="noStrike" cap="none" dirty="0">
                          <a:solidFill>
                            <a:srgbClr val="0070C0"/>
                          </a:solidFill>
                        </a:rPr>
                        <a:t>00(</a:t>
                      </a:r>
                      <a:r>
                        <a:rPr lang="en-US" altLang="ko-KR" sz="800" b="1" u="none" strike="noStrike" cap="none" dirty="0">
                          <a:solidFill>
                            <a:srgbClr val="0070C0"/>
                          </a:solidFill>
                        </a:rPr>
                        <a:t>900</a:t>
                      </a:r>
                      <a:r>
                        <a:rPr lang="en-US" sz="800" b="1" u="none" strike="noStrike" cap="none" dirty="0">
                          <a:solidFill>
                            <a:srgbClr val="0070C0"/>
                          </a:solidFill>
                        </a:rPr>
                        <a:t>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a:t>
                      </a:r>
                      <a:r>
                        <a:rPr lang="en-US" altLang="ko-KR" sz="800" b="1" u="none" strike="noStrike" cap="none" dirty="0"/>
                        <a:t>6</a:t>
                      </a:r>
                      <a:endParaRPr lang="en-US" sz="800" b="1" u="none" strike="noStrike" cap="none" dirty="0"/>
                    </a:p>
                    <a:p>
                      <a:pPr marL="0" marR="0" lvl="0" indent="0" algn="ctr" rtl="0">
                        <a:spcBef>
                          <a:spcPts val="0"/>
                        </a:spcBef>
                        <a:spcAft>
                          <a:spcPts val="0"/>
                        </a:spcAft>
                        <a:buNone/>
                      </a:pPr>
                      <a:r>
                        <a:rPr lang="en-US" sz="800" b="0" u="none" strike="noStrike" cap="none" dirty="0"/>
                        <a:t>(1</a:t>
                      </a:r>
                      <a:r>
                        <a:rPr lang="en-US" altLang="ko-KR" sz="800" b="0" u="none" strike="noStrike" cap="none" dirty="0"/>
                        <a:t>7</a:t>
                      </a:r>
                      <a:r>
                        <a:rPr lang="en-US" sz="800" b="0" u="none" strike="noStrike" cap="none" dirty="0"/>
                        <a:t>)</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LAT 81D/11D</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a:t>
                      </a:r>
                      <a:r>
                        <a:rPr lang="en-US" altLang="ko-KR" sz="800" b="1" u="none" strike="noStrike" cap="none" dirty="0"/>
                        <a:t>70</a:t>
                      </a:r>
                      <a:r>
                        <a:rPr lang="en-US" sz="800" b="1" u="none" strike="noStrike" cap="none" dirty="0"/>
                        <a:t> </a:t>
                      </a:r>
                      <a:r>
                        <a:rPr lang="en-US" sz="800" b="1" u="none" strike="noStrike" cap="none" dirty="0">
                          <a:solidFill>
                            <a:srgbClr val="0070C0"/>
                          </a:solidFill>
                        </a:rPr>
                        <a:t>ALT </a:t>
                      </a:r>
                      <a:r>
                        <a:rPr lang="en-US" altLang="ko-KR" sz="800" b="1" u="none" strike="noStrike" cap="none" dirty="0">
                          <a:solidFill>
                            <a:srgbClr val="0070C0"/>
                          </a:solidFill>
                        </a:rPr>
                        <a:t>3000</a:t>
                      </a:r>
                      <a:r>
                        <a:rPr lang="en-US" sz="800" b="1" u="none" strike="noStrike" cap="none" dirty="0">
                          <a:solidFill>
                            <a:srgbClr val="0070C0"/>
                          </a:solidFill>
                        </a:rPr>
                        <a:t>(</a:t>
                      </a:r>
                      <a:r>
                        <a:rPr lang="en-US" altLang="ko-KR" sz="800" b="1" u="none" strike="noStrike" cap="none" dirty="0">
                          <a:solidFill>
                            <a:srgbClr val="0070C0"/>
                          </a:solidFill>
                        </a:rPr>
                        <a:t>9</a:t>
                      </a:r>
                      <a:r>
                        <a:rPr lang="en-US" sz="800" b="1" u="none" strike="noStrike" cap="none" dirty="0">
                          <a:solidFill>
                            <a:srgbClr val="0070C0"/>
                          </a:solidFill>
                        </a:rPr>
                        <a:t>00m)</a:t>
                      </a:r>
                    </a:p>
                    <a:p>
                      <a:pPr algn="ctr"/>
                      <a:r>
                        <a:rPr lang="en-US" altLang="ko-Kore-KR" sz="800" b="1" u="none" strike="noStrike" cap="none" dirty="0">
                          <a:solidFill>
                            <a:srgbClr val="AA47F5"/>
                          </a:solidFill>
                        </a:rPr>
                        <a:t>SPD 250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JDG 114.45</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35 IQX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109.75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 IIN 108.55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17 IQD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110.15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16 IDA 111.9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u="none" strike="noStrike" cap="none" dirty="0">
                          <a:solidFill>
                            <a:srgbClr val="0070C0"/>
                          </a:solidFill>
                        </a:rPr>
                        <a:t>Heading 190, Join W209 -&gt;  DCT LATUX CRS 148(328)</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R" sz="800" b="0" i="0" u="none" strike="noStrike" kern="1200" cap="none" spc="0" normalizeH="0" baseline="0" noProof="0" dirty="0">
                          <a:ln>
                            <a:noFill/>
                          </a:ln>
                          <a:solidFill>
                            <a:srgbClr val="C00000"/>
                          </a:solidFill>
                          <a:effectLst/>
                          <a:uLnTx/>
                          <a:uFillTx/>
                          <a:latin typeface="Calibri"/>
                          <a:cs typeface="Calibri"/>
                        </a:rPr>
                        <a:t>Caution HOT SPOT (HP01,HP02)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A48A7E4-CFC6-A084-6F72-2EF4F5E002FC}"/>
              </a:ext>
            </a:extLst>
          </p:cNvPr>
          <p:cNvGraphicFramePr/>
          <p:nvPr>
            <p:extLst>
              <p:ext uri="{D42A27DB-BD31-4B8C-83A1-F6EECF244321}">
                <p14:modId xmlns:p14="http://schemas.microsoft.com/office/powerpoint/2010/main" val="3931470084"/>
              </p:ext>
            </p:extLst>
          </p:nvPr>
        </p:nvGraphicFramePr>
        <p:xfrm>
          <a:off x="-2501" y="16504"/>
          <a:ext cx="2328850" cy="7270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ZSQD(TAO)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1000" dirty="0"/>
                        <a:t>None</a:t>
                      </a:r>
                      <a:endParaRPr lang="en-US" altLang="ko-Kore-KR" sz="600" dirty="0"/>
                    </a:p>
                    <a:p>
                      <a:pPr marL="0" marR="0" lvl="0" indent="0" algn="ctr" rtl="0">
                        <a:spcBef>
                          <a:spcPts val="0"/>
                        </a:spcBef>
                        <a:spcAft>
                          <a:spcPts val="0"/>
                        </a:spcAft>
                        <a:buNone/>
                      </a:pPr>
                      <a:r>
                        <a:rPr lang="en-US" altLang="ko-Kore-KR" sz="800" dirty="0">
                          <a:solidFill>
                            <a:srgbClr val="FF0000"/>
                          </a:solidFill>
                        </a:rPr>
                        <a:t>DCL </a:t>
                      </a:r>
                      <a:r>
                        <a:rPr lang="ko-KR" altLang="en-US" sz="800" dirty="0">
                          <a:solidFill>
                            <a:srgbClr val="FF0000"/>
                          </a:solidFill>
                        </a:rPr>
                        <a:t>가능</a:t>
                      </a:r>
                      <a:r>
                        <a:rPr lang="en-US" altLang="ko-KR" sz="800" dirty="0">
                          <a:solidFill>
                            <a:srgbClr val="FF0000"/>
                          </a:solidFill>
                        </a:rPr>
                        <a:t>, </a:t>
                      </a:r>
                      <a:r>
                        <a:rPr lang="en-US" altLang="ko-Kore-KR" sz="800" dirty="0">
                          <a:solidFill>
                            <a:srgbClr val="FF0000"/>
                          </a:solidFill>
                        </a:rPr>
                        <a:t>No READ BACK!</a:t>
                      </a:r>
                    </a:p>
                    <a:p>
                      <a:pPr marL="0" marR="0" lvl="0" indent="0" algn="ctr" rtl="0">
                        <a:spcBef>
                          <a:spcPts val="0"/>
                        </a:spcBef>
                        <a:spcAft>
                          <a:spcPts val="0"/>
                        </a:spcAft>
                        <a:buNone/>
                      </a:pPr>
                      <a:r>
                        <a:rPr lang="en-US" altLang="ko-Kore-KR" sz="800" dirty="0">
                          <a:solidFill>
                            <a:srgbClr val="FF0000"/>
                          </a:solidFill>
                        </a:rPr>
                        <a:t>(Voice 10</a:t>
                      </a:r>
                      <a:r>
                        <a:rPr lang="ko-KR" altLang="en-US" sz="800" dirty="0">
                          <a:solidFill>
                            <a:srgbClr val="FF0000"/>
                          </a:solidFill>
                        </a:rPr>
                        <a:t>분전 </a:t>
                      </a:r>
                      <a:r>
                        <a:rPr lang="ko-KR" altLang="en-US" sz="800" dirty="0" err="1">
                          <a:solidFill>
                            <a:srgbClr val="FF0000"/>
                          </a:solidFill>
                        </a:rPr>
                        <a:t>부터</a:t>
                      </a:r>
                      <a:r>
                        <a:rPr lang="en-US" altLang="ko-KR" sz="800" dirty="0">
                          <a:solidFill>
                            <a:srgbClr val="FF0000"/>
                          </a:solidFill>
                        </a:rPr>
                        <a:t>)</a:t>
                      </a:r>
                      <a:endParaRPr lang="ko-KR" altLang="en-US" sz="8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41B8C403-5D19-C421-91CA-A25AE8B16F8D}"/>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C2F4C15-1516-4539-64A9-46FD942BF17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37251"/>
            <a:ext cx="457200" cy="457200"/>
          </a:xfrm>
          <a:prstGeom prst="rect">
            <a:avLst/>
          </a:prstGeom>
          <a:effectLst>
            <a:outerShdw blurRad="50800" dist="50800" dir="3660000" algn="ctr" rotWithShape="0">
              <a:schemeClr val="bg1">
                <a:alpha val="82714"/>
              </a:schemeClr>
            </a:outerShdw>
          </a:effectLst>
        </p:spPr>
      </p:pic>
      <p:sp>
        <p:nvSpPr>
          <p:cNvPr id="8" name="TextBox 7">
            <a:extLst>
              <a:ext uri="{FF2B5EF4-FFF2-40B4-BE49-F238E27FC236}">
                <a16:creationId xmlns:a16="http://schemas.microsoft.com/office/drawing/2014/main" id="{B6CBF371-47B2-03BD-BF23-D67CE2863BCE}"/>
              </a:ext>
            </a:extLst>
          </p:cNvPr>
          <p:cNvSpPr txBox="1"/>
          <p:nvPr/>
        </p:nvSpPr>
        <p:spPr>
          <a:xfrm>
            <a:off x="-4047" y="2228461"/>
            <a:ext cx="1645278" cy="713529"/>
          </a:xfrm>
          <a:prstGeom prst="rect">
            <a:avLst/>
          </a:prstGeom>
          <a:noFill/>
        </p:spPr>
        <p:txBody>
          <a:bodyPr wrap="square">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AA47F5"/>
                </a:solidFill>
                <a:effectLst/>
                <a:uLnTx/>
                <a:uFillTx/>
                <a:latin typeface="Gulim" panose="020B0600000101010101" pitchFamily="34" charset="-127"/>
                <a:ea typeface="Gulim" panose="020B0600000101010101" pitchFamily="34" charset="-127"/>
                <a:cs typeface="+mn-cs"/>
              </a:rPr>
              <a:t>TAO APP 119.4 (RWY, INI ALT)</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 119.73</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TAO</a:t>
            </a:r>
            <a:r>
              <a:rPr kumimoji="1" lang="ko-KR" altLang="en-US"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 </a:t>
            </a: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134.85 – DLC </a:t>
            </a:r>
            <a:r>
              <a:rPr kumimoji="1" lang="en-US" altLang="ko-Kore-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132.95</a:t>
            </a:r>
            <a:endPar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700" b="1" i="0" u="sng" strike="noStrike" kern="1200" cap="none" spc="0" normalizeH="0" baseline="0" noProof="0" dirty="0">
                <a:ln>
                  <a:noFill/>
                </a:ln>
                <a:solidFill>
                  <a:srgbClr val="FCFCFC"/>
                </a:solidFill>
                <a:effectLst/>
                <a:uLnTx/>
                <a:uFillTx/>
                <a:latin typeface="Gulim" panose="020B0600000101010101" pitchFamily="34" charset="-127"/>
                <a:ea typeface="Gulim" panose="020B0600000101010101" pitchFamily="34" charset="-127"/>
                <a:cs typeface="+mn-cs"/>
              </a:rPr>
              <a:t>ICN 128.7 – APP 119.75</a:t>
            </a:r>
          </a:p>
        </p:txBody>
      </p:sp>
      <p:graphicFrame>
        <p:nvGraphicFramePr>
          <p:cNvPr id="3" name="Google Shape;283;p17">
            <a:extLst>
              <a:ext uri="{FF2B5EF4-FFF2-40B4-BE49-F238E27FC236}">
                <a16:creationId xmlns:a16="http://schemas.microsoft.com/office/drawing/2014/main" id="{4CFE8B20-24BF-EA17-B1CE-432BA2828CCB}"/>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95546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D4158903-5729-C96D-2B02-A1C1D766C5D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067CE2-018D-3A1E-BA37-FBAE6BB9A796}"/>
              </a:ext>
            </a:extLst>
          </p:cNvPr>
          <p:cNvSpPr txBox="1"/>
          <p:nvPr/>
        </p:nvSpPr>
        <p:spPr>
          <a:xfrm>
            <a:off x="12776" y="2830851"/>
            <a:ext cx="1842171" cy="693899"/>
          </a:xfrm>
          <a:prstGeom prst="rect">
            <a:avLst/>
          </a:prstGeom>
          <a:noFill/>
        </p:spPr>
        <p:txBody>
          <a:bodyPr wrap="none" tIns="36000" bIns="36000" rtlCol="0" anchor="ctr">
            <a:spAutoFit/>
          </a:bodyPr>
          <a:lstStyle/>
          <a:p>
            <a:pPr>
              <a:lnSpc>
                <a:spcPct val="150000"/>
              </a:lnSpc>
            </a:pPr>
            <a:r>
              <a:rPr kumimoji="1" lang="en-US" altLang="ko-KR" sz="700" b="1" dirty="0">
                <a:latin typeface="Gulim" panose="020B0600000101010101" pitchFamily="34" charset="-127"/>
                <a:ea typeface="Gulim" panose="020B0600000101010101" pitchFamily="34" charset="-127"/>
              </a:rPr>
              <a:t>Detour RTE : L01 (NOTAM)</a:t>
            </a:r>
          </a:p>
          <a:p>
            <a:pPr>
              <a:lnSpc>
                <a:spcPct val="150000"/>
              </a:lnSpc>
            </a:pPr>
            <a:r>
              <a:rPr kumimoji="1" lang="en-US" altLang="ko-KR" sz="700" b="1" dirty="0">
                <a:latin typeface="Gulim" panose="020B0600000101010101" pitchFamily="34" charset="-127"/>
                <a:ea typeface="Gulim" panose="020B0600000101010101" pitchFamily="34" charset="-127"/>
              </a:rPr>
              <a:t>SHR - FP02(N282500E1164500)</a:t>
            </a:r>
          </a:p>
          <a:p>
            <a:pPr>
              <a:lnSpc>
                <a:spcPct val="150000"/>
              </a:lnSpc>
            </a:pPr>
            <a:r>
              <a:rPr kumimoji="1" lang="en-US" altLang="ko-KR" sz="700" b="1" dirty="0">
                <a:latin typeface="Gulim" panose="020B0600000101010101" pitchFamily="34" charset="-127"/>
                <a:ea typeface="Gulim" panose="020B0600000101010101" pitchFamily="34" charset="-127"/>
              </a:rPr>
              <a:t>       - FP01(N274500E1160000) </a:t>
            </a:r>
          </a:p>
          <a:p>
            <a:pPr>
              <a:lnSpc>
                <a:spcPct val="150000"/>
              </a:lnSpc>
            </a:pPr>
            <a:r>
              <a:rPr kumimoji="1" lang="en-US" altLang="ko-KR" sz="700" b="1" dirty="0">
                <a:latin typeface="Gulim" panose="020B0600000101010101" pitchFamily="34" charset="-127"/>
                <a:ea typeface="Gulim" panose="020B0600000101010101" pitchFamily="34" charset="-127"/>
              </a:rPr>
              <a:t>       - ZP01(N261500E1152000)-PLT</a:t>
            </a:r>
            <a:r>
              <a:rPr kumimoji="1" lang="ko-KR" altLang="en-US" sz="700" b="1" dirty="0">
                <a:latin typeface="Gulim" panose="020B0600000101010101" pitchFamily="34" charset="-127"/>
                <a:ea typeface="Gulim" panose="020B0600000101010101" pitchFamily="34" charset="-127"/>
              </a:rPr>
              <a:t> </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47F98870-0ED9-0A03-B0CC-1D6D20C06ADC}"/>
              </a:ext>
            </a:extLst>
          </p:cNvPr>
          <p:cNvGraphicFramePr/>
          <p:nvPr>
            <p:extLst>
              <p:ext uri="{D42A27DB-BD31-4B8C-83A1-F6EECF244321}">
                <p14:modId xmlns:p14="http://schemas.microsoft.com/office/powerpoint/2010/main" val="3546889883"/>
              </p:ext>
            </p:extLst>
          </p:nvPr>
        </p:nvGraphicFramePr>
        <p:xfrm>
          <a:off x="55" y="3571898"/>
          <a:ext cx="2328808" cy="198649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573199">
                  <a:extLst>
                    <a:ext uri="{9D8B030D-6E8A-4147-A177-3AD203B41FA5}">
                      <a16:colId xmlns:a16="http://schemas.microsoft.com/office/drawing/2014/main" val="20002"/>
                    </a:ext>
                  </a:extLst>
                </a:gridCol>
                <a:gridCol w="523212">
                  <a:extLst>
                    <a:ext uri="{9D8B030D-6E8A-4147-A177-3AD203B41FA5}">
                      <a16:colId xmlns:a16="http://schemas.microsoft.com/office/drawing/2014/main" val="20003"/>
                    </a:ext>
                  </a:extLst>
                </a:gridCol>
              </a:tblGrid>
              <a:tr h="196892">
                <a:tc gridSpan="4">
                  <a:txBody>
                    <a:bodyPr/>
                    <a:lstStyle/>
                    <a:p>
                      <a:pPr marL="0" marR="0" lvl="0" indent="0" algn="ctr" rtl="0">
                        <a:spcBef>
                          <a:spcPts val="0"/>
                        </a:spcBef>
                        <a:spcAft>
                          <a:spcPts val="0"/>
                        </a:spcAft>
                        <a:buNone/>
                      </a:pPr>
                      <a:r>
                        <a:rPr lang="en-US" sz="800" dirty="0"/>
                        <a:t>SZX </a:t>
                      </a:r>
                      <a:r>
                        <a:rPr lang="en-US" sz="800" dirty="0">
                          <a:solidFill>
                            <a:srgbClr val="00B0F0"/>
                          </a:solidFill>
                        </a:rPr>
                        <a:t>[335/155]</a:t>
                      </a:r>
                      <a:r>
                        <a:rPr lang="en-US" sz="800" dirty="0"/>
                        <a:t> TL 108 : </a:t>
                      </a:r>
                      <a:r>
                        <a:rPr lang="en-US" sz="800" dirty="0">
                          <a:solidFill>
                            <a:srgbClr val="FFC000"/>
                          </a:solidFill>
                        </a:rPr>
                        <a:t>SPD Restriction JEPP </a:t>
                      </a:r>
                    </a:p>
                    <a:p>
                      <a:pPr marL="0" marR="0" lvl="0" indent="0" algn="ctr" rtl="0">
                        <a:spcBef>
                          <a:spcPts val="0"/>
                        </a:spcBef>
                        <a:spcAft>
                          <a:spcPts val="0"/>
                        </a:spcAft>
                        <a:buNone/>
                      </a:pPr>
                      <a:r>
                        <a:rPr lang="en-US" sz="800" dirty="0">
                          <a:solidFill>
                            <a:srgbClr val="FFC000"/>
                          </a:solidFill>
                        </a:rPr>
                        <a:t>Caution Freq CHG &amp; RDR Vectoring (TERR)</a:t>
                      </a:r>
                    </a:p>
                    <a:p>
                      <a:pPr marL="0" marR="0" lvl="0" indent="0" algn="ctr" rtl="0">
                        <a:spcBef>
                          <a:spcPts val="0"/>
                        </a:spcBef>
                        <a:spcAft>
                          <a:spcPts val="0"/>
                        </a:spcAft>
                        <a:buNone/>
                      </a:pPr>
                      <a:r>
                        <a:rPr lang="en-US" sz="800" dirty="0">
                          <a:solidFill>
                            <a:srgbClr val="FFC000"/>
                          </a:solidFill>
                        </a:rPr>
                        <a:t>Do not Cross HKG Boundary</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6430">
                <a:tc>
                  <a:txBody>
                    <a:bodyPr/>
                    <a:lstStyle/>
                    <a:p>
                      <a:pPr marL="0" marR="0" lvl="0" indent="0" algn="ctr" rtl="0">
                        <a:spcBef>
                          <a:spcPts val="0"/>
                        </a:spcBef>
                        <a:spcAft>
                          <a:spcPts val="0"/>
                        </a:spcAft>
                        <a:buNone/>
                      </a:pPr>
                      <a:r>
                        <a:rPr lang="en-US" altLang="ko-Kore-KR" sz="800" b="1" dirty="0">
                          <a:solidFill>
                            <a:srgbClr val="0070C0"/>
                          </a:solidFill>
                        </a:rPr>
                        <a:t>16</a:t>
                      </a:r>
                      <a:r>
                        <a:rPr lang="en-US" altLang="ko-Kore-KR" sz="800" b="0" dirty="0"/>
                        <a:t>/15</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t>SAR 9/8 XA</a:t>
                      </a:r>
                    </a:p>
                  </a:txBody>
                  <a:tcPr marL="36000" marR="36000" marT="36000" marB="36000" anchor="ctr"/>
                </a:tc>
                <a:tc>
                  <a:txBody>
                    <a:bodyPr/>
                    <a:lstStyle/>
                    <a:p>
                      <a:pPr marL="0" marR="0" lvl="0" indent="0" algn="ctr" rtl="0">
                        <a:spcBef>
                          <a:spcPts val="0"/>
                        </a:spcBef>
                        <a:spcAft>
                          <a:spcPts val="0"/>
                        </a:spcAft>
                        <a:buNone/>
                      </a:pPr>
                      <a:r>
                        <a:rPr lang="en-US" sz="800" b="1" dirty="0"/>
                        <a:t>SZ462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13875">
                <a:tc>
                  <a:txBody>
                    <a:bodyPr/>
                    <a:lstStyle/>
                    <a:p>
                      <a:pPr marL="0" marR="0" lvl="0" indent="0" algn="ctr" rtl="0">
                        <a:spcBef>
                          <a:spcPts val="0"/>
                        </a:spcBef>
                        <a:spcAft>
                          <a:spcPts val="0"/>
                        </a:spcAft>
                        <a:buNone/>
                      </a:pPr>
                      <a:r>
                        <a:rPr lang="en-US" altLang="ko-KR" sz="800" b="1" dirty="0">
                          <a:solidFill>
                            <a:srgbClr val="0070C0"/>
                          </a:solidFill>
                        </a:rPr>
                        <a:t>34</a:t>
                      </a:r>
                      <a:r>
                        <a:rPr lang="en-US" altLang="ko-KR" sz="800" b="0" dirty="0"/>
                        <a:t>/33</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SAR 9/8 ZA</a:t>
                      </a:r>
                    </a:p>
                  </a:txBody>
                  <a:tcPr marL="36000" marR="36000" marT="36000" marB="36000" anchor="ctr"/>
                </a:tc>
                <a:tc>
                  <a:txBody>
                    <a:bodyPr/>
                    <a:lstStyle/>
                    <a:p>
                      <a:pPr marL="0" marR="0" lvl="0" indent="0" algn="ctr" rtl="0">
                        <a:spcBef>
                          <a:spcPts val="0"/>
                        </a:spcBef>
                        <a:spcAft>
                          <a:spcPts val="0"/>
                        </a:spcAft>
                        <a:buNone/>
                      </a:pPr>
                      <a:r>
                        <a:rPr lang="en-US" sz="800" b="1" dirty="0"/>
                        <a:t>NLG</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547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16 ISZ, 34 IBA, </a:t>
                      </a:r>
                      <a:r>
                        <a:rPr lang="en-US" sz="800" b="0" dirty="0">
                          <a:solidFill>
                            <a:srgbClr val="C00000"/>
                          </a:solidFill>
                        </a:rPr>
                        <a:t>15 IQJ, 33 IMH</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13875">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30NM 220kts,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/5(160kts)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25706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a:t>
                      </a:r>
                      <a:r>
                        <a:rPr lang="en-US" sz="800" b="1" dirty="0">
                          <a:solidFill>
                            <a:schemeClr val="dk1"/>
                          </a:solidFill>
                        </a:rPr>
                        <a:t>: E6(5948’), E7(7227’), 34 : E4(6535’), E3(7887’)</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15: C8(6725’), C9(8152’), 33 : C5(6548’), C4(8175’)</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Be </a:t>
                      </a:r>
                      <a:r>
                        <a:rPr lang="en-US" sz="800" b="1" dirty="0" err="1">
                          <a:solidFill>
                            <a:srgbClr val="C00000"/>
                          </a:solidFill>
                        </a:rPr>
                        <a:t>carefull</a:t>
                      </a:r>
                      <a:r>
                        <a:rPr lang="en-US" sz="800" b="1" dirty="0">
                          <a:solidFill>
                            <a:srgbClr val="C00000"/>
                          </a:solidFill>
                        </a:rPr>
                        <a:t> RWY 16 then TWY Q,R</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8547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CTC Apron Before Entering, MAX wingspan in JEPP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APU OFF but Remain</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6C531076-A80F-F575-681A-1ED857478E27}"/>
              </a:ext>
            </a:extLst>
          </p:cNvPr>
          <p:cNvGraphicFramePr/>
          <p:nvPr>
            <p:extLst>
              <p:ext uri="{D42A27DB-BD31-4B8C-83A1-F6EECF244321}">
                <p14:modId xmlns:p14="http://schemas.microsoft.com/office/powerpoint/2010/main" val="1660934063"/>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ZGSZ(SZX)</a:t>
                      </a:r>
                      <a:r>
                        <a:rPr lang="en-US" sz="1400" dirty="0">
                          <a:solidFill>
                            <a:schemeClr val="tx1"/>
                          </a:solidFill>
                          <a:hlinkClick r:id="rId4">
                            <a:extLst>
                              <a:ext uri="{A12FA001-AC4F-418D-AE19-62706E023703}">
                                <ahyp:hlinkClr xmlns:ahyp="http://schemas.microsoft.com/office/drawing/2018/hyperlinkcolor" val="tx"/>
                              </a:ext>
                            </a:extLst>
                          </a:hlinkClick>
                        </a:rPr>
                        <a:t> 13ft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Shenzhen Dispatch Southern 131.3</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51FBC07-B021-0458-FBF4-6B586DAD91AD}"/>
              </a:ext>
            </a:extLst>
          </p:cNvPr>
          <p:cNvSpPr/>
          <p:nvPr/>
        </p:nvSpPr>
        <p:spPr>
          <a:xfrm>
            <a:off x="837575"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28D54ED-9B28-56E6-E196-1BF5AA2DF2B8}"/>
              </a:ext>
            </a:extLst>
          </p:cNvPr>
          <p:cNvGraphicFramePr/>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A772123-28D4-53E6-FAAD-7A1B0D342BB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2376"/>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5702331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235E8-878D-1C0A-DBF3-7D54ABB7D31F}"/>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166D8EB4-92E8-EF56-DB6D-8606809661E6}"/>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3,300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10,800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2,700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8,900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B00C10ED-D069-B73B-7835-C2CBD4B60808}"/>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B916FFC5-BD82-A064-1408-94FF14519CC5}"/>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5300731-C3F8-99F4-27F7-AE937B8DBEA7}"/>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직사각형 1">
            <a:extLst>
              <a:ext uri="{FF2B5EF4-FFF2-40B4-BE49-F238E27FC236}">
                <a16:creationId xmlns:a16="http://schemas.microsoft.com/office/drawing/2014/main" id="{7625AFA3-613D-1E87-9184-97ED614204F9}"/>
              </a:ext>
            </a:extLst>
          </p:cNvPr>
          <p:cNvSpPr/>
          <p:nvPr/>
        </p:nvSpPr>
        <p:spPr>
          <a:xfrm>
            <a:off x="1219200" y="3217333"/>
            <a:ext cx="1070207" cy="345440"/>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8" name="TextBox 7">
            <a:extLst>
              <a:ext uri="{FF2B5EF4-FFF2-40B4-BE49-F238E27FC236}">
                <a16:creationId xmlns:a16="http://schemas.microsoft.com/office/drawing/2014/main" id="{169FF0A0-5783-C107-DFB7-58FF1659A183}"/>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dirty="0">
                <a:solidFill>
                  <a:prstClr val="white"/>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28557131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07139F12-DC57-E251-2FE1-9148724153E6}"/>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CFEE6E1B-D041-509E-A9C2-9C82FA9365EA}"/>
              </a:ext>
            </a:extLst>
          </p:cNvPr>
          <p:cNvGraphicFramePr/>
          <p:nvPr>
            <p:extLst>
              <p:ext uri="{D42A27DB-BD31-4B8C-83A1-F6EECF244321}">
                <p14:modId xmlns:p14="http://schemas.microsoft.com/office/powerpoint/2010/main" val="3026876671"/>
              </p:ext>
            </p:extLst>
          </p:nvPr>
        </p:nvGraphicFramePr>
        <p:xfrm>
          <a:off x="-4046" y="682516"/>
          <a:ext cx="2334602" cy="154873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24198">
                <a:tc gridSpan="7">
                  <a:txBody>
                    <a:bodyPr/>
                    <a:lstStyle/>
                    <a:p>
                      <a:pPr marL="0" marR="0" lvl="0" indent="0" algn="ctr" rtl="0">
                        <a:spcBef>
                          <a:spcPts val="0"/>
                        </a:spcBef>
                        <a:spcAft>
                          <a:spcPts val="0"/>
                        </a:spcAft>
                        <a:buNone/>
                      </a:pPr>
                      <a:r>
                        <a:rPr lang="en-US" sz="800" u="none" strike="noStrike" cap="none" dirty="0"/>
                        <a:t>SZX : TA 8900 SID </a:t>
                      </a:r>
                      <a:endParaRPr lang="en-US" sz="800" u="none" strike="noStrike" cap="none" dirty="0">
                        <a:solidFill>
                          <a:srgbClr val="FFC00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3843">
                <a:tc>
                  <a:txBody>
                    <a:bodyPr/>
                    <a:lstStyle/>
                    <a:p>
                      <a:pPr marL="0" marR="0" lvl="0" indent="0" algn="ctr" rtl="0">
                        <a:spcBef>
                          <a:spcPts val="0"/>
                        </a:spcBef>
                        <a:spcAft>
                          <a:spcPts val="0"/>
                        </a:spcAft>
                        <a:buNone/>
                      </a:pPr>
                      <a:r>
                        <a:rPr lang="en-US" altLang="ko-KR" sz="800" b="1" u="none" strike="noStrike" cap="none" dirty="0">
                          <a:solidFill>
                            <a:srgbClr val="0070C0"/>
                          </a:solidFill>
                        </a:rPr>
                        <a:t>15</a:t>
                      </a:r>
                      <a:r>
                        <a:rPr lang="en-US" altLang="ko-KR" sz="800" b="0" u="none" strike="noStrike" cap="none" dirty="0"/>
                        <a:t>/</a:t>
                      </a:r>
                      <a:r>
                        <a:rPr lang="en-US" altLang="ko-KR" sz="800" b="1" u="none" strike="noStrike" cap="none" dirty="0"/>
                        <a:t>16</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9WD/XD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155 </a:t>
                      </a:r>
                      <a:r>
                        <a:rPr lang="en-US" sz="800" b="1" u="none" strike="noStrike" cap="none" dirty="0">
                          <a:solidFill>
                            <a:srgbClr val="0070C0"/>
                          </a:solidFill>
                        </a:rPr>
                        <a:t>ALT 1200m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83843">
                <a:tc>
                  <a:txBody>
                    <a:bodyPr/>
                    <a:lstStyle/>
                    <a:p>
                      <a:pPr marL="0" marR="0" lvl="0" indent="0" algn="ctr" rtl="0">
                        <a:spcBef>
                          <a:spcPts val="0"/>
                        </a:spcBef>
                        <a:spcAft>
                          <a:spcPts val="0"/>
                        </a:spcAft>
                        <a:buNone/>
                      </a:pPr>
                      <a:r>
                        <a:rPr lang="en-US" sz="800" b="1" u="none" strike="noStrike" cap="none" dirty="0">
                          <a:solidFill>
                            <a:srgbClr val="0070C0"/>
                          </a:solidFill>
                        </a:rPr>
                        <a:t>33</a:t>
                      </a:r>
                      <a:r>
                        <a:rPr lang="en-US" sz="800" b="0" u="none" strike="noStrike" cap="none" dirty="0"/>
                        <a:t>/34</a:t>
                      </a:r>
                      <a:endParaRPr sz="800" b="0" u="none" strike="noStrike" cap="none" dirty="0">
                        <a:solidFill>
                          <a:schemeClr val="bg1"/>
                        </a:solidFill>
                      </a:endParaRP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IDU 9YD/ZD</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355 </a:t>
                      </a:r>
                      <a:r>
                        <a:rPr lang="en-US" sz="800" b="1" u="none" strike="noStrike" cap="none" dirty="0">
                          <a:solidFill>
                            <a:srgbClr val="0070C0"/>
                          </a:solidFill>
                        </a:rPr>
                        <a:t>ATC 1200m</a:t>
                      </a:r>
                    </a:p>
                    <a:p>
                      <a:pPr algn="ctr"/>
                      <a:r>
                        <a:rPr lang="en-US" altLang="ko-Kore-KR" sz="800" b="1" u="none" strike="noStrike" cap="none" dirty="0">
                          <a:solidFill>
                            <a:srgbClr val="7030A0"/>
                          </a:solidFill>
                        </a:rPr>
                        <a:t>SPD 230/250kts </a:t>
                      </a:r>
                      <a:r>
                        <a:rPr lang="en-US" altLang="ko-Kore-KR" sz="800" b="1" u="none" strike="noStrike" cap="none" dirty="0">
                          <a:solidFill>
                            <a:srgbClr val="F28943"/>
                          </a:solidFill>
                        </a:rPr>
                        <a:t>TA 8900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83843">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 ISZ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108.1</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34 IBA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109.1</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15 IQJ</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33 IMH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a:t>
                      </a:r>
                    </a:p>
                  </a:txBody>
                  <a:tcPr marL="36000" marR="36000" marT="36000" marB="36000" anchor="ctr"/>
                </a:tc>
                <a:extLst>
                  <a:ext uri="{0D108BD9-81ED-4DB2-BD59-A6C34878D82A}">
                    <a16:rowId xmlns:a16="http://schemas.microsoft.com/office/drawing/2014/main" val="1446403819"/>
                  </a:ext>
                </a:extLst>
              </a:tr>
              <a:tr h="112876">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800" b="0" dirty="0"/>
                        <a:t>15 : IQJ 155/3.5, R205, 16 : ISZ 155/3.5, R205</a:t>
                      </a:r>
                      <a:endParaRPr lang="ko-Kore-KR" altLang="en-US" sz="8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112876">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CTC DEP AUTO Report RWY</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1DBAD63A-69E7-48EA-368A-E7884E31FE10}"/>
              </a:ext>
            </a:extLst>
          </p:cNvPr>
          <p:cNvGraphicFramePr/>
          <p:nvPr>
            <p:extLst>
              <p:ext uri="{D42A27DB-BD31-4B8C-83A1-F6EECF244321}">
                <p14:modId xmlns:p14="http://schemas.microsoft.com/office/powerpoint/2010/main" val="1242698028"/>
              </p:ext>
            </p:extLst>
          </p:nvPr>
        </p:nvGraphicFramePr>
        <p:xfrm>
          <a:off x="-2501" y="1512"/>
          <a:ext cx="2328850" cy="681004"/>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763">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ZGSZ(SZX)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2241">
                <a:tc>
                  <a:txBody>
                    <a:bodyPr/>
                    <a:lstStyle/>
                    <a:p>
                      <a:pPr marL="0" marR="0" lvl="0" indent="0" algn="ctr" rtl="0">
                        <a:spcBef>
                          <a:spcPts val="0"/>
                        </a:spcBef>
                        <a:spcAft>
                          <a:spcPts val="0"/>
                        </a:spcAft>
                        <a:buNone/>
                      </a:pPr>
                      <a:r>
                        <a:rPr lang="en-US" sz="800" dirty="0"/>
                        <a:t>SZX Dispatch 131.3</a:t>
                      </a:r>
                      <a:endParaRPr sz="1200" dirty="0"/>
                    </a:p>
                    <a:p>
                      <a:pPr marL="0" marR="0" lvl="0" indent="0" algn="ctr" rtl="0">
                        <a:spcBef>
                          <a:spcPts val="0"/>
                        </a:spcBef>
                        <a:spcAft>
                          <a:spcPts val="0"/>
                        </a:spcAft>
                        <a:buNone/>
                      </a:pPr>
                      <a:r>
                        <a:rPr lang="en-US" sz="900" dirty="0">
                          <a:solidFill>
                            <a:srgbClr val="FF0000"/>
                          </a:solidFill>
                        </a:rPr>
                        <a:t>DCL Avail</a:t>
                      </a:r>
                      <a:endParaRPr lang="en-US" altLang="ko-K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31F4551-2CAF-5A07-F86B-5CE0FD7B0762}"/>
              </a:ext>
            </a:extLst>
          </p:cNvPr>
          <p:cNvSpPr txBox="1"/>
          <p:nvPr/>
        </p:nvSpPr>
        <p:spPr>
          <a:xfrm>
            <a:off x="666868" y="2260257"/>
            <a:ext cx="1749197" cy="855482"/>
          </a:xfrm>
          <a:prstGeom prst="rect">
            <a:avLst/>
          </a:prstGeom>
          <a:noFill/>
        </p:spPr>
        <p:txBody>
          <a:bodyPr wrap="none" tIns="36000" bIns="36000" rtlCol="0" anchor="ctr">
            <a:spAutoFit/>
          </a:bodyPr>
          <a:lstStyle/>
          <a:p>
            <a:pPr>
              <a:lnSpc>
                <a:spcPct val="150000"/>
              </a:lnSpc>
            </a:pPr>
            <a:r>
              <a:rPr kumimoji="1" lang="en-US" altLang="ko-Kore-KR" sz="700" b="1" dirty="0">
                <a:solidFill>
                  <a:srgbClr val="00B0F0"/>
                </a:solidFill>
                <a:latin typeface="Gulim" panose="020B0600000101010101" pitchFamily="34" charset="-127"/>
                <a:ea typeface="Gulim" panose="020B0600000101010101" pitchFamily="34" charset="-127"/>
              </a:rPr>
              <a:t>DEP ATIS (AUTO) Report DEP RWY</a:t>
            </a: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Detour RTE L01 (PLT-SHR)</a:t>
            </a:r>
          </a:p>
          <a:p>
            <a:pPr>
              <a:lnSpc>
                <a:spcPct val="150000"/>
              </a:lnSpc>
            </a:pPr>
            <a:r>
              <a:rPr kumimoji="1" lang="en-US" altLang="ko-Kore-KR" sz="700" b="1" dirty="0">
                <a:latin typeface="Gulim" panose="020B0600000101010101" pitchFamily="34" charset="-127"/>
                <a:ea typeface="Gulim" panose="020B0600000101010101" pitchFamily="34" charset="-127"/>
              </a:rPr>
              <a:t>- Using Pilot Way Point</a:t>
            </a:r>
          </a:p>
          <a:p>
            <a:pPr>
              <a:lnSpc>
                <a:spcPct val="150000"/>
              </a:lnSpc>
            </a:pPr>
            <a:r>
              <a:rPr kumimoji="1" lang="en-US" altLang="ko-Kore-KR" sz="700" b="1" dirty="0">
                <a:latin typeface="Gulim" panose="020B0600000101010101" pitchFamily="34" charset="-127"/>
                <a:ea typeface="Gulim" panose="020B0600000101010101" pitchFamily="34" charset="-127"/>
              </a:rPr>
              <a:t>- Vise Versa </a:t>
            </a:r>
          </a:p>
        </p:txBody>
      </p:sp>
      <p:sp>
        <p:nvSpPr>
          <p:cNvPr id="2" name="직사각형 1">
            <a:hlinkClick r:id="" action="ppaction://hlinkshowjump?jump=firstslide"/>
            <a:extLst>
              <a:ext uri="{FF2B5EF4-FFF2-40B4-BE49-F238E27FC236}">
                <a16:creationId xmlns:a16="http://schemas.microsoft.com/office/drawing/2014/main" id="{5F457DCC-21E0-694C-411B-836F6ADA3F8A}"/>
              </a:ext>
            </a:extLst>
          </p:cNvPr>
          <p:cNvSpPr/>
          <p:nvPr/>
        </p:nvSpPr>
        <p:spPr>
          <a:xfrm>
            <a:off x="838919" y="323931"/>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BBE01274-B466-1618-4926-1110BC40902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13091"/>
            <a:ext cx="457200" cy="457200"/>
          </a:xfrm>
          <a:prstGeom prst="rect">
            <a:avLst/>
          </a:prstGeom>
          <a:effectLst>
            <a:outerShdw blurRad="50800" dist="50800" dir="3660000" algn="ctr" rotWithShape="0">
              <a:schemeClr val="bg1">
                <a:alpha val="82714"/>
              </a:schemeClr>
            </a:outerShdw>
          </a:effectLst>
        </p:spPr>
      </p:pic>
      <p:pic>
        <p:nvPicPr>
          <p:cNvPr id="8" name="그림 7" descr="텍스트, 폰트, 번호, 스크린샷이(가) 표시된 사진&#10;&#10;자동 생성된 설명">
            <a:extLst>
              <a:ext uri="{FF2B5EF4-FFF2-40B4-BE49-F238E27FC236}">
                <a16:creationId xmlns:a16="http://schemas.microsoft.com/office/drawing/2014/main" id="{EBD0702D-06F5-9BCF-3F6A-55F680424F2A}"/>
              </a:ext>
            </a:extLst>
          </p:cNvPr>
          <p:cNvPicPr>
            <a:picLocks noChangeAspect="1"/>
          </p:cNvPicPr>
          <p:nvPr/>
        </p:nvPicPr>
        <p:blipFill>
          <a:blip r:embed="rId8"/>
          <a:stretch>
            <a:fillRect/>
          </a:stretch>
        </p:blipFill>
        <p:spPr>
          <a:xfrm>
            <a:off x="-4046" y="2237109"/>
            <a:ext cx="725085" cy="781007"/>
          </a:xfrm>
          <a:prstGeom prst="rect">
            <a:avLst/>
          </a:prstGeom>
        </p:spPr>
      </p:pic>
      <p:graphicFrame>
        <p:nvGraphicFramePr>
          <p:cNvPr id="5" name="Google Shape;283;p17">
            <a:extLst>
              <a:ext uri="{FF2B5EF4-FFF2-40B4-BE49-F238E27FC236}">
                <a16:creationId xmlns:a16="http://schemas.microsoft.com/office/drawing/2014/main" id="{5865F84E-CAF4-2786-A719-400EE6E848B3}"/>
              </a:ext>
            </a:extLst>
          </p:cNvPr>
          <p:cNvGraphicFramePr/>
          <p:nvPr>
            <p:extLst>
              <p:ext uri="{D42A27DB-BD31-4B8C-83A1-F6EECF244321}">
                <p14:modId xmlns:p14="http://schemas.microsoft.com/office/powerpoint/2010/main" val="286984156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568455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574679"/>
            <a:ext cx="1987724" cy="621196"/>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6685"/>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75EBF574-B998-0BA5-115C-F273713908E5}"/>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552475639"/>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(180kts),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1168871605"/>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a:t>
                      </a:r>
                      <a:r>
                        <a:rPr lang="en-US" sz="800" b="1" u="none" strike="noStrike" cap="none" dirty="0">
                          <a:solidFill>
                            <a:srgbClr val="7030A0"/>
                          </a:solidFill>
                        </a:rPr>
                        <a:t>Standard P/B</a:t>
                      </a:r>
                      <a:r>
                        <a:rPr lang="en-US" sz="800" b="0" u="none" strike="noStrike" cap="none" dirty="0">
                          <a:solidFill>
                            <a:schemeClr val="bg1"/>
                          </a:solidFill>
                        </a:rPr>
                        <a:t>,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224855411"/>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 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120.3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2357DB2-BE8F-7354-C626-01FA1BF17381}"/>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3783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1407258747"/>
              </p:ext>
            </p:extLst>
          </p:nvPr>
        </p:nvGraphicFramePr>
        <p:xfrm>
          <a:off x="-2500" y="3399832"/>
          <a:ext cx="2321630" cy="215833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lang="en-US" sz="800" b="0" dirty="0"/>
                    </a:p>
                    <a:p>
                      <a:pPr marL="0" marR="0" lvl="0" indent="0" algn="ctr" rtl="0">
                        <a:spcBef>
                          <a:spcPts val="0"/>
                        </a:spcBef>
                        <a:spcAft>
                          <a:spcPts val="0"/>
                        </a:spcAft>
                        <a:buNone/>
                      </a:pPr>
                      <a:r>
                        <a:rPr lang="en-US" sz="800" b="1" dirty="0">
                          <a:solidFill>
                            <a:srgbClr val="7030A0"/>
                          </a:solidFill>
                        </a:rPr>
                        <a:t>Long STAR Primary</a:t>
                      </a:r>
                      <a:endParaRPr sz="800" b="1" dirty="0">
                        <a:solidFill>
                          <a:srgbClr val="7030A0"/>
                        </a:solidFill>
                      </a:endParaRPr>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2664613212"/>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b="1" dirty="0">
                          <a:solidFill>
                            <a:srgbClr val="0070C0"/>
                          </a:solidFill>
                        </a:rPr>
                        <a:t>ATIS 30’</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2895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46EF57-4CAC-7273-2CF3-68DE2059620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DD550C3F-3FFD-3B86-2FE0-B291DD8C292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0833E022-8486-377C-3478-4B064DA6EA99}"/>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7FFAE851-AD1A-185E-AF07-1704DB7E50DD}"/>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F9A24D33-F07E-EAC7-ADF0-A0AB331A95F5}"/>
              </a:ext>
            </a:extLst>
          </p:cNvPr>
          <p:cNvGraphicFramePr>
            <a:graphicFrameLocks noGrp="1"/>
          </p:cNvGraphicFramePr>
          <p:nvPr>
            <p:extLst>
              <p:ext uri="{D42A27DB-BD31-4B8C-83A1-F6EECF244321}">
                <p14:modId xmlns:p14="http://schemas.microsoft.com/office/powerpoint/2010/main" val="272006979"/>
              </p:ext>
            </p:extLst>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F4515631-49B8-5C44-FC86-2ED0D319C8FE}"/>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927988331"/>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52988271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700" b="1" dirty="0">
                          <a:solidFill>
                            <a:srgbClr val="0070C0"/>
                          </a:solidFill>
                        </a:rPr>
                        <a:t>ATIS 30’</a:t>
                      </a:r>
                      <a:endParaRPr sz="1400" b="1" dirty="0">
                        <a:solidFill>
                          <a:srgbClr val="0070C0"/>
                        </a:solidFill>
                      </a:endParaRPr>
                    </a:p>
                    <a:p>
                      <a:pPr marL="0" marR="0" lvl="0" indent="0" algn="ctr" rtl="0">
                        <a:spcBef>
                          <a:spcPts val="0"/>
                        </a:spcBef>
                        <a:spcAft>
                          <a:spcPts val="0"/>
                        </a:spcAft>
                        <a:buNone/>
                      </a:pP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959586" y="2649710"/>
            <a:ext cx="1053173" cy="459613"/>
          </a:xfrm>
          <a:prstGeom prst="rect">
            <a:avLst/>
          </a:prstGeom>
          <a:noFill/>
        </p:spPr>
        <p:txBody>
          <a:bodyPr wrap="none" lIns="0" tIns="0" rIns="0" bIns="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120.45</a:t>
            </a:r>
          </a:p>
          <a:p>
            <a:pPr>
              <a:lnSpc>
                <a:spcPct val="150000"/>
              </a:lnSpc>
            </a:pPr>
            <a:r>
              <a:rPr kumimoji="1" lang="en-US" altLang="ko-KR" sz="700" b="1" u="sng" dirty="0">
                <a:latin typeface="Gulim" panose="020B0600000101010101" pitchFamily="34" charset="-127"/>
                <a:ea typeface="Gulim" panose="020B0600000101010101" pitchFamily="34" charset="-127"/>
              </a:rPr>
              <a:t>SANYA BD Report 122.6</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4" y="2569112"/>
            <a:ext cx="874753" cy="676499"/>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2038"/>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93D825C-9D6D-2FE0-4CE3-5B87D9A5600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96124096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2191747821"/>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2384208151"/>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Follow Me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Sensitive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57320" y="2733931"/>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R" sz="700" b="1" u="sng" dirty="0">
                <a:solidFill>
                  <a:srgbClr val="00B0F0"/>
                </a:solidFill>
                <a:latin typeface="Gulim" panose="020B0600000101010101" pitchFamily="34" charset="-127"/>
                <a:ea typeface="Gulim" panose="020B0600000101010101" pitchFamily="34" charset="-127"/>
              </a:rPr>
              <a:t>Monitor</a:t>
            </a:r>
            <a:r>
              <a:rPr kumimoji="1" lang="en-US" altLang="ko-KR" sz="700" b="1" u="sng" dirty="0">
                <a:latin typeface="Gulim" panose="020B0600000101010101" pitchFamily="34" charset="-127"/>
                <a:ea typeface="Gulim" panose="020B0600000101010101" pitchFamily="34" charset="-127"/>
              </a:rPr>
              <a:t> </a:t>
            </a:r>
            <a:r>
              <a:rPr kumimoji="1" lang="en-US" altLang="ko-Kore-KR" sz="700" b="1" u="sng" dirty="0">
                <a:latin typeface="Gulim" panose="020B0600000101010101" pitchFamily="34" charset="-127"/>
                <a:ea typeface="Gulim" panose="020B0600000101010101" pitchFamily="34" charset="-127"/>
              </a:rPr>
              <a:t>MNL RDO 8942(5655)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MIGUG </a:t>
            </a:r>
            <a:r>
              <a:rPr kumimoji="1" lang="en-US" altLang="ko-Kore-KR" sz="700" b="1" u="sng" dirty="0">
                <a:latin typeface="Gulim" panose="020B0600000101010101" pitchFamily="34" charset="-127"/>
                <a:ea typeface="Gulim" panose="020B0600000101010101" pitchFamily="34" charset="-127"/>
              </a:rPr>
              <a:t>HCM 120.7 - 132.35 </a:t>
            </a:r>
          </a:p>
          <a:p>
            <a:pPr>
              <a:lnSpc>
                <a:spcPct val="150000"/>
              </a:lnSpc>
            </a:pPr>
            <a:r>
              <a:rPr kumimoji="1" lang="en-US" altLang="ko-Kore-KR" sz="700" b="1" u="sng" dirty="0">
                <a:latin typeface="Gulim" panose="020B0600000101010101" pitchFamily="34" charset="-127"/>
                <a:ea typeface="Gulim" panose="020B0600000101010101" pitchFamily="34" charset="-127"/>
              </a:rPr>
              <a:t>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1771673893"/>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4679"/>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CEAC64AC-A7B3-55DB-0C03-13D6360E1527}"/>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3909704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213973"/>
            <a:ext cx="143789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p:txBody>
      </p:sp>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861339"/>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6B61C4FD-A4CA-181C-1340-8AE58D839052}"/>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0151800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CF84A11-4838-0C4D-DAA7-FFF226E7A7B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6B5FA7B-D0C4-481F-4F2C-CEE0679C2D81}"/>
              </a:ext>
            </a:extLst>
          </p:cNvPr>
          <p:cNvSpPr txBox="1"/>
          <p:nvPr/>
        </p:nvSpPr>
        <p:spPr>
          <a:xfrm>
            <a:off x="22980" y="2899449"/>
            <a:ext cx="1343638" cy="693899"/>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a:t>
            </a:r>
            <a:endParaRPr kumimoji="1" lang="en-US" altLang="ko-KR" sz="700" b="1"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a:t>
            </a:r>
          </a:p>
          <a:p>
            <a:pPr>
              <a:lnSpc>
                <a:spcPct val="150000"/>
              </a:lnSpc>
            </a:pPr>
            <a:r>
              <a:rPr kumimoji="1" lang="en-US" altLang="ko-KR" sz="700" b="1" dirty="0">
                <a:latin typeface="Gulim" panose="020B0600000101010101" pitchFamily="34" charset="-127"/>
                <a:ea typeface="Gulim" panose="020B0600000101010101" pitchFamily="34" charset="-127"/>
              </a:rPr>
              <a:t>– MAMOK 15-30min WAAF</a:t>
            </a:r>
          </a:p>
        </p:txBody>
      </p:sp>
      <p:graphicFrame>
        <p:nvGraphicFramePr>
          <p:cNvPr id="292" name="Google Shape;292;p18">
            <a:extLst>
              <a:ext uri="{FF2B5EF4-FFF2-40B4-BE49-F238E27FC236}">
                <a16:creationId xmlns:a16="http://schemas.microsoft.com/office/drawing/2014/main" id="{0C5E373F-54E0-CC8C-DEAA-8E58AA906BC7}"/>
              </a:ext>
            </a:extLst>
          </p:cNvPr>
          <p:cNvGraphicFramePr/>
          <p:nvPr>
            <p:extLst>
              <p:ext uri="{D42A27DB-BD31-4B8C-83A1-F6EECF244321}">
                <p14:modId xmlns:p14="http://schemas.microsoft.com/office/powerpoint/2010/main" val="2997780217"/>
              </p:ext>
            </p:extLst>
          </p:nvPr>
        </p:nvGraphicFramePr>
        <p:xfrm>
          <a:off x="-2500" y="3660536"/>
          <a:ext cx="2328849" cy="190245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70472">
                  <a:extLst>
                    <a:ext uri="{9D8B030D-6E8A-4147-A177-3AD203B41FA5}">
                      <a16:colId xmlns:a16="http://schemas.microsoft.com/office/drawing/2014/main" val="20001"/>
                    </a:ext>
                  </a:extLst>
                </a:gridCol>
                <a:gridCol w="440267">
                  <a:extLst>
                    <a:ext uri="{9D8B030D-6E8A-4147-A177-3AD203B41FA5}">
                      <a16:colId xmlns:a16="http://schemas.microsoft.com/office/drawing/2014/main" val="502366202"/>
                    </a:ext>
                  </a:extLst>
                </a:gridCol>
                <a:gridCol w="456909">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DPS </a:t>
                      </a:r>
                      <a:r>
                        <a:rPr lang="en-US" altLang="ko-Kore-KR" sz="800" dirty="0">
                          <a:solidFill>
                            <a:srgbClr val="00B0F0"/>
                          </a:solidFill>
                        </a:rPr>
                        <a:t>[087/267]</a:t>
                      </a:r>
                      <a:r>
                        <a:rPr lang="en-US" altLang="ko-Kore-KR" sz="800" dirty="0"/>
                        <a:t> :  TL130 UTC+8</a:t>
                      </a:r>
                      <a:endParaRPr lang="en-US" altLang="ko-Kore-KR" sz="800" dirty="0">
                        <a:solidFill>
                          <a:srgbClr val="C00000"/>
                        </a:solidFill>
                      </a:endParaRPr>
                    </a:p>
                    <a:p>
                      <a:pPr marL="0" marR="0" lvl="0" indent="0" algn="ctr" rtl="0">
                        <a:spcBef>
                          <a:spcPts val="0"/>
                        </a:spcBef>
                        <a:spcAft>
                          <a:spcPts val="0"/>
                        </a:spcAft>
                        <a:buNone/>
                      </a:pPr>
                      <a:r>
                        <a:rPr lang="en-US" altLang="ko-Kore-KR" sz="800" dirty="0">
                          <a:solidFill>
                            <a:srgbClr val="00B050"/>
                          </a:solidFill>
                        </a:rPr>
                        <a:t>RWY27 Before DOBMA(EMTAS) FL300 </a:t>
                      </a:r>
                    </a:p>
                    <a:p>
                      <a:pPr marL="0" marR="0" lvl="0" indent="0" algn="ctr" rtl="0">
                        <a:spcBef>
                          <a:spcPts val="0"/>
                        </a:spcBef>
                        <a:spcAft>
                          <a:spcPts val="0"/>
                        </a:spcAft>
                        <a:buNone/>
                      </a:pPr>
                      <a:r>
                        <a:rPr lang="en-US" altLang="ko-Kore-KR" sz="800" dirty="0">
                          <a:solidFill>
                            <a:srgbClr val="00B050"/>
                          </a:solidFill>
                        </a:rPr>
                        <a:t>for CTC Bali 119.7 (Prevent Late DES)</a:t>
                      </a:r>
                    </a:p>
                    <a:p>
                      <a:pPr marL="0" marR="0" lvl="0" indent="0" algn="ctr" rtl="0">
                        <a:spcBef>
                          <a:spcPts val="0"/>
                        </a:spcBef>
                        <a:spcAft>
                          <a:spcPts val="0"/>
                        </a:spcAft>
                        <a:buNone/>
                      </a:pPr>
                      <a:r>
                        <a:rPr lang="en-US" altLang="ko-Kore-KR" sz="800" dirty="0">
                          <a:solidFill>
                            <a:srgbClr val="C00000"/>
                          </a:solidFill>
                        </a:rPr>
                        <a:t>Late DES due TERR</a:t>
                      </a:r>
                      <a:r>
                        <a:rPr lang="en-US" altLang="ko-Kore-KR" sz="800" dirty="0">
                          <a:solidFill>
                            <a:srgbClr val="FFC000"/>
                          </a:solidFill>
                        </a:rPr>
                        <a:t>SPD MAX 180kts 10NM, 150kts 4NM</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DOBMA/EMTAS xx C</a:t>
                      </a:r>
                    </a:p>
                  </a:txBody>
                  <a:tcPr marL="36000" marR="36000" marT="36000" marB="36000" anchor="ctr"/>
                </a:tc>
                <a:tc>
                  <a:txBody>
                    <a:bodyPr/>
                    <a:lstStyle/>
                    <a:p>
                      <a:pPr algn="ctr"/>
                      <a:r>
                        <a:rPr lang="en-US" altLang="ko-Kore-KR" sz="800" b="1" dirty="0"/>
                        <a:t>KHUTA</a:t>
                      </a:r>
                    </a:p>
                  </a:txBody>
                  <a:tcPr marL="36000" marR="36000" marT="36000" marB="36000" anchor="ctr"/>
                </a:tc>
                <a:tc>
                  <a:txBody>
                    <a:bodyPr/>
                    <a:lstStyle/>
                    <a:p>
                      <a:pPr marL="0" marR="0" lvl="0" indent="0" algn="ctr" rtl="0">
                        <a:spcBef>
                          <a:spcPts val="0"/>
                        </a:spcBef>
                        <a:spcAft>
                          <a:spcPts val="0"/>
                        </a:spcAft>
                        <a:buNone/>
                      </a:pPr>
                      <a:r>
                        <a:rPr lang="en-US" sz="800" b="1" dirty="0"/>
                        <a:t>RNP 09</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27</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DOBMA/EMTAS xx D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BENOA</a:t>
                      </a:r>
                      <a:endParaRPr lang="ko-Kore-KR" altLang="en-US" dirty="0"/>
                    </a:p>
                  </a:txBody>
                  <a:tcPr marL="36000" marR="36000" marT="36000" marB="36000" anchor="ctr"/>
                </a:tc>
                <a:tc>
                  <a:txBody>
                    <a:bodyPr/>
                    <a:lstStyle/>
                    <a:p>
                      <a:pPr algn="ctr"/>
                      <a:r>
                        <a:rPr lang="en-US" sz="800" b="1" dirty="0"/>
                        <a:t>ILS 27</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BLI, </a:t>
                      </a:r>
                      <a:r>
                        <a:rPr lang="en-US" altLang="ko-KR" sz="800" b="1" dirty="0">
                          <a:solidFill>
                            <a:srgbClr val="C00000"/>
                          </a:solidFill>
                        </a:rPr>
                        <a:t>27 IDPS</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09</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N3</a:t>
                      </a:r>
                      <a:r>
                        <a:rPr lang="en-US" sz="800" b="0" dirty="0">
                          <a:solidFill>
                            <a:schemeClr val="bg1"/>
                          </a:solidFill>
                        </a:rPr>
                        <a:t>(</a:t>
                      </a:r>
                      <a:r>
                        <a:rPr lang="en-US" altLang="ko-KR" sz="800" b="0" dirty="0">
                          <a:solidFill>
                            <a:schemeClr val="bg1"/>
                          </a:solidFill>
                        </a:rPr>
                        <a:t>6817</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N2</a:t>
                      </a:r>
                      <a:r>
                        <a:rPr lang="en-US" sz="800" b="0" dirty="0">
                          <a:solidFill>
                            <a:schemeClr val="bg1"/>
                          </a:solidFill>
                        </a:rPr>
                        <a:t>(8448’, </a:t>
                      </a:r>
                      <a:r>
                        <a:rPr lang="en-US" altLang="ko-Kore-KR" sz="800" b="0" i="0" kern="1200" dirty="0">
                          <a:solidFill>
                            <a:srgbClr val="C00000"/>
                          </a:solidFill>
                          <a:latin typeface="+mn-ea"/>
                          <a:ea typeface="Calibri"/>
                          <a:cs typeface="Calibri"/>
                        </a:rPr>
                        <a:t>90</a:t>
                      </a:r>
                      <a:r>
                        <a:rPr lang="ko-KR" altLang="en-US" sz="800" b="0" i="0" kern="1200" dirty="0">
                          <a:solidFill>
                            <a:srgbClr val="C00000"/>
                          </a:solidFill>
                          <a:latin typeface="+mn-ea"/>
                          <a:ea typeface="Calibri"/>
                          <a:cs typeface="Calibri"/>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27</a:t>
                      </a:r>
                      <a:r>
                        <a:rPr lang="ko-KR" altLang="en-US" sz="800" b="0" dirty="0">
                          <a:solidFill>
                            <a:srgbClr val="0070C0"/>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N6</a:t>
                      </a:r>
                      <a:r>
                        <a:rPr lang="en-US" sz="800" b="0" dirty="0">
                          <a:solidFill>
                            <a:schemeClr val="bg1"/>
                          </a:solidFill>
                        </a:rPr>
                        <a:t>(7513’, </a:t>
                      </a:r>
                      <a:r>
                        <a:rPr lang="en-US" sz="800" b="0" dirty="0">
                          <a:solidFill>
                            <a:srgbClr val="C00000"/>
                          </a:solidFill>
                        </a:rPr>
                        <a:t>Rapid</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altLang="ko-KR" sz="800" b="0" dirty="0">
                          <a:solidFill>
                            <a:schemeClr val="bg1"/>
                          </a:solidFill>
                        </a:rPr>
                        <a:t>N7</a:t>
                      </a:r>
                      <a:r>
                        <a:rPr lang="en-US" sz="800" b="0" dirty="0">
                          <a:solidFill>
                            <a:schemeClr val="bg1"/>
                          </a:solidFill>
                        </a:rPr>
                        <a:t>(9645’,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RWY/TWY CL L/T, Yellow C/L Only</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VDGS but Marshaller,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GND REG No,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4366B7D4-376B-5B4D-81C1-3F3E8652DFFF}"/>
              </a:ext>
            </a:extLst>
          </p:cNvPr>
          <p:cNvGraphicFramePr/>
          <p:nvPr>
            <p:extLst>
              <p:ext uri="{D42A27DB-BD31-4B8C-83A1-F6EECF244321}">
                <p14:modId xmlns:p14="http://schemas.microsoft.com/office/powerpoint/2010/main" val="3197370869"/>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WADD(DPS) 14ft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Gapura</a:t>
                      </a:r>
                      <a:r>
                        <a:rPr lang="en-US" sz="900" dirty="0"/>
                        <a:t> Operation Bali 131.95 </a:t>
                      </a:r>
                      <a:r>
                        <a:rPr lang="en-US" sz="900"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FB7D3F1-D5E2-EBB1-4FF1-C7CAD3FAC81F}"/>
              </a:ext>
            </a:extLst>
          </p:cNvPr>
          <p:cNvSpPr/>
          <p:nvPr/>
        </p:nvSpPr>
        <p:spPr>
          <a:xfrm>
            <a:off x="829010" y="222556"/>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827B294-8B9F-19DC-335A-7F06016CE7AC}"/>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BE95BDC3-FC43-776E-9DEC-CDDD80085E3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84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3412338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4C63AFCC-67A9-CEAE-2B4A-88F7951B528C}"/>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52E0A1F-E899-F60E-9295-A95E4D0D9031}"/>
              </a:ext>
            </a:extLst>
          </p:cNvPr>
          <p:cNvGraphicFramePr/>
          <p:nvPr>
            <p:extLst>
              <p:ext uri="{D42A27DB-BD31-4B8C-83A1-F6EECF244321}">
                <p14:modId xmlns:p14="http://schemas.microsoft.com/office/powerpoint/2010/main" val="3510528349"/>
              </p:ext>
            </p:extLst>
          </p:nvPr>
        </p:nvGraphicFramePr>
        <p:xfrm>
          <a:off x="-4250"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1160524">
                  <a:extLst>
                    <a:ext uri="{9D8B030D-6E8A-4147-A177-3AD203B41FA5}">
                      <a16:colId xmlns:a16="http://schemas.microsoft.com/office/drawing/2014/main" val="1047496764"/>
                    </a:ext>
                  </a:extLst>
                </a:gridCol>
              </a:tblGrid>
              <a:tr h="0">
                <a:tc gridSpan="4">
                  <a:txBody>
                    <a:bodyPr/>
                    <a:lstStyle/>
                    <a:p>
                      <a:pPr marL="0" marR="0" lvl="0" indent="0" algn="ctr" rtl="0">
                        <a:spcBef>
                          <a:spcPts val="0"/>
                        </a:spcBef>
                        <a:spcAft>
                          <a:spcPts val="0"/>
                        </a:spcAft>
                        <a:buNone/>
                      </a:pPr>
                      <a:r>
                        <a:rPr lang="en-US" sz="800" u="none" strike="noStrike" cap="none" dirty="0"/>
                        <a:t>DPS : RNAV SID (NADP 1) TA 11000</a:t>
                      </a:r>
                    </a:p>
                    <a:p>
                      <a:pPr marL="0" marR="0" lvl="0" indent="0" algn="ctr" rtl="0">
                        <a:spcBef>
                          <a:spcPts val="0"/>
                        </a:spcBef>
                        <a:spcAft>
                          <a:spcPts val="0"/>
                        </a:spcAft>
                        <a:buNone/>
                      </a:pPr>
                      <a:r>
                        <a:rPr lang="en-US" sz="800" u="none" strike="noStrike" cap="none" dirty="0">
                          <a:solidFill>
                            <a:srgbClr val="FFC000"/>
                          </a:solidFill>
                        </a:rPr>
                        <a:t>+-15min Req Pushback, Report Bay, Res No, POB</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09</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DOBMA/</a:t>
                      </a:r>
                    </a:p>
                    <a:p>
                      <a:pPr algn="ctr"/>
                      <a:r>
                        <a:rPr lang="en-US" sz="800" b="1" u="none" strike="noStrike" cap="none" dirty="0">
                          <a:solidFill>
                            <a:srgbClr val="0070C0"/>
                          </a:solidFill>
                        </a:rPr>
                        <a:t>EMTAS x A</a:t>
                      </a:r>
                      <a:endParaRPr lang="ko-Kore-KR" dirty="0"/>
                    </a:p>
                  </a:txBody>
                  <a:tcPr marL="36000" marR="36000" marT="36000" marB="36000" anchor="ctr"/>
                </a:tc>
                <a:tc gridSpan="2">
                  <a:txBody>
                    <a:bodyPr/>
                    <a:lstStyle/>
                    <a:p>
                      <a:pPr algn="ctr"/>
                      <a:r>
                        <a:rPr lang="en-US" sz="800" b="1" u="none" strike="noStrike" cap="none" dirty="0"/>
                        <a:t>HD 087 </a:t>
                      </a:r>
                      <a:r>
                        <a:rPr lang="en-US" sz="800" b="1" u="none" strike="noStrike" cap="none" dirty="0">
                          <a:solidFill>
                            <a:srgbClr val="0070C0"/>
                          </a:solidFill>
                        </a:rPr>
                        <a:t>ALT 9000 </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27</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DOBMA/</a:t>
                      </a:r>
                    </a:p>
                    <a:p>
                      <a:pPr algn="ctr"/>
                      <a:r>
                        <a:rPr lang="en-US" altLang="ko-Kore-KR" sz="800" b="1" u="none" strike="noStrike" cap="none" dirty="0">
                          <a:solidFill>
                            <a:srgbClr val="0070C0"/>
                          </a:solidFill>
                        </a:rPr>
                        <a:t>EMTAS x B </a:t>
                      </a:r>
                      <a:endParaRPr lang="ko-Kore-KR" dirty="0"/>
                    </a:p>
                  </a:txBody>
                  <a:tcPr marL="36000" marR="36000" marT="36000" marB="36000" anchor="ctr"/>
                </a:tc>
                <a:tc gridSpan="2">
                  <a:txBody>
                    <a:bodyPr/>
                    <a:lstStyle/>
                    <a:p>
                      <a:pPr algn="ctr"/>
                      <a:r>
                        <a:rPr lang="en-US" sz="800" b="1" u="none" strike="noStrike" cap="none" dirty="0"/>
                        <a:t>HD 267 </a:t>
                      </a:r>
                      <a:r>
                        <a:rPr lang="en-US" sz="800" b="1" u="none" strike="noStrike" cap="none" dirty="0">
                          <a:solidFill>
                            <a:srgbClr val="0070C0"/>
                          </a:solidFill>
                        </a:rPr>
                        <a:t>ALT FL240(ATC)  </a:t>
                      </a:r>
                      <a:endParaRPr lang="en-US" sz="800" b="1" u="none" strike="noStrike" cap="none" dirty="0">
                        <a:solidFill>
                          <a:srgbClr val="AA47F5"/>
                        </a:solidFill>
                      </a:endParaRP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BLI 116.2</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27 IDPS 110.3</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dirty="0"/>
                        <a:t>09 : BLI 087/6, R130</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218381178"/>
                  </a:ext>
                </a:extLst>
              </a:tr>
              <a:tr h="115700">
                <a:tc gridSpan="4">
                  <a:txBody>
                    <a:bodyPr/>
                    <a:lstStyle/>
                    <a:p>
                      <a:pPr marL="0" marR="0" lvl="0" indent="0" algn="ctr" rtl="0">
                        <a:spcBef>
                          <a:spcPts val="0"/>
                        </a:spcBef>
                        <a:spcAft>
                          <a:spcPts val="0"/>
                        </a:spcAft>
                        <a:buNone/>
                      </a:pPr>
                      <a:r>
                        <a:rPr lang="en-US" sz="800" b="1" dirty="0">
                          <a:solidFill>
                            <a:srgbClr val="C00000"/>
                          </a:solidFill>
                        </a:rPr>
                        <a:t>Caution </a:t>
                      </a:r>
                      <a:r>
                        <a:rPr lang="en-US" sz="800" b="1" dirty="0" err="1">
                          <a:solidFill>
                            <a:srgbClr val="C00000"/>
                          </a:solidFill>
                        </a:rPr>
                        <a:t>Interm</a:t>
                      </a:r>
                      <a:r>
                        <a:rPr lang="en-US" sz="800" b="1" dirty="0">
                          <a:solidFill>
                            <a:srgbClr val="C00000"/>
                          </a:solidFill>
                        </a:rPr>
                        <a:t> HP W/E</a:t>
                      </a:r>
                      <a:r>
                        <a:rPr lang="en-US" sz="800" dirty="0">
                          <a:solidFill>
                            <a:srgbClr val="7030A0"/>
                          </a:solidFill>
                        </a:rPr>
                        <a:t>, </a:t>
                      </a:r>
                      <a:r>
                        <a:rPr lang="en-US" sz="800" b="1" dirty="0">
                          <a:solidFill>
                            <a:srgbClr val="7030A0"/>
                          </a:solidFill>
                        </a:rPr>
                        <a:t>CPDLC Before DEP WAAF</a:t>
                      </a:r>
                      <a:endParaRPr b="1"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E5C24CF9-3914-1456-1571-D927392EB69E}"/>
              </a:ext>
            </a:extLst>
          </p:cNvPr>
          <p:cNvGraphicFramePr/>
          <p:nvPr>
            <p:extLst>
              <p:ext uri="{D42A27DB-BD31-4B8C-83A1-F6EECF244321}">
                <p14:modId xmlns:p14="http://schemas.microsoft.com/office/powerpoint/2010/main" val="2168695821"/>
              </p:ext>
            </p:extLst>
          </p:nvPr>
        </p:nvGraphicFramePr>
        <p:xfrm>
          <a:off x="-2501" y="9731"/>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WADD(DPS) 14ft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err="1"/>
                        <a:t>Gapaura</a:t>
                      </a:r>
                      <a:r>
                        <a:rPr lang="en-US" sz="800" dirty="0"/>
                        <a:t> Op Bali 131.95</a:t>
                      </a:r>
                      <a:endParaRPr sz="1200" dirty="0"/>
                    </a:p>
                    <a:p>
                      <a:pPr marL="0" marR="0" lvl="0" indent="0" algn="ctr" rtl="0">
                        <a:spcBef>
                          <a:spcPts val="0"/>
                        </a:spcBef>
                        <a:spcAft>
                          <a:spcPts val="0"/>
                        </a:spcAft>
                        <a:buNone/>
                      </a:pPr>
                      <a:r>
                        <a:rPr lang="en-US" altLang="ko-KR" sz="700" dirty="0">
                          <a:solidFill>
                            <a:srgbClr val="FF0000"/>
                          </a:solidFill>
                        </a:rPr>
                        <a:t>-20min, By Voice GND/TWR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3D32499-1BF0-C45B-6D3A-25FC014DB538}"/>
              </a:ext>
            </a:extLst>
          </p:cNvPr>
          <p:cNvSpPr/>
          <p:nvPr/>
        </p:nvSpPr>
        <p:spPr>
          <a:xfrm>
            <a:off x="884049" y="29374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0BC2B864-1A7E-B9DD-9123-C0DF1469A997}"/>
              </a:ext>
            </a:extLst>
          </p:cNvPr>
          <p:cNvSpPr txBox="1"/>
          <p:nvPr/>
        </p:nvSpPr>
        <p:spPr>
          <a:xfrm>
            <a:off x="1080621" y="2275893"/>
            <a:ext cx="1075615" cy="782778"/>
          </a:xfrm>
          <a:prstGeom prst="rect">
            <a:avLst/>
          </a:prstGeom>
          <a:noFill/>
        </p:spPr>
        <p:txBody>
          <a:bodyPr wrap="none" lIns="0" tIns="0" rIns="0" bIns="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DEP 119.7 </a:t>
            </a:r>
          </a:p>
          <a:p>
            <a:pPr>
              <a:lnSpc>
                <a:spcPct val="150000"/>
              </a:lnSpc>
            </a:pPr>
            <a:r>
              <a:rPr kumimoji="1" lang="en-US" altLang="ko-KR" sz="700" b="1" dirty="0">
                <a:latin typeface="Gulim" panose="020B0600000101010101" pitchFamily="34" charset="-127"/>
                <a:ea typeface="Gulim" panose="020B0600000101010101" pitchFamily="34" charset="-127"/>
              </a:rPr>
              <a:t>CPDLC</a:t>
            </a:r>
          </a:p>
          <a:p>
            <a:pPr>
              <a:lnSpc>
                <a:spcPct val="150000"/>
              </a:lnSpc>
            </a:pPr>
            <a:r>
              <a:rPr kumimoji="1" lang="en-US" altLang="ko-KR" sz="700" b="1" dirty="0">
                <a:latin typeface="Gulim" panose="020B0600000101010101" pitchFamily="34" charset="-127"/>
                <a:ea typeface="Gulim" panose="020B0600000101010101" pitchFamily="34" charset="-127"/>
              </a:rPr>
              <a:t>- Before DEP WAAF</a:t>
            </a:r>
          </a:p>
          <a:p>
            <a:pPr>
              <a:lnSpc>
                <a:spcPct val="150000"/>
              </a:lnSpc>
            </a:pPr>
            <a:r>
              <a:rPr kumimoji="1" lang="en-US" altLang="ko-KR" sz="700" b="1" dirty="0">
                <a:latin typeface="Gulim" panose="020B0600000101010101" pitchFamily="34" charset="-127"/>
                <a:ea typeface="Gulim" panose="020B0600000101010101" pitchFamily="34" charset="-127"/>
              </a:rPr>
              <a:t>- GORAI 10-25min RPHI</a:t>
            </a:r>
          </a:p>
          <a:p>
            <a:pPr>
              <a:lnSpc>
                <a:spcPct val="150000"/>
              </a:lnSpc>
            </a:pPr>
            <a:r>
              <a:rPr kumimoji="1" lang="en-US" altLang="ko-KR" sz="700" b="1" dirty="0">
                <a:latin typeface="Gulim" panose="020B0600000101010101" pitchFamily="34" charset="-127"/>
                <a:ea typeface="Gulim" panose="020B0600000101010101" pitchFamily="34" charset="-127"/>
              </a:rPr>
              <a:t>- GURAG RJJJ</a:t>
            </a:r>
          </a:p>
        </p:txBody>
      </p:sp>
      <p:pic>
        <p:nvPicPr>
          <p:cNvPr id="12" name="그래픽 11" descr="집 Wi-Fi에서 작업 단색으로 채워진">
            <a:hlinkClick r:id="" action="ppaction://hlinkshowjump?jump=firstslide"/>
            <a:extLst>
              <a:ext uri="{FF2B5EF4-FFF2-40B4-BE49-F238E27FC236}">
                <a16:creationId xmlns:a16="http://schemas.microsoft.com/office/drawing/2014/main" id="{7C19F6FA-8D71-F2CF-BFB4-CECC2E0BAED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47179"/>
            <a:ext cx="457200" cy="457200"/>
          </a:xfrm>
          <a:prstGeom prst="rect">
            <a:avLst/>
          </a:prstGeom>
          <a:effectLst>
            <a:outerShdw blurRad="50800" dist="50800" dir="3660000" algn="ctr" rotWithShape="0">
              <a:schemeClr val="bg1">
                <a:alpha val="82714"/>
              </a:schemeClr>
            </a:outerShdw>
          </a:effectLst>
        </p:spPr>
      </p:pic>
      <p:pic>
        <p:nvPicPr>
          <p:cNvPr id="4" name="그림 3">
            <a:extLst>
              <a:ext uri="{FF2B5EF4-FFF2-40B4-BE49-F238E27FC236}">
                <a16:creationId xmlns:a16="http://schemas.microsoft.com/office/drawing/2014/main" id="{A885D743-EA40-D5EA-DD7C-BB3219EB31AC}"/>
              </a:ext>
            </a:extLst>
          </p:cNvPr>
          <p:cNvPicPr>
            <a:picLocks noChangeAspect="1"/>
          </p:cNvPicPr>
          <p:nvPr/>
        </p:nvPicPr>
        <p:blipFill>
          <a:blip r:embed="rId8"/>
          <a:stretch>
            <a:fillRect/>
          </a:stretch>
        </p:blipFill>
        <p:spPr>
          <a:xfrm>
            <a:off x="2522" y="2204818"/>
            <a:ext cx="998597" cy="626496"/>
          </a:xfrm>
          <a:prstGeom prst="rect">
            <a:avLst/>
          </a:prstGeom>
        </p:spPr>
      </p:pic>
      <p:graphicFrame>
        <p:nvGraphicFramePr>
          <p:cNvPr id="5" name="Google Shape;283;p17">
            <a:extLst>
              <a:ext uri="{FF2B5EF4-FFF2-40B4-BE49-F238E27FC236}">
                <a16:creationId xmlns:a16="http://schemas.microsoft.com/office/drawing/2014/main" id="{27E85F47-60BD-5CB9-692F-F7007C07EDFB}"/>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218726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42237" y="2811754"/>
            <a:ext cx="2504212" cy="1017064"/>
          </a:xfrm>
          <a:prstGeom prst="rect">
            <a:avLst/>
          </a:prstGeom>
          <a:noFill/>
        </p:spPr>
        <p:txBody>
          <a:bodyPr wrap="none" tIns="36000" bIns="36000" rtlCol="0" anchor="ctr">
            <a:spAutoFit/>
          </a:bodyPr>
          <a:lstStyle/>
          <a:p>
            <a:pPr>
              <a:lnSpc>
                <a:spcPct val="150000"/>
              </a:lnSpc>
            </a:pPr>
            <a:r>
              <a:rPr kumimoji="1" lang="en-US" altLang="ko-Kore-KR" sz="700" b="1"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dirty="0">
                <a:latin typeface="Gulim" panose="020B0600000101010101" pitchFamily="34" charset="-127"/>
                <a:ea typeface="Gulim" panose="020B0600000101010101" pitchFamily="34" charset="-127"/>
              </a:rPr>
              <a:t>CPDLC </a:t>
            </a:r>
          </a:p>
          <a:p>
            <a:pPr>
              <a:lnSpc>
                <a:spcPct val="150000"/>
              </a:lnSpc>
            </a:pPr>
            <a:r>
              <a:rPr kumimoji="1" lang="en-US" altLang="ko-KR" sz="700" b="1" dirty="0">
                <a:latin typeface="Gulim" panose="020B0600000101010101" pitchFamily="34" charset="-127"/>
                <a:ea typeface="Gulim" panose="020B0600000101010101" pitchFamily="34" charset="-127"/>
              </a:rPr>
              <a:t>- POTIB 10-25min RPHI, MONBO 15–45min VVHM  </a:t>
            </a:r>
            <a:endParaRPr kumimoji="1" lang="en-US" altLang="ko-Kore-KR" sz="700" b="1"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ETA KABAM(RTA) – ETA MIGUG</a:t>
            </a:r>
          </a:p>
          <a:p>
            <a:pPr>
              <a:lnSpc>
                <a:spcPct val="150000"/>
              </a:lnSpc>
            </a:pPr>
            <a:r>
              <a:rPr kumimoji="1" lang="en-US" altLang="ko-KR" sz="700" b="1" dirty="0">
                <a:latin typeface="Gulim" panose="020B0600000101010101" pitchFamily="34" charset="-127"/>
                <a:ea typeface="Gulim" panose="020B0600000101010101" pitchFamily="34" charset="-127"/>
              </a:rPr>
              <a:t>Report MAVRA, Report MIGUG</a:t>
            </a:r>
          </a:p>
          <a:p>
            <a:pPr>
              <a:lnSpc>
                <a:spcPct val="150000"/>
              </a:lnSpc>
            </a:pPr>
            <a:r>
              <a:rPr kumimoji="1" lang="en-US" altLang="ko-KR" sz="700" b="1" dirty="0">
                <a:latin typeface="Gulim" panose="020B0600000101010101" pitchFamily="34" charset="-127"/>
                <a:ea typeface="Gulim" panose="020B0600000101010101" pitchFamily="34" charset="-127"/>
              </a:rPr>
              <a:t>At MIGUG CTC HCM 120.7</a:t>
            </a:r>
            <a:endParaRPr kumimoji="1" lang="en-US" altLang="ko-Kore-KR" sz="700" b="1" dirty="0">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2172909628"/>
              </p:ext>
            </p:extLst>
          </p:nvPr>
        </p:nvGraphicFramePr>
        <p:xfrm>
          <a:off x="6883" y="4123699"/>
          <a:ext cx="2321979" cy="1426810"/>
        </p:xfrm>
        <a:graphic>
          <a:graphicData uri="http://schemas.openxmlformats.org/drawingml/2006/table">
            <a:tbl>
              <a:tblPr firstRow="1" bandRow="1">
                <a:noFill/>
                <a:tableStyleId>{A521BE36-7E6F-4EC9-8D66-1CF97A6895EC}</a:tableStyleId>
              </a:tblPr>
              <a:tblGrid>
                <a:gridCol w="352336">
                  <a:extLst>
                    <a:ext uri="{9D8B030D-6E8A-4147-A177-3AD203B41FA5}">
                      <a16:colId xmlns:a16="http://schemas.microsoft.com/office/drawing/2014/main" val="20000"/>
                    </a:ext>
                  </a:extLst>
                </a:gridCol>
                <a:gridCol w="857980">
                  <a:extLst>
                    <a:ext uri="{9D8B030D-6E8A-4147-A177-3AD203B41FA5}">
                      <a16:colId xmlns:a16="http://schemas.microsoft.com/office/drawing/2014/main" val="20001"/>
                    </a:ext>
                  </a:extLst>
                </a:gridCol>
                <a:gridCol w="715252">
                  <a:extLst>
                    <a:ext uri="{9D8B030D-6E8A-4147-A177-3AD203B41FA5}">
                      <a16:colId xmlns:a16="http://schemas.microsoft.com/office/drawing/2014/main" val="689142997"/>
                    </a:ext>
                  </a:extLst>
                </a:gridCol>
                <a:gridCol w="396411">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KTI </a:t>
                      </a:r>
                      <a:r>
                        <a:rPr lang="en-US" sz="800" dirty="0">
                          <a:solidFill>
                            <a:srgbClr val="00B0F0"/>
                          </a:solidFill>
                        </a:rPr>
                        <a:t>[048/228]</a:t>
                      </a:r>
                      <a:r>
                        <a:rPr lang="en-US" sz="800" dirty="0"/>
                        <a:t> : TL ATIS, UTC+7</a:t>
                      </a:r>
                      <a:endParaRPr lang="en-US" altLang="ko-KR" sz="800" dirty="0">
                        <a:solidFill>
                          <a:srgbClr val="FFC000"/>
                        </a:solidFill>
                      </a:endParaRPr>
                    </a:p>
                    <a:p>
                      <a:pPr marL="0" marR="0" lvl="0" indent="0" algn="ctr" rtl="0">
                        <a:spcBef>
                          <a:spcPts val="0"/>
                        </a:spcBef>
                        <a:spcAft>
                          <a:spcPts val="0"/>
                        </a:spcAft>
                        <a:buNone/>
                      </a:pPr>
                      <a:r>
                        <a:rPr lang="en-US" sz="800" b="0" dirty="0">
                          <a:solidFill>
                            <a:srgbClr val="FFC000"/>
                          </a:solidFill>
                        </a:rPr>
                        <a:t>Do not Confuse ANAT, ANAB, </a:t>
                      </a:r>
                      <a:r>
                        <a:rPr lang="en-US" sz="800" b="1" dirty="0">
                          <a:solidFill>
                            <a:srgbClr val="FF0000"/>
                          </a:solidFill>
                        </a:rPr>
                        <a:t>TCAS RA</a:t>
                      </a:r>
                      <a:r>
                        <a:rPr lang="ko-KR" altLang="en-US" sz="800" b="1" dirty="0">
                          <a:solidFill>
                            <a:srgbClr val="FF0000"/>
                          </a:solidFill>
                        </a:rPr>
                        <a:t> </a:t>
                      </a:r>
                      <a:r>
                        <a:rPr lang="en-US" altLang="ko-KR" sz="800" b="1" dirty="0">
                          <a:solidFill>
                            <a:srgbClr val="FF0000"/>
                          </a:solidFill>
                        </a:rPr>
                        <a:t>Des Rate!</a:t>
                      </a:r>
                      <a:endParaRPr sz="800" b="1" dirty="0">
                        <a:solidFill>
                          <a:srgbClr val="FF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05</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xxD</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NULPI/IKOMO</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05</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23</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SUSEL/ELNAK </a:t>
                      </a:r>
                      <a:r>
                        <a:rPr lang="en-US" sz="800" b="1" dirty="0" err="1"/>
                        <a:t>xxC</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AKPEG/LELUN </a:t>
                      </a:r>
                    </a:p>
                  </a:txBody>
                  <a:tcPr marL="36000" marR="36000" marT="36000" marB="36000" anchor="ctr"/>
                </a:tc>
                <a:tc>
                  <a:txBody>
                    <a:bodyPr/>
                    <a:lstStyle/>
                    <a:p>
                      <a:pPr algn="ctr"/>
                      <a:r>
                        <a:rPr lang="en-US" sz="800" b="1" dirty="0"/>
                        <a:t>ILS Z 23</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TIA,</a:t>
                      </a:r>
                      <a:r>
                        <a:rPr lang="en-US" sz="800" b="1" dirty="0">
                          <a:solidFill>
                            <a:srgbClr val="00B050"/>
                          </a:solidFill>
                        </a:rPr>
                        <a:t> </a:t>
                      </a:r>
                      <a:r>
                        <a:rPr lang="en-US" sz="800" b="1" dirty="0">
                          <a:solidFill>
                            <a:srgbClr val="C00000"/>
                          </a:solidFill>
                        </a:rPr>
                        <a:t>05 IKTA, 23 IKTI</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05 : </a:t>
                      </a:r>
                      <a:r>
                        <a:rPr lang="en-US" sz="800" b="1" dirty="0">
                          <a:solidFill>
                            <a:srgbClr val="0070C0"/>
                          </a:solidFill>
                        </a:rPr>
                        <a:t>A5(6562’), A6(7677’)</a:t>
                      </a:r>
                      <a:r>
                        <a:rPr lang="en-US" sz="800" b="1" dirty="0">
                          <a:solidFill>
                            <a:schemeClr val="bg1"/>
                          </a:solidFill>
                        </a:rPr>
                        <a:t>, 23 </a:t>
                      </a:r>
                      <a:r>
                        <a:rPr lang="en-US" altLang="ko-Kore-KR" sz="800" b="1" dirty="0">
                          <a:solidFill>
                            <a:schemeClr val="bg1"/>
                          </a:solidFill>
                        </a:rPr>
                        <a:t>: </a:t>
                      </a:r>
                      <a:r>
                        <a:rPr lang="en-US" altLang="ko-Kore-KR" sz="800" b="1" dirty="0">
                          <a:solidFill>
                            <a:srgbClr val="0070C0"/>
                          </a:solidFill>
                        </a:rPr>
                        <a:t>A4(6562’), A3(7677’)</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Rapid Exit, Non-Grooved RWY</a:t>
                      </a:r>
                      <a:endParaRPr lang="en-US" altLang="ko-K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AA47F5"/>
                          </a:solidFill>
                        </a:rPr>
                        <a:t>Caution Complex Lead Line into MARS</a:t>
                      </a:r>
                      <a:r>
                        <a:rPr lang="en-US" sz="800" b="1" dirty="0">
                          <a:solidFill>
                            <a:srgbClr val="0070C0"/>
                          </a:solidFill>
                        </a:rPr>
                        <a: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864086184"/>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Techo</a:t>
                      </a:r>
                      <a:r>
                        <a:rPr lang="en-US" sz="900" dirty="0"/>
                        <a:t> DIS 129.0</a:t>
                      </a:r>
                    </a:p>
                    <a:p>
                      <a:pPr marL="0" marR="0" lvl="0" indent="0" algn="ctr" rtl="0">
                        <a:spcBef>
                          <a:spcPts val="0"/>
                        </a:spcBef>
                        <a:spcAft>
                          <a:spcPts val="0"/>
                        </a:spcAft>
                        <a:buNone/>
                      </a:pPr>
                      <a:r>
                        <a:rPr lang="en-US" sz="800" b="1" dirty="0">
                          <a:solidFill>
                            <a:srgbClr val="00B05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304DB22-750F-4097-365B-79B389FA238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EF9992-AF81-001B-CCA2-F3309D2FDCF9}"/>
              </a:ext>
            </a:extLst>
          </p:cNvPr>
          <p:cNvGraphicFramePr/>
          <p:nvPr>
            <p:extLst>
              <p:ext uri="{D42A27DB-BD31-4B8C-83A1-F6EECF244321}">
                <p14:modId xmlns:p14="http://schemas.microsoft.com/office/powerpoint/2010/main" val="3963641945"/>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23C5656-F0A2-2385-7D2B-CB2D9225E22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516132"/>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416930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762416676"/>
              </p:ext>
            </p:extLst>
          </p:nvPr>
        </p:nvGraphicFramePr>
        <p:xfrm>
          <a:off x="-15808" y="580010"/>
          <a:ext cx="2349161" cy="1403441"/>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147154">
                  <a:extLst>
                    <a:ext uri="{9D8B030D-6E8A-4147-A177-3AD203B41FA5}">
                      <a16:colId xmlns:a16="http://schemas.microsoft.com/office/drawing/2014/main" val="598001574"/>
                    </a:ext>
                  </a:extLst>
                </a:gridCol>
                <a:gridCol w="635899">
                  <a:extLst>
                    <a:ext uri="{9D8B030D-6E8A-4147-A177-3AD203B41FA5}">
                      <a16:colId xmlns:a16="http://schemas.microsoft.com/office/drawing/2014/main" val="20004"/>
                    </a:ext>
                  </a:extLst>
                </a:gridCol>
                <a:gridCol w="783054">
                  <a:extLst>
                    <a:ext uri="{9D8B030D-6E8A-4147-A177-3AD203B41FA5}">
                      <a16:colId xmlns:a16="http://schemas.microsoft.com/office/drawing/2014/main" val="3334668455"/>
                    </a:ext>
                  </a:extLst>
                </a:gridCol>
              </a:tblGrid>
              <a:tr h="297551">
                <a:tc gridSpan="5">
                  <a:txBody>
                    <a:bodyPr/>
                    <a:lstStyle/>
                    <a:p>
                      <a:pPr marL="0" marR="0" lvl="0" indent="0" algn="ctr" rtl="0">
                        <a:spcBef>
                          <a:spcPts val="0"/>
                        </a:spcBef>
                        <a:spcAft>
                          <a:spcPts val="0"/>
                        </a:spcAft>
                        <a:buNone/>
                      </a:pPr>
                      <a:r>
                        <a:rPr lang="en-US" sz="800" u="none" strike="noStrike" cap="none" dirty="0"/>
                        <a:t>KTI : RNAV SID (NADP 1) TA 10000’</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80290">
                <a:tc>
                  <a:txBody>
                    <a:bodyPr/>
                    <a:lstStyle/>
                    <a:p>
                      <a:pPr marL="0" marR="0" lvl="0" indent="0" algn="ctr" rtl="0">
                        <a:spcBef>
                          <a:spcPts val="0"/>
                        </a:spcBef>
                        <a:spcAft>
                          <a:spcPts val="0"/>
                        </a:spcAft>
                        <a:buNone/>
                      </a:pPr>
                      <a:r>
                        <a:rPr lang="en-US" altLang="ko-KR" sz="800" b="1" u="none" strike="noStrike" cap="none" dirty="0"/>
                        <a:t>0</a:t>
                      </a:r>
                      <a:r>
                        <a:rPr lang="en-US" sz="800" b="1" u="none" strike="noStrike" cap="none" dirty="0"/>
                        <a:t>5</a:t>
                      </a:r>
                      <a:endParaRPr lang="en-US" sz="800" b="0" u="none" strike="noStrike" cap="none" dirty="0"/>
                    </a:p>
                  </a:txBody>
                  <a:tcPr marL="36000" marR="36000" marT="36000" marB="36000" anchor="ctr"/>
                </a:tc>
                <a:tc rowSpan="2" gridSpan="2">
                  <a:txBody>
                    <a:bodyPr/>
                    <a:lstStyle/>
                    <a:p>
                      <a:pPr algn="ctr"/>
                      <a:r>
                        <a:rPr lang="en-US" sz="800" b="1" u="none" strike="noStrike" cap="none" dirty="0">
                          <a:solidFill>
                            <a:srgbClr val="0070C0"/>
                          </a:solidFill>
                        </a:rPr>
                        <a:t>ELNAK xx</a:t>
                      </a:r>
                    </a:p>
                    <a:p>
                      <a:pPr algn="ctr"/>
                      <a:r>
                        <a:rPr lang="en-US" altLang="ko-Kore-KR" sz="800" b="1" u="none" strike="noStrike" cap="none" dirty="0">
                          <a:solidFill>
                            <a:srgbClr val="0070C0"/>
                          </a:solidFill>
                        </a:rPr>
                        <a:t>SUSEL xx</a:t>
                      </a:r>
                      <a:endParaRPr lang="ko-Kore-KR" altLang="en-US" dirty="0"/>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048 </a:t>
                      </a:r>
                      <a:r>
                        <a:rPr lang="en-US" sz="800" b="1" u="none" strike="noStrike" cap="none" dirty="0">
                          <a:solidFill>
                            <a:srgbClr val="0070C0"/>
                          </a:solidFill>
                        </a:rPr>
                        <a:t>ATC (6000) FL170 </a:t>
                      </a:r>
                    </a:p>
                    <a:p>
                      <a:pPr marL="0" marR="0" lvl="0" indent="0" algn="ctr" rtl="0">
                        <a:spcBef>
                          <a:spcPts val="0"/>
                        </a:spcBef>
                        <a:spcAft>
                          <a:spcPts val="0"/>
                        </a:spcAft>
                        <a:buNone/>
                      </a:pPr>
                      <a:r>
                        <a:rPr lang="en-US" altLang="ko-Kore-KR" sz="800" b="1" u="none" strike="noStrike" cap="none" dirty="0">
                          <a:solidFill>
                            <a:srgbClr val="F28943"/>
                          </a:solidFill>
                        </a:rPr>
                        <a:t>TA 10000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72093">
                <a:tc>
                  <a:txBody>
                    <a:bodyPr/>
                    <a:lstStyle/>
                    <a:p>
                      <a:pPr marL="0" marR="0" lvl="0" indent="0" algn="ctr" rtl="0">
                        <a:spcBef>
                          <a:spcPts val="0"/>
                        </a:spcBef>
                        <a:spcAft>
                          <a:spcPts val="0"/>
                        </a:spcAft>
                        <a:buNone/>
                      </a:pPr>
                      <a:r>
                        <a:rPr lang="en-US" altLang="ko-KR" sz="800" b="1" u="none" strike="noStrike" cap="none" dirty="0"/>
                        <a:t>23</a:t>
                      </a:r>
                      <a:endParaRPr sz="800" b="0" u="none" strike="noStrike" cap="none" dirty="0"/>
                    </a:p>
                  </a:txBody>
                  <a:tcPr marL="36000" marR="36000" marT="36000" marB="36000" anchor="ctr"/>
                </a:tc>
                <a:tc gridSpan="2" vMerge="1">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xxE</a:t>
                      </a:r>
                      <a:r>
                        <a:rPr lang="en-US" altLang="ko-Kore-KR" sz="800" b="1" u="none" strike="noStrike" cap="none" dirty="0">
                          <a:solidFill>
                            <a:srgbClr val="0070C0"/>
                          </a:solidFill>
                        </a:rPr>
                        <a:t>/A</a:t>
                      </a:r>
                      <a:endParaRPr lang="ko-Kore-KR" dirty="0"/>
                    </a:p>
                  </a:txBody>
                  <a:tcPr marL="36000" marR="36000" marT="36000" marB="36000" anchor="ctr"/>
                </a:tc>
                <a:tc hMerge="1" vMerge="1">
                  <a:txBody>
                    <a:bodyPr/>
                    <a:lstStyle/>
                    <a:p>
                      <a:endParaRPr lang="ko-Kore-KR" altLang="en-US" dirty="0"/>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sz="800" b="1" u="none" strike="noStrike" cap="none" dirty="0"/>
                        <a:t>HD 228 </a:t>
                      </a:r>
                      <a:r>
                        <a:rPr lang="en-US" sz="800" b="1" u="none" strike="noStrike" cap="none" dirty="0">
                          <a:solidFill>
                            <a:srgbClr val="0070C0"/>
                          </a:solidFill>
                        </a:rPr>
                        <a:t>ATC(6000)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u="none" strike="noStrike" cap="none" dirty="0">
                          <a:solidFill>
                            <a:srgbClr val="F28943"/>
                          </a:solidFill>
                        </a:rPr>
                        <a:t>TA 10000</a:t>
                      </a:r>
                      <a:endParaRPr lang="ko-Kore-KR" altLang="en-US" sz="600"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7209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TIA 111.0</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 IKTI 110.1</a:t>
                      </a: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 IKTA 108.75</a:t>
                      </a:r>
                    </a:p>
                  </a:txBody>
                  <a:tcPr marL="36000" marR="36000" marT="36000" marB="36000" anchor="ctr"/>
                </a:tc>
                <a:extLst>
                  <a:ext uri="{0D108BD9-81ED-4DB2-BD59-A6C34878D82A}">
                    <a16:rowId xmlns:a16="http://schemas.microsoft.com/office/drawing/2014/main" val="10003"/>
                  </a:ext>
                </a:extLst>
              </a:tr>
              <a:tr h="28029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RWY23 Do not Overshoot B17</a:t>
                      </a:r>
                      <a:endParaRPr lang="en-US" sz="800" b="1" u="none" strike="noStrike" cap="none" dirty="0">
                        <a:solidFill>
                          <a:schemeClr val="tx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56530683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VDTI(KTI)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err="1">
                          <a:solidFill>
                            <a:schemeClr val="bg1"/>
                          </a:solidFill>
                        </a:rPr>
                        <a:t>Techo</a:t>
                      </a:r>
                      <a:r>
                        <a:rPr lang="en-US" sz="800" dirty="0">
                          <a:solidFill>
                            <a:schemeClr val="bg1"/>
                          </a:solidFill>
                        </a:rPr>
                        <a:t> DIS 129.0</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PUSHBACK -10min</a:t>
                      </a:r>
                      <a:r>
                        <a:rPr lang="ko-KR" altLang="en-US" sz="700" dirty="0">
                          <a:solidFill>
                            <a:srgbClr val="FF0000"/>
                          </a:solidFill>
                        </a:rPr>
                        <a:t> </a:t>
                      </a:r>
                      <a:r>
                        <a:rPr lang="en-US" altLang="ko-KR" sz="700" dirty="0">
                          <a:solidFill>
                            <a:srgbClr val="FF0000"/>
                          </a:solidFill>
                        </a:rPr>
                        <a:t>GND 121.9 </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58973" y="2052008"/>
            <a:ext cx="1718740" cy="1340230"/>
          </a:xfrm>
          <a:prstGeom prst="rect">
            <a:avLst/>
          </a:prstGeom>
          <a:noFill/>
        </p:spPr>
        <p:txBody>
          <a:bodyPr wrap="none" tIns="36000" bIns="36000" rtlCol="0" anchor="ctr">
            <a:spAutoFit/>
          </a:bodyPr>
          <a:lstStyle/>
          <a:p>
            <a:pPr>
              <a:lnSpc>
                <a:spcPct val="150000"/>
              </a:lnSpc>
            </a:pPr>
            <a:r>
              <a:rPr kumimoji="1" lang="en-US" altLang="ko-Kore-KR" sz="700" b="1" dirty="0">
                <a:solidFill>
                  <a:srgbClr val="AA47F5"/>
                </a:solidFill>
                <a:latin typeface="Gulim" panose="020B0600000101010101" pitchFamily="34" charset="-127"/>
                <a:ea typeface="Gulim" panose="020B0600000101010101" pitchFamily="34" charset="-127"/>
              </a:rPr>
              <a:t>APP 123.8 (AUTO)</a:t>
            </a:r>
          </a:p>
          <a:p>
            <a:pPr>
              <a:lnSpc>
                <a:spcPct val="150000"/>
              </a:lnSpc>
            </a:pPr>
            <a:r>
              <a:rPr kumimoji="1" lang="en-US" altLang="ko-KR" sz="700" b="1" dirty="0">
                <a:latin typeface="Gulim" panose="020B0600000101010101" pitchFamily="34" charset="-127"/>
                <a:ea typeface="Gulim" panose="020B0600000101010101" pitchFamily="34" charset="-127"/>
              </a:rPr>
              <a:t>CPDLC  - AKOTA 15-45min VVHM </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R" sz="700" b="1" dirty="0">
                <a:latin typeface="Gulim" panose="020B0600000101010101" pitchFamily="34" charset="-127"/>
                <a:ea typeface="Gulim" panose="020B0600000101010101" pitchFamily="34" charset="-127"/>
              </a:rPr>
              <a:t>- POTIB 10-25min RPHI</a:t>
            </a:r>
            <a:endParaRPr kumimoji="1" lang="en-US" altLang="ko-Kore-KR" sz="700" b="1" dirty="0">
              <a:latin typeface="Gulim" panose="020B0600000101010101" pitchFamily="34" charset="-127"/>
              <a:ea typeface="Gulim" panose="020B0600000101010101" pitchFamily="34" charset="-127"/>
            </a:endParaRPr>
          </a:p>
          <a:p>
            <a:pPr>
              <a:lnSpc>
                <a:spcPct val="150000"/>
              </a:lnSpc>
            </a:pPr>
            <a:r>
              <a:rPr kumimoji="1" lang="en-US" altLang="ko-Kore-KR" sz="700" b="1" dirty="0">
                <a:latin typeface="Gulim" panose="020B0600000101010101" pitchFamily="34" charset="-127"/>
                <a:ea typeface="Gulim" panose="020B0600000101010101" pitchFamily="34" charset="-127"/>
              </a:rPr>
              <a:t>ETA ARESI</a:t>
            </a:r>
          </a:p>
          <a:p>
            <a:pPr>
              <a:lnSpc>
                <a:spcPct val="150000"/>
              </a:lnSpc>
            </a:pPr>
            <a:r>
              <a:rPr kumimoji="1" lang="en-US" altLang="ko-Kore-KR" sz="700" b="1" dirty="0">
                <a:latin typeface="Gulim" panose="020B0600000101010101" pitchFamily="34" charset="-127"/>
                <a:ea typeface="Gulim" panose="020B0600000101010101" pitchFamily="34" charset="-127"/>
              </a:rPr>
              <a:t>MNL RDO 8942/5655 At ARESI </a:t>
            </a:r>
          </a:p>
          <a:p>
            <a:pPr>
              <a:lnSpc>
                <a:spcPct val="150000"/>
              </a:lnSpc>
            </a:pPr>
            <a:r>
              <a:rPr kumimoji="1" lang="en-US" altLang="ko-Kore-KR" sz="700" b="1" dirty="0">
                <a:latin typeface="Gulim" panose="020B0600000101010101" pitchFamily="34" charset="-127"/>
                <a:ea typeface="Gulim" panose="020B0600000101010101" pitchFamily="34" charset="-127"/>
              </a:rPr>
              <a:t>MNL 119.3 At -10NM AKOTA </a:t>
            </a:r>
          </a:p>
          <a:p>
            <a:pPr>
              <a:lnSpc>
                <a:spcPct val="150000"/>
              </a:lnSpc>
            </a:pPr>
            <a:r>
              <a:rPr kumimoji="1" lang="en-US" altLang="ko-KR" sz="700" b="1" dirty="0">
                <a:latin typeface="Gulim" panose="020B0600000101010101" pitchFamily="34" charset="-127"/>
                <a:ea typeface="Gulim" panose="020B0600000101010101" pitchFamily="34" charset="-127"/>
              </a:rPr>
              <a:t>ETA POTIB</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A271B0A-E414-C9F5-151D-200BBB86EC52}"/>
              </a:ext>
            </a:extLst>
          </p:cNvPr>
          <p:cNvSpPr/>
          <p:nvPr/>
        </p:nvSpPr>
        <p:spPr>
          <a:xfrm>
            <a:off x="832566" y="169688"/>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C9F481C6-C01C-4F73-A549-FCB9F933ACC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4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3CF3225-7BEB-B30D-440D-047BFAC9BC83}"/>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635931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2501" y="2824124"/>
            <a:ext cx="689612" cy="209151"/>
          </a:xfrm>
          <a:prstGeom prst="rect">
            <a:avLst/>
          </a:prstGeom>
          <a:noFill/>
        </p:spPr>
        <p:txBody>
          <a:bodyPr wrap="none" tIns="36000" bIns="36000" rtlCol="0" anchor="ctr">
            <a:spAutoFit/>
          </a:bodyPr>
          <a:lstStyle/>
          <a:p>
            <a:pPr>
              <a:lnSpc>
                <a:spcPct val="150000"/>
              </a:lnSpc>
            </a:pPr>
            <a:r>
              <a:rPr kumimoji="1" lang="en-US" altLang="ko-Kore-KR" sz="700" b="1" dirty="0">
                <a:solidFill>
                  <a:srgbClr val="FF0000"/>
                </a:solidFill>
                <a:latin typeface="Gulim" panose="020B0600000101010101" pitchFamily="34" charset="-127"/>
                <a:ea typeface="Gulim" panose="020B0600000101010101" pitchFamily="34" charset="-127"/>
              </a:rPr>
              <a:t>SENKA</a:t>
            </a:r>
            <a:r>
              <a:rPr kumimoji="1" lang="ko-KR" altLang="en-US" sz="700" b="1" dirty="0">
                <a:solidFill>
                  <a:srgbClr val="FF0000"/>
                </a:solidFill>
                <a:latin typeface="Gulim" panose="020B0600000101010101" pitchFamily="34" charset="-127"/>
                <a:ea typeface="Gulim" panose="020B0600000101010101" pitchFamily="34" charset="-127"/>
              </a:rPr>
              <a:t> </a:t>
            </a:r>
            <a:r>
              <a:rPr kumimoji="1" lang="en-US" altLang="ko-KR" sz="700" b="1" dirty="0">
                <a:solidFill>
                  <a:srgbClr val="FF0000"/>
                </a:solidFill>
                <a:latin typeface="Gulim" panose="020B0600000101010101" pitchFamily="34" charset="-127"/>
                <a:ea typeface="Gulim" panose="020B0600000101010101" pitchFamily="34" charset="-127"/>
              </a:rPr>
              <a:t>/20 </a:t>
            </a:r>
            <a:endParaRPr kumimoji="1" lang="en-US" altLang="ko-KR" sz="700" b="1"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p:cNvGraphicFramePr/>
          <p:nvPr>
            <p:extLst>
              <p:ext uri="{D42A27DB-BD31-4B8C-83A1-F6EECF244321}">
                <p14:modId xmlns:p14="http://schemas.microsoft.com/office/powerpoint/2010/main" val="3474712196"/>
              </p:ext>
            </p:extLst>
          </p:nvPr>
        </p:nvGraphicFramePr>
        <p:xfrm>
          <a:off x="-2501" y="3523141"/>
          <a:ext cx="2327659" cy="154873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782392">
                  <a:extLst>
                    <a:ext uri="{9D8B030D-6E8A-4147-A177-3AD203B41FA5}">
                      <a16:colId xmlns:a16="http://schemas.microsoft.com/office/drawing/2014/main" val="20001"/>
                    </a:ext>
                  </a:extLst>
                </a:gridCol>
                <a:gridCol w="550869">
                  <a:extLst>
                    <a:ext uri="{9D8B030D-6E8A-4147-A177-3AD203B41FA5}">
                      <a16:colId xmlns:a16="http://schemas.microsoft.com/office/drawing/2014/main" val="502366202"/>
                    </a:ext>
                  </a:extLst>
                </a:gridCol>
                <a:gridCol w="629851">
                  <a:extLst>
                    <a:ext uri="{9D8B030D-6E8A-4147-A177-3AD203B41FA5}">
                      <a16:colId xmlns:a16="http://schemas.microsoft.com/office/drawing/2014/main" val="992510185"/>
                    </a:ext>
                  </a:extLst>
                </a:gridCol>
              </a:tblGrid>
              <a:tr h="250971">
                <a:tc gridSpan="4">
                  <a:txBody>
                    <a:bodyPr/>
                    <a:lstStyle/>
                    <a:p>
                      <a:pPr marL="0" marR="0" lvl="0" indent="0" algn="ctr" rtl="0">
                        <a:spcBef>
                          <a:spcPts val="0"/>
                        </a:spcBef>
                        <a:spcAft>
                          <a:spcPts val="0"/>
                        </a:spcAft>
                        <a:buNone/>
                      </a:pPr>
                      <a:r>
                        <a:rPr lang="en-US" sz="800" dirty="0"/>
                        <a:t>TPE </a:t>
                      </a:r>
                      <a:r>
                        <a:rPr lang="en-US" sz="800" dirty="0">
                          <a:solidFill>
                            <a:srgbClr val="00B0F0"/>
                          </a:solidFill>
                        </a:rPr>
                        <a:t>[054/234]</a:t>
                      </a:r>
                      <a:r>
                        <a:rPr lang="en-US" sz="800" dirty="0"/>
                        <a:t> : TL130 </a:t>
                      </a:r>
                      <a:r>
                        <a:rPr lang="en-US" sz="800" dirty="0">
                          <a:solidFill>
                            <a:schemeClr val="accent4"/>
                          </a:solidFill>
                        </a:rPr>
                        <a:t>COPRA FL200 (</a:t>
                      </a:r>
                      <a:r>
                        <a:rPr lang="en-US" sz="800" b="0" dirty="0">
                          <a:solidFill>
                            <a:srgbClr val="FFC000"/>
                          </a:solidFill>
                        </a:rPr>
                        <a:t>FL250-130 : 280kts, FL130-10000ft : Max 280kts, APP Chart Text)</a:t>
                      </a:r>
                      <a:endParaRPr sz="800" b="1" dirty="0">
                        <a:solidFill>
                          <a:srgbClr val="C00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2316">
                <a:tc>
                  <a:txBody>
                    <a:bodyPr/>
                    <a:lstStyle/>
                    <a:p>
                      <a:pPr marL="0" marR="0" lvl="0" indent="0" algn="ctr" rtl="0">
                        <a:spcBef>
                          <a:spcPts val="0"/>
                        </a:spcBef>
                        <a:spcAft>
                          <a:spcPts val="0"/>
                        </a:spcAft>
                        <a:buNone/>
                      </a:pPr>
                      <a:r>
                        <a:rPr lang="en-US" altLang="ko-KR" sz="800" b="1" dirty="0"/>
                        <a:t>05</a:t>
                      </a:r>
                      <a:r>
                        <a:rPr lang="en-US" sz="800" b="1" dirty="0"/>
                        <a:t>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BAKER xx A</a:t>
                      </a:r>
                      <a:endParaRPr lang="en-US" sz="700" b="1" dirty="0"/>
                    </a:p>
                  </a:txBody>
                  <a:tcPr marL="36000" marR="36000" marT="36000" marB="36000" anchor="ctr"/>
                </a:tc>
                <a:tc>
                  <a:txBody>
                    <a:bodyPr/>
                    <a:lstStyle/>
                    <a:p>
                      <a:pPr algn="ctr"/>
                      <a:r>
                        <a:rPr lang="en-US" altLang="ko-Kore-KR" sz="800" b="1" dirty="0"/>
                        <a:t>JAMMY</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ILS 05L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145153">
                <a:tc>
                  <a:txBody>
                    <a:bodyPr/>
                    <a:lstStyle/>
                    <a:p>
                      <a:pPr marL="0" marR="0" lvl="0" indent="0" algn="ctr" rtl="0">
                        <a:spcBef>
                          <a:spcPts val="0"/>
                        </a:spcBef>
                        <a:spcAft>
                          <a:spcPts val="0"/>
                        </a:spcAft>
                        <a:buNone/>
                      </a:pPr>
                      <a:r>
                        <a:rPr lang="en-US" altLang="ko-KR" sz="800" b="1" dirty="0"/>
                        <a:t>23</a:t>
                      </a:r>
                      <a:r>
                        <a:rPr lang="en-US" sz="800" b="1" dirty="0"/>
                        <a:t>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BAKER xx B</a:t>
                      </a:r>
                      <a:endParaRPr lang="en-US" altLang="ko-Kore-KR" sz="800" b="1"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AUGUR</a:t>
                      </a:r>
                      <a:endParaRPr lang="ko-Kore-KR" altLang="en-US" dirty="0"/>
                    </a:p>
                  </a:txBody>
                  <a:tcPr marL="36000" marR="36000" marT="36000" marB="36000" anchor="ctr"/>
                </a:tc>
                <a:tc>
                  <a:txBody>
                    <a:bodyPr/>
                    <a:lstStyle/>
                    <a:p>
                      <a:pPr algn="ctr"/>
                      <a:r>
                        <a:rPr lang="en-US" sz="800" b="1" dirty="0"/>
                        <a:t>ILS 23R</a:t>
                      </a:r>
                      <a:r>
                        <a:rPr lang="en-US" sz="800" b="0" dirty="0"/>
                        <a:t>/L</a:t>
                      </a:r>
                      <a:endParaRPr lang="ko-Kore-KR" altLang="en-US" b="0" dirty="0"/>
                    </a:p>
                  </a:txBody>
                  <a:tcPr marL="36000" marR="36000" marT="36000" marB="36000" anchor="ctr"/>
                </a:tc>
                <a:extLst>
                  <a:ext uri="{0D108BD9-81ED-4DB2-BD59-A6C34878D82A}">
                    <a16:rowId xmlns:a16="http://schemas.microsoft.com/office/drawing/2014/main" val="10002"/>
                  </a:ext>
                </a:extLst>
              </a:tr>
              <a:tr h="145153">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VOR, </a:t>
                      </a:r>
                      <a:r>
                        <a:rPr lang="en-US" sz="800" b="1" dirty="0">
                          <a:solidFill>
                            <a:srgbClr val="C00000"/>
                          </a:solidFill>
                        </a:rPr>
                        <a:t>05L ITIA, 23R ITYA, 05R ICKS, 23L ICJN</a:t>
                      </a:r>
                    </a:p>
                  </a:txBody>
                  <a:tcPr marL="0" marR="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3641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05L : N7(5787’), N8(7411’),  23R : N4(6656’), N3(9340’)</a:t>
                      </a:r>
                      <a:endParaRPr sz="800"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a:t>
                      </a:r>
                      <a:r>
                        <a:rPr lang="en-US" sz="800" b="1" dirty="0">
                          <a:solidFill>
                            <a:srgbClr val="C00000"/>
                          </a:solidFill>
                        </a:rPr>
                        <a:t>DIS</a:t>
                      </a:r>
                      <a:r>
                        <a:rPr lang="en-US" sz="800" b="1" dirty="0">
                          <a:solidFill>
                            <a:schemeClr val="dk1"/>
                          </a:solidFill>
                        </a:rPr>
                        <a:t>:S6(5419’),S7(7244’),23L</a:t>
                      </a:r>
                      <a:r>
                        <a:rPr lang="en-US" sz="800" b="1" dirty="0">
                          <a:solidFill>
                            <a:srgbClr val="C00000"/>
                          </a:solidFill>
                        </a:rPr>
                        <a:t>DIS</a:t>
                      </a:r>
                      <a:r>
                        <a:rPr lang="en-US" sz="800" b="1" dirty="0">
                          <a:solidFill>
                            <a:schemeClr val="dk1"/>
                          </a:solidFill>
                        </a:rPr>
                        <a:t>:S5(5442’),S4(7470’)</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451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No VOR at TPE</a:t>
                      </a:r>
                      <a:r>
                        <a:rPr lang="en-US" sz="800" b="1" dirty="0">
                          <a:solidFill>
                            <a:srgbClr val="C00000"/>
                          </a:solidFill>
                        </a:rPr>
                        <a:t>, A-VDGS see below</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B050"/>
                          </a:solidFill>
                        </a:rPr>
                        <a:t>Center Green, </a:t>
                      </a:r>
                      <a:r>
                        <a:rPr lang="en-US" sz="800" b="1" dirty="0">
                          <a:solidFill>
                            <a:srgbClr val="C00000"/>
                          </a:solidFill>
                        </a:rPr>
                        <a:t>Deviation by Arrow,</a:t>
                      </a:r>
                      <a:r>
                        <a:rPr lang="en-US" sz="800" b="1" dirty="0">
                          <a:solidFill>
                            <a:srgbClr val="00B050"/>
                          </a:solidFill>
                        </a:rPr>
                        <a:t> </a:t>
                      </a:r>
                      <a:r>
                        <a:rPr lang="en-US" sz="800" b="1" dirty="0">
                          <a:solidFill>
                            <a:srgbClr val="F28943"/>
                          </a:solidFill>
                        </a:rPr>
                        <a:t>Distance Yellow</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579294130"/>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Dynasty Operation 131.3</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E70852D-DC5C-881C-39DB-E6EA2011E0C7}"/>
              </a:ext>
            </a:extLst>
          </p:cNvPr>
          <p:cNvGraphicFramePr/>
          <p:nvPr>
            <p:extLst>
              <p:ext uri="{D42A27DB-BD31-4B8C-83A1-F6EECF244321}">
                <p14:modId xmlns:p14="http://schemas.microsoft.com/office/powerpoint/2010/main" val="2020466050"/>
              </p:ext>
            </p:extLst>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1D93FA4-FA06-DBB2-6430-29E387D3E58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8026"/>
            <a:ext cx="457200" cy="457200"/>
          </a:xfrm>
          <a:prstGeom prst="rect">
            <a:avLst/>
          </a:prstGeom>
          <a:effectLst>
            <a:outerShdw blurRad="50800" dist="50800" dir="3660000" algn="ctr" rotWithShape="0">
              <a:schemeClr val="bg1">
                <a:alpha val="82714"/>
              </a:schemeClr>
            </a:outerShdw>
          </a:effectLst>
        </p:spPr>
      </p:pic>
      <p:pic>
        <p:nvPicPr>
          <p:cNvPr id="1026" name="Picture 2">
            <a:extLst>
              <a:ext uri="{FF2B5EF4-FFF2-40B4-BE49-F238E27FC236}">
                <a16:creationId xmlns:a16="http://schemas.microsoft.com/office/drawing/2014/main" id="{FBE1AC80-6BA0-7BB6-1502-6019541141A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54757" y="5108359"/>
            <a:ext cx="1833674" cy="45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96950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1034066550"/>
              </p:ext>
            </p:extLst>
          </p:nvPr>
        </p:nvGraphicFramePr>
        <p:xfrm>
          <a:off x="-4046" y="586900"/>
          <a:ext cx="2333616" cy="1354810"/>
        </p:xfrm>
        <a:graphic>
          <a:graphicData uri="http://schemas.openxmlformats.org/drawingml/2006/table">
            <a:tbl>
              <a:tblPr firstRow="1" bandRow="1">
                <a:noFill/>
                <a:tableStyleId>{A521BE36-7E6F-4EC9-8D66-1CF97A6895EC}</a:tableStyleId>
              </a:tblPr>
              <a:tblGrid>
                <a:gridCol w="328558">
                  <a:extLst>
                    <a:ext uri="{9D8B030D-6E8A-4147-A177-3AD203B41FA5}">
                      <a16:colId xmlns:a16="http://schemas.microsoft.com/office/drawing/2014/main" val="20000"/>
                    </a:ext>
                  </a:extLst>
                </a:gridCol>
                <a:gridCol w="246255">
                  <a:extLst>
                    <a:ext uri="{9D8B030D-6E8A-4147-A177-3AD203B41FA5}">
                      <a16:colId xmlns:a16="http://schemas.microsoft.com/office/drawing/2014/main" val="20002"/>
                    </a:ext>
                  </a:extLst>
                </a:gridCol>
                <a:gridCol w="509735">
                  <a:extLst>
                    <a:ext uri="{9D8B030D-6E8A-4147-A177-3AD203B41FA5}">
                      <a16:colId xmlns:a16="http://schemas.microsoft.com/office/drawing/2014/main" val="3074145424"/>
                    </a:ext>
                  </a:extLst>
                </a:gridCol>
                <a:gridCol w="65078">
                  <a:extLst>
                    <a:ext uri="{9D8B030D-6E8A-4147-A177-3AD203B41FA5}">
                      <a16:colId xmlns:a16="http://schemas.microsoft.com/office/drawing/2014/main" val="20005"/>
                    </a:ext>
                  </a:extLst>
                </a:gridCol>
                <a:gridCol w="609178">
                  <a:extLst>
                    <a:ext uri="{9D8B030D-6E8A-4147-A177-3AD203B41FA5}">
                      <a16:colId xmlns:a16="http://schemas.microsoft.com/office/drawing/2014/main" val="1340331702"/>
                    </a:ext>
                  </a:extLst>
                </a:gridCol>
                <a:gridCol w="574812">
                  <a:extLst>
                    <a:ext uri="{9D8B030D-6E8A-4147-A177-3AD203B41FA5}">
                      <a16:colId xmlns:a16="http://schemas.microsoft.com/office/drawing/2014/main" val="456264174"/>
                    </a:ext>
                  </a:extLst>
                </a:gridCol>
              </a:tblGrid>
              <a:tr h="0">
                <a:tc gridSpan="6">
                  <a:txBody>
                    <a:bodyPr/>
                    <a:lstStyle/>
                    <a:p>
                      <a:pPr marL="0" marR="0" lvl="0" indent="0" algn="ctr" rtl="0">
                        <a:spcBef>
                          <a:spcPts val="0"/>
                        </a:spcBef>
                        <a:spcAft>
                          <a:spcPts val="0"/>
                        </a:spcAft>
                        <a:buNone/>
                      </a:pPr>
                      <a:r>
                        <a:rPr lang="en-US" sz="800" u="none" strike="noStrike" cap="none" dirty="0"/>
                        <a:t>TPE : RNAV SID (NADP 1) TA 11000</a:t>
                      </a:r>
                    </a:p>
                    <a:p>
                      <a:pPr marL="0" marR="0" lvl="0" indent="0" algn="ctr" rtl="0">
                        <a:spcBef>
                          <a:spcPts val="0"/>
                        </a:spcBef>
                        <a:spcAft>
                          <a:spcPts val="0"/>
                        </a:spcAft>
                        <a:buNone/>
                      </a:pPr>
                      <a:r>
                        <a:rPr lang="en-US" sz="800" u="none" strike="noStrike" cap="none" dirty="0">
                          <a:solidFill>
                            <a:schemeClr val="accent4"/>
                          </a:solidFill>
                        </a:rPr>
                        <a:t>Be Ready Intersection T/O, A030 -&gt; 3000ft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05R</a:t>
                      </a:r>
                      <a:r>
                        <a:rPr lang="en-US" sz="800" b="0" u="none" strike="noStrike" cap="none" dirty="0"/>
                        <a:t>/L</a:t>
                      </a:r>
                    </a:p>
                  </a:txBody>
                  <a:tcPr marL="36000" marR="36000" marT="36000" marB="36000" anchor="ctr"/>
                </a:tc>
                <a:tc gridSpan="2">
                  <a:txBody>
                    <a:bodyPr/>
                    <a:lstStyle/>
                    <a:p>
                      <a:pPr algn="ctr"/>
                      <a:r>
                        <a:rPr lang="en-US" sz="800" b="1" u="none" strike="noStrike" cap="none" dirty="0">
                          <a:solidFill>
                            <a:srgbClr val="0070C0"/>
                          </a:solidFill>
                        </a:rPr>
                        <a:t>PIANO </a:t>
                      </a:r>
                      <a:r>
                        <a:rPr lang="en-US" sz="800" b="1" u="none" strike="noStrike" cap="none" dirty="0" err="1">
                          <a:solidFill>
                            <a:srgbClr val="0070C0"/>
                          </a:solidFill>
                        </a:rPr>
                        <a:t>xxA</a:t>
                      </a:r>
                      <a:r>
                        <a:rPr lang="en-US" sz="800" b="1" u="none" strike="noStrike" cap="none" dirty="0">
                          <a:solidFill>
                            <a:srgbClr val="0070C0"/>
                          </a:solidFill>
                        </a:rPr>
                        <a:t>/C</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054</a:t>
                      </a:r>
                      <a:r>
                        <a:rPr lang="en-US" sz="800" b="1" u="none" strike="noStrike" cap="none" dirty="0">
                          <a:solidFill>
                            <a:schemeClr val="dk1"/>
                          </a:solidFill>
                        </a:rPr>
                        <a:t> </a:t>
                      </a:r>
                      <a:r>
                        <a:rPr lang="en-US" sz="800" b="1" u="none" strike="noStrike" cap="none" dirty="0">
                          <a:solidFill>
                            <a:srgbClr val="0070C0"/>
                          </a:solidFill>
                        </a:rPr>
                        <a:t>ALT ATC </a:t>
                      </a:r>
                      <a:r>
                        <a:rPr lang="en-US" sz="800" b="1" u="none" strike="noStrike" cap="none" dirty="0">
                          <a:solidFill>
                            <a:srgbClr val="F28943"/>
                          </a:solidFill>
                        </a:rPr>
                        <a:t>TA 11000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23L</a:t>
                      </a:r>
                      <a:r>
                        <a:rPr lang="en-US" sz="800" b="0" u="none" strike="noStrike" cap="none" dirty="0"/>
                        <a:t>/R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PIANO </a:t>
                      </a:r>
                      <a:r>
                        <a:rPr lang="en-US" altLang="ko-Kore-KR" sz="800" b="1" u="none" strike="noStrike" cap="none" dirty="0" err="1">
                          <a:solidFill>
                            <a:srgbClr val="0070C0"/>
                          </a:solidFill>
                        </a:rPr>
                        <a:t>xxD</a:t>
                      </a:r>
                      <a:r>
                        <a:rPr lang="en-US" altLang="ko-Kore-KR" sz="800" b="1" u="none" strike="noStrike" cap="none" dirty="0">
                          <a:solidFill>
                            <a:srgbClr val="0070C0"/>
                          </a:solidFill>
                        </a:rPr>
                        <a:t>/B</a:t>
                      </a:r>
                      <a:endParaRPr lang="ko-Kore-KR" dirty="0"/>
                    </a:p>
                  </a:txBody>
                  <a:tcPr marL="36000" marR="36000" marT="36000" marB="36000" anchor="ctr"/>
                </a:tc>
                <a:tc hMerge="1">
                  <a:txBody>
                    <a:bodyPr/>
                    <a:lstStyle/>
                    <a:p>
                      <a:endParaRPr lang="ko-Kore-KR" altLang="en-US"/>
                    </a:p>
                  </a:txBody>
                  <a:tcPr/>
                </a:tc>
                <a:tc gridSpan="3">
                  <a:txBody>
                    <a:bodyPr/>
                    <a:lstStyle/>
                    <a:p>
                      <a:pPr algn="ctr"/>
                      <a:r>
                        <a:rPr lang="en-US" sz="800" b="1" u="none" strike="noStrike" cap="none" dirty="0"/>
                        <a:t>HD 234 </a:t>
                      </a:r>
                      <a:r>
                        <a:rPr lang="en-US" sz="800" b="1" u="none" strike="noStrike" cap="none" dirty="0">
                          <a:solidFill>
                            <a:srgbClr val="0070C0"/>
                          </a:solidFill>
                        </a:rPr>
                        <a:t>ALT ATC </a:t>
                      </a:r>
                      <a:r>
                        <a:rPr lang="en-US" altLang="ko-Kore-KR" sz="800" b="1" u="none" strike="noStrike" cap="none" dirty="0">
                          <a:solidFill>
                            <a:srgbClr val="7030A0"/>
                          </a:solidFill>
                        </a:rPr>
                        <a:t>SPD 210 </a:t>
                      </a:r>
                    </a:p>
                    <a:p>
                      <a:pPr algn="ctr"/>
                      <a:r>
                        <a:rPr lang="en-US" altLang="ko-Kore-KR" sz="800" b="1" u="none" strike="noStrike" cap="none" dirty="0">
                          <a:solidFill>
                            <a:srgbClr val="F28943"/>
                          </a:solidFill>
                        </a:rPr>
                        <a:t>TA 11000</a:t>
                      </a:r>
                      <a:endParaRPr lang="ko-Kore-KR" altLang="en-US"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ITIA 111.1</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ITYA 109.3</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ICKS 110.7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ICJN 111.9</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“DCT PIANO then L3 RNAV Transition”</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738924263"/>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RCTP(TPE)108ft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Dynasty Operation 131.3</a:t>
                      </a:r>
                      <a:endParaRPr sz="1200" dirty="0"/>
                    </a:p>
                    <a:p>
                      <a:pPr marL="0" marR="0" lvl="0" indent="0" algn="ctr" rtl="0">
                        <a:spcBef>
                          <a:spcPts val="0"/>
                        </a:spcBef>
                        <a:spcAft>
                          <a:spcPts val="0"/>
                        </a:spcAft>
                        <a:buNone/>
                      </a:pPr>
                      <a:r>
                        <a:rPr lang="en-US" altLang="ko-KR" sz="700" dirty="0">
                          <a:solidFill>
                            <a:srgbClr val="FF0000"/>
                          </a:solidFill>
                        </a:rPr>
                        <a:t>DCL </a:t>
                      </a:r>
                      <a:r>
                        <a:rPr lang="en-US" altLang="ko-KR" sz="700">
                          <a:solidFill>
                            <a:srgbClr val="FF0000"/>
                          </a:solidFill>
                        </a:rPr>
                        <a:t>no time, </a:t>
                      </a:r>
                      <a:r>
                        <a:rPr lang="en-US" altLang="ko-KR" sz="700" dirty="0">
                          <a:solidFill>
                            <a:srgbClr val="FF0000"/>
                          </a:solidFill>
                        </a:rPr>
                        <a:t>Voice -5min</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14CA6956-FB7E-2FB3-571E-9A16B59F12B1}"/>
              </a:ext>
            </a:extLst>
          </p:cNvPr>
          <p:cNvSpPr txBox="1"/>
          <p:nvPr/>
        </p:nvSpPr>
        <p:spPr>
          <a:xfrm>
            <a:off x="0" y="1976954"/>
            <a:ext cx="659155" cy="370733"/>
          </a:xfrm>
          <a:prstGeom prst="rect">
            <a:avLst/>
          </a:prstGeom>
          <a:noFill/>
        </p:spPr>
        <p:txBody>
          <a:bodyPr wrap="none" tIns="36000" bIns="36000" rtlCol="0" anchor="ctr">
            <a:spAutoFit/>
          </a:bodyPr>
          <a:lstStyle/>
          <a:p>
            <a:pPr>
              <a:lnSpc>
                <a:spcPct val="150000"/>
              </a:lnSpc>
            </a:pPr>
            <a:r>
              <a:rPr kumimoji="1" lang="en-US" altLang="ko-KR" sz="700" b="1"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912590"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24C865EB-9186-4C7B-72B8-4A2B02005AF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41502"/>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8CBBF8A0-E6B8-21AA-1228-2F4DABB2218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862430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5A22679A-520A-91C6-D941-83AF99EF4102}"/>
            </a:ext>
          </a:extLst>
        </p:cNvPr>
        <p:cNvGrpSpPr/>
        <p:nvPr/>
      </p:nvGrpSpPr>
      <p:grpSpPr>
        <a:xfrm>
          <a:off x="0" y="0"/>
          <a:ext cx="0" cy="0"/>
          <a:chOff x="0" y="0"/>
          <a:chExt cx="0" cy="0"/>
        </a:xfrm>
      </p:grpSpPr>
      <p:graphicFrame>
        <p:nvGraphicFramePr>
          <p:cNvPr id="292" name="Google Shape;292;p18">
            <a:extLst>
              <a:ext uri="{FF2B5EF4-FFF2-40B4-BE49-F238E27FC236}">
                <a16:creationId xmlns:a16="http://schemas.microsoft.com/office/drawing/2014/main" id="{E3755076-0569-5E5D-34B7-7C6519A36E2D}"/>
              </a:ext>
            </a:extLst>
          </p:cNvPr>
          <p:cNvGraphicFramePr/>
          <p:nvPr>
            <p:extLst>
              <p:ext uri="{D42A27DB-BD31-4B8C-83A1-F6EECF244321}">
                <p14:modId xmlns:p14="http://schemas.microsoft.com/office/powerpoint/2010/main" val="444888600"/>
              </p:ext>
            </p:extLst>
          </p:nvPr>
        </p:nvGraphicFramePr>
        <p:xfrm>
          <a:off x="9886" y="3759406"/>
          <a:ext cx="2307264" cy="1792570"/>
        </p:xfrm>
        <a:graphic>
          <a:graphicData uri="http://schemas.openxmlformats.org/drawingml/2006/table">
            <a:tbl>
              <a:tblPr firstRow="1" bandRow="1">
                <a:noFill/>
                <a:tableStyleId>{A521BE36-7E6F-4EC9-8D66-1CF97A6895EC}</a:tableStyleId>
              </a:tblPr>
              <a:tblGrid>
                <a:gridCol w="350103">
                  <a:extLst>
                    <a:ext uri="{9D8B030D-6E8A-4147-A177-3AD203B41FA5}">
                      <a16:colId xmlns:a16="http://schemas.microsoft.com/office/drawing/2014/main" val="20000"/>
                    </a:ext>
                  </a:extLst>
                </a:gridCol>
                <a:gridCol w="687873">
                  <a:extLst>
                    <a:ext uri="{9D8B030D-6E8A-4147-A177-3AD203B41FA5}">
                      <a16:colId xmlns:a16="http://schemas.microsoft.com/office/drawing/2014/main" val="20001"/>
                    </a:ext>
                  </a:extLst>
                </a:gridCol>
                <a:gridCol w="668058">
                  <a:extLst>
                    <a:ext uri="{9D8B030D-6E8A-4147-A177-3AD203B41FA5}">
                      <a16:colId xmlns:a16="http://schemas.microsoft.com/office/drawing/2014/main" val="689142997"/>
                    </a:ext>
                  </a:extLst>
                </a:gridCol>
                <a:gridCol w="601230">
                  <a:extLst>
                    <a:ext uri="{9D8B030D-6E8A-4147-A177-3AD203B41FA5}">
                      <a16:colId xmlns:a16="http://schemas.microsoft.com/office/drawing/2014/main" val="992510185"/>
                    </a:ext>
                  </a:extLst>
                </a:gridCol>
              </a:tblGrid>
              <a:tr h="191924">
                <a:tc gridSpan="4">
                  <a:txBody>
                    <a:bodyPr/>
                    <a:lstStyle/>
                    <a:p>
                      <a:pPr marL="0" marR="0" lvl="0" indent="0" algn="ctr" rtl="0">
                        <a:spcBef>
                          <a:spcPts val="0"/>
                        </a:spcBef>
                        <a:spcAft>
                          <a:spcPts val="0"/>
                        </a:spcAft>
                        <a:buNone/>
                      </a:pPr>
                      <a:r>
                        <a:rPr lang="en-US" sz="800" dirty="0"/>
                        <a:t>RGN </a:t>
                      </a:r>
                      <a:r>
                        <a:rPr lang="en-US" sz="800" dirty="0">
                          <a:solidFill>
                            <a:srgbClr val="00B0F0"/>
                          </a:solidFill>
                        </a:rPr>
                        <a:t>[214/034]</a:t>
                      </a:r>
                      <a:r>
                        <a:rPr lang="en-US" sz="800" dirty="0"/>
                        <a:t> : TL 075, UTC+6:30</a:t>
                      </a:r>
                    </a:p>
                    <a:p>
                      <a:pPr marL="0" marR="0" lvl="0" indent="0" algn="ctr" rtl="0">
                        <a:spcBef>
                          <a:spcPts val="0"/>
                        </a:spcBef>
                        <a:spcAft>
                          <a:spcPts val="0"/>
                        </a:spcAft>
                        <a:buNone/>
                      </a:pPr>
                      <a:r>
                        <a:rPr lang="en-US" altLang="ko-KR" sz="800" dirty="0">
                          <a:solidFill>
                            <a:srgbClr val="92D050"/>
                          </a:solidFill>
                        </a:rPr>
                        <a:t>BGO(BAGOO),</a:t>
                      </a:r>
                      <a:r>
                        <a:rPr lang="ko-KR" altLang="en-US" sz="800" dirty="0">
                          <a:solidFill>
                            <a:srgbClr val="92D050"/>
                          </a:solidFill>
                        </a:rPr>
                        <a:t> </a:t>
                      </a:r>
                      <a:r>
                        <a:rPr lang="en-US" altLang="ko-KR" sz="800" dirty="0">
                          <a:solidFill>
                            <a:srgbClr val="92D050"/>
                          </a:solidFill>
                        </a:rPr>
                        <a:t>HGU(HLEGU)</a:t>
                      </a:r>
                      <a:r>
                        <a:rPr lang="ko-KR" altLang="en-US" sz="800" dirty="0">
                          <a:solidFill>
                            <a:srgbClr val="92D050"/>
                          </a:solidFill>
                        </a:rPr>
                        <a:t> </a:t>
                      </a:r>
                      <a:r>
                        <a:rPr lang="en-US" altLang="ko-KR" sz="800" dirty="0">
                          <a:solidFill>
                            <a:srgbClr val="C00000"/>
                          </a:solidFill>
                        </a:rPr>
                        <a:t>ILS Z 21 GNSS Required</a:t>
                      </a:r>
                    </a:p>
                    <a:p>
                      <a:pPr marL="0" marR="0" lvl="0" indent="0" algn="ctr" rtl="0">
                        <a:spcBef>
                          <a:spcPts val="0"/>
                        </a:spcBef>
                        <a:spcAft>
                          <a:spcPts val="0"/>
                        </a:spcAft>
                        <a:buNone/>
                      </a:pPr>
                      <a:r>
                        <a:rPr lang="en-US" sz="800" b="1" dirty="0">
                          <a:solidFill>
                            <a:srgbClr val="FFC000"/>
                          </a:solidFill>
                        </a:rPr>
                        <a:t>GPS  Interference --&gt; RDR Vector + ILS Y 21</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80790">
                <a:tc>
                  <a:txBody>
                    <a:bodyPr/>
                    <a:lstStyle/>
                    <a:p>
                      <a:pPr marL="0" marR="0" lvl="0" indent="0" algn="ctr" rtl="0">
                        <a:spcBef>
                          <a:spcPts val="0"/>
                        </a:spcBef>
                        <a:spcAft>
                          <a:spcPts val="0"/>
                        </a:spcAft>
                        <a:buNone/>
                      </a:pPr>
                      <a:r>
                        <a:rPr lang="en-US" sz="800" b="1" dirty="0"/>
                        <a:t>21</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GPS OUT</a:t>
                      </a:r>
                    </a:p>
                    <a:p>
                      <a:pPr marL="0" marR="0" lvl="0" indent="0" algn="ctr" rtl="0">
                        <a:spcBef>
                          <a:spcPts val="0"/>
                        </a:spcBef>
                        <a:spcAft>
                          <a:spcPts val="0"/>
                        </a:spcAft>
                        <a:buNone/>
                      </a:pPr>
                      <a:r>
                        <a:rPr lang="en-US" sz="800" b="0" dirty="0"/>
                        <a:t>RELAP </a:t>
                      </a:r>
                      <a:r>
                        <a:rPr lang="en-US" sz="800" b="0" dirty="0" err="1"/>
                        <a:t>xxA</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RDR Vector</a:t>
                      </a:r>
                    </a:p>
                    <a:p>
                      <a:pPr marL="0" marR="0" lvl="0" indent="0" algn="ctr" rtl="0">
                        <a:spcBef>
                          <a:spcPts val="0"/>
                        </a:spcBef>
                        <a:spcAft>
                          <a:spcPts val="0"/>
                        </a:spcAft>
                        <a:buNone/>
                      </a:pPr>
                      <a:r>
                        <a:rPr lang="en-US" sz="800" b="0" dirty="0"/>
                        <a:t>PAKSU</a:t>
                      </a:r>
                      <a:endParaRPr lang="en-US" sz="700" b="0"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ILS Y 21</a:t>
                      </a:r>
                    </a:p>
                    <a:p>
                      <a:pPr marL="0" marR="0" lvl="0" indent="0" algn="ctr" rtl="0">
                        <a:spcBef>
                          <a:spcPts val="0"/>
                        </a:spcBef>
                        <a:spcAft>
                          <a:spcPts val="0"/>
                        </a:spcAft>
                        <a:buNone/>
                      </a:pPr>
                      <a:r>
                        <a:rPr lang="en-US" sz="800" b="0" dirty="0"/>
                        <a:t>ILS Z 21</a:t>
                      </a:r>
                      <a:endParaRPr lang="ko-Kore-KR" altLang="en-US" b="0" dirty="0"/>
                    </a:p>
                  </a:txBody>
                  <a:tcPr marL="36000" marR="36000" marT="36000" marB="36000" anchor="ctr"/>
                </a:tc>
                <a:extLst>
                  <a:ext uri="{0D108BD9-81ED-4DB2-BD59-A6C34878D82A}">
                    <a16:rowId xmlns:a16="http://schemas.microsoft.com/office/drawing/2014/main" val="10001"/>
                  </a:ext>
                </a:extLst>
              </a:tr>
              <a:tr h="111002">
                <a:tc>
                  <a:txBody>
                    <a:bodyPr/>
                    <a:lstStyle/>
                    <a:p>
                      <a:pPr algn="ctr"/>
                      <a:r>
                        <a:rPr lang="en-US" altLang="ko-Kore-KR" sz="800" b="0" dirty="0"/>
                        <a:t>03</a:t>
                      </a:r>
                      <a:endParaRPr lang="ko-Kore-KR" altLang="en-US" b="0" dirty="0"/>
                    </a:p>
                  </a:txBody>
                  <a:tcPr marL="36000" marR="36000" marT="36000" marB="36000" anchor="ctr"/>
                </a:tc>
                <a:tc>
                  <a:txBody>
                    <a:bodyPr/>
                    <a:lstStyle/>
                    <a:p>
                      <a:pPr marL="0" marR="0" lvl="0" indent="0" algn="ctr" rtl="0">
                        <a:spcBef>
                          <a:spcPts val="0"/>
                        </a:spcBef>
                        <a:spcAft>
                          <a:spcPts val="0"/>
                        </a:spcAft>
                        <a:buNone/>
                      </a:pPr>
                      <a:r>
                        <a:rPr lang="en-US" sz="800" b="0" dirty="0"/>
                        <a:t>BAGOO </a:t>
                      </a:r>
                      <a:r>
                        <a:rPr lang="en-US" sz="800" b="0" dirty="0" err="1"/>
                        <a:t>xxB</a:t>
                      </a:r>
                      <a:endParaRPr lang="en-US" sz="800" b="0" dirty="0"/>
                    </a:p>
                  </a:txBody>
                  <a:tcPr marL="36000" marR="36000" marT="36000" marB="36000" anchor="ctr"/>
                </a:tc>
                <a:tc>
                  <a:txBody>
                    <a:bodyPr/>
                    <a:lstStyle/>
                    <a:p>
                      <a:pPr marL="0" marR="0" lvl="0" indent="0" algn="ctr" rtl="0">
                        <a:spcBef>
                          <a:spcPts val="0"/>
                        </a:spcBef>
                        <a:spcAft>
                          <a:spcPts val="0"/>
                        </a:spcAft>
                        <a:buNone/>
                      </a:pPr>
                      <a:r>
                        <a:rPr lang="en-US" sz="800" b="0" dirty="0"/>
                        <a:t>KOSDA </a:t>
                      </a:r>
                    </a:p>
                  </a:txBody>
                  <a:tcPr marL="36000" marR="36000" marT="36000" marB="36000" anchor="ctr"/>
                </a:tc>
                <a:tc>
                  <a:txBody>
                    <a:bodyPr/>
                    <a:lstStyle/>
                    <a:p>
                      <a:pPr algn="ctr"/>
                      <a:r>
                        <a:rPr lang="en-US" altLang="ko-Kore-KR" sz="800" b="0" dirty="0"/>
                        <a:t>RNP 03</a:t>
                      </a:r>
                      <a:endParaRPr lang="ko-Kore-KR" altLang="en-US" b="0" dirty="0"/>
                    </a:p>
                  </a:txBody>
                  <a:tcPr marL="36000" marR="36000" marT="36000" marB="36000" anchor="ctr"/>
                </a:tc>
                <a:extLst>
                  <a:ext uri="{0D108BD9-81ED-4DB2-BD59-A6C34878D82A}">
                    <a16:rowId xmlns:a16="http://schemas.microsoft.com/office/drawing/2014/main" val="4277695380"/>
                  </a:ext>
                </a:extLst>
              </a:tr>
              <a:tr h="111002">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no A/P VOR, BGO, HGU,</a:t>
                      </a:r>
                      <a:r>
                        <a:rPr lang="en-US" sz="800" b="1" dirty="0">
                          <a:solidFill>
                            <a:srgbClr val="00B050"/>
                          </a:solidFill>
                        </a:rPr>
                        <a:t> </a:t>
                      </a:r>
                      <a:r>
                        <a:rPr lang="en-US" sz="800" b="1" dirty="0">
                          <a:solidFill>
                            <a:srgbClr val="C00000"/>
                          </a:solidFill>
                        </a:rPr>
                        <a:t>21 IYGN</a:t>
                      </a:r>
                      <a:endParaRPr sz="800" b="1" dirty="0">
                        <a:solidFill>
                          <a:srgbClr val="C0000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80790">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bg1"/>
                          </a:solidFill>
                        </a:rPr>
                        <a:t>21 : A3(8152’), R1(8415’),   03 : A5</a:t>
                      </a:r>
                      <a:r>
                        <a:rPr lang="en-US" altLang="ko-Kore-KR" sz="800" b="1" dirty="0">
                          <a:solidFill>
                            <a:schemeClr val="bg1"/>
                          </a:solidFill>
                        </a:rPr>
                        <a:t>(7972’), A6(11069’)</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rgbClr val="0070C0"/>
                          </a:solidFill>
                        </a:rPr>
                        <a:t>RWY 21 Upslope(0.6%), </a:t>
                      </a:r>
                      <a:r>
                        <a:rPr lang="en-US" altLang="ko-KR" sz="800" b="1" dirty="0">
                          <a:solidFill>
                            <a:srgbClr val="C00000"/>
                          </a:solidFill>
                        </a:rPr>
                        <a:t>Exit End of RWY or</a:t>
                      </a:r>
                      <a:r>
                        <a:rPr lang="ko-KR" altLang="en-US" sz="800" b="1" dirty="0">
                          <a:solidFill>
                            <a:srgbClr val="C00000"/>
                          </a:solidFill>
                        </a:rPr>
                        <a:t> </a:t>
                      </a:r>
                      <a:r>
                        <a:rPr lang="en-US" altLang="ko-KR" sz="800" b="1" dirty="0">
                          <a:solidFill>
                            <a:srgbClr val="C00000"/>
                          </a:solidFill>
                        </a:rPr>
                        <a:t>By</a:t>
                      </a:r>
                      <a:r>
                        <a:rPr lang="ko-KR" altLang="en-US" sz="800" b="1" dirty="0">
                          <a:solidFill>
                            <a:srgbClr val="C00000"/>
                          </a:solidFill>
                        </a:rPr>
                        <a:t> </a:t>
                      </a:r>
                      <a:r>
                        <a:rPr lang="en-US" altLang="ko-KR" sz="800" b="1" dirty="0">
                          <a:solidFill>
                            <a:srgbClr val="C00000"/>
                          </a:solidFill>
                        </a:rPr>
                        <a:t>ATC</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8079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Ramp Area Dark(Consider LD L/T)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DDFEE7E-DBFA-BCF3-1E57-2DE6760D9533}"/>
              </a:ext>
            </a:extLst>
          </p:cNvPr>
          <p:cNvGraphicFramePr/>
          <p:nvPr>
            <p:extLst>
              <p:ext uri="{D42A27DB-BD31-4B8C-83A1-F6EECF244321}">
                <p14:modId xmlns:p14="http://schemas.microsoft.com/office/powerpoint/2010/main" val="2700042385"/>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Oscar Papa 131.8</a:t>
                      </a:r>
                    </a:p>
                    <a:p>
                      <a:pPr marL="0" marR="0" lvl="0" indent="0" algn="ctr" rtl="0">
                        <a:spcBef>
                          <a:spcPts val="0"/>
                        </a:spcBef>
                        <a:spcAft>
                          <a:spcPts val="0"/>
                        </a:spcAft>
                        <a:buNone/>
                      </a:pPr>
                      <a:r>
                        <a:rPr lang="en-US" sz="800" b="1" dirty="0">
                          <a:solidFill>
                            <a:srgbClr val="FF0000"/>
                          </a:solidFill>
                        </a:rPr>
                        <a:t>no D-ATIS</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C67737E-482C-7AEB-6CE7-CD1D6C2E0C77}"/>
              </a:ext>
            </a:extLst>
          </p:cNvPr>
          <p:cNvSpPr/>
          <p:nvPr/>
        </p:nvSpPr>
        <p:spPr>
          <a:xfrm>
            <a:off x="842228" y="249682"/>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038CF97-0646-6366-DB0E-AE1E6971392C}"/>
              </a:ext>
            </a:extLst>
          </p:cNvPr>
          <p:cNvGraphicFramePr/>
          <p:nvPr/>
        </p:nvGraphicFramePr>
        <p:xfrm>
          <a:off x="1" y="642756"/>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4911BB5-FABD-409D-C0F9-9C47035D989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06574"/>
            <a:ext cx="457200" cy="457200"/>
          </a:xfrm>
          <a:prstGeom prst="rect">
            <a:avLst/>
          </a:prstGeom>
          <a:effectLst>
            <a:outerShdw blurRad="50800" dist="50800" dir="3660000" algn="ctr" rotWithShape="0">
              <a:schemeClr val="bg1">
                <a:alpha val="82714"/>
              </a:schemeClr>
            </a:outerShdw>
          </a:effectLst>
        </p:spPr>
      </p:pic>
      <p:sp>
        <p:nvSpPr>
          <p:cNvPr id="4" name="TextBox 3">
            <a:extLst>
              <a:ext uri="{FF2B5EF4-FFF2-40B4-BE49-F238E27FC236}">
                <a16:creationId xmlns:a16="http://schemas.microsoft.com/office/drawing/2014/main" id="{8E724134-8195-066C-2EAA-9C135A7F92C5}"/>
              </a:ext>
            </a:extLst>
          </p:cNvPr>
          <p:cNvSpPr txBox="1"/>
          <p:nvPr/>
        </p:nvSpPr>
        <p:spPr>
          <a:xfrm>
            <a:off x="31774" y="2864818"/>
            <a:ext cx="1493486" cy="842145"/>
          </a:xfrm>
          <a:prstGeom prst="rect">
            <a:avLst/>
          </a:prstGeom>
          <a:noFill/>
        </p:spPr>
        <p:txBody>
          <a:bodyPr wrap="none" tIns="36000" bIns="36000" rtlCol="0" anchor="ctr">
            <a:spAutoFit/>
          </a:bodyPr>
          <a:lstStyle/>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a:lnSpc>
                <a:spcPct val="150000"/>
              </a:lnSpc>
            </a:pPr>
            <a:endParaRPr kumimoji="1" lang="en-US" altLang="ko-Kore-KR" sz="700" b="1" dirty="0">
              <a:latin typeface="Gulim" panose="020B0600000101010101" pitchFamily="34" charset="-127"/>
              <a:ea typeface="Gulim" panose="020B0600000101010101" pitchFamily="34" charset="-127"/>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FFC000"/>
                </a:solidFill>
                <a:effectLst/>
                <a:uLnTx/>
                <a:uFillTx/>
                <a:latin typeface="Calibri"/>
                <a:cs typeface="Calibri"/>
              </a:rPr>
              <a:t>NAR not apply</a:t>
            </a:r>
            <a:r>
              <a:rPr kumimoji="0" lang="ko-KR" altLang="en-US" sz="800" b="1" i="0" u="none" strike="noStrike" kern="1200" cap="none" spc="0" normalizeH="0" baseline="0" noProof="0" dirty="0">
                <a:ln>
                  <a:noFill/>
                </a:ln>
                <a:solidFill>
                  <a:srgbClr val="FFC000"/>
                </a:solidFill>
                <a:effectLst/>
                <a:uLnTx/>
                <a:uFillTx/>
                <a:latin typeface="Calibri"/>
                <a:cs typeface="Calibri"/>
              </a:rPr>
              <a:t> </a:t>
            </a:r>
            <a:r>
              <a:rPr kumimoji="0" lang="en-US" altLang="ko-KR" sz="800" b="1" i="0" u="none" strike="noStrike" kern="1200" cap="none" spc="0" normalizeH="0" baseline="0" noProof="0" dirty="0">
                <a:ln>
                  <a:noFill/>
                </a:ln>
                <a:solidFill>
                  <a:srgbClr val="FFC000"/>
                </a:solidFill>
                <a:effectLst/>
                <a:uLnTx/>
                <a:uFillTx/>
                <a:latin typeface="Calibri"/>
                <a:cs typeface="Calibri"/>
              </a:rPr>
              <a:t>due Single RWY</a:t>
            </a:r>
          </a:p>
        </p:txBody>
      </p:sp>
    </p:spTree>
    <p:extLst>
      <p:ext uri="{BB962C8B-B14F-4D97-AF65-F5344CB8AC3E}">
        <p14:creationId xmlns:p14="http://schemas.microsoft.com/office/powerpoint/2010/main" val="262736892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B47D23-131D-AB8E-81CC-F4FD0EA32E19}"/>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40CF242E-9870-F725-F359-95440544087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89EF7E5-6F63-8DB9-C720-3C245C9E5E1F}"/>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FD7C36C-30E0-84B2-D14E-7DF8D571BE63}"/>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339C31E-4131-3C38-B966-2657C956F205}"/>
              </a:ext>
            </a:extLst>
          </p:cNvPr>
          <p:cNvGraphicFramePr>
            <a:graphicFrameLocks noGrp="1"/>
          </p:cNvGraphicFramePr>
          <p:nvPr/>
        </p:nvGraphicFramePr>
        <p:xfrm>
          <a:off x="39455" y="407201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2" name="TextBox 1">
            <a:extLst>
              <a:ext uri="{FF2B5EF4-FFF2-40B4-BE49-F238E27FC236}">
                <a16:creationId xmlns:a16="http://schemas.microsoft.com/office/drawing/2014/main" id="{5CDEC037-1E9E-421D-7664-A9CA4D8C290F}"/>
              </a:ext>
            </a:extLst>
          </p:cNvPr>
          <p:cNvSpPr txBox="1"/>
          <p:nvPr/>
        </p:nvSpPr>
        <p:spPr>
          <a:xfrm>
            <a:off x="28167" y="5156361"/>
            <a:ext cx="2289407" cy="393954"/>
          </a:xfrm>
          <a:prstGeom prst="rect">
            <a:avLst/>
          </a:prstGeom>
          <a:noFill/>
        </p:spPr>
        <p:txBody>
          <a:bodyPr wrap="square" lIns="0" tIns="0" rIns="0" bIns="0">
            <a:spAutoFit/>
          </a:bodyPr>
          <a:lstStyle/>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Detour RTE : L01 (NOTAM)</a:t>
            </a:r>
            <a:r>
              <a:rPr kumimoji="1" lang="ko-KR" altLang="en-US"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-&gt; </a:t>
            </a:r>
            <a:r>
              <a:rPr kumimoji="1" lang="en-US" altLang="ko-KR" sz="600" b="1" dirty="0">
                <a:solidFill>
                  <a:srgbClr val="FFC000"/>
                </a:solidFill>
                <a:latin typeface="Gulim" panose="020B0600000101010101" pitchFamily="34" charset="-127"/>
                <a:ea typeface="Gulim" panose="020B0600000101010101" pitchFamily="34" charset="-127"/>
              </a:rPr>
              <a:t>VICE VERSA</a:t>
            </a:r>
            <a:endParaRPr kumimoji="1" lang="en-US" altLang="ko-KR" sz="600" b="1" i="0" u="none"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SHR - FP02(N282500E1164500)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dirty="0">
                <a:solidFill>
                  <a:prstClr val="white"/>
                </a:solidFill>
                <a:latin typeface="Gulim" panose="020B0600000101010101" pitchFamily="34" charset="-127"/>
                <a:ea typeface="Gulim" panose="020B0600000101010101" pitchFamily="34" charset="-127"/>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FP01(N274500E1160000) </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 ZP01(N261500E1152000)</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r>
              <a:rPr kumimoji="1" lang="en-US" altLang="ko-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PLT</a:t>
            </a:r>
            <a:r>
              <a:rPr kumimoji="1" lang="ko-KR" altLang="en-US"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a:t>
            </a:r>
            <a:endParaRPr kumimoji="1" lang="en-US" altLang="ko-Kore-KR" sz="600" b="1" i="0" u="none"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p:txBody>
      </p:sp>
    </p:spTree>
    <p:extLst>
      <p:ext uri="{BB962C8B-B14F-4D97-AF65-F5344CB8AC3E}">
        <p14:creationId xmlns:p14="http://schemas.microsoft.com/office/powerpoint/2010/main" val="174908310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B938242-2B18-4D90-EEBB-55A1D7B11ED7}"/>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7F188A28-7F70-8440-DBD7-AE00A1C75709}"/>
              </a:ext>
            </a:extLst>
          </p:cNvPr>
          <p:cNvGraphicFramePr/>
          <p:nvPr>
            <p:extLst>
              <p:ext uri="{D42A27DB-BD31-4B8C-83A1-F6EECF244321}">
                <p14:modId xmlns:p14="http://schemas.microsoft.com/office/powerpoint/2010/main" val="1024242523"/>
              </p:ext>
            </p:extLst>
          </p:nvPr>
        </p:nvGraphicFramePr>
        <p:xfrm>
          <a:off x="0" y="580010"/>
          <a:ext cx="2314761" cy="1969879"/>
        </p:xfrm>
        <a:graphic>
          <a:graphicData uri="http://schemas.openxmlformats.org/drawingml/2006/table">
            <a:tbl>
              <a:tblPr firstRow="1" bandRow="1">
                <a:noFill/>
                <a:tableStyleId>{A521BE36-7E6F-4EC9-8D66-1CF97A6895EC}</a:tableStyleId>
              </a:tblPr>
              <a:tblGrid>
                <a:gridCol w="336489">
                  <a:extLst>
                    <a:ext uri="{9D8B030D-6E8A-4147-A177-3AD203B41FA5}">
                      <a16:colId xmlns:a16="http://schemas.microsoft.com/office/drawing/2014/main" val="20000"/>
                    </a:ext>
                  </a:extLst>
                </a:gridCol>
                <a:gridCol w="683243">
                  <a:extLst>
                    <a:ext uri="{9D8B030D-6E8A-4147-A177-3AD203B41FA5}">
                      <a16:colId xmlns:a16="http://schemas.microsoft.com/office/drawing/2014/main" val="20002"/>
                    </a:ext>
                  </a:extLst>
                </a:gridCol>
                <a:gridCol w="549478">
                  <a:extLst>
                    <a:ext uri="{9D8B030D-6E8A-4147-A177-3AD203B41FA5}">
                      <a16:colId xmlns:a16="http://schemas.microsoft.com/office/drawing/2014/main" val="20004"/>
                    </a:ext>
                  </a:extLst>
                </a:gridCol>
                <a:gridCol w="745551">
                  <a:extLst>
                    <a:ext uri="{9D8B030D-6E8A-4147-A177-3AD203B41FA5}">
                      <a16:colId xmlns:a16="http://schemas.microsoft.com/office/drawing/2014/main" val="20005"/>
                    </a:ext>
                  </a:extLst>
                </a:gridCol>
              </a:tblGrid>
              <a:tr h="247676">
                <a:tc gridSpan="4">
                  <a:txBody>
                    <a:bodyPr/>
                    <a:lstStyle/>
                    <a:p>
                      <a:pPr marL="0" marR="0" lvl="0" indent="0" algn="ctr" rtl="0">
                        <a:spcBef>
                          <a:spcPts val="0"/>
                        </a:spcBef>
                        <a:spcAft>
                          <a:spcPts val="0"/>
                        </a:spcAft>
                        <a:buNone/>
                      </a:pPr>
                      <a:r>
                        <a:rPr lang="en-US" sz="800" u="none" strike="noStrike" cap="none" dirty="0"/>
                        <a:t>RGN : RDR Vector/RNAV SID (NADP 1) </a:t>
                      </a:r>
                      <a:r>
                        <a:rPr lang="en-US" sz="800" u="none" strike="noStrike" cap="none" dirty="0">
                          <a:solidFill>
                            <a:srgbClr val="FFC000"/>
                          </a:solidFill>
                        </a:rPr>
                        <a:t>TA 6000’</a:t>
                      </a:r>
                    </a:p>
                    <a:p>
                      <a:pPr marL="0" marR="0" lvl="0" indent="0" algn="ctr" rtl="0">
                        <a:spcBef>
                          <a:spcPts val="0"/>
                        </a:spcBef>
                        <a:spcAft>
                          <a:spcPts val="0"/>
                        </a:spcAft>
                        <a:buNone/>
                      </a:pPr>
                      <a:r>
                        <a:rPr lang="en-US" sz="800" u="none" strike="noStrike" cap="none" dirty="0">
                          <a:solidFill>
                            <a:srgbClr val="C00000"/>
                          </a:solidFill>
                        </a:rPr>
                        <a:t>GPS 1+2 Fail Defer MEL 34-50-08F, 34-50-09B</a:t>
                      </a:r>
                      <a:r>
                        <a:rPr lang="en-US" sz="800" u="none" strike="noStrike" cap="none" dirty="0">
                          <a:solidFill>
                            <a:srgbClr val="FFC000"/>
                          </a:solidFill>
                        </a:rPr>
                        <a:t> (RTG)</a:t>
                      </a:r>
                    </a:p>
                    <a:p>
                      <a:pPr marL="0" marR="0" lvl="0" indent="0" algn="ctr" rtl="0">
                        <a:spcBef>
                          <a:spcPts val="0"/>
                        </a:spcBef>
                        <a:spcAft>
                          <a:spcPts val="0"/>
                        </a:spcAft>
                        <a:buNone/>
                      </a:pPr>
                      <a:r>
                        <a:rPr lang="en-US" sz="800" u="none" strike="noStrike" cap="none" dirty="0">
                          <a:solidFill>
                            <a:srgbClr val="FFC000"/>
                          </a:solidFill>
                        </a:rPr>
                        <a:t>No RNP RTE, ADS-B No RVSM Equipment</a:t>
                      </a:r>
                    </a:p>
                    <a:p>
                      <a:pPr marL="0" marR="0" lvl="0" indent="0" algn="ctr" rtl="0">
                        <a:spcBef>
                          <a:spcPts val="0"/>
                        </a:spcBef>
                        <a:spcAft>
                          <a:spcPts val="0"/>
                        </a:spcAft>
                        <a:buNone/>
                      </a:pPr>
                      <a:r>
                        <a:rPr lang="en-US" sz="800" u="none" strike="noStrike" cap="none" dirty="0">
                          <a:solidFill>
                            <a:srgbClr val="00B0F0"/>
                          </a:solidFill>
                        </a:rPr>
                        <a:t>RADIONAV Update within 1NM no Problem</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347687">
                <a:tc>
                  <a:txBody>
                    <a:bodyPr/>
                    <a:lstStyle/>
                    <a:p>
                      <a:pPr marL="0" marR="0" lvl="0" indent="0" algn="ctr" rtl="0">
                        <a:spcBef>
                          <a:spcPts val="0"/>
                        </a:spcBef>
                        <a:spcAft>
                          <a:spcPts val="0"/>
                        </a:spcAft>
                        <a:buNone/>
                      </a:pPr>
                      <a:r>
                        <a:rPr lang="en-US" sz="800" b="1" u="none" strike="noStrike" cap="none" dirty="0"/>
                        <a:t>21</a:t>
                      </a:r>
                      <a:endParaRPr lang="en-US" sz="800" b="0" u="none" strike="noStrike" cap="none" dirty="0"/>
                    </a:p>
                  </a:txBody>
                  <a:tcPr marL="36000" marR="36000" marT="36000" marB="36000" anchor="ctr"/>
                </a:tc>
                <a:tc>
                  <a:txBody>
                    <a:bodyPr/>
                    <a:lstStyle/>
                    <a:p>
                      <a:pPr algn="ctr"/>
                      <a:r>
                        <a:rPr lang="en-US" sz="800" b="1" u="none" strike="noStrike" cap="none" dirty="0">
                          <a:solidFill>
                            <a:srgbClr val="0070C0"/>
                          </a:solidFill>
                        </a:rPr>
                        <a:t>RDR Vector</a:t>
                      </a:r>
                    </a:p>
                    <a:p>
                      <a:pPr algn="ctr"/>
                      <a:r>
                        <a:rPr lang="en-US" altLang="ko-Kore-KR" sz="800" b="0" u="none" strike="noStrike" cap="none" dirty="0">
                          <a:solidFill>
                            <a:schemeClr val="bg1"/>
                          </a:solidFill>
                        </a:rPr>
                        <a:t>(VISAM </a:t>
                      </a:r>
                      <a:r>
                        <a:rPr lang="en-US" altLang="ko-Kore-KR" sz="800" b="0" u="none" strike="noStrike" cap="none" dirty="0" err="1">
                          <a:solidFill>
                            <a:schemeClr val="bg1"/>
                          </a:solidFill>
                        </a:rPr>
                        <a:t>xxA</a:t>
                      </a:r>
                      <a:r>
                        <a:rPr lang="en-US" altLang="ko-Kore-KR" sz="800" b="0" u="none" strike="noStrike" cap="none" dirty="0">
                          <a:solidFill>
                            <a:schemeClr val="bg1"/>
                          </a:solidFill>
                        </a:rPr>
                        <a:t>/C)</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HD 214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rtl="0">
                        <a:spcBef>
                          <a:spcPts val="0"/>
                        </a:spcBef>
                        <a:spcAft>
                          <a:spcPts val="0"/>
                        </a:spcAft>
                        <a:buNone/>
                      </a:pPr>
                      <a:r>
                        <a:rPr lang="en-US" altLang="ko-Kore-KR" sz="800" b="0" u="none" strike="noStrike" cap="none" dirty="0">
                          <a:solidFill>
                            <a:srgbClr val="C00000"/>
                          </a:solidFill>
                        </a:rPr>
                        <a:t>SID GNSS Required</a:t>
                      </a:r>
                      <a:endParaRPr lang="ko-Kore-KR" altLang="en-US" b="0" dirty="0">
                        <a:solidFill>
                          <a:srgbClr val="C00000"/>
                        </a:solidFill>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347687">
                <a:tc>
                  <a:txBody>
                    <a:bodyPr/>
                    <a:lstStyle/>
                    <a:p>
                      <a:pPr algn="ctr"/>
                      <a:r>
                        <a:rPr lang="en-US" altLang="ko-KR" sz="800" b="1" u="none" strike="noStrike" cap="none" dirty="0"/>
                        <a:t>03</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RDR Vector</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(BAGOO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xxA</a:t>
                      </a:r>
                      <a:r>
                        <a:rPr kumimoji="0" lang="en-US" altLang="ko-Kore-KR" sz="800" b="0" i="0" u="none" strike="noStrike" kern="1200" cap="none" spc="0" normalizeH="0" baseline="0" noProof="0" dirty="0">
                          <a:ln>
                            <a:noFill/>
                          </a:ln>
                          <a:solidFill>
                            <a:prstClr val="black"/>
                          </a:solidFill>
                          <a:effectLst/>
                          <a:uLnTx/>
                          <a:uFillTx/>
                          <a:latin typeface="Calibri"/>
                          <a:cs typeface="Calibri"/>
                        </a:rPr>
                        <a:t>)</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gridSpan="2">
                  <a:txBody>
                    <a:bodyPr/>
                    <a:lstStyle/>
                    <a:p>
                      <a:r>
                        <a:rPr lang="en-US" sz="800" b="1" u="none" strike="noStrike" cap="none" dirty="0"/>
                        <a:t>HD 034 </a:t>
                      </a:r>
                      <a:r>
                        <a:rPr lang="en-US" sz="800" b="1" u="none" strike="noStrike" cap="none" dirty="0">
                          <a:solidFill>
                            <a:srgbClr val="0070C0"/>
                          </a:solidFill>
                        </a:rPr>
                        <a:t>ATC </a:t>
                      </a:r>
                      <a:r>
                        <a:rPr lang="en-US" altLang="ko-Kore-KR" sz="800" b="1" u="none" strike="noStrike" cap="none" dirty="0">
                          <a:solidFill>
                            <a:srgbClr val="F28943"/>
                          </a:solidFill>
                        </a:rPr>
                        <a:t>TA 6000 </a:t>
                      </a:r>
                      <a:r>
                        <a:rPr lang="en-US" altLang="ko-Kore-KR" sz="800" b="1" u="none" strike="noStrike" cap="none" dirty="0">
                          <a:solidFill>
                            <a:srgbClr val="AA47F5"/>
                          </a:solidFill>
                        </a:rPr>
                        <a:t>SPD 230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SID GNSS Required</a:t>
                      </a:r>
                      <a:endParaRPr kumimoji="0" lang="ko-Kore-KR" altLang="en-US" sz="458" b="0"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4228625192"/>
                  </a:ext>
                </a:extLst>
              </a:tr>
              <a:tr h="213474">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no VOR, BGO</a:t>
                      </a:r>
                      <a:r>
                        <a:rPr lang="en-US" sz="700" b="1" u="none" strike="noStrike" cap="none" dirty="0">
                          <a:solidFill>
                            <a:srgbClr val="0070C0"/>
                          </a:solidFill>
                        </a:rPr>
                        <a:t>(BAGOO), </a:t>
                      </a:r>
                      <a:r>
                        <a:rPr lang="en-US" sz="800" b="1" u="none" strike="noStrike" cap="none" dirty="0">
                          <a:solidFill>
                            <a:srgbClr val="0070C0"/>
                          </a:solidFill>
                        </a:rPr>
                        <a:t>HGU</a:t>
                      </a:r>
                      <a:r>
                        <a:rPr lang="en-US" sz="700" b="1" u="none" strike="noStrike" cap="none" dirty="0">
                          <a:solidFill>
                            <a:srgbClr val="0070C0"/>
                          </a:solidFill>
                        </a:rPr>
                        <a:t>(HLEGU)</a:t>
                      </a:r>
                      <a:endParaRPr lang="en-US"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21 IYGN 109.9</a:t>
                      </a:r>
                    </a:p>
                  </a:txBody>
                  <a:tcPr marL="36000" marR="36000" marT="36000" marB="36000" anchor="ctr"/>
                </a:tc>
                <a:extLst>
                  <a:ext uri="{0D108BD9-81ED-4DB2-BD59-A6C34878D82A}">
                    <a16:rowId xmlns:a16="http://schemas.microsoft.com/office/drawing/2014/main" val="10003"/>
                  </a:ext>
                </a:extLst>
              </a:tr>
              <a:tr h="481901">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RWY 03 Taxi Upslope(more PWR), </a:t>
                      </a:r>
                    </a:p>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rgbClr val="C00000"/>
                          </a:solidFill>
                        </a:rPr>
                        <a:t>Caution </a:t>
                      </a:r>
                      <a:r>
                        <a:rPr lang="en-US" altLang="ko-KR" sz="800" b="1" dirty="0" err="1">
                          <a:solidFill>
                            <a:srgbClr val="C00000"/>
                          </a:solidFill>
                        </a:rPr>
                        <a:t>WingTip</a:t>
                      </a:r>
                      <a:r>
                        <a:rPr lang="en-US" altLang="ko-KR" sz="800" b="1" dirty="0">
                          <a:solidFill>
                            <a:srgbClr val="C00000"/>
                          </a:solidFill>
                        </a:rPr>
                        <a:t> (Watch out Safety Line)</a:t>
                      </a:r>
                      <a:endParaRPr lang="en-US" altLang="ko-Kore-KR" sz="800"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Ramp Area Dark(Consider LD L/T) </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D8C12F45-53F3-E393-0649-521D53C78F79}"/>
              </a:ext>
            </a:extLst>
          </p:cNvPr>
          <p:cNvGraphicFramePr/>
          <p:nvPr>
            <p:extLst>
              <p:ext uri="{D42A27DB-BD31-4B8C-83A1-F6EECF244321}">
                <p14:modId xmlns:p14="http://schemas.microsoft.com/office/powerpoint/2010/main" val="2647249102"/>
              </p:ext>
            </p:extLst>
          </p:nvPr>
        </p:nvGraphicFramePr>
        <p:xfrm>
          <a:off x="-2501" y="16504"/>
          <a:ext cx="2328850" cy="5593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VYYY(RGN)110ft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solidFill>
                            <a:schemeClr val="bg1"/>
                          </a:solidFill>
                        </a:rPr>
                        <a:t>Oscar Papa 131.8</a:t>
                      </a:r>
                      <a:endParaRPr sz="1200" dirty="0">
                        <a:solidFill>
                          <a:schemeClr val="bg1"/>
                        </a:solidFill>
                      </a:endParaRPr>
                    </a:p>
                    <a:p>
                      <a:pPr marL="0" marR="0" lvl="0" indent="0" algn="ctr" rtl="0">
                        <a:spcBef>
                          <a:spcPts val="0"/>
                        </a:spcBef>
                        <a:spcAft>
                          <a:spcPts val="0"/>
                        </a:spcAft>
                        <a:buNone/>
                      </a:pPr>
                      <a:r>
                        <a:rPr lang="en-US" altLang="ko-KR" sz="700" dirty="0">
                          <a:solidFill>
                            <a:srgbClr val="FF0000"/>
                          </a:solidFill>
                        </a:rPr>
                        <a:t>-15 Min</a:t>
                      </a:r>
                      <a:r>
                        <a:rPr lang="ko-KR" altLang="en-US" sz="700" dirty="0">
                          <a:solidFill>
                            <a:srgbClr val="FF0000"/>
                          </a:solidFill>
                        </a:rPr>
                        <a:t> </a:t>
                      </a:r>
                      <a:r>
                        <a:rPr lang="en-US" altLang="ko-KR" sz="700" dirty="0">
                          <a:solidFill>
                            <a:srgbClr val="FF0000"/>
                          </a:solidFill>
                        </a:rPr>
                        <a:t>GND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8" name="TextBox 7">
            <a:extLst>
              <a:ext uri="{FF2B5EF4-FFF2-40B4-BE49-F238E27FC236}">
                <a16:creationId xmlns:a16="http://schemas.microsoft.com/office/drawing/2014/main" id="{83AD77D5-35D2-9EB9-E2A4-C339DCA4A4BE}"/>
              </a:ext>
            </a:extLst>
          </p:cNvPr>
          <p:cNvSpPr txBox="1"/>
          <p:nvPr/>
        </p:nvSpPr>
        <p:spPr>
          <a:xfrm>
            <a:off x="28030" y="2559484"/>
            <a:ext cx="636713" cy="370733"/>
          </a:xfrm>
          <a:prstGeom prst="rect">
            <a:avLst/>
          </a:prstGeom>
          <a:noFill/>
        </p:spPr>
        <p:txBody>
          <a:bodyPr wrap="none" tIns="36000" bIns="36000" rtlCol="0" anchor="ctr">
            <a:spAutoFit/>
          </a:bodyPr>
          <a:lstStyle/>
          <a:p>
            <a:pPr>
              <a:lnSpc>
                <a:spcPct val="150000"/>
              </a:lnSpc>
            </a:pPr>
            <a:r>
              <a:rPr kumimoji="1" lang="en-US" altLang="ko-Kore-KR" sz="700" b="1" dirty="0">
                <a:latin typeface="Gulim" panose="020B0600000101010101" pitchFamily="34" charset="-127"/>
                <a:ea typeface="Gulim" panose="020B0600000101010101" pitchFamily="34" charset="-127"/>
              </a:rPr>
              <a:t>APP 119.7</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5032A2-5F95-62DB-1E35-BBCDDD9DE9E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10" name="그래픽 9" descr="집 Wi-Fi에서 작업 단색으로 채워진">
            <a:hlinkClick r:id="" action="ppaction://hlinkshowjump?jump=firstslide"/>
            <a:extLst>
              <a:ext uri="{FF2B5EF4-FFF2-40B4-BE49-F238E27FC236}">
                <a16:creationId xmlns:a16="http://schemas.microsoft.com/office/drawing/2014/main" id="{A1057DBC-8B7B-E1A0-C969-57BB1B180B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1660"/>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DDE77380-AACA-00B3-297B-012DFEB21BC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541900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801CEB07-D6BC-AE38-8DE2-E8A762AE379E}"/>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765B2828-0155-86C5-917D-DE4148564CD1}"/>
              </a:ext>
            </a:extLst>
          </p:cNvPr>
          <p:cNvGraphicFramePr/>
          <p:nvPr>
            <p:extLst>
              <p:ext uri="{D42A27DB-BD31-4B8C-83A1-F6EECF244321}">
                <p14:modId xmlns:p14="http://schemas.microsoft.com/office/powerpoint/2010/main" val="816526713"/>
              </p:ext>
            </p:extLst>
          </p:nvPr>
        </p:nvGraphicFramePr>
        <p:xfrm>
          <a:off x="-2501" y="9878"/>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700" dirty="0">
                          <a:solidFill>
                            <a:srgbClr val="FF0000"/>
                          </a:solidFill>
                        </a:rPr>
                        <a:t>No ATIS</a:t>
                      </a:r>
                      <a:endParaRPr lang="en-US" sz="900" dirty="0">
                        <a:solidFill>
                          <a:srgbClr val="FF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3A5061-2858-4C5A-0562-DDDC0ECA7F0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96BF8FBC-7C18-4902-30D3-5B04204F46AF}"/>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528EB11E-68BD-7631-DB63-FD4BA665A9B5}"/>
              </a:ext>
            </a:extLst>
          </p:cNvPr>
          <p:cNvGraphicFramePr/>
          <p:nvPr>
            <p:extLst>
              <p:ext uri="{D42A27DB-BD31-4B8C-83A1-F6EECF244321}">
                <p14:modId xmlns:p14="http://schemas.microsoft.com/office/powerpoint/2010/main" val="1991773067"/>
              </p:ext>
            </p:extLst>
          </p:nvPr>
        </p:nvGraphicFramePr>
        <p:xfrm>
          <a:off x="-17467" y="3888183"/>
          <a:ext cx="2365375" cy="167065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PQC </a:t>
                      </a:r>
                      <a:r>
                        <a:rPr lang="en-US" sz="800" dirty="0">
                          <a:solidFill>
                            <a:srgbClr val="00B0F0"/>
                          </a:solidFill>
                        </a:rPr>
                        <a:t>[096/276]</a:t>
                      </a:r>
                      <a:r>
                        <a:rPr lang="en-US" sz="800" dirty="0"/>
                        <a:t> : STAR TL100 UTC+7 </a:t>
                      </a:r>
                      <a:r>
                        <a:rPr lang="en-US" sz="800" dirty="0">
                          <a:solidFill>
                            <a:srgbClr val="FFC000"/>
                          </a:solidFill>
                        </a:rPr>
                        <a:t> (CPDLC : VVHM)</a:t>
                      </a:r>
                    </a:p>
                    <a:p>
                      <a:pPr marL="0" marR="0" lvl="0" indent="0" algn="ctr" rtl="0">
                        <a:spcBef>
                          <a:spcPts val="0"/>
                        </a:spcBef>
                        <a:spcAft>
                          <a:spcPts val="0"/>
                        </a:spcAft>
                        <a:buNone/>
                      </a:pPr>
                      <a:r>
                        <a:rPr lang="en-US" sz="800" b="1" dirty="0">
                          <a:solidFill>
                            <a:srgbClr val="FFC000"/>
                          </a:solidFill>
                        </a:rPr>
                        <a:t>STAR RWY </a:t>
                      </a:r>
                      <a:r>
                        <a:rPr lang="en-US" sz="800" b="1" dirty="0" err="1">
                          <a:solidFill>
                            <a:srgbClr val="FFC000"/>
                          </a:solidFill>
                        </a:rPr>
                        <a:t>Wx</a:t>
                      </a:r>
                      <a:r>
                        <a:rPr lang="en-US" sz="800" b="1" dirty="0">
                          <a:solidFill>
                            <a:srgbClr val="FFC000"/>
                          </a:solidFill>
                        </a:rPr>
                        <a:t> From PHN or HCM Control(120.9)</a:t>
                      </a:r>
                      <a:endParaRP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28</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xxE</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PQ328</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Z 28</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10</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OSOTA </a:t>
                      </a:r>
                      <a:r>
                        <a:rPr lang="en-US" sz="800" b="1" dirty="0" err="1"/>
                        <a:t>xxF</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PQ310</a:t>
                      </a:r>
                      <a:endParaRPr lang="en-US" sz="700" b="1" dirty="0"/>
                    </a:p>
                  </a:txBody>
                  <a:tcPr marL="36000" marR="36000" marT="36000" marB="36000" anchor="ctr"/>
                </a:tc>
                <a:tc>
                  <a:txBody>
                    <a:bodyPr/>
                    <a:lstStyle/>
                    <a:p>
                      <a:pPr algn="ctr"/>
                      <a:r>
                        <a:rPr lang="en-US" sz="800" b="1" dirty="0"/>
                        <a:t>ILS Z 10</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PQU , </a:t>
                      </a:r>
                      <a:r>
                        <a:rPr kumimoji="0" lang="en-US" altLang="ko-KR" sz="800" b="1" i="0" u="none" strike="noStrike" kern="1200" cap="none" spc="0" normalizeH="0" baseline="0" noProof="0" dirty="0">
                          <a:ln>
                            <a:noFill/>
                          </a:ln>
                          <a:solidFill>
                            <a:srgbClr val="C00000"/>
                          </a:solidFill>
                          <a:effectLst/>
                          <a:uLnTx/>
                          <a:uFillTx/>
                          <a:latin typeface="Calibri"/>
                          <a:cs typeface="Calibri"/>
                        </a:rPr>
                        <a:t>28 IPH, 10 IPQ</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223913">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28 : S6(6758’), S8(9662’), 10</a:t>
                      </a:r>
                      <a:r>
                        <a:rPr lang="en-US" altLang="ko-Kore-KR" sz="800" b="1" dirty="0">
                          <a:solidFill>
                            <a:schemeClr val="dk1"/>
                          </a:solidFill>
                        </a:rPr>
                        <a:t> : S4(6761’), S2(9665’)</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RWY 28 PAPI R/H not Accurate, </a:t>
                      </a:r>
                      <a:r>
                        <a:rPr lang="en-US" altLang="ko-Kore-KR" sz="800" b="1" dirty="0">
                          <a:solidFill>
                            <a:srgbClr val="C00000"/>
                          </a:solidFill>
                        </a:rPr>
                        <a:t>A2 Small A/C</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Stand 13A only </a:t>
                      </a:r>
                      <a:r>
                        <a:rPr lang="en-US" sz="800" dirty="0" err="1"/>
                        <a:t>Widebod</a:t>
                      </a:r>
                      <a:endParaRPr lang="en-US" sz="800" dirty="0"/>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dirty="0"/>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6C6E904F-975A-57A1-EF73-C83BE1F308E2}"/>
              </a:ext>
            </a:extLst>
          </p:cNvPr>
          <p:cNvSpPr txBox="1"/>
          <p:nvPr/>
        </p:nvSpPr>
        <p:spPr>
          <a:xfrm>
            <a:off x="-57320" y="2803378"/>
            <a:ext cx="2438488" cy="693899"/>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TPE</a:t>
            </a:r>
            <a:r>
              <a:rPr kumimoji="1" lang="ko-KR" altLang="en-US" sz="700" b="1" u="sng" dirty="0">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latin typeface="Gulim" panose="020B0600000101010101" pitchFamily="34" charset="-127"/>
                <a:ea typeface="Gulim" panose="020B0600000101010101" pitchFamily="34" charset="-127"/>
              </a:rPr>
              <a:t>MNL 119.3 - </a:t>
            </a:r>
            <a:r>
              <a:rPr kumimoji="1" lang="en-US" altLang="ko-Kore-KR" sz="700" b="1" u="sng" dirty="0">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120.9(</a:t>
            </a:r>
            <a:r>
              <a:rPr kumimoji="1" lang="en-US" altLang="ko-Kore-KR" sz="700" b="1" u="sng" dirty="0" err="1">
                <a:solidFill>
                  <a:srgbClr val="00B0F0"/>
                </a:solidFill>
                <a:latin typeface="Gulim" panose="020B0600000101010101" pitchFamily="34" charset="-127"/>
                <a:ea typeface="Gulim" panose="020B0600000101010101" pitchFamily="34" charset="-127"/>
              </a:rPr>
              <a:t>STAR,RWY,Wx</a:t>
            </a:r>
            <a:r>
              <a:rPr kumimoji="1" lang="en-US" altLang="ko-Kore-KR" sz="700" b="1" u="sng" dirty="0">
                <a:solidFill>
                  <a:srgbClr val="00B0F0"/>
                </a:solidFill>
                <a:latin typeface="Gulim" panose="020B0600000101010101" pitchFamily="34" charset="-127"/>
                <a:ea typeface="Gulim" panose="020B0600000101010101" pitchFamily="34" charset="-127"/>
              </a:rPr>
              <a:t>)</a:t>
            </a:r>
            <a:r>
              <a:rPr kumimoji="1" lang="en-US" altLang="ko-Kore-KR" sz="700" b="1" u="sng" dirty="0">
                <a:latin typeface="Gulim" panose="020B0600000101010101" pitchFamily="34" charset="-127"/>
                <a:ea typeface="Gulim" panose="020B0600000101010101" pitchFamily="34" charset="-127"/>
              </a:rPr>
              <a:t> – </a:t>
            </a:r>
            <a:r>
              <a:rPr kumimoji="1" lang="en-US" altLang="ko-Kore-KR" sz="700" b="1" u="sng" dirty="0">
                <a:solidFill>
                  <a:srgbClr val="FF0000"/>
                </a:solidFill>
                <a:latin typeface="Gulim" panose="020B0600000101010101" pitchFamily="34" charset="-127"/>
                <a:ea typeface="Gulim" panose="020B0600000101010101" pitchFamily="34" charset="-127"/>
              </a:rPr>
              <a:t>No APP Freq</a:t>
            </a:r>
            <a:endParaRPr kumimoji="1" lang="en-US" altLang="ko-Kore-KR" sz="700" b="1" u="sng" dirty="0">
              <a:solidFill>
                <a:srgbClr val="00B0F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OSOTA PQC TWR 118.6</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6A0891E6-F0B6-EAEA-FD83-9D4B2EBB3B8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869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5471247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11FBA564-C531-2A40-C8AF-C489334E1285}"/>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21261D91-7E28-BDEC-9C61-F4DF4B745037}"/>
              </a:ext>
            </a:extLst>
          </p:cNvPr>
          <p:cNvGraphicFramePr/>
          <p:nvPr>
            <p:extLst>
              <p:ext uri="{D42A27DB-BD31-4B8C-83A1-F6EECF244321}">
                <p14:modId xmlns:p14="http://schemas.microsoft.com/office/powerpoint/2010/main" val="405183482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VVPQ(PQC)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 </a:t>
                      </a:r>
                      <a:r>
                        <a:rPr lang="en-US" sz="900" dirty="0">
                          <a:solidFill>
                            <a:srgbClr val="FF0000"/>
                          </a:solidFill>
                        </a:rPr>
                        <a:t>No ATIS</a:t>
                      </a:r>
                      <a:endParaRPr sz="1400" dirty="0">
                        <a:solidFill>
                          <a:srgbClr val="FF0000"/>
                        </a:solidFill>
                      </a:endParaRPr>
                    </a:p>
                    <a:p>
                      <a:pPr marL="0" marR="0" lvl="0" indent="0" algn="ctr" rtl="0">
                        <a:spcBef>
                          <a:spcPts val="0"/>
                        </a:spcBef>
                        <a:spcAft>
                          <a:spcPts val="0"/>
                        </a:spcAft>
                        <a:buNone/>
                      </a:pPr>
                      <a:r>
                        <a:rPr lang="en-US" altLang="ko-KR" sz="700" dirty="0">
                          <a:solidFill>
                            <a:srgbClr val="FF0000"/>
                          </a:solidFill>
                        </a:rPr>
                        <a:t>GND 121.92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5284C3E-8BEF-37D4-303F-71D99571E17B}"/>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117;p3">
            <a:extLst>
              <a:ext uri="{FF2B5EF4-FFF2-40B4-BE49-F238E27FC236}">
                <a16:creationId xmlns:a16="http://schemas.microsoft.com/office/drawing/2014/main" id="{000E7AE2-F15F-A142-1B8E-B160A013438D}"/>
              </a:ext>
            </a:extLst>
          </p:cNvPr>
          <p:cNvGraphicFramePr/>
          <p:nvPr>
            <p:extLst>
              <p:ext uri="{D42A27DB-BD31-4B8C-83A1-F6EECF244321}">
                <p14:modId xmlns:p14="http://schemas.microsoft.com/office/powerpoint/2010/main" val="2095875310"/>
              </p:ext>
            </p:extLst>
          </p:nvPr>
        </p:nvGraphicFramePr>
        <p:xfrm>
          <a:off x="-15808" y="659525"/>
          <a:ext cx="2349161" cy="123289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441564">
                  <a:extLst>
                    <a:ext uri="{9D8B030D-6E8A-4147-A177-3AD203B41FA5}">
                      <a16:colId xmlns:a16="http://schemas.microsoft.com/office/drawing/2014/main" val="20002"/>
                    </a:ext>
                  </a:extLst>
                </a:gridCol>
                <a:gridCol w="251832">
                  <a:extLst>
                    <a:ext uri="{9D8B030D-6E8A-4147-A177-3AD203B41FA5}">
                      <a16:colId xmlns:a16="http://schemas.microsoft.com/office/drawing/2014/main" val="3172768267"/>
                    </a:ext>
                  </a:extLst>
                </a:gridCol>
                <a:gridCol w="531221">
                  <a:extLst>
                    <a:ext uri="{9D8B030D-6E8A-4147-A177-3AD203B41FA5}">
                      <a16:colId xmlns:a16="http://schemas.microsoft.com/office/drawing/2014/main" val="20004"/>
                    </a:ext>
                  </a:extLst>
                </a:gridCol>
                <a:gridCol w="783054">
                  <a:extLst>
                    <a:ext uri="{9D8B030D-6E8A-4147-A177-3AD203B41FA5}">
                      <a16:colId xmlns:a16="http://schemas.microsoft.com/office/drawing/2014/main" val="2219221630"/>
                    </a:ext>
                  </a:extLst>
                </a:gridCol>
              </a:tblGrid>
              <a:tr h="0">
                <a:tc gridSpan="5">
                  <a:txBody>
                    <a:bodyPr/>
                    <a:lstStyle/>
                    <a:p>
                      <a:pPr marL="0" marR="0" lvl="0" indent="0" algn="ctr" rtl="0">
                        <a:spcBef>
                          <a:spcPts val="0"/>
                        </a:spcBef>
                        <a:spcAft>
                          <a:spcPts val="0"/>
                        </a:spcAft>
                        <a:buNone/>
                      </a:pPr>
                      <a:r>
                        <a:rPr lang="en-US" sz="800" u="none" strike="noStrike" cap="none" dirty="0"/>
                        <a:t>PQC : RNP SID (NADP 1) TA 9000’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28</a:t>
                      </a:r>
                      <a:endParaRPr lang="en-US"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OSOTA </a:t>
                      </a:r>
                      <a:r>
                        <a:rPr lang="en-US" sz="800" b="1" u="none" strike="noStrike" cap="none" dirty="0" err="1">
                          <a:solidFill>
                            <a:srgbClr val="0070C0"/>
                          </a:solidFill>
                        </a:rPr>
                        <a:t>xxC</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276 </a:t>
                      </a:r>
                      <a:r>
                        <a:rPr lang="en-US" sz="800" b="1" u="none" strike="noStrike" cap="none" dirty="0">
                          <a:solidFill>
                            <a:srgbClr val="0070C0"/>
                          </a:solidFill>
                        </a:rPr>
                        <a:t>ALT 6000</a:t>
                      </a:r>
                    </a:p>
                    <a:p>
                      <a:pPr algn="ctr"/>
                      <a:r>
                        <a:rPr lang="en-US" altLang="ko-Kore-KR" sz="800" b="1" u="none" strike="noStrike" cap="none" dirty="0">
                          <a:solidFill>
                            <a:srgbClr val="7030A0"/>
                          </a:solidFill>
                        </a:rPr>
                        <a:t>SPD 250 </a:t>
                      </a:r>
                      <a:r>
                        <a:rPr lang="en-US" altLang="ko-Kore-KR" sz="800" b="1" u="none" strike="noStrike" cap="none" dirty="0">
                          <a:solidFill>
                            <a:srgbClr val="F28943"/>
                          </a:solidFill>
                        </a:rPr>
                        <a:t>TA 9000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10</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OSOTA </a:t>
                      </a:r>
                      <a:r>
                        <a:rPr lang="en-US" altLang="ko-Kore-KR" sz="800" b="1" u="none" strike="noStrike" cap="none" dirty="0" err="1">
                          <a:solidFill>
                            <a:srgbClr val="0070C0"/>
                          </a:solidFill>
                        </a:rPr>
                        <a:t>xxD</a:t>
                      </a:r>
                      <a:endParaRPr lang="ko-Kore-KR"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u="none" strike="noStrike" cap="none" dirty="0"/>
                        <a:t>HD 096 </a:t>
                      </a:r>
                      <a:r>
                        <a:rPr lang="en-US" sz="800" b="1" u="none" strike="noStrike" cap="none" dirty="0">
                          <a:solidFill>
                            <a:srgbClr val="0070C0"/>
                          </a:solidFill>
                        </a:rPr>
                        <a:t>ALT ATC </a:t>
                      </a:r>
                      <a:r>
                        <a:rPr lang="en-US" sz="800" b="1" u="none" strike="noStrike" cap="none" dirty="0">
                          <a:solidFill>
                            <a:srgbClr val="F28943"/>
                          </a:solidFill>
                        </a:rPr>
                        <a:t>TA 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PQU 113.0</a:t>
                      </a: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28 IPH 108.7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 IPQ 108.1</a:t>
                      </a:r>
                      <a:endParaRPr kumimoji="0" lang="ko-Kore-KR" altLang="en-US"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extLst>
                  <a:ext uri="{0D108BD9-81ED-4DB2-BD59-A6C34878D82A}">
                    <a16:rowId xmlns:a16="http://schemas.microsoft.com/office/drawing/2014/main" val="10003"/>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LINE UP via RWY 28 S2/S1 or RWY 10 S8/S9</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0EB1F10-20F6-C837-8DC7-ABF2AAFE2E7D}"/>
              </a:ext>
            </a:extLst>
          </p:cNvPr>
          <p:cNvSpPr txBox="1"/>
          <p:nvPr/>
        </p:nvSpPr>
        <p:spPr>
          <a:xfrm>
            <a:off x="4512" y="2046718"/>
            <a:ext cx="2071401"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TWR 118.6 </a:t>
            </a:r>
          </a:p>
          <a:p>
            <a:pPr>
              <a:lnSpc>
                <a:spcPct val="150000"/>
              </a:lnSpc>
            </a:pPr>
            <a:r>
              <a:rPr kumimoji="1" lang="en-US" altLang="ko-Kore-KR" sz="700" b="1" u="sng" dirty="0">
                <a:solidFill>
                  <a:srgbClr val="00B0F0"/>
                </a:solidFill>
                <a:latin typeface="Gulim" panose="020B0600000101010101" pitchFamily="34" charset="-127"/>
                <a:ea typeface="Gulim" panose="020B0600000101010101" pitchFamily="34" charset="-127"/>
              </a:rPr>
              <a:t>At 10000ft  PNH 132.4/127.5 or HCM 120.9</a:t>
            </a:r>
          </a:p>
          <a:p>
            <a:pPr>
              <a:lnSpc>
                <a:spcPct val="150000"/>
              </a:lnSpc>
            </a:pPr>
            <a:r>
              <a:rPr kumimoji="1" lang="en-US" altLang="ko-Kore-KR" sz="700" b="1" u="sng" dirty="0">
                <a:latin typeface="Gulim" panose="020B0600000101010101" pitchFamily="34" charset="-127"/>
                <a:ea typeface="Gulim" panose="020B0600000101010101" pitchFamily="34" charset="-127"/>
              </a:rPr>
              <a:t>HCM 120.1 - 134.05</a:t>
            </a:r>
          </a:p>
          <a:p>
            <a:pPr>
              <a:lnSpc>
                <a:spcPct val="150000"/>
              </a:lnSpc>
            </a:pPr>
            <a:r>
              <a:rPr kumimoji="1" lang="en-US" altLang="ko-Kore-KR" sz="700" b="1" u="sng" dirty="0">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AA2F5277-420D-31CE-038B-DF300B053FD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62992"/>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83;p17">
            <a:extLst>
              <a:ext uri="{FF2B5EF4-FFF2-40B4-BE49-F238E27FC236}">
                <a16:creationId xmlns:a16="http://schemas.microsoft.com/office/drawing/2014/main" id="{9B5FD8FA-4E42-AD59-2A59-4D0055715E5E}"/>
              </a:ext>
            </a:extLst>
          </p:cNvPr>
          <p:cNvGraphicFramePr/>
          <p:nvPr>
            <p:extLst>
              <p:ext uri="{D42A27DB-BD31-4B8C-83A1-F6EECF244321}">
                <p14:modId xmlns:p14="http://schemas.microsoft.com/office/powerpoint/2010/main" val="3423549415"/>
              </p:ext>
            </p:extLst>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4697133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3508734-4FA8-1FB3-7622-7F55073BEB6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742AF3C-E774-B64E-710F-F506281D74DD}"/>
              </a:ext>
            </a:extLst>
          </p:cNvPr>
          <p:cNvSpPr txBox="1"/>
          <p:nvPr/>
        </p:nvSpPr>
        <p:spPr>
          <a:xfrm>
            <a:off x="-51946" y="2792727"/>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latin typeface="Gulim" panose="020B0600000101010101" pitchFamily="34" charset="-127"/>
                <a:ea typeface="Gulim" panose="020B0600000101010101" pitchFamily="34" charset="-127"/>
              </a:rPr>
              <a:t>ETA KABAM 119.3 – ETA MIGUG </a:t>
            </a:r>
          </a:p>
          <a:p>
            <a:pPr>
              <a:lnSpc>
                <a:spcPct val="150000"/>
              </a:lnSpc>
            </a:pPr>
            <a:r>
              <a:rPr kumimoji="1" lang="en-US" altLang="ko-KR" sz="700" b="1" u="sng" dirty="0">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latin typeface="Gulim" panose="020B0600000101010101" pitchFamily="34" charset="-127"/>
                <a:ea typeface="Gulim" panose="020B0600000101010101" pitchFamily="34" charset="-127"/>
              </a:rPr>
              <a:t>Rep MAPNO </a:t>
            </a:r>
          </a:p>
          <a:p>
            <a:pPr>
              <a:lnSpc>
                <a:spcPct val="150000"/>
              </a:lnSpc>
            </a:pPr>
            <a:r>
              <a:rPr kumimoji="1" lang="en-US" altLang="ko-KR" sz="700" b="1" u="sng" dirty="0">
                <a:latin typeface="Gulim" panose="020B0600000101010101" pitchFamily="34" charset="-127"/>
                <a:ea typeface="Gulim" panose="020B0600000101010101" pitchFamily="34" charset="-127"/>
              </a:rPr>
              <a:t>(RPHI – VVHM – WSJC - WMFC)</a:t>
            </a:r>
          </a:p>
        </p:txBody>
      </p:sp>
      <p:graphicFrame>
        <p:nvGraphicFramePr>
          <p:cNvPr id="292" name="Google Shape;292;p18">
            <a:extLst>
              <a:ext uri="{FF2B5EF4-FFF2-40B4-BE49-F238E27FC236}">
                <a16:creationId xmlns:a16="http://schemas.microsoft.com/office/drawing/2014/main" id="{0E3CD912-B210-1495-0E75-798723FF0C26}"/>
              </a:ext>
            </a:extLst>
          </p:cNvPr>
          <p:cNvGraphicFramePr/>
          <p:nvPr>
            <p:extLst>
              <p:ext uri="{D42A27DB-BD31-4B8C-83A1-F6EECF244321}">
                <p14:modId xmlns:p14="http://schemas.microsoft.com/office/powerpoint/2010/main" val="640000280"/>
              </p:ext>
            </p:extLst>
          </p:nvPr>
        </p:nvGraphicFramePr>
        <p:xfrm>
          <a:off x="-2500" y="3723859"/>
          <a:ext cx="2328849" cy="182919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644200">
                  <a:extLst>
                    <a:ext uri="{9D8B030D-6E8A-4147-A177-3AD203B41FA5}">
                      <a16:colId xmlns:a16="http://schemas.microsoft.com/office/drawing/2014/main" val="502366202"/>
                    </a:ext>
                  </a:extLst>
                </a:gridCol>
                <a:gridCol w="290671">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KUL </a:t>
                      </a:r>
                      <a:r>
                        <a:rPr lang="en-US" altLang="ko-Kore-KR" sz="800" dirty="0">
                          <a:solidFill>
                            <a:srgbClr val="00B0F0"/>
                          </a:solidFill>
                        </a:rPr>
                        <a:t>[326/146]</a:t>
                      </a:r>
                      <a:r>
                        <a:rPr lang="en-US" altLang="ko-Kore-KR" sz="800" dirty="0"/>
                        <a:t> TL130 UTC+8, </a:t>
                      </a:r>
                      <a:r>
                        <a:rPr lang="en-US" altLang="ko-Kore-KR" sz="800" dirty="0">
                          <a:solidFill>
                            <a:srgbClr val="00B0F0"/>
                          </a:solidFill>
                        </a:rPr>
                        <a:t>ATC Req POB</a:t>
                      </a:r>
                    </a:p>
                    <a:p>
                      <a:pPr marL="0" marR="0" lvl="0" indent="0" algn="ctr" rtl="0">
                        <a:spcBef>
                          <a:spcPts val="0"/>
                        </a:spcBef>
                        <a:spcAft>
                          <a:spcPts val="0"/>
                        </a:spcAft>
                        <a:buNone/>
                      </a:pPr>
                      <a:r>
                        <a:rPr lang="en-US" altLang="ko-Kore-KR" sz="800" dirty="0">
                          <a:solidFill>
                            <a:srgbClr val="FFC000"/>
                          </a:solidFill>
                        </a:rPr>
                        <a:t>Long Track STAR Expect Short Cut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32R/33</a:t>
                      </a:r>
                      <a:endParaRPr sz="800" b="1" dirty="0">
                        <a:solidFill>
                          <a:srgbClr val="0070C0"/>
                        </a:solidFill>
                      </a:endParaRPr>
                    </a:p>
                  </a:txBody>
                  <a:tcPr marL="36000" marR="36000" marT="36000" marB="36000" anchor="ctr"/>
                </a:tc>
                <a:tc rowSpan="2">
                  <a:txBody>
                    <a:bodyPr/>
                    <a:lstStyle/>
                    <a:p>
                      <a:pPr marL="0" marR="0" lvl="0" indent="0" algn="ctr" rtl="0">
                        <a:spcBef>
                          <a:spcPts val="0"/>
                        </a:spcBef>
                        <a:spcAft>
                          <a:spcPts val="0"/>
                        </a:spcAft>
                        <a:buNone/>
                      </a:pPr>
                      <a:r>
                        <a:rPr lang="en-US" sz="800" b="1" dirty="0"/>
                        <a:t>SAROX x G/H</a:t>
                      </a:r>
                    </a:p>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Initial APP Chart</a:t>
                      </a:r>
                    </a:p>
                  </a:txBody>
                  <a:tcPr marL="36000" marR="36000" marT="36000" marB="36000" anchor="ctr"/>
                </a:tc>
                <a:tc rowSpan="2">
                  <a:txBody>
                    <a:bodyPr/>
                    <a:lstStyle/>
                    <a:p>
                      <a:pPr algn="ctr"/>
                      <a:r>
                        <a:rPr lang="en-US" altLang="ko-Kore-KR" sz="800" b="1" dirty="0"/>
                        <a:t>EGURI</a:t>
                      </a:r>
                    </a:p>
                    <a:p>
                      <a:pPr algn="ctr"/>
                      <a:r>
                        <a:rPr lang="en-US" altLang="ko-Kore-KR" sz="800" b="1" dirty="0"/>
                        <a:t>MESUP</a:t>
                      </a:r>
                      <a:endParaRPr lang="ko-Kore-KR" altLang="en-US" dirty="0"/>
                    </a:p>
                  </a:txBody>
                  <a:tcPr marL="36000" marR="36000" marT="36000" marB="36000" anchor="ctr"/>
                </a:tc>
                <a:tc rowSpan="2">
                  <a:txBody>
                    <a:bodyPr/>
                    <a:lstStyle/>
                    <a:p>
                      <a:pPr marL="0" marR="0" lvl="0" indent="0" algn="ctr" rtl="0">
                        <a:spcBef>
                          <a:spcPts val="0"/>
                        </a:spcBef>
                        <a:spcAft>
                          <a:spcPts val="0"/>
                        </a:spcAft>
                        <a:buNone/>
                      </a:pPr>
                      <a:r>
                        <a:rPr lang="en-US" sz="800" b="1" dirty="0"/>
                        <a:t>ILS</a:t>
                      </a:r>
                      <a:endParaRPr lang="en-US" sz="800"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14L/15</a:t>
                      </a:r>
                      <a:endParaRPr sz="800" b="1" dirty="0">
                        <a:solidFill>
                          <a:srgbClr val="0070C0"/>
                        </a:solidFill>
                      </a:endParaRPr>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tc vMerge="1">
                  <a:txBody>
                    <a:bodyPr/>
                    <a:lstStyle/>
                    <a:p>
                      <a:endParaRPr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VKL </a:t>
                      </a:r>
                      <a:r>
                        <a:rPr lang="en-US" altLang="ko-KR" sz="800" b="1" dirty="0">
                          <a:solidFill>
                            <a:srgbClr val="C00000"/>
                          </a:solidFill>
                        </a:rPr>
                        <a:t>32R IER, 33 IWM, 14L IEL, 15 IWK</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LIMIT</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700" b="1" dirty="0">
                          <a:solidFill>
                            <a:schemeClr val="bg1"/>
                          </a:solidFill>
                        </a:rPr>
                        <a:t>20NM 220kts, 15NM 185kts, 10-5NM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32R : A5(6938’), A4(8343’), 14L : A6(6922’), A7(8425’)</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33: Y5(6948’), Y4(8425’), 15 : Y6(6948’), Y7(8415’)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32L via C5 Caution D5,6 </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r>
                        <a:rPr kumimoji="0" lang="en-US" altLang="ko-Kore-KR" sz="800" b="1" i="0" u="none" strike="noStrike" kern="1200" cap="none" spc="0" normalizeH="0" baseline="0" noProof="0" dirty="0">
                          <a:ln>
                            <a:noFill/>
                          </a:ln>
                          <a:solidFill>
                            <a:srgbClr val="00B0F0"/>
                          </a:solidFill>
                          <a:effectLst/>
                          <a:uLnTx/>
                          <a:uFillTx/>
                          <a:latin typeface="Calibri"/>
                          <a:cs typeface="Calibri"/>
                        </a:rPr>
                        <a:t>ATC Req </a:t>
                      </a:r>
                      <a:r>
                        <a:rPr kumimoji="0" lang="en-US" altLang="ko-Kore-KR" sz="800" b="1" i="0" u="none" strike="noStrike" kern="1200" cap="none" spc="0" normalizeH="0" baseline="0" noProof="0" dirty="0" err="1">
                          <a:ln>
                            <a:noFill/>
                          </a:ln>
                          <a:solidFill>
                            <a:srgbClr val="00B0F0"/>
                          </a:solidFill>
                          <a:effectLst/>
                          <a:uLnTx/>
                          <a:uFillTx/>
                          <a:latin typeface="Calibri"/>
                          <a:cs typeface="Calibri"/>
                        </a:rPr>
                        <a:t>HLxx</a:t>
                      </a:r>
                      <a:r>
                        <a:rPr kumimoji="0" lang="en-US" altLang="ko-Kore-KR" sz="800" b="1" i="0" u="none" strike="noStrike" kern="1200" cap="none" spc="0" normalizeH="0" baseline="0" noProof="0" dirty="0">
                          <a:ln>
                            <a:noFill/>
                          </a:ln>
                          <a:solidFill>
                            <a:srgbClr val="00B0F0"/>
                          </a:solidFill>
                          <a:effectLst/>
                          <a:uLnTx/>
                          <a:uFillTx/>
                          <a:latin typeface="Calibri"/>
                          <a:cs typeface="Calibri"/>
                        </a:rPr>
                        <a:t>/LD Time</a:t>
                      </a:r>
                      <a:endParaRPr kumimoji="0" lang="en-US" altLang="ko-Kore-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TWY RTE,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937DEB5-95DE-4023-B29A-2D66304C2880}"/>
              </a:ext>
            </a:extLst>
          </p:cNvPr>
          <p:cNvGraphicFramePr/>
          <p:nvPr>
            <p:extLst>
              <p:ext uri="{D42A27DB-BD31-4B8C-83A1-F6EECF244321}">
                <p14:modId xmlns:p14="http://schemas.microsoft.com/office/powerpoint/2010/main" val="3707680220"/>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err="1"/>
                        <a:t>Layang</a:t>
                      </a:r>
                      <a:r>
                        <a:rPr lang="en-US" sz="900" dirty="0"/>
                        <a:t> Satellite</a:t>
                      </a:r>
                    </a:p>
                    <a:p>
                      <a:pPr marL="0" marR="0" lvl="0" indent="0" algn="ctr" rtl="0">
                        <a:spcBef>
                          <a:spcPts val="0"/>
                        </a:spcBef>
                        <a:spcAft>
                          <a:spcPts val="0"/>
                        </a:spcAft>
                        <a:buNone/>
                      </a:pPr>
                      <a:r>
                        <a:rPr lang="en-US" sz="900" dirty="0"/>
                        <a:t>132.9</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1671F43A-9691-8F08-A7CD-171544A2B15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FCF1A1C-09BD-F8DD-7D0E-52B0602B85CB}"/>
              </a:ext>
            </a:extLst>
          </p:cNvPr>
          <p:cNvGraphicFramePr/>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06FF2384-8D4D-1CD6-6B77-31DE34365B8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2999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69478790"/>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85F7D1C9-FFC4-A133-B9BB-C42F0C9EA3A5}"/>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044C55F4-4208-E125-E94B-6A866961BAFE}"/>
              </a:ext>
            </a:extLst>
          </p:cNvPr>
          <p:cNvGraphicFramePr/>
          <p:nvPr>
            <p:extLst>
              <p:ext uri="{D42A27DB-BD31-4B8C-83A1-F6EECF244321}">
                <p14:modId xmlns:p14="http://schemas.microsoft.com/office/powerpoint/2010/main" val="66603825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KUL : RNAV SID (NADP 1) TA 11000</a:t>
                      </a:r>
                    </a:p>
                    <a:p>
                      <a:pPr marL="0" marR="0" lvl="0" indent="0" algn="ctr" rtl="0">
                        <a:spcBef>
                          <a:spcPts val="0"/>
                        </a:spcBef>
                        <a:spcAft>
                          <a:spcPts val="0"/>
                        </a:spcAft>
                        <a:buNone/>
                      </a:pPr>
                      <a:r>
                        <a:rPr lang="en-US" sz="800" u="none" strike="noStrike" cap="none" dirty="0">
                          <a:solidFill>
                            <a:srgbClr val="FFC000"/>
                          </a:solidFill>
                        </a:rPr>
                        <a:t>REQ P/B +-5min of TSAT</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32L/33</a:t>
                      </a:r>
                      <a:endParaRPr lang="en-US" sz="800" b="0" u="none" strike="noStrike" cap="none" dirty="0">
                        <a:solidFill>
                          <a:schemeClr val="bg1"/>
                        </a:solidFill>
                      </a:endParaRPr>
                    </a:p>
                  </a:txBody>
                  <a:tcPr marL="36000" marR="36000" marT="36000" marB="36000" anchor="ctr"/>
                </a:tc>
                <a:tc gridSpan="3">
                  <a:txBody>
                    <a:bodyPr/>
                    <a:lstStyle/>
                    <a:p>
                      <a:pPr algn="ctr"/>
                      <a:r>
                        <a:rPr lang="en-US" sz="800" b="1" u="none" strike="noStrike" cap="none" dirty="0">
                          <a:solidFill>
                            <a:srgbClr val="0070C0"/>
                          </a:solidFill>
                        </a:rPr>
                        <a:t>KIMAT x E/F</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326 </a:t>
                      </a:r>
                      <a:r>
                        <a:rPr lang="en-US" sz="800" b="1" u="none" strike="noStrike" cap="none" dirty="0">
                          <a:solidFill>
                            <a:srgbClr val="0070C0"/>
                          </a:solidFill>
                        </a:rPr>
                        <a:t>ALT ATC (6000)</a:t>
                      </a:r>
                      <a:r>
                        <a:rPr lang="en-US" sz="800" b="1" u="none" strike="noStrike" cap="none" dirty="0">
                          <a:solidFill>
                            <a:srgbClr val="AA47F5"/>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14R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KIMAT x B</a:t>
                      </a:r>
                    </a:p>
                    <a:p>
                      <a:pPr algn="ctr"/>
                      <a:r>
                        <a:rPr lang="en-US" altLang="ko-Kore-KR" sz="600" b="1" u="none" strike="noStrike" cap="none" dirty="0">
                          <a:solidFill>
                            <a:schemeClr val="bg1"/>
                          </a:solidFill>
                        </a:rPr>
                        <a:t>RNP 1600-2100Z</a:t>
                      </a:r>
                      <a:endParaRPr lang="ko-Kore-KR" sz="3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146 </a:t>
                      </a:r>
                      <a:r>
                        <a:rPr lang="en-US" sz="800" b="1" u="none" strike="noStrike" cap="none" dirty="0">
                          <a:solidFill>
                            <a:srgbClr val="0070C0"/>
                          </a:solidFill>
                        </a:rPr>
                        <a:t>ALT ATC (6000)</a:t>
                      </a:r>
                      <a:r>
                        <a:rPr lang="en-US" altLang="ko-Kore-KR" sz="800" b="1" u="none" strike="noStrike" cap="none" dirty="0">
                          <a:solidFill>
                            <a:srgbClr val="00B050"/>
                          </a:solidFill>
                        </a:rPr>
                        <a:t>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VKL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116.1</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32L IWL</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111.9</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33 IWM</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14R IWR</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110.7</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15 IWK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Standard TAXI RTE</a:t>
                      </a:r>
                      <a:r>
                        <a:rPr lang="en-US" sz="800" b="0" u="none" strike="noStrike" cap="none" dirty="0">
                          <a:solidFill>
                            <a:schemeClr val="bg1"/>
                          </a:solidFill>
                        </a:rPr>
                        <a:t>, P/B Exit S8 -&gt; Taxi out S8</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DUDIS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Wingtip CLR P1-3, Q5-7, Y1-8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232C6E61-6C9F-BA12-5806-0C1F95D6CAB8}"/>
              </a:ext>
            </a:extLst>
          </p:cNvPr>
          <p:cNvGraphicFramePr/>
          <p:nvPr>
            <p:extLst>
              <p:ext uri="{D42A27DB-BD31-4B8C-83A1-F6EECF244321}">
                <p14:modId xmlns:p14="http://schemas.microsoft.com/office/powerpoint/2010/main" val="1538494388"/>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WMKK(KUL) 69ft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altLang="ko-Kore-KR" sz="800" dirty="0" err="1"/>
                        <a:t>Layang</a:t>
                      </a:r>
                      <a:r>
                        <a:rPr lang="en-US" altLang="ko-Kore-KR" sz="800" dirty="0"/>
                        <a:t> Satellite 132.9</a:t>
                      </a:r>
                      <a:endParaRPr sz="1200" dirty="0"/>
                    </a:p>
                    <a:p>
                      <a:pPr marL="0" marR="0" lvl="0" indent="0" algn="ctr" rtl="0">
                        <a:spcBef>
                          <a:spcPts val="0"/>
                        </a:spcBef>
                        <a:spcAft>
                          <a:spcPts val="0"/>
                        </a:spcAft>
                        <a:buNone/>
                      </a:pPr>
                      <a:r>
                        <a:rPr lang="en-US" altLang="ko-KR" sz="700" dirty="0">
                          <a:solidFill>
                            <a:srgbClr val="FF0000"/>
                          </a:solidFill>
                        </a:rPr>
                        <a:t>TSAT -30min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1EEBD74-74B6-6AD2-A138-733A38D8B245}"/>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6580AA8-B1B4-BB28-2E33-C867D3A61C8A}"/>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135.25(Before 2000ft) </a:t>
            </a:r>
          </a:p>
          <a:p>
            <a:pPr>
              <a:lnSpc>
                <a:spcPct val="150000"/>
              </a:lnSpc>
            </a:pPr>
            <a:r>
              <a:rPr kumimoji="1" lang="en-US" altLang="ko-Kore-KR" sz="700" b="1" u="sng" dirty="0">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dirty="0">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9" name="그래픽 8" descr="집 Wi-Fi에서 작업 단색으로 채워진">
            <a:hlinkClick r:id="" action="ppaction://hlinkshowjump?jump=firstslide"/>
            <a:extLst>
              <a:ext uri="{FF2B5EF4-FFF2-40B4-BE49-F238E27FC236}">
                <a16:creationId xmlns:a16="http://schemas.microsoft.com/office/drawing/2014/main" id="{8FEDFC53-4C5E-7540-87D1-E4E9CB7210A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56086"/>
            <a:ext cx="457200" cy="457200"/>
          </a:xfrm>
          <a:prstGeom prst="rect">
            <a:avLst/>
          </a:prstGeom>
          <a:effectLst>
            <a:outerShdw blurRad="50800" dist="50800" dir="3660000" algn="ctr" rotWithShape="0">
              <a:schemeClr val="bg1">
                <a:alpha val="82714"/>
              </a:schemeClr>
            </a:outerShdw>
          </a:effectLst>
        </p:spPr>
      </p:pic>
      <p:graphicFrame>
        <p:nvGraphicFramePr>
          <p:cNvPr id="5" name="Google Shape;283;p17">
            <a:extLst>
              <a:ext uri="{FF2B5EF4-FFF2-40B4-BE49-F238E27FC236}">
                <a16:creationId xmlns:a16="http://schemas.microsoft.com/office/drawing/2014/main" id="{4CCA8696-B1A0-2A6F-244E-0D296C8C7D68}"/>
              </a:ext>
            </a:extLst>
          </p:cNvPr>
          <p:cNvGraphicFramePr/>
          <p:nvPr/>
        </p:nvGraphicFramePr>
        <p:xfrm>
          <a:off x="11589" y="3297065"/>
          <a:ext cx="2314761" cy="225241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178498">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2227">
                <a:tc>
                  <a:txBody>
                    <a:bodyPr/>
                    <a:lstStyle/>
                    <a:p>
                      <a:pPr marL="0" marR="0" lvl="0" indent="0" algn="ctr" rtl="0">
                        <a:spcBef>
                          <a:spcPts val="0"/>
                        </a:spcBef>
                        <a:spcAft>
                          <a:spcPts val="0"/>
                        </a:spcAft>
                        <a:buNone/>
                      </a:pPr>
                      <a:r>
                        <a:rPr lang="en-US" sz="800" b="1" dirty="0"/>
                        <a:t>33</a:t>
                      </a:r>
                    </a:p>
                    <a:p>
                      <a:pPr marL="0" marR="0" lvl="0" indent="0" algn="ctr" rtl="0">
                        <a:spcBef>
                          <a:spcPts val="0"/>
                        </a:spcBef>
                        <a:spcAft>
                          <a:spcPts val="0"/>
                        </a:spcAft>
                        <a:buNone/>
                      </a:pPr>
                      <a:r>
                        <a:rPr lang="en-US" sz="800" b="1" dirty="0"/>
                        <a:t>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xY</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ENPIL</a:t>
                      </a:r>
                    </a:p>
                    <a:p>
                      <a:pPr marL="0" marR="0" lvl="0" indent="0" algn="ctr" rtl="0">
                        <a:spcBef>
                          <a:spcPts val="0"/>
                        </a:spcBef>
                        <a:spcAft>
                          <a:spcPts val="0"/>
                        </a:spcAft>
                        <a:buNone/>
                      </a:pPr>
                      <a:r>
                        <a:rPr lang="en-US" sz="800" b="1" dirty="0">
                          <a:solidFill>
                            <a:srgbClr val="FF0000"/>
                          </a:solidFill>
                        </a:rPr>
                        <a:t>PAMBI</a:t>
                      </a:r>
                      <a:endParaRPr sz="458" b="1"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t>OLMEN 180</a:t>
                      </a:r>
                    </a:p>
                    <a:p>
                      <a:pPr marL="0" marR="0" lvl="0" indent="0" algn="ctr" rtl="0">
                        <a:spcBef>
                          <a:spcPts val="0"/>
                        </a:spcBef>
                        <a:spcAft>
                          <a:spcPts val="0"/>
                        </a:spcAft>
                        <a:buNone/>
                      </a:pPr>
                      <a:r>
                        <a:rPr lang="en-US" sz="800" b="1" dirty="0"/>
                        <a:t>OLMEN 160</a:t>
                      </a:r>
                      <a:endParaRPr sz="458" b="1" dirty="0"/>
                    </a:p>
                  </a:txBody>
                  <a:tcPr marL="36000" marR="36000" marT="36000" marB="36000" anchor="ctr"/>
                </a:tc>
                <a:extLst>
                  <a:ext uri="{0D108BD9-81ED-4DB2-BD59-A6C34878D82A}">
                    <a16:rowId xmlns:a16="http://schemas.microsoft.com/office/drawing/2014/main" val="10001"/>
                  </a:ext>
                </a:extLst>
              </a:tr>
              <a:tr h="264221">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lang="en-US" sz="800" b="1" dirty="0"/>
                    </a:p>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b="1" dirty="0"/>
                        <a:t>OLMEN </a:t>
                      </a:r>
                      <a:r>
                        <a:rPr lang="en-US" altLang="ko-Kore-KR" sz="800" b="1" dirty="0" err="1"/>
                        <a:t>xC</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62227">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62227">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62227">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64221">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62227">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03730256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94022"/>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0763C149-D220-A6F2-4D0A-49E610144998}"/>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9185289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75156"/>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1B3E68C1-DEAE-46A5-D089-98534D121C33}"/>
              </a:ext>
            </a:extLst>
          </p:cNvPr>
          <p:cNvGraphicFramePr/>
          <p:nvPr>
            <p:extLst>
              <p:ext uri="{D42A27DB-BD31-4B8C-83A1-F6EECF244321}">
                <p14:modId xmlns:p14="http://schemas.microsoft.com/office/powerpoint/2010/main" val="2636973324"/>
              </p:ext>
            </p:extLst>
          </p:nvPr>
        </p:nvGraphicFramePr>
        <p:xfrm>
          <a:off x="11588" y="3418356"/>
          <a:ext cx="2314761" cy="213049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GUKDO x 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16</a:t>
                      </a:r>
                    </a:p>
                    <a:p>
                      <a:pPr marL="0" marR="0" lvl="0" indent="0" algn="ctr" rtl="0">
                        <a:spcBef>
                          <a:spcPts val="0"/>
                        </a:spcBef>
                        <a:spcAft>
                          <a:spcPts val="0"/>
                        </a:spcAft>
                        <a:buNone/>
                      </a:pPr>
                      <a:r>
                        <a:rPr lang="en-US" sz="800" b="1" dirty="0"/>
                        <a:t>15</a:t>
                      </a:r>
                    </a:p>
                  </a:txBody>
                  <a:tcPr marL="36000" marR="36000" marT="36000" marB="36000" anchor="ctr"/>
                </a:tc>
                <a:tc>
                  <a:txBody>
                    <a:bodyPr/>
                    <a:lstStyle/>
                    <a:p>
                      <a:pPr marL="0" marR="0" lvl="0" indent="0" algn="ctr" rtl="0">
                        <a:spcBef>
                          <a:spcPts val="0"/>
                        </a:spcBef>
                        <a:spcAft>
                          <a:spcPts val="0"/>
                        </a:spcAft>
                        <a:buNone/>
                      </a:pPr>
                      <a:r>
                        <a:rPr lang="en-US" sz="800" b="1" dirty="0"/>
                        <a:t>GUKDO x H</a:t>
                      </a:r>
                    </a:p>
                    <a:p>
                      <a:pPr marL="0" marR="0" lvl="0" indent="0" algn="ctr" rtl="0">
                        <a:spcBef>
                          <a:spcPts val="0"/>
                        </a:spcBef>
                        <a:spcAft>
                          <a:spcPts val="0"/>
                        </a:spcAft>
                        <a:buNone/>
                      </a:pPr>
                      <a:r>
                        <a:rPr lang="en-US" sz="800" b="1" dirty="0"/>
                        <a:t>GUKDO x C</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p>
                    <a:p>
                      <a:pPr marL="0" marR="0" lvl="0" indent="0" algn="ctr" rtl="0">
                        <a:spcBef>
                          <a:spcPts val="0"/>
                        </a:spcBef>
                        <a:spcAft>
                          <a:spcPts val="0"/>
                        </a:spcAft>
                        <a:buNone/>
                      </a:pPr>
                      <a:r>
                        <a:rPr lang="en-US" sz="800" b="1" dirty="0"/>
                        <a:t>BITIM</a:t>
                      </a:r>
                    </a:p>
                  </a:txBody>
                  <a:tcPr marL="36000" marR="36000" marT="36000" marB="36000" anchor="ctr"/>
                </a:tc>
                <a:tc>
                  <a:txBody>
                    <a:bodyPr/>
                    <a:lstStyle/>
                    <a:p>
                      <a:pPr marL="0" marR="0" lvl="0" indent="0" algn="ctr" rtl="0">
                        <a:spcBef>
                          <a:spcPts val="0"/>
                        </a:spcBef>
                        <a:spcAft>
                          <a:spcPts val="0"/>
                        </a:spcAft>
                        <a:buNone/>
                      </a:pPr>
                      <a:r>
                        <a:rPr lang="en-US" sz="800" b="1" dirty="0"/>
                        <a:t>GUKDO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71955187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888697"/>
            <a:ext cx="1531188"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5min Before POLHO </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Boundary Report to UBN 126.5</a:t>
            </a: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221406458"/>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:C(5761’), </a:t>
                      </a:r>
                      <a:r>
                        <a:rPr lang="en-US" sz="800" b="1" dirty="0">
                          <a:solidFill>
                            <a:srgbClr val="FF0000"/>
                          </a:solidFill>
                        </a:rPr>
                        <a:t>B(8241’),</a:t>
                      </a:r>
                      <a:r>
                        <a:rPr lang="en-US" sz="800" b="1" dirty="0">
                          <a:solidFill>
                            <a:srgbClr val="0070C0"/>
                          </a:solidFill>
                        </a:rPr>
                        <a:t>END RWY, </a:t>
                      </a:r>
                      <a:r>
                        <a:rPr lang="en-US" sz="800" b="1" dirty="0">
                          <a:solidFill>
                            <a:srgbClr val="FF0000"/>
                          </a:solidFill>
                        </a:rPr>
                        <a:t> </a:t>
                      </a:r>
                      <a:r>
                        <a:rPr lang="en-US" sz="800" b="1" dirty="0">
                          <a:solidFill>
                            <a:schemeClr val="dk1"/>
                          </a:solidFill>
                        </a:rPr>
                        <a:t>11 : C(5761’),D(8231’)</a:t>
                      </a:r>
                      <a:r>
                        <a:rPr lang="en-US" sz="800" dirty="0">
                          <a:solidFill>
                            <a:schemeClr val="dk1"/>
                          </a:solidFill>
                        </a:rPr>
                        <a:t> </a:t>
                      </a:r>
                      <a:endParaRPr dirty="0"/>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7598730"/>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A</a:t>
                      </a:r>
                      <a:r>
                        <a:rPr lang="en-US" sz="800" b="0" u="none" strike="noStrike" cap="none" dirty="0">
                          <a:solidFill>
                            <a:schemeClr val="bg1"/>
                          </a:solidFill>
                        </a:rPr>
                        <a:t>/C</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B</a:t>
                      </a:r>
                      <a:r>
                        <a:rPr lang="en-US" altLang="ko-Kore-KR" sz="800" b="0" u="none" strike="noStrike" cap="none" dirty="0">
                          <a:solidFill>
                            <a:schemeClr val="bg1"/>
                          </a:solidFill>
                        </a:rPr>
                        <a:t>/D</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a:t>
                      </a:r>
                      <a:r>
                        <a:rPr lang="en-US" altLang="ko-KR" sz="800" b="0" u="none" strike="noStrike" cap="none" dirty="0">
                          <a:solidFill>
                            <a:schemeClr val="bg1"/>
                          </a:solidFill>
                        </a:rPr>
                        <a:t>133</a:t>
                      </a:r>
                      <a:r>
                        <a:rPr lang="en-US" altLang="ko-Kore-KR" sz="800" b="0" u="none" strike="noStrike" cap="none" dirty="0">
                          <a:solidFill>
                            <a:schemeClr val="bg1"/>
                          </a:solidFill>
                        </a:rPr>
                        <a:t>,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374094" cy="1017064"/>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120.0</a:t>
            </a:r>
          </a:p>
          <a:p>
            <a:pPr>
              <a:lnSpc>
                <a:spcPct val="150000"/>
              </a:lnSpc>
            </a:pPr>
            <a:r>
              <a:rPr kumimoji="1" lang="en-US" altLang="ko-KR" sz="700" b="1" u="sng" dirty="0">
                <a:latin typeface="Gulim" panose="020B0600000101010101" pitchFamily="34" charset="-127"/>
                <a:ea typeface="Gulim" panose="020B0600000101010101" pitchFamily="34" charset="-127"/>
              </a:rPr>
              <a:t>UBN 126.0 – 126.5</a:t>
            </a:r>
          </a:p>
          <a:p>
            <a:pPr>
              <a:lnSpc>
                <a:spcPct val="150000"/>
              </a:lnSpc>
            </a:pPr>
            <a:endParaRPr kumimoji="1" lang="en-US" altLang="ko-KR" sz="700" b="1" u="sng" dirty="0">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Boundary Report 15-20min</a:t>
            </a:r>
          </a:p>
          <a:p>
            <a:pPr>
              <a:lnSpc>
                <a:spcPct val="150000"/>
              </a:lnSpc>
            </a:pPr>
            <a:r>
              <a:rPr kumimoji="1" lang="en-US" altLang="ko-KR" sz="700" b="1" u="sng" dirty="0">
                <a:solidFill>
                  <a:srgbClr val="FFC000"/>
                </a:solidFill>
                <a:latin typeface="Gulim" panose="020B0600000101010101" pitchFamily="34" charset="-127"/>
                <a:ea typeface="Gulim" panose="020B0600000101010101" pitchFamily="34" charset="-127"/>
              </a:rPr>
              <a:t>PEK 133.025</a:t>
            </a:r>
          </a:p>
          <a:p>
            <a:pPr>
              <a:lnSpc>
                <a:spcPct val="150000"/>
              </a:lnSpc>
            </a:pPr>
            <a:endParaRPr kumimoji="1" lang="en-US" altLang="ko-KR" sz="700" b="1" u="sng" dirty="0">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graphicFrame>
        <p:nvGraphicFramePr>
          <p:cNvPr id="3" name="Google Shape;283;p17">
            <a:extLst>
              <a:ext uri="{FF2B5EF4-FFF2-40B4-BE49-F238E27FC236}">
                <a16:creationId xmlns:a16="http://schemas.microsoft.com/office/drawing/2014/main" id="{DA9B6491-0217-DC0C-4760-227DEA905AC6}"/>
              </a:ext>
            </a:extLst>
          </p:cNvPr>
          <p:cNvGraphicFramePr/>
          <p:nvPr>
            <p:extLst>
              <p:ext uri="{D42A27DB-BD31-4B8C-83A1-F6EECF244321}">
                <p14:modId xmlns:p14="http://schemas.microsoft.com/office/powerpoint/2010/main" val="228634424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9397703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S RTE : </a:t>
            </a:r>
            <a:r>
              <a:rPr kumimoji="1" lang="en-US" altLang="ko-Kore-KR" sz="700" b="1" u="sng" dirty="0">
                <a:solidFill>
                  <a:srgbClr val="FFC000"/>
                </a:solidFill>
                <a:latin typeface="Gulim" panose="020B0600000101010101" pitchFamily="34" charset="-127"/>
                <a:ea typeface="Gulim" panose="020B0600000101010101" pitchFamily="34" charset="-127"/>
              </a:rPr>
              <a:t>CHILA</a:t>
            </a:r>
            <a:r>
              <a:rPr kumimoji="1" lang="en-US" altLang="ko-Kore-KR" sz="700" b="1" u="sng" dirty="0">
                <a:latin typeface="Gulim" panose="020B0600000101010101" pitchFamily="34" charset="-127"/>
                <a:ea typeface="Gulim" panose="020B0600000101010101" pitchFamily="34" charset="-127"/>
              </a:rPr>
              <a:t> Report YANGON, DAKHA, KOLKATA</a:t>
            </a:r>
          </a:p>
          <a:p>
            <a:pPr>
              <a:lnSpc>
                <a:spcPct val="150000"/>
              </a:lnSpc>
            </a:pPr>
            <a:r>
              <a:rPr kumimoji="1" lang="en-US" altLang="ko-Kore-KR" sz="700" b="1" u="sng" dirty="0">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latin typeface="Gulim" panose="020B0600000101010101" pitchFamily="34" charset="-127"/>
                <a:ea typeface="Gulim" panose="020B0600000101010101" pitchFamily="34" charset="-127"/>
              </a:rPr>
              <a:t>- PURPA(W112) : </a:t>
            </a:r>
            <a:r>
              <a:rPr kumimoji="1" lang="en-US" altLang="ko-Kore-KR" sz="700" b="1" u="sng" dirty="0" err="1">
                <a:latin typeface="Gulim" panose="020B0600000101010101" pitchFamily="34" charset="-127"/>
                <a:ea typeface="Gulim" panose="020B0600000101010101" pitchFamily="34" charset="-127"/>
              </a:rPr>
              <a:t>islamabad</a:t>
            </a:r>
            <a:r>
              <a:rPr kumimoji="1" lang="en-US" altLang="ko-Kore-KR" sz="700" b="1" u="sng" dirty="0">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703168850"/>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UTC+4, TL 150 : </a:t>
                      </a:r>
                      <a:r>
                        <a:rPr lang="en-US" sz="800" dirty="0">
                          <a:solidFill>
                            <a:srgbClr val="92D05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 C/S, A333, passing FL -&gt;</a:t>
                      </a:r>
                      <a:r>
                        <a:rPr lang="en-US" sz="800" dirty="0"/>
                        <a:t> </a:t>
                      </a:r>
                      <a:r>
                        <a:rPr lang="en-US" sz="800" b="1" dirty="0">
                          <a:solidFill>
                            <a:srgbClr val="FFC000"/>
                          </a:solidFill>
                        </a:rPr>
                        <a:t>Director :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extLst>
              <p:ext uri="{D42A27DB-BD31-4B8C-83A1-F6EECF244321}">
                <p14:modId xmlns:p14="http://schemas.microsoft.com/office/powerpoint/2010/main" val="2630546695"/>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4,500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14,800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3,900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12,800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2845794789"/>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UTC+4,TA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824657"/>
            <a:ext cx="2396810" cy="1663395"/>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latin typeface="Gulim" panose="020B0600000101010101" pitchFamily="34" charset="-127"/>
                <a:ea typeface="Gulim" panose="020B0600000101010101" pitchFamily="34" charset="-127"/>
              </a:rPr>
              <a:t>Tehran FIR(GABKO FL190)</a:t>
            </a: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MUM HF : 6661/8</a:t>
            </a:r>
            <a:r>
              <a:rPr kumimoji="1" lang="en-US" altLang="ko-Kore-KR" sz="700" b="1" u="sng" dirty="0">
                <a:solidFill>
                  <a:srgbClr val="FFC000"/>
                </a:solidFill>
                <a:latin typeface="Gulim" panose="020B0600000101010101" pitchFamily="34" charset="-127"/>
                <a:ea typeface="Gulim" panose="020B0600000101010101" pitchFamily="34" charset="-127"/>
              </a:rPr>
              <a:t>879/5658</a:t>
            </a:r>
            <a:endPar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endPar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endParaRP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S RTE : </a:t>
            </a:r>
            <a:r>
              <a:rPr kumimoji="1" lang="en-US" altLang="ko-Kore-KR" sz="700" b="1" i="0" u="sng" strike="noStrike" kern="1200" cap="none" spc="0" normalizeH="0" baseline="0" noProof="0" dirty="0">
                <a:ln>
                  <a:noFill/>
                </a:ln>
                <a:solidFill>
                  <a:srgbClr val="FFC000"/>
                </a:solidFill>
                <a:effectLst/>
                <a:uLnTx/>
                <a:uFillTx/>
                <a:latin typeface="Gulim" panose="020B0600000101010101" pitchFamily="34" charset="-127"/>
                <a:ea typeface="Gulim" panose="020B0600000101010101" pitchFamily="34" charset="-127"/>
                <a:cs typeface="+mn-cs"/>
              </a:rPr>
              <a:t>CHILA</a:t>
            </a: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 Report YANGON, DAKHA, KOLKATA</a:t>
            </a:r>
          </a:p>
          <a:p>
            <a:pPr marL="0" marR="0" lvl="0" indent="0" algn="l" defTabSz="457200" rtl="0" eaLnBrk="1" fontAlgn="auto" latinLnBrk="0" hangingPunct="1">
              <a:lnSpc>
                <a:spcPct val="150000"/>
              </a:lnSpc>
              <a:spcBef>
                <a:spcPts val="0"/>
              </a:spcBef>
              <a:spcAft>
                <a:spcPts val="0"/>
              </a:spcAft>
              <a:buClrTx/>
              <a:buSzTx/>
              <a:buFontTx/>
              <a:buNone/>
              <a:tabLst/>
              <a:defRPr/>
            </a:pPr>
            <a:r>
              <a:rPr kumimoji="1" lang="en-US" altLang="ko-Kore-KR" sz="700" b="1" i="0" u="sng" strike="noStrike" kern="1200" cap="none" spc="0" normalizeH="0" baseline="0" noProof="0" dirty="0">
                <a:ln>
                  <a:noFill/>
                </a:ln>
                <a:solidFill>
                  <a:prstClr val="white"/>
                </a:solidFill>
                <a:effectLst/>
                <a:uLnTx/>
                <a:uFillTx/>
                <a:latin typeface="Gulim" panose="020B0600000101010101" pitchFamily="34" charset="-127"/>
                <a:ea typeface="Gulim" panose="020B0600000101010101" pitchFamily="34" charset="-127"/>
                <a:cs typeface="+mn-cs"/>
              </a:rPr>
              <a:t>Boundary Report</a:t>
            </a:r>
          </a:p>
          <a:p>
            <a:pPr>
              <a:lnSpc>
                <a:spcPct val="150000"/>
              </a:lnSpc>
            </a:pPr>
            <a:r>
              <a:rPr kumimoji="1" lang="en-US" altLang="ko-Kore-KR" sz="700" b="1" u="sng" dirty="0">
                <a:solidFill>
                  <a:srgbClr val="FFC000"/>
                </a:solidFill>
                <a:latin typeface="Gulim" panose="020B0600000101010101" pitchFamily="34" charset="-127"/>
                <a:ea typeface="Gulim" panose="020B0600000101010101" pitchFamily="34" charset="-127"/>
              </a:rPr>
              <a:t>KMG 125.75(15-20min FIR)</a:t>
            </a: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extLst>
              <p:ext uri="{D42A27DB-BD31-4B8C-83A1-F6EECF244321}">
                <p14:modId xmlns:p14="http://schemas.microsoft.com/office/powerpoint/2010/main" val="94548055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[334/153]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C5(5501’), </a:t>
                      </a:r>
                      <a:r>
                        <a:rPr lang="en-US" sz="800" b="1" dirty="0">
                          <a:solidFill>
                            <a:schemeClr val="dk1"/>
                          </a:solidFill>
                          <a:latin typeface="Calibri"/>
                          <a:ea typeface="Calibri"/>
                          <a:cs typeface="Calibri"/>
                          <a:sym typeface="Calibri"/>
                        </a:rPr>
                        <a:t>C6(6683’),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C4(5495’), </a:t>
                      </a:r>
                      <a:r>
                        <a:rPr lang="en-US" sz="800" b="1" dirty="0">
                          <a:solidFill>
                            <a:schemeClr val="dk1"/>
                          </a:solidFill>
                          <a:latin typeface="Calibri"/>
                          <a:ea typeface="Calibri"/>
                          <a:cs typeface="Calibri"/>
                          <a:sym typeface="Calibri"/>
                        </a:rPr>
                        <a:t>C5(6227’),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34L : </a:t>
                      </a:r>
                      <a:r>
                        <a:rPr lang="en-US" sz="800" b="1" dirty="0">
                          <a:solidFill>
                            <a:srgbClr val="0070C0"/>
                          </a:solidFill>
                          <a:latin typeface="Calibri"/>
                          <a:ea typeface="Calibri"/>
                          <a:cs typeface="Calibri"/>
                          <a:sym typeface="Calibri"/>
                        </a:rPr>
                        <a:t>P7(5600’), </a:t>
                      </a:r>
                      <a:r>
                        <a:rPr lang="en-US" sz="800" b="1" dirty="0">
                          <a:solidFill>
                            <a:schemeClr val="dk1"/>
                          </a:solidFill>
                          <a:latin typeface="Calibri"/>
                          <a:ea typeface="Calibri"/>
                          <a:cs typeface="Calibri"/>
                          <a:sym typeface="Calibri"/>
                        </a:rPr>
                        <a:t>P8(6578’), 34R : </a:t>
                      </a:r>
                      <a:r>
                        <a:rPr lang="en-US" sz="800" b="1" dirty="0">
                          <a:solidFill>
                            <a:srgbClr val="0070C0"/>
                          </a:solidFill>
                          <a:latin typeface="Calibri"/>
                          <a:ea typeface="Calibri"/>
                          <a:cs typeface="Calibri"/>
                          <a:sym typeface="Calibri"/>
                        </a:rPr>
                        <a:t>N4(6876’), </a:t>
                      </a:r>
                      <a:r>
                        <a:rPr lang="en-US" sz="800" b="1" dirty="0">
                          <a:solidFill>
                            <a:schemeClr val="dk1"/>
                          </a:solidFill>
                          <a:latin typeface="Calibri"/>
                          <a:ea typeface="Calibri"/>
                          <a:cs typeface="Calibri"/>
                          <a:sym typeface="Calibri"/>
                        </a:rPr>
                        <a:t>N5(8507‘)</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16R : </a:t>
                      </a:r>
                      <a:r>
                        <a:rPr lang="en-US" sz="800" b="1" dirty="0">
                          <a:solidFill>
                            <a:srgbClr val="0070C0"/>
                          </a:solidFill>
                          <a:latin typeface="Calibri"/>
                          <a:ea typeface="Calibri"/>
                          <a:cs typeface="Calibri"/>
                          <a:sym typeface="Calibri"/>
                        </a:rPr>
                        <a:t>P6(5597’), </a:t>
                      </a:r>
                      <a:r>
                        <a:rPr lang="en-US" sz="800" b="1" dirty="0">
                          <a:solidFill>
                            <a:schemeClr val="dk1"/>
                          </a:solidFill>
                          <a:latin typeface="Calibri"/>
                          <a:ea typeface="Calibri"/>
                          <a:cs typeface="Calibri"/>
                          <a:sym typeface="Calibri"/>
                        </a:rPr>
                        <a:t>P5(6574’), 16L : </a:t>
                      </a:r>
                      <a:r>
                        <a:rPr lang="en-US" sz="800" b="1" dirty="0">
                          <a:solidFill>
                            <a:srgbClr val="0070C0"/>
                          </a:solidFill>
                          <a:latin typeface="Calibri"/>
                          <a:ea typeface="Calibri"/>
                          <a:cs typeface="Calibri"/>
                          <a:sym typeface="Calibri"/>
                        </a:rPr>
                        <a:t>N3(7043‘), </a:t>
                      </a:r>
                      <a:r>
                        <a:rPr lang="en-US" sz="800" b="1" dirty="0">
                          <a:solidFill>
                            <a:schemeClr val="dk1"/>
                          </a:solidFill>
                          <a:latin typeface="Calibri"/>
                          <a:ea typeface="Calibri"/>
                          <a:cs typeface="Calibri"/>
                          <a:sym typeface="Calibri"/>
                        </a:rPr>
                        <a:t>N2(8444‘)</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altLang="ko-Kore-KR" sz="800" b="1" dirty="0">
                          <a:solidFill>
                            <a:srgbClr val="0070C0"/>
                          </a:solidFill>
                          <a:latin typeface="Calibri"/>
                          <a:ea typeface="Calibri"/>
                          <a:cs typeface="Calibri"/>
                          <a:sym typeface="Calibri"/>
                        </a:rPr>
                        <a:t>HIRO, </a:t>
                      </a:r>
                      <a:r>
                        <a:rPr lang="en-US" sz="800" dirty="0">
                          <a:latin typeface="Calibri"/>
                          <a:ea typeface="Calibri"/>
                          <a:cs typeface="Calibri"/>
                          <a:sym typeface="Calibri"/>
                        </a:rPr>
                        <a:t>Parr TAXI 10kts이상, </a:t>
                      </a:r>
                      <a:r>
                        <a:rPr lang="en-US" sz="800" b="1" dirty="0">
                          <a:solidFill>
                            <a:srgbClr val="0070C0"/>
                          </a:solidFill>
                          <a:latin typeface="Calibri"/>
                          <a:ea typeface="Calibri"/>
                          <a:cs typeface="Calibri"/>
                          <a:sym typeface="Calibri"/>
                        </a:rPr>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85015</TotalTime>
  <Words>27991</Words>
  <Application>Microsoft Macintosh PowerPoint</Application>
  <PresentationFormat>사용자 지정</PresentationFormat>
  <Paragraphs>6855</Paragraphs>
  <Slides>122</Slides>
  <Notes>109</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122</vt:i4>
      </vt:variant>
    </vt:vector>
  </HeadingPairs>
  <TitlesOfParts>
    <vt:vector size="132" baseType="lpstr">
      <vt:lpstr>맑은 고딕</vt:lpstr>
      <vt:lpstr>Lato</vt:lpstr>
      <vt:lpstr>Gulim</vt:lpstr>
      <vt:lpstr>Arial</vt:lpstr>
      <vt:lpstr>Helvetica Neue</vt:lpstr>
      <vt:lpstr>Century Gothic</vt:lpstr>
      <vt:lpstr>Calibri</vt:lpstr>
      <vt:lpstr>Cambria Math</vt:lpstr>
      <vt:lpstr>Britannic Bold</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602</cp:revision>
  <dcterms:created xsi:type="dcterms:W3CDTF">2022-05-17T08:00:10Z</dcterms:created>
  <dcterms:modified xsi:type="dcterms:W3CDTF">2025-11-27T02:09:52Z</dcterms:modified>
</cp:coreProperties>
</file>