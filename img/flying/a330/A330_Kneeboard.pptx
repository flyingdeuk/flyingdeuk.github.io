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1"/>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36" r:id="rId92"/>
    <p:sldId id="376" r:id="rId93"/>
    <p:sldId id="434" r:id="rId94"/>
    <p:sldId id="437" r:id="rId95"/>
    <p:sldId id="439" r:id="rId96"/>
    <p:sldId id="438" r:id="rId97"/>
    <p:sldId id="444" r:id="rId98"/>
    <p:sldId id="445" r:id="rId99"/>
    <p:sldId id="446" r:id="rId100"/>
    <p:sldId id="469" r:id="rId101"/>
    <p:sldId id="470" r:id="rId102"/>
    <p:sldId id="471" r:id="rId103"/>
    <p:sldId id="472" r:id="rId104"/>
    <p:sldId id="473" r:id="rId105"/>
    <p:sldId id="474" r:id="rId106"/>
    <p:sldId id="493" r:id="rId107"/>
    <p:sldId id="496" r:id="rId108"/>
    <p:sldId id="494" r:id="rId109"/>
    <p:sldId id="495" r:id="rId110"/>
    <p:sldId id="422" r:id="rId111"/>
    <p:sldId id="385" r:id="rId112"/>
    <p:sldId id="497" r:id="rId113"/>
    <p:sldId id="365" r:id="rId114"/>
    <p:sldId id="366" r:id="rId115"/>
    <p:sldId id="423" r:id="rId116"/>
    <p:sldId id="384" r:id="rId117"/>
    <p:sldId id="283" r:id="rId118"/>
    <p:sldId id="286" r:id="rId119"/>
    <p:sldId id="428" r:id="rId120"/>
    <p:sldId id="288" r:id="rId121"/>
    <p:sldId id="289" r:id="rId122"/>
    <p:sldId id="290" r:id="rId123"/>
    <p:sldId id="424" r:id="rId124"/>
    <p:sldId id="302" r:id="rId125"/>
    <p:sldId id="303" r:id="rId126"/>
    <p:sldId id="426" r:id="rId127"/>
    <p:sldId id="427" r:id="rId128"/>
    <p:sldId id="430" r:id="rId129"/>
    <p:sldId id="281" r:id="rId130"/>
  </p:sldIdLst>
  <p:sldSz cx="2328863" cy="5572125"/>
  <p:notesSz cx="6858000" cy="9144000"/>
  <p:embeddedFontLst>
    <p:embeddedFont>
      <p:font typeface="맑은 고딕" panose="020B0503020000020004" pitchFamily="34" charset="-127"/>
      <p:regular r:id="rId132"/>
      <p:bold r:id="rId133"/>
    </p:embeddedFont>
    <p:embeddedFont>
      <p:font typeface="Cambria Math" panose="02040503050406030204" pitchFamily="18" charset="0"/>
      <p:regular r:id="rId134"/>
    </p:embeddedFont>
    <p:embeddedFont>
      <p:font typeface="Century Gothic" panose="020B0502020202020204" pitchFamily="34" charset="0"/>
      <p:regular r:id="rId135"/>
      <p:bold r:id="rId136"/>
      <p:italic r:id="rId137"/>
      <p:boldItalic r:id="rId138"/>
    </p:embeddedFont>
    <p:embeddedFont>
      <p:font typeface="Helvetica Neue" panose="02000503000000020004" pitchFamily="2" charset="0"/>
      <p:regular r:id="rId139"/>
      <p:bold r:id="rId140"/>
      <p:italic r:id="rId141"/>
      <p:boldItalic r:id="rId142"/>
    </p:embeddedFont>
    <p:embeddedFont>
      <p:font typeface="Lato" panose="020F0502020204030203" pitchFamily="34" charset="0"/>
      <p:regular r:id="rId143"/>
      <p:bold r:id="rId144"/>
      <p:italic r:id="rId145"/>
      <p:boldItalic r:id="rId14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500"/>
    <p:restoredTop sz="96966"/>
  </p:normalViewPr>
  <p:slideViewPr>
    <p:cSldViewPr snapToGrid="0" showGuides="1">
      <p:cViewPr>
        <p:scale>
          <a:sx n="201" d="100"/>
          <a:sy n="201" d="100"/>
        </p:scale>
        <p:origin x="2768" y="-25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7.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3.fntdata"/><Relationship Id="rId139" Type="http://schemas.openxmlformats.org/officeDocument/2006/relationships/font" Target="fonts/font8.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9.fntdata"/><Relationship Id="rId145"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font" Target="fonts/font4.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0.fntdata"/><Relationship Id="rId146"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notesMaster" Target="notesMasters/notesMaster1.xml"/><Relationship Id="rId136"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1.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1.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2.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3.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07039A4B-7B84-1C07-26D4-E8BA20A5BE34}"/>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A4023981-F605-2BDA-6E2F-EA729D00855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2CDD515D-09D2-C183-5427-296067781CB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44770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129</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2.xml"/><Relationship Id="rId18" Type="http://schemas.openxmlformats.org/officeDocument/2006/relationships/slide" Target="slide120.xml"/><Relationship Id="rId3" Type="http://schemas.openxmlformats.org/officeDocument/2006/relationships/slide" Target="slide2.xml"/><Relationship Id="rId21" Type="http://schemas.openxmlformats.org/officeDocument/2006/relationships/slide" Target="slide127.xml"/><Relationship Id="rId7" Type="http://schemas.openxmlformats.org/officeDocument/2006/relationships/slide" Target="slide11.xml"/><Relationship Id="rId12" Type="http://schemas.openxmlformats.org/officeDocument/2006/relationships/slide" Target="slide111.xml"/><Relationship Id="rId17" Type="http://schemas.openxmlformats.org/officeDocument/2006/relationships/slide" Target="slide118.xml"/><Relationship Id="rId2" Type="http://schemas.openxmlformats.org/officeDocument/2006/relationships/notesSlide" Target="../notesSlides/notesSlide1.xml"/><Relationship Id="rId16" Type="http://schemas.openxmlformats.org/officeDocument/2006/relationships/slide" Target="slide116.xml"/><Relationship Id="rId20" Type="http://schemas.openxmlformats.org/officeDocument/2006/relationships/slide" Target="slide126.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0.xml"/><Relationship Id="rId5" Type="http://schemas.openxmlformats.org/officeDocument/2006/relationships/slide" Target="slide7.xml"/><Relationship Id="rId15" Type="http://schemas.openxmlformats.org/officeDocument/2006/relationships/slide" Target="slide114.xml"/><Relationship Id="rId10" Type="http://schemas.openxmlformats.org/officeDocument/2006/relationships/hyperlink" Target="https://flyingdeuk.github.io/posts/A330-kneeboard/" TargetMode="External"/><Relationship Id="rId19" Type="http://schemas.openxmlformats.org/officeDocument/2006/relationships/slide" Target="slide122.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3.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9.xml"/><Relationship Id="rId3" Type="http://schemas.openxmlformats.org/officeDocument/2006/relationships/slide" Target="slide91.xml"/><Relationship Id="rId7" Type="http://schemas.openxmlformats.org/officeDocument/2006/relationships/slide" Target="slide9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6.xml"/><Relationship Id="rId5" Type="http://schemas.openxmlformats.org/officeDocument/2006/relationships/slide" Target="slide94.xml"/><Relationship Id="rId10" Type="http://schemas.openxmlformats.org/officeDocument/2006/relationships/image" Target="../media/image3.svg"/><Relationship Id="rId4" Type="http://schemas.openxmlformats.org/officeDocument/2006/relationships/slide" Target="slide9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9.xml"/><Relationship Id="rId3" Type="http://schemas.openxmlformats.org/officeDocument/2006/relationships/slide" Target="slide100.xml"/><Relationship Id="rId7" Type="http://schemas.openxmlformats.org/officeDocument/2006/relationships/slide" Target="slide106.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5.xml"/><Relationship Id="rId5" Type="http://schemas.openxmlformats.org/officeDocument/2006/relationships/slide" Target="slide103.xml"/><Relationship Id="rId10" Type="http://schemas.openxmlformats.org/officeDocument/2006/relationships/image" Target="../media/image3.svg"/><Relationship Id="rId4" Type="http://schemas.openxmlformats.org/officeDocument/2006/relationships/slide" Target="slide102.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4.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4.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4.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4.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slide" Target="slide118.xml"/><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8.xml"/></Relationships>
</file>

<file path=ppt/slides/_rels/slide1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4.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5.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5.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353982087"/>
              </p:ext>
            </p:extLst>
          </p:nvPr>
        </p:nvGraphicFramePr>
        <p:xfrm>
          <a:off x="147795" y="3531746"/>
          <a:ext cx="2030042" cy="1882638"/>
        </p:xfrm>
        <a:graphic>
          <a:graphicData uri="http://schemas.openxmlformats.org/drawingml/2006/table">
            <a:tbl>
              <a:tblPr firstRow="1" bandRow="1">
                <a:noFill/>
                <a:tableStyleId>{A521BE36-7E6F-4EC9-8D66-1CF97A6895EC}</a:tableStyleId>
              </a:tblPr>
              <a:tblGrid>
                <a:gridCol w="909721">
                  <a:extLst>
                    <a:ext uri="{9D8B030D-6E8A-4147-A177-3AD203B41FA5}">
                      <a16:colId xmlns:a16="http://schemas.microsoft.com/office/drawing/2014/main" val="20000"/>
                    </a:ext>
                  </a:extLst>
                </a:gridCol>
                <a:gridCol w="135583">
                  <a:extLst>
                    <a:ext uri="{9D8B030D-6E8A-4147-A177-3AD203B41FA5}">
                      <a16:colId xmlns:a16="http://schemas.microsoft.com/office/drawing/2014/main" val="976924426"/>
                    </a:ext>
                  </a:extLst>
                </a:gridCol>
                <a:gridCol w="984738">
                  <a:extLst>
                    <a:ext uri="{9D8B030D-6E8A-4147-A177-3AD203B41FA5}">
                      <a16:colId xmlns:a16="http://schemas.microsoft.com/office/drawing/2014/main" val="20001"/>
                    </a:ext>
                  </a:extLst>
                </a:gridCol>
              </a:tblGrid>
              <a:tr h="278213">
                <a:tc gridSpan="3">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28321702"/>
                  </a:ext>
                </a:extLst>
              </a:tr>
              <a:tr h="278213">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a:t>
                      </a:r>
                      <a:endParaRPr lang="en-US" altLang="ko-Kore-KR" sz="1400" b="1" u="none" strike="noStrike" cap="none" dirty="0">
                        <a:solidFill>
                          <a:srgbClr val="00B050"/>
                        </a:solidFill>
                        <a:latin typeface="Calibri"/>
                        <a:ea typeface="Calibri"/>
                        <a:cs typeface="Calibri"/>
                        <a:sym typeface="Calibri"/>
                      </a:endParaRPr>
                    </a:p>
                  </a:txBody>
                  <a:tcPr marL="36000" marR="36000" marT="0" marB="0" anchor="ctr"/>
                </a:tc>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00B050"/>
                          </a:solidFill>
                          <a:effectLst/>
                          <a:uLnTx/>
                          <a:uFillTx/>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1 ENG TAXI </a:t>
                      </a:r>
                      <a:endParaRPr lang="en-US" altLang="ko-Kore-KR" sz="1400" b="1" u="none" strike="noStrike" cap="none" dirty="0">
                        <a:solidFill>
                          <a:srgbClr val="00B050"/>
                        </a:solidFill>
                        <a:latin typeface="Calibri"/>
                        <a:ea typeface="Calibri"/>
                        <a:cs typeface="Calibri"/>
                        <a:sym typeface="Calibri"/>
                      </a:endParaRPr>
                    </a:p>
                  </a:txBody>
                  <a:tcPr marL="36000" marR="36000" marT="0" marB="0" anchor="ctr"/>
                </a:tc>
                <a:tc hMerge="1">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1 ENG TAXI </a:t>
                      </a:r>
                      <a:endParaRPr lang="en-US" altLang="ko-Kore-KR" sz="1400" b="1" u="none" strike="noStrike" cap="none" dirty="0">
                        <a:solidFill>
                          <a:srgbClr val="7030A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966151611"/>
                  </a:ext>
                </a:extLst>
              </a:tr>
              <a:tr h="278213">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LP/HP Air</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Cross Start</a:t>
                      </a: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rPr>
                        <a:t> </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HP StartUnit</a:t>
                      </a:r>
                      <a:r>
                        <a:rPr kumimoji="0" lang="en-US" altLang="ko-Kore-KR" sz="1400" b="1" i="0" u="none" strike="noStrike" kern="1200" cap="none" spc="0" normalizeH="0" baseline="0" noProof="0" dirty="0">
                          <a:ln>
                            <a:noFill/>
                          </a:ln>
                          <a:solidFill>
                            <a:srgbClr val="7030A0"/>
                          </a:solidFill>
                          <a:effectLst/>
                          <a:uLnTx/>
                          <a:uFillTx/>
                          <a:latin typeface="Calibri"/>
                          <a:ea typeface="Calibri"/>
                          <a:cs typeface="Calibri"/>
                          <a:sym typeface="Calibri"/>
                        </a:rPr>
                        <a:t> </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211395324"/>
                  </a:ext>
                </a:extLst>
              </a:tr>
              <a:tr h="278213">
                <a:tc gridSpan="3">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278213">
                <a:tc gridSpan="3">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278213">
                <a:tc gridSpan="2">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hMerge="1">
                  <a:txBody>
                    <a:bodyPr/>
                    <a:lstStyle/>
                    <a:p>
                      <a:pPr marL="0" marR="0" lvl="0" indent="0" algn="ctr" rtl="0">
                        <a:spcBef>
                          <a:spcPts val="0"/>
                        </a:spcBef>
                        <a:spcAft>
                          <a:spcPts val="0"/>
                        </a:spcAft>
                        <a:buNone/>
                      </a:pP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9"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9"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gridSpan="2">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20"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hMerge="1">
                  <a:txBody>
                    <a:bodyPr/>
                    <a:lstStyle/>
                    <a:p>
                      <a:pPr marL="0" marR="0" lvl="0" indent="0" algn="ctr" rtl="0">
                        <a:spcBef>
                          <a:spcPts val="0"/>
                        </a:spcBef>
                        <a:spcAft>
                          <a:spcPts val="0"/>
                        </a:spcAft>
                        <a:buNone/>
                      </a:pP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21"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26.3.30</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6950444"/>
              </p:ext>
            </p:extLst>
          </p:nvPr>
        </p:nvGraphicFramePr>
        <p:xfrm>
          <a:off x="98101" y="86099"/>
          <a:ext cx="2132650" cy="4945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17936">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664981655"/>
              </p:ext>
            </p:extLst>
          </p:nvPr>
        </p:nvGraphicFramePr>
        <p:xfrm>
          <a:off x="114028" y="3020215"/>
          <a:ext cx="2100805" cy="227083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56566">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502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502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502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502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502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502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502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502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502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502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502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502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62011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037088642"/>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D3-D6-N1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398394429"/>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D3-D6-N1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2303186036"/>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[336/156]</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r>
                        <a:rPr lang="en-US" altLang="ko-KR" sz="800" dirty="0">
                          <a:solidFill>
                            <a:srgbClr val="FFC000"/>
                          </a:solidFill>
                        </a:rPr>
                        <a:t>!!</a:t>
                      </a:r>
                      <a:r>
                        <a:rPr lang="en-US" sz="800" dirty="0">
                          <a:solidFill>
                            <a:srgbClr val="FFC000"/>
                          </a:solidFill>
                        </a:rPr>
                        <a:t>)</a:t>
                      </a:r>
                    </a:p>
                    <a:p>
                      <a:pPr marL="0" marR="0" lvl="0" indent="0" algn="ctr" rtl="0">
                        <a:spcBef>
                          <a:spcPts val="0"/>
                        </a:spcBef>
                        <a:spcAft>
                          <a:spcPts val="0"/>
                        </a:spcAft>
                        <a:buNone/>
                      </a:pPr>
                      <a:r>
                        <a:rPr lang="en-US" sz="800" dirty="0">
                          <a:solidFill>
                            <a:srgbClr val="FFC000"/>
                          </a:solidFill>
                        </a:rPr>
                        <a:t>Do not Cross HKG Boundary</a:t>
                      </a:r>
                      <a:r>
                        <a:rPr lang="ko-KR" altLang="en-US" sz="800" dirty="0">
                          <a:solidFill>
                            <a:srgbClr val="FFC000"/>
                          </a:solidFill>
                        </a:rPr>
                        <a:t> </a:t>
                      </a:r>
                      <a:r>
                        <a:rPr lang="en-US" altLang="ko-KR" sz="800" dirty="0">
                          <a:solidFill>
                            <a:srgbClr val="FFC000"/>
                          </a:solidFill>
                        </a:rPr>
                        <a:t>(No more)</a:t>
                      </a:r>
                      <a:endParaRPr lang="en-US" sz="80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15/16R</a:t>
                      </a:r>
                      <a:r>
                        <a:rPr lang="en-US" altLang="ko-Kore-KR" sz="800" b="0" dirty="0">
                          <a:solidFill>
                            <a:schemeClr val="bg1"/>
                          </a:solidFill>
                        </a:rPr>
                        <a:t>/16L</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33/34L</a:t>
                      </a:r>
                      <a:r>
                        <a:rPr lang="en-US" altLang="ko-KR" sz="800" b="0" dirty="0">
                          <a:solidFill>
                            <a:schemeClr val="bg1"/>
                          </a:solidFill>
                        </a:rPr>
                        <a:t>/34R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dk1"/>
                          </a:solidFill>
                        </a:rPr>
                        <a:t>16R </a:t>
                      </a:r>
                      <a:r>
                        <a:rPr lang="en-US" sz="800" b="0" dirty="0">
                          <a:solidFill>
                            <a:schemeClr val="dk1"/>
                          </a:solidFill>
                        </a:rPr>
                        <a:t>: H6(5449’), H8(6676’), 34L : H6(5413’), H5(6561’)</a:t>
                      </a:r>
                      <a:endParaRPr sz="800" b="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16L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865898652"/>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16L</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156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/34R</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356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VOR</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61940"/>
            <a:ext cx="1697581" cy="621196"/>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 GUTUP (SIN 6556/8942) </a:t>
            </a:r>
          </a:p>
          <a:p>
            <a:pPr>
              <a:lnSpc>
                <a:spcPct val="150000"/>
              </a:lnSpc>
            </a:pPr>
            <a:r>
              <a:rPr kumimoji="1" lang="en-US" altLang="ko-Kore-KR" sz="700" b="1" u="sng" dirty="0">
                <a:latin typeface="Gulim" panose="020B0600000101010101" pitchFamily="34" charset="-127"/>
                <a:ea typeface="Gulim" panose="020B0600000101010101" pitchFamily="34" charset="-127"/>
              </a:rPr>
              <a:t>HCM AKMON 133.05 - UDOSI 120.7 </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288921511"/>
              </p:ext>
            </p:extLst>
          </p:nvPr>
        </p:nvGraphicFramePr>
        <p:xfrm>
          <a:off x="-2500" y="3282478"/>
          <a:ext cx="2321630" cy="228025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00B050"/>
                          </a:solidFill>
                        </a:rPr>
                        <a:t>VOR 17 Available</a:t>
                      </a:r>
                      <a:endParaRPr lang="en-US" altLang="ko-Kore-KR" sz="800" b="1" dirty="0">
                        <a:solidFill>
                          <a:srgbClr val="00B05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p>
                    <a:p>
                      <a:pPr marL="0" marR="0" lvl="0" indent="0" algn="ctr" rtl="0">
                        <a:spcBef>
                          <a:spcPts val="0"/>
                        </a:spcBef>
                        <a:spcAft>
                          <a:spcPts val="0"/>
                        </a:spcAft>
                        <a:buNone/>
                      </a:pPr>
                      <a:r>
                        <a:rPr lang="en-US" sz="800" b="1" dirty="0">
                          <a:solidFill>
                            <a:srgbClr val="C00000"/>
                          </a:solidFill>
                        </a:rPr>
                        <a:t>3.5</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0070C0"/>
                          </a:solidFill>
                        </a:rPr>
                        <a:t>BUNTA x D</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70C0"/>
                          </a:solidFill>
                        </a:rPr>
                        <a:t>BUNTA x E</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D057O</a:t>
                      </a:r>
                      <a:endParaRPr lang="ko-Kore-KR" altLang="en-US" dirty="0"/>
                    </a:p>
                  </a:txBody>
                  <a:tcPr marL="36000" marR="36000" marT="36000" marB="36000" anchor="ctr"/>
                </a:tc>
                <a:tc>
                  <a:txBody>
                    <a:bodyPr/>
                    <a:lstStyle/>
                    <a:p>
                      <a:pPr algn="ctr"/>
                      <a:r>
                        <a:rPr lang="en-US" sz="800" b="1" dirty="0"/>
                        <a:t>VOR Z 17R</a:t>
                      </a:r>
                      <a:r>
                        <a:rPr lang="en-US" sz="800" b="0" dirty="0"/>
                        <a:t>/L</a:t>
                      </a:r>
                      <a:r>
                        <a:rPr lang="en-US" sz="800" b="1" dirty="0"/>
                        <a:t> </a:t>
                      </a:r>
                    </a:p>
                    <a:p>
                      <a:pPr algn="ctr"/>
                      <a:r>
                        <a:rPr lang="en-US" altLang="ko-Kore-KR" sz="800" b="1" dirty="0"/>
                        <a:t>VOR Y 17R</a:t>
                      </a:r>
                      <a:r>
                        <a:rPr lang="en-US" altLang="ko-Kore-KR" sz="800" b="0" dirty="0"/>
                        <a:t>/L</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0181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322840003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D-ATIS Avail BUT</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2963030864"/>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 </a:t>
                      </a:r>
                      <a:r>
                        <a:rPr lang="en-US" sz="800" u="none" strike="noStrike" cap="none" dirty="0">
                          <a:solidFill>
                            <a:srgbClr val="FFC000"/>
                          </a:solidFill>
                        </a:rPr>
                        <a:t>(RTG)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a:t>
                      </a:r>
                    </a:p>
                    <a:p>
                      <a:pPr marL="0" marR="0" lvl="0" indent="0" algn="ctr" rtl="0">
                        <a:spcBef>
                          <a:spcPts val="0"/>
                        </a:spcBef>
                        <a:spcAft>
                          <a:spcPts val="0"/>
                        </a:spcAft>
                        <a:buNone/>
                      </a:pPr>
                      <a:r>
                        <a:rPr lang="en-US" sz="800" b="1" u="none" strike="noStrike" cap="none" dirty="0"/>
                        <a:t>RW21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HD 214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solidFill>
                            <a:srgbClr val="C00000"/>
                          </a:solidFill>
                        </a:rPr>
                        <a:t>SEL</a:t>
                      </a:r>
                    </a:p>
                    <a:p>
                      <a:pPr algn="ctr"/>
                      <a:r>
                        <a:rPr lang="en-US" altLang="ko-KR" sz="800" b="1" u="none" strike="noStrike" cap="none" dirty="0"/>
                        <a:t>RW03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pPr algn="ctr"/>
                      <a:r>
                        <a:rPr lang="en-US" sz="800" b="1" u="none" strike="noStrike" cap="none" dirty="0">
                          <a:solidFill>
                            <a:srgbClr val="C00000"/>
                          </a:solidFill>
                        </a:rPr>
                        <a:t>SEL</a:t>
                      </a:r>
                      <a:r>
                        <a:rPr lang="en-US" sz="800" b="1" u="none" strike="noStrike" cap="none" dirty="0"/>
                        <a:t> HD 034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33660"/>
            <a:ext cx="1675459" cy="532316"/>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RGN RDR 128.75</a:t>
            </a:r>
          </a:p>
          <a:p>
            <a:pPr>
              <a:lnSpc>
                <a:spcPct val="150000"/>
              </a:lnSpc>
            </a:pPr>
            <a:r>
              <a:rPr kumimoji="1" lang="en-US" altLang="ko-Kore-KR" sz="700" b="1" dirty="0">
                <a:latin typeface="Gulim" panose="020B0600000101010101" pitchFamily="34" charset="-127"/>
                <a:ea typeface="Gulim" panose="020B0600000101010101" pitchFamily="34" charset="-127"/>
              </a:rPr>
              <a:t>- After BOMAS GPS Back to NOR </a:t>
            </a:r>
          </a:p>
          <a:p>
            <a:pPr>
              <a:lnSpc>
                <a:spcPct val="150000"/>
              </a:lnSpc>
            </a:pPr>
            <a:r>
              <a:rPr kumimoji="1" lang="en-US" altLang="ko-Kore-KR" sz="700" b="1" dirty="0">
                <a:latin typeface="Gulim" panose="020B0600000101010101" pitchFamily="34" charset="-127"/>
                <a:ea typeface="Gulim" panose="020B0600000101010101" pitchFamily="34" charset="-127"/>
              </a:rPr>
              <a:t>- Sometimes Spoofing</a:t>
            </a: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3985064560"/>
              </p:ext>
            </p:extLst>
          </p:nvPr>
        </p:nvGraphicFramePr>
        <p:xfrm>
          <a:off x="-17467" y="3635049"/>
          <a:ext cx="2365375" cy="1914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01639">
                  <a:extLst>
                    <a:ext uri="{9D8B030D-6E8A-4147-A177-3AD203B41FA5}">
                      <a16:colId xmlns:a16="http://schemas.microsoft.com/office/drawing/2014/main" val="20001"/>
                    </a:ext>
                  </a:extLst>
                </a:gridCol>
                <a:gridCol w="883403">
                  <a:extLst>
                    <a:ext uri="{9D8B030D-6E8A-4147-A177-3AD203B41FA5}">
                      <a16:colId xmlns:a16="http://schemas.microsoft.com/office/drawing/2014/main" val="689142997"/>
                    </a:ext>
                  </a:extLst>
                </a:gridCol>
                <a:gridCol w="41578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x</a:t>
                      </a:r>
                      <a:r>
                        <a:rPr lang="ko-KR" altLang="en-US" sz="800" b="1" dirty="0"/>
                        <a:t> </a:t>
                      </a:r>
                      <a:r>
                        <a:rPr lang="en-US" sz="800" b="1" dirty="0"/>
                        <a:t>E</a:t>
                      </a:r>
                    </a:p>
                    <a:p>
                      <a:pPr marL="0" marR="0" lvl="0" indent="0" algn="ctr" rtl="0">
                        <a:spcBef>
                          <a:spcPts val="0"/>
                        </a:spcBef>
                        <a:spcAft>
                          <a:spcPts val="0"/>
                        </a:spcAft>
                        <a:buNone/>
                      </a:pPr>
                      <a:r>
                        <a:rPr lang="en-US" sz="800" b="1" dirty="0"/>
                        <a:t>TRUMI x C</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p>
                    <a:p>
                      <a:pPr marL="0" marR="0" lvl="0" indent="0" algn="ctr" rtl="0">
                        <a:spcBef>
                          <a:spcPts val="0"/>
                        </a:spcBef>
                        <a:spcAft>
                          <a:spcPts val="0"/>
                        </a:spcAft>
                        <a:buNone/>
                      </a:pPr>
                      <a:r>
                        <a:rPr lang="en-US" sz="800" b="1" dirty="0"/>
                        <a:t>TUNPO </a:t>
                      </a:r>
                      <a:r>
                        <a:rPr lang="en-US" sz="800" b="1" dirty="0" err="1"/>
                        <a:t>tx</a:t>
                      </a:r>
                      <a:r>
                        <a:rPr lang="en-US" sz="800" b="1" dirty="0"/>
                        <a:t>, PQ428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x F</a:t>
                      </a:r>
                    </a:p>
                    <a:p>
                      <a:pPr marL="0" marR="0" lvl="0" indent="0" algn="ctr" rtl="0">
                        <a:spcBef>
                          <a:spcPts val="0"/>
                        </a:spcBef>
                        <a:spcAft>
                          <a:spcPts val="0"/>
                        </a:spcAft>
                        <a:buNone/>
                      </a:pPr>
                      <a:r>
                        <a:rPr lang="en-US" sz="800" b="1" dirty="0"/>
                        <a:t>TRUMI x B</a:t>
                      </a:r>
                    </a:p>
                  </a:txBody>
                  <a:tcPr marL="36000" marR="36000" marT="36000" marB="36000" anchor="ctr"/>
                </a:tc>
                <a:tc>
                  <a:txBody>
                    <a:bodyPr/>
                    <a:lstStyle/>
                    <a:p>
                      <a:pPr marL="0" marR="0" lvl="0" indent="0" algn="ctr" rtl="0">
                        <a:spcBef>
                          <a:spcPts val="0"/>
                        </a:spcBef>
                        <a:spcAft>
                          <a:spcPts val="0"/>
                        </a:spcAft>
                        <a:buNone/>
                      </a:pPr>
                      <a:r>
                        <a:rPr lang="en-US" sz="800" b="1" dirty="0"/>
                        <a:t>PQ310</a:t>
                      </a:r>
                    </a:p>
                    <a:p>
                      <a:pPr marL="0" marR="0" lvl="0" indent="0" algn="ctr" rtl="0">
                        <a:spcBef>
                          <a:spcPts val="0"/>
                        </a:spcBef>
                        <a:spcAft>
                          <a:spcPts val="0"/>
                        </a:spcAft>
                        <a:buNone/>
                      </a:pPr>
                      <a:r>
                        <a:rPr lang="en-US" sz="800" b="1" dirty="0"/>
                        <a:t>TUNPO </a:t>
                      </a:r>
                      <a:r>
                        <a:rPr lang="en-US" sz="800" b="1" dirty="0" err="1"/>
                        <a:t>tx</a:t>
                      </a:r>
                      <a:r>
                        <a:rPr lang="en-US" sz="800" b="1" dirty="0"/>
                        <a:t>, PQ210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Widebody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9067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20765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a:solidFill>
                  <a:srgbClr val="00B0F0"/>
                </a:solidFill>
                <a:latin typeface="Gulim" panose="020B0600000101010101" pitchFamily="34" charset="-127"/>
                <a:ea typeface="Gulim" panose="020B0600000101010101" pitchFamily="34" charset="-127"/>
              </a:rPr>
              <a:t>Report FL100  </a:t>
            </a:r>
            <a:r>
              <a:rPr kumimoji="1" lang="en-US" altLang="ko-Kore-KR" sz="700" b="1" u="sng" dirty="0">
                <a:solidFill>
                  <a:srgbClr val="00B0F0"/>
                </a:solidFill>
                <a:latin typeface="Gulim" panose="020B0600000101010101" pitchFamily="34" charset="-127"/>
                <a:ea typeface="Gulim" panose="020B0600000101010101" pitchFamily="34" charset="-127"/>
              </a:rPr>
              <a:t>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570438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endParaRPr lang="en-US" sz="800" b="1" dirty="0">
                        <a:solidFill>
                          <a:srgbClr val="00B05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698CCE74-225A-5B48-546A-BC090DAF84F8}"/>
            </a:ext>
          </a:extLst>
        </p:cNvPr>
        <p:cNvGrpSpPr/>
        <p:nvPr/>
      </p:nvGrpSpPr>
      <p:grpSpPr>
        <a:xfrm>
          <a:off x="0" y="0"/>
          <a:ext cx="0" cy="0"/>
          <a:chOff x="0" y="0"/>
          <a:chExt cx="0" cy="0"/>
        </a:xfrm>
      </p:grpSpPr>
      <p:graphicFrame>
        <p:nvGraphicFramePr>
          <p:cNvPr id="2" name="Google Shape;402;p31">
            <a:extLst>
              <a:ext uri="{FF2B5EF4-FFF2-40B4-BE49-F238E27FC236}">
                <a16:creationId xmlns:a16="http://schemas.microsoft.com/office/drawing/2014/main" id="{CA0D40F7-CCBB-4721-CC1E-053973477207}"/>
              </a:ext>
            </a:extLst>
          </p:cNvPr>
          <p:cNvGraphicFramePr/>
          <p:nvPr>
            <p:extLst>
              <p:ext uri="{D42A27DB-BD31-4B8C-83A1-F6EECF244321}">
                <p14:modId xmlns:p14="http://schemas.microsoft.com/office/powerpoint/2010/main" val="3149340787"/>
              </p:ext>
            </p:extLst>
          </p:nvPr>
        </p:nvGraphicFramePr>
        <p:xfrm>
          <a:off x="0" y="3194"/>
          <a:ext cx="2328875" cy="48184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ONE ENG TAXI AT ARRIVAL</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en-US" altLang="ko-KR" sz="800" dirty="0">
                          <a:latin typeface="Arial" panose="020B0604020202020204" pitchFamily="34" charset="0"/>
                          <a:ea typeface="+mn-ea"/>
                          <a:cs typeface="Arial" panose="020B0604020202020204" pitchFamily="34" charset="0"/>
                        </a:rPr>
                        <a:t> Taxi with engine 1 is recommended in order to pressurize the blue hydraulic system to ensure brake accumulator pressure</a:t>
                      </a:r>
                    </a:p>
                    <a:p>
                      <a:pPr marL="0" marR="0" lvl="0" indent="0" algn="l" rtl="0">
                        <a:spcBef>
                          <a:spcPts val="0"/>
                        </a:spcBef>
                        <a:spcAft>
                          <a:spcPts val="0"/>
                        </a:spcAft>
                        <a:buNone/>
                      </a:pPr>
                      <a:endParaRPr lang="en-US" altLang="ko-KR" sz="800" dirty="0">
                        <a:latin typeface="Arial" panose="020B0604020202020204" pitchFamily="34" charset="0"/>
                        <a:ea typeface="+mn-ea"/>
                        <a:cs typeface="Arial" panose="020B0604020202020204" pitchFamily="34" charset="0"/>
                      </a:endParaRPr>
                    </a:p>
                    <a:p>
                      <a:pPr marL="0" marR="0" lvl="0" indent="0" algn="l" rtl="0">
                        <a:spcBef>
                          <a:spcPts val="0"/>
                        </a:spcBef>
                        <a:spcAft>
                          <a:spcPts val="0"/>
                        </a:spcAft>
                        <a:buNone/>
                      </a:pPr>
                      <a:r>
                        <a:rPr lang="en-US" altLang="ko-KR" sz="800" dirty="0">
                          <a:solidFill>
                            <a:srgbClr val="0070C0"/>
                          </a:solidFill>
                          <a:latin typeface="Arial" panose="020B0604020202020204" pitchFamily="34" charset="0"/>
                          <a:ea typeface="+mn-ea"/>
                          <a:cs typeface="Arial" panose="020B0604020202020204" pitchFamily="34" charset="0"/>
                        </a:rPr>
                        <a:t>Note: </a:t>
                      </a:r>
                      <a:r>
                        <a:rPr lang="en-US" altLang="ko-KR" sz="800" dirty="0">
                          <a:latin typeface="Arial" panose="020B0604020202020204" pitchFamily="34" charset="0"/>
                          <a:ea typeface="+mn-ea"/>
                          <a:cs typeface="Arial" panose="020B0604020202020204" pitchFamily="34" charset="0"/>
                        </a:rPr>
                        <a:t>If taxi is performed with engine 2, the flight crew must check that the brake accumulator pressure on the BRAKES and ACCU PRESS indicator is normal.</a:t>
                      </a:r>
                    </a:p>
                  </a:txBody>
                  <a:tcPr marL="36000" marR="36000" marT="36000" marB="36000"/>
                </a:tc>
                <a:extLst>
                  <a:ext uri="{0D108BD9-81ED-4DB2-BD59-A6C34878D82A}">
                    <a16:rowId xmlns:a16="http://schemas.microsoft.com/office/drawing/2014/main" val="10001"/>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ARRIVAL</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START / CHECK AVAIL F/O</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high thrust operations: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MIN COOL TIME ...CONSIDER CAPT</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flight crew should operate the engines at or near idle thrust for a cooling period of 5 min before engine shutdown, in order to thermally stabilize the engines.</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taxiing in a straight line: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SHUTDOWN ............ORDER CAPT</a:t>
                      </a: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During engine shutdown, a slight jerk forward may occur if the brakes are applied while the aircraft is moving. </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ANTI ICE pb-</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MASTER lever.................. OFF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PARAMETERS ............CHECK F/O</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(To supply both packs from ENG 1)</a:t>
                      </a: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parking: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SHUT DOWN CAPT</a:t>
                      </a:r>
                      <a:endPar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95512498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7496F070-7341-F645-630C-E3199241983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3619" y="5168139"/>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258307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594004568"/>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r>
                        <a:rPr lang="ko-KR" altLang="en-US" sz="600" b="1"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600" b="1" u="sng" dirty="0">
                          <a:solidFill>
                            <a:srgbClr val="C00000"/>
                          </a:solidFill>
                          <a:latin typeface="+mn-ea"/>
                          <a:ea typeface="+mn-ea"/>
                          <a:cs typeface="Arial" panose="020B0604020202020204" pitchFamily="34" charset="0"/>
                          <a:sym typeface="Helvetica Neue"/>
                        </a:rPr>
                        <a:t>OFF L/T </a:t>
                      </a:r>
                      <a:r>
                        <a:rPr lang="ko-KR" altLang="en-US" sz="600" b="1" u="sng" dirty="0" err="1">
                          <a:solidFill>
                            <a:srgbClr val="C00000"/>
                          </a:solidFill>
                          <a:latin typeface="+mn-ea"/>
                          <a:ea typeface="+mn-ea"/>
                          <a:cs typeface="Arial" panose="020B0604020202020204" pitchFamily="34" charset="0"/>
                          <a:sym typeface="Helvetica Neue"/>
                        </a:rPr>
                        <a:t>들어와야함</a:t>
                      </a:r>
                      <a:r>
                        <a:rPr lang="en-US" altLang="ko-KR" sz="600" b="1" u="sng" dirty="0">
                          <a:solidFill>
                            <a:srgbClr val="C00000"/>
                          </a:solidFill>
                          <a:latin typeface="+mn-ea"/>
                          <a:ea typeface="+mn-ea"/>
                          <a:cs typeface="Arial" panose="020B0604020202020204" pitchFamily="34" charset="0"/>
                          <a:sym typeface="Helvetica Neue"/>
                        </a:rPr>
                        <a:t>.</a:t>
                      </a:r>
                      <a:r>
                        <a:rPr lang="ko-KR" altLang="en-US" sz="600" b="1" u="sng" dirty="0">
                          <a:solidFill>
                            <a:srgbClr val="C00000"/>
                          </a:solidFill>
                          <a:latin typeface="+mn-ea"/>
                          <a:ea typeface="+mn-ea"/>
                          <a:cs typeface="Arial" panose="020B0604020202020204" pitchFamily="34" charset="0"/>
                          <a:sym typeface="Helvetica Neue"/>
                        </a:rPr>
                        <a:t> </a:t>
                      </a:r>
                      <a:endParaRPr lang="en-US" sz="600" b="1" u="sng" dirty="0">
                        <a:solidFill>
                          <a:srgbClr val="C00000"/>
                        </a:solidFill>
                        <a:latin typeface="+mn-ea"/>
                        <a:ea typeface="+mn-ea"/>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 </a:t>
                      </a:r>
                      <a:r>
                        <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AVOD </a:t>
                      </a:r>
                      <a:r>
                        <a:rPr kumimoji="0" lang="ko-KR" altLang="en-US"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다 꺼짐</a:t>
                      </a:r>
                      <a:endPar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endParaRP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r>
                        <a:rPr kumimoji="0" lang="en-US" altLang="ko-Kore-KR" sz="7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EXT PWR – AVAIL first!!!</a:t>
                      </a:r>
                      <a:endParaRPr kumimoji="0" lang="en-US" altLang="ko-Kore-KR" sz="5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94312</TotalTime>
  <Words>29888</Words>
  <Application>Microsoft Macintosh PowerPoint</Application>
  <PresentationFormat>사용자 지정</PresentationFormat>
  <Paragraphs>7274</Paragraphs>
  <Slides>129</Slides>
  <Notes>115</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129</vt:i4>
      </vt:variant>
    </vt:vector>
  </HeadingPairs>
  <TitlesOfParts>
    <vt:vector size="139" baseType="lpstr">
      <vt:lpstr>Arial</vt:lpstr>
      <vt:lpstr>Century Gothic</vt:lpstr>
      <vt:lpstr>Calibri</vt:lpstr>
      <vt:lpstr>Cambria Math</vt:lpstr>
      <vt:lpstr>Lato</vt:lpstr>
      <vt:lpstr>Britannic Bold</vt:lpstr>
      <vt:lpstr>Helvetica Neue</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640</cp:revision>
  <dcterms:created xsi:type="dcterms:W3CDTF">2022-05-17T08:00:10Z</dcterms:created>
  <dcterms:modified xsi:type="dcterms:W3CDTF">2026-04-12T12:31:50Z</dcterms:modified>
</cp:coreProperties>
</file>