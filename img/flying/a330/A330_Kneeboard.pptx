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14"/>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389" r:id="rId57"/>
    <p:sldId id="390" r:id="rId58"/>
    <p:sldId id="442" r:id="rId59"/>
    <p:sldId id="443" r:id="rId60"/>
    <p:sldId id="447" r:id="rId61"/>
    <p:sldId id="448" r:id="rId62"/>
    <p:sldId id="449" r:id="rId63"/>
    <p:sldId id="479" r:id="rId64"/>
    <p:sldId id="450" r:id="rId65"/>
    <p:sldId id="452" r:id="rId66"/>
    <p:sldId id="453" r:id="rId67"/>
    <p:sldId id="460" r:id="rId68"/>
    <p:sldId id="462" r:id="rId69"/>
    <p:sldId id="461" r:id="rId70"/>
    <p:sldId id="476" r:id="rId71"/>
    <p:sldId id="478" r:id="rId72"/>
    <p:sldId id="359" r:id="rId73"/>
    <p:sldId id="360" r:id="rId74"/>
    <p:sldId id="374" r:id="rId75"/>
    <p:sldId id="375" r:id="rId76"/>
    <p:sldId id="480" r:id="rId77"/>
    <p:sldId id="482" r:id="rId78"/>
    <p:sldId id="481" r:id="rId79"/>
    <p:sldId id="436" r:id="rId80"/>
    <p:sldId id="376" r:id="rId81"/>
    <p:sldId id="434" r:id="rId82"/>
    <p:sldId id="437" r:id="rId83"/>
    <p:sldId id="439" r:id="rId84"/>
    <p:sldId id="438" r:id="rId85"/>
    <p:sldId id="444" r:id="rId86"/>
    <p:sldId id="445" r:id="rId87"/>
    <p:sldId id="446" r:id="rId88"/>
    <p:sldId id="469" r:id="rId89"/>
    <p:sldId id="470" r:id="rId90"/>
    <p:sldId id="471" r:id="rId91"/>
    <p:sldId id="472" r:id="rId92"/>
    <p:sldId id="473" r:id="rId93"/>
    <p:sldId id="474" r:id="rId94"/>
    <p:sldId id="422" r:id="rId95"/>
    <p:sldId id="385" r:id="rId96"/>
    <p:sldId id="365" r:id="rId97"/>
    <p:sldId id="366" r:id="rId98"/>
    <p:sldId id="423" r:id="rId99"/>
    <p:sldId id="384" r:id="rId100"/>
    <p:sldId id="283" r:id="rId101"/>
    <p:sldId id="286" r:id="rId102"/>
    <p:sldId id="428" r:id="rId103"/>
    <p:sldId id="288" r:id="rId104"/>
    <p:sldId id="289" r:id="rId105"/>
    <p:sldId id="290" r:id="rId106"/>
    <p:sldId id="424" r:id="rId107"/>
    <p:sldId id="302" r:id="rId108"/>
    <p:sldId id="303" r:id="rId109"/>
    <p:sldId id="426" r:id="rId110"/>
    <p:sldId id="427" r:id="rId111"/>
    <p:sldId id="430" r:id="rId112"/>
    <p:sldId id="281" r:id="rId113"/>
  </p:sldIdLst>
  <p:sldSz cx="2328863" cy="5572125"/>
  <p:notesSz cx="6858000" cy="9144000"/>
  <p:embeddedFontLst>
    <p:embeddedFont>
      <p:font typeface="맑은 고딕" panose="020B0503020000020004" pitchFamily="34" charset="-127"/>
      <p:regular r:id="rId115"/>
      <p:bold r:id="rId116"/>
    </p:embeddedFont>
    <p:embeddedFont>
      <p:font typeface="Cambria Math" panose="02040503050406030204" pitchFamily="18" charset="0"/>
      <p:regular r:id="rId117"/>
    </p:embeddedFont>
    <p:embeddedFont>
      <p:font typeface="Century Gothic" panose="020B0502020202020204" pitchFamily="34" charset="0"/>
      <p:regular r:id="rId118"/>
      <p:bold r:id="rId119"/>
      <p:italic r:id="rId120"/>
      <p:boldItalic r:id="rId121"/>
    </p:embeddedFont>
    <p:embeddedFont>
      <p:font typeface="Helvetica Neue" panose="02000503000000020004" pitchFamily="2" charset="0"/>
      <p:regular r:id="rId122"/>
      <p:bold r:id="rId123"/>
      <p:italic r:id="rId124"/>
      <p:boldItalic r:id="rId125"/>
    </p:embeddedFont>
    <p:embeddedFont>
      <p:font typeface="Lato" panose="020F0502020204030203" pitchFamily="34" charset="0"/>
      <p:regular r:id="rId126"/>
      <p:bold r:id="rId127"/>
      <p:italic r:id="rId128"/>
      <p:boldItalic r:id="rId12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5074"/>
    <p:restoredTop sz="96966"/>
  </p:normalViewPr>
  <p:slideViewPr>
    <p:cSldViewPr snapToGrid="0" showGuides="1">
      <p:cViewPr>
        <p:scale>
          <a:sx n="239" d="100"/>
          <a:sy n="239" d="100"/>
        </p:scale>
        <p:origin x="2232" y="-1072"/>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font" Target="fonts/font3.fntdata"/><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9.fntdata"/><Relationship Id="rId128" Type="http://schemas.openxmlformats.org/officeDocument/2006/relationships/font" Target="fonts/font14.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font" Target="fonts/font4.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font" Target="fonts/font10.fntdata"/><Relationship Id="rId129" Type="http://schemas.openxmlformats.org/officeDocument/2006/relationships/font" Target="fonts/font15.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notesMaster" Target="notesMasters/notesMaster1.xml"/><Relationship Id="rId119" Type="http://schemas.openxmlformats.org/officeDocument/2006/relationships/font" Target="fonts/font5.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font" Target="fonts/font6.fntdata"/><Relationship Id="rId125"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font" Target="fonts/font1.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font" Target="fonts/font7.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font" Target="fonts/font13.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75"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96.xml"/><Relationship Id="rId18" Type="http://schemas.openxmlformats.org/officeDocument/2006/relationships/slide" Target="slide109.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95.xml"/><Relationship Id="rId17" Type="http://schemas.openxmlformats.org/officeDocument/2006/relationships/slide" Target="slide105.xml"/><Relationship Id="rId2" Type="http://schemas.openxmlformats.org/officeDocument/2006/relationships/notesSlide" Target="../notesSlides/notesSlide1.xml"/><Relationship Id="rId16" Type="http://schemas.openxmlformats.org/officeDocument/2006/relationships/slide" Target="slide10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94.xml"/><Relationship Id="rId5" Type="http://schemas.openxmlformats.org/officeDocument/2006/relationships/slide" Target="slide7.xml"/><Relationship Id="rId15" Type="http://schemas.openxmlformats.org/officeDocument/2006/relationships/slide" Target="slide101.xml"/><Relationship Id="rId10" Type="http://schemas.openxmlformats.org/officeDocument/2006/relationships/hyperlink" Target="https://flyingdeuk.github.io/posts/A330-kneeboard/" TargetMode="External"/><Relationship Id="rId19" Type="http://schemas.openxmlformats.org/officeDocument/2006/relationships/slide" Target="slide110.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99.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2" Type="http://schemas.openxmlformats.org/officeDocument/2006/relationships/notesSlide" Target="../notesSlides/notesSlide7.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image" Target="../media/image2.png"/><Relationship Id="rId10" Type="http://schemas.openxmlformats.org/officeDocument/2006/relationships/slide" Target="slide49.xml"/><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1.xml"/><Relationship Id="rId13" Type="http://schemas.openxmlformats.org/officeDocument/2006/relationships/slide" Target="slide67.xml"/><Relationship Id="rId18" Type="http://schemas.openxmlformats.org/officeDocument/2006/relationships/slide" Target="slide73.xml"/><Relationship Id="rId3" Type="http://schemas.openxmlformats.org/officeDocument/2006/relationships/slide" Target="slide56.xml"/><Relationship Id="rId21" Type="http://schemas.openxmlformats.org/officeDocument/2006/relationships/slide" Target="slide76.xml"/><Relationship Id="rId7" Type="http://schemas.openxmlformats.org/officeDocument/2006/relationships/slide" Target="slide60.xml"/><Relationship Id="rId12" Type="http://schemas.openxmlformats.org/officeDocument/2006/relationships/slide" Target="slide66.xml"/><Relationship Id="rId17" Type="http://schemas.openxmlformats.org/officeDocument/2006/relationships/slide" Target="slide72.xml"/><Relationship Id="rId2" Type="http://schemas.openxmlformats.org/officeDocument/2006/relationships/notesSlide" Target="../notesSlides/notesSlide9.xml"/><Relationship Id="rId16" Type="http://schemas.openxmlformats.org/officeDocument/2006/relationships/slide" Target="slide71.xml"/><Relationship Id="rId20" Type="http://schemas.openxmlformats.org/officeDocument/2006/relationships/slide" Target="slide75.xml"/><Relationship Id="rId1" Type="http://schemas.openxmlformats.org/officeDocument/2006/relationships/slideLayout" Target="../slideLayouts/slideLayout1.xml"/><Relationship Id="rId6" Type="http://schemas.openxmlformats.org/officeDocument/2006/relationships/slide" Target="slide59.xml"/><Relationship Id="rId11" Type="http://schemas.openxmlformats.org/officeDocument/2006/relationships/slide" Target="slide65.xml"/><Relationship Id="rId24" Type="http://schemas.openxmlformats.org/officeDocument/2006/relationships/image" Target="../media/image3.svg"/><Relationship Id="rId5" Type="http://schemas.openxmlformats.org/officeDocument/2006/relationships/slide" Target="slide58.xml"/><Relationship Id="rId15" Type="http://schemas.openxmlformats.org/officeDocument/2006/relationships/slide" Target="slide70.xml"/><Relationship Id="rId23" Type="http://schemas.openxmlformats.org/officeDocument/2006/relationships/image" Target="../media/image2.png"/><Relationship Id="rId10" Type="http://schemas.openxmlformats.org/officeDocument/2006/relationships/slide" Target="slide64.xml"/><Relationship Id="rId19" Type="http://schemas.openxmlformats.org/officeDocument/2006/relationships/slide" Target="slide74.xml"/><Relationship Id="rId4" Type="http://schemas.openxmlformats.org/officeDocument/2006/relationships/slide" Target="slide57.xml"/><Relationship Id="rId9" Type="http://schemas.openxmlformats.org/officeDocument/2006/relationships/slide" Target="slide62.xml"/><Relationship Id="rId14" Type="http://schemas.openxmlformats.org/officeDocument/2006/relationships/slide" Target="slide69.xml"/><Relationship Id="rId22" Type="http://schemas.openxmlformats.org/officeDocument/2006/relationships/slide" Target="slide78.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87.xml"/><Relationship Id="rId3" Type="http://schemas.openxmlformats.org/officeDocument/2006/relationships/slide" Target="slide79.xml"/><Relationship Id="rId7" Type="http://schemas.openxmlformats.org/officeDocument/2006/relationships/slide" Target="slide85.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84.xml"/><Relationship Id="rId5" Type="http://schemas.openxmlformats.org/officeDocument/2006/relationships/slide" Target="slide82.xml"/><Relationship Id="rId10" Type="http://schemas.openxmlformats.org/officeDocument/2006/relationships/image" Target="../media/image3.svg"/><Relationship Id="rId4" Type="http://schemas.openxmlformats.org/officeDocument/2006/relationships/slide" Target="slide81.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88.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93.xml"/><Relationship Id="rId5" Type="http://schemas.openxmlformats.org/officeDocument/2006/relationships/slide" Target="slide91.xml"/><Relationship Id="rId4" Type="http://schemas.openxmlformats.org/officeDocument/2006/relationships/slide" Target="slide90.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07.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07.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07.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107.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1.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PP-PNH/" TargetMode="External"/></Relationships>
</file>

<file path=ppt/slides/_rels/slide7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DPP-PNH/"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21.jpeg"/><Relationship Id="rId4" Type="http://schemas.openxmlformats.org/officeDocument/2006/relationships/hyperlink" Target="https://flyingdeuk.github.io/posts/RKSI-ICN/" TargetMode="External"/></Relationships>
</file>

<file path=ppt/slides/_rels/slide74.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6.png"/></Relationships>
</file>

<file path=ppt/slides/_rels/slide9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3.xml.rels><?xml version="1.0" encoding="UTF-8" standalone="yes"?>
<Relationships xmlns="http://schemas.openxmlformats.org/package/2006/relationships"><Relationship Id="rId3" Type="http://schemas.openxmlformats.org/officeDocument/2006/relationships/slide" Target="slide101.xml"/><Relationship Id="rId2" Type="http://schemas.openxmlformats.org/officeDocument/2006/relationships/notesSlide" Target="../notesSlides/notesSlide9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01.xml"/></Relationships>
</file>

<file path=ppt/slides/_rels/slide10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5.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7.xml.rels><?xml version="1.0" encoding="UTF-8" standalone="yes"?>
<Relationships xmlns="http://schemas.openxmlformats.org/package/2006/relationships"><Relationship Id="rId3" Type="http://schemas.openxmlformats.org/officeDocument/2006/relationships/image" Target="../media/image28.jpeg"/><Relationship Id="rId7" Type="http://schemas.openxmlformats.org/officeDocument/2006/relationships/image" Target="../media/image3.svg"/><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0.jpeg"/><Relationship Id="rId4" Type="http://schemas.openxmlformats.org/officeDocument/2006/relationships/image" Target="../media/image29.jpeg"/></Relationships>
</file>

<file path=ppt/slides/_rels/slide10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97.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25.</a:t>
            </a:r>
            <a:r>
              <a:rPr lang="en-US" altLang="ko-KR" sz="1100" b="1" dirty="0">
                <a:solidFill>
                  <a:srgbClr val="92D050"/>
                </a:solidFill>
                <a:latin typeface="Calibri"/>
                <a:ea typeface="Calibri"/>
                <a:cs typeface="Calibri"/>
                <a:sym typeface="Calibri"/>
              </a:rPr>
              <a:t>9</a:t>
            </a:r>
            <a:r>
              <a:rPr lang="en-US" sz="1100" b="1" dirty="0">
                <a:solidFill>
                  <a:srgbClr val="92D050"/>
                </a:solidFill>
                <a:latin typeface="Calibri"/>
                <a:ea typeface="Calibri"/>
                <a:cs typeface="Calibri"/>
                <a:sym typeface="Calibri"/>
              </a:rPr>
              <a:t>.</a:t>
            </a:r>
            <a:r>
              <a:rPr lang="en-US" altLang="ko-KR" sz="1100" b="1" dirty="0">
                <a:solidFill>
                  <a:srgbClr val="92D050"/>
                </a:solidFill>
                <a:latin typeface="Calibri"/>
                <a:ea typeface="Calibri"/>
                <a:cs typeface="Calibri"/>
                <a:sym typeface="Calibri"/>
              </a:rPr>
              <a:t>29</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8312558"/>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008787973"/>
              </p:ext>
            </p:extLst>
          </p:nvPr>
        </p:nvGraphicFramePr>
        <p:xfrm>
          <a:off x="104230" y="114852"/>
          <a:ext cx="2115458" cy="2859780"/>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1435427"/>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224232131"/>
              </p:ext>
            </p:extLst>
          </p:nvPr>
        </p:nvGraphicFramePr>
        <p:xfrm>
          <a:off x="98101" y="184953"/>
          <a:ext cx="2132650" cy="422927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1145079333"/>
              </p:ext>
            </p:extLst>
          </p:nvPr>
        </p:nvGraphicFramePr>
        <p:xfrm>
          <a:off x="185895" y="4494174"/>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376982047"/>
              </p:ext>
            </p:extLst>
          </p:nvPr>
        </p:nvGraphicFramePr>
        <p:xfrm>
          <a:off x="114028" y="3196182"/>
          <a:ext cx="2100805" cy="197044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p>
                  </a:txBody>
                  <a:tcPr marL="0" marR="0" marT="0" marB="0" anchor="ctr"/>
                </a:tc>
                <a:extLst>
                  <a:ext uri="{0D108BD9-81ED-4DB2-BD59-A6C34878D82A}">
                    <a16:rowId xmlns:a16="http://schemas.microsoft.com/office/drawing/2014/main" val="551135157"/>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636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356713876"/>
              </p:ext>
            </p:extLst>
          </p:nvPr>
        </p:nvGraphicFramePr>
        <p:xfrm>
          <a:off x="0" y="3"/>
          <a:ext cx="2328875" cy="33706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067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36000" marB="36000"/>
                </a:tc>
                <a:extLst>
                  <a:ext uri="{0D108BD9-81ED-4DB2-BD59-A6C34878D82A}">
                    <a16:rowId xmlns:a16="http://schemas.microsoft.com/office/drawing/2014/main" val="10000"/>
                  </a:ext>
                </a:extLst>
              </a:tr>
              <a:tr h="1268798">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36000" marB="36000" anchor="ctr"/>
                </a:tc>
                <a:extLst>
                  <a:ext uri="{0D108BD9-81ED-4DB2-BD59-A6C34878D82A}">
                    <a16:rowId xmlns:a16="http://schemas.microsoft.com/office/drawing/2014/main" val="10001"/>
                  </a:ext>
                </a:extLst>
              </a:tr>
              <a:tr h="1306588">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2030849835"/>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3365959265"/>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59228"/>
            <a:ext cx="1378904" cy="855482"/>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7" name="Google Shape;283;p17">
            <a:extLst>
              <a:ext uri="{FF2B5EF4-FFF2-40B4-BE49-F238E27FC236}">
                <a16:creationId xmlns:a16="http://schemas.microsoft.com/office/drawing/2014/main" id="{18690DA4-D774-E0DE-9D39-F49B165E8A8C}"/>
              </a:ext>
            </a:extLst>
          </p:cNvPr>
          <p:cNvGraphicFramePr/>
          <p:nvPr>
            <p:extLst>
              <p:ext uri="{D42A27DB-BD31-4B8C-83A1-F6EECF244321}">
                <p14:modId xmlns:p14="http://schemas.microsoft.com/office/powerpoint/2010/main" val="202186850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graphicFrame>
        <p:nvGraphicFramePr>
          <p:cNvPr id="8" name="Google Shape;283;p17">
            <a:extLst>
              <a:ext uri="{FF2B5EF4-FFF2-40B4-BE49-F238E27FC236}">
                <a16:creationId xmlns:a16="http://schemas.microsoft.com/office/drawing/2014/main" id="{16B6D034-990B-DDE0-FFDA-21EFAB3E8347}"/>
              </a:ext>
            </a:extLst>
          </p:cNvPr>
          <p:cNvGraphicFramePr/>
          <p:nvPr>
            <p:extLst>
              <p:ext uri="{D42A27DB-BD31-4B8C-83A1-F6EECF244321}">
                <p14:modId xmlns:p14="http://schemas.microsoft.com/office/powerpoint/2010/main" val="274425346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87817"/>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spTree>
    <p:extLst>
      <p:ext uri="{BB962C8B-B14F-4D97-AF65-F5344CB8AC3E}">
        <p14:creationId xmlns:p14="http://schemas.microsoft.com/office/powerpoint/2010/main" val="41218726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227828025"/>
              </p:ext>
            </p:extLst>
          </p:nvPr>
        </p:nvGraphicFramePr>
        <p:xfrm>
          <a:off x="20430" y="3995008"/>
          <a:ext cx="2286834" cy="1548730"/>
        </p:xfrm>
        <a:graphic>
          <a:graphicData uri="http://schemas.openxmlformats.org/drawingml/2006/table">
            <a:tbl>
              <a:tblPr firstRow="1" bandRow="1">
                <a:noFill/>
                <a:tableStyleId>{A521BE36-7E6F-4EC9-8D66-1CF97A6895EC}</a:tableStyleId>
              </a:tblPr>
              <a:tblGrid>
                <a:gridCol w="347003">
                  <a:extLst>
                    <a:ext uri="{9D8B030D-6E8A-4147-A177-3AD203B41FA5}">
                      <a16:colId xmlns:a16="http://schemas.microsoft.com/office/drawing/2014/main" val="20000"/>
                    </a:ext>
                  </a:extLst>
                </a:gridCol>
                <a:gridCol w="681782">
                  <a:extLst>
                    <a:ext uri="{9D8B030D-6E8A-4147-A177-3AD203B41FA5}">
                      <a16:colId xmlns:a16="http://schemas.microsoft.com/office/drawing/2014/main" val="20001"/>
                    </a:ext>
                  </a:extLst>
                </a:gridCol>
                <a:gridCol w="662143">
                  <a:extLst>
                    <a:ext uri="{9D8B030D-6E8A-4147-A177-3AD203B41FA5}">
                      <a16:colId xmlns:a16="http://schemas.microsoft.com/office/drawing/2014/main" val="689142997"/>
                    </a:ext>
                  </a:extLst>
                </a:gridCol>
                <a:gridCol w="595906">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PNH </a:t>
                      </a:r>
                      <a:r>
                        <a:rPr lang="en-US" sz="800" dirty="0">
                          <a:solidFill>
                            <a:srgbClr val="00B0F0"/>
                          </a:solidFill>
                        </a:rPr>
                        <a:t>[046/226]</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Caution CLR Limit GONLY, Do not Confuse ANAT, ANAB</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NANXY </a:t>
                      </a:r>
                      <a:r>
                        <a:rPr lang="en-US" sz="800" b="1" dirty="0" err="1"/>
                        <a:t>xxB</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BOSET</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RNP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DETMA </a:t>
                      </a:r>
                      <a:r>
                        <a:rPr lang="en-US" sz="800" b="1" dirty="0" err="1"/>
                        <a:t>xxA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KOSDA </a:t>
                      </a:r>
                    </a:p>
                  </a:txBody>
                  <a:tcPr marL="36000" marR="36000" marT="36000" marB="36000" anchor="ctr"/>
                </a:tc>
                <a:tc>
                  <a:txBody>
                    <a:bodyPr/>
                    <a:lstStyle/>
                    <a:p>
                      <a:pPr algn="ctr"/>
                      <a:r>
                        <a:rPr lang="en-US" sz="800" b="1" dirty="0"/>
                        <a:t>ILS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PNH,</a:t>
                      </a:r>
                      <a:r>
                        <a:rPr lang="en-US" sz="800" b="1" dirty="0">
                          <a:solidFill>
                            <a:srgbClr val="00B050"/>
                          </a:solidFill>
                        </a:rPr>
                        <a:t> </a:t>
                      </a:r>
                      <a:r>
                        <a:rPr lang="en-US" sz="800" b="1" dirty="0">
                          <a:solidFill>
                            <a:srgbClr val="C00000"/>
                          </a:solidFill>
                        </a:rPr>
                        <a:t>23 PNP</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E(6240’), H(7148’),     23 </a:t>
                      </a:r>
                      <a:r>
                        <a:rPr lang="en-US" sz="800" b="1" dirty="0">
                          <a:solidFill>
                            <a:srgbClr val="C00000"/>
                          </a:solidFill>
                        </a:rPr>
                        <a:t>DIS</a:t>
                      </a:r>
                      <a:r>
                        <a:rPr lang="en-US" sz="800" b="1" dirty="0">
                          <a:solidFill>
                            <a:schemeClr val="bg1"/>
                          </a:solidFill>
                        </a:rPr>
                        <a:t> </a:t>
                      </a:r>
                      <a:r>
                        <a:rPr lang="en-US" altLang="ko-Kore-KR" sz="800" b="1" dirty="0">
                          <a:solidFill>
                            <a:schemeClr val="bg1"/>
                          </a:solidFill>
                        </a:rPr>
                        <a:t>: C(7004’), 180 Back</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No Centerline L/T,</a:t>
                      </a:r>
                      <a:r>
                        <a:rPr lang="ko-KR" altLang="en-US" sz="800" b="1" dirty="0">
                          <a:solidFill>
                            <a:srgbClr val="0070C0"/>
                          </a:solidFill>
                        </a:rPr>
                        <a:t> </a:t>
                      </a:r>
                      <a:r>
                        <a:rPr lang="en-US" altLang="ko-KR" sz="800" b="1" dirty="0">
                          <a:solidFill>
                            <a:srgbClr val="0070C0"/>
                          </a:solidFill>
                        </a:rPr>
                        <a:t>No Vacate Lead L/T, </a:t>
                      </a:r>
                      <a:r>
                        <a:rPr lang="en-US" altLang="ko-KR" sz="800" b="1" dirty="0">
                          <a:solidFill>
                            <a:srgbClr val="C00000"/>
                          </a:solidFill>
                        </a:rPr>
                        <a:t>All 90 Turn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bg1"/>
                          </a:solidFill>
                        </a:rPr>
                        <a:t>APU Off after 5min after parking or Keep APU</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Stand 12 Caution Complex Solid Lead Line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1826179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VDPP(PNH) 40ft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PNH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00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602562882"/>
              </p:ext>
            </p:extLst>
          </p:nvPr>
        </p:nvGraphicFramePr>
        <p:xfrm>
          <a:off x="-15808" y="580010"/>
          <a:ext cx="2349161" cy="151318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693396">
                  <a:extLst>
                    <a:ext uri="{9D8B030D-6E8A-4147-A177-3AD203B41FA5}">
                      <a16:colId xmlns:a16="http://schemas.microsoft.com/office/drawing/2014/main" val="20002"/>
                    </a:ext>
                  </a:extLst>
                </a:gridCol>
                <a:gridCol w="61400">
                  <a:extLst>
                    <a:ext uri="{9D8B030D-6E8A-4147-A177-3AD203B41FA5}">
                      <a16:colId xmlns:a16="http://schemas.microsoft.com/office/drawing/2014/main" val="20004"/>
                    </a:ext>
                  </a:extLst>
                </a:gridCol>
                <a:gridCol w="1252875">
                  <a:extLst>
                    <a:ext uri="{9D8B030D-6E8A-4147-A177-3AD203B41FA5}">
                      <a16:colId xmlns:a16="http://schemas.microsoft.com/office/drawing/2014/main" val="20005"/>
                    </a:ext>
                  </a:extLst>
                </a:gridCol>
              </a:tblGrid>
              <a:tr h="297551">
                <a:tc gridSpan="4">
                  <a:txBody>
                    <a:bodyPr/>
                    <a:lstStyle/>
                    <a:p>
                      <a:pPr marL="0" marR="0" lvl="0" indent="0" algn="ctr" rtl="0">
                        <a:spcBef>
                          <a:spcPts val="0"/>
                        </a:spcBef>
                        <a:spcAft>
                          <a:spcPts val="0"/>
                        </a:spcAft>
                        <a:buNone/>
                      </a:pPr>
                      <a:r>
                        <a:rPr lang="en-US" sz="800" u="none" strike="noStrike" cap="none" dirty="0"/>
                        <a:t>PNH : RNAV SID (NADP 1) TA 10000’</a:t>
                      </a:r>
                    </a:p>
                    <a:p>
                      <a:pPr marL="0" marR="0" lvl="0" indent="0" algn="ctr" rtl="0">
                        <a:spcBef>
                          <a:spcPts val="0"/>
                        </a:spcBef>
                        <a:spcAft>
                          <a:spcPts val="0"/>
                        </a:spcAft>
                        <a:buNone/>
                      </a:pPr>
                      <a:r>
                        <a:rPr lang="en-US" sz="800" b="0" u="none" strike="noStrike" cap="none" dirty="0">
                          <a:solidFill>
                            <a:schemeClr val="accent4"/>
                          </a:solidFill>
                        </a:rPr>
                        <a:t>RWY 23 SEYHA Watch Over Bank</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a:txBody>
                    <a:bodyPr/>
                    <a:lstStyle/>
                    <a:p>
                      <a:pPr algn="ctr"/>
                      <a:r>
                        <a:rPr lang="en-US" sz="800" b="1" u="none" strike="noStrike" cap="none" dirty="0">
                          <a:solidFill>
                            <a:srgbClr val="0070C0"/>
                          </a:solidFill>
                        </a:rPr>
                        <a:t>NANXY xx</a:t>
                      </a:r>
                    </a:p>
                    <a:p>
                      <a:pPr algn="ctr"/>
                      <a:r>
                        <a:rPr lang="en-US" altLang="ko-Kore-KR" sz="800" b="1" u="none" strike="noStrike" cap="none" dirty="0">
                          <a:solidFill>
                            <a:srgbClr val="0070C0"/>
                          </a:solidFill>
                        </a:rPr>
                        <a:t>(SEYHA xx)</a:t>
                      </a:r>
                      <a:endParaRPr lang="ko-Kore-KR" altLang="en-US"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046 </a:t>
                      </a:r>
                      <a:r>
                        <a:rPr lang="en-US" sz="800" b="1" u="none" strike="noStrike" cap="none" dirty="0">
                          <a:solidFill>
                            <a:srgbClr val="0070C0"/>
                          </a:solidFill>
                        </a:rPr>
                        <a:t>ATC (5000) </a:t>
                      </a: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226 </a:t>
                      </a:r>
                      <a:r>
                        <a:rPr lang="en-US" sz="800" b="1" u="none" strike="noStrike" cap="none" dirty="0">
                          <a:solidFill>
                            <a:srgbClr val="0070C0"/>
                          </a:solidFill>
                        </a:rPr>
                        <a:t>ATC </a:t>
                      </a: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72093">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PNH 114.3</a:t>
                      </a: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PNP 109.7</a:t>
                      </a:r>
                    </a:p>
                  </a:txBody>
                  <a:tcPr marL="36000" marR="36000" marT="36000" marB="36000" anchor="ctr"/>
                </a:tc>
                <a:extLst>
                  <a:ext uri="{0D108BD9-81ED-4DB2-BD59-A6C34878D82A}">
                    <a16:rowId xmlns:a16="http://schemas.microsoft.com/office/drawing/2014/main" val="10003"/>
                  </a:ext>
                </a:extLst>
              </a:tr>
              <a:tr h="17209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bg1"/>
                          </a:solidFill>
                          <a:latin typeface="Calibri"/>
                          <a:cs typeface="Calibri"/>
                          <a:sym typeface="Calibri"/>
                        </a:rPr>
                        <a:t>RW 23 : PNH 226/2.5, R160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84648163"/>
                  </a:ext>
                </a:extLst>
              </a:tr>
              <a:tr h="2802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10min Before DEP</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Line up 180 Back follow Yellow Guide Line</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51300921"/>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VDPP(PNH) 40ft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PNH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READY!</a:t>
                      </a:r>
                      <a:r>
                        <a:rPr lang="ko-KR" altLang="en-US" sz="700" dirty="0">
                          <a:solidFill>
                            <a:srgbClr val="FF0000"/>
                          </a:solidFill>
                        </a:rPr>
                        <a:t> </a:t>
                      </a:r>
                      <a:r>
                        <a:rPr lang="en-US" altLang="ko-KR" sz="700" dirty="0">
                          <a:solidFill>
                            <a:srgbClr val="FF0000"/>
                          </a:solidFill>
                        </a:rPr>
                        <a:t>TWR 118.0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9" name="그림 8" descr="텍스트, 폰트, 라인, 도표이(가) 표시된 사진&#10;&#10;자동 생성된 설명">
            <a:extLst>
              <a:ext uri="{FF2B5EF4-FFF2-40B4-BE49-F238E27FC236}">
                <a16:creationId xmlns:a16="http://schemas.microsoft.com/office/drawing/2014/main" id="{48DFD2B7-3E52-6B57-0EA3-05AC6BD7B75D}"/>
              </a:ext>
            </a:extLst>
          </p:cNvPr>
          <p:cNvPicPr>
            <a:picLocks noChangeAspect="1"/>
          </p:cNvPicPr>
          <p:nvPr/>
        </p:nvPicPr>
        <p:blipFill>
          <a:blip r:embed="rId5"/>
          <a:stretch>
            <a:fillRect/>
          </a:stretch>
        </p:blipFill>
        <p:spPr>
          <a:xfrm>
            <a:off x="-15808" y="2107214"/>
            <a:ext cx="806295" cy="678848"/>
          </a:xfrm>
          <a:prstGeom prst="rect">
            <a:avLst/>
          </a:prstGeom>
        </p:spPr>
      </p:pic>
      <p:sp>
        <p:nvSpPr>
          <p:cNvPr id="8" name="TextBox 7">
            <a:extLst>
              <a:ext uri="{FF2B5EF4-FFF2-40B4-BE49-F238E27FC236}">
                <a16:creationId xmlns:a16="http://schemas.microsoft.com/office/drawing/2014/main" id="{14CA6956-FB7E-2FB3-571E-9A16B59F12B1}"/>
              </a:ext>
            </a:extLst>
          </p:cNvPr>
          <p:cNvSpPr txBox="1"/>
          <p:nvPr/>
        </p:nvSpPr>
        <p:spPr>
          <a:xfrm>
            <a:off x="729530" y="2097526"/>
            <a:ext cx="1718740" cy="1340230"/>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123.8</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E9F812BE-B8BC-5401-6494-C50CE403AB0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635931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9" name="Google Shape;283;p17">
            <a:extLst>
              <a:ext uri="{FF2B5EF4-FFF2-40B4-BE49-F238E27FC236}">
                <a16:creationId xmlns:a16="http://schemas.microsoft.com/office/drawing/2014/main" id="{2FA96000-3BEF-A937-DFC6-478326E373F0}"/>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2922540037"/>
              </p:ext>
            </p:extLst>
          </p:nvPr>
        </p:nvGraphicFramePr>
        <p:xfrm>
          <a:off x="20430" y="3873088"/>
          <a:ext cx="2286834" cy="1670650"/>
        </p:xfrm>
        <a:graphic>
          <a:graphicData uri="http://schemas.openxmlformats.org/drawingml/2006/table">
            <a:tbl>
              <a:tblPr firstRow="1" bandRow="1">
                <a:noFill/>
                <a:tableStyleId>{A521BE36-7E6F-4EC9-8D66-1CF97A6895EC}</a:tableStyleId>
              </a:tblPr>
              <a:tblGrid>
                <a:gridCol w="347003">
                  <a:extLst>
                    <a:ext uri="{9D8B030D-6E8A-4147-A177-3AD203B41FA5}">
                      <a16:colId xmlns:a16="http://schemas.microsoft.com/office/drawing/2014/main" val="20000"/>
                    </a:ext>
                  </a:extLst>
                </a:gridCol>
                <a:gridCol w="681782">
                  <a:extLst>
                    <a:ext uri="{9D8B030D-6E8A-4147-A177-3AD203B41FA5}">
                      <a16:colId xmlns:a16="http://schemas.microsoft.com/office/drawing/2014/main" val="20001"/>
                    </a:ext>
                  </a:extLst>
                </a:gridCol>
                <a:gridCol w="662143">
                  <a:extLst>
                    <a:ext uri="{9D8B030D-6E8A-4147-A177-3AD203B41FA5}">
                      <a16:colId xmlns:a16="http://schemas.microsoft.com/office/drawing/2014/main" val="689142997"/>
                    </a:ext>
                  </a:extLst>
                </a:gridCol>
                <a:gridCol w="595906">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endParaRPr lang="en-US" altLang="ko-KR" sz="800" dirty="0">
                        <a:solidFill>
                          <a:srgbClr val="C00000"/>
                        </a:solidFill>
                      </a:endParaRP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due Traffic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27000423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0027"/>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963672"/>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2020993768"/>
              </p:ext>
            </p:extLst>
          </p:nvPr>
        </p:nvGraphicFramePr>
        <p:xfrm>
          <a:off x="-15808" y="580010"/>
          <a:ext cx="2349161" cy="1638425"/>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693396">
                  <a:extLst>
                    <a:ext uri="{9D8B030D-6E8A-4147-A177-3AD203B41FA5}">
                      <a16:colId xmlns:a16="http://schemas.microsoft.com/office/drawing/2014/main" val="20002"/>
                    </a:ext>
                  </a:extLst>
                </a:gridCol>
                <a:gridCol w="61400">
                  <a:extLst>
                    <a:ext uri="{9D8B030D-6E8A-4147-A177-3AD203B41FA5}">
                      <a16:colId xmlns:a16="http://schemas.microsoft.com/office/drawing/2014/main" val="20004"/>
                    </a:ext>
                  </a:extLst>
                </a:gridCol>
                <a:gridCol w="1252875">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t>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endParaRPr lang="ko-Kore-KR" altLang="en-US" b="0"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endParaRPr lang="ko-Kore-KR" altLang="en-US" dirty="0">
                        <a:solidFill>
                          <a:srgbClr val="AA47F5"/>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t>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endParaRPr lang="ko-Kore-KR" altLang="en-US" dirty="0"/>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A/P VOR, BGO, HGU</a:t>
                      </a: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72517" y="2218436"/>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EEE1043F-D222-B231-7AE6-61E4C80EE8FA}"/>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419009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80710</TotalTime>
  <Words>25312</Words>
  <Application>Microsoft Macintosh PowerPoint</Application>
  <PresentationFormat>사용자 지정</PresentationFormat>
  <Paragraphs>6042</Paragraphs>
  <Slides>112</Slides>
  <Notes>101</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112</vt:i4>
      </vt:variant>
    </vt:vector>
  </HeadingPairs>
  <TitlesOfParts>
    <vt:vector size="122" baseType="lpstr">
      <vt:lpstr>Arial</vt:lpstr>
      <vt:lpstr>Lato</vt:lpstr>
      <vt:lpstr>Century Gothic</vt:lpstr>
      <vt:lpstr>Calibri</vt:lpstr>
      <vt:lpstr>Cambria Math</vt:lpstr>
      <vt:lpstr>Britannic Bold</vt:lpstr>
      <vt:lpstr>맑은 고딕</vt:lpstr>
      <vt:lpstr>Helvetica Neue</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573</cp:revision>
  <dcterms:created xsi:type="dcterms:W3CDTF">2022-05-17T08:00:10Z</dcterms:created>
  <dcterms:modified xsi:type="dcterms:W3CDTF">2025-10-01T08:23:39Z</dcterms:modified>
</cp:coreProperties>
</file>