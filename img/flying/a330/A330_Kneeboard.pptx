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64"/>
  </p:notesMasterIdLst>
  <p:sldIdLst>
    <p:sldId id="292" r:id="rId2"/>
    <p:sldId id="345" r:id="rId3"/>
    <p:sldId id="349" r:id="rId4"/>
    <p:sldId id="367" r:id="rId5"/>
    <p:sldId id="346" r:id="rId6"/>
    <p:sldId id="350" r:id="rId7"/>
    <p:sldId id="347" r:id="rId8"/>
    <p:sldId id="351" r:id="rId9"/>
    <p:sldId id="348" r:id="rId10"/>
    <p:sldId id="282" r:id="rId11"/>
    <p:sldId id="333" r:id="rId12"/>
    <p:sldId id="431" r:id="rId13"/>
    <p:sldId id="432" r:id="rId14"/>
    <p:sldId id="433" r:id="rId15"/>
    <p:sldId id="257" r:id="rId16"/>
    <p:sldId id="258" r:id="rId17"/>
    <p:sldId id="259" r:id="rId18"/>
    <p:sldId id="260" r:id="rId19"/>
    <p:sldId id="267" r:id="rId20"/>
    <p:sldId id="268" r:id="rId21"/>
    <p:sldId id="355" r:id="rId22"/>
    <p:sldId id="356" r:id="rId23"/>
    <p:sldId id="273" r:id="rId24"/>
    <p:sldId id="274" r:id="rId25"/>
    <p:sldId id="275" r:id="rId26"/>
    <p:sldId id="276" r:id="rId27"/>
    <p:sldId id="279" r:id="rId28"/>
    <p:sldId id="280" r:id="rId29"/>
    <p:sldId id="340" r:id="rId30"/>
    <p:sldId id="341" r:id="rId31"/>
    <p:sldId id="377" r:id="rId32"/>
    <p:sldId id="379" r:id="rId33"/>
    <p:sldId id="308" r:id="rId34"/>
    <p:sldId id="314" r:id="rId35"/>
    <p:sldId id="309" r:id="rId36"/>
    <p:sldId id="389" r:id="rId37"/>
    <p:sldId id="390" r:id="rId38"/>
    <p:sldId id="436" r:id="rId39"/>
    <p:sldId id="376" r:id="rId40"/>
    <p:sldId id="434" r:id="rId41"/>
    <p:sldId id="437" r:id="rId42"/>
    <p:sldId id="439" r:id="rId43"/>
    <p:sldId id="438" r:id="rId44"/>
    <p:sldId id="422" r:id="rId45"/>
    <p:sldId id="385" r:id="rId46"/>
    <p:sldId id="365" r:id="rId47"/>
    <p:sldId id="366" r:id="rId48"/>
    <p:sldId id="423" r:id="rId49"/>
    <p:sldId id="384" r:id="rId50"/>
    <p:sldId id="283" r:id="rId51"/>
    <p:sldId id="286" r:id="rId52"/>
    <p:sldId id="428" r:id="rId53"/>
    <p:sldId id="288" r:id="rId54"/>
    <p:sldId id="289" r:id="rId55"/>
    <p:sldId id="290" r:id="rId56"/>
    <p:sldId id="424" r:id="rId57"/>
    <p:sldId id="302" r:id="rId58"/>
    <p:sldId id="303" r:id="rId59"/>
    <p:sldId id="426" r:id="rId60"/>
    <p:sldId id="427" r:id="rId61"/>
    <p:sldId id="430" r:id="rId62"/>
    <p:sldId id="281" r:id="rId63"/>
  </p:sldIdLst>
  <p:sldSz cx="2328863" cy="5572125"/>
  <p:notesSz cx="6858000" cy="9144000"/>
  <p:embeddedFontLst>
    <p:embeddedFont>
      <p:font typeface="Cambria Math" panose="02040503050406030204" pitchFamily="18" charset="0"/>
      <p:regular r:id="rId65"/>
    </p:embeddedFont>
    <p:embeddedFont>
      <p:font typeface="Century Gothic" panose="020B0502020202020204" pitchFamily="34" charset="0"/>
      <p:regular r:id="rId66"/>
      <p:bold r:id="rId67"/>
      <p:italic r:id="rId68"/>
      <p:boldItalic r:id="rId69"/>
    </p:embeddedFont>
    <p:embeddedFont>
      <p:font typeface="Helvetica Neue" panose="02000503000000020004" pitchFamily="2" charset="0"/>
      <p:regular r:id="rId70"/>
      <p:bold r:id="rId71"/>
      <p:italic r:id="rId72"/>
      <p:boldItalic r:id="rId73"/>
    </p:embeddedFont>
    <p:embeddedFont>
      <p:font typeface="Lato" panose="020F0502020204030203" pitchFamily="34" charset="0"/>
      <p:regular r:id="rId74"/>
      <p:bold r:id="rId75"/>
      <p:italic r:id="rId76"/>
      <p:boldItalic r:id="rId7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7945"/>
    <p:restoredTop sz="94607"/>
  </p:normalViewPr>
  <p:slideViewPr>
    <p:cSldViewPr snapToGrid="0" showGuides="1">
      <p:cViewPr>
        <p:scale>
          <a:sx n="288" d="100"/>
          <a:sy n="288" d="100"/>
        </p:scale>
        <p:origin x="264" y="144"/>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4.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10.fntdata"/><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font" Target="fonts/font5.fntdata"/><Relationship Id="rId77" Type="http://schemas.openxmlformats.org/officeDocument/2006/relationships/font" Target="fonts/font13.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8.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6.fntdata"/><Relationship Id="rId75" Type="http://schemas.openxmlformats.org/officeDocument/2006/relationships/font" Target="fonts/font11.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font" Target="fonts/font1.fntdata"/><Relationship Id="rId73" Type="http://schemas.openxmlformats.org/officeDocument/2006/relationships/font" Target="fonts/font9.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2.fntdata"/><Relationship Id="rId7" Type="http://schemas.openxmlformats.org/officeDocument/2006/relationships/slide" Target="slides/slide6.xml"/><Relationship Id="rId71" Type="http://schemas.openxmlformats.org/officeDocument/2006/relationships/font" Target="fonts/font7.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2.fntdata"/><Relationship Id="rId17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FBB134BE-1207-3C6F-FCF2-7DF03FD75387}"/>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8A025E1A-7CAF-D15A-9AFD-8B2C6CF075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D7B729E9-6BD8-4526-E3A3-6088E76B863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56418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22408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44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49.xml"/><Relationship Id="rId18" Type="http://schemas.openxmlformats.org/officeDocument/2006/relationships/slide" Target="slide60.xml"/><Relationship Id="rId3" Type="http://schemas.openxmlformats.org/officeDocument/2006/relationships/slide" Target="slide2.xml"/><Relationship Id="rId7" Type="http://schemas.openxmlformats.org/officeDocument/2006/relationships/slide" Target="slide12.xml"/><Relationship Id="rId12" Type="http://schemas.openxmlformats.org/officeDocument/2006/relationships/slide" Target="slide46.xml"/><Relationship Id="rId17" Type="http://schemas.openxmlformats.org/officeDocument/2006/relationships/slide" Target="slide59.xml"/><Relationship Id="rId2" Type="http://schemas.openxmlformats.org/officeDocument/2006/relationships/notesSlide" Target="../notesSlides/notesSlide1.xml"/><Relationship Id="rId16" Type="http://schemas.openxmlformats.org/officeDocument/2006/relationships/slide" Target="slide55.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45.xml"/><Relationship Id="rId5" Type="http://schemas.openxmlformats.org/officeDocument/2006/relationships/slide" Target="slide7.xml"/><Relationship Id="rId15" Type="http://schemas.openxmlformats.org/officeDocument/2006/relationships/slide" Target="slide53.xml"/><Relationship Id="rId10" Type="http://schemas.openxmlformats.org/officeDocument/2006/relationships/slide" Target="slide44.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51.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8.xml"/><Relationship Id="rId3" Type="http://schemas.openxmlformats.org/officeDocument/2006/relationships/slide" Target="slide23.xml"/><Relationship Id="rId7" Type="http://schemas.openxmlformats.org/officeDocument/2006/relationships/slide" Target="slide27.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6.xml"/><Relationship Id="rId5" Type="http://schemas.openxmlformats.org/officeDocument/2006/relationships/slide" Target="slide25.xml"/><Relationship Id="rId10" Type="http://schemas.openxmlformats.org/officeDocument/2006/relationships/slide" Target="slide30.xml"/><Relationship Id="rId4" Type="http://schemas.openxmlformats.org/officeDocument/2006/relationships/slide" Target="slide24.xml"/><Relationship Id="rId9" Type="http://schemas.openxmlformats.org/officeDocument/2006/relationships/slide" Target="slide29.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1.xml"/><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slide" Target="slide28.xml"/><Relationship Id="rId4" Type="http://schemas.openxmlformats.org/officeDocument/2006/relationships/slide" Target="slide32.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slide" Target="slide36.xm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slide" Target="slide37.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slide" Target="slide43.xml"/><Relationship Id="rId5" Type="http://schemas.openxmlformats.org/officeDocument/2006/relationships/slide" Target="slide41.xml"/><Relationship Id="rId4" Type="http://schemas.openxmlformats.org/officeDocument/2006/relationships/slide" Target="slide40.xml"/></Relationships>
</file>

<file path=ppt/slides/_rels/slide13.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57.xml"/><Relationship Id="rId9" Type="http://schemas.openxmlformats.org/officeDocument/2006/relationships/slide" Target="slide3.xml"/></Relationships>
</file>

<file path=ppt/slides/_rels/slide18.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9.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57.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3" Type="http://schemas.openxmlformats.org/officeDocument/2006/relationships/slide" Target="slide57.xml"/><Relationship Id="rId7" Type="http://schemas.openxmlformats.org/officeDocument/2006/relationships/slide" Target="slide3.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1.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slide" Target="slide7.xm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3.jpeg"/><Relationship Id="rId4" Type="http://schemas.openxmlformats.org/officeDocument/2006/relationships/hyperlink" Target="https://flyingdeuk.github.io/posts/RKSI-ICN/"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57.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13.xml"/><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2.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3.xml"/><Relationship Id="rId4" Type="http://schemas.openxmlformats.org/officeDocument/2006/relationships/hyperlink" Target="https://flyingdeuk.github.io/posts/YSSY-SYD/" TargetMode="Externa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slide" Target="slide51.xml"/><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slide" Target="slide51.xml"/></Relationships>
</file>

<file path=ppt/slides/_rels/slide5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5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a:t>
            </a:r>
            <a:r>
              <a:rPr lang="en-US" sz="1000" b="1">
                <a:solidFill>
                  <a:srgbClr val="0070C0"/>
                </a:solidFill>
                <a:latin typeface="Calibri"/>
                <a:ea typeface="Calibri"/>
                <a:cs typeface="Calibri"/>
                <a:sym typeface="Calibri"/>
              </a:rPr>
              <a:t>25.2.25</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25462623"/>
              </p:ext>
            </p:extLst>
          </p:nvPr>
        </p:nvGraphicFramePr>
        <p:xfrm>
          <a:off x="98101" y="132866"/>
          <a:ext cx="2132650" cy="2633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4675634"/>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339177750"/>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936289216"/>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6080294"/>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867487010"/>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030621569"/>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FC000"/>
                          </a:solidFill>
                        </a:rPr>
                        <a:t>HNL</a:t>
                      </a:r>
                      <a:endParaRPr sz="900" dirty="0">
                        <a:solidFill>
                          <a:srgbClr val="FFC00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FC000"/>
                          </a:solidFill>
                        </a:rPr>
                        <a:t>호놀루루</a:t>
                      </a:r>
                      <a:r>
                        <a:rPr lang="en-US" altLang="ko-KR" sz="800" b="0" dirty="0">
                          <a:solidFill>
                            <a:srgbClr val="FFC000"/>
                          </a:solidFill>
                        </a:rPr>
                        <a:t>/</a:t>
                      </a:r>
                      <a:r>
                        <a:rPr lang="ko-KR" altLang="en-US" sz="800" b="0" dirty="0">
                          <a:solidFill>
                            <a:srgbClr val="FFC000"/>
                          </a:solidFill>
                        </a:rPr>
                        <a:t>다니엘 케이 이노우에</a:t>
                      </a:r>
                      <a:endParaRPr sz="800" b="0" dirty="0">
                        <a:solidFill>
                          <a:srgbClr val="FFC00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FC000"/>
                          </a:solidFill>
                        </a:rPr>
                        <a:t>SYD</a:t>
                      </a:r>
                      <a:endParaRPr sz="900" dirty="0">
                        <a:solidFill>
                          <a:srgbClr val="FFC00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FC000"/>
                          </a:solidFill>
                        </a:rPr>
                        <a:t>시드니</a:t>
                      </a:r>
                      <a:r>
                        <a:rPr lang="en-US" altLang="ko-KR" sz="800" b="0" dirty="0">
                          <a:solidFill>
                            <a:srgbClr val="FFC000"/>
                          </a:solidFill>
                        </a:rPr>
                        <a:t>/</a:t>
                      </a:r>
                      <a:r>
                        <a:rPr lang="ko-KR" altLang="en-US" sz="800" b="0" dirty="0" err="1">
                          <a:solidFill>
                            <a:srgbClr val="FFC000"/>
                          </a:solidFill>
                        </a:rPr>
                        <a:t>킹스폴드</a:t>
                      </a:r>
                      <a:r>
                        <a:rPr lang="ko-KR" altLang="en-US" sz="800" b="0" dirty="0">
                          <a:solidFill>
                            <a:srgbClr val="FFC000"/>
                          </a:solidFill>
                        </a:rPr>
                        <a:t> 스미스</a:t>
                      </a:r>
                      <a:endParaRPr sz="900" b="0" dirty="0">
                        <a:solidFill>
                          <a:srgbClr val="FFC00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34819EA0-C744-E4D7-32DA-73A0D9BE7EA0}"/>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7895368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431F247A-86C7-05C0-2C26-569E35E0AADC}"/>
            </a:ext>
          </a:extLst>
        </p:cNvPr>
        <p:cNvGrpSpPr/>
        <p:nvPr/>
      </p:nvGrpSpPr>
      <p:grpSpPr>
        <a:xfrm>
          <a:off x="0" y="0"/>
          <a:ext cx="0" cy="0"/>
          <a:chOff x="0" y="0"/>
          <a:chExt cx="0" cy="0"/>
        </a:xfrm>
      </p:grpSpPr>
      <p:graphicFrame>
        <p:nvGraphicFramePr>
          <p:cNvPr id="370" name="Google Shape;370;p27">
            <a:extLst>
              <a:ext uri="{FF2B5EF4-FFF2-40B4-BE49-F238E27FC236}">
                <a16:creationId xmlns:a16="http://schemas.microsoft.com/office/drawing/2014/main" id="{34D3F366-9928-740F-3928-A907676A2CEA}"/>
              </a:ext>
            </a:extLst>
          </p:cNvPr>
          <p:cNvGraphicFramePr/>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670AC04B-FD18-B2D3-8A4E-49BBCB6EB828}"/>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rPr>
              <a:t>Oceania</a:t>
            </a:r>
          </a:p>
        </p:txBody>
      </p:sp>
    </p:spTree>
    <p:extLst>
      <p:ext uri="{BB962C8B-B14F-4D97-AF65-F5344CB8AC3E}">
        <p14:creationId xmlns:p14="http://schemas.microsoft.com/office/powerpoint/2010/main" val="29695971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4001027431"/>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653939243"/>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3419442780"/>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52686397"/>
              </p:ext>
            </p:extLst>
          </p:nvPr>
        </p:nvGraphicFramePr>
        <p:xfrm>
          <a:off x="-3340" y="3941493"/>
          <a:ext cx="2328850" cy="162073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993367013"/>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3856998687"/>
              </p:ext>
            </p:extLst>
          </p:nvPr>
        </p:nvGraphicFramePr>
        <p:xfrm>
          <a:off x="-3340" y="3933668"/>
          <a:ext cx="2339140" cy="162073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295642489"/>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2510321"/>
              </p:ext>
            </p:extLst>
          </p:nvPr>
        </p:nvGraphicFramePr>
        <p:xfrm>
          <a:off x="4410" y="3887067"/>
          <a:ext cx="2328514" cy="166714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42202319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4126081048"/>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2598941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167154383"/>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8263158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93285059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696632634"/>
              </p:ext>
            </p:extLst>
          </p:nvPr>
        </p:nvGraphicFramePr>
        <p:xfrm>
          <a:off x="1596" y="3316700"/>
          <a:ext cx="2313550" cy="223717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a:t>
                      </a:r>
                      <a:r>
                        <a:rPr lang="en-US" sz="800" dirty="0" err="1">
                          <a:solidFill>
                            <a:srgbClr val="FFC000"/>
                          </a:solidFill>
                        </a:rPr>
                        <a:t>Taiload</a:t>
                      </a:r>
                      <a:r>
                        <a:rPr lang="en-US" sz="800" dirty="0">
                          <a:solidFill>
                            <a:srgbClr val="FFC000"/>
                          </a:solidFill>
                        </a:rPr>
                        <a:t> 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34L : IHA /10, /5</a:t>
                      </a:r>
                      <a:endParaRPr sz="800" b="1" dirty="0">
                        <a:solidFill>
                          <a:schemeClr val="bg1"/>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34R : ITC /10, /5</a:t>
                      </a:r>
                      <a:endParaRPr sz="800" b="1" dirty="0">
                        <a:solidFill>
                          <a:schemeClr val="bg1"/>
                        </a:solidFill>
                      </a:endParaRPr>
                    </a:p>
                  </a:txBody>
                  <a:tcPr marL="36000" marR="36000" marT="36000" marB="36000" anchor="ctr"/>
                </a:tc>
                <a:extLst>
                  <a:ext uri="{0D108BD9-81ED-4DB2-BD59-A6C34878D82A}">
                    <a16:rowId xmlns:a16="http://schemas.microsoft.com/office/drawing/2014/main" val="10005"/>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0">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800561"/>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897033" y="249718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2234446910"/>
              </p:ext>
            </p:extLst>
          </p:nvPr>
        </p:nvGraphicFramePr>
        <p:xfrm>
          <a:off x="0" y="611909"/>
          <a:ext cx="2329869" cy="1831450"/>
        </p:xfrm>
        <a:graphic>
          <a:graphicData uri="http://schemas.openxmlformats.org/drawingml/2006/table">
            <a:tbl>
              <a:tblPr firstRow="1" bandRow="1">
                <a:tableStyleId>{A521BE36-7E6F-4EC9-8D66-1CF97A6895EC}</a:tableStyleId>
              </a:tblPr>
              <a:tblGrid>
                <a:gridCol w="342321">
                  <a:extLst>
                    <a:ext uri="{9D8B030D-6E8A-4147-A177-3AD203B41FA5}">
                      <a16:colId xmlns:a16="http://schemas.microsoft.com/office/drawing/2014/main" val="20000"/>
                    </a:ext>
                  </a:extLst>
                </a:gridCol>
                <a:gridCol w="61400">
                  <a:extLst>
                    <a:ext uri="{9D8B030D-6E8A-4147-A177-3AD203B41FA5}">
                      <a16:colId xmlns:a16="http://schemas.microsoft.com/office/drawing/2014/main" val="1287199069"/>
                    </a:ext>
                  </a:extLst>
                </a:gridCol>
                <a:gridCol w="328611">
                  <a:extLst>
                    <a:ext uri="{9D8B030D-6E8A-4147-A177-3AD203B41FA5}">
                      <a16:colId xmlns:a16="http://schemas.microsoft.com/office/drawing/2014/main" val="20001"/>
                    </a:ext>
                  </a:extLst>
                </a:gridCol>
                <a:gridCol w="333480">
                  <a:extLst>
                    <a:ext uri="{9D8B030D-6E8A-4147-A177-3AD203B41FA5}">
                      <a16:colId xmlns:a16="http://schemas.microsoft.com/office/drawing/2014/main" val="20002"/>
                    </a:ext>
                  </a:extLst>
                </a:gridCol>
                <a:gridCol w="349784">
                  <a:extLst>
                    <a:ext uri="{9D8B030D-6E8A-4147-A177-3AD203B41FA5}">
                      <a16:colId xmlns:a16="http://schemas.microsoft.com/office/drawing/2014/main" val="20003"/>
                    </a:ext>
                  </a:extLst>
                </a:gridCol>
                <a:gridCol w="306061">
                  <a:extLst>
                    <a:ext uri="{9D8B030D-6E8A-4147-A177-3AD203B41FA5}">
                      <a16:colId xmlns:a16="http://schemas.microsoft.com/office/drawing/2014/main" val="20004"/>
                    </a:ext>
                  </a:extLst>
                </a:gridCol>
                <a:gridCol w="256092">
                  <a:extLst>
                    <a:ext uri="{9D8B030D-6E8A-4147-A177-3AD203B41FA5}">
                      <a16:colId xmlns:a16="http://schemas.microsoft.com/office/drawing/2014/main" val="20006"/>
                    </a:ext>
                  </a:extLst>
                </a:gridCol>
                <a:gridCol w="352120">
                  <a:extLst>
                    <a:ext uri="{9D8B030D-6E8A-4147-A177-3AD203B41FA5}">
                      <a16:colId xmlns:a16="http://schemas.microsoft.com/office/drawing/2014/main" val="20007"/>
                    </a:ext>
                  </a:extLst>
                </a:gridCol>
              </a:tblGrid>
              <a:tr h="174725">
                <a:tc gridSpan="8">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0070C0"/>
                          </a:solidFill>
                        </a:rPr>
                        <a:t>BEKLA x</a:t>
                      </a:r>
                      <a:endParaRPr dirty="0"/>
                    </a:p>
                    <a:p>
                      <a:pPr marL="0" marR="0" lvl="0" indent="0" algn="ctr" rtl="0">
                        <a:spcBef>
                          <a:spcPts val="0"/>
                        </a:spcBef>
                        <a:spcAft>
                          <a:spcPts val="0"/>
                        </a:spcAft>
                        <a:buNone/>
                      </a:pPr>
                      <a:r>
                        <a:rPr lang="en-US" sz="800" b="1" dirty="0"/>
                        <a:t>OPPAR x</a:t>
                      </a:r>
                      <a:endParaRPr sz="800" b="1" dirty="0"/>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RWY HD(348(158),231(051))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1"/>
                  </a:ext>
                </a:extLst>
              </a:tr>
              <a:tr h="2586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34L IHA</a:t>
                      </a:r>
                      <a:endParaRPr dirty="0"/>
                    </a:p>
                    <a:p>
                      <a:pPr marL="0" marR="0" lvl="0" indent="0" algn="ctr" rtl="0">
                        <a:spcBef>
                          <a:spcPts val="0"/>
                        </a:spcBef>
                        <a:spcAft>
                          <a:spcPts val="0"/>
                        </a:spcAft>
                        <a:buNone/>
                      </a:pPr>
                      <a:r>
                        <a:rPr lang="en-US" sz="800" b="1" dirty="0">
                          <a:solidFill>
                            <a:srgbClr val="C00000"/>
                          </a:solidFill>
                        </a:rPr>
                        <a:t>111.7</a:t>
                      </a:r>
                      <a:endParaRPr sz="458" dirty="0"/>
                    </a:p>
                  </a:txBody>
                  <a:tcPr marL="0" marR="0" marT="36000" marB="36000" anchor="ctr"/>
                </a:tc>
                <a:tc>
                  <a:txBody>
                    <a:bodyPr/>
                    <a:lstStyle/>
                    <a:p>
                      <a:pPr marL="0" marR="0" lvl="0" indent="0" algn="ctr" rtl="0">
                        <a:spcBef>
                          <a:spcPts val="0"/>
                        </a:spcBef>
                        <a:spcAft>
                          <a:spcPts val="0"/>
                        </a:spcAft>
                        <a:buNone/>
                      </a:pPr>
                      <a:r>
                        <a:rPr lang="en-US" sz="800" b="1" dirty="0">
                          <a:solidFill>
                            <a:srgbClr val="C00000"/>
                          </a:solidFill>
                        </a:rPr>
                        <a:t>16R ITA</a:t>
                      </a:r>
                      <a:endParaRPr dirty="0"/>
                    </a:p>
                    <a:p>
                      <a:pPr marL="0" marR="0" lvl="0" indent="0" algn="ctr" rtl="0">
                        <a:spcBef>
                          <a:spcPts val="0"/>
                        </a:spcBef>
                        <a:spcAft>
                          <a:spcPts val="0"/>
                        </a:spcAft>
                        <a:buNone/>
                      </a:pPr>
                      <a:r>
                        <a:rPr lang="en-US" sz="800" b="1" dirty="0">
                          <a:solidFill>
                            <a:srgbClr val="C00000"/>
                          </a:solidFill>
                        </a:rPr>
                        <a:t>111.55</a:t>
                      </a:r>
                      <a:endParaRPr sz="800" dirty="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34R ITC 108.9</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700" b="1" dirty="0">
                          <a:solidFill>
                            <a:srgbClr val="C00000"/>
                          </a:solidFill>
                        </a:rPr>
                        <a:t>16L</a:t>
                      </a:r>
                      <a:r>
                        <a:rPr lang="en-US" sz="800" b="1" dirty="0">
                          <a:solidFill>
                            <a:srgbClr val="C00000"/>
                          </a:solidFill>
                        </a:rPr>
                        <a:t> IOC 111.95</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700" b="1" dirty="0">
                          <a:solidFill>
                            <a:srgbClr val="C00000"/>
                          </a:solidFill>
                        </a:rPr>
                        <a:t>22</a:t>
                      </a:r>
                      <a:r>
                        <a:rPr lang="en-US" sz="800" b="1" dirty="0">
                          <a:solidFill>
                            <a:srgbClr val="C00000"/>
                          </a:solidFill>
                        </a:rPr>
                        <a:t> </a:t>
                      </a:r>
                      <a:r>
                        <a:rPr lang="en-US" sz="700" b="1" dirty="0">
                          <a:solidFill>
                            <a:srgbClr val="C00000"/>
                          </a:solidFill>
                        </a:rPr>
                        <a:t>IAD</a:t>
                      </a:r>
                      <a:endParaRPr sz="400"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dirty="0">
                          <a:solidFill>
                            <a:srgbClr val="C00000"/>
                          </a:solidFill>
                        </a:rPr>
                        <a:t>23 ITD</a:t>
                      </a:r>
                      <a:endParaRPr dirty="0"/>
                    </a:p>
                    <a:p>
                      <a:pPr marL="0" marR="0" lvl="0" indent="0" algn="ctr" rtl="0">
                        <a:spcBef>
                          <a:spcPts val="0"/>
                        </a:spcBef>
                        <a:spcAft>
                          <a:spcPts val="0"/>
                        </a:spcAft>
                        <a:buNone/>
                      </a:pPr>
                      <a:r>
                        <a:rPr lang="en-US" sz="800" b="1" dirty="0">
                          <a:solidFill>
                            <a:srgbClr val="C00000"/>
                          </a:solidFill>
                        </a:rPr>
                        <a:t>110.5</a:t>
                      </a:r>
                      <a:endParaRPr sz="800" dirty="0"/>
                    </a:p>
                  </a:txBody>
                  <a:tcPr marL="0" marR="0" marT="36000" marB="36000" anchor="ctr"/>
                </a:tc>
                <a:extLst>
                  <a:ext uri="{0D108BD9-81ED-4DB2-BD59-A6C34878D82A}">
                    <a16:rowId xmlns:a16="http://schemas.microsoft.com/office/drawing/2014/main" val="10002"/>
                  </a:ext>
                </a:extLst>
              </a:tr>
              <a:tr h="158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88900">
                <a:tc gridSpan="8">
                  <a:txBody>
                    <a:bodyPr/>
                    <a:lstStyle/>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34R BEKLA : KAIJI 230kts, TO FLAP SPD Until TORAM</a:t>
                      </a:r>
                      <a:endParaRPr sz="7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9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1" y="2478259"/>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312381209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966235975"/>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291997442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3290038988"/>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 </a:t>
                      </a:r>
                      <a:r>
                        <a:rPr lang="en-US" sz="800" dirty="0">
                          <a:solidFill>
                            <a:srgbClr val="FFC000"/>
                          </a:solidFill>
                        </a:rPr>
                        <a:t>Terminal Tx RTE + STAR Chart </a:t>
                      </a:r>
                      <a:r>
                        <a:rPr lang="en-US" sz="800" dirty="0">
                          <a:solidFill>
                            <a:schemeClr val="tx1"/>
                          </a:solidFill>
                        </a:rPr>
                        <a:t>(TL110)</a:t>
                      </a: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dirty="0"/>
                        <a:t>TD</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114846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60904612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3781521076"/>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652982671"/>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79959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956260054"/>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20354567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1427996240"/>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73638099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3963304277"/>
              </p:ext>
            </p:extLst>
          </p:nvPr>
        </p:nvGraphicFramePr>
        <p:xfrm>
          <a:off x="4410" y="3887067"/>
          <a:ext cx="2328514" cy="166714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389715210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 UTC-10, TL180, </a:t>
                      </a:r>
                      <a:r>
                        <a:rPr lang="en-US" sz="800" dirty="0">
                          <a:solidFill>
                            <a:srgbClr val="00B050"/>
                          </a:solidFill>
                        </a:rPr>
                        <a:t>CPDLC RJJJ - 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161996768"/>
              </p:ext>
            </p:extLst>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730770257"/>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3121375080"/>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 UTC+10/11, TL 110, </a:t>
                      </a:r>
                      <a:r>
                        <a:rPr lang="en-US" sz="800" b="0" dirty="0"/>
                        <a:t>RW34L/16R on Req</a:t>
                      </a:r>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82704"/>
            <a:chOff x="10990" y="3164515"/>
            <a:chExt cx="2317874" cy="782704"/>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2220738974"/>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spTree>
    <p:extLst>
      <p:ext uri="{BB962C8B-B14F-4D97-AF65-F5344CB8AC3E}">
        <p14:creationId xmlns:p14="http://schemas.microsoft.com/office/powerpoint/2010/main" val="3985907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270621955"/>
              </p:ext>
            </p:extLst>
          </p:nvPr>
        </p:nvGraphicFramePr>
        <p:xfrm>
          <a:off x="0" y="2272753"/>
          <a:ext cx="2328875" cy="2846642"/>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96707">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412752">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822172">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21501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989630151"/>
              </p:ext>
            </p:extLst>
          </p:nvPr>
        </p:nvGraphicFramePr>
        <p:xfrm>
          <a:off x="-12" y="9492"/>
          <a:ext cx="2328875" cy="222290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896961062"/>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021019548"/>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56389</TotalTime>
  <Words>12081</Words>
  <Application>Microsoft Macintosh PowerPoint</Application>
  <PresentationFormat>사용자 지정</PresentationFormat>
  <Paragraphs>2678</Paragraphs>
  <Slides>62</Slides>
  <Notes>61</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62</vt:i4>
      </vt:variant>
    </vt:vector>
  </HeadingPairs>
  <TitlesOfParts>
    <vt:vector size="71" baseType="lpstr">
      <vt:lpstr>Arial</vt:lpstr>
      <vt:lpstr>Lato</vt:lpstr>
      <vt:lpstr>Century Gothic</vt:lpstr>
      <vt:lpstr>Calibri</vt:lpstr>
      <vt:lpstr>Cambria Math</vt:lpstr>
      <vt:lpstr>Britannic Bold</vt:lpstr>
      <vt:lpstr>Helvetica Neue</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425</cp:revision>
  <dcterms:created xsi:type="dcterms:W3CDTF">2022-05-17T08:00:10Z</dcterms:created>
  <dcterms:modified xsi:type="dcterms:W3CDTF">2025-03-01T15:50:47Z</dcterms:modified>
</cp:coreProperties>
</file>