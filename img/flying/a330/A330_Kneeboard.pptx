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3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326" r:id="rId90"/>
    <p:sldId id="327" r:id="rId91"/>
    <p:sldId id="498" r:id="rId92"/>
    <p:sldId id="499" r:id="rId93"/>
    <p:sldId id="500" r:id="rId94"/>
    <p:sldId id="436" r:id="rId95"/>
    <p:sldId id="376" r:id="rId96"/>
    <p:sldId id="434" r:id="rId97"/>
    <p:sldId id="437" r:id="rId98"/>
    <p:sldId id="439" r:id="rId99"/>
    <p:sldId id="438" r:id="rId100"/>
    <p:sldId id="444" r:id="rId101"/>
    <p:sldId id="445" r:id="rId102"/>
    <p:sldId id="446" r:id="rId103"/>
    <p:sldId id="469" r:id="rId104"/>
    <p:sldId id="470" r:id="rId105"/>
    <p:sldId id="471" r:id="rId106"/>
    <p:sldId id="472" r:id="rId107"/>
    <p:sldId id="473" r:id="rId108"/>
    <p:sldId id="474" r:id="rId109"/>
    <p:sldId id="493" r:id="rId110"/>
    <p:sldId id="496" r:id="rId111"/>
    <p:sldId id="494" r:id="rId112"/>
    <p:sldId id="495" r:id="rId113"/>
    <p:sldId id="422" r:id="rId114"/>
    <p:sldId id="385" r:id="rId115"/>
    <p:sldId id="497" r:id="rId116"/>
    <p:sldId id="365" r:id="rId117"/>
    <p:sldId id="366" r:id="rId118"/>
    <p:sldId id="423" r:id="rId119"/>
    <p:sldId id="384" r:id="rId120"/>
    <p:sldId id="283" r:id="rId121"/>
    <p:sldId id="286" r:id="rId122"/>
    <p:sldId id="428" r:id="rId123"/>
    <p:sldId id="288" r:id="rId124"/>
    <p:sldId id="289" r:id="rId125"/>
    <p:sldId id="290" r:id="rId126"/>
    <p:sldId id="424" r:id="rId127"/>
    <p:sldId id="302" r:id="rId128"/>
    <p:sldId id="303" r:id="rId129"/>
    <p:sldId id="426" r:id="rId130"/>
    <p:sldId id="427" r:id="rId131"/>
    <p:sldId id="430" r:id="rId132"/>
    <p:sldId id="281" r:id="rId133"/>
  </p:sldIdLst>
  <p:sldSz cx="2328863" cy="5572125"/>
  <p:notesSz cx="6858000" cy="9144000"/>
  <p:embeddedFontLst>
    <p:embeddedFont>
      <p:font typeface="맑은 고딕" panose="020B0503020000020004" pitchFamily="34" charset="-127"/>
      <p:regular r:id="rId135"/>
      <p:bold r:id="rId136"/>
    </p:embeddedFont>
    <p:embeddedFont>
      <p:font typeface="Cambria Math" panose="02040503050406030204" pitchFamily="18" charset="0"/>
      <p:regular r:id="rId137"/>
    </p:embeddedFont>
    <p:embeddedFont>
      <p:font typeface="Century Gothic" panose="020B0502020202020204" pitchFamily="34" charset="0"/>
      <p:regular r:id="rId138"/>
      <p:bold r:id="rId139"/>
      <p:italic r:id="rId140"/>
      <p:boldItalic r:id="rId141"/>
    </p:embeddedFont>
    <p:embeddedFont>
      <p:font typeface="Helvetica Neue" panose="02000503000000020004" pitchFamily="2" charset="0"/>
      <p:regular r:id="rId142"/>
      <p:bold r:id="rId143"/>
      <p:italic r:id="rId144"/>
      <p:boldItalic r:id="rId145"/>
    </p:embeddedFont>
    <p:embeddedFont>
      <p:font typeface="Lato" panose="020F0502020204030203" pitchFamily="34" charset="0"/>
      <p:regular r:id="rId146"/>
      <p:bold r:id="rId147"/>
      <p:italic r:id="rId148"/>
      <p:boldItalic r:id="rId14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515"/>
    <p:restoredTop sz="96966"/>
  </p:normalViewPr>
  <p:slideViewPr>
    <p:cSldViewPr snapToGrid="0" showGuides="1">
      <p:cViewPr>
        <p:scale>
          <a:sx n="190" d="100"/>
          <a:sy n="190" d="100"/>
        </p:scale>
        <p:origin x="1640" y="-246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4.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font" Target="fonts/font15.fntdata"/><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notesMaster" Target="notesMasters/notesMaster1.xml"/><Relationship Id="rId139" Type="http://schemas.openxmlformats.org/officeDocument/2006/relationships/font" Target="fonts/font5.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6.fntdata"/><Relationship Id="rId145"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font" Target="fonts/font1.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7.fntdata"/><Relationship Id="rId146" Type="http://schemas.openxmlformats.org/officeDocument/2006/relationships/font" Target="fonts/font12.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font" Target="fonts/font2.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8.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9.fntdata"/><Relationship Id="rId148"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10.fntdata"/><Relationship Id="rId90"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1239806-CA7A-FFDB-75D4-8B601FD323B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14AF8F7-5750-22EE-3CD5-238BEC44717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511A32BB-4F17-416C-DE7D-761FBCE35EE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7985336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9179DF0-75EF-90A4-8B9B-661CC0400600}"/>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B78E4C9-4BF6-BFD5-4406-1AB9006A093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5C81D79C-9F97-D7F0-D926-2CAF80AC3BC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302859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B4EDF986-54BB-FD60-11B3-51600D4CE0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DA09911-C2EE-FB13-14DE-CA42E2B27B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D1D4853A-C05F-2C04-CF71-0DA6E4E791D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285785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4F84F33-E9A7-59ED-B23E-2EE6B81522EE}"/>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7E6CFA1F-3252-ACF2-7DF1-C346FDC5DC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7A0ED6C4-B8C0-0F72-FF68-312FD3C8FEA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1307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C3414617-3170-9DC0-DB91-D0B46B0FE4B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C581A382-F3C2-5EB6-F83D-D15651D0A8C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A7835AC-9DFF-202B-F7DD-804F3A1ECEA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0491789"/>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113</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07039A4B-7B84-1C07-26D4-E8BA20A5BE34}"/>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A4023981-F605-2BDA-6E2F-EA729D00855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2CDD515D-09D2-C183-5427-296067781CB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844770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15.xml"/><Relationship Id="rId18" Type="http://schemas.openxmlformats.org/officeDocument/2006/relationships/slide" Target="slide123.xml"/><Relationship Id="rId3" Type="http://schemas.openxmlformats.org/officeDocument/2006/relationships/slide" Target="slide2.xml"/><Relationship Id="rId21" Type="http://schemas.openxmlformats.org/officeDocument/2006/relationships/slide" Target="slide130.xml"/><Relationship Id="rId7" Type="http://schemas.openxmlformats.org/officeDocument/2006/relationships/slide" Target="slide11.xml"/><Relationship Id="rId12" Type="http://schemas.openxmlformats.org/officeDocument/2006/relationships/slide" Target="slide114.xml"/><Relationship Id="rId17" Type="http://schemas.openxmlformats.org/officeDocument/2006/relationships/slide" Target="slide121.xml"/><Relationship Id="rId2" Type="http://schemas.openxmlformats.org/officeDocument/2006/relationships/notesSlide" Target="../notesSlides/notesSlide1.xml"/><Relationship Id="rId16" Type="http://schemas.openxmlformats.org/officeDocument/2006/relationships/slide" Target="slide119.xml"/><Relationship Id="rId20" Type="http://schemas.openxmlformats.org/officeDocument/2006/relationships/slide" Target="slide129.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13.xml"/><Relationship Id="rId5" Type="http://schemas.openxmlformats.org/officeDocument/2006/relationships/slide" Target="slide7.xml"/><Relationship Id="rId15" Type="http://schemas.openxmlformats.org/officeDocument/2006/relationships/slide" Target="slide117.xml"/><Relationship Id="rId10" Type="http://schemas.openxmlformats.org/officeDocument/2006/relationships/hyperlink" Target="https://flyingdeuk.github.io/posts/A330-kneeboard/" TargetMode="External"/><Relationship Id="rId19" Type="http://schemas.openxmlformats.org/officeDocument/2006/relationships/slide" Target="slide125.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16.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29" Type="http://schemas.openxmlformats.org/officeDocument/2006/relationships/slide" Target="slide91.xml"/><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32" Type="http://schemas.openxmlformats.org/officeDocument/2006/relationships/image" Target="../media/image3.svg"/><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slide" Target="slide90.xml"/><Relationship Id="rId10" Type="http://schemas.openxmlformats.org/officeDocument/2006/relationships/slide" Target="slide70.xml"/><Relationship Id="rId19" Type="http://schemas.openxmlformats.org/officeDocument/2006/relationships/slide" Target="slide80.xml"/><Relationship Id="rId31" Type="http://schemas.openxmlformats.org/officeDocument/2006/relationships/image" Target="../media/image2.png"/><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slide" Target="slide89.xml"/><Relationship Id="rId30" Type="http://schemas.openxmlformats.org/officeDocument/2006/relationships/slide" Target="slide93.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102.xml"/><Relationship Id="rId3" Type="http://schemas.openxmlformats.org/officeDocument/2006/relationships/slide" Target="slide94.xml"/><Relationship Id="rId7" Type="http://schemas.openxmlformats.org/officeDocument/2006/relationships/slide" Target="slide100.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9.xml"/><Relationship Id="rId5" Type="http://schemas.openxmlformats.org/officeDocument/2006/relationships/slide" Target="slide97.xml"/><Relationship Id="rId10" Type="http://schemas.openxmlformats.org/officeDocument/2006/relationships/image" Target="../media/image3.svg"/><Relationship Id="rId4" Type="http://schemas.openxmlformats.org/officeDocument/2006/relationships/slide" Target="slide96.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slide" Target="slide112.xml"/><Relationship Id="rId3" Type="http://schemas.openxmlformats.org/officeDocument/2006/relationships/slide" Target="slide103.xml"/><Relationship Id="rId7" Type="http://schemas.openxmlformats.org/officeDocument/2006/relationships/slide" Target="slide109.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8.xml"/><Relationship Id="rId5" Type="http://schemas.openxmlformats.org/officeDocument/2006/relationships/slide" Target="slide106.xml"/><Relationship Id="rId10" Type="http://schemas.openxmlformats.org/officeDocument/2006/relationships/image" Target="../media/image3.svg"/><Relationship Id="rId4" Type="http://schemas.openxmlformats.org/officeDocument/2006/relationships/slide" Target="slide105.xml"/><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2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2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2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2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9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CR-CXR/" TargetMode="External"/><Relationship Id="rId7"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3.jpeg"/><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NB-HAN/"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VVNB-HAN/"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VNKT-KTM/" TargetMode="External"/></Relationships>
</file>

<file path=ppt/slides/_rels/slide1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flyingdeuk.github.io/posts/VNKT-KTM/" TargetMode="External"/><Relationship Id="rId7" Type="http://schemas.openxmlformats.org/officeDocument/2006/relationships/image" Target="../media/image3.svg"/><Relationship Id="rId2" Type="http://schemas.openxmlformats.org/officeDocument/2006/relationships/notesSlide" Target="../notesSlides/notesSlide9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13.xml.rels><?xml version="1.0" encoding="UTF-8" standalone="yes"?>
<Relationships xmlns="http://schemas.openxmlformats.org/package/2006/relationships"><Relationship Id="rId8" Type="http://schemas.openxmlformats.org/officeDocument/2006/relationships/image" Target="../media/image32.jpg"/><Relationship Id="rId3" Type="http://schemas.openxmlformats.org/officeDocument/2006/relationships/image" Target="../media/image29.png"/><Relationship Id="rId7" Type="http://schemas.openxmlformats.org/officeDocument/2006/relationships/image" Target="../media/image31.jpg"/><Relationship Id="rId2" Type="http://schemas.openxmlformats.org/officeDocument/2006/relationships/notesSlide" Target="../notesSlides/notesSlide99.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30.png"/></Relationships>
</file>

<file path=ppt/slides/_rels/slide1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3.xml.rels><?xml version="1.0" encoding="UTF-8" standalone="yes"?>
<Relationships xmlns="http://schemas.openxmlformats.org/package/2006/relationships"><Relationship Id="rId3" Type="http://schemas.openxmlformats.org/officeDocument/2006/relationships/slide" Target="slide121.xml"/><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9.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21.xml"/></Relationships>
</file>

<file path=ppt/slides/_rels/slide1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7.xml.rels><?xml version="1.0" encoding="UTF-8" standalone="yes"?>
<Relationships xmlns="http://schemas.openxmlformats.org/package/2006/relationships"><Relationship Id="rId3" Type="http://schemas.openxmlformats.org/officeDocument/2006/relationships/image" Target="../media/image34.jpeg"/><Relationship Id="rId7" Type="http://schemas.openxmlformats.org/officeDocument/2006/relationships/image" Target="../media/image3.svg"/><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6.jpeg"/><Relationship Id="rId4" Type="http://schemas.openxmlformats.org/officeDocument/2006/relationships/image" Target="../media/image35.jpeg"/></Relationships>
</file>

<file path=ppt/slides/_rels/slide128.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353982087"/>
              </p:ext>
            </p:extLst>
          </p:nvPr>
        </p:nvGraphicFramePr>
        <p:xfrm>
          <a:off x="147795" y="3531746"/>
          <a:ext cx="2030042" cy="1882638"/>
        </p:xfrm>
        <a:graphic>
          <a:graphicData uri="http://schemas.openxmlformats.org/drawingml/2006/table">
            <a:tbl>
              <a:tblPr firstRow="1" bandRow="1">
                <a:noFill/>
                <a:tableStyleId>{A521BE36-7E6F-4EC9-8D66-1CF97A6895EC}</a:tableStyleId>
              </a:tblPr>
              <a:tblGrid>
                <a:gridCol w="909721">
                  <a:extLst>
                    <a:ext uri="{9D8B030D-6E8A-4147-A177-3AD203B41FA5}">
                      <a16:colId xmlns:a16="http://schemas.microsoft.com/office/drawing/2014/main" val="20000"/>
                    </a:ext>
                  </a:extLst>
                </a:gridCol>
                <a:gridCol w="135583">
                  <a:extLst>
                    <a:ext uri="{9D8B030D-6E8A-4147-A177-3AD203B41FA5}">
                      <a16:colId xmlns:a16="http://schemas.microsoft.com/office/drawing/2014/main" val="976924426"/>
                    </a:ext>
                  </a:extLst>
                </a:gridCol>
                <a:gridCol w="984738">
                  <a:extLst>
                    <a:ext uri="{9D8B030D-6E8A-4147-A177-3AD203B41FA5}">
                      <a16:colId xmlns:a16="http://schemas.microsoft.com/office/drawing/2014/main" val="20001"/>
                    </a:ext>
                  </a:extLst>
                </a:gridCol>
              </a:tblGrid>
              <a:tr h="278213">
                <a:tc gridSpan="3">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28321702"/>
                  </a:ext>
                </a:extLst>
              </a:tr>
              <a:tr h="278213">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a:t>
                      </a:r>
                      <a:endParaRPr lang="en-US" altLang="ko-Kore-KR" sz="1400" b="1" u="none" strike="noStrike" cap="none" dirty="0">
                        <a:solidFill>
                          <a:srgbClr val="00B050"/>
                        </a:solidFill>
                        <a:latin typeface="Calibri"/>
                        <a:ea typeface="Calibri"/>
                        <a:cs typeface="Calibri"/>
                        <a:sym typeface="Calibri"/>
                      </a:endParaRPr>
                    </a:p>
                  </a:txBody>
                  <a:tcPr marL="36000" marR="36000" marT="0" marB="0" anchor="ctr"/>
                </a:tc>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kumimoji="0" lang="en-US" altLang="ko-Kore-KR" sz="1400" b="1" i="0" u="none" strike="noStrike" kern="1200" cap="none" spc="0" normalizeH="0" baseline="0" noProof="0" dirty="0">
                          <a:ln>
                            <a:noFill/>
                          </a:ln>
                          <a:solidFill>
                            <a:srgbClr val="00B050"/>
                          </a:solidFill>
                          <a:effectLst/>
                          <a:uLnTx/>
                          <a:uFillTx/>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1 ENG TAXI </a:t>
                      </a:r>
                      <a:endParaRPr lang="en-US" altLang="ko-Kore-KR" sz="1400" b="1" u="none" strike="noStrike" cap="none" dirty="0">
                        <a:solidFill>
                          <a:srgbClr val="00B050"/>
                        </a:solidFill>
                        <a:latin typeface="Calibri"/>
                        <a:ea typeface="Calibri"/>
                        <a:cs typeface="Calibri"/>
                        <a:sym typeface="Calibri"/>
                      </a:endParaRPr>
                    </a:p>
                  </a:txBody>
                  <a:tcPr marL="36000" marR="36000" marT="0" marB="0" anchor="ctr"/>
                </a:tc>
                <a:tc hMerge="1">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1 ENG TAXI </a:t>
                      </a:r>
                      <a:endParaRPr lang="en-US" altLang="ko-Kore-KR" sz="1400" b="1" u="none" strike="noStrike" cap="none" dirty="0">
                        <a:solidFill>
                          <a:srgbClr val="7030A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966151611"/>
                  </a:ext>
                </a:extLst>
              </a:tr>
              <a:tr h="278213">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LP/HP Air</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Cross Start</a:t>
                      </a: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rPr>
                        <a:t> </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HP StartUnit</a:t>
                      </a: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rPr>
                        <a:t> </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211395324"/>
                  </a:ext>
                </a:extLst>
              </a:tr>
              <a:tr h="278213">
                <a:tc gridSpan="3">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278213">
                <a:tc gridSpan="3">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278213">
                <a:tc gridSpan="2">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hMerge="1">
                  <a:txBody>
                    <a:bodyPr/>
                    <a:lstStyle/>
                    <a:p>
                      <a:pPr marL="0" marR="0" lvl="0" indent="0" algn="ctr" rtl="0">
                        <a:spcBef>
                          <a:spcPts val="0"/>
                        </a:spcBef>
                        <a:spcAft>
                          <a:spcPts val="0"/>
                        </a:spcAft>
                        <a:buNone/>
                      </a:pP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9"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9"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gridSpan="2">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20"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hMerge="1">
                  <a:txBody>
                    <a:bodyPr/>
                    <a:lstStyle/>
                    <a:p>
                      <a:pPr marL="0" marR="0" lvl="0" indent="0" algn="ctr" rtl="0">
                        <a:spcBef>
                          <a:spcPts val="0"/>
                        </a:spcBef>
                        <a:spcAft>
                          <a:spcPts val="0"/>
                        </a:spcAft>
                        <a:buNone/>
                      </a:pP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21"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26.</a:t>
            </a:r>
            <a:r>
              <a:rPr lang="en-US" altLang="ko-KR" sz="1100" b="1" dirty="0">
                <a:solidFill>
                  <a:srgbClr val="92D050"/>
                </a:solidFill>
                <a:latin typeface="Calibri"/>
                <a:ea typeface="Calibri"/>
                <a:cs typeface="Calibri"/>
                <a:sym typeface="Calibri"/>
              </a:rPr>
              <a:t>5</a:t>
            </a:r>
            <a:r>
              <a:rPr lang="en-US" sz="1100" b="1" dirty="0">
                <a:solidFill>
                  <a:srgbClr val="92D050"/>
                </a:solidFill>
                <a:latin typeface="Calibri"/>
                <a:ea typeface="Calibri"/>
                <a:cs typeface="Calibri"/>
                <a:sym typeface="Calibri"/>
              </a:rPr>
              <a:t>.</a:t>
            </a:r>
            <a:r>
              <a:rPr lang="en-US" altLang="ko-KR" sz="1100" b="1" dirty="0">
                <a:solidFill>
                  <a:srgbClr val="92D050"/>
                </a:solidFill>
                <a:latin typeface="Calibri"/>
                <a:ea typeface="Calibri"/>
                <a:cs typeface="Calibri"/>
                <a:sym typeface="Calibri"/>
              </a:rPr>
              <a:t>4</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4794830"/>
              </p:ext>
            </p:extLst>
          </p:nvPr>
        </p:nvGraphicFramePr>
        <p:xfrm>
          <a:off x="98101" y="132865"/>
          <a:ext cx="2132650" cy="3311190"/>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766418">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636193">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636193">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992881808"/>
              </p:ext>
            </p:extLst>
          </p:nvPr>
        </p:nvGraphicFramePr>
        <p:xfrm>
          <a:off x="98101" y="132867"/>
          <a:ext cx="2132650" cy="372732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545462">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98838840"/>
              </p:ext>
            </p:extLst>
          </p:nvPr>
        </p:nvGraphicFramePr>
        <p:xfrm>
          <a:off x="98101" y="86099"/>
          <a:ext cx="2132650" cy="502882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397013">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58501606"/>
                  </a:ext>
                </a:extLst>
              </a:tr>
              <a:tr h="33084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30" action="ppaction://hlinksldjump">
                            <a:extLst>
                              <a:ext uri="{A12FA001-AC4F-418D-AE19-62706E023703}">
                                <ahyp:hlinkClr xmlns:ahyp="http://schemas.microsoft.com/office/drawing/2018/hyperlinkcolor" val="tx"/>
                              </a:ext>
                            </a:extLst>
                          </a:hlinkClick>
                        </a:rPr>
                        <a:t>HAN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54524384"/>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31">
            <a:extLst>
              <a:ext uri="{96DAC541-7B7A-43D3-8B79-37D633B846F1}">
                <asvg:svgBlip xmlns:asvg="http://schemas.microsoft.com/office/drawing/2016/SVG/main" r:embed="rId3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862985738"/>
              </p:ext>
            </p:extLst>
          </p:nvPr>
        </p:nvGraphicFramePr>
        <p:xfrm>
          <a:off x="114028" y="3020216"/>
          <a:ext cx="2100805" cy="225832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148">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39212">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39212">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39212">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39212">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39212">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39212">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39212">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39212">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39212">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39212">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39212">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39212">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39212">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r h="139212">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냐짱</a:t>
                      </a:r>
                      <a:r>
                        <a:rPr lang="en-US" altLang="ko-KR" sz="900" b="0" dirty="0">
                          <a:solidFill>
                            <a:srgbClr val="7030A0"/>
                          </a:solidFill>
                        </a:rPr>
                        <a:t>(</a:t>
                      </a:r>
                      <a:r>
                        <a:rPr lang="ko-KR" altLang="en-US" sz="900" b="0" dirty="0" err="1">
                          <a:solidFill>
                            <a:srgbClr val="7030A0"/>
                          </a:solidFill>
                        </a:rPr>
                        <a:t>나트랑</a:t>
                      </a:r>
                      <a:r>
                        <a:rPr lang="en-US" altLang="ko-KR" sz="900" b="0" dirty="0">
                          <a:solidFill>
                            <a:srgbClr val="7030A0"/>
                          </a:solidFill>
                        </a:rPr>
                        <a:t>)/</a:t>
                      </a:r>
                      <a:r>
                        <a:rPr lang="ko-KR" altLang="en-US" sz="900" b="0" dirty="0" err="1">
                          <a:solidFill>
                            <a:srgbClr val="7030A0"/>
                          </a:solidFill>
                        </a:rPr>
                        <a:t>깜라인</a:t>
                      </a:r>
                      <a:r>
                        <a:rPr lang="en-US" altLang="ko-KR" sz="900" b="0" dirty="0">
                          <a:solidFill>
                            <a:srgbClr val="7030A0"/>
                          </a:solidFill>
                        </a:rPr>
                        <a:t>(</a:t>
                      </a:r>
                      <a:r>
                        <a:rPr lang="ko-KR" altLang="en-US" sz="900" b="0" dirty="0" err="1">
                          <a:solidFill>
                            <a:srgbClr val="7030A0"/>
                          </a:solidFill>
                        </a:rPr>
                        <a:t>캄란</a:t>
                      </a:r>
                      <a:r>
                        <a:rPr lang="en-US" altLang="ko-KR" sz="900" b="0" dirty="0">
                          <a:solidFill>
                            <a:srgbClr val="7030A0"/>
                          </a:solidFill>
                        </a:rPr>
                        <a:t>)</a:t>
                      </a:r>
                      <a:endParaRPr lang="ko-KR" altLang="en-US" sz="900" b="0" dirty="0">
                        <a:solidFill>
                          <a:srgbClr val="7030A0"/>
                        </a:solidFill>
                      </a:endParaRPr>
                    </a:p>
                  </a:txBody>
                  <a:tcPr marL="0" marR="0" marT="0" marB="0" anchor="ctr"/>
                </a:tc>
                <a:extLst>
                  <a:ext uri="{0D108BD9-81ED-4DB2-BD59-A6C34878D82A}">
                    <a16:rowId xmlns:a16="http://schemas.microsoft.com/office/drawing/2014/main" val="1515515746"/>
                  </a:ext>
                </a:extLst>
              </a:tr>
              <a:tr h="139212">
                <a:tc>
                  <a:txBody>
                    <a:bodyPr/>
                    <a:lstStyle/>
                    <a:p>
                      <a:pPr marL="0" marR="0" lvl="0" indent="0" algn="ctr" rtl="0">
                        <a:spcBef>
                          <a:spcPts val="0"/>
                        </a:spcBef>
                        <a:spcAft>
                          <a:spcPts val="0"/>
                        </a:spcAft>
                        <a:buNone/>
                      </a:pPr>
                      <a:r>
                        <a:rPr lang="en-US" sz="900" dirty="0">
                          <a:solidFill>
                            <a:srgbClr val="7030A0"/>
                          </a:solidFill>
                        </a:rPr>
                        <a:t>HAN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하노이</a:t>
                      </a:r>
                      <a:r>
                        <a:rPr lang="en-US" altLang="ko-KR" sz="900" b="0" dirty="0">
                          <a:solidFill>
                            <a:srgbClr val="7030A0"/>
                          </a:solidFill>
                        </a:rPr>
                        <a:t>/</a:t>
                      </a:r>
                      <a:r>
                        <a:rPr lang="ko-KR" altLang="en-US" sz="900" b="0" dirty="0" err="1">
                          <a:solidFill>
                            <a:srgbClr val="7030A0"/>
                          </a:solidFill>
                        </a:rPr>
                        <a:t>노이바이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135923276"/>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2074" y="451253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742169479"/>
              </p:ext>
            </p:extLst>
          </p:nvPr>
        </p:nvGraphicFramePr>
        <p:xfrm>
          <a:off x="98101" y="184953"/>
          <a:ext cx="2132650" cy="204902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854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4083684553"/>
              </p:ext>
            </p:extLst>
          </p:nvPr>
        </p:nvGraphicFramePr>
        <p:xfrm>
          <a:off x="114028" y="3763936"/>
          <a:ext cx="2100805" cy="8518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9636">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10744">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210744">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210744">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4141343106"/>
              </p:ext>
            </p:extLst>
          </p:nvPr>
        </p:nvGraphicFramePr>
        <p:xfrm>
          <a:off x="98101" y="184953"/>
          <a:ext cx="2132650" cy="20983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9951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KTM</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571800154"/>
              </p:ext>
            </p:extLst>
          </p:nvPr>
        </p:nvGraphicFramePr>
        <p:xfrm>
          <a:off x="114028" y="3763935"/>
          <a:ext cx="2100805" cy="835441"/>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5401">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06680">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206680">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206680">
                <a:tc>
                  <a:txBody>
                    <a:bodyPr/>
                    <a:lstStyle/>
                    <a:p>
                      <a:pPr marL="0" marR="0" lvl="0" indent="0" algn="ctr" rtl="0">
                        <a:spcBef>
                          <a:spcPts val="0"/>
                        </a:spcBef>
                        <a:spcAft>
                          <a:spcPts val="0"/>
                        </a:spcAft>
                        <a:buNone/>
                      </a:pPr>
                      <a:r>
                        <a:rPr lang="en-US" sz="900" dirty="0">
                          <a:solidFill>
                            <a:schemeClr val="bg1"/>
                          </a:solidFill>
                        </a:rPr>
                        <a:t>KTM</a:t>
                      </a:r>
                      <a:endParaRPr sz="900" dirty="0">
                        <a:solidFill>
                          <a:schemeClr val="bg1"/>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chemeClr val="bg1"/>
                          </a:solidFill>
                        </a:rPr>
                        <a:t>카트만두</a:t>
                      </a:r>
                      <a:r>
                        <a:rPr lang="en-US" altLang="ko-KR" sz="900" b="0" dirty="0">
                          <a:solidFill>
                            <a:schemeClr val="bg1"/>
                          </a:solidFill>
                        </a:rPr>
                        <a:t>/</a:t>
                      </a:r>
                      <a:r>
                        <a:rPr lang="ko-KR" altLang="en-US" sz="900" b="0" dirty="0" err="1">
                          <a:solidFill>
                            <a:schemeClr val="bg1"/>
                          </a:solidFill>
                        </a:rPr>
                        <a:t>트리부반</a:t>
                      </a:r>
                      <a:endParaRPr lang="ko-KR" altLang="en-US" sz="900" b="0" dirty="0">
                        <a:solidFill>
                          <a:schemeClr val="bg1"/>
                        </a:solidFill>
                      </a:endParaRPr>
                    </a:p>
                  </a:txBody>
                  <a:tcPr marL="0" marR="0" marT="0" marB="0" anchor="ctr"/>
                </a:tc>
                <a:extLst>
                  <a:ext uri="{0D108BD9-81ED-4DB2-BD59-A6C34878D82A}">
                    <a16:rowId xmlns:a16="http://schemas.microsoft.com/office/drawing/2014/main" val="3544170142"/>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1202235768"/>
              </p:ext>
            </p:extLst>
          </p:nvPr>
        </p:nvGraphicFramePr>
        <p:xfrm>
          <a:off x="0" y="1059290"/>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963375807"/>
              </p:ext>
            </p:extLst>
          </p:nvPr>
        </p:nvGraphicFramePr>
        <p:xfrm>
          <a:off x="4472" y="3819790"/>
          <a:ext cx="2310728" cy="172741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IAF(195kts),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xM</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pPr algn="ctr"/>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 07 ICJU</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a:t>
                      </a:r>
                      <a:r>
                        <a:rPr lang="en-US" sz="800" b="1" u="none" strike="noStrike" cap="none" dirty="0">
                          <a:solidFill>
                            <a:srgbClr val="0070C0"/>
                          </a:solidFill>
                        </a:rPr>
                        <a:t>P6(5176’), P5(5882’)-HIRO, </a:t>
                      </a:r>
                      <a:r>
                        <a:rPr lang="en-US" sz="800" u="none" strike="noStrike" cap="none" dirty="0">
                          <a:solidFill>
                            <a:schemeClr val="bg1"/>
                          </a:solidFill>
                        </a:rPr>
                        <a:t>P4(6840’-REQ ATC)</a:t>
                      </a:r>
                      <a:endParaRPr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a:t>
                      </a:r>
                      <a:r>
                        <a:rPr lang="en-US" sz="800" b="1" u="none" strike="noStrike" cap="none" dirty="0">
                          <a:solidFill>
                            <a:srgbClr val="0070C0"/>
                          </a:solidFill>
                        </a:rPr>
                        <a:t>P7(5219’), P8(5882’)</a:t>
                      </a:r>
                      <a:r>
                        <a:rPr lang="en-US" altLang="ko-Kore-KR" sz="800" b="1" u="none" strike="noStrike" cap="none" dirty="0">
                          <a:solidFill>
                            <a:srgbClr val="0070C0"/>
                          </a:solidFill>
                        </a:rPr>
                        <a:t>-HIRO, </a:t>
                      </a:r>
                      <a:r>
                        <a:rPr lang="en-US" sz="800" u="none" strike="noStrike" cap="none" dirty="0">
                          <a:solidFill>
                            <a:schemeClr val="bg1"/>
                          </a:solidFill>
                        </a:rPr>
                        <a:t>P10(7524’-REQ ATC)</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3011690"/>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895920203"/>
              </p:ext>
            </p:extLst>
          </p:nvPr>
        </p:nvGraphicFramePr>
        <p:xfrm>
          <a:off x="0" y="1070883"/>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RW25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RW31 Holding Sign</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037088642"/>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YJU R271, P73 /2, P518 068, 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 </a:t>
                      </a:r>
                    </a:p>
                    <a:p>
                      <a:pPr marL="0" marR="0" lvl="0" indent="0" algn="l" rtl="0">
                        <a:spcBef>
                          <a:spcPts val="0"/>
                        </a:spcBef>
                        <a:spcAft>
                          <a:spcPts val="0"/>
                        </a:spcAft>
                        <a:buNone/>
                      </a:pPr>
                      <a:r>
                        <a:rPr lang="en-US" sz="800" b="1" dirty="0">
                          <a:solidFill>
                            <a:srgbClr val="0070C0"/>
                          </a:solidFill>
                          <a:latin typeface="Calibri"/>
                          <a:ea typeface="Calibri"/>
                          <a:cs typeface="Calibri"/>
                          <a:sym typeface="Calibri"/>
                        </a:rPr>
                        <a:t>RTE 1 : D3-D6-N1 H.S P5 (BOKUM, NUNPI, SAMKU)</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52179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993379"/>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79773020"/>
              </p:ext>
            </p:extLst>
          </p:nvPr>
        </p:nvGraphicFramePr>
        <p:xfrm>
          <a:off x="0" y="1049052"/>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398394429"/>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YJU R271, P73 /2, P518 068,278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RTE 1 : D3-D6-N1 H.S P5 (BOKUM, NUNPI, SAMKU)</a:t>
                      </a:r>
                      <a:endParaRPr lang="en-US" altLang="ko-Kore-KR" sz="6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2014079777"/>
              </p:ext>
            </p:extLst>
          </p:nvPr>
        </p:nvGraphicFramePr>
        <p:xfrm>
          <a:off x="0" y="639107"/>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Caution RW31 Holding Sign</a:t>
                      </a:r>
                      <a:endParaRPr kumimoji="0" lang="en-US" altLang="ko-Kore-KR" sz="458" b="1" i="0" u="none" strike="noStrike" kern="1200" cap="none" spc="0" normalizeH="0" baseline="0" noProof="0" dirty="0">
                        <a:ln>
                          <a:noFill/>
                        </a:ln>
                        <a:solidFill>
                          <a:srgbClr val="0070C0"/>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2084933"/>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1051214526"/>
              </p:ext>
            </p:extLst>
          </p:nvPr>
        </p:nvGraphicFramePr>
        <p:xfrm>
          <a:off x="4472" y="3801933"/>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IAF(195kts),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 07 ICJU</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07 : </a:t>
                      </a:r>
                      <a:r>
                        <a:rPr lang="en-US" altLang="ko-Kore-KR" sz="800" b="1" u="none" strike="noStrike" cap="none" dirty="0">
                          <a:solidFill>
                            <a:srgbClr val="0070C0"/>
                          </a:solidFill>
                        </a:rPr>
                        <a:t>P6(5176’), P5(5882’)-HIRO, </a:t>
                      </a:r>
                      <a:r>
                        <a:rPr lang="en-US" altLang="ko-Kore-KR" sz="800" u="none" strike="noStrike" cap="none" dirty="0">
                          <a:solidFill>
                            <a:schemeClr val="bg1"/>
                          </a:solidFill>
                        </a:rPr>
                        <a:t>P4(6840’-REQ ATC)</a:t>
                      </a:r>
                      <a:endParaRPr lang="en-US" altLang="ko-Kore-KR" sz="600"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25 : </a:t>
                      </a:r>
                      <a:r>
                        <a:rPr lang="en-US" altLang="ko-Kore-KR" sz="800" b="1" u="none" strike="noStrike" cap="none" dirty="0">
                          <a:solidFill>
                            <a:srgbClr val="0070C0"/>
                          </a:solidFill>
                        </a:rPr>
                        <a:t>P7(5219’), P8(5882’)-HIRO, </a:t>
                      </a:r>
                      <a:r>
                        <a:rPr lang="en-US" altLang="ko-Kore-KR" sz="800" u="none" strike="noStrike" cap="none" dirty="0">
                          <a:solidFill>
                            <a:schemeClr val="bg1"/>
                          </a:solidFill>
                        </a:rPr>
                        <a:t>P10(7524’-REQ ATC)</a:t>
                      </a:r>
                      <a:r>
                        <a:rPr lang="en-US" altLang="ko-Kore-KR" sz="800" u="none" strike="noStrike" cap="none" dirty="0">
                          <a:solidFill>
                            <a:srgbClr val="0070C0"/>
                          </a:solidFill>
                        </a:rPr>
                        <a:t> </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229178568"/>
              </p:ext>
            </p:extLst>
          </p:nvPr>
        </p:nvGraphicFramePr>
        <p:xfrm>
          <a:off x="-2501" y="16505"/>
          <a:ext cx="2328850" cy="60862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28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43260">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p>
                    <a:p>
                      <a:pPr marL="0" marR="0" lvl="0" indent="0" algn="ctr" rtl="0">
                        <a:spcBef>
                          <a:spcPts val="0"/>
                        </a:spcBef>
                        <a:spcAft>
                          <a:spcPts val="0"/>
                        </a:spcAft>
                        <a:buNone/>
                      </a:pPr>
                      <a:r>
                        <a:rPr lang="en-US" sz="900" b="1" dirty="0">
                          <a:solidFill>
                            <a:srgbClr val="7030A0"/>
                          </a:solidFill>
                        </a:rPr>
                        <a:t>Terminal 3</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16062"/>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170909396"/>
              </p:ext>
            </p:extLst>
          </p:nvPr>
        </p:nvGraphicFramePr>
        <p:xfrm>
          <a:off x="-2501" y="16504"/>
          <a:ext cx="2328850" cy="61053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4764">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45967">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p>
                    <a:p>
                      <a:pPr marL="0" marR="0" lvl="0" indent="0" algn="ctr" rtl="0">
                        <a:spcBef>
                          <a:spcPts val="0"/>
                        </a:spcBef>
                        <a:spcAft>
                          <a:spcPts val="0"/>
                        </a:spcAft>
                        <a:buNone/>
                      </a:pPr>
                      <a:r>
                        <a:rPr lang="en-US" sz="900" b="1" dirty="0">
                          <a:solidFill>
                            <a:srgbClr val="7030A0"/>
                          </a:solidFill>
                        </a:rPr>
                        <a:t>Gate 9</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874432713"/>
              </p:ext>
            </p:extLst>
          </p:nvPr>
        </p:nvGraphicFramePr>
        <p:xfrm>
          <a:off x="-2501" y="16504"/>
          <a:ext cx="2328850" cy="61353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776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50209">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p>
                    <a:p>
                      <a:pPr marL="0" marR="0" lvl="0" indent="0" algn="ctr" rtl="0">
                        <a:spcBef>
                          <a:spcPts val="0"/>
                        </a:spcBef>
                        <a:spcAft>
                          <a:spcPts val="0"/>
                        </a:spcAft>
                        <a:buNone/>
                      </a:pPr>
                      <a:r>
                        <a:rPr lang="en-US" sz="900" b="1" dirty="0">
                          <a:solidFill>
                            <a:srgbClr val="7030A0"/>
                          </a:solidFill>
                        </a:rPr>
                        <a:t>Gate 21-27</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662569253"/>
              </p:ext>
            </p:extLst>
          </p:nvPr>
        </p:nvGraphicFramePr>
        <p:xfrm>
          <a:off x="-2501" y="16504"/>
          <a:ext cx="2328850" cy="6047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898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37791">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p>
                    <a:p>
                      <a:pPr marL="0" marR="0" lvl="0" indent="0" algn="ctr" rtl="0">
                        <a:spcBef>
                          <a:spcPts val="0"/>
                        </a:spcBef>
                        <a:spcAft>
                          <a:spcPts val="0"/>
                        </a:spcAft>
                        <a:buNone/>
                      </a:pPr>
                      <a:r>
                        <a:rPr lang="en-US" sz="900" b="1" dirty="0">
                          <a:solidFill>
                            <a:srgbClr val="7030A0"/>
                          </a:solidFill>
                        </a:rPr>
                        <a:t>Terminal 3</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950853417"/>
              </p:ext>
            </p:extLst>
          </p:nvPr>
        </p:nvGraphicFramePr>
        <p:xfrm>
          <a:off x="-2501" y="16504"/>
          <a:ext cx="2328850" cy="61053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4764">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345967">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p>
                    <a:p>
                      <a:pPr marL="0" marR="0" lvl="0" indent="0" algn="ctr" rtl="0">
                        <a:spcBef>
                          <a:spcPts val="0"/>
                        </a:spcBef>
                        <a:spcAft>
                          <a:spcPts val="0"/>
                        </a:spcAft>
                        <a:buNone/>
                      </a:pPr>
                      <a:r>
                        <a:rPr lang="en-US" sz="900" b="1" dirty="0">
                          <a:solidFill>
                            <a:srgbClr val="7030A0"/>
                          </a:solidFill>
                        </a:rPr>
                        <a:t>Gate 53-59</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2637987"/>
              </p:ext>
            </p:extLst>
          </p:nvPr>
        </p:nvGraphicFramePr>
        <p:xfrm>
          <a:off x="-2501" y="16504"/>
          <a:ext cx="2328850" cy="6172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75952">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41283">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800" dirty="0"/>
                        <a:t>    SWISSPORT OPER 132.05</a:t>
                      </a:r>
                    </a:p>
                    <a:p>
                      <a:pPr marL="0" marR="0" lvl="0" indent="0" algn="ctr" rtl="0">
                        <a:spcBef>
                          <a:spcPts val="0"/>
                        </a:spcBef>
                        <a:spcAft>
                          <a:spcPts val="0"/>
                        </a:spcAft>
                        <a:buNone/>
                      </a:pPr>
                      <a:r>
                        <a:rPr lang="en-US" sz="900" b="1" dirty="0">
                          <a:solidFill>
                            <a:srgbClr val="7030A0"/>
                          </a:solidFill>
                        </a:rPr>
                        <a:t>Gate 19-24</a:t>
                      </a:r>
                      <a:endParaRPr sz="800" b="1" dirty="0">
                        <a:solidFill>
                          <a:srgbClr val="7030A0"/>
                        </a:solidFill>
                      </a:endParaRPr>
                    </a:p>
                  </a:txBody>
                  <a:tcPr marL="0" marR="0" marT="0" marB="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24292" y="29899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594337016"/>
              </p:ext>
            </p:extLst>
          </p:nvPr>
        </p:nvGraphicFramePr>
        <p:xfrm>
          <a:off x="-2501" y="16505"/>
          <a:ext cx="2328850" cy="61309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732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49589">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b="1" dirty="0">
                          <a:solidFill>
                            <a:srgbClr val="7030A0"/>
                          </a:solidFill>
                        </a:rPr>
                        <a:t>Gate 63-71</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4371100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 131.6</a:t>
                      </a:r>
                    </a:p>
                    <a:p>
                      <a:pPr marL="0" marR="0" lvl="0" indent="0" algn="ctr" rtl="0">
                        <a:spcBef>
                          <a:spcPts val="0"/>
                        </a:spcBef>
                        <a:spcAft>
                          <a:spcPts val="0"/>
                        </a:spcAft>
                        <a:buNone/>
                      </a:pPr>
                      <a:r>
                        <a:rPr lang="en-US" sz="900" b="1" dirty="0">
                          <a:solidFill>
                            <a:srgbClr val="7030A0"/>
                          </a:solidFill>
                        </a:rPr>
                        <a:t>Bay N5-N12</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900272080"/>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74602">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1969">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Air China Beijing 132.0</a:t>
                      </a:r>
                    </a:p>
                    <a:p>
                      <a:pPr marL="0" marR="0" lvl="0" indent="0" algn="ctr" rtl="0">
                        <a:spcBef>
                          <a:spcPts val="0"/>
                        </a:spcBef>
                        <a:spcAft>
                          <a:spcPts val="0"/>
                        </a:spcAft>
                        <a:buNone/>
                      </a:pPr>
                      <a:r>
                        <a:rPr lang="en-US" sz="900" b="1" dirty="0">
                          <a:solidFill>
                            <a:srgbClr val="7030A0"/>
                          </a:solidFill>
                        </a:rPr>
                        <a:t>Parking Bay 205-208</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31016" y="25192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1686212568"/>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b="1" dirty="0">
                          <a:solidFill>
                            <a:srgbClr val="7030A0"/>
                          </a:solidFill>
                        </a:rPr>
                        <a:t>Parking Bay 331-335</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51188" y="21830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229626342"/>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 RNAV</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en-US" altLang="ko-KR" sz="800" dirty="0"/>
                        <a:t>,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444131921"/>
              </p:ext>
            </p:extLst>
          </p:nvPr>
        </p:nvGraphicFramePr>
        <p:xfrm>
          <a:off x="-2501" y="3252"/>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China Southern 132.0</a:t>
                      </a:r>
                    </a:p>
                    <a:p>
                      <a:pPr marL="0" marR="0" lvl="0" indent="0" algn="ctr" rtl="0">
                        <a:spcBef>
                          <a:spcPts val="0"/>
                        </a:spcBef>
                        <a:spcAft>
                          <a:spcPts val="0"/>
                        </a:spcAft>
                        <a:buNone/>
                      </a:pPr>
                      <a:r>
                        <a:rPr lang="en-US" sz="900" b="1" dirty="0">
                          <a:solidFill>
                            <a:srgbClr val="7030A0"/>
                          </a:solidFill>
                        </a:rPr>
                        <a:t>Parking Bay 147</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36522"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771811489"/>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OC 132.0</a:t>
                      </a:r>
                    </a:p>
                    <a:p>
                      <a:pPr marL="0" marR="0" lvl="0" indent="0" algn="ctr" rtl="0">
                        <a:spcBef>
                          <a:spcPts val="0"/>
                        </a:spcBef>
                        <a:spcAft>
                          <a:spcPts val="0"/>
                        </a:spcAft>
                        <a:buNone/>
                      </a:pPr>
                      <a:r>
                        <a:rPr lang="en-US" sz="900" b="1" dirty="0">
                          <a:solidFill>
                            <a:srgbClr val="7030A0"/>
                          </a:solidFill>
                        </a:rPr>
                        <a:t>Parking Bay 556-561</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03880"/>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4337245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TSN 132.0</a:t>
                      </a:r>
                    </a:p>
                    <a:p>
                      <a:pPr marL="0" marR="0" lvl="0" indent="0" algn="ctr" rtl="0">
                        <a:spcBef>
                          <a:spcPts val="0"/>
                        </a:spcBef>
                        <a:spcAft>
                          <a:spcPts val="0"/>
                        </a:spcAft>
                        <a:buNone/>
                      </a:pPr>
                      <a:r>
                        <a:rPr lang="en-US" sz="900" b="1" dirty="0">
                          <a:solidFill>
                            <a:srgbClr val="7030A0"/>
                          </a:solidFill>
                        </a:rPr>
                        <a:t>Parking Bay 105-107</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24293"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32473868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Air China Beijing 132.0</a:t>
                      </a:r>
                    </a:p>
                    <a:p>
                      <a:pPr marL="0" marR="0" lvl="0" indent="0" algn="ctr" rtl="0">
                        <a:spcBef>
                          <a:spcPts val="0"/>
                        </a:spcBef>
                        <a:spcAft>
                          <a:spcPts val="0"/>
                        </a:spcAft>
                        <a:buNone/>
                      </a:pPr>
                      <a:r>
                        <a:rPr lang="en-US" sz="900" b="1" dirty="0">
                          <a:solidFill>
                            <a:srgbClr val="7030A0"/>
                          </a:solidFill>
                        </a:rPr>
                        <a:t>Parking Bay 131-141</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24292"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2303186036"/>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[336/156]</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r>
                        <a:rPr lang="en-US" altLang="ko-KR" sz="800" dirty="0">
                          <a:solidFill>
                            <a:srgbClr val="FFC000"/>
                          </a:solidFill>
                        </a:rPr>
                        <a:t>!!</a:t>
                      </a:r>
                      <a:r>
                        <a:rPr lang="en-US" sz="800" dirty="0">
                          <a:solidFill>
                            <a:srgbClr val="FFC000"/>
                          </a:solidFill>
                        </a:rPr>
                        <a:t>)</a:t>
                      </a:r>
                    </a:p>
                    <a:p>
                      <a:pPr marL="0" marR="0" lvl="0" indent="0" algn="ctr" rtl="0">
                        <a:spcBef>
                          <a:spcPts val="0"/>
                        </a:spcBef>
                        <a:spcAft>
                          <a:spcPts val="0"/>
                        </a:spcAft>
                        <a:buNone/>
                      </a:pPr>
                      <a:r>
                        <a:rPr lang="en-US" sz="800" dirty="0">
                          <a:solidFill>
                            <a:srgbClr val="FFC000"/>
                          </a:solidFill>
                        </a:rPr>
                        <a:t>Do not Cross HKG Boundary</a:t>
                      </a:r>
                      <a:r>
                        <a:rPr lang="ko-KR" altLang="en-US" sz="800" dirty="0">
                          <a:solidFill>
                            <a:srgbClr val="FFC000"/>
                          </a:solidFill>
                        </a:rPr>
                        <a:t> </a:t>
                      </a:r>
                      <a:r>
                        <a:rPr lang="en-US" altLang="ko-KR" sz="800" dirty="0">
                          <a:solidFill>
                            <a:srgbClr val="FFC000"/>
                          </a:solidFill>
                        </a:rPr>
                        <a:t>(No more)</a:t>
                      </a:r>
                      <a:endParaRPr lang="en-US" sz="80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15/16R</a:t>
                      </a:r>
                      <a:r>
                        <a:rPr lang="en-US" altLang="ko-Kore-KR" sz="800" b="0" dirty="0">
                          <a:solidFill>
                            <a:schemeClr val="bg1"/>
                          </a:solidFill>
                        </a:rPr>
                        <a:t>/16L</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33/34L</a:t>
                      </a:r>
                      <a:r>
                        <a:rPr lang="en-US" altLang="ko-KR" sz="800" b="0" dirty="0">
                          <a:solidFill>
                            <a:schemeClr val="bg1"/>
                          </a:solidFill>
                        </a:rPr>
                        <a:t>/34R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dk1"/>
                          </a:solidFill>
                        </a:rPr>
                        <a:t>16R </a:t>
                      </a:r>
                      <a:r>
                        <a:rPr lang="en-US" sz="800" b="0" dirty="0">
                          <a:solidFill>
                            <a:schemeClr val="dk1"/>
                          </a:solidFill>
                        </a:rPr>
                        <a:t>: H6(5449’), H8(6676’), 34L : H6(5413’), H5(6561’)</a:t>
                      </a:r>
                      <a:endParaRPr sz="800" b="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16L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2813244488"/>
              </p:ext>
            </p:extLst>
          </p:nvPr>
        </p:nvGraphicFramePr>
        <p:xfrm>
          <a:off x="-2501" y="3252"/>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SZX </a:t>
                      </a:r>
                      <a:r>
                        <a:rPr lang="en-US" sz="800" dirty="0" err="1"/>
                        <a:t>Disp</a:t>
                      </a:r>
                      <a:r>
                        <a:rPr lang="en-US" sz="800" dirty="0"/>
                        <a:t> Southern131.3</a:t>
                      </a:r>
                    </a:p>
                    <a:p>
                      <a:pPr marL="0" marR="0" lvl="0" indent="0" algn="ctr" rtl="0">
                        <a:spcBef>
                          <a:spcPts val="0"/>
                        </a:spcBef>
                        <a:spcAft>
                          <a:spcPts val="0"/>
                        </a:spcAft>
                        <a:buNone/>
                      </a:pPr>
                      <a:r>
                        <a:rPr lang="en-US" sz="900" b="1" dirty="0" err="1">
                          <a:solidFill>
                            <a:srgbClr val="7030A0"/>
                          </a:solidFill>
                        </a:rPr>
                        <a:t>Paking</a:t>
                      </a:r>
                      <a:r>
                        <a:rPr lang="en-US" sz="900" b="1" dirty="0">
                          <a:solidFill>
                            <a:srgbClr val="7030A0"/>
                          </a:solidFill>
                        </a:rPr>
                        <a:t> Bay 301-319</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17403"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865898652"/>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16L</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156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/34R</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356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VOR</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89212532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 131.25</a:t>
                      </a:r>
                    </a:p>
                    <a:p>
                      <a:pPr marL="0" marR="0" lvl="0" indent="0" algn="ctr" rtl="0">
                        <a:spcBef>
                          <a:spcPts val="0"/>
                        </a:spcBef>
                        <a:spcAft>
                          <a:spcPts val="0"/>
                        </a:spcAft>
                        <a:buNone/>
                      </a:pPr>
                      <a:r>
                        <a:rPr lang="en-US" sz="900" b="1" dirty="0">
                          <a:solidFill>
                            <a:srgbClr val="7030A0"/>
                          </a:solidFill>
                        </a:rPr>
                        <a:t>Stand F,G 1-5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55294582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 131.25</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7030A0"/>
                          </a:solidFill>
                          <a:effectLst/>
                          <a:uLnTx/>
                          <a:uFillTx/>
                          <a:latin typeface="Calibri"/>
                          <a:cs typeface="Calibri"/>
                        </a:rPr>
                        <a:t>Stand F,G 1-5</a:t>
                      </a:r>
                      <a:endParaRPr lang="en-US"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3736932417"/>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r>
                        <a:rPr lang="en-US" sz="900" dirty="0"/>
                        <a:t> 131.22</a:t>
                      </a:r>
                    </a:p>
                    <a:p>
                      <a:pPr marL="0" marR="0" lvl="0" indent="0" algn="ctr" rtl="0">
                        <a:spcBef>
                          <a:spcPts val="0"/>
                        </a:spcBef>
                        <a:spcAft>
                          <a:spcPts val="0"/>
                        </a:spcAft>
                        <a:buNone/>
                      </a:pPr>
                      <a:r>
                        <a:rPr lang="en-US" sz="900" b="1" dirty="0">
                          <a:solidFill>
                            <a:srgbClr val="7030A0"/>
                          </a:solidFill>
                        </a:rPr>
                        <a:t>Gate G18-G21</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61940"/>
            <a:ext cx="1697581" cy="621196"/>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 GUTUP (SIN 6556/8942) </a:t>
            </a:r>
          </a:p>
          <a:p>
            <a:pPr>
              <a:lnSpc>
                <a:spcPct val="150000"/>
              </a:lnSpc>
            </a:pPr>
            <a:r>
              <a:rPr kumimoji="1" lang="en-US" altLang="ko-Kore-KR" sz="700" b="1" u="sng" dirty="0">
                <a:latin typeface="Gulim" panose="020B0600000101010101" pitchFamily="34" charset="-127"/>
                <a:ea typeface="Gulim" panose="020B0600000101010101" pitchFamily="34" charset="-127"/>
              </a:rPr>
              <a:t>HCM AKMON 133.05 - UDOSI 120.7 </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288921511"/>
              </p:ext>
            </p:extLst>
          </p:nvPr>
        </p:nvGraphicFramePr>
        <p:xfrm>
          <a:off x="-2500" y="3282478"/>
          <a:ext cx="2321630" cy="228025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00B050"/>
                          </a:solidFill>
                        </a:rPr>
                        <a:t>VOR 17 Available</a:t>
                      </a:r>
                      <a:endParaRPr lang="en-US" altLang="ko-Kore-KR" sz="800" b="1" dirty="0">
                        <a:solidFill>
                          <a:srgbClr val="00B05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p>
                    <a:p>
                      <a:pPr marL="0" marR="0" lvl="0" indent="0" algn="ctr" rtl="0">
                        <a:spcBef>
                          <a:spcPts val="0"/>
                        </a:spcBef>
                        <a:spcAft>
                          <a:spcPts val="0"/>
                        </a:spcAft>
                        <a:buNone/>
                      </a:pPr>
                      <a:r>
                        <a:rPr lang="en-US" sz="800" b="1" dirty="0">
                          <a:solidFill>
                            <a:srgbClr val="C00000"/>
                          </a:solidFill>
                        </a:rPr>
                        <a:t>3.5</a:t>
                      </a:r>
                      <a:endParaRPr sz="800" b="1" dirty="0">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0070C0"/>
                          </a:solidFill>
                        </a:rPr>
                        <a:t>BUNTA x D</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70C0"/>
                          </a:solidFill>
                        </a:rPr>
                        <a:t>BUNTA x E</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DAN</a:t>
                      </a:r>
                    </a:p>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D057O</a:t>
                      </a:r>
                      <a:endParaRPr lang="ko-Kore-KR" altLang="en-US" dirty="0"/>
                    </a:p>
                  </a:txBody>
                  <a:tcPr marL="36000" marR="36000" marT="36000" marB="36000" anchor="ctr"/>
                </a:tc>
                <a:tc>
                  <a:txBody>
                    <a:bodyPr/>
                    <a:lstStyle/>
                    <a:p>
                      <a:pPr algn="ctr"/>
                      <a:r>
                        <a:rPr lang="en-US" sz="800" b="1" dirty="0"/>
                        <a:t>VOR Z 17R</a:t>
                      </a:r>
                      <a:r>
                        <a:rPr lang="en-US" sz="800" b="0" dirty="0"/>
                        <a:t>/L</a:t>
                      </a:r>
                      <a:r>
                        <a:rPr lang="en-US" sz="800" b="1" dirty="0"/>
                        <a:t> </a:t>
                      </a:r>
                    </a:p>
                    <a:p>
                      <a:pPr algn="ctr"/>
                      <a:r>
                        <a:rPr lang="en-US" altLang="ko-Kore-KR" sz="800" b="1" dirty="0"/>
                        <a:t>VOR Y 17R</a:t>
                      </a:r>
                      <a:r>
                        <a:rPr lang="en-US" altLang="ko-Kore-KR" sz="800" b="0" dirty="0"/>
                        <a:t>/L</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1317867065"/>
              </p:ext>
            </p:extLst>
          </p:nvPr>
        </p:nvGraphicFramePr>
        <p:xfrm>
          <a:off x="-2501" y="9878"/>
          <a:ext cx="2328850" cy="611708"/>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5938">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4762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p>
                    <a:p>
                      <a:pPr marL="0" marR="0" lvl="0" indent="0" algn="ctr" rtl="0">
                        <a:spcBef>
                          <a:spcPts val="0"/>
                        </a:spcBef>
                        <a:spcAft>
                          <a:spcPts val="0"/>
                        </a:spcAft>
                        <a:buNone/>
                      </a:pPr>
                      <a:r>
                        <a:rPr lang="en-US" sz="900" b="1" dirty="0">
                          <a:solidFill>
                            <a:srgbClr val="7030A0"/>
                          </a:solidFill>
                        </a:rPr>
                        <a:t>Bay 14-20</a:t>
                      </a:r>
                      <a:endParaRPr lang="en-US" sz="7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0181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019254166"/>
              </p:ext>
            </p:extLst>
          </p:nvPr>
        </p:nvGraphicFramePr>
        <p:xfrm>
          <a:off x="-2501" y="9878"/>
          <a:ext cx="2328850" cy="611708"/>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5938">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4762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b="1" dirty="0">
                          <a:solidFill>
                            <a:srgbClr val="7030A0"/>
                          </a:solidFill>
                        </a:rPr>
                        <a:t>Bay 9-16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440513578"/>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t>
                      </a:r>
                      <a:r>
                        <a:rPr lang="en-US" sz="900" b="1" dirty="0">
                          <a:solidFill>
                            <a:srgbClr val="7030A0"/>
                          </a:solidFill>
                        </a:rPr>
                        <a:t>Bay 5-7</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4002333095"/>
              </p:ext>
            </p:extLst>
          </p:nvPr>
        </p:nvGraphicFramePr>
        <p:xfrm>
          <a:off x="-2501" y="16505"/>
          <a:ext cx="2328850" cy="7010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90834">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370886">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p>
                      <a:pPr marL="0" marR="0" lvl="0" indent="0" algn="ctr" rtl="0">
                        <a:spcBef>
                          <a:spcPts val="0"/>
                        </a:spcBef>
                        <a:spcAft>
                          <a:spcPts val="0"/>
                        </a:spcAft>
                        <a:buNone/>
                      </a:pPr>
                      <a:r>
                        <a:rPr lang="en-US" sz="900" b="1" dirty="0">
                          <a:solidFill>
                            <a:srgbClr val="7030A0"/>
                          </a:solidFill>
                        </a:rPr>
                        <a:t>Stand A15-25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extLst>
              <p:ext uri="{D42A27DB-BD31-4B8C-83A1-F6EECF244321}">
                <p14:modId xmlns:p14="http://schemas.microsoft.com/office/powerpoint/2010/main" val="3623987708"/>
              </p:ext>
            </p:extLst>
          </p:nvPr>
        </p:nvGraphicFramePr>
        <p:xfrm>
          <a:off x="1" y="723591"/>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08748979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t>
                      </a:r>
                      <a:r>
                        <a:rPr lang="en-US" sz="900" b="1" dirty="0">
                          <a:solidFill>
                            <a:srgbClr val="7030A0"/>
                          </a:solidFill>
                        </a:rPr>
                        <a:t>Bay 107-123</a:t>
                      </a:r>
                      <a:endParaRPr lang="en-US" sz="8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70327014"/>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a:t>
                      </a:r>
                      <a:r>
                        <a:rPr lang="en-US" sz="900" dirty="0" err="1"/>
                        <a:t>Oper</a:t>
                      </a:r>
                      <a:r>
                        <a:rPr lang="en-US" sz="900" dirty="0"/>
                        <a:t> 131.3</a:t>
                      </a:r>
                    </a:p>
                    <a:p>
                      <a:pPr marL="0" marR="0" lvl="0" indent="0" algn="ctr" rtl="0">
                        <a:spcBef>
                          <a:spcPts val="0"/>
                        </a:spcBef>
                        <a:spcAft>
                          <a:spcPts val="0"/>
                        </a:spcAft>
                        <a:buNone/>
                      </a:pPr>
                      <a:r>
                        <a:rPr lang="en-US" sz="900" b="1" dirty="0">
                          <a:solidFill>
                            <a:srgbClr val="7030A0"/>
                          </a:solidFill>
                        </a:rPr>
                        <a:t>Bay A1-9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881494988"/>
              </p:ext>
            </p:extLst>
          </p:nvPr>
        </p:nvGraphicFramePr>
        <p:xfrm>
          <a:off x="-2501" y="16504"/>
          <a:ext cx="2328850" cy="729308"/>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1618">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44112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D-ATIS Avail BUT</a:t>
                      </a:r>
                    </a:p>
                    <a:p>
                      <a:pPr marL="0" marR="0" lvl="0" indent="0" algn="ctr" rtl="0">
                        <a:spcBef>
                          <a:spcPts val="0"/>
                        </a:spcBef>
                        <a:spcAft>
                          <a:spcPts val="0"/>
                        </a:spcAft>
                        <a:buNone/>
                      </a:pPr>
                      <a:r>
                        <a:rPr lang="en-US" sz="900" b="1" dirty="0">
                          <a:solidFill>
                            <a:srgbClr val="7030A0"/>
                          </a:solidFill>
                        </a:rPr>
                        <a:t>Stand 6,7</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extLst>
              <p:ext uri="{D42A27DB-BD31-4B8C-83A1-F6EECF244321}">
                <p14:modId xmlns:p14="http://schemas.microsoft.com/office/powerpoint/2010/main" val="1259177223"/>
              </p:ext>
            </p:extLst>
          </p:nvPr>
        </p:nvGraphicFramePr>
        <p:xfrm>
          <a:off x="1" y="7167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2963030864"/>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 </a:t>
                      </a:r>
                      <a:r>
                        <a:rPr lang="en-US" sz="800" u="none" strike="noStrike" cap="none" dirty="0">
                          <a:solidFill>
                            <a:srgbClr val="FFC000"/>
                          </a:solidFill>
                        </a:rPr>
                        <a:t>(RTG)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solidFill>
                            <a:srgbClr val="C00000"/>
                          </a:solidFill>
                        </a:rPr>
                        <a:t>SEL</a:t>
                      </a:r>
                      <a:r>
                        <a:rPr lang="en-US" sz="800" b="1" u="none" strike="noStrike" cap="none" dirty="0"/>
                        <a:t> </a:t>
                      </a:r>
                    </a:p>
                    <a:p>
                      <a:pPr marL="0" marR="0" lvl="0" indent="0" algn="ctr" rtl="0">
                        <a:spcBef>
                          <a:spcPts val="0"/>
                        </a:spcBef>
                        <a:spcAft>
                          <a:spcPts val="0"/>
                        </a:spcAft>
                        <a:buNone/>
                      </a:pPr>
                      <a:r>
                        <a:rPr lang="en-US" sz="800" b="1" u="none" strike="noStrike" cap="none" dirty="0"/>
                        <a:t>RW21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SEL</a:t>
                      </a:r>
                      <a:r>
                        <a:rPr lang="en-US" sz="800" b="1" u="none" strike="noStrike" cap="none" dirty="0"/>
                        <a:t> HD 214 </a:t>
                      </a:r>
                      <a:r>
                        <a:rPr lang="en-US" sz="800" b="1" u="none" strike="noStrike" cap="none" dirty="0">
                          <a:solidFill>
                            <a:srgbClr val="0070C0"/>
                          </a:solidFill>
                        </a:rPr>
                        <a:t>ATC </a:t>
                      </a:r>
                      <a:r>
                        <a:rPr lang="en-US" altLang="ko-Kore-KR" sz="800" b="1" u="none" strike="noStrike" cap="none" dirty="0">
                          <a:solidFill>
                            <a:srgbClr val="F28943"/>
                          </a:solidFill>
                        </a:rPr>
                        <a:t>TA 6000</a:t>
                      </a:r>
                      <a:endParaRPr lang="en-US" altLang="ko-Kore-KR" sz="800" b="1" u="none" strike="noStrike" cap="none" dirty="0">
                        <a:solidFill>
                          <a:srgbClr val="AA47F5"/>
                        </a:solidFill>
                      </a:endParaRP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solidFill>
                            <a:srgbClr val="C00000"/>
                          </a:solidFill>
                        </a:rPr>
                        <a:t>SEL</a:t>
                      </a:r>
                    </a:p>
                    <a:p>
                      <a:pPr algn="ctr"/>
                      <a:r>
                        <a:rPr lang="en-US" altLang="ko-KR" sz="800" b="1" u="none" strike="noStrike" cap="none" dirty="0"/>
                        <a:t>RW03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pPr algn="ctr"/>
                      <a:r>
                        <a:rPr lang="en-US" sz="800" b="1" u="none" strike="noStrike" cap="none" dirty="0">
                          <a:solidFill>
                            <a:srgbClr val="C00000"/>
                          </a:solidFill>
                        </a:rPr>
                        <a:t>SEL</a:t>
                      </a:r>
                      <a:r>
                        <a:rPr lang="en-US" sz="800" b="1" u="none" strike="noStrike" cap="none" dirty="0"/>
                        <a:t> HD 034 </a:t>
                      </a:r>
                      <a:r>
                        <a:rPr lang="en-US" sz="800" b="1" u="none" strike="noStrike" cap="none" dirty="0">
                          <a:solidFill>
                            <a:srgbClr val="0070C0"/>
                          </a:solidFill>
                        </a:rPr>
                        <a:t>ATC </a:t>
                      </a:r>
                      <a:r>
                        <a:rPr lang="en-US" altLang="ko-Kore-KR" sz="800" b="1" u="none" strike="noStrike" cap="none" dirty="0">
                          <a:solidFill>
                            <a:srgbClr val="F28943"/>
                          </a:solidFill>
                        </a:rPr>
                        <a:t>TA 6000</a:t>
                      </a:r>
                      <a:endParaRPr lang="en-US" altLang="ko-Kore-KR" sz="800" b="1" u="none" strike="noStrike" cap="none" dirty="0">
                        <a:solidFill>
                          <a:srgbClr val="AA47F5"/>
                        </a:solidFill>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33660"/>
            <a:ext cx="1675459" cy="532316"/>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RGN RDR 128.75</a:t>
            </a:r>
          </a:p>
          <a:p>
            <a:pPr>
              <a:lnSpc>
                <a:spcPct val="150000"/>
              </a:lnSpc>
            </a:pPr>
            <a:r>
              <a:rPr kumimoji="1" lang="en-US" altLang="ko-Kore-KR" sz="700" b="1" dirty="0">
                <a:latin typeface="Gulim" panose="020B0600000101010101" pitchFamily="34" charset="-127"/>
                <a:ea typeface="Gulim" panose="020B0600000101010101" pitchFamily="34" charset="-127"/>
              </a:rPr>
              <a:t>- After BOMAS GPS Back to NOR </a:t>
            </a:r>
          </a:p>
          <a:p>
            <a:pPr>
              <a:lnSpc>
                <a:spcPct val="150000"/>
              </a:lnSpc>
            </a:pPr>
            <a:r>
              <a:rPr kumimoji="1" lang="en-US" altLang="ko-Kore-KR" sz="700" b="1" dirty="0">
                <a:latin typeface="Gulim" panose="020B0600000101010101" pitchFamily="34" charset="-127"/>
                <a:ea typeface="Gulim" panose="020B0600000101010101" pitchFamily="34" charset="-127"/>
              </a:rPr>
              <a:t>- Sometimes Spoofing</a:t>
            </a: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3225043378"/>
              </p:ext>
            </p:extLst>
          </p:nvPr>
        </p:nvGraphicFramePr>
        <p:xfrm>
          <a:off x="-2501" y="9879"/>
          <a:ext cx="2328850" cy="642303"/>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928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403023">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p>
                    <a:p>
                      <a:pPr marL="0" marR="0" lvl="0" indent="0" algn="ctr" rtl="0">
                        <a:spcBef>
                          <a:spcPts val="0"/>
                        </a:spcBef>
                        <a:spcAft>
                          <a:spcPts val="0"/>
                        </a:spcAft>
                        <a:buNone/>
                      </a:pPr>
                      <a:r>
                        <a:rPr lang="en-US" sz="900" b="1" dirty="0">
                          <a:solidFill>
                            <a:srgbClr val="7030A0"/>
                          </a:solidFill>
                        </a:rPr>
                        <a:t>Bay 7, 8, 11, 13A</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3985064560"/>
              </p:ext>
            </p:extLst>
          </p:nvPr>
        </p:nvGraphicFramePr>
        <p:xfrm>
          <a:off x="-17467" y="3635049"/>
          <a:ext cx="2365375" cy="1914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01639">
                  <a:extLst>
                    <a:ext uri="{9D8B030D-6E8A-4147-A177-3AD203B41FA5}">
                      <a16:colId xmlns:a16="http://schemas.microsoft.com/office/drawing/2014/main" val="20001"/>
                    </a:ext>
                  </a:extLst>
                </a:gridCol>
                <a:gridCol w="883403">
                  <a:extLst>
                    <a:ext uri="{9D8B030D-6E8A-4147-A177-3AD203B41FA5}">
                      <a16:colId xmlns:a16="http://schemas.microsoft.com/office/drawing/2014/main" val="689142997"/>
                    </a:ext>
                  </a:extLst>
                </a:gridCol>
                <a:gridCol w="41578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x</a:t>
                      </a:r>
                      <a:r>
                        <a:rPr lang="ko-KR" altLang="en-US" sz="800" b="1" dirty="0"/>
                        <a:t> </a:t>
                      </a:r>
                      <a:r>
                        <a:rPr lang="en-US" sz="800" b="1" dirty="0"/>
                        <a:t>E</a:t>
                      </a:r>
                    </a:p>
                    <a:p>
                      <a:pPr marL="0" marR="0" lvl="0" indent="0" algn="ctr" rtl="0">
                        <a:spcBef>
                          <a:spcPts val="0"/>
                        </a:spcBef>
                        <a:spcAft>
                          <a:spcPts val="0"/>
                        </a:spcAft>
                        <a:buNone/>
                      </a:pPr>
                      <a:r>
                        <a:rPr lang="en-US" sz="800" b="1" dirty="0"/>
                        <a:t>TRUMI x C</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p>
                    <a:p>
                      <a:pPr marL="0" marR="0" lvl="0" indent="0" algn="ctr" rtl="0">
                        <a:spcBef>
                          <a:spcPts val="0"/>
                        </a:spcBef>
                        <a:spcAft>
                          <a:spcPts val="0"/>
                        </a:spcAft>
                        <a:buNone/>
                      </a:pPr>
                      <a:r>
                        <a:rPr lang="en-US" sz="800" b="1" dirty="0"/>
                        <a:t>TUNPO </a:t>
                      </a:r>
                      <a:r>
                        <a:rPr lang="en-US" sz="800" b="1" dirty="0" err="1"/>
                        <a:t>tx</a:t>
                      </a:r>
                      <a:r>
                        <a:rPr lang="en-US" sz="800" b="1" dirty="0"/>
                        <a:t>, PQ428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x F</a:t>
                      </a:r>
                    </a:p>
                    <a:p>
                      <a:pPr marL="0" marR="0" lvl="0" indent="0" algn="ctr" rtl="0">
                        <a:spcBef>
                          <a:spcPts val="0"/>
                        </a:spcBef>
                        <a:spcAft>
                          <a:spcPts val="0"/>
                        </a:spcAft>
                        <a:buNone/>
                      </a:pPr>
                      <a:r>
                        <a:rPr lang="en-US" sz="800" b="1" dirty="0"/>
                        <a:t>TRUMI x B</a:t>
                      </a:r>
                    </a:p>
                  </a:txBody>
                  <a:tcPr marL="36000" marR="36000" marT="36000" marB="36000" anchor="ctr"/>
                </a:tc>
                <a:tc>
                  <a:txBody>
                    <a:bodyPr/>
                    <a:lstStyle/>
                    <a:p>
                      <a:pPr marL="0" marR="0" lvl="0" indent="0" algn="ctr" rtl="0">
                        <a:spcBef>
                          <a:spcPts val="0"/>
                        </a:spcBef>
                        <a:spcAft>
                          <a:spcPts val="0"/>
                        </a:spcAft>
                        <a:buNone/>
                      </a:pPr>
                      <a:r>
                        <a:rPr lang="en-US" sz="800" b="1" dirty="0"/>
                        <a:t>PQ310</a:t>
                      </a:r>
                    </a:p>
                    <a:p>
                      <a:pPr marL="0" marR="0" lvl="0" indent="0" algn="ctr" rtl="0">
                        <a:spcBef>
                          <a:spcPts val="0"/>
                        </a:spcBef>
                        <a:spcAft>
                          <a:spcPts val="0"/>
                        </a:spcAft>
                        <a:buNone/>
                      </a:pPr>
                      <a:r>
                        <a:rPr lang="en-US" sz="800" b="1" dirty="0"/>
                        <a:t>TUNPO </a:t>
                      </a:r>
                      <a:r>
                        <a:rPr lang="en-US" sz="800" b="1" dirty="0" err="1"/>
                        <a:t>tx</a:t>
                      </a:r>
                      <a:r>
                        <a:rPr lang="en-US" sz="800" b="1" dirty="0"/>
                        <a:t>, PQ210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Widebody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9067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207656"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a:solidFill>
                  <a:srgbClr val="00B0F0"/>
                </a:solidFill>
                <a:latin typeface="Gulim" panose="020B0600000101010101" pitchFamily="34" charset="-127"/>
                <a:ea typeface="Gulim" panose="020B0600000101010101" pitchFamily="34" charset="-127"/>
              </a:rPr>
              <a:t>Report FL100  </a:t>
            </a:r>
            <a:r>
              <a:rPr kumimoji="1" lang="en-US" altLang="ko-Kore-KR" sz="700" b="1" u="sng" dirty="0">
                <a:solidFill>
                  <a:srgbClr val="00B0F0"/>
                </a:solidFill>
                <a:latin typeface="Gulim" panose="020B0600000101010101" pitchFamily="34" charset="-127"/>
                <a:ea typeface="Gulim" panose="020B0600000101010101" pitchFamily="34" charset="-127"/>
              </a:rPr>
              <a:t>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640000280"/>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32R/33</a:t>
                      </a:r>
                      <a:endParaRPr sz="800" b="1"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SAROX x G/H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14L/15</a:t>
                      </a:r>
                      <a:endParaRPr sz="800" b="1" dirty="0">
                        <a:solidFill>
                          <a:srgbClr val="0070C0"/>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514328412"/>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 132.9</a:t>
                      </a:r>
                    </a:p>
                    <a:p>
                      <a:pPr marL="0" marR="0" lvl="0" indent="0" algn="ctr" rtl="0">
                        <a:spcBef>
                          <a:spcPts val="0"/>
                        </a:spcBef>
                        <a:spcAft>
                          <a:spcPts val="0"/>
                        </a:spcAft>
                        <a:buNone/>
                      </a:pPr>
                      <a:r>
                        <a:rPr lang="en-US" sz="900" b="1" dirty="0">
                          <a:solidFill>
                            <a:srgbClr val="7030A0"/>
                          </a:solidFill>
                        </a:rPr>
                        <a:t>Stand C2, 4, 12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66603825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44490218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-10min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7576" y="2858861"/>
            <a:ext cx="210506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a:latin typeface="Gulim" panose="020B0600000101010101" pitchFamily="34" charset="-127"/>
                <a:ea typeface="Gulim" panose="020B0600000101010101" pitchFamily="34" charset="-127"/>
              </a:rPr>
              <a:t>CPDLC RPHI </a:t>
            </a:r>
            <a:r>
              <a:rPr kumimoji="1" lang="en-US" altLang="ko-Kore-KR" sz="700" b="1" u="sng" dirty="0">
                <a:latin typeface="Gulim" panose="020B0600000101010101" pitchFamily="34" charset="-127"/>
                <a:ea typeface="Gulim" panose="020B0600000101010101" pitchFamily="34" charset="-127"/>
              </a:rPr>
              <a:t>RDO 8942(5655) </a:t>
            </a:r>
          </a:p>
          <a:p>
            <a:pPr>
              <a:lnSpc>
                <a:spcPct val="150000"/>
              </a:lnSpc>
            </a:pPr>
            <a:r>
              <a:rPr kumimoji="1" lang="en-US" altLang="ko-Kore-KR" sz="700" b="1" u="sng" dirty="0">
                <a:latin typeface="Gulim" panose="020B0600000101010101" pitchFamily="34" charset="-127"/>
                <a:ea typeface="Gulim" panose="020B0600000101010101" pitchFamily="34" charset="-127"/>
              </a:rPr>
              <a:t>HCM 120.7</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132.35 – 134.05 </a:t>
            </a:r>
          </a:p>
          <a:p>
            <a:pPr>
              <a:lnSpc>
                <a:spcPct val="150000"/>
              </a:lnSpc>
            </a:pPr>
            <a:r>
              <a:rPr kumimoji="1" lang="en-US" altLang="ko-Kore-KR" sz="700" b="1" u="sng" dirty="0">
                <a:latin typeface="Gulim" panose="020B0600000101010101" pitchFamily="34" charset="-127"/>
                <a:ea typeface="Gulim" panose="020B0600000101010101" pitchFamily="34" charset="-127"/>
              </a:rPr>
              <a:t>CXR APP 127.9</a:t>
            </a:r>
          </a:p>
        </p:txBody>
      </p:sp>
      <p:graphicFrame>
        <p:nvGraphicFramePr>
          <p:cNvPr id="292" name="Google Shape;292;p18"/>
          <p:cNvGraphicFramePr/>
          <p:nvPr>
            <p:extLst>
              <p:ext uri="{D42A27DB-BD31-4B8C-83A1-F6EECF244321}">
                <p14:modId xmlns:p14="http://schemas.microsoft.com/office/powerpoint/2010/main" val="361101824"/>
              </p:ext>
            </p:extLst>
          </p:nvPr>
        </p:nvGraphicFramePr>
        <p:xfrm>
          <a:off x="-2501" y="3879427"/>
          <a:ext cx="2327658" cy="16748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324137">
                <a:tc gridSpan="4">
                  <a:txBody>
                    <a:bodyPr/>
                    <a:lstStyle/>
                    <a:p>
                      <a:pPr marL="0" marR="0" lvl="0" indent="0" algn="ctr" rtl="0">
                        <a:spcBef>
                          <a:spcPts val="0"/>
                        </a:spcBef>
                        <a:spcAft>
                          <a:spcPts val="0"/>
                        </a:spcAft>
                        <a:buNone/>
                      </a:pPr>
                      <a:r>
                        <a:rPr lang="en-US" sz="800" dirty="0"/>
                        <a:t>CXR </a:t>
                      </a:r>
                      <a:r>
                        <a:rPr lang="en-US" sz="800" dirty="0">
                          <a:solidFill>
                            <a:srgbClr val="00B0F0"/>
                          </a:solidFill>
                        </a:rPr>
                        <a:t>[200/020] </a:t>
                      </a:r>
                      <a:r>
                        <a:rPr lang="en-US" sz="800" dirty="0"/>
                        <a:t>: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HCM CTL)</a:t>
                      </a:r>
                    </a:p>
                    <a:p>
                      <a:pPr marL="0" marR="0" lvl="0" indent="0" algn="ctr" rtl="0">
                        <a:spcBef>
                          <a:spcPts val="0"/>
                        </a:spcBef>
                        <a:spcAft>
                          <a:spcPts val="0"/>
                        </a:spcAft>
                        <a:buNone/>
                      </a:pPr>
                      <a:r>
                        <a:rPr lang="en-US" sz="800" b="0" dirty="0">
                          <a:solidFill>
                            <a:srgbClr val="FFC000"/>
                          </a:solidFill>
                        </a:rPr>
                        <a:t>RWY20 Max Tail Wind 15kts / </a:t>
                      </a:r>
                      <a:r>
                        <a:rPr lang="en-US" sz="800" b="0" dirty="0">
                          <a:solidFill>
                            <a:srgbClr val="92D050"/>
                          </a:solidFill>
                        </a:rPr>
                        <a:t>CHK LDW due to PCR</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a:txBody>
                    <a:bodyPr/>
                    <a:lstStyle/>
                    <a:p>
                      <a:r>
                        <a:rPr lang="en-US" sz="800" b="1" dirty="0"/>
                        <a:t>ILS X/Z 02L/R</a:t>
                      </a:r>
                      <a:endParaRPr lang="ko-Kore-KR" altLang="en-US" dirty="0"/>
                    </a:p>
                  </a:txBody>
                  <a:tcPr marL="36000" marR="36000" marT="36000" marB="36000" anchor="ctr"/>
                </a:tc>
                <a:extLst>
                  <a:ext uri="{0D108BD9-81ED-4DB2-BD59-A6C34878D82A}">
                    <a16:rowId xmlns:a16="http://schemas.microsoft.com/office/drawing/2014/main" val="10002"/>
                  </a:ext>
                </a:extLst>
              </a:tr>
              <a:tr h="16624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CRA </a:t>
                      </a:r>
                      <a:r>
                        <a:rPr lang="en-US" sz="800" b="1" dirty="0">
                          <a:solidFill>
                            <a:srgbClr val="C00000"/>
                          </a:solidFill>
                        </a:rPr>
                        <a:t>20L ICA 02R ICX 02L ICR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a:t>
                      </a:r>
                      <a:r>
                        <a:rPr lang="en-US" sz="800" b="1" dirty="0">
                          <a:solidFill>
                            <a:srgbClr val="0070C0"/>
                          </a:solidFill>
                        </a:rPr>
                        <a:t>G7(9662’)</a:t>
                      </a:r>
                      <a:endParaRPr sz="800" dirty="0">
                        <a:solidFill>
                          <a:srgbClr val="0070C0"/>
                        </a:solidFill>
                      </a:endParaRPr>
                    </a:p>
                    <a:p>
                      <a:pPr marL="0" marR="0" lvl="0" indent="0" algn="l" rtl="0">
                        <a:lnSpc>
                          <a:spcPct val="100000"/>
                        </a:lnSpc>
                        <a:spcBef>
                          <a:spcPts val="0"/>
                        </a:spcBef>
                        <a:spcAft>
                          <a:spcPts val="0"/>
                        </a:spcAft>
                        <a:buClr>
                          <a:schemeClr val="dk1"/>
                        </a:buClr>
                        <a:buSzPts val="800"/>
                        <a:buFont typeface="Calibri"/>
                        <a:buNone/>
                      </a:pPr>
                      <a:r>
                        <a:rPr lang="en-US" sz="800" b="0" dirty="0">
                          <a:solidFill>
                            <a:schemeClr val="dk1"/>
                          </a:solidFill>
                        </a:rPr>
                        <a:t>20R : W4(5971’), W3(7680’), 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820309512"/>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 </a:t>
                      </a:r>
                      <a:r>
                        <a:rPr lang="en-US" sz="800" b="1" dirty="0">
                          <a:solidFill>
                            <a:srgbClr val="00B050"/>
                          </a:solidFill>
                        </a:rPr>
                        <a:t>D-ATIS</a:t>
                      </a:r>
                      <a:r>
                        <a:rPr lang="ko-KR" altLang="en-US" sz="800" b="1" dirty="0">
                          <a:solidFill>
                            <a:srgbClr val="00B050"/>
                          </a:solidFill>
                        </a:rPr>
                        <a:t> </a:t>
                      </a:r>
                      <a:r>
                        <a:rPr lang="en-US" altLang="ko-KR" sz="800" b="1" dirty="0">
                          <a:solidFill>
                            <a:srgbClr val="00B050"/>
                          </a:solidFill>
                        </a:rPr>
                        <a:t>Avail</a:t>
                      </a:r>
                    </a:p>
                    <a:p>
                      <a:pPr marL="0" marR="0" lvl="0" indent="0" algn="ctr" rtl="0">
                        <a:spcBef>
                          <a:spcPts val="0"/>
                        </a:spcBef>
                        <a:spcAft>
                          <a:spcPts val="0"/>
                        </a:spcAft>
                        <a:buNone/>
                      </a:pPr>
                      <a:r>
                        <a:rPr lang="en-US" sz="900" b="1" dirty="0">
                          <a:solidFill>
                            <a:srgbClr val="7030A0"/>
                          </a:solidFill>
                        </a:rPr>
                        <a:t>Bay 36</a:t>
                      </a:r>
                      <a:endParaRPr lang="en-US" sz="8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B882660-9EE1-6391-25C3-1EE439E63B98}"/>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4819243-81C7-B4AD-B7F3-FC00667085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36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224699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254549114"/>
              </p:ext>
            </p:extLst>
          </p:nvPr>
        </p:nvGraphicFramePr>
        <p:xfrm>
          <a:off x="-4046" y="586900"/>
          <a:ext cx="2347194" cy="1670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25635">
                  <a:extLst>
                    <a:ext uri="{9D8B030D-6E8A-4147-A177-3AD203B41FA5}">
                      <a16:colId xmlns:a16="http://schemas.microsoft.com/office/drawing/2014/main" val="20005"/>
                    </a:ext>
                  </a:extLst>
                </a:gridCol>
                <a:gridCol w="614397">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CNX : RNP SID (NADP 1)  </a:t>
                      </a:r>
                      <a:r>
                        <a:rPr lang="en-US" sz="800" u="none" strike="noStrike" cap="none" dirty="0">
                          <a:solidFill>
                            <a:srgbClr val="92D050"/>
                          </a:solidFill>
                        </a:rPr>
                        <a:t>CHK TOW due to PCR</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pPr algn="ctr"/>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HD020 </a:t>
                      </a:r>
                      <a:r>
                        <a:rPr lang="en-US" sz="800" b="1" u="none" strike="noStrike" cap="none" dirty="0">
                          <a:solidFill>
                            <a:srgbClr val="0070C0"/>
                          </a:solidFill>
                        </a:rPr>
                        <a:t>7000 </a:t>
                      </a:r>
                      <a:r>
                        <a:rPr lang="en-US" sz="800" b="1" u="none" strike="noStrike" cap="none" dirty="0">
                          <a:solidFill>
                            <a:srgbClr val="F28943"/>
                          </a:solidFill>
                        </a:rPr>
                        <a:t>TA9000</a:t>
                      </a:r>
                      <a:endParaRPr lang="en-US" altLang="ko-KR" sz="800" b="1" u="none" strike="noStrike" cap="none"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HD200 </a:t>
                      </a:r>
                      <a:r>
                        <a:rPr lang="en-US" sz="800" b="1" u="none" strike="noStrike" cap="none" dirty="0">
                          <a:solidFill>
                            <a:srgbClr val="0070C0"/>
                          </a:solidFill>
                        </a:rPr>
                        <a:t>ATC/FL100 </a:t>
                      </a:r>
                      <a:r>
                        <a:rPr lang="en-US" altLang="ko-Kore-KR" sz="800" b="1" u="none" strike="noStrike" cap="none" dirty="0">
                          <a:solidFill>
                            <a:srgbClr val="7030A0"/>
                          </a:solidFill>
                        </a:rPr>
                        <a:t>SPD250</a:t>
                      </a:r>
                      <a:r>
                        <a:rPr lang="en-US" altLang="ko-Kore-KR" sz="800" b="1" u="none" strike="noStrike" cap="none" dirty="0">
                          <a:solidFill>
                            <a:srgbClr val="C00000"/>
                          </a:solidFill>
                        </a:rPr>
                        <a:t> </a:t>
                      </a:r>
                      <a:r>
                        <a:rPr kumimoji="0" lang="en-US" altLang="ko-Kore-KR" sz="800" b="1" i="0" u="none" strike="noStrike" kern="1200" cap="none" spc="0" normalizeH="0" baseline="0" noProof="0" dirty="0">
                          <a:ln>
                            <a:noFill/>
                          </a:ln>
                          <a:solidFill>
                            <a:srgbClr val="F28943"/>
                          </a:solidFill>
                          <a:effectLst/>
                          <a:uLnTx/>
                          <a:uFillTx/>
                          <a:latin typeface="Calibri"/>
                          <a:cs typeface="Calibri"/>
                        </a:rPr>
                        <a:t>TA9000</a:t>
                      </a:r>
                      <a:endParaRPr lang="ko-Kore-KR" altLang="en-US" dirty="0"/>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ICR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ICR 110.7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ICA 110.3</a:t>
                      </a:r>
                      <a:endParaRPr lang="ko-Kore-KR" dirty="0"/>
                    </a:p>
                  </a:txBody>
                  <a:tcPr marL="36000" marR="36000" marT="36000" marB="36000" anchor="ctr"/>
                </a:tc>
                <a:extLst>
                  <a:ext uri="{0D108BD9-81ED-4DB2-BD59-A6C34878D82A}">
                    <a16:rowId xmlns:a16="http://schemas.microsoft.com/office/drawing/2014/main" val="10003"/>
                  </a:ext>
                </a:extLst>
              </a:tr>
              <a:tr h="2032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02 : CRA 020/3, R090</a:t>
                      </a:r>
                    </a:p>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 20 : CRA 200/6, R150</a:t>
                      </a:r>
                      <a:endParaRPr lang="en-US" sz="800" b="1" u="none" strike="noStrike" cap="none" dirty="0">
                        <a:solidFill>
                          <a:srgbClr val="00B050"/>
                        </a:solidFill>
                        <a:latin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96161094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254522"/>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272055"/>
            <a:ext cx="845389" cy="825728"/>
          </a:xfrm>
          <a:prstGeom prst="rect">
            <a:avLst/>
          </a:prstGeom>
        </p:spPr>
      </p:pic>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38544" y="25152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EE2AF8B-92A3-3200-5056-D6DC5A2B215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74121"/>
            <a:ext cx="457200" cy="457200"/>
          </a:xfrm>
          <a:prstGeom prst="rect">
            <a:avLst/>
          </a:prstGeom>
          <a:effectLst>
            <a:outerShdw blurRad="50800" dist="50800" dir="3660000" algn="ctr" rotWithShape="0">
              <a:schemeClr val="bg1">
                <a:alpha val="82714"/>
              </a:schemeClr>
            </a:outerShdw>
          </a:effectLst>
        </p:spPr>
      </p:pic>
      <p:graphicFrame>
        <p:nvGraphicFramePr>
          <p:cNvPr id="10" name="Google Shape;283;p17">
            <a:extLst>
              <a:ext uri="{FF2B5EF4-FFF2-40B4-BE49-F238E27FC236}">
                <a16:creationId xmlns:a16="http://schemas.microsoft.com/office/drawing/2014/main" id="{9222A090-F0B0-E386-7E5B-7B2098B75601}"/>
              </a:ext>
            </a:extLst>
          </p:cNvPr>
          <p:cNvGraphicFramePr/>
          <p:nvPr>
            <p:extLst>
              <p:ext uri="{D42A27DB-BD31-4B8C-83A1-F6EECF244321}">
                <p14:modId xmlns:p14="http://schemas.microsoft.com/office/powerpoint/2010/main" val="3284132159"/>
              </p:ext>
            </p:extLst>
          </p:nvPr>
        </p:nvGraphicFramePr>
        <p:xfrm>
          <a:off x="11589" y="3302008"/>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74026387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011D0F31-DCDE-5ACA-B115-ECA6664160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5341C32-58B3-7D0D-61DC-4FD96A6C1CC5}"/>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F7FB4C45-E669-E70F-5548-E54CC722A994}"/>
              </a:ext>
            </a:extLst>
          </p:cNvPr>
          <p:cNvGraphicFramePr/>
          <p:nvPr>
            <p:extLst>
              <p:ext uri="{D42A27DB-BD31-4B8C-83A1-F6EECF244321}">
                <p14:modId xmlns:p14="http://schemas.microsoft.com/office/powerpoint/2010/main" val="1948987270"/>
              </p:ext>
            </p:extLst>
          </p:nvPr>
        </p:nvGraphicFramePr>
        <p:xfrm>
          <a:off x="-2500" y="3484190"/>
          <a:ext cx="2321630" cy="206689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906053">
                  <a:extLst>
                    <a:ext uri="{9D8B030D-6E8A-4147-A177-3AD203B41FA5}">
                      <a16:colId xmlns:a16="http://schemas.microsoft.com/office/drawing/2014/main" val="255263363"/>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HAN </a:t>
                      </a:r>
                      <a:r>
                        <a:rPr lang="en-US" altLang="ko-Kore-KR" sz="800" dirty="0">
                          <a:solidFill>
                            <a:srgbClr val="00B0F0"/>
                          </a:solidFill>
                        </a:rPr>
                        <a:t>[289/109]</a:t>
                      </a:r>
                      <a:r>
                        <a:rPr lang="en-US" altLang="ko-Kore-KR" sz="800" dirty="0"/>
                        <a:t> : STAR TL100 UTC+7, </a:t>
                      </a:r>
                      <a:r>
                        <a:rPr lang="en-US" altLang="ko-Kore-KR" sz="800" dirty="0">
                          <a:solidFill>
                            <a:srgbClr val="00B0F0"/>
                          </a:solidFill>
                        </a:rPr>
                        <a:t>TEBAK FL240</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GS Fluctuations</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11L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NAKHA x H</a:t>
                      </a:r>
                      <a:r>
                        <a:rPr lang="en-US" sz="800" b="0" dirty="0"/>
                        <a:t>/E/F/G</a:t>
                      </a:r>
                    </a:p>
                    <a:p>
                      <a:pPr marL="0" marR="0" lvl="0" indent="0" algn="ctr" rtl="0">
                        <a:spcBef>
                          <a:spcPts val="0"/>
                        </a:spcBef>
                        <a:spcAft>
                          <a:spcPts val="0"/>
                        </a:spcAft>
                        <a:buNone/>
                      </a:pPr>
                      <a:r>
                        <a:rPr lang="en-US" sz="800" b="0" dirty="0"/>
                        <a:t>J/K : RNAV ARR</a:t>
                      </a:r>
                    </a:p>
                  </a:txBody>
                  <a:tcPr marL="36000" marR="36000" marT="36000" marB="36000" anchor="ctr"/>
                </a:tc>
                <a:tc>
                  <a:txBody>
                    <a:bodyPr/>
                    <a:lstStyle/>
                    <a:p>
                      <a:pPr algn="ctr"/>
                      <a:r>
                        <a:rPr lang="en-US" altLang="ko-Kore-KR" sz="800" b="1" dirty="0"/>
                        <a:t>VILOX</a:t>
                      </a:r>
                    </a:p>
                    <a:p>
                      <a:pPr algn="ctr"/>
                      <a:r>
                        <a:rPr lang="en-US" altLang="ko-Kore-KR" sz="800" b="1" dirty="0"/>
                        <a:t>NB362</a:t>
                      </a:r>
                    </a:p>
                  </a:txBody>
                  <a:tcPr marL="36000" marR="36000" marT="36000" marB="36000" anchor="ctr"/>
                </a:tc>
                <a:tc>
                  <a:txBody>
                    <a:bodyPr/>
                    <a:lstStyle/>
                    <a:p>
                      <a:pPr marL="0" marR="0" lvl="0" indent="0" algn="ctr" rtl="0">
                        <a:spcBef>
                          <a:spcPts val="0"/>
                        </a:spcBef>
                        <a:spcAft>
                          <a:spcPts val="0"/>
                        </a:spcAft>
                        <a:buNone/>
                      </a:pPr>
                      <a:r>
                        <a:rPr lang="en-US" sz="800" b="1" dirty="0"/>
                        <a:t>ILS X 11L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29R</a:t>
                      </a:r>
                      <a:r>
                        <a:rPr lang="en-US" sz="800" b="0" dirty="0"/>
                        <a:t>/L</a:t>
                      </a:r>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NAKHA </a:t>
                      </a:r>
                      <a:r>
                        <a:rPr lang="en-US" altLang="ko-Kore-KR" sz="800" b="0" dirty="0"/>
                        <a:t>x L/M/N/P RNAV ARR</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NB462NB452</a:t>
                      </a:r>
                      <a:endParaRPr lang="ko-Kore-KR" altLang="en-US" dirty="0"/>
                    </a:p>
                  </a:txBody>
                  <a:tcPr marL="36000" marR="36000" marT="36000" marB="36000" anchor="ctr"/>
                </a:tc>
                <a:tc>
                  <a:txBody>
                    <a:bodyPr/>
                    <a:lstStyle/>
                    <a:p>
                      <a:pPr algn="ctr"/>
                      <a:r>
                        <a:rPr lang="en-US" sz="800" b="1" dirty="0"/>
                        <a:t>ILS X 29R</a:t>
                      </a:r>
                      <a:r>
                        <a:rPr lang="en-US" sz="800" b="0" dirty="0"/>
                        <a:t>/L</a:t>
                      </a:r>
                      <a:r>
                        <a:rPr lang="en-US" sz="800" b="1" dirty="0"/>
                        <a:t> </a:t>
                      </a:r>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lt1"/>
                        </a:buClr>
                        <a:buSzPts val="800"/>
                        <a:buFont typeface="Calibri"/>
                        <a:buNone/>
                      </a:pPr>
                      <a:r>
                        <a:rPr lang="en-US" altLang="ko-KR" sz="800" b="1" dirty="0">
                          <a:solidFill>
                            <a:srgbClr val="0070C0"/>
                          </a:solidFill>
                        </a:rPr>
                        <a:t>NOB, </a:t>
                      </a:r>
                      <a:r>
                        <a:rPr lang="en-US" altLang="ko-KR" sz="800" b="1" dirty="0">
                          <a:solidFill>
                            <a:srgbClr val="C00000"/>
                          </a:solidFill>
                        </a:rPr>
                        <a:t>11L NB, 29R INA, 11R NBA, 29L INB</a:t>
                      </a:r>
                      <a:endParaRPr lang="ko-Kore-KR" altLang="en-US" sz="800" dirty="0">
                        <a:solidFill>
                          <a:schemeClr val="lt1"/>
                        </a:solidFill>
                      </a:endParaRPr>
                    </a:p>
                  </a:txBody>
                  <a:tcPr marL="36000" marR="36000" marT="36000" marB="36000" anchor="ctr">
                    <a:solidFill>
                      <a:schemeClr val="bg2">
                        <a:lumMod val="20000"/>
                        <a:lumOff val="80000"/>
                      </a:schemeClr>
                    </a:solidFill>
                  </a:tcP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b="1" dirty="0">
                          <a:solidFill>
                            <a:schemeClr val="bg1"/>
                          </a:solidFill>
                        </a:rPr>
                        <a:t>RW /25 190-200k, /10 180-160k, /5 150-160k</a:t>
                      </a:r>
                      <a:endParaRPr lang="ko-Kore-KR" altLang="en-US" sz="800" dirty="0">
                        <a:solidFill>
                          <a:schemeClr val="lt1"/>
                        </a:solidFill>
                      </a:endParaRPr>
                    </a:p>
                  </a:txBody>
                  <a:tcPr marL="36000" marR="36000" marT="36000" marB="36000" anchor="ctr">
                    <a:solidFill>
                      <a:schemeClr val="bg2">
                        <a:lumMod val="20000"/>
                        <a:lumOff val="80000"/>
                      </a:schemeClr>
                    </a:solidFill>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11L : </a:t>
                      </a:r>
                      <a:r>
                        <a:rPr lang="en-US" sz="800" b="1" dirty="0">
                          <a:solidFill>
                            <a:srgbClr val="0070C0"/>
                          </a:solidFill>
                        </a:rPr>
                        <a:t>P7(6929’), P8(8366,90</a:t>
                      </a:r>
                      <a:r>
                        <a:rPr lang="ko-KR" altLang="en-US" sz="800" b="1" dirty="0">
                          <a:solidFill>
                            <a:srgbClr val="0070C0"/>
                          </a:solidFill>
                        </a:rPr>
                        <a:t>도</a:t>
                      </a:r>
                      <a:r>
                        <a:rPr lang="en-US" sz="800" b="1" dirty="0">
                          <a:solidFill>
                            <a:srgbClr val="0070C0"/>
                          </a:solidFill>
                        </a:rPr>
                        <a:t>), </a:t>
                      </a:r>
                      <a:r>
                        <a:rPr lang="en-US" sz="800" b="0" dirty="0">
                          <a:solidFill>
                            <a:schemeClr val="bg1"/>
                          </a:solidFill>
                        </a:rPr>
                        <a:t>29R : </a:t>
                      </a:r>
                      <a:r>
                        <a:rPr lang="en-US" sz="800" b="1" dirty="0">
                          <a:solidFill>
                            <a:srgbClr val="0070C0"/>
                          </a:solidFill>
                        </a:rPr>
                        <a:t>P4(6361’)</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EOR</a:t>
                      </a:r>
                      <a:endParaRPr lang="en-US" sz="800" b="1"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11R : S7(7555’), S8(10377’),</a:t>
                      </a:r>
                      <a:r>
                        <a:rPr lang="en-US" altLang="ko-Kore-KR" sz="800" b="0" dirty="0">
                          <a:solidFill>
                            <a:srgbClr val="0070C0"/>
                          </a:solidFill>
                        </a:rPr>
                        <a:t> </a:t>
                      </a:r>
                      <a:r>
                        <a:rPr lang="en-US" altLang="ko-Kore-KR" sz="800" b="0" dirty="0">
                          <a:solidFill>
                            <a:schemeClr val="bg1"/>
                          </a:solidFill>
                        </a:rPr>
                        <a:t>29L : S4(7732’), S3(10213’)</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900" b="1" dirty="0">
                          <a:solidFill>
                            <a:srgbClr val="F28943"/>
                          </a:solidFill>
                        </a:rPr>
                        <a:t>AFT LD CONF 1, </a:t>
                      </a:r>
                      <a:r>
                        <a:rPr kumimoji="0" lang="en-US" altLang="ko-Kore-KR" sz="900" b="1" i="0" u="none" strike="noStrike" kern="0" cap="none" spc="0" normalizeH="0" baseline="0" noProof="0" dirty="0">
                          <a:ln>
                            <a:noFill/>
                          </a:ln>
                          <a:solidFill>
                            <a:schemeClr val="bg1"/>
                          </a:solidFill>
                          <a:effectLst/>
                          <a:uLnTx/>
                          <a:uFillTx/>
                          <a:latin typeface="Calibri"/>
                          <a:cs typeface="Calibri"/>
                          <a:sym typeface="Arial"/>
                        </a:rPr>
                        <a:t>Follow me Car on S</a:t>
                      </a:r>
                      <a:r>
                        <a:rPr kumimoji="0" lang="en-US" altLang="ko-Kore-KR" sz="900" b="1" i="0" u="none" strike="noStrike" kern="0" cap="none" spc="0" normalizeH="0" baseline="0" noProof="0" dirty="0">
                          <a:ln>
                            <a:noFill/>
                          </a:ln>
                          <a:solidFill>
                            <a:srgbClr val="0070C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SPD REST : Max RWY 40, TWY 30, Apron 15, Turn 10</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9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9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9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900" b="1" i="0" u="none" strike="noStrike" kern="0" cap="none" spc="0" normalizeH="0" baseline="0" noProof="0" dirty="0">
                          <a:ln>
                            <a:noFill/>
                          </a:ln>
                          <a:solidFill>
                            <a:srgbClr val="C00000"/>
                          </a:solidFill>
                          <a:effectLst/>
                          <a:uLnTx/>
                          <a:uFillTx/>
                          <a:latin typeface="Calibri"/>
                          <a:cs typeface="Calibri"/>
                          <a:sym typeface="Arial"/>
                        </a:rPr>
                        <a:t> </a:t>
                      </a:r>
                      <a:endParaRPr lang="en-US" sz="9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3AA056B-F9F1-32DD-B4AF-B33FC6399642}"/>
              </a:ext>
            </a:extLst>
          </p:cNvPr>
          <p:cNvGraphicFramePr/>
          <p:nvPr>
            <p:extLst>
              <p:ext uri="{D42A27DB-BD31-4B8C-83A1-F6EECF244321}">
                <p14:modId xmlns:p14="http://schemas.microsoft.com/office/powerpoint/2010/main" val="1050042245"/>
              </p:ext>
            </p:extLst>
          </p:nvPr>
        </p:nvGraphicFramePr>
        <p:xfrm>
          <a:off x="-2501" y="9878"/>
          <a:ext cx="2328850" cy="611708"/>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45938">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VVNB(HAN) 43ft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4762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lang="en-US" sz="700" b="1" dirty="0">
                        <a:solidFill>
                          <a:srgbClr val="0070C0"/>
                        </a:solidFill>
                      </a:endParaRPr>
                    </a:p>
                    <a:p>
                      <a:pPr marL="0" marR="0" lvl="0" indent="0" algn="ctr" rtl="0">
                        <a:spcBef>
                          <a:spcPts val="0"/>
                        </a:spcBef>
                        <a:spcAft>
                          <a:spcPts val="0"/>
                        </a:spcAft>
                        <a:buNone/>
                      </a:pPr>
                      <a:r>
                        <a:rPr lang="en-US" sz="900" b="1" dirty="0">
                          <a:solidFill>
                            <a:srgbClr val="7030A0"/>
                          </a:solidFill>
                        </a:rPr>
                        <a:t>Bay 15-21</a:t>
                      </a:r>
                      <a:endParaRPr lang="en-US" sz="7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68A5324-20D9-9D48-F448-384FD39D9DE1}"/>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699B313-265A-776D-0FA4-7888347E834D}"/>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328D7D45-B92D-0D9C-9FF9-4DCFD3A1BDF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284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7251742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75EC9-7FAD-7727-4902-66E6958B515E}"/>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AD06D3E-93B4-27C2-46B2-CBF93AE1D833}"/>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DBBDF1F-6BE4-2593-86CD-A5C0291BBA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DFEBFD0C-4B35-C2E3-A465-67E02395D256}"/>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39822203-6180-8048-7F28-5D38543BA2E3}"/>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C4121A2B-B318-FD65-8939-112D32251D96}"/>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07402662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ED3586D7-F1C2-2A45-3C0F-8D0DF5547AE9}"/>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432033F6-5659-9F97-A000-E0EC01E7DBF1}"/>
              </a:ext>
            </a:extLst>
          </p:cNvPr>
          <p:cNvGraphicFramePr/>
          <p:nvPr>
            <p:extLst>
              <p:ext uri="{D42A27DB-BD31-4B8C-83A1-F6EECF244321}">
                <p14:modId xmlns:p14="http://schemas.microsoft.com/office/powerpoint/2010/main" val="1097843786"/>
              </p:ext>
            </p:extLst>
          </p:nvPr>
        </p:nvGraphicFramePr>
        <p:xfrm>
          <a:off x="-11022" y="643000"/>
          <a:ext cx="2343066" cy="1476730"/>
        </p:xfrm>
        <a:graphic>
          <a:graphicData uri="http://schemas.openxmlformats.org/drawingml/2006/table">
            <a:tbl>
              <a:tblPr firstRow="1" bandRow="1">
                <a:noFill/>
                <a:tableStyleId>{A521BE36-7E6F-4EC9-8D66-1CF97A6895EC}</a:tableStyleId>
              </a:tblPr>
              <a:tblGrid>
                <a:gridCol w="42799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85623">
                  <a:extLst>
                    <a:ext uri="{9D8B030D-6E8A-4147-A177-3AD203B41FA5}">
                      <a16:colId xmlns:a16="http://schemas.microsoft.com/office/drawing/2014/main" val="1456194552"/>
                    </a:ext>
                  </a:extLst>
                </a:gridCol>
                <a:gridCol w="125677">
                  <a:extLst>
                    <a:ext uri="{9D8B030D-6E8A-4147-A177-3AD203B41FA5}">
                      <a16:colId xmlns:a16="http://schemas.microsoft.com/office/drawing/2014/main" val="3733872015"/>
                    </a:ext>
                  </a:extLst>
                </a:gridCol>
                <a:gridCol w="330339">
                  <a:extLst>
                    <a:ext uri="{9D8B030D-6E8A-4147-A177-3AD203B41FA5}">
                      <a16:colId xmlns:a16="http://schemas.microsoft.com/office/drawing/2014/main" val="3522764159"/>
                    </a:ext>
                  </a:extLst>
                </a:gridCol>
                <a:gridCol w="456015">
                  <a:extLst>
                    <a:ext uri="{9D8B030D-6E8A-4147-A177-3AD203B41FA5}">
                      <a16:colId xmlns:a16="http://schemas.microsoft.com/office/drawing/2014/main" val="1200350016"/>
                    </a:ext>
                  </a:extLst>
                </a:gridCol>
                <a:gridCol w="456015">
                  <a:extLst>
                    <a:ext uri="{9D8B030D-6E8A-4147-A177-3AD203B41FA5}">
                      <a16:colId xmlns:a16="http://schemas.microsoft.com/office/drawing/2014/main" val="305518456"/>
                    </a:ext>
                  </a:extLst>
                </a:gridCol>
              </a:tblGrid>
              <a:tr h="201967">
                <a:tc gridSpan="7">
                  <a:txBody>
                    <a:bodyPr/>
                    <a:lstStyle/>
                    <a:p>
                      <a:pPr marL="0" marR="0" lvl="0" indent="0" algn="ctr" rtl="0">
                        <a:spcBef>
                          <a:spcPts val="0"/>
                        </a:spcBef>
                        <a:spcAft>
                          <a:spcPts val="0"/>
                        </a:spcAft>
                        <a:buNone/>
                      </a:pPr>
                      <a:r>
                        <a:rPr lang="en-US" sz="800" u="none" strike="noStrike" cap="none" dirty="0"/>
                        <a:t>HAN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 </a:t>
                      </a:r>
                      <a:r>
                        <a:rPr lang="en-US" altLang="ko-KR" sz="800" u="none" strike="noStrike" cap="none" dirty="0">
                          <a:solidFill>
                            <a:srgbClr val="00B0F0"/>
                          </a:solidFill>
                        </a:rPr>
                        <a:t>TEBAK FL250</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11R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NAKHA x A</a:t>
                      </a:r>
                    </a:p>
                    <a:p>
                      <a:pPr algn="ctr"/>
                      <a:r>
                        <a:rPr lang="en-US" sz="800" b="0" u="none" strike="noStrike" cap="none" dirty="0">
                          <a:solidFill>
                            <a:srgbClr val="C00000"/>
                          </a:solidFill>
                        </a:rPr>
                        <a:t>CHK NB110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109 </a:t>
                      </a:r>
                      <a:r>
                        <a:rPr lang="en-US" sz="800" b="1" u="none" strike="noStrike" cap="none" dirty="0">
                          <a:solidFill>
                            <a:srgbClr val="0070C0"/>
                          </a:solidFill>
                        </a:rPr>
                        <a:t>ALT 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29L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NAKHA x C</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289 </a:t>
                      </a:r>
                      <a:r>
                        <a:rPr lang="en-US" sz="800" b="1" u="none" strike="noStrike" cap="none" dirty="0">
                          <a:solidFill>
                            <a:srgbClr val="0070C0"/>
                          </a:solidFill>
                        </a:rPr>
                        <a:t>ALT ATC</a:t>
                      </a:r>
                      <a:r>
                        <a:rPr lang="en-US" altLang="ko-Kore-KR" sz="800" b="1" u="none" strike="noStrike" cap="none" dirty="0">
                          <a:solidFill>
                            <a:srgbClr val="AA47F5"/>
                          </a:solidFill>
                        </a:rPr>
                        <a:t>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681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NOB 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11L NB 110.5</a:t>
                      </a: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29R INA 109.3</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11R NBA 108.3</a:t>
                      </a: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29L INB 111.9</a:t>
                      </a:r>
                    </a:p>
                  </a:txBody>
                  <a:tcPr marL="36000" marR="36000" marT="36000" marB="36000" anchor="ctr"/>
                </a:tc>
                <a:extLst>
                  <a:ext uri="{0D108BD9-81ED-4DB2-BD59-A6C34878D82A}">
                    <a16:rowId xmlns:a16="http://schemas.microsoft.com/office/drawing/2014/main" val="4235635887"/>
                  </a:ext>
                </a:extLst>
              </a:tr>
              <a:tr h="263692">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STD TXY RTE - “DEP 1B”</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S1,3,5,6,8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항공기 있으면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TWY S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금지</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E35159EE-D49D-C2CE-2ED2-EAEF874AD720}"/>
              </a:ext>
            </a:extLst>
          </p:cNvPr>
          <p:cNvGraphicFramePr/>
          <p:nvPr>
            <p:extLst>
              <p:ext uri="{D42A27DB-BD31-4B8C-83A1-F6EECF244321}">
                <p14:modId xmlns:p14="http://schemas.microsoft.com/office/powerpoint/2010/main" val="39059328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VVNB(HAN) 43ft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-15 min 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E277ED5-E0F4-303C-0152-304111CE861A}"/>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A063A490-C293-B88D-FE68-64AFAE639E9A}"/>
              </a:ext>
            </a:extLst>
          </p:cNvPr>
          <p:cNvSpPr txBox="1"/>
          <p:nvPr/>
        </p:nvSpPr>
        <p:spPr>
          <a:xfrm>
            <a:off x="107338" y="2263937"/>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E17E2CAB-2AB3-CBB9-2863-C68A60127C1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B60B784F-2943-79D7-5DC0-E4B05D9F6B62}"/>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7758996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1207371958"/>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 </a:t>
                      </a:r>
                      <a:r>
                        <a:rPr kumimoji="0" lang="en-US" altLang="ko-Kore-KR" sz="900" b="1" i="0" u="none" strike="noStrike" kern="1200" cap="none" spc="0" normalizeH="0" baseline="0" noProof="0" dirty="0">
                          <a:ln>
                            <a:noFill/>
                          </a:ln>
                          <a:solidFill>
                            <a:srgbClr val="7030A0"/>
                          </a:solidFill>
                          <a:effectLst/>
                          <a:uLnTx/>
                          <a:uFillTx/>
                          <a:latin typeface="Calibri"/>
                          <a:cs typeface="Calibri"/>
                        </a:rPr>
                        <a:t>Gate C4-9</a:t>
                      </a:r>
                      <a:endParaRPr kumimoji="0" lang="ko-KR" altLang="en-US" sz="800" b="1" i="0" u="none" strike="noStrike" kern="1200" cap="none" spc="0" normalizeH="0" baseline="0" noProof="0" dirty="0">
                        <a:ln>
                          <a:noFill/>
                        </a:ln>
                        <a:solidFill>
                          <a:srgbClr val="7030A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794870617"/>
              </p:ext>
            </p:extLst>
          </p:nvPr>
        </p:nvGraphicFramePr>
        <p:xfrm>
          <a:off x="-2501" y="16504"/>
          <a:ext cx="2328850" cy="639323"/>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7355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34852">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p>
                    <a:p>
                      <a:pPr marL="0" marR="0" lvl="0" indent="0" algn="ctr" rtl="0">
                        <a:spcBef>
                          <a:spcPts val="0"/>
                        </a:spcBef>
                        <a:spcAft>
                          <a:spcPts val="0"/>
                        </a:spcAft>
                        <a:buNone/>
                      </a:pPr>
                      <a:r>
                        <a:rPr lang="en-US" sz="900" b="1" dirty="0">
                          <a:solidFill>
                            <a:srgbClr val="7030A0"/>
                          </a:solidFill>
                        </a:rPr>
                        <a:t>Gate 21-27</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319652529"/>
              </p:ext>
            </p:extLst>
          </p:nvPr>
        </p:nvGraphicFramePr>
        <p:xfrm>
          <a:off x="-2501" y="16504"/>
          <a:ext cx="2328850" cy="690598"/>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8148">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372583">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 </a:t>
                      </a:r>
                    </a:p>
                    <a:p>
                      <a:pPr marL="0" marR="0" lvl="0" indent="0" algn="ctr" rtl="0">
                        <a:spcBef>
                          <a:spcPts val="0"/>
                        </a:spcBef>
                        <a:spcAft>
                          <a:spcPts val="0"/>
                        </a:spcAft>
                        <a:buNone/>
                      </a:pPr>
                      <a:r>
                        <a:rPr lang="en-US" sz="900" b="1" dirty="0">
                          <a:solidFill>
                            <a:srgbClr val="7030A0"/>
                          </a:solidFill>
                        </a:rPr>
                        <a:t>Bay International</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extLst>
              <p:ext uri="{D42A27DB-BD31-4B8C-83A1-F6EECF244321}">
                <p14:modId xmlns:p14="http://schemas.microsoft.com/office/powerpoint/2010/main" val="4008410117"/>
              </p:ext>
            </p:extLst>
          </p:nvPr>
        </p:nvGraphicFramePr>
        <p:xfrm>
          <a:off x="1" y="667751"/>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835958381"/>
              </p:ext>
            </p:extLst>
          </p:nvPr>
        </p:nvGraphicFramePr>
        <p:xfrm>
          <a:off x="-2501" y="16505"/>
          <a:ext cx="2328850" cy="601619"/>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2471">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388259">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r>
                        <a:rPr lang="en-US" sz="900" b="1" dirty="0">
                          <a:solidFill>
                            <a:srgbClr val="7030A0"/>
                          </a:solidFill>
                        </a:rPr>
                        <a:t>Stand 78-85</a:t>
                      </a: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426021401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 </a:t>
                      </a:r>
                      <a:r>
                        <a:rPr lang="en-US" sz="900" dirty="0">
                          <a:solidFill>
                            <a:srgbClr val="C00000"/>
                          </a:solidFill>
                        </a:rPr>
                        <a:t>No D-ATIS</a:t>
                      </a:r>
                    </a:p>
                    <a:p>
                      <a:pPr marL="0" marR="0" lvl="0" indent="0" algn="ctr" rtl="0">
                        <a:spcBef>
                          <a:spcPts val="0"/>
                        </a:spcBef>
                        <a:spcAft>
                          <a:spcPts val="0"/>
                        </a:spcAft>
                        <a:buNone/>
                      </a:pPr>
                      <a:r>
                        <a:rPr lang="en-US" sz="900" b="1" dirty="0">
                          <a:solidFill>
                            <a:srgbClr val="7030A0"/>
                          </a:solidFill>
                        </a:rPr>
                        <a:t>Stand 2, 4, 6</a:t>
                      </a:r>
                      <a:endParaRPr sz="900" b="1" dirty="0">
                        <a:solidFill>
                          <a:srgbClr val="7030A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2969756510"/>
              </p:ext>
            </p:extLst>
          </p:nvPr>
        </p:nvGraphicFramePr>
        <p:xfrm>
          <a:off x="-2501" y="16504"/>
          <a:ext cx="2328850" cy="65483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p>
                      <a:pPr marL="0" marR="0" lvl="0" indent="0" algn="ctr" rtl="0">
                        <a:spcBef>
                          <a:spcPts val="0"/>
                        </a:spcBef>
                        <a:spcAft>
                          <a:spcPts val="0"/>
                        </a:spcAft>
                        <a:buNone/>
                      </a:pPr>
                      <a:r>
                        <a:rPr lang="en-US" sz="900" b="1" dirty="0">
                          <a:solidFill>
                            <a:srgbClr val="7030A0"/>
                          </a:solidFill>
                        </a:rPr>
                        <a:t>Stand C45-63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E821D096-B8E3-6111-29C7-56CA5A1A9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6362BF-8152-2201-B947-10FF2A9E2FCA}"/>
              </a:ext>
            </a:extLst>
          </p:cNvPr>
          <p:cNvSpPr txBox="1"/>
          <p:nvPr/>
        </p:nvSpPr>
        <p:spPr>
          <a:xfrm>
            <a:off x="-35464" y="2886710"/>
            <a:ext cx="248978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CPDLC VYYF(Yangon), VECF(Kolkata)</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KTM -10min (126.5) C/S, A333, PSN, FL, FIR Time</a:t>
            </a:r>
          </a:p>
          <a:p>
            <a:pPr>
              <a:lnSpc>
                <a:spcPct val="150000"/>
              </a:lnSpc>
            </a:pPr>
            <a:r>
              <a:rPr kumimoji="1" lang="en-US" altLang="ko-Kore-KR" sz="700" b="1" u="sng" dirty="0">
                <a:latin typeface="Gulim" panose="020B0600000101010101" pitchFamily="34" charset="-127"/>
                <a:ea typeface="Gulim" panose="020B0600000101010101" pitchFamily="34" charset="-127"/>
              </a:rPr>
              <a:t>   RTE, L/D type “Req Entering CLR”</a:t>
            </a:r>
          </a:p>
          <a:p>
            <a:pPr>
              <a:lnSpc>
                <a:spcPct val="150000"/>
              </a:lnSpc>
            </a:pPr>
            <a:r>
              <a:rPr kumimoji="1" lang="en-US" altLang="ko-Kore-KR" sz="700" b="1" u="sng" dirty="0">
                <a:latin typeface="Gulim" panose="020B0600000101010101" pitchFamily="34" charset="-127"/>
                <a:ea typeface="Gulim" panose="020B0600000101010101" pitchFamily="34" charset="-127"/>
              </a:rPr>
              <a:t>- Report </a:t>
            </a:r>
            <a:r>
              <a:rPr kumimoji="1" lang="en-US" altLang="ko-Kore-KR" sz="700" b="1" u="sng" dirty="0" err="1">
                <a:latin typeface="Gulim" panose="020B0600000101010101" pitchFamily="34" charset="-127"/>
                <a:ea typeface="Gulim" panose="020B0600000101010101" pitchFamily="34" charset="-127"/>
              </a:rPr>
              <a:t>Kolkatka</a:t>
            </a:r>
            <a:r>
              <a:rPr kumimoji="1" lang="en-US" altLang="ko-Kore-KR" sz="700" b="1" u="sng" dirty="0">
                <a:latin typeface="Gulim" panose="020B0600000101010101" pitchFamily="34" charset="-127"/>
                <a:ea typeface="Gulim" panose="020B0600000101010101" pitchFamily="34" charset="-127"/>
              </a:rPr>
              <a:t> Establish with KTM</a:t>
            </a:r>
            <a:endParaRPr kumimoji="1" lang="en-US" altLang="ko-Kore-KR" sz="700" b="1" u="sng" dirty="0">
              <a:solidFill>
                <a:srgbClr val="FFC00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FE54DE9-7095-CCC5-80FB-91179A866955}"/>
              </a:ext>
            </a:extLst>
          </p:cNvPr>
          <p:cNvGraphicFramePr/>
          <p:nvPr>
            <p:extLst>
              <p:ext uri="{D42A27DB-BD31-4B8C-83A1-F6EECF244321}">
                <p14:modId xmlns:p14="http://schemas.microsoft.com/office/powerpoint/2010/main" val="3979693881"/>
              </p:ext>
            </p:extLst>
          </p:nvPr>
        </p:nvGraphicFramePr>
        <p:xfrm>
          <a:off x="-6570" y="4016888"/>
          <a:ext cx="2335434" cy="1553418"/>
        </p:xfrm>
        <a:graphic>
          <a:graphicData uri="http://schemas.openxmlformats.org/drawingml/2006/table">
            <a:tbl>
              <a:tblPr firstRow="1" bandRow="1">
                <a:noFill/>
                <a:tableStyleId>{A521BE36-7E6F-4EC9-8D66-1CF97A6895EC}</a:tableStyleId>
              </a:tblPr>
              <a:tblGrid>
                <a:gridCol w="360131">
                  <a:extLst>
                    <a:ext uri="{9D8B030D-6E8A-4147-A177-3AD203B41FA5}">
                      <a16:colId xmlns:a16="http://schemas.microsoft.com/office/drawing/2014/main" val="20000"/>
                    </a:ext>
                  </a:extLst>
                </a:gridCol>
                <a:gridCol w="617580">
                  <a:extLst>
                    <a:ext uri="{9D8B030D-6E8A-4147-A177-3AD203B41FA5}">
                      <a16:colId xmlns:a16="http://schemas.microsoft.com/office/drawing/2014/main" val="20001"/>
                    </a:ext>
                  </a:extLst>
                </a:gridCol>
                <a:gridCol w="244368">
                  <a:extLst>
                    <a:ext uri="{9D8B030D-6E8A-4147-A177-3AD203B41FA5}">
                      <a16:colId xmlns:a16="http://schemas.microsoft.com/office/drawing/2014/main" val="20002"/>
                    </a:ext>
                  </a:extLst>
                </a:gridCol>
                <a:gridCol w="202096">
                  <a:extLst>
                    <a:ext uri="{9D8B030D-6E8A-4147-A177-3AD203B41FA5}">
                      <a16:colId xmlns:a16="http://schemas.microsoft.com/office/drawing/2014/main" val="4076744984"/>
                    </a:ext>
                  </a:extLst>
                </a:gridCol>
                <a:gridCol w="911259">
                  <a:extLst>
                    <a:ext uri="{9D8B030D-6E8A-4147-A177-3AD203B41FA5}">
                      <a16:colId xmlns:a16="http://schemas.microsoft.com/office/drawing/2014/main" val="20003"/>
                    </a:ext>
                  </a:extLst>
                </a:gridCol>
              </a:tblGrid>
              <a:tr h="277959">
                <a:tc gridSpan="5">
                  <a:txBody>
                    <a:bodyPr/>
                    <a:lstStyle/>
                    <a:p>
                      <a:pPr marL="0" marR="0" lvl="0" indent="0" algn="ctr" rtl="0">
                        <a:spcBef>
                          <a:spcPts val="0"/>
                        </a:spcBef>
                        <a:spcAft>
                          <a:spcPts val="0"/>
                        </a:spcAft>
                        <a:buNone/>
                      </a:pPr>
                      <a:r>
                        <a:rPr lang="en-US" sz="800" dirty="0"/>
                        <a:t>KTM</a:t>
                      </a:r>
                      <a:r>
                        <a:rPr lang="en-US" sz="800" dirty="0">
                          <a:solidFill>
                            <a:srgbClr val="00B0F0"/>
                          </a:solidFill>
                        </a:rPr>
                        <a:t>[022/202]</a:t>
                      </a:r>
                      <a:r>
                        <a:rPr lang="en-US" sz="800" dirty="0"/>
                        <a:t> UTC+5:45 TL 150 </a:t>
                      </a:r>
                      <a:r>
                        <a:rPr lang="en-US" sz="700" dirty="0">
                          <a:solidFill>
                            <a:srgbClr val="92D050"/>
                          </a:solidFill>
                        </a:rPr>
                        <a:t>Curfew 1915-0015Z</a:t>
                      </a:r>
                    </a:p>
                    <a:p>
                      <a:pPr marL="0" marR="0" lvl="0" indent="0" algn="ctr" rtl="0">
                        <a:spcBef>
                          <a:spcPts val="0"/>
                        </a:spcBef>
                        <a:spcAft>
                          <a:spcPts val="0"/>
                        </a:spcAft>
                        <a:buNone/>
                      </a:pPr>
                      <a:r>
                        <a:rPr lang="en-US" sz="800" dirty="0">
                          <a:solidFill>
                            <a:srgbClr val="FFC000"/>
                          </a:solidFill>
                        </a:rPr>
                        <a:t>Night : Only RNP Z 02(AR) Comm Policy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0762">
                <a:tc>
                  <a:txBody>
                    <a:bodyPr/>
                    <a:lstStyle/>
                    <a:p>
                      <a:pPr marL="0" marR="0" lvl="0" indent="0" algn="ctr" rtl="0">
                        <a:spcBef>
                          <a:spcPts val="0"/>
                        </a:spcBef>
                        <a:spcAft>
                          <a:spcPts val="0"/>
                        </a:spcAft>
                        <a:buNone/>
                      </a:pPr>
                      <a:r>
                        <a:rPr lang="en-US" sz="800" b="1" dirty="0">
                          <a:solidFill>
                            <a:srgbClr val="0070C0"/>
                          </a:solidFill>
                        </a:rPr>
                        <a:t>02</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ROMEO x R </a:t>
                      </a:r>
                    </a:p>
                  </a:txBody>
                  <a:tcPr marL="36000" marR="36000" marT="36000" marB="36000" anchor="ctr"/>
                </a:tc>
                <a:tc gridSpan="2">
                  <a:txBody>
                    <a:bodyPr/>
                    <a:lstStyle/>
                    <a:p>
                      <a:pPr marL="0" marR="0" lvl="0" indent="0" algn="ctr" rtl="0">
                        <a:spcBef>
                          <a:spcPts val="0"/>
                        </a:spcBef>
                        <a:spcAft>
                          <a:spcPts val="0"/>
                        </a:spcAft>
                        <a:buNone/>
                      </a:pPr>
                      <a:r>
                        <a:rPr lang="en-US" sz="800" b="1" dirty="0"/>
                        <a:t>RATAN</a:t>
                      </a:r>
                      <a:endParaRPr sz="800" b="1"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RNP Z 02 </a:t>
                      </a:r>
                      <a:r>
                        <a:rPr lang="en-US" sz="800" b="0" dirty="0"/>
                        <a:t>/ VOR 02</a:t>
                      </a:r>
                    </a:p>
                    <a:p>
                      <a:pPr marL="0" marR="0" lvl="0" indent="0" algn="ctr" rtl="0">
                        <a:spcBef>
                          <a:spcPts val="0"/>
                        </a:spcBef>
                        <a:spcAft>
                          <a:spcPts val="0"/>
                        </a:spcAft>
                        <a:buNone/>
                      </a:pPr>
                      <a:r>
                        <a:rPr lang="en-US" sz="800" b="1" dirty="0">
                          <a:solidFill>
                            <a:srgbClr val="7030A0"/>
                          </a:solidFill>
                        </a:rPr>
                        <a:t>KT530/D9.0 (</a:t>
                      </a:r>
                      <a:r>
                        <a:rPr lang="en-US" sz="800" b="1" dirty="0" err="1">
                          <a:solidFill>
                            <a:srgbClr val="7030A0"/>
                          </a:solidFill>
                        </a:rPr>
                        <a:t>Vapp</a:t>
                      </a:r>
                      <a:r>
                        <a:rPr lang="en-US" sz="800" b="1" dirty="0">
                          <a:solidFill>
                            <a:srgbClr val="7030A0"/>
                          </a:solidFill>
                        </a:rPr>
                        <a:t>)</a:t>
                      </a:r>
                    </a:p>
                  </a:txBody>
                  <a:tcPr marL="36000" marR="36000" marT="36000" marB="36000" anchor="ctr"/>
                </a:tc>
                <a:extLst>
                  <a:ext uri="{0D108BD9-81ED-4DB2-BD59-A6C34878D82A}">
                    <a16:rowId xmlns:a16="http://schemas.microsoft.com/office/drawing/2014/main" val="10001"/>
                  </a:ext>
                </a:extLst>
              </a:tr>
              <a:tr h="16076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7030A0"/>
                          </a:solidFill>
                        </a:rPr>
                        <a:t> Set KTM 105&amp;288 </a:t>
                      </a:r>
                      <a:endParaRPr sz="800" b="0" dirty="0">
                        <a:solidFill>
                          <a:srgbClr val="7030A0"/>
                        </a:solidFill>
                      </a:endParaRP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solidFill>
                            <a:schemeClr val="lt1"/>
                          </a:solidFill>
                        </a:rPr>
                        <a:t>FIX</a:t>
                      </a:r>
                    </a:p>
                  </a:txBody>
                  <a:tcPr marL="36000" marR="36000" marT="36000" marB="36000" anchor="ctr">
                    <a:solidFill>
                      <a:schemeClr val="accent1"/>
                    </a:solidFill>
                  </a:tcPr>
                </a:tc>
                <a:tc>
                  <a:txBody>
                    <a:bodyPr/>
                    <a:lstStyle/>
                    <a:p>
                      <a:r>
                        <a:rPr lang="en-US" altLang="ko-Kore-KR" sz="800" b="1" dirty="0">
                          <a:solidFill>
                            <a:srgbClr val="7030A0"/>
                          </a:solidFill>
                        </a:rPr>
                        <a:t>Set KTM </a:t>
                      </a:r>
                      <a:r>
                        <a:rPr lang="en-US" altLang="ko-KR" sz="800" b="1" dirty="0">
                          <a:solidFill>
                            <a:srgbClr val="7030A0"/>
                          </a:solidFill>
                        </a:rPr>
                        <a:t>/4, DANFE</a:t>
                      </a:r>
                      <a:endParaRPr lang="ko-Kore-KR" dirty="0"/>
                    </a:p>
                  </a:txBody>
                  <a:tcPr marL="36000" marR="36000" marT="36000" marB="36000" anchor="ctr"/>
                </a:tc>
                <a:extLst>
                  <a:ext uri="{0D108BD9-81ED-4DB2-BD59-A6C34878D82A}">
                    <a16:rowId xmlns:a16="http://schemas.microsoft.com/office/drawing/2014/main" val="10004"/>
                  </a:ext>
                </a:extLst>
              </a:tr>
              <a:tr h="26183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02 : </a:t>
                      </a:r>
                      <a:r>
                        <a:rPr lang="en-US" sz="800" b="1" dirty="0">
                          <a:solidFill>
                            <a:srgbClr val="0070C0"/>
                          </a:solidFill>
                        </a:rPr>
                        <a:t>B(6814’)</a:t>
                      </a:r>
                      <a:r>
                        <a:rPr lang="en-US" sz="800" b="1" dirty="0">
                          <a:solidFill>
                            <a:schemeClr val="dk1"/>
                          </a:solidFill>
                        </a:rPr>
                        <a:t>, A(8395’), 20 : </a:t>
                      </a:r>
                      <a:r>
                        <a:rPr lang="en-US" sz="800" b="1" dirty="0">
                          <a:solidFill>
                            <a:srgbClr val="0070C0"/>
                          </a:solidFill>
                        </a:rPr>
                        <a:t>E(6387’, 90º)</a:t>
                      </a:r>
                      <a:r>
                        <a:rPr lang="en-US" sz="800" b="1" dirty="0">
                          <a:solidFill>
                            <a:schemeClr val="dk1"/>
                          </a:solidFill>
                        </a:rPr>
                        <a:t>, 180 Back</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High FE + Upslope = 50’ Flare (No 40’, 30’)</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Ramp Slippery NOT Rel Brake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0070C0"/>
                          </a:solidFill>
                        </a:rPr>
                        <a:t>RNP 02(AR) Procedure Next Page =&gt;</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26199551"/>
                  </a:ext>
                </a:extLst>
              </a:tr>
            </a:tbl>
          </a:graphicData>
        </a:graphic>
      </p:graphicFrame>
      <p:graphicFrame>
        <p:nvGraphicFramePr>
          <p:cNvPr id="293" name="Google Shape;293;p18">
            <a:extLst>
              <a:ext uri="{FF2B5EF4-FFF2-40B4-BE49-F238E27FC236}">
                <a16:creationId xmlns:a16="http://schemas.microsoft.com/office/drawing/2014/main" id="{A5543E64-B69C-87E1-DE5A-D5FA9BD4866F}"/>
              </a:ext>
            </a:extLst>
          </p:cNvPr>
          <p:cNvGraphicFramePr/>
          <p:nvPr>
            <p:extLst>
              <p:ext uri="{D42A27DB-BD31-4B8C-83A1-F6EECF244321}">
                <p14:modId xmlns:p14="http://schemas.microsoft.com/office/powerpoint/2010/main" val="4171051098"/>
              </p:ext>
            </p:extLst>
          </p:nvPr>
        </p:nvGraphicFramePr>
        <p:xfrm>
          <a:off x="-2501" y="16504"/>
          <a:ext cx="2328850" cy="68862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617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rgbClr val="C00000"/>
                          </a:solidFill>
                          <a:hlinkClick r:id="rId4">
                            <a:extLst>
                              <a:ext uri="{A12FA001-AC4F-418D-AE19-62706E023703}">
                                <ahyp:hlinkClr xmlns:ahyp="http://schemas.microsoft.com/office/drawing/2018/hyperlinkcolor" val="tx"/>
                              </a:ext>
                            </a:extLst>
                          </a:hlinkClick>
                        </a:rPr>
                        <a:t>VNKT(KTM</a:t>
                      </a:r>
                      <a:r>
                        <a:rPr lang="en-US" altLang="ko-KR" sz="1200" dirty="0">
                          <a:solidFill>
                            <a:srgbClr val="C00000"/>
                          </a:solidFill>
                          <a:hlinkClick r:id="rId4">
                            <a:extLst>
                              <a:ext uri="{A12FA001-AC4F-418D-AE19-62706E023703}">
                                <ahyp:hlinkClr xmlns:ahyp="http://schemas.microsoft.com/office/drawing/2018/hyperlinkcolor" val="tx"/>
                              </a:ext>
                            </a:extLst>
                          </a:hlinkClick>
                        </a:rPr>
                        <a:t>)4395ft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9136">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Nepal Airline Corp. 131.6 </a:t>
                      </a:r>
                      <a:r>
                        <a:rPr lang="en-US" sz="800" b="1" dirty="0">
                          <a:solidFill>
                            <a:srgbClr val="C00000"/>
                          </a:solidFill>
                        </a:rPr>
                        <a:t>No DATIS</a:t>
                      </a:r>
                    </a:p>
                    <a:p>
                      <a:pPr marL="0" marR="0" lvl="0" indent="0" algn="ctr" rtl="0">
                        <a:spcBef>
                          <a:spcPts val="0"/>
                        </a:spcBef>
                        <a:spcAft>
                          <a:spcPts val="0"/>
                        </a:spcAft>
                        <a:buNone/>
                      </a:pPr>
                      <a:r>
                        <a:rPr lang="en-US" sz="900" b="1" dirty="0">
                          <a:solidFill>
                            <a:srgbClr val="7030A0"/>
                          </a:solidFill>
                        </a:rPr>
                        <a:t>Spot 1-4</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3B8597B3-D353-FA18-F792-666B4204C212}"/>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91D71E8A-4C6B-8C4A-917C-A356E679CD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2874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0C17837-0B12-6BC4-C4CC-7EC734B38309}"/>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4519766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5D8D918-D757-C0E4-5E8A-9DD899E8F356}"/>
            </a:ext>
          </a:extLst>
        </p:cNvPr>
        <p:cNvGrpSpPr/>
        <p:nvPr/>
      </p:nvGrpSpPr>
      <p:grpSpPr>
        <a:xfrm>
          <a:off x="0" y="0"/>
          <a:ext cx="0" cy="0"/>
          <a:chOff x="0" y="0"/>
          <a:chExt cx="0" cy="0"/>
        </a:xfrm>
      </p:grpSpPr>
      <p:pic>
        <p:nvPicPr>
          <p:cNvPr id="17" name="그림 16" descr="텍스트, 스크린샷, 원, 도표이(가) 표시된 사진&#10;&#10;자동 생성된 설명">
            <a:extLst>
              <a:ext uri="{FF2B5EF4-FFF2-40B4-BE49-F238E27FC236}">
                <a16:creationId xmlns:a16="http://schemas.microsoft.com/office/drawing/2014/main" id="{D38D985D-A3CF-2D21-EC39-1DE751FEF108}"/>
              </a:ext>
            </a:extLst>
          </p:cNvPr>
          <p:cNvPicPr>
            <a:picLocks noChangeAspect="1"/>
          </p:cNvPicPr>
          <p:nvPr/>
        </p:nvPicPr>
        <p:blipFill>
          <a:blip r:embed="rId3"/>
          <a:stretch>
            <a:fillRect/>
          </a:stretch>
        </p:blipFill>
        <p:spPr>
          <a:xfrm>
            <a:off x="0" y="1797304"/>
            <a:ext cx="2328863" cy="2132784"/>
          </a:xfrm>
          <a:prstGeom prst="rect">
            <a:avLst/>
          </a:prstGeom>
        </p:spPr>
      </p:pic>
      <p:grpSp>
        <p:nvGrpSpPr>
          <p:cNvPr id="13" name="그룹 12">
            <a:extLst>
              <a:ext uri="{FF2B5EF4-FFF2-40B4-BE49-F238E27FC236}">
                <a16:creationId xmlns:a16="http://schemas.microsoft.com/office/drawing/2014/main" id="{66A0AB6C-8FF2-0228-D79F-205F1C6F018D}"/>
              </a:ext>
            </a:extLst>
          </p:cNvPr>
          <p:cNvGrpSpPr/>
          <p:nvPr/>
        </p:nvGrpSpPr>
        <p:grpSpPr>
          <a:xfrm>
            <a:off x="-4129" y="-5376"/>
            <a:ext cx="2328863" cy="2094945"/>
            <a:chOff x="-4129" y="443195"/>
            <a:chExt cx="2328863" cy="2094945"/>
          </a:xfrm>
        </p:grpSpPr>
        <p:pic>
          <p:nvPicPr>
            <p:cNvPr id="6" name="그림 5" descr="텍스트, 스크린샷, 도표, 폰트이(가) 표시된 사진&#10;&#10;자동 생성된 설명">
              <a:extLst>
                <a:ext uri="{FF2B5EF4-FFF2-40B4-BE49-F238E27FC236}">
                  <a16:creationId xmlns:a16="http://schemas.microsoft.com/office/drawing/2014/main" id="{FE2DDF6E-55D7-0FCF-EF51-F6E24777FB4D}"/>
                </a:ext>
              </a:extLst>
            </p:cNvPr>
            <p:cNvPicPr>
              <a:picLocks noChangeAspect="1"/>
            </p:cNvPicPr>
            <p:nvPr/>
          </p:nvPicPr>
          <p:blipFill>
            <a:blip r:embed="rId4"/>
            <a:stretch>
              <a:fillRect/>
            </a:stretch>
          </p:blipFill>
          <p:spPr>
            <a:xfrm>
              <a:off x="-4129" y="443195"/>
              <a:ext cx="2328863" cy="2094945"/>
            </a:xfrm>
            <a:prstGeom prst="rect">
              <a:avLst/>
            </a:prstGeom>
          </p:spPr>
        </p:pic>
        <p:sp>
          <p:nvSpPr>
            <p:cNvPr id="7" name="사각형 설명선[R] 6">
              <a:extLst>
                <a:ext uri="{FF2B5EF4-FFF2-40B4-BE49-F238E27FC236}">
                  <a16:creationId xmlns:a16="http://schemas.microsoft.com/office/drawing/2014/main" id="{7EBD4023-1455-72DB-5AA5-E0BD3BBA03B2}"/>
                </a:ext>
              </a:extLst>
            </p:cNvPr>
            <p:cNvSpPr/>
            <p:nvPr/>
          </p:nvSpPr>
          <p:spPr>
            <a:xfrm>
              <a:off x="1305624" y="2109949"/>
              <a:ext cx="376527" cy="155275"/>
            </a:xfrm>
            <a:prstGeom prst="wedgeRectCallout">
              <a:avLst>
                <a:gd name="adj1" fmla="val -80198"/>
                <a:gd name="adj2" fmla="val 1527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ko-Kore-KR" sz="500" b="1" dirty="0">
                  <a:latin typeface="+mn-ea"/>
                </a:rPr>
                <a:t>Flap 1</a:t>
              </a:r>
              <a:endParaRPr kumimoji="1" lang="ko-Kore-KR" altLang="en-US" sz="500" b="1" dirty="0">
                <a:latin typeface="+mn-ea"/>
              </a:endParaRPr>
            </a:p>
          </p:txBody>
        </p:sp>
        <p:sp>
          <p:nvSpPr>
            <p:cNvPr id="10" name="사각형 설명선[R] 9">
              <a:extLst>
                <a:ext uri="{FF2B5EF4-FFF2-40B4-BE49-F238E27FC236}">
                  <a16:creationId xmlns:a16="http://schemas.microsoft.com/office/drawing/2014/main" id="{11BB98E8-8AEA-0890-0741-5FCFB40F3640}"/>
                </a:ext>
              </a:extLst>
            </p:cNvPr>
            <p:cNvSpPr/>
            <p:nvPr/>
          </p:nvSpPr>
          <p:spPr>
            <a:xfrm>
              <a:off x="73379" y="1729336"/>
              <a:ext cx="713293" cy="380613"/>
            </a:xfrm>
            <a:prstGeom prst="wedgeRectCallout">
              <a:avLst>
                <a:gd name="adj1" fmla="val 54902"/>
                <a:gd name="adj2" fmla="val 13552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Both ALT within 100ft</a:t>
              </a:r>
            </a:p>
            <a:p>
              <a:pPr algn="ctr"/>
              <a:r>
                <a:rPr kumimoji="1" lang="en-US" altLang="ko-Kore-KR" sz="500" b="1" dirty="0">
                  <a:latin typeface="+mn-ea"/>
                </a:rPr>
                <a:t>TERR ND </a:t>
              </a:r>
              <a:r>
                <a:rPr kumimoji="1" lang="en-US" altLang="ko-KR" sz="500" b="1" dirty="0">
                  <a:latin typeface="+mn-ea"/>
                </a:rPr>
                <a:t>10NM</a:t>
              </a:r>
              <a:endParaRPr kumimoji="1" lang="en-US" altLang="ko-Kore-KR" sz="500" b="1" dirty="0">
                <a:latin typeface="+mn-ea"/>
              </a:endParaRPr>
            </a:p>
            <a:p>
              <a:pPr algn="ctr"/>
              <a:r>
                <a:rPr kumimoji="1" lang="en-US" altLang="ko-Kore-KR" sz="500" b="1" dirty="0">
                  <a:latin typeface="+mn-ea"/>
                </a:rPr>
                <a:t>PF-F PLN / PM</a:t>
              </a:r>
              <a:r>
                <a:rPr kumimoji="1" lang="en-US" altLang="ko-KR" sz="500" b="1" dirty="0">
                  <a:latin typeface="+mn-ea"/>
                </a:rPr>
                <a:t>-</a:t>
              </a:r>
              <a:r>
                <a:rPr kumimoji="1" lang="en-US" altLang="ko-Kore-KR" sz="500" b="1" dirty="0">
                  <a:latin typeface="+mn-ea"/>
                </a:rPr>
                <a:t>PROG</a:t>
              </a:r>
            </a:p>
            <a:p>
              <a:pPr algn="ctr"/>
              <a:r>
                <a:rPr kumimoji="1" lang="en-US" altLang="ko-Kore-KR" sz="500" b="1" dirty="0">
                  <a:latin typeface="+mn-ea"/>
                </a:rPr>
                <a:t>RNP 0.3NM PROG</a:t>
              </a:r>
              <a:endParaRPr kumimoji="1" lang="ko-Kore-KR" altLang="en-US" sz="500" b="1" dirty="0">
                <a:latin typeface="+mn-ea"/>
              </a:endParaRPr>
            </a:p>
          </p:txBody>
        </p:sp>
        <p:sp>
          <p:nvSpPr>
            <p:cNvPr id="11" name="사각형 설명선[R] 10">
              <a:extLst>
                <a:ext uri="{FF2B5EF4-FFF2-40B4-BE49-F238E27FC236}">
                  <a16:creationId xmlns:a16="http://schemas.microsoft.com/office/drawing/2014/main" id="{5139A124-940F-FBD9-706B-A8285B35E684}"/>
                </a:ext>
              </a:extLst>
            </p:cNvPr>
            <p:cNvSpPr/>
            <p:nvPr/>
          </p:nvSpPr>
          <p:spPr>
            <a:xfrm>
              <a:off x="1360152" y="1484042"/>
              <a:ext cx="713293" cy="380613"/>
            </a:xfrm>
            <a:prstGeom prst="wedgeRectCallout">
              <a:avLst>
                <a:gd name="adj1" fmla="val -68454"/>
                <a:gd name="adj2" fmla="val 3353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FINAL APP </a:t>
              </a:r>
            </a:p>
            <a:p>
              <a:pPr algn="ctr"/>
              <a:r>
                <a:rPr kumimoji="1" lang="en-US" altLang="ko-Kore-KR" sz="500" b="1" dirty="0">
                  <a:latin typeface="+mn-ea"/>
                </a:rPr>
                <a:t>GA ALT 10500’ set</a:t>
              </a:r>
              <a:endParaRPr kumimoji="1" lang="ko-Kore-KR" altLang="en-US" sz="500" b="1" dirty="0">
                <a:latin typeface="+mn-ea"/>
              </a:endParaRPr>
            </a:p>
          </p:txBody>
        </p:sp>
        <p:sp>
          <p:nvSpPr>
            <p:cNvPr id="12" name="사각형 설명선[R] 11">
              <a:extLst>
                <a:ext uri="{FF2B5EF4-FFF2-40B4-BE49-F238E27FC236}">
                  <a16:creationId xmlns:a16="http://schemas.microsoft.com/office/drawing/2014/main" id="{C71D5ADA-4460-8D41-1BFE-004BD0547E03}"/>
                </a:ext>
              </a:extLst>
            </p:cNvPr>
            <p:cNvSpPr/>
            <p:nvPr/>
          </p:nvSpPr>
          <p:spPr>
            <a:xfrm>
              <a:off x="147455" y="904591"/>
              <a:ext cx="713293" cy="380613"/>
            </a:xfrm>
            <a:prstGeom prst="wedgeRectCallout">
              <a:avLst>
                <a:gd name="adj1" fmla="val 62763"/>
                <a:gd name="adj2" fmla="val 13439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R" sz="500" b="1" dirty="0">
                  <a:latin typeface="+mn-ea"/>
                </a:rPr>
                <a:t>Must </a:t>
              </a:r>
              <a:r>
                <a:rPr kumimoji="1" lang="en-US" altLang="ko-Kore-KR" sz="500" b="1" dirty="0">
                  <a:latin typeface="+mn-ea"/>
                </a:rPr>
                <a:t>GA </a:t>
              </a:r>
            </a:p>
            <a:p>
              <a:pPr algn="ctr"/>
              <a:r>
                <a:rPr kumimoji="1" lang="en-US" altLang="ko-KR" sz="500" b="1" dirty="0">
                  <a:latin typeface="+mn-ea"/>
                </a:rPr>
                <a:t>- </a:t>
              </a:r>
              <a:r>
                <a:rPr kumimoji="1" lang="en-US" altLang="ko-Kore-KR" sz="500" b="1" dirty="0">
                  <a:latin typeface="+mn-ea"/>
                </a:rPr>
                <a:t>V/DEV 75ft</a:t>
              </a:r>
            </a:p>
            <a:p>
              <a:pPr algn="ctr"/>
              <a:r>
                <a:rPr kumimoji="1" lang="en-US" altLang="ko-KR" sz="500" b="1" dirty="0">
                  <a:latin typeface="+mn-ea"/>
                </a:rPr>
                <a:t>- </a:t>
              </a:r>
              <a:r>
                <a:rPr kumimoji="1" lang="en-US" altLang="ko-Kore-KR" sz="500" b="1" dirty="0">
                  <a:latin typeface="+mn-ea"/>
                </a:rPr>
                <a:t>D/DEV</a:t>
              </a:r>
              <a:r>
                <a:rPr kumimoji="1" lang="ko-Kore-KR" altLang="en-US" sz="500" b="1" dirty="0">
                  <a:latin typeface="+mn-ea"/>
                </a:rPr>
                <a:t> </a:t>
              </a:r>
              <a:r>
                <a:rPr kumimoji="1" lang="en-US" altLang="ko-Kore-KR" sz="500" b="1" dirty="0">
                  <a:latin typeface="+mn-ea"/>
                </a:rPr>
                <a:t>0</a:t>
              </a:r>
              <a:r>
                <a:rPr kumimoji="1" lang="en-US" altLang="ko-KR" sz="500" b="1" dirty="0">
                  <a:latin typeface="+mn-ea"/>
                </a:rPr>
                <a:t>.3NM</a:t>
              </a:r>
            </a:p>
            <a:p>
              <a:pPr algn="ctr"/>
              <a:r>
                <a:rPr kumimoji="1" lang="en-US" altLang="ko-KR" sz="500" b="1" dirty="0">
                  <a:latin typeface="+mn-ea"/>
                </a:rPr>
                <a:t>- SYS Malfunction</a:t>
              </a:r>
              <a:endParaRPr kumimoji="1" lang="ko-Kore-KR" altLang="en-US" sz="500" b="1" dirty="0">
                <a:latin typeface="+mn-ea"/>
              </a:endParaRPr>
            </a:p>
          </p:txBody>
        </p:sp>
      </p:grpSp>
      <p:graphicFrame>
        <p:nvGraphicFramePr>
          <p:cNvPr id="145" name="Google Shape;138;p4">
            <a:extLst>
              <a:ext uri="{FF2B5EF4-FFF2-40B4-BE49-F238E27FC236}">
                <a16:creationId xmlns:a16="http://schemas.microsoft.com/office/drawing/2014/main" id="{4DC62EE1-445D-DD0C-F803-22F1A01AA5ED}"/>
              </a:ext>
            </a:extLst>
          </p:cNvPr>
          <p:cNvGraphicFramePr/>
          <p:nvPr>
            <p:extLst>
              <p:ext uri="{D42A27DB-BD31-4B8C-83A1-F6EECF244321}">
                <p14:modId xmlns:p14="http://schemas.microsoft.com/office/powerpoint/2010/main" val="3849082299"/>
              </p:ext>
            </p:extLst>
          </p:nvPr>
        </p:nvGraphicFramePr>
        <p:xfrm>
          <a:off x="-4122" y="3917622"/>
          <a:ext cx="2328850" cy="165960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73626">
                <a:tc>
                  <a:txBody>
                    <a:bodyPr/>
                    <a:lstStyle/>
                    <a:p>
                      <a:pPr marL="0" marR="0" lvl="0" indent="0" algn="ctr" rtl="0">
                        <a:spcBef>
                          <a:spcPts val="0"/>
                        </a:spcBef>
                        <a:spcAft>
                          <a:spcPts val="0"/>
                        </a:spcAft>
                        <a:buNone/>
                      </a:pPr>
                      <a:r>
                        <a:rPr lang="en-US" sz="1000" dirty="0"/>
                        <a:t>SYS Fail / GA </a:t>
                      </a:r>
                      <a:r>
                        <a:rPr lang="en-US" sz="1000" dirty="0">
                          <a:solidFill>
                            <a:srgbClr val="FFC000"/>
                          </a:solidFill>
                        </a:rPr>
                        <a:t>(Dual-GA, Single-GA or CONT)</a:t>
                      </a:r>
                    </a:p>
                  </a:txBody>
                  <a:tcPr marL="36000" marR="36000" marT="36000" marB="36000" anchor="ctr"/>
                </a:tc>
                <a:extLst>
                  <a:ext uri="{0D108BD9-81ED-4DB2-BD59-A6C34878D82A}">
                    <a16:rowId xmlns:a16="http://schemas.microsoft.com/office/drawing/2014/main" val="10000"/>
                  </a:ext>
                </a:extLst>
              </a:tr>
              <a:tr h="244377">
                <a:tc>
                  <a:txBody>
                    <a:bodyPr/>
                    <a:lstStyle/>
                    <a:p>
                      <a:pPr marL="0" marR="0" lvl="0" indent="0" algn="l" rtl="0">
                        <a:spcBef>
                          <a:spcPts val="0"/>
                        </a:spcBef>
                        <a:spcAft>
                          <a:spcPts val="0"/>
                        </a:spcAft>
                        <a:buNone/>
                      </a:pPr>
                      <a:r>
                        <a:rPr lang="en-US" altLang="ko-KR" sz="800" b="1" dirty="0"/>
                        <a:t>if Follow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 up – Req DANFE</a:t>
                      </a:r>
                    </a:p>
                  </a:txBody>
                  <a:tcPr marL="36000" marR="36000" marT="36000" marB="36000" anchor="ctr"/>
                </a:tc>
                <a:extLst>
                  <a:ext uri="{0D108BD9-81ED-4DB2-BD59-A6C34878D82A}">
                    <a16:rowId xmlns:a16="http://schemas.microsoft.com/office/drawing/2014/main" val="10001"/>
                  </a:ext>
                </a:extLst>
              </a:tr>
              <a:tr h="52737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b="1" dirty="0"/>
                        <a:t>Dual FMGC (NO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Man GA, 15</a:t>
                      </a:r>
                      <a:r>
                        <a:rPr lang="en-US" altLang="ko-Kore-KR" sz="800" b="0" dirty="0">
                          <a:solidFill>
                            <a:schemeClr val="bg1"/>
                          </a:solidFill>
                        </a:rPr>
                        <a:t>º, 10-20kts ADD </a:t>
                      </a:r>
                      <a:r>
                        <a:rPr lang="en-US" altLang="ko-Kore-KR" sz="800" b="1" dirty="0">
                          <a:solidFill>
                            <a:srgbClr val="0070C0"/>
                          </a:solidFill>
                        </a:rPr>
                        <a:t>(At RW02 R/H Turn)</a:t>
                      </a:r>
                    </a:p>
                    <a:p>
                      <a:pPr marL="0" marR="0" lvl="0" indent="0" algn="l" rtl="0">
                        <a:spcBef>
                          <a:spcPts val="0"/>
                        </a:spcBef>
                        <a:spcAft>
                          <a:spcPts val="0"/>
                        </a:spcAft>
                        <a:buNone/>
                      </a:pPr>
                      <a:r>
                        <a:rPr lang="en-US" altLang="ko-KR" sz="800" b="0" dirty="0">
                          <a:solidFill>
                            <a:schemeClr val="bg1"/>
                          </a:solidFill>
                        </a:rPr>
                        <a:t>- PM </a:t>
                      </a:r>
                      <a:r>
                        <a:rPr lang="en-US" altLang="ko-KR" sz="800" b="1" dirty="0">
                          <a:solidFill>
                            <a:srgbClr val="0070C0"/>
                          </a:solidFill>
                        </a:rPr>
                        <a:t>NAV B/UP </a:t>
                      </a:r>
                      <a:r>
                        <a:rPr lang="en-US" altLang="ko-KR" sz="800" b="0" dirty="0">
                          <a:solidFill>
                            <a:schemeClr val="bg1"/>
                          </a:solidFill>
                        </a:rPr>
                        <a:t>both </a:t>
                      </a:r>
                      <a:r>
                        <a:rPr lang="en-US" altLang="ko-KR" sz="800" b="1" dirty="0">
                          <a:solidFill>
                            <a:srgbClr val="0070C0"/>
                          </a:solidFill>
                        </a:rPr>
                        <a:t>MCDU Menu </a:t>
                      </a:r>
                      <a:r>
                        <a:rPr lang="en-US" altLang="ko-KR" sz="800" b="0" dirty="0">
                          <a:solidFill>
                            <a:schemeClr val="bg1"/>
                          </a:solidFill>
                        </a:rPr>
                        <a:t>– TRK/FRA – Follow TRK (A/P ON) - </a:t>
                      </a:r>
                      <a:r>
                        <a:rPr lang="en-US" altLang="ko-KR" sz="800" b="0" dirty="0">
                          <a:solidFill>
                            <a:srgbClr val="F28943"/>
                          </a:solidFill>
                        </a:rPr>
                        <a:t>if No GA RTE Follow VOR GA Procedure</a:t>
                      </a:r>
                      <a:r>
                        <a:rPr lang="en-US" altLang="ko-KR" sz="800" b="0" dirty="0">
                          <a:solidFill>
                            <a:schemeClr val="bg1"/>
                          </a:solidFill>
                        </a:rPr>
                        <a:t> </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Flaps-up – Req DANFE</a:t>
                      </a:r>
                    </a:p>
                  </a:txBody>
                  <a:tcPr marL="36000" marR="36000" marT="36000" marB="36000" anchor="ctr"/>
                </a:tc>
                <a:extLst>
                  <a:ext uri="{0D108BD9-81ED-4DB2-BD59-A6C34878D82A}">
                    <a16:rowId xmlns:a16="http://schemas.microsoft.com/office/drawing/2014/main" val="1896719678"/>
                  </a:ext>
                </a:extLst>
              </a:tr>
              <a:tr h="33871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dirty="0">
                          <a:solidFill>
                            <a:srgbClr val="0070C0"/>
                          </a:solidFill>
                        </a:rPr>
                        <a:t>VOR GA Procedure </a:t>
                      </a:r>
                      <a:r>
                        <a:rPr lang="en-US" altLang="ko-KR" sz="800" b="1" dirty="0">
                          <a:solidFill>
                            <a:srgbClr val="C00000"/>
                          </a:solidFill>
                        </a:rPr>
                        <a:t>(Acc HT 10500ft)</a:t>
                      </a:r>
                      <a:endParaRPr lang="en-US" altLang="ko-KR" sz="800" dirty="0"/>
                    </a:p>
                    <a:p>
                      <a:pPr marL="0" marR="0" lvl="0" indent="0" algn="l" rtl="0">
                        <a:spcBef>
                          <a:spcPts val="0"/>
                        </a:spcBef>
                        <a:spcAft>
                          <a:spcPts val="0"/>
                        </a:spcAft>
                        <a:buNone/>
                      </a:pPr>
                      <a:r>
                        <a:rPr lang="en-US" altLang="ko-KR" sz="800" dirty="0"/>
                        <a:t>At RW02 R/H Turn(Max 185kts) – 4 DME Arc(IN 5 DME)</a:t>
                      </a:r>
                    </a:p>
                    <a:p>
                      <a:pPr marL="0" marR="0" lvl="0" indent="0" algn="l" rtl="0">
                        <a:spcBef>
                          <a:spcPts val="0"/>
                        </a:spcBef>
                        <a:spcAft>
                          <a:spcPts val="0"/>
                        </a:spcAft>
                        <a:buNone/>
                      </a:pPr>
                      <a:r>
                        <a:rPr lang="en-US" altLang="ko-KR" sz="800" dirty="0"/>
                        <a:t>After RW02 Track 288 OUTBD Until Reach 10500ft</a:t>
                      </a:r>
                    </a:p>
                  </a:txBody>
                  <a:tcPr marL="36000" marR="36000" marT="36000" marB="36000" anchor="ctr"/>
                </a:tc>
                <a:extLst>
                  <a:ext uri="{0D108BD9-81ED-4DB2-BD59-A6C34878D82A}">
                    <a16:rowId xmlns:a16="http://schemas.microsoft.com/office/drawing/2014/main" val="950271664"/>
                  </a:ext>
                </a:extLst>
              </a:tr>
            </a:tbl>
          </a:graphicData>
        </a:graphic>
      </p:graphicFrame>
      <p:graphicFrame>
        <p:nvGraphicFramePr>
          <p:cNvPr id="138" name="Google Shape;138;p4">
            <a:extLst>
              <a:ext uri="{FF2B5EF4-FFF2-40B4-BE49-F238E27FC236}">
                <a16:creationId xmlns:a16="http://schemas.microsoft.com/office/drawing/2014/main" id="{65F5884E-F0F3-2BA4-9E72-216F2C242866}"/>
              </a:ext>
            </a:extLst>
          </p:cNvPr>
          <p:cNvGraphicFramePr/>
          <p:nvPr>
            <p:extLst>
              <p:ext uri="{D42A27DB-BD31-4B8C-83A1-F6EECF244321}">
                <p14:modId xmlns:p14="http://schemas.microsoft.com/office/powerpoint/2010/main" val="1479577861"/>
              </p:ext>
            </p:extLst>
          </p:nvPr>
        </p:nvGraphicFramePr>
        <p:xfrm>
          <a:off x="0" y="-1"/>
          <a:ext cx="2328850" cy="392503"/>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KTM RNP Z 02(AR)</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15286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Calibri"/>
                          <a:cs typeface="Calibri"/>
                        </a:rPr>
                        <a:t>Before TOD </a:t>
                      </a:r>
                      <a:r>
                        <a:rPr kumimoji="0" lang="en-US" altLang="ko-Kore-KR" sz="800" b="1" i="0" u="none" strike="noStrike" kern="1200" cap="none" spc="0" normalizeH="0" baseline="0" noProof="0" dirty="0">
                          <a:ln>
                            <a:noFill/>
                          </a:ln>
                          <a:solidFill>
                            <a:srgbClr val="0070C0"/>
                          </a:solidFill>
                          <a:effectLst/>
                          <a:uLnTx/>
                          <a:uFillTx/>
                          <a:latin typeface="Calibri"/>
                          <a:cs typeface="Calibri"/>
                        </a:rPr>
                        <a:t>: STATUS, Review VOR 02, Temp -10℃</a:t>
                      </a:r>
                    </a:p>
                  </a:txBody>
                  <a:tcPr marL="36000" marR="36000" marT="0" marB="0" anchor="ctr"/>
                </a:tc>
                <a:extLst>
                  <a:ext uri="{0D108BD9-81ED-4DB2-BD59-A6C34878D82A}">
                    <a16:rowId xmlns:a16="http://schemas.microsoft.com/office/drawing/2014/main" val="10001"/>
                  </a:ext>
                </a:extLst>
              </a:tr>
            </a:tbl>
          </a:graphicData>
        </a:graphic>
      </p:graphicFrame>
      <p:graphicFrame>
        <p:nvGraphicFramePr>
          <p:cNvPr id="15" name="Google Shape;138;p4">
            <a:extLst>
              <a:ext uri="{FF2B5EF4-FFF2-40B4-BE49-F238E27FC236}">
                <a16:creationId xmlns:a16="http://schemas.microsoft.com/office/drawing/2014/main" id="{C9999CB1-EC85-1233-88C7-FBD668618C56}"/>
              </a:ext>
            </a:extLst>
          </p:cNvPr>
          <p:cNvGraphicFramePr/>
          <p:nvPr>
            <p:extLst>
              <p:ext uri="{D42A27DB-BD31-4B8C-83A1-F6EECF244321}">
                <p14:modId xmlns:p14="http://schemas.microsoft.com/office/powerpoint/2010/main" val="4293150963"/>
              </p:ext>
            </p:extLst>
          </p:nvPr>
        </p:nvGraphicFramePr>
        <p:xfrm>
          <a:off x="8684" y="2101324"/>
          <a:ext cx="2328850" cy="361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233539">
                <a:tc>
                  <a:txBody>
                    <a:bodyPr/>
                    <a:lstStyle/>
                    <a:p>
                      <a:pPr marL="0" marR="0" lvl="0" indent="0" algn="ctr" rtl="0">
                        <a:spcBef>
                          <a:spcPts val="0"/>
                        </a:spcBef>
                        <a:spcAft>
                          <a:spcPts val="0"/>
                        </a:spcAft>
                        <a:buNone/>
                      </a:pPr>
                      <a:r>
                        <a:rPr lang="en-US" sz="1100" dirty="0"/>
                        <a:t>A330 KTM VOR 02</a:t>
                      </a:r>
                    </a:p>
                    <a:p>
                      <a:pPr marL="0" marR="0" lvl="0" indent="0" algn="ctr" rtl="0">
                        <a:spcBef>
                          <a:spcPts val="0"/>
                        </a:spcBef>
                        <a:spcAft>
                          <a:spcPts val="0"/>
                        </a:spcAft>
                        <a:buNone/>
                      </a:pPr>
                      <a:r>
                        <a:rPr lang="en-US" sz="800" dirty="0">
                          <a:solidFill>
                            <a:srgbClr val="FFC000"/>
                          </a:solidFill>
                        </a:rPr>
                        <a:t>Do not use FINAL APP</a:t>
                      </a:r>
                      <a:endParaRPr lang="en-US" sz="1100" dirty="0">
                        <a:solidFill>
                          <a:srgbClr val="FFC000"/>
                        </a:solidFill>
                      </a:endParaRPr>
                    </a:p>
                  </a:txBody>
                  <a:tcPr marL="90000" marR="91450" marT="36000" marB="36000" anchor="ctr"/>
                </a:tc>
                <a:extLst>
                  <a:ext uri="{0D108BD9-81ED-4DB2-BD59-A6C34878D82A}">
                    <a16:rowId xmlns:a16="http://schemas.microsoft.com/office/drawing/2014/main" val="10000"/>
                  </a:ext>
                </a:extLst>
              </a:tr>
            </a:tbl>
          </a:graphicData>
        </a:graphic>
      </p:graphicFrame>
      <p:sp>
        <p:nvSpPr>
          <p:cNvPr id="18" name="사각형 설명선[R] 17">
            <a:extLst>
              <a:ext uri="{FF2B5EF4-FFF2-40B4-BE49-F238E27FC236}">
                <a16:creationId xmlns:a16="http://schemas.microsoft.com/office/drawing/2014/main" id="{A55F9FAE-8F5A-B018-8BA9-5BB8BDBCD1AF}"/>
              </a:ext>
            </a:extLst>
          </p:cNvPr>
          <p:cNvSpPr/>
          <p:nvPr/>
        </p:nvSpPr>
        <p:spPr>
          <a:xfrm>
            <a:off x="1272396" y="3679166"/>
            <a:ext cx="345056" cy="142830"/>
          </a:xfrm>
          <a:prstGeom prst="wedgeRectCallout">
            <a:avLst>
              <a:gd name="adj1" fmla="val -108333"/>
              <a:gd name="adj2" fmla="val 6250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t>FLAP 1</a:t>
            </a:r>
            <a:endParaRPr kumimoji="1" lang="ko-Kore-KR" altLang="en-US" sz="500" b="1" dirty="0"/>
          </a:p>
        </p:txBody>
      </p:sp>
      <p:sp>
        <p:nvSpPr>
          <p:cNvPr id="20" name="사각형 설명선[R] 19">
            <a:extLst>
              <a:ext uri="{FF2B5EF4-FFF2-40B4-BE49-F238E27FC236}">
                <a16:creationId xmlns:a16="http://schemas.microsoft.com/office/drawing/2014/main" id="{E579EC1B-7300-7783-E610-4266AFB7B4F9}"/>
              </a:ext>
            </a:extLst>
          </p:cNvPr>
          <p:cNvSpPr/>
          <p:nvPr/>
        </p:nvSpPr>
        <p:spPr>
          <a:xfrm>
            <a:off x="288985" y="3221965"/>
            <a:ext cx="629728" cy="322341"/>
          </a:xfrm>
          <a:prstGeom prst="wedgeRectCallout">
            <a:avLst>
              <a:gd name="adj1" fmla="val 81188"/>
              <a:gd name="adj2" fmla="val 26861"/>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Before D9.0</a:t>
            </a:r>
          </a:p>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SPD </a:t>
            </a:r>
            <a:r>
              <a:rPr kumimoji="1" lang="en-US" altLang="ko-Kore-KR" sz="500" b="1" dirty="0" err="1">
                <a:latin typeface="+mn-ea"/>
              </a:rPr>
              <a:t>Vapp</a:t>
            </a:r>
            <a:endParaRPr kumimoji="1" lang="en-US" altLang="ko-Kore-KR" sz="500" b="1" dirty="0">
              <a:latin typeface="+mn-ea"/>
            </a:endParaRPr>
          </a:p>
        </p:txBody>
      </p:sp>
      <p:sp>
        <p:nvSpPr>
          <p:cNvPr id="22" name="사각형 설명선[R] 21">
            <a:extLst>
              <a:ext uri="{FF2B5EF4-FFF2-40B4-BE49-F238E27FC236}">
                <a16:creationId xmlns:a16="http://schemas.microsoft.com/office/drawing/2014/main" id="{987E06B3-A615-4CDA-76CC-2C75E3709CBB}"/>
              </a:ext>
            </a:extLst>
          </p:cNvPr>
          <p:cNvSpPr/>
          <p:nvPr/>
        </p:nvSpPr>
        <p:spPr>
          <a:xfrm>
            <a:off x="1493887" y="3033376"/>
            <a:ext cx="629728" cy="425816"/>
          </a:xfrm>
          <a:prstGeom prst="wedgeRectCallout">
            <a:avLst>
              <a:gd name="adj1" fmla="val -90045"/>
              <a:gd name="adj2" fmla="val 2895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8900ft ALT HOLD</a:t>
            </a:r>
          </a:p>
          <a:p>
            <a:pPr algn="ctr"/>
            <a:r>
              <a:rPr kumimoji="1" lang="en-US" altLang="ko-Kore-KR" sz="500" b="1" dirty="0">
                <a:solidFill>
                  <a:srgbClr val="C00000"/>
                </a:solidFill>
                <a:latin typeface="+mn-ea"/>
              </a:rPr>
              <a:t>D9.3</a:t>
            </a:r>
            <a:r>
              <a:rPr kumimoji="1" lang="en-US" altLang="ko-Kore-KR" sz="500" b="1" dirty="0">
                <a:latin typeface="+mn-ea"/>
              </a:rPr>
              <a:t> set GA ALT</a:t>
            </a:r>
          </a:p>
          <a:p>
            <a:pPr algn="ctr"/>
            <a:r>
              <a:rPr kumimoji="1" lang="en-US" altLang="ko-Kore-KR" sz="500" b="1" dirty="0">
                <a:solidFill>
                  <a:srgbClr val="0070C0"/>
                </a:solidFill>
                <a:latin typeface="+mn-ea"/>
              </a:rPr>
              <a:t>FPA -5.3 </a:t>
            </a:r>
            <a:r>
              <a:rPr kumimoji="1" lang="en-US" altLang="ko-Kore-KR" sz="500" b="1" dirty="0">
                <a:latin typeface="+mn-ea"/>
              </a:rPr>
              <a:t>Set &amp; Pull</a:t>
            </a:r>
          </a:p>
          <a:p>
            <a:pPr algn="ctr"/>
            <a:r>
              <a:rPr kumimoji="1" lang="en-US" altLang="ko-Kore-KR" sz="500" b="1" dirty="0">
                <a:latin typeface="+mn-ea"/>
              </a:rPr>
              <a:t>Monitor Pass ALT</a:t>
            </a:r>
          </a:p>
          <a:p>
            <a:pPr algn="ctr"/>
            <a:r>
              <a:rPr kumimoji="1" lang="en-US" altLang="ko-Kore-KR" sz="500" b="1" dirty="0">
                <a:solidFill>
                  <a:srgbClr val="FFC000"/>
                </a:solidFill>
                <a:latin typeface="+mn-ea"/>
              </a:rPr>
              <a:t>S/B Needed</a:t>
            </a:r>
          </a:p>
        </p:txBody>
      </p:sp>
      <p:sp>
        <p:nvSpPr>
          <p:cNvPr id="23" name="사각형 설명선[R] 22">
            <a:extLst>
              <a:ext uri="{FF2B5EF4-FFF2-40B4-BE49-F238E27FC236}">
                <a16:creationId xmlns:a16="http://schemas.microsoft.com/office/drawing/2014/main" id="{83359F3C-AF3A-DA6C-36D6-67863B6E87C3}"/>
              </a:ext>
            </a:extLst>
          </p:cNvPr>
          <p:cNvSpPr/>
          <p:nvPr/>
        </p:nvSpPr>
        <p:spPr>
          <a:xfrm>
            <a:off x="504101" y="2590795"/>
            <a:ext cx="565574" cy="245406"/>
          </a:xfrm>
          <a:prstGeom prst="wedgeRectCallout">
            <a:avLst>
              <a:gd name="adj1" fmla="val 112658"/>
              <a:gd name="adj2" fmla="val 3572"/>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At D3.0 </a:t>
            </a:r>
            <a:r>
              <a:rPr kumimoji="1" lang="en-US" altLang="ko-Kore-KR" sz="500" b="1" dirty="0">
                <a:solidFill>
                  <a:srgbClr val="0070C0"/>
                </a:solidFill>
                <a:latin typeface="+mn-ea"/>
              </a:rPr>
              <a:t>FPA -3</a:t>
            </a:r>
          </a:p>
          <a:p>
            <a:pPr algn="ctr"/>
            <a:r>
              <a:rPr kumimoji="1" lang="en-US" altLang="ko-Kore-KR" sz="500" b="1" dirty="0">
                <a:latin typeface="+mn-ea"/>
              </a:rPr>
              <a:t>Visual L/D </a:t>
            </a:r>
            <a:endParaRPr kumimoji="1" lang="en-US" altLang="ko-Kore-KR" sz="500" b="1" dirty="0">
              <a:solidFill>
                <a:srgbClr val="0070C0"/>
              </a:solidFill>
              <a:latin typeface="+mn-ea"/>
            </a:endParaRPr>
          </a:p>
        </p:txBody>
      </p:sp>
    </p:spTree>
    <p:extLst>
      <p:ext uri="{BB962C8B-B14F-4D97-AF65-F5344CB8AC3E}">
        <p14:creationId xmlns:p14="http://schemas.microsoft.com/office/powerpoint/2010/main" val="233813534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DE56-44CF-F935-238C-E81DD605CE8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2010E56-BB7C-8742-E1CB-A952F04C1A8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2841EA3-CF1C-1CDC-8082-F654897399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615A7259-F6FB-9C60-6F07-A9A70FBFE2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8820AF4-CD92-ED9B-2FD4-774ECFEC4193}"/>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46324274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D34735C-D647-24C0-01B4-EE72DD3E7615}"/>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F6B90DD3-A8DC-C08B-7F3E-9FE138C327F6}"/>
              </a:ext>
            </a:extLst>
          </p:cNvPr>
          <p:cNvGraphicFramePr/>
          <p:nvPr>
            <p:extLst>
              <p:ext uri="{D42A27DB-BD31-4B8C-83A1-F6EECF244321}">
                <p14:modId xmlns:p14="http://schemas.microsoft.com/office/powerpoint/2010/main" val="2767880240"/>
              </p:ext>
            </p:extLst>
          </p:nvPr>
        </p:nvGraphicFramePr>
        <p:xfrm>
          <a:off x="-2500" y="597552"/>
          <a:ext cx="2330298" cy="1696930"/>
        </p:xfrm>
        <a:graphic>
          <a:graphicData uri="http://schemas.openxmlformats.org/drawingml/2006/table">
            <a:tbl>
              <a:tblPr firstRow="1" bandRow="1">
                <a:noFill/>
                <a:tableStyleId>{A521BE36-7E6F-4EC9-8D66-1CF97A6895EC}</a:tableStyleId>
              </a:tblPr>
              <a:tblGrid>
                <a:gridCol w="215736">
                  <a:extLst>
                    <a:ext uri="{9D8B030D-6E8A-4147-A177-3AD203B41FA5}">
                      <a16:colId xmlns:a16="http://schemas.microsoft.com/office/drawing/2014/main" val="20000"/>
                    </a:ext>
                  </a:extLst>
                </a:gridCol>
                <a:gridCol w="958741">
                  <a:extLst>
                    <a:ext uri="{9D8B030D-6E8A-4147-A177-3AD203B41FA5}">
                      <a16:colId xmlns:a16="http://schemas.microsoft.com/office/drawing/2014/main" val="20001"/>
                    </a:ext>
                  </a:extLst>
                </a:gridCol>
                <a:gridCol w="1155821">
                  <a:extLst>
                    <a:ext uri="{9D8B030D-6E8A-4147-A177-3AD203B41FA5}">
                      <a16:colId xmlns:a16="http://schemas.microsoft.com/office/drawing/2014/main" val="768624876"/>
                    </a:ext>
                  </a:extLst>
                </a:gridCol>
              </a:tblGrid>
              <a:tr h="347488">
                <a:tc gridSpan="3">
                  <a:txBody>
                    <a:bodyPr/>
                    <a:lstStyle/>
                    <a:p>
                      <a:pPr marL="0" marR="0" lvl="0" indent="0" algn="ctr" rtl="0">
                        <a:spcBef>
                          <a:spcPts val="0"/>
                        </a:spcBef>
                        <a:spcAft>
                          <a:spcPts val="0"/>
                        </a:spcAft>
                        <a:buNone/>
                      </a:pPr>
                      <a:r>
                        <a:rPr lang="en-US" sz="800" u="none" strike="noStrike" cap="none" dirty="0"/>
                        <a:t>KTM : SID (NADP 1) UTC+5:45 TA 135  </a:t>
                      </a:r>
                    </a:p>
                    <a:p>
                      <a:pPr marL="0" marR="0" lvl="0" indent="0" algn="ctr" rtl="0">
                        <a:spcBef>
                          <a:spcPts val="0"/>
                        </a:spcBef>
                        <a:spcAft>
                          <a:spcPts val="0"/>
                        </a:spcAft>
                        <a:buNone/>
                      </a:pPr>
                      <a:r>
                        <a:rPr lang="en-US" sz="800" u="none" strike="noStrike" cap="none" dirty="0">
                          <a:solidFill>
                            <a:srgbClr val="FFC000"/>
                          </a:solidFill>
                        </a:rPr>
                        <a:t>Req ADC &amp; FIC, P/B with POB, </a:t>
                      </a:r>
                      <a:r>
                        <a:rPr lang="en-US" sz="800" u="none" strike="noStrike" cap="none" dirty="0">
                          <a:solidFill>
                            <a:srgbClr val="00B0F0"/>
                          </a:solidFill>
                        </a:rPr>
                        <a:t>Intersection A,E</a:t>
                      </a:r>
                    </a:p>
                    <a:p>
                      <a:pPr marL="0" marR="0" lvl="0" indent="0" algn="ctr" rtl="0">
                        <a:spcBef>
                          <a:spcPts val="0"/>
                        </a:spcBef>
                        <a:spcAft>
                          <a:spcPts val="0"/>
                        </a:spcAft>
                        <a:buNone/>
                      </a:pPr>
                      <a:r>
                        <a:rPr lang="en-US" sz="800" u="none" strike="noStrike" cap="none" dirty="0">
                          <a:solidFill>
                            <a:schemeClr val="bg1"/>
                          </a:solidFill>
                        </a:rPr>
                        <a:t>if </a:t>
                      </a:r>
                      <a:r>
                        <a:rPr lang="en-US" sz="800" u="none" strike="noStrike" cap="none" dirty="0" err="1">
                          <a:solidFill>
                            <a:schemeClr val="bg1"/>
                          </a:solidFill>
                        </a:rPr>
                        <a:t>Wx</a:t>
                      </a:r>
                      <a:r>
                        <a:rPr lang="en-US" sz="800" u="none" strike="noStrike" cap="none" dirty="0">
                          <a:solidFill>
                            <a:schemeClr val="bg1"/>
                          </a:solidFill>
                        </a:rPr>
                        <a:t> is Severe, Stand-by at GATE</a:t>
                      </a:r>
                    </a:p>
                  </a:txBody>
                  <a:tcPr marL="36000" marR="72000" marT="45725" marB="45725"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47383">
                <a:tc>
                  <a:txBody>
                    <a:bodyPr/>
                    <a:lstStyle/>
                    <a:p>
                      <a:pPr marL="0" marR="0" lvl="0" indent="0" algn="ctr" rtl="0">
                        <a:spcBef>
                          <a:spcPts val="0"/>
                        </a:spcBef>
                        <a:spcAft>
                          <a:spcPts val="0"/>
                        </a:spcAft>
                        <a:buNone/>
                      </a:pPr>
                      <a:r>
                        <a:rPr lang="en-US" altLang="ko-KR" sz="800" b="1" u="none" strike="noStrike" cap="none" dirty="0"/>
                        <a:t>20</a:t>
                      </a:r>
                      <a:endParaRPr lang="en-US"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IGRIS x A</a:t>
                      </a:r>
                      <a:endParaRPr lang="en-US" sz="800" b="0" u="none" strike="noStrike" cap="none" dirty="0">
                        <a:solidFill>
                          <a:schemeClr val="bg1"/>
                        </a:solidFill>
                      </a:endParaRPr>
                    </a:p>
                  </a:txBody>
                  <a:tcPr marL="0" marR="0" marT="36000" marB="36000" anchor="ctr"/>
                </a:tc>
                <a:tc>
                  <a:txBody>
                    <a:bodyPr/>
                    <a:lstStyle/>
                    <a:p>
                      <a:pPr algn="ctr"/>
                      <a:r>
                        <a:rPr lang="en-US" sz="800" b="1" u="none" strike="noStrike" cap="none"/>
                        <a:t>HD 202 </a:t>
                      </a:r>
                      <a:r>
                        <a:rPr lang="en-US" sz="800" b="1" u="none" strike="noStrike" cap="none">
                          <a:solidFill>
                            <a:srgbClr val="0070C0"/>
                          </a:solidFill>
                        </a:rPr>
                        <a:t>ALT ATC </a:t>
                      </a:r>
                      <a:r>
                        <a:rPr lang="en-US" sz="800" b="1" u="none" strike="noStrike" cap="none">
                          <a:solidFill>
                            <a:srgbClr val="F28943"/>
                          </a:solidFill>
                        </a:rPr>
                        <a:t>TA 13500</a:t>
                      </a:r>
                      <a:endParaRPr lang="ko-Kore-KR" altLang="en-US"/>
                    </a:p>
                  </a:txBody>
                  <a:tcPr marL="0" marR="0" marT="36000" marB="36000" anchor="ctr"/>
                </a:tc>
                <a:extLst>
                  <a:ext uri="{0D108BD9-81ED-4DB2-BD59-A6C34878D82A}">
                    <a16:rowId xmlns:a16="http://schemas.microsoft.com/office/drawing/2014/main" val="10001"/>
                  </a:ext>
                </a:extLst>
              </a:tr>
              <a:tr h="147383">
                <a:tc>
                  <a:txBody>
                    <a:bodyPr/>
                    <a:lstStyle/>
                    <a:p>
                      <a:pPr marL="0" marR="0" lvl="0" indent="0" algn="ctr" rtl="0">
                        <a:spcBef>
                          <a:spcPts val="0"/>
                        </a:spcBef>
                        <a:spcAft>
                          <a:spcPts val="0"/>
                        </a:spcAft>
                        <a:buNone/>
                      </a:pPr>
                      <a:r>
                        <a:rPr lang="en-US" sz="800" b="1" u="none" strike="noStrike" cap="none" dirty="0"/>
                        <a:t>02</a:t>
                      </a:r>
                      <a:endParaRPr sz="800" b="1" u="none" strike="noStrike" cap="none" dirty="0"/>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0070C0"/>
                          </a:solidFill>
                        </a:rPr>
                        <a:t>IGRIS x B</a:t>
                      </a:r>
                      <a:endParaRPr lang="en-US" altLang="ko-Kore-KR" sz="800" b="0" u="none" strike="noStrike" cap="none" dirty="0">
                        <a:solidFill>
                          <a:schemeClr val="bg1"/>
                        </a:solidFill>
                      </a:endParaRPr>
                    </a:p>
                  </a:txBody>
                  <a:tcPr marL="0" marR="0" marT="36000" marB="36000" anchor="ctr"/>
                </a:tc>
                <a:tc>
                  <a:txBody>
                    <a:bodyPr/>
                    <a:lstStyle/>
                    <a:p>
                      <a:pPr algn="ctr"/>
                      <a:r>
                        <a:rPr lang="en-US" sz="800" b="1" u="none" strike="noStrike" cap="none" dirty="0"/>
                        <a:t>HD 022 </a:t>
                      </a:r>
                      <a:r>
                        <a:rPr lang="en-US" sz="800" b="1" u="none" strike="noStrike" cap="none" dirty="0">
                          <a:solidFill>
                            <a:srgbClr val="0070C0"/>
                          </a:solidFill>
                        </a:rPr>
                        <a:t>ALT ATC </a:t>
                      </a:r>
                      <a:r>
                        <a:rPr lang="en-US" altLang="ko-Kore-KR" sz="800" b="1" u="none" strike="noStrike" cap="none" dirty="0">
                          <a:solidFill>
                            <a:srgbClr val="F28943"/>
                          </a:solidFill>
                        </a:rPr>
                        <a:t>TA 13500</a:t>
                      </a:r>
                      <a:endParaRPr lang="ko-Kore-KR" altLang="en-US" dirty="0"/>
                    </a:p>
                  </a:txBody>
                  <a:tcPr marL="0" marR="0" marT="36000" marB="36000" anchor="ctr"/>
                </a:tc>
                <a:extLst>
                  <a:ext uri="{0D108BD9-81ED-4DB2-BD59-A6C34878D82A}">
                    <a16:rowId xmlns:a16="http://schemas.microsoft.com/office/drawing/2014/main" val="10002"/>
                  </a:ext>
                </a:extLst>
              </a:tr>
              <a:tr h="14738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KTM 113.2</a:t>
                      </a:r>
                    </a:p>
                  </a:txBody>
                  <a:tcPr marL="36000" marR="36000" marT="36000" marB="36000" anchor="ctr"/>
                </a:tc>
                <a:tc hMerge="1">
                  <a:txBody>
                    <a:bodyPr/>
                    <a:lstStyle/>
                    <a:p>
                      <a:endParaRPr lang="ko-Kore-KR" altLang="en-US"/>
                    </a:p>
                  </a:txBody>
                  <a:tcP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02 IKT 108.1</a:t>
                      </a:r>
                      <a:endParaRPr lang="ko-Kore-KR" altLang="en-US" dirty="0"/>
                    </a:p>
                  </a:txBody>
                  <a:tcPr marL="36000" marR="36000" marT="36000" marB="36000" anchor="ctr"/>
                </a:tc>
                <a:extLst>
                  <a:ext uri="{0D108BD9-81ED-4DB2-BD59-A6C34878D82A}">
                    <a16:rowId xmlns:a16="http://schemas.microsoft.com/office/drawing/2014/main" val="1446403819"/>
                  </a:ext>
                </a:extLst>
              </a:tr>
              <a:tr h="14738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cs typeface="Calibri"/>
                        </a:rPr>
                        <a:t>20 : KTM /4, R340, R288</a:t>
                      </a:r>
                      <a:endParaRPr kumimoji="0" lang="en-US" altLang="ko-Kore-KR" sz="4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02 : KTM /3, R288</a:t>
                      </a:r>
                    </a:p>
                  </a:txBody>
                  <a:tcPr marL="36000" marR="36000" marT="36000" marB="36000" anchor="ctr"/>
                </a:tc>
                <a:extLst>
                  <a:ext uri="{0D108BD9-81ED-4DB2-BD59-A6C34878D82A}">
                    <a16:rowId xmlns:a16="http://schemas.microsoft.com/office/drawing/2014/main" val="3014284346"/>
                  </a:ext>
                </a:extLst>
              </a:tr>
              <a:tr h="147383">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500" b="1" i="0" u="none" strike="noStrike" kern="1200" cap="none" spc="0" normalizeH="0" baseline="0" noProof="0" dirty="0">
                          <a:ln>
                            <a:noFill/>
                          </a:ln>
                          <a:solidFill>
                            <a:srgbClr val="C00000"/>
                          </a:solidFill>
                          <a:effectLst/>
                          <a:uLnTx/>
                          <a:uFillTx/>
                          <a:latin typeface="Calibri"/>
                          <a:cs typeface="Calibri"/>
                        </a:rPr>
                        <a:t>Maintain CONF Until 10500ft, 8000ft LVR MCT (Limit 10min)</a:t>
                      </a:r>
                    </a:p>
                  </a:txBody>
                  <a:tcPr marL="36000" marR="36000" marT="36000" marB="36000" anchor="ctr"/>
                </a:tc>
                <a:tc hMerge="1">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60757442"/>
                  </a:ext>
                </a:extLst>
              </a:tr>
              <a:tr h="240044">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C000"/>
                          </a:solidFill>
                        </a:rPr>
                        <a:t>RW20 Takeoff at Painted Threshold</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D2.5 KTM/KTM Turn Even Below 400ft (Max 180kts)</a:t>
                      </a:r>
                    </a:p>
                  </a:txBody>
                  <a:tcPr marL="0" marR="0" marT="36000" marB="36000"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4172A3F3-B863-E542-A274-B740D6A28EB1}"/>
              </a:ext>
            </a:extLst>
          </p:cNvPr>
          <p:cNvGraphicFramePr/>
          <p:nvPr>
            <p:extLst>
              <p:ext uri="{D42A27DB-BD31-4B8C-83A1-F6EECF244321}">
                <p14:modId xmlns:p14="http://schemas.microsoft.com/office/powerpoint/2010/main" val="830186955"/>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VNKT(KTM</a:t>
                      </a:r>
                      <a:r>
                        <a:rPr kumimoji="0" lang="en-US" altLang="ko-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)4395ft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Nepal Airline Corp. 131.6 </a:t>
                      </a:r>
                      <a:r>
                        <a:rPr kumimoji="0" lang="en-US" altLang="ko-Kore-KR" sz="800" b="1" i="0" u="none" strike="noStrike" kern="1200" cap="none" spc="0" normalizeH="0" baseline="0" noProof="0" dirty="0">
                          <a:ln>
                            <a:noFill/>
                          </a:ln>
                          <a:solidFill>
                            <a:srgbClr val="C00000"/>
                          </a:solidFill>
                          <a:effectLst/>
                          <a:uLnTx/>
                          <a:uFillTx/>
                          <a:latin typeface="Calibri"/>
                          <a:cs typeface="Calibri"/>
                        </a:rPr>
                        <a:t>No DATIS, Boarding ATC</a:t>
                      </a:r>
                      <a:endParaRPr kumimoji="0" lang="en-US" altLang="ko-Kore-KR" sz="900" b="1" i="0" u="none" strike="noStrike" kern="1200" cap="none" spc="0" normalizeH="0" baseline="0" noProof="0" dirty="0">
                        <a:ln>
                          <a:noFill/>
                        </a:ln>
                        <a:solidFill>
                          <a:srgbClr val="C00000"/>
                        </a:solidFill>
                        <a:effectLst/>
                        <a:uLnTx/>
                        <a:uFillTx/>
                        <a:latin typeface="Calibri"/>
                        <a:cs typeface="Calibri"/>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8F0D27B-A230-0F40-B0F3-FA52596D4A78}"/>
              </a:ext>
            </a:extLst>
          </p:cNvPr>
          <p:cNvSpPr txBox="1"/>
          <p:nvPr/>
        </p:nvSpPr>
        <p:spPr>
          <a:xfrm>
            <a:off x="-24198" y="2391194"/>
            <a:ext cx="2438488"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                           DEP 120.6</a:t>
            </a:r>
          </a:p>
          <a:p>
            <a:pPr>
              <a:lnSpc>
                <a:spcPct val="150000"/>
              </a:lnSpc>
            </a:pPr>
            <a:r>
              <a:rPr kumimoji="1" lang="en-US" altLang="ko-Kore-KR" sz="700" b="1" u="sng" dirty="0">
                <a:latin typeface="Gulim" panose="020B0600000101010101" pitchFamily="34" charset="-127"/>
                <a:ea typeface="Gulim" panose="020B0600000101010101" pitchFamily="34" charset="-127"/>
              </a:rPr>
              <a:t>                           CPDLC VECF, VYYF</a:t>
            </a:r>
          </a:p>
          <a:p>
            <a:pPr>
              <a:lnSpc>
                <a:spcPct val="150000"/>
              </a:lnSpc>
            </a:pPr>
            <a:r>
              <a:rPr kumimoji="1" lang="en-US" altLang="ko-Kore-KR" sz="700" b="1"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 -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Radio Problem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u="sng" dirty="0">
                <a:solidFill>
                  <a:srgbClr val="FFC000"/>
                </a:solidFill>
                <a:latin typeface="Gulim" panose="020B0600000101010101" pitchFamily="34" charset="-127"/>
                <a:ea typeface="Gulim" panose="020B0600000101010101" pitchFamily="34" charset="-127"/>
              </a:rPr>
              <a:t>- -80NM KTM FIR to Kolkata FIR +30NM</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47B4337E-9610-BA91-576D-CE6091098AE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E2C2462-D852-CA0F-4189-70D9F86116FC}"/>
              </a:ext>
            </a:extLst>
          </p:cNvPr>
          <p:cNvGraphicFramePr/>
          <p:nvPr>
            <p:extLst>
              <p:ext uri="{D42A27DB-BD31-4B8C-83A1-F6EECF244321}">
                <p14:modId xmlns:p14="http://schemas.microsoft.com/office/powerpoint/2010/main" val="700250059"/>
              </p:ext>
            </p:extLst>
          </p:nvPr>
        </p:nvGraphicFramePr>
        <p:xfrm>
          <a:off x="11589" y="355620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8D7EE267-C02A-83CF-0254-EA24D2656D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7B000F7F-F813-BE10-D64A-8391F9AD8B72}"/>
              </a:ext>
            </a:extLst>
          </p:cNvPr>
          <p:cNvPicPr>
            <a:picLocks noChangeAspect="1"/>
          </p:cNvPicPr>
          <p:nvPr/>
        </p:nvPicPr>
        <p:blipFill>
          <a:blip r:embed="rId8"/>
          <a:stretch>
            <a:fillRect/>
          </a:stretch>
        </p:blipFill>
        <p:spPr>
          <a:xfrm>
            <a:off x="-2501" y="2309619"/>
            <a:ext cx="827468" cy="610666"/>
          </a:xfrm>
          <a:prstGeom prst="rect">
            <a:avLst/>
          </a:prstGeom>
        </p:spPr>
      </p:pic>
    </p:spTree>
    <p:extLst>
      <p:ext uri="{BB962C8B-B14F-4D97-AF65-F5344CB8AC3E}">
        <p14:creationId xmlns:p14="http://schemas.microsoft.com/office/powerpoint/2010/main" val="352747426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252617"/>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065144"/>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6654" y="5086053"/>
            <a:ext cx="457200" cy="457200"/>
          </a:xfrm>
          <a:prstGeom prst="rect">
            <a:avLst/>
          </a:prstGeom>
          <a:effectLst>
            <a:outerShdw blurRad="50800" dist="50800" dir="3660000" algn="ctr" rotWithShape="0">
              <a:schemeClr val="bg1">
                <a:alpha val="82714"/>
              </a:schemeClr>
            </a:outerShdw>
          </a:effectLst>
        </p:spPr>
      </p:pic>
      <p:pic>
        <p:nvPicPr>
          <p:cNvPr id="17" name="그림 16" descr="스크린샷, 텍스트, 폰트, 디자인이(가) 표시된 사진&#10;&#10;자동 생성된 설명">
            <a:extLst>
              <a:ext uri="{FF2B5EF4-FFF2-40B4-BE49-F238E27FC236}">
                <a16:creationId xmlns:a16="http://schemas.microsoft.com/office/drawing/2014/main" id="{6CE49F10-0CCB-850F-389F-505179BFF037}"/>
              </a:ext>
            </a:extLst>
          </p:cNvPr>
          <p:cNvPicPr>
            <a:picLocks noChangeAspect="1"/>
          </p:cNvPicPr>
          <p:nvPr/>
        </p:nvPicPr>
        <p:blipFill>
          <a:blip r:embed="rId7"/>
          <a:stretch>
            <a:fillRect/>
          </a:stretch>
        </p:blipFill>
        <p:spPr>
          <a:xfrm>
            <a:off x="111519" y="4814850"/>
            <a:ext cx="790437" cy="705356"/>
          </a:xfrm>
          <a:prstGeom prst="rect">
            <a:avLst/>
          </a:prstGeom>
        </p:spPr>
      </p:pic>
      <p:pic>
        <p:nvPicPr>
          <p:cNvPr id="19" name="그림 18" descr="스크린샷, 원, 로고, 디자인이(가) 표시된 사진&#10;&#10;자동 생성된 설명">
            <a:extLst>
              <a:ext uri="{FF2B5EF4-FFF2-40B4-BE49-F238E27FC236}">
                <a16:creationId xmlns:a16="http://schemas.microsoft.com/office/drawing/2014/main" id="{7B420F84-AAA2-8201-B1C8-64DCCCB2F211}"/>
              </a:ext>
            </a:extLst>
          </p:cNvPr>
          <p:cNvPicPr>
            <a:picLocks noChangeAspect="1"/>
          </p:cNvPicPr>
          <p:nvPr/>
        </p:nvPicPr>
        <p:blipFill>
          <a:blip r:embed="rId8"/>
          <a:stretch>
            <a:fillRect/>
          </a:stretch>
        </p:blipFill>
        <p:spPr>
          <a:xfrm>
            <a:off x="1476436" y="4814849"/>
            <a:ext cx="736625" cy="715318"/>
          </a:xfrm>
          <a:prstGeom prst="rect">
            <a:avLst/>
          </a:prstGeom>
        </p:spPr>
      </p:pic>
    </p:spTree>
    <p:extLst>
      <p:ext uri="{BB962C8B-B14F-4D97-AF65-F5344CB8AC3E}">
        <p14:creationId xmlns:p14="http://schemas.microsoft.com/office/powerpoint/2010/main" val="398590726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698CCE74-225A-5B48-546A-BC090DAF84F8}"/>
            </a:ext>
          </a:extLst>
        </p:cNvPr>
        <p:cNvGrpSpPr/>
        <p:nvPr/>
      </p:nvGrpSpPr>
      <p:grpSpPr>
        <a:xfrm>
          <a:off x="0" y="0"/>
          <a:ext cx="0" cy="0"/>
          <a:chOff x="0" y="0"/>
          <a:chExt cx="0" cy="0"/>
        </a:xfrm>
      </p:grpSpPr>
      <p:graphicFrame>
        <p:nvGraphicFramePr>
          <p:cNvPr id="2" name="Google Shape;402;p31">
            <a:extLst>
              <a:ext uri="{FF2B5EF4-FFF2-40B4-BE49-F238E27FC236}">
                <a16:creationId xmlns:a16="http://schemas.microsoft.com/office/drawing/2014/main" id="{CA0D40F7-CCBB-4721-CC1E-053973477207}"/>
              </a:ext>
            </a:extLst>
          </p:cNvPr>
          <p:cNvGraphicFramePr/>
          <p:nvPr>
            <p:extLst>
              <p:ext uri="{D42A27DB-BD31-4B8C-83A1-F6EECF244321}">
                <p14:modId xmlns:p14="http://schemas.microsoft.com/office/powerpoint/2010/main" val="3149340787"/>
              </p:ext>
            </p:extLst>
          </p:nvPr>
        </p:nvGraphicFramePr>
        <p:xfrm>
          <a:off x="0" y="3194"/>
          <a:ext cx="2328875" cy="48184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ONE ENG TAXI AT ARRIVAL</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en-US" altLang="ko-KR" sz="800" dirty="0">
                          <a:latin typeface="Arial" panose="020B0604020202020204" pitchFamily="34" charset="0"/>
                          <a:ea typeface="+mn-ea"/>
                          <a:cs typeface="Arial" panose="020B0604020202020204" pitchFamily="34" charset="0"/>
                        </a:rPr>
                        <a:t> Taxi with engine 1 is recommended in order to pressurize the blue hydraulic system to ensure brake accumulator pressure</a:t>
                      </a:r>
                    </a:p>
                    <a:p>
                      <a:pPr marL="0" marR="0" lvl="0" indent="0" algn="l" rtl="0">
                        <a:spcBef>
                          <a:spcPts val="0"/>
                        </a:spcBef>
                        <a:spcAft>
                          <a:spcPts val="0"/>
                        </a:spcAft>
                        <a:buNone/>
                      </a:pPr>
                      <a:endParaRPr lang="en-US" altLang="ko-KR" sz="800" dirty="0">
                        <a:latin typeface="Arial" panose="020B0604020202020204" pitchFamily="34" charset="0"/>
                        <a:ea typeface="+mn-ea"/>
                        <a:cs typeface="Arial" panose="020B0604020202020204" pitchFamily="34" charset="0"/>
                      </a:endParaRPr>
                    </a:p>
                    <a:p>
                      <a:pPr marL="0" marR="0" lvl="0" indent="0" algn="l" rtl="0">
                        <a:spcBef>
                          <a:spcPts val="0"/>
                        </a:spcBef>
                        <a:spcAft>
                          <a:spcPts val="0"/>
                        </a:spcAft>
                        <a:buNone/>
                      </a:pPr>
                      <a:r>
                        <a:rPr lang="en-US" altLang="ko-KR" sz="800" dirty="0">
                          <a:solidFill>
                            <a:srgbClr val="0070C0"/>
                          </a:solidFill>
                          <a:latin typeface="Arial" panose="020B0604020202020204" pitchFamily="34" charset="0"/>
                          <a:ea typeface="+mn-ea"/>
                          <a:cs typeface="Arial" panose="020B0604020202020204" pitchFamily="34" charset="0"/>
                        </a:rPr>
                        <a:t>Note: </a:t>
                      </a:r>
                      <a:r>
                        <a:rPr lang="en-US" altLang="ko-KR" sz="800" dirty="0">
                          <a:latin typeface="Arial" panose="020B0604020202020204" pitchFamily="34" charset="0"/>
                          <a:ea typeface="+mn-ea"/>
                          <a:cs typeface="Arial" panose="020B0604020202020204" pitchFamily="34" charset="0"/>
                        </a:rPr>
                        <a:t>If taxi is performed with engine 2, the flight crew must check that the brake accumulator pressure on the BRAKES and ACCU PRESS indicator is normal.</a:t>
                      </a:r>
                    </a:p>
                  </a:txBody>
                  <a:tcPr marL="36000" marR="36000" marT="36000" marB="36000"/>
                </a:tc>
                <a:extLst>
                  <a:ext uri="{0D108BD9-81ED-4DB2-BD59-A6C34878D82A}">
                    <a16:rowId xmlns:a16="http://schemas.microsoft.com/office/drawing/2014/main" val="10001"/>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ARRIVAL</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START / CHECK AVAIL F/O</a:t>
                      </a: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high thrust operations: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MIN COOL TIME ...CONSIDER CAPT</a:t>
                      </a: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flight crew should operate the engines at or near idle thrust for a cooling period of 5 min before engine shutdown, in order to thermally stabilize the engines.</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taxiing in a straight line: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SHUTDOWN ............ORDER CAPT</a:t>
                      </a: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During engine shutdown, a slight jerk forward may occur if the brakes are applied while the aircraft is moving. </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ANTI ICE pb-</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 F/O</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MASTER lever.................. OFF F/O</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PARAMETERS ............CHECK F/O</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(To supply both packs from ENG 1)</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parking: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SHUT DOWN CAPT</a:t>
                      </a:r>
                      <a:endPar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95512498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7496F070-7341-F645-630C-E3199241983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3619" y="5168139"/>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258307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594004568"/>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r>
                        <a:rPr lang="ko-KR" altLang="en-US" sz="600" b="1"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600" b="1" u="sng" dirty="0">
                          <a:solidFill>
                            <a:srgbClr val="C00000"/>
                          </a:solidFill>
                          <a:latin typeface="+mn-ea"/>
                          <a:ea typeface="+mn-ea"/>
                          <a:cs typeface="Arial" panose="020B0604020202020204" pitchFamily="34" charset="0"/>
                          <a:sym typeface="Helvetica Neue"/>
                        </a:rPr>
                        <a:t>OFF L/T </a:t>
                      </a:r>
                      <a:r>
                        <a:rPr lang="ko-KR" altLang="en-US" sz="600" b="1" u="sng" dirty="0" err="1">
                          <a:solidFill>
                            <a:srgbClr val="C00000"/>
                          </a:solidFill>
                          <a:latin typeface="+mn-ea"/>
                          <a:ea typeface="+mn-ea"/>
                          <a:cs typeface="Arial" panose="020B0604020202020204" pitchFamily="34" charset="0"/>
                          <a:sym typeface="Helvetica Neue"/>
                        </a:rPr>
                        <a:t>들어와야함</a:t>
                      </a:r>
                      <a:r>
                        <a:rPr lang="en-US" altLang="ko-KR" sz="600" b="1" u="sng" dirty="0">
                          <a:solidFill>
                            <a:srgbClr val="C00000"/>
                          </a:solidFill>
                          <a:latin typeface="+mn-ea"/>
                          <a:ea typeface="+mn-ea"/>
                          <a:cs typeface="Arial" panose="020B0604020202020204" pitchFamily="34" charset="0"/>
                          <a:sym typeface="Helvetica Neue"/>
                        </a:rPr>
                        <a:t>.</a:t>
                      </a:r>
                      <a:r>
                        <a:rPr lang="ko-KR" altLang="en-US" sz="600" b="1" u="sng" dirty="0">
                          <a:solidFill>
                            <a:srgbClr val="C00000"/>
                          </a:solidFill>
                          <a:latin typeface="+mn-ea"/>
                          <a:ea typeface="+mn-ea"/>
                          <a:cs typeface="Arial" panose="020B0604020202020204" pitchFamily="34" charset="0"/>
                          <a:sym typeface="Helvetica Neue"/>
                        </a:rPr>
                        <a:t> </a:t>
                      </a:r>
                      <a:endParaRPr lang="en-US" sz="600" b="1" u="sng" dirty="0">
                        <a:solidFill>
                          <a:srgbClr val="C00000"/>
                        </a:solidFill>
                        <a:latin typeface="+mn-ea"/>
                        <a:ea typeface="+mn-ea"/>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 </a:t>
                      </a:r>
                      <a:r>
                        <a:rPr kumimoji="0" lang="en-US" altLang="ko-Kore-KR"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rPr>
                        <a:t>AVOD </a:t>
                      </a:r>
                      <a:r>
                        <a:rPr kumimoji="0" lang="ko-KR" altLang="en-US"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rPr>
                        <a:t>다 꺼짐</a:t>
                      </a:r>
                      <a:endParaRPr kumimoji="0" lang="en-US" altLang="ko-Kore-KR"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endParaRP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r>
                        <a:rPr kumimoji="0" lang="en-US" altLang="ko-Kore-KR" sz="700" b="1" i="0" u="sng"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EXT PWR – AVAIL first!!!</a:t>
                      </a:r>
                      <a:endParaRPr kumimoji="0" lang="en-US" altLang="ko-Kore-KR" sz="500" b="1" i="0" u="sng"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A907B538-5DA4-6C49-F1EC-F2EA24F5DEA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94432</TotalTime>
  <Words>30751</Words>
  <Application>Microsoft Macintosh PowerPoint</Application>
  <PresentationFormat>사용자 지정</PresentationFormat>
  <Paragraphs>7524</Paragraphs>
  <Slides>132</Slides>
  <Notes>117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132</vt:i4>
      </vt:variant>
    </vt:vector>
  </HeadingPairs>
  <TitlesOfParts>
    <vt:vector size="142" baseType="lpstr">
      <vt:lpstr>Arial</vt:lpstr>
      <vt:lpstr>Helvetica Neue</vt:lpstr>
      <vt:lpstr>Century Gothic</vt:lpstr>
      <vt:lpstr>Calibri</vt:lpstr>
      <vt:lpstr>Cambria Math</vt:lpstr>
      <vt:lpstr>Lato</vt:lpstr>
      <vt:lpstr>Britannic Bold</vt:lpstr>
      <vt:lpstr>맑은 고딕</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649</cp:revision>
  <dcterms:created xsi:type="dcterms:W3CDTF">2022-05-17T08:00:10Z</dcterms:created>
  <dcterms:modified xsi:type="dcterms:W3CDTF">2026-05-04T00:35:50Z</dcterms:modified>
</cp:coreProperties>
</file>