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48"/>
  </p:notesMasterIdLst>
  <p:sldIdLst>
    <p:sldId id="292" r:id="rId2"/>
    <p:sldId id="345" r:id="rId3"/>
    <p:sldId id="349" r:id="rId4"/>
    <p:sldId id="367" r:id="rId5"/>
    <p:sldId id="346" r:id="rId6"/>
    <p:sldId id="350" r:id="rId7"/>
    <p:sldId id="347" r:id="rId8"/>
    <p:sldId id="351" r:id="rId9"/>
    <p:sldId id="348" r:id="rId10"/>
    <p:sldId id="282" r:id="rId11"/>
    <p:sldId id="333" r:id="rId12"/>
    <p:sldId id="257" r:id="rId13"/>
    <p:sldId id="258" r:id="rId14"/>
    <p:sldId id="259" r:id="rId15"/>
    <p:sldId id="260" r:id="rId16"/>
    <p:sldId id="267" r:id="rId17"/>
    <p:sldId id="268" r:id="rId18"/>
    <p:sldId id="355" r:id="rId19"/>
    <p:sldId id="356" r:id="rId20"/>
    <p:sldId id="273" r:id="rId21"/>
    <p:sldId id="274" r:id="rId22"/>
    <p:sldId id="275" r:id="rId23"/>
    <p:sldId id="276" r:id="rId24"/>
    <p:sldId id="279" r:id="rId25"/>
    <p:sldId id="280" r:id="rId26"/>
    <p:sldId id="340" r:id="rId27"/>
    <p:sldId id="341" r:id="rId28"/>
    <p:sldId id="422" r:id="rId29"/>
    <p:sldId id="385" r:id="rId30"/>
    <p:sldId id="365" r:id="rId31"/>
    <p:sldId id="366" r:id="rId32"/>
    <p:sldId id="423" r:id="rId33"/>
    <p:sldId id="384" r:id="rId34"/>
    <p:sldId id="283" r:id="rId35"/>
    <p:sldId id="286" r:id="rId36"/>
    <p:sldId id="428" r:id="rId37"/>
    <p:sldId id="288" r:id="rId38"/>
    <p:sldId id="289" r:id="rId39"/>
    <p:sldId id="290" r:id="rId40"/>
    <p:sldId id="424" r:id="rId41"/>
    <p:sldId id="302" r:id="rId42"/>
    <p:sldId id="303" r:id="rId43"/>
    <p:sldId id="426" r:id="rId44"/>
    <p:sldId id="427" r:id="rId45"/>
    <p:sldId id="430" r:id="rId46"/>
    <p:sldId id="281" r:id="rId47"/>
  </p:sldIdLst>
  <p:sldSz cx="2328863" cy="5572125"/>
  <p:notesSz cx="6858000" cy="9144000"/>
  <p:embeddedFontLst>
    <p:embeddedFont>
      <p:font typeface="Cambria Math" panose="02040503050406030204" pitchFamily="18" charset="0"/>
      <p:regular r:id="rId49"/>
    </p:embeddedFont>
    <p:embeddedFont>
      <p:font typeface="Century Gothic" panose="020B0502020202020204" pitchFamily="34" charset="0"/>
      <p:regular r:id="rId50"/>
      <p:bold r:id="rId51"/>
      <p:italic r:id="rId52"/>
      <p:boldItalic r:id="rId53"/>
    </p:embeddedFont>
    <p:embeddedFont>
      <p:font typeface="Helvetica Neue" panose="02000503000000020004" pitchFamily="2" charset="0"/>
      <p:regular r:id="rId54"/>
      <p:bold r:id="rId55"/>
      <p:italic r:id="rId56"/>
      <p:boldItalic r:id="rId5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8943"/>
    <a:srgbClr val="AA47F5"/>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31348"/>
    <p:restoredTop sz="94607"/>
  </p:normalViewPr>
  <p:slideViewPr>
    <p:cSldViewPr snapToGrid="0" showGuides="1">
      <p:cViewPr varScale="1">
        <p:scale>
          <a:sx n="182" d="100"/>
          <a:sy n="182" d="100"/>
        </p:scale>
        <p:origin x="480" y="176"/>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font" Target="fonts/font2.fntdata"/><Relationship Id="rId55" Type="http://schemas.openxmlformats.org/officeDocument/2006/relationships/font" Target="fonts/font7.fntdata"/><Relationship Id="rId17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5.fntdata"/><Relationship Id="rId17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56" Type="http://schemas.openxmlformats.org/officeDocument/2006/relationships/font" Target="fonts/font8.fntdata"/><Relationship Id="rId8" Type="http://schemas.openxmlformats.org/officeDocument/2006/relationships/slide" Target="slides/slide7.xml"/><Relationship Id="rId51" Type="http://schemas.openxmlformats.org/officeDocument/2006/relationships/font" Target="fonts/font3.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6.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fntdata"/><Relationship Id="rId57" Type="http://schemas.openxmlformats.org/officeDocument/2006/relationships/font" Target="fonts/font9.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4.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46</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A330-kneeboard/" TargetMode="External"/><Relationship Id="rId13" Type="http://schemas.openxmlformats.org/officeDocument/2006/relationships/slide" Target="slide35.xml"/><Relationship Id="rId3" Type="http://schemas.openxmlformats.org/officeDocument/2006/relationships/slide" Target="slide2.xml"/><Relationship Id="rId7" Type="http://schemas.openxmlformats.org/officeDocument/2006/relationships/hyperlink" Target="https://flyingdeuk.github.io/posts/B737-kneeboard/" TargetMode="External"/><Relationship Id="rId12" Type="http://schemas.openxmlformats.org/officeDocument/2006/relationships/slide" Target="slide33.xml"/><Relationship Id="rId17" Type="http://schemas.openxmlformats.org/officeDocument/2006/relationships/slide" Target="slide44.xml"/><Relationship Id="rId2" Type="http://schemas.openxmlformats.org/officeDocument/2006/relationships/notesSlide" Target="../notesSlides/notesSlide1.xml"/><Relationship Id="rId16" Type="http://schemas.openxmlformats.org/officeDocument/2006/relationships/slide" Target="slide4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30.xml"/><Relationship Id="rId5" Type="http://schemas.openxmlformats.org/officeDocument/2006/relationships/slide" Target="slide7.xml"/><Relationship Id="rId15" Type="http://schemas.openxmlformats.org/officeDocument/2006/relationships/slide" Target="slide39.xml"/><Relationship Id="rId10" Type="http://schemas.openxmlformats.org/officeDocument/2006/relationships/slide" Target="slide29.xml"/><Relationship Id="rId4" Type="http://schemas.openxmlformats.org/officeDocument/2006/relationships/slide" Target="slide5.xml"/><Relationship Id="rId9" Type="http://schemas.openxmlformats.org/officeDocument/2006/relationships/slide" Target="slide28.xml"/><Relationship Id="rId14" Type="http://schemas.openxmlformats.org/officeDocument/2006/relationships/slide" Target="slide37.xml"/></Relationships>
</file>

<file path=ppt/slides/_rels/slide2.xml.rels><?xml version="1.0" encoding="UTF-8" standalone="yes"?>
<Relationships xmlns="http://schemas.openxmlformats.org/package/2006/relationships"><Relationship Id="rId8" Type="http://schemas.openxmlformats.org/officeDocument/2006/relationships/slide" Target="slide17.xml"/><Relationship Id="rId3" Type="http://schemas.openxmlformats.org/officeDocument/2006/relationships/slide" Target="slide12.xml"/><Relationship Id="rId7" Type="http://schemas.openxmlformats.org/officeDocument/2006/relationships/slide" Target="slide16.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5.xml"/><Relationship Id="rId5" Type="http://schemas.openxmlformats.org/officeDocument/2006/relationships/slide" Target="slide14.xml"/><Relationship Id="rId10" Type="http://schemas.openxmlformats.org/officeDocument/2006/relationships/slide" Target="slide19.xml"/><Relationship Id="rId4" Type="http://schemas.openxmlformats.org/officeDocument/2006/relationships/slide" Target="slide13.xml"/><Relationship Id="rId9" Type="http://schemas.openxmlformats.org/officeDocument/2006/relationships/slide" Target="slide18.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5.xml"/><Relationship Id="rId3" Type="http://schemas.openxmlformats.org/officeDocument/2006/relationships/slide" Target="slide20.xml"/><Relationship Id="rId7" Type="http://schemas.openxmlformats.org/officeDocument/2006/relationships/slide" Target="slide24.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3.xml"/><Relationship Id="rId5" Type="http://schemas.openxmlformats.org/officeDocument/2006/relationships/slide" Target="slide22.xml"/><Relationship Id="rId10" Type="http://schemas.openxmlformats.org/officeDocument/2006/relationships/slide" Target="slide27.xml"/><Relationship Id="rId4" Type="http://schemas.openxmlformats.org/officeDocument/2006/relationships/slide" Target="slide21.xml"/><Relationship Id="rId9" Type="http://schemas.openxmlformats.org/officeDocument/2006/relationships/slide" Target="slide26.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42.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41.xml"/><Relationship Id="rId9" Type="http://schemas.openxmlformats.org/officeDocument/2006/relationships/slide" Target="slide3.xm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slide" Target="slide41.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7.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8.xml.rels><?xml version="1.0" encoding="UTF-8" standalone="yes"?>
<Relationships xmlns="http://schemas.openxmlformats.org/package/2006/relationships"><Relationship Id="rId3" Type="http://schemas.openxmlformats.org/officeDocument/2006/relationships/slide" Target="slide41.xm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slide" Target="slide35.xm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slide" Target="slide35.xml"/></Relationships>
</file>

<file path=ppt/slides/_rels/slide4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4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17943003"/>
              </p:ext>
            </p:extLst>
          </p:nvPr>
        </p:nvGraphicFramePr>
        <p:xfrm>
          <a:off x="98101" y="1122494"/>
          <a:ext cx="2132650" cy="1973732"/>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493433">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493433">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493433">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493433">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Asia(GUM)</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bl>
          </a:graphicData>
        </a:graphic>
      </p:graphicFrame>
      <p:sp>
        <p:nvSpPr>
          <p:cNvPr id="89" name="Google Shape;89;p1">
            <a:hlinkClick r:id="rId7"/>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9"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7"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298961" y="58256"/>
            <a:ext cx="10257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rgbClr val="0070C0"/>
                </a:solidFill>
                <a:latin typeface="Calibri"/>
                <a:ea typeface="Calibri"/>
                <a:cs typeface="Calibri"/>
                <a:sym typeface="Calibri"/>
              </a:rPr>
              <a:t>VER. </a:t>
            </a:r>
            <a:r>
              <a:rPr lang="en-US" sz="1000" b="1">
                <a:solidFill>
                  <a:srgbClr val="0070C0"/>
                </a:solidFill>
                <a:latin typeface="Calibri"/>
                <a:ea typeface="Calibri"/>
                <a:cs typeface="Calibri"/>
                <a:sym typeface="Calibri"/>
              </a:rPr>
              <a:t>25.2.25</a:t>
            </a:r>
            <a:endParaRPr sz="10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25462623"/>
              </p:ext>
            </p:extLst>
          </p:nvPr>
        </p:nvGraphicFramePr>
        <p:xfrm>
          <a:off x="98101" y="132866"/>
          <a:ext cx="2132650" cy="2633576"/>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68633629"/>
              </p:ext>
            </p:extLst>
          </p:nvPr>
        </p:nvGraphicFramePr>
        <p:xfrm>
          <a:off x="104230" y="114852"/>
          <a:ext cx="2115458" cy="4114077"/>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SHA</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2"/>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41809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6"/>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DLC</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KMG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57914"/>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19683204"/>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S.E 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MNL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RMQ</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GUM</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0849911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FFFF00"/>
                          </a:solidFill>
                        </a:rPr>
                        <a:t>PGUM</a:t>
                      </a: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FFFF00"/>
                          </a:solidFill>
                        </a:rPr>
                        <a:t>괌</a:t>
                      </a: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20616886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6080294"/>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4001027431"/>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653939243"/>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3419442780"/>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52686397"/>
              </p:ext>
            </p:extLst>
          </p:nvPr>
        </p:nvGraphicFramePr>
        <p:xfrm>
          <a:off x="-3340" y="3941493"/>
          <a:ext cx="2328850" cy="162073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677521491"/>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6">
                            <a:extLst>
                              <a:ext uri="{A12FA001-AC4F-418D-AE19-62706E023703}">
                                <ahyp:hlinkClr xmlns:ahyp="http://schemas.microsoft.com/office/drawing/2018/hyperlinkcolor" val="tx"/>
                              </a:ext>
                            </a:extLst>
                          </a:hlinkClick>
                        </a:rPr>
                        <a:t>RKPK(PUS) 13ft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1869047511"/>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MAX,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993367013"/>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317308346"/>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4171769753"/>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3856998687"/>
              </p:ext>
            </p:extLst>
          </p:nvPr>
        </p:nvGraphicFramePr>
        <p:xfrm>
          <a:off x="-3340" y="3933668"/>
          <a:ext cx="2339140" cy="162073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4169719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4219411191"/>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295642489"/>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2510321"/>
              </p:ext>
            </p:extLst>
          </p:nvPr>
        </p:nvGraphicFramePr>
        <p:xfrm>
          <a:off x="4410" y="3887067"/>
          <a:ext cx="2328514" cy="166714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679183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011148818"/>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84350973"/>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42202319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34015189"/>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4126081048"/>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3481713129"/>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2598941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167154383"/>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43990344"/>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1179312467"/>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TETRA x</a:t>
                      </a:r>
                      <a:endParaRPr/>
                    </a:p>
                    <a:p>
                      <a:pPr marL="0" marR="0" lvl="0" indent="0" algn="ctr" rtl="0">
                        <a:spcBef>
                          <a:spcPts val="0"/>
                        </a:spcBef>
                        <a:spcAft>
                          <a:spcPts val="0"/>
                        </a:spcAft>
                        <a:buNone/>
                      </a:pPr>
                      <a:r>
                        <a:rPr lang="en-US" sz="800" b="1"/>
                        <a:t>ENPAR tx</a:t>
                      </a:r>
                      <a:endParaRPr sz="800" b="1"/>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93285059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696632634"/>
              </p:ext>
            </p:extLst>
          </p:nvPr>
        </p:nvGraphicFramePr>
        <p:xfrm>
          <a:off x="1596" y="3316700"/>
          <a:ext cx="2313550" cy="223717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54135">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a:t>
                      </a:r>
                      <a:r>
                        <a:rPr lang="en-US" sz="800" dirty="0" err="1">
                          <a:solidFill>
                            <a:srgbClr val="FFC000"/>
                          </a:solidFill>
                        </a:rPr>
                        <a:t>Taiload</a:t>
                      </a:r>
                      <a:r>
                        <a:rPr lang="en-US" sz="800" dirty="0">
                          <a:solidFill>
                            <a:srgbClr val="FFC000"/>
                          </a:solidFill>
                        </a:rPr>
                        <a:t> 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0085">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40085">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40085">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40085">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4008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34L : IHA /10, /5</a:t>
                      </a:r>
                      <a:endParaRPr sz="800" b="1" dirty="0">
                        <a:solidFill>
                          <a:schemeClr val="bg1"/>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chemeClr val="bg1"/>
                          </a:solidFill>
                        </a:rPr>
                        <a:t>Z 34R : ITC /10, /5</a:t>
                      </a:r>
                      <a:endParaRPr sz="800" b="1" dirty="0">
                        <a:solidFill>
                          <a:schemeClr val="bg1"/>
                        </a:solidFill>
                      </a:endParaRPr>
                    </a:p>
                  </a:txBody>
                  <a:tcPr marL="36000" marR="36000" marT="36000" marB="36000" anchor="ctr"/>
                </a:tc>
                <a:extLst>
                  <a:ext uri="{0D108BD9-81ED-4DB2-BD59-A6C34878D82A}">
                    <a16:rowId xmlns:a16="http://schemas.microsoft.com/office/drawing/2014/main" val="10005"/>
                  </a:ext>
                </a:extLst>
              </a:tr>
              <a:tr h="22815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0">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800561"/>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1487856455"/>
              </p:ext>
            </p:extLst>
          </p:nvPr>
        </p:nvGraphicFramePr>
        <p:xfrm>
          <a:off x="-6980" y="593275"/>
          <a:ext cx="2326348" cy="225241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897033" y="2497181"/>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2234446910"/>
              </p:ext>
            </p:extLst>
          </p:nvPr>
        </p:nvGraphicFramePr>
        <p:xfrm>
          <a:off x="0" y="611909"/>
          <a:ext cx="2329869" cy="1831450"/>
        </p:xfrm>
        <a:graphic>
          <a:graphicData uri="http://schemas.openxmlformats.org/drawingml/2006/table">
            <a:tbl>
              <a:tblPr firstRow="1" bandRow="1">
                <a:tableStyleId>{A521BE36-7E6F-4EC9-8D66-1CF97A6895EC}</a:tableStyleId>
              </a:tblPr>
              <a:tblGrid>
                <a:gridCol w="342321">
                  <a:extLst>
                    <a:ext uri="{9D8B030D-6E8A-4147-A177-3AD203B41FA5}">
                      <a16:colId xmlns:a16="http://schemas.microsoft.com/office/drawing/2014/main" val="20000"/>
                    </a:ext>
                  </a:extLst>
                </a:gridCol>
                <a:gridCol w="61400">
                  <a:extLst>
                    <a:ext uri="{9D8B030D-6E8A-4147-A177-3AD203B41FA5}">
                      <a16:colId xmlns:a16="http://schemas.microsoft.com/office/drawing/2014/main" val="1287199069"/>
                    </a:ext>
                  </a:extLst>
                </a:gridCol>
                <a:gridCol w="328611">
                  <a:extLst>
                    <a:ext uri="{9D8B030D-6E8A-4147-A177-3AD203B41FA5}">
                      <a16:colId xmlns:a16="http://schemas.microsoft.com/office/drawing/2014/main" val="20001"/>
                    </a:ext>
                  </a:extLst>
                </a:gridCol>
                <a:gridCol w="333480">
                  <a:extLst>
                    <a:ext uri="{9D8B030D-6E8A-4147-A177-3AD203B41FA5}">
                      <a16:colId xmlns:a16="http://schemas.microsoft.com/office/drawing/2014/main" val="20002"/>
                    </a:ext>
                  </a:extLst>
                </a:gridCol>
                <a:gridCol w="349784">
                  <a:extLst>
                    <a:ext uri="{9D8B030D-6E8A-4147-A177-3AD203B41FA5}">
                      <a16:colId xmlns:a16="http://schemas.microsoft.com/office/drawing/2014/main" val="20003"/>
                    </a:ext>
                  </a:extLst>
                </a:gridCol>
                <a:gridCol w="306061">
                  <a:extLst>
                    <a:ext uri="{9D8B030D-6E8A-4147-A177-3AD203B41FA5}">
                      <a16:colId xmlns:a16="http://schemas.microsoft.com/office/drawing/2014/main" val="20004"/>
                    </a:ext>
                  </a:extLst>
                </a:gridCol>
                <a:gridCol w="256092">
                  <a:extLst>
                    <a:ext uri="{9D8B030D-6E8A-4147-A177-3AD203B41FA5}">
                      <a16:colId xmlns:a16="http://schemas.microsoft.com/office/drawing/2014/main" val="20006"/>
                    </a:ext>
                  </a:extLst>
                </a:gridCol>
                <a:gridCol w="352120">
                  <a:extLst>
                    <a:ext uri="{9D8B030D-6E8A-4147-A177-3AD203B41FA5}">
                      <a16:colId xmlns:a16="http://schemas.microsoft.com/office/drawing/2014/main" val="20007"/>
                    </a:ext>
                  </a:extLst>
                </a:gridCol>
              </a:tblGrid>
              <a:tr h="174725">
                <a:tc gridSpan="8">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solidFill>
                            <a:srgbClr val="0070C0"/>
                          </a:solidFill>
                        </a:rPr>
                        <a:t>BEKLA x</a:t>
                      </a:r>
                      <a:endParaRPr dirty="0"/>
                    </a:p>
                    <a:p>
                      <a:pPr marL="0" marR="0" lvl="0" indent="0" algn="ctr" rtl="0">
                        <a:spcBef>
                          <a:spcPts val="0"/>
                        </a:spcBef>
                        <a:spcAft>
                          <a:spcPts val="0"/>
                        </a:spcAft>
                        <a:buNone/>
                      </a:pPr>
                      <a:r>
                        <a:rPr lang="en-US" sz="800" b="1" dirty="0"/>
                        <a:t>OPPAR x</a:t>
                      </a:r>
                      <a:endParaRPr sz="800" b="1" dirty="0"/>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RWY HD(348(158),231(051))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1"/>
                  </a:ext>
                </a:extLst>
              </a:tr>
              <a:tr h="2586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HME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112.2</a:t>
                      </a:r>
                      <a:endParaRPr/>
                    </a:p>
                  </a:txBody>
                  <a:tcPr marL="0" marR="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34L IHA</a:t>
                      </a:r>
                      <a:endParaRPr dirty="0"/>
                    </a:p>
                    <a:p>
                      <a:pPr marL="0" marR="0" lvl="0" indent="0" algn="ctr" rtl="0">
                        <a:spcBef>
                          <a:spcPts val="0"/>
                        </a:spcBef>
                        <a:spcAft>
                          <a:spcPts val="0"/>
                        </a:spcAft>
                        <a:buNone/>
                      </a:pPr>
                      <a:r>
                        <a:rPr lang="en-US" sz="800" b="1" dirty="0">
                          <a:solidFill>
                            <a:srgbClr val="C00000"/>
                          </a:solidFill>
                        </a:rPr>
                        <a:t>111.7</a:t>
                      </a:r>
                      <a:endParaRPr sz="458" dirty="0"/>
                    </a:p>
                  </a:txBody>
                  <a:tcPr marL="0" marR="0" marT="36000" marB="36000" anchor="ctr"/>
                </a:tc>
                <a:tc>
                  <a:txBody>
                    <a:bodyPr/>
                    <a:lstStyle/>
                    <a:p>
                      <a:pPr marL="0" marR="0" lvl="0" indent="0" algn="ctr" rtl="0">
                        <a:spcBef>
                          <a:spcPts val="0"/>
                        </a:spcBef>
                        <a:spcAft>
                          <a:spcPts val="0"/>
                        </a:spcAft>
                        <a:buNone/>
                      </a:pPr>
                      <a:r>
                        <a:rPr lang="en-US" sz="800" b="1" dirty="0">
                          <a:solidFill>
                            <a:srgbClr val="C00000"/>
                          </a:solidFill>
                        </a:rPr>
                        <a:t>16R ITA</a:t>
                      </a:r>
                      <a:endParaRPr dirty="0"/>
                    </a:p>
                    <a:p>
                      <a:pPr marL="0" marR="0" lvl="0" indent="0" algn="ctr" rtl="0">
                        <a:spcBef>
                          <a:spcPts val="0"/>
                        </a:spcBef>
                        <a:spcAft>
                          <a:spcPts val="0"/>
                        </a:spcAft>
                        <a:buNone/>
                      </a:pPr>
                      <a:r>
                        <a:rPr lang="en-US" sz="800" b="1" dirty="0">
                          <a:solidFill>
                            <a:srgbClr val="C00000"/>
                          </a:solidFill>
                        </a:rPr>
                        <a:t>111.55</a:t>
                      </a:r>
                      <a:endParaRPr sz="800" dirty="0"/>
                    </a:p>
                  </a:txBody>
                  <a:tcPr marL="0" marR="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34R ITC 108.9</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700" b="1" dirty="0">
                          <a:solidFill>
                            <a:srgbClr val="C00000"/>
                          </a:solidFill>
                        </a:rPr>
                        <a:t>16L</a:t>
                      </a:r>
                      <a:r>
                        <a:rPr lang="en-US" sz="800" b="1" dirty="0">
                          <a:solidFill>
                            <a:srgbClr val="C00000"/>
                          </a:solidFill>
                        </a:rPr>
                        <a:t> IOC 111.95</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700" b="1" dirty="0">
                          <a:solidFill>
                            <a:srgbClr val="C00000"/>
                          </a:solidFill>
                        </a:rPr>
                        <a:t>22</a:t>
                      </a:r>
                      <a:r>
                        <a:rPr lang="en-US" sz="800" b="1" dirty="0">
                          <a:solidFill>
                            <a:srgbClr val="C00000"/>
                          </a:solidFill>
                        </a:rPr>
                        <a:t> </a:t>
                      </a:r>
                      <a:r>
                        <a:rPr lang="en-US" sz="700" b="1" dirty="0">
                          <a:solidFill>
                            <a:srgbClr val="C00000"/>
                          </a:solidFill>
                        </a:rPr>
                        <a:t>IAD</a:t>
                      </a:r>
                      <a:endParaRPr sz="400"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dirty="0">
                          <a:solidFill>
                            <a:srgbClr val="C00000"/>
                          </a:solidFill>
                        </a:rPr>
                        <a:t>23 ITD</a:t>
                      </a:r>
                      <a:endParaRPr dirty="0"/>
                    </a:p>
                    <a:p>
                      <a:pPr marL="0" marR="0" lvl="0" indent="0" algn="ctr" rtl="0">
                        <a:spcBef>
                          <a:spcPts val="0"/>
                        </a:spcBef>
                        <a:spcAft>
                          <a:spcPts val="0"/>
                        </a:spcAft>
                        <a:buNone/>
                      </a:pPr>
                      <a:r>
                        <a:rPr lang="en-US" sz="800" b="1" dirty="0">
                          <a:solidFill>
                            <a:srgbClr val="C00000"/>
                          </a:solidFill>
                        </a:rPr>
                        <a:t>110.5</a:t>
                      </a:r>
                      <a:endParaRPr sz="800" dirty="0"/>
                    </a:p>
                  </a:txBody>
                  <a:tcPr marL="0" marR="0" marT="36000" marB="36000" anchor="ctr"/>
                </a:tc>
                <a:extLst>
                  <a:ext uri="{0D108BD9-81ED-4DB2-BD59-A6C34878D82A}">
                    <a16:rowId xmlns:a16="http://schemas.microsoft.com/office/drawing/2014/main" val="10002"/>
                  </a:ext>
                </a:extLst>
              </a:tr>
              <a:tr h="158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88900">
                <a:tc gridSpan="8">
                  <a:txBody>
                    <a:bodyPr/>
                    <a:lstStyle/>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34R BEKLA : KAIJI 230kts, TO FLAP SPD Until TORAM</a:t>
                      </a:r>
                      <a:endParaRPr sz="7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9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9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1" y="2478259"/>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3123812095"/>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966235975"/>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 RNAV STAR,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785813181"/>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291997442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82704"/>
            <a:chOff x="10990" y="3164515"/>
            <a:chExt cx="2317874" cy="782704"/>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2220738974"/>
                </p:ext>
              </p:extLst>
            </p:nvPr>
          </p:nvGraphicFramePr>
          <p:xfrm>
            <a:off x="10990" y="3164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81973"/>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spTree>
    <p:extLst>
      <p:ext uri="{BB962C8B-B14F-4D97-AF65-F5344CB8AC3E}">
        <p14:creationId xmlns:p14="http://schemas.microsoft.com/office/powerpoint/2010/main" val="39859072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270621955"/>
              </p:ext>
            </p:extLst>
          </p:nvPr>
        </p:nvGraphicFramePr>
        <p:xfrm>
          <a:off x="0" y="2272753"/>
          <a:ext cx="2328875" cy="2846642"/>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96707">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412752">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822172">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21501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2989630151"/>
              </p:ext>
            </p:extLst>
          </p:nvPr>
        </p:nvGraphicFramePr>
        <p:xfrm>
          <a:off x="-12" y="9492"/>
          <a:ext cx="2328875" cy="2222909"/>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t>
                      </a:r>
                      <a:r>
                        <a:rPr lang="en-US" altLang="ko-Kore-KR"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Disconnet</a:t>
                      </a: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1616780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endParaRPr kumimoji="1" lang="ko-Kore-KR" altLang="en-US" sz="800" dirty="0"/>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dirty="0"/>
                <a:t>ECAM memo no blue</a:t>
              </a:r>
              <a:endParaRPr kumimoji="1" lang="ko-Kore-KR" altLang="en-US" sz="800" dirty="0"/>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441619"/>
              <a:ext cx="418277" cy="421925"/>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896961062"/>
              </p:ext>
            </p:extLst>
          </p:nvPr>
        </p:nvGraphicFramePr>
        <p:xfrm>
          <a:off x="0" y="0"/>
          <a:ext cx="2328850" cy="1016880"/>
        </p:xfrm>
        <a:graphic>
          <a:graphicData uri="http://schemas.openxmlformats.org/drawingml/2006/table">
            <a:tbl>
              <a:tblPr firstRow="1" bandRow="1">
                <a:noFill/>
                <a:tableStyleId>{A521BE36-7E6F-4EC9-8D66-1CF97A6895EC}</a:tableStyleId>
              </a:tblPr>
              <a:tblGrid>
                <a:gridCol w="1471613">
                  <a:extLst>
                    <a:ext uri="{9D8B030D-6E8A-4147-A177-3AD203B41FA5}">
                      <a16:colId xmlns:a16="http://schemas.microsoft.com/office/drawing/2014/main" val="20000"/>
                    </a:ext>
                  </a:extLst>
                </a:gridCol>
                <a:gridCol w="857237">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VOR18L/R  GAYHA  GAYHA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spTree>
    <p:extLst>
      <p:ext uri="{BB962C8B-B14F-4D97-AF65-F5344CB8AC3E}">
        <p14:creationId xmlns:p14="http://schemas.microsoft.com/office/powerpoint/2010/main" val="174513959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021019548"/>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54529</TotalTime>
  <Words>8555</Words>
  <Application>Microsoft Macintosh PowerPoint</Application>
  <PresentationFormat>사용자 지정</PresentationFormat>
  <Paragraphs>2043</Paragraphs>
  <Slides>46</Slides>
  <Notes>45</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46</vt:i4>
      </vt:variant>
    </vt:vector>
  </HeadingPairs>
  <TitlesOfParts>
    <vt:vector size="54" baseType="lpstr">
      <vt:lpstr>Arial</vt:lpstr>
      <vt:lpstr>Helvetica Neue</vt:lpstr>
      <vt:lpstr>Century Gothic</vt:lpstr>
      <vt:lpstr>Calibri</vt:lpstr>
      <vt:lpstr>Cambria Math</vt:lpstr>
      <vt:lpstr>Britannic Bold</vt:lpstr>
      <vt:lpstr>Gulim</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420</cp:revision>
  <dcterms:created xsi:type="dcterms:W3CDTF">2022-05-17T08:00:10Z</dcterms:created>
  <dcterms:modified xsi:type="dcterms:W3CDTF">2025-02-26T10:28:22Z</dcterms:modified>
</cp:coreProperties>
</file>