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104"/>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467" r:id="rId14"/>
    <p:sldId id="468" r:id="rId15"/>
    <p:sldId id="257" r:id="rId16"/>
    <p:sldId id="258" r:id="rId17"/>
    <p:sldId id="259" r:id="rId18"/>
    <p:sldId id="260" r:id="rId19"/>
    <p:sldId id="267" r:id="rId20"/>
    <p:sldId id="268" r:id="rId21"/>
    <p:sldId id="355" r:id="rId22"/>
    <p:sldId id="356" r:id="rId23"/>
    <p:sldId id="440" r:id="rId24"/>
    <p:sldId id="455" r:id="rId25"/>
    <p:sldId id="441" r:id="rId26"/>
    <p:sldId id="273" r:id="rId27"/>
    <p:sldId id="274" r:id="rId28"/>
    <p:sldId id="275" r:id="rId29"/>
    <p:sldId id="276" r:id="rId30"/>
    <p:sldId id="279" r:id="rId31"/>
    <p:sldId id="456" r:id="rId32"/>
    <p:sldId id="280" r:id="rId33"/>
    <p:sldId id="340" r:id="rId34"/>
    <p:sldId id="341" r:id="rId35"/>
    <p:sldId id="295" r:id="rId36"/>
    <p:sldId id="296" r:id="rId37"/>
    <p:sldId id="277" r:id="rId38"/>
    <p:sldId id="278" r:id="rId39"/>
    <p:sldId id="377" r:id="rId40"/>
    <p:sldId id="379" r:id="rId41"/>
    <p:sldId id="308" r:id="rId42"/>
    <p:sldId id="451" r:id="rId43"/>
    <p:sldId id="309" r:id="rId44"/>
    <p:sldId id="457" r:id="rId45"/>
    <p:sldId id="458" r:id="rId46"/>
    <p:sldId id="459" r:id="rId47"/>
    <p:sldId id="463" r:id="rId48"/>
    <p:sldId id="464" r:id="rId49"/>
    <p:sldId id="465" r:id="rId50"/>
    <p:sldId id="342" r:id="rId51"/>
    <p:sldId id="466" r:id="rId52"/>
    <p:sldId id="344" r:id="rId53"/>
    <p:sldId id="386" r:id="rId54"/>
    <p:sldId id="475" r:id="rId55"/>
    <p:sldId id="388" r:id="rId56"/>
    <p:sldId id="389" r:id="rId57"/>
    <p:sldId id="390" r:id="rId58"/>
    <p:sldId id="442" r:id="rId59"/>
    <p:sldId id="443" r:id="rId60"/>
    <p:sldId id="447" r:id="rId61"/>
    <p:sldId id="448" r:id="rId62"/>
    <p:sldId id="449" r:id="rId63"/>
    <p:sldId id="450" r:id="rId64"/>
    <p:sldId id="452" r:id="rId65"/>
    <p:sldId id="453" r:id="rId66"/>
    <p:sldId id="460" r:id="rId67"/>
    <p:sldId id="462" r:id="rId68"/>
    <p:sldId id="461" r:id="rId69"/>
    <p:sldId id="436" r:id="rId70"/>
    <p:sldId id="376" r:id="rId71"/>
    <p:sldId id="434" r:id="rId72"/>
    <p:sldId id="437" r:id="rId73"/>
    <p:sldId id="439" r:id="rId74"/>
    <p:sldId id="438" r:id="rId75"/>
    <p:sldId id="444" r:id="rId76"/>
    <p:sldId id="445" r:id="rId77"/>
    <p:sldId id="446" r:id="rId78"/>
    <p:sldId id="469" r:id="rId79"/>
    <p:sldId id="470" r:id="rId80"/>
    <p:sldId id="471" r:id="rId81"/>
    <p:sldId id="472" r:id="rId82"/>
    <p:sldId id="473" r:id="rId83"/>
    <p:sldId id="474" r:id="rId84"/>
    <p:sldId id="422" r:id="rId85"/>
    <p:sldId id="385" r:id="rId86"/>
    <p:sldId id="365" r:id="rId87"/>
    <p:sldId id="366" r:id="rId88"/>
    <p:sldId id="423" r:id="rId89"/>
    <p:sldId id="384" r:id="rId90"/>
    <p:sldId id="283" r:id="rId91"/>
    <p:sldId id="286" r:id="rId92"/>
    <p:sldId id="428" r:id="rId93"/>
    <p:sldId id="288" r:id="rId94"/>
    <p:sldId id="289" r:id="rId95"/>
    <p:sldId id="290" r:id="rId96"/>
    <p:sldId id="424" r:id="rId97"/>
    <p:sldId id="302" r:id="rId98"/>
    <p:sldId id="303" r:id="rId99"/>
    <p:sldId id="426" r:id="rId100"/>
    <p:sldId id="427" r:id="rId101"/>
    <p:sldId id="430" r:id="rId102"/>
    <p:sldId id="281" r:id="rId103"/>
  </p:sldIdLst>
  <p:sldSz cx="2328863" cy="5572125"/>
  <p:notesSz cx="6858000" cy="9144000"/>
  <p:embeddedFontLst>
    <p:embeddedFont>
      <p:font typeface="맑은 고딕" panose="020B0503020000020004" pitchFamily="34" charset="-127"/>
      <p:regular r:id="rId105"/>
      <p:bold r:id="rId106"/>
    </p:embeddedFont>
    <p:embeddedFont>
      <p:font typeface="Cambria Math" panose="02040503050406030204" pitchFamily="18" charset="0"/>
      <p:regular r:id="rId107"/>
    </p:embeddedFont>
    <p:embeddedFont>
      <p:font typeface="Century Gothic" panose="020B0502020202020204" pitchFamily="34" charset="0"/>
      <p:regular r:id="rId108"/>
      <p:bold r:id="rId109"/>
      <p:italic r:id="rId110"/>
      <p:boldItalic r:id="rId111"/>
    </p:embeddedFont>
    <p:embeddedFont>
      <p:font typeface="Helvetica Neue" panose="02000503000000020004" pitchFamily="2" charset="0"/>
      <p:regular r:id="rId112"/>
      <p:bold r:id="rId113"/>
      <p:italic r:id="rId114"/>
      <p:boldItalic r:id="rId115"/>
    </p:embeddedFont>
    <p:embeddedFont>
      <p:font typeface="Lato" panose="020F0502020204030203" pitchFamily="34" charset="0"/>
      <p:regular r:id="rId116"/>
      <p:bold r:id="rId117"/>
      <p:italic r:id="rId118"/>
      <p:boldItalic r:id="rId119"/>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4639"/>
    <p:restoredTop sz="96966"/>
  </p:normalViewPr>
  <p:slideViewPr>
    <p:cSldViewPr snapToGrid="0" showGuides="1">
      <p:cViewPr>
        <p:scale>
          <a:sx n="177" d="100"/>
          <a:sy n="177" d="100"/>
        </p:scale>
        <p:origin x="2488" y="-1712"/>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font" Target="fonts/font13.fntdata"/><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font" Target="fonts/font8.fntdata"/><Relationship Id="rId175" Type="http://schemas.openxmlformats.org/officeDocument/2006/relationships/presProps" Target="presProps.xml"/><Relationship Id="rId16" Type="http://schemas.openxmlformats.org/officeDocument/2006/relationships/slide" Target="slides/slide15.xml"/><Relationship Id="rId107" Type="http://schemas.openxmlformats.org/officeDocument/2006/relationships/font" Target="fonts/font3.fntdata"/><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font" Target="fonts/font9.fntdata"/><Relationship Id="rId118" Type="http://schemas.openxmlformats.org/officeDocument/2006/relationships/font" Target="fonts/font14.fntdata"/><Relationship Id="rId80" Type="http://schemas.openxmlformats.org/officeDocument/2006/relationships/slide" Target="slides/slide79.xml"/><Relationship Id="rId85" Type="http://schemas.openxmlformats.org/officeDocument/2006/relationships/slide" Target="slides/slide84.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font" Target="fonts/font4.fntdata"/><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font" Target="fonts/font10.fntdata"/><Relationship Id="rId119" Type="http://schemas.openxmlformats.org/officeDocument/2006/relationships/font" Target="fonts/font15.fntdata"/><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font" Target="fonts/font5.fntdata"/><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font" Target="fonts/font6.fntdata"/><Relationship Id="rId115" Type="http://schemas.openxmlformats.org/officeDocument/2006/relationships/font" Target="fonts/font11.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font" Target="fonts/font1.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font" Target="fonts/font12.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font" Target="fonts/font7.fntdata"/><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font" Target="fonts/font2.fntdata"/><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26775FA1-1320-E035-38FA-8371813223DC}"/>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F676C17A-2843-0C49-F801-6E0A0E1A5D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897BC005-844D-3873-D24C-5DDE07B38D1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8795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C7713DDB-27B1-04F2-6E21-AD5C79BC6C19}"/>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4622DEBC-D4AF-9D8A-C262-D83DE8C785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62D33C27-83CF-115D-4709-C82E5012E57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19632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67D4974-F13A-099F-BD03-E02C1785CE9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217BFC9-402A-6001-C345-C99D57A552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0800C15-6134-8514-936C-95AD6F0976E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680780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6704C9-DB15-B2DD-8763-E73F06ECAF91}"/>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7B7C85-C808-6110-5AB8-E18346C1DAC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BDF4A0D8-92B2-DDAE-5221-A24508136D0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653533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22743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2605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85F4C01-B0AF-7285-3799-8E155A51CD2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04541C7C-6017-A663-E8D1-2A06EE03F3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9C474937-B94E-6434-6DC3-A64FB92F97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229513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19656100-CCF3-B540-8D98-DE6C3FA10D9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AFCE595-4D98-F31A-D878-8B8451A798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7DA8CE28-2E52-3632-54DD-A8D72B0C32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51642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7C1CA010-E5B5-E314-C6A2-5C6C7B7D1268}"/>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6BD57082-3CFA-9D0E-F304-D046497FEE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41C43C7-EFFA-43C4-EE37-75C4DD77EE4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15078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0E6D7B58-AC25-EA0D-7540-0E7EEE65F57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B30B6C6-087C-B850-831D-9C9B02E84DF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BB6E4EC-9EA8-08C8-7615-E1A65F0A55C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0132300"/>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84</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102</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86.xml"/><Relationship Id="rId18" Type="http://schemas.openxmlformats.org/officeDocument/2006/relationships/slide" Target="slide99.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85.xml"/><Relationship Id="rId17" Type="http://schemas.openxmlformats.org/officeDocument/2006/relationships/slide" Target="slide95.xml"/><Relationship Id="rId2" Type="http://schemas.openxmlformats.org/officeDocument/2006/relationships/notesSlide" Target="../notesSlides/notesSlide1.xml"/><Relationship Id="rId16" Type="http://schemas.openxmlformats.org/officeDocument/2006/relationships/slide" Target="slide93.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84.xml"/><Relationship Id="rId5" Type="http://schemas.openxmlformats.org/officeDocument/2006/relationships/slide" Target="slide7.xml"/><Relationship Id="rId15" Type="http://schemas.openxmlformats.org/officeDocument/2006/relationships/slide" Target="slide91.xml"/><Relationship Id="rId10" Type="http://schemas.openxmlformats.org/officeDocument/2006/relationships/hyperlink" Target="https://flyingdeuk.github.io/posts/A330-kneeboard/" TargetMode="External"/><Relationship Id="rId19" Type="http://schemas.openxmlformats.org/officeDocument/2006/relationships/slide" Target="slide100.xml"/><Relationship Id="rId4" Type="http://schemas.openxmlformats.org/officeDocument/2006/relationships/slide" Target="slide5.xml"/><Relationship Id="rId9" Type="http://schemas.openxmlformats.org/officeDocument/2006/relationships/hyperlink" Target="https://flyingdeuk.github.io/posts/B737-kneeboard/" TargetMode="External"/><Relationship Id="rId14" Type="http://schemas.openxmlformats.org/officeDocument/2006/relationships/slide" Target="slide89.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12"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11" Type="http://schemas.openxmlformats.org/officeDocument/2006/relationships/image" Target="../media/image2.png"/><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35.xml"/><Relationship Id="rId18" Type="http://schemas.openxmlformats.org/officeDocument/2006/relationships/image" Target="../media/image3.svg"/><Relationship Id="rId3" Type="http://schemas.openxmlformats.org/officeDocument/2006/relationships/slide" Target="slide23.xml"/><Relationship Id="rId7" Type="http://schemas.openxmlformats.org/officeDocument/2006/relationships/slide" Target="slide28.xml"/><Relationship Id="rId12" Type="http://schemas.openxmlformats.org/officeDocument/2006/relationships/slide" Target="slide34.xml"/><Relationship Id="rId17" Type="http://schemas.openxmlformats.org/officeDocument/2006/relationships/image" Target="../media/image2.png"/><Relationship Id="rId2" Type="http://schemas.openxmlformats.org/officeDocument/2006/relationships/notesSlide" Target="../notesSlides/notesSlide5.xml"/><Relationship Id="rId16" Type="http://schemas.openxmlformats.org/officeDocument/2006/relationships/slide" Target="slide38.xml"/><Relationship Id="rId1" Type="http://schemas.openxmlformats.org/officeDocument/2006/relationships/slideLayout" Target="../slideLayouts/slideLayout1.xml"/><Relationship Id="rId6" Type="http://schemas.openxmlformats.org/officeDocument/2006/relationships/slide" Target="slide27.xml"/><Relationship Id="rId11" Type="http://schemas.openxmlformats.org/officeDocument/2006/relationships/slide" Target="slide33.xml"/><Relationship Id="rId5" Type="http://schemas.openxmlformats.org/officeDocument/2006/relationships/slide" Target="slide26.xml"/><Relationship Id="rId15" Type="http://schemas.openxmlformats.org/officeDocument/2006/relationships/slide" Target="slide37.xml"/><Relationship Id="rId10" Type="http://schemas.openxmlformats.org/officeDocument/2006/relationships/slide" Target="slide32.xml"/><Relationship Id="rId4" Type="http://schemas.openxmlformats.org/officeDocument/2006/relationships/slide" Target="slide25.xml"/><Relationship Id="rId9" Type="http://schemas.openxmlformats.org/officeDocument/2006/relationships/slide" Target="slide30.xml"/><Relationship Id="rId14" Type="http://schemas.openxmlformats.org/officeDocument/2006/relationships/slide" Target="slide3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3.xml"/><Relationship Id="rId3" Type="http://schemas.openxmlformats.org/officeDocument/2006/relationships/slide" Target="slide39.xml"/><Relationship Id="rId7" Type="http://schemas.openxmlformats.org/officeDocument/2006/relationships/slide" Target="slide44.xml"/><Relationship Id="rId12" Type="http://schemas.openxmlformats.org/officeDocument/2006/relationships/slide" Target="slide52.xml"/><Relationship Id="rId2" Type="http://schemas.openxmlformats.org/officeDocument/2006/relationships/notesSlide" Target="../notesSlides/notesSlide7.xml"/><Relationship Id="rId16"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43.xml"/><Relationship Id="rId11" Type="http://schemas.openxmlformats.org/officeDocument/2006/relationships/slide" Target="slide50.xml"/><Relationship Id="rId5" Type="http://schemas.openxmlformats.org/officeDocument/2006/relationships/slide" Target="slide41.xml"/><Relationship Id="rId15" Type="http://schemas.openxmlformats.org/officeDocument/2006/relationships/image" Target="../media/image2.png"/><Relationship Id="rId10" Type="http://schemas.openxmlformats.org/officeDocument/2006/relationships/slide" Target="slide49.xml"/><Relationship Id="rId4" Type="http://schemas.openxmlformats.org/officeDocument/2006/relationships/slide" Target="slide40.xml"/><Relationship Id="rId9" Type="http://schemas.openxmlformats.org/officeDocument/2006/relationships/slide" Target="slide47.xml"/><Relationship Id="rId14" Type="http://schemas.openxmlformats.org/officeDocument/2006/relationships/slide" Target="slide55.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8" Type="http://schemas.openxmlformats.org/officeDocument/2006/relationships/slide" Target="slide61.xml"/><Relationship Id="rId13" Type="http://schemas.openxmlformats.org/officeDocument/2006/relationships/slide" Target="slide66.xml"/><Relationship Id="rId3" Type="http://schemas.openxmlformats.org/officeDocument/2006/relationships/slide" Target="slide56.xml"/><Relationship Id="rId7" Type="http://schemas.openxmlformats.org/officeDocument/2006/relationships/slide" Target="slide60.xml"/><Relationship Id="rId12" Type="http://schemas.openxmlformats.org/officeDocument/2006/relationships/slide" Target="slide65.xml"/><Relationship Id="rId2" Type="http://schemas.openxmlformats.org/officeDocument/2006/relationships/notesSlide" Target="../notesSlides/notesSlide9.xml"/><Relationship Id="rId16"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59.xml"/><Relationship Id="rId11" Type="http://schemas.openxmlformats.org/officeDocument/2006/relationships/slide" Target="slide64.xml"/><Relationship Id="rId5" Type="http://schemas.openxmlformats.org/officeDocument/2006/relationships/slide" Target="slide58.xml"/><Relationship Id="rId15" Type="http://schemas.openxmlformats.org/officeDocument/2006/relationships/image" Target="../media/image2.png"/><Relationship Id="rId10" Type="http://schemas.openxmlformats.org/officeDocument/2006/relationships/slide" Target="slide63.xml"/><Relationship Id="rId4" Type="http://schemas.openxmlformats.org/officeDocument/2006/relationships/slide" Target="slide57.xml"/><Relationship Id="rId9" Type="http://schemas.openxmlformats.org/officeDocument/2006/relationships/slide" Target="slide62.xml"/><Relationship Id="rId14" Type="http://schemas.openxmlformats.org/officeDocument/2006/relationships/slide" Target="slide68.xml"/></Relationships>
</file>

<file path=ppt/slides/_rels/slide10.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slide" Target="slide77.xml"/><Relationship Id="rId3" Type="http://schemas.openxmlformats.org/officeDocument/2006/relationships/slide" Target="slide69.xml"/><Relationship Id="rId7" Type="http://schemas.openxmlformats.org/officeDocument/2006/relationships/slide" Target="slide75.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74.xml"/><Relationship Id="rId5" Type="http://schemas.openxmlformats.org/officeDocument/2006/relationships/slide" Target="slide72.xml"/><Relationship Id="rId10" Type="http://schemas.openxmlformats.org/officeDocument/2006/relationships/image" Target="../media/image3.svg"/><Relationship Id="rId4" Type="http://schemas.openxmlformats.org/officeDocument/2006/relationships/slide" Target="slide71.xml"/><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78.xml"/><Relationship Id="rId7"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slide" Target="slide83.xml"/><Relationship Id="rId5" Type="http://schemas.openxmlformats.org/officeDocument/2006/relationships/slide" Target="slide81.xml"/><Relationship Id="rId4" Type="http://schemas.openxmlformats.org/officeDocument/2006/relationships/slide" Target="slide80.xml"/></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flyingdeuk.github.io/posts/RKPC-CJU/" TargetMode="External"/><Relationship Id="rId9"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5.jp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10" Type="http://schemas.openxmlformats.org/officeDocument/2006/relationships/image" Target="../media/image3.svg"/><Relationship Id="rId4" Type="http://schemas.openxmlformats.org/officeDocument/2006/relationships/slide" Target="slide97.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8.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97.xml"/><Relationship Id="rId5" Type="http://schemas.openxmlformats.org/officeDocument/2006/relationships/image" Target="../media/image9.jpg"/><Relationship Id="rId4" Type="http://schemas.openxmlformats.org/officeDocument/2006/relationships/hyperlink" Target="https://flyingdeuk.github.io/posts/RKPK-PUS/" TargetMode="External"/><Relationship Id="rId9" Type="http://schemas.openxmlformats.org/officeDocument/2006/relationships/image" Target="../media/image3.svg"/></Relationships>
</file>

<file path=ppt/slides/_rels/slide2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0.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97.xml"/><Relationship Id="rId7"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slide" Target="slide6.xml"/><Relationship Id="rId4" Type="http://schemas.openxmlformats.org/officeDocument/2006/relationships/hyperlink" Target="https://flyingdeuk.github.io/posts/RJTT-HND/" TargetMode="External"/><Relationship Id="rId9"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JTT-HND/" TargetMode="External"/><Relationship Id="rId7"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3.pn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TT-HND/" TargetMode="External"/><Relationship Id="rId7"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3.png"/><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FF-FUK/" TargetMode="External"/><Relationship Id="rId7"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7"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7" Type="http://schemas.openxmlformats.org/officeDocument/2006/relationships/image" Target="../media/image3.sv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4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HHH-HKG/" TargetMode="External"/><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BAA-PEK/" TargetMode="External"/><Relationship Id="rId7"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HHH-WU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7" Type="http://schemas.openxmlformats.org/officeDocument/2006/relationships/image" Target="../media/image3.sv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GG-CA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GGG-CAN/" TargetMode="External"/><Relationship Id="rId7"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LXY-XIY/" TargetMode="External"/><Relationship Id="rId7" Type="http://schemas.openxmlformats.org/officeDocument/2006/relationships/image" Target="../media/image3.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TJ-TS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ZBTJ-TSN/" TargetMode="External"/><Relationship Id="rId7" Type="http://schemas.openxmlformats.org/officeDocument/2006/relationships/image" Target="../media/image3.sv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6.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57.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BS-BKK/" TargetMode="External"/><Relationship Id="rId7"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slide" Target="slide97.xml"/><Relationship Id="rId5" Type="http://schemas.openxmlformats.org/officeDocument/2006/relationships/slide" Target="slide3.xml"/><Relationship Id="rId4" Type="http://schemas.openxmlformats.org/officeDocument/2006/relationships/hyperlink" Target="https://flyingdeuk.github.io/posts/RKPK-PUS/" TargetMode="Externa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image" Target="../media/image3.sv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SSS-SIN/" TargetMode="External"/></Relationships>
</file>

<file path=ppt/slides/_rels/slide61.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7" Type="http://schemas.openxmlformats.org/officeDocument/2006/relationships/image" Target="../media/image3.sv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DN-DAD/" TargetMode="External"/><Relationship Id="rId7"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18.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7" Type="http://schemas.openxmlformats.org/officeDocument/2006/relationships/image" Target="../media/image3.sv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CC-CNX/"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CC-CNX/" TargetMode="External"/><Relationship Id="rId7"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PHNL-HNL/" TargetMode="External"/><Relationship Id="rId7" Type="http://schemas.openxmlformats.org/officeDocument/2006/relationships/image" Target="../media/image2.pn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20.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7" Type="http://schemas.openxmlformats.org/officeDocument/2006/relationships/image" Target="../media/image3.sv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7" Type="http://schemas.openxmlformats.org/officeDocument/2006/relationships/image" Target="../media/image3.svg"/><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ZMCK-UBN/"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hyperlink" Target="https://flyingdeuk.github.io/posts/ZMCK-UBN/" TargetMode="External"/><Relationship Id="rId7" Type="http://schemas.openxmlformats.org/officeDocument/2006/relationships/image" Target="../media/image3.svg"/><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OMDB-DXB/" TargetMode="Externa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hyperlink" Target="https://flyingdeuk.github.io/posts/OMDB-DXB/" TargetMode="External"/><Relationship Id="rId7" Type="http://schemas.openxmlformats.org/officeDocument/2006/relationships/image" Target="../media/image3.svg"/><Relationship Id="rId2" Type="http://schemas.openxmlformats.org/officeDocument/2006/relationships/notesSlide" Target="../notesSlides/notesSlide7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23.png"/></Relationships>
</file>

<file path=ppt/slides/_rels/slide8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9.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0.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3.xml.rels><?xml version="1.0" encoding="UTF-8" standalone="yes"?>
<Relationships xmlns="http://schemas.openxmlformats.org/package/2006/relationships"><Relationship Id="rId3" Type="http://schemas.openxmlformats.org/officeDocument/2006/relationships/slide" Target="slide91.xml"/><Relationship Id="rId2" Type="http://schemas.openxmlformats.org/officeDocument/2006/relationships/notesSlide" Target="../notesSlides/notesSlide8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9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86.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91.xml"/></Relationships>
</file>

<file path=ppt/slides/_rels/slide9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7.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97.xml.rels><?xml version="1.0" encoding="UTF-8" standalone="yes"?>
<Relationships xmlns="http://schemas.openxmlformats.org/package/2006/relationships"><Relationship Id="rId3" Type="http://schemas.openxmlformats.org/officeDocument/2006/relationships/image" Target="../media/image25.jpeg"/><Relationship Id="rId7" Type="http://schemas.openxmlformats.org/officeDocument/2006/relationships/image" Target="../media/image3.svg"/><Relationship Id="rId2" Type="http://schemas.openxmlformats.org/officeDocument/2006/relationships/notesSlide" Target="../notesSlides/notesSlide8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27.jpeg"/><Relationship Id="rId4" Type="http://schemas.openxmlformats.org/officeDocument/2006/relationships/image" Target="../media/image26.jpeg"/></Relationships>
</file>

<file path=ppt/slides/_rels/slide98.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89.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9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0.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3.xml"/><Relationship Id="rId1" Type="http://schemas.openxmlformats.org/officeDocument/2006/relationships/slideLayout" Target="../slideLayouts/slideLayout2.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214502570"/>
              </p:ext>
            </p:extLst>
          </p:nvPr>
        </p:nvGraphicFramePr>
        <p:xfrm>
          <a:off x="98101" y="1069487"/>
          <a:ext cx="2132650" cy="239550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r h="40374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2000" b="1" u="none" strike="noStrike" cap="none" dirty="0">
                          <a:solidFill>
                            <a:srgbClr val="002060"/>
                          </a:solidFill>
                          <a:latin typeface="Calibri"/>
                          <a:cs typeface="Calibri"/>
                          <a:sym typeface="Calibri"/>
                          <a:hlinkClick r:id="rId8" action="ppaction://hlinksldjump">
                            <a:extLst>
                              <a:ext uri="{A12FA001-AC4F-418D-AE19-62706E023703}">
                                <ahyp:hlinkClr xmlns:ahyp="http://schemas.microsoft.com/office/drawing/2018/hyperlinkcolor" val="tx"/>
                              </a:ext>
                            </a:extLst>
                          </a:hlinkClick>
                        </a:rPr>
                        <a:t>Mongo, ME Asia</a:t>
                      </a:r>
                      <a:endParaRPr lang="en-US" altLang="ko-Kore-KR" sz="2000" b="1" u="none" strike="noStrike" cap="none" dirty="0">
                        <a:solidFill>
                          <a:srgbClr val="002060"/>
                        </a:solidFill>
                        <a:latin typeface="Calibri"/>
                        <a:cs typeface="Calibri"/>
                        <a:sym typeface="Calibri"/>
                      </a:endParaRPr>
                    </a:p>
                  </a:txBody>
                  <a:tcPr marL="0" marR="0" marT="0" marB="0" anchor="ctr"/>
                </a:tc>
                <a:extLst>
                  <a:ext uri="{0D108BD9-81ED-4DB2-BD59-A6C34878D82A}">
                    <a16:rowId xmlns:a16="http://schemas.microsoft.com/office/drawing/2014/main" val="2503510456"/>
                  </a:ext>
                </a:extLst>
              </a:tr>
            </a:tbl>
          </a:graphicData>
        </a:graphic>
      </p:graphicFrame>
      <p:sp>
        <p:nvSpPr>
          <p:cNvPr id="89" name="Google Shape;89;p1">
            <a:hlinkClick r:id="rId9"/>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10"/>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10"/>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1772776687"/>
              </p:ext>
            </p:extLst>
          </p:nvPr>
        </p:nvGraphicFramePr>
        <p:xfrm>
          <a:off x="185895" y="3531746"/>
          <a:ext cx="1969476" cy="1947491"/>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tx1"/>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tx1"/>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9"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0070C0"/>
                </a:solidFill>
                <a:latin typeface="Calibri"/>
                <a:ea typeface="Calibri"/>
                <a:cs typeface="Calibri"/>
                <a:sym typeface="Calibri"/>
              </a:rPr>
              <a:t>VER. </a:t>
            </a:r>
            <a:r>
              <a:rPr lang="en-US" sz="1100" b="1">
                <a:solidFill>
                  <a:srgbClr val="0070C0"/>
                </a:solidFill>
                <a:latin typeface="Calibri"/>
                <a:ea typeface="Calibri"/>
                <a:cs typeface="Calibri"/>
                <a:sym typeface="Calibri"/>
              </a:rPr>
              <a:t>25.</a:t>
            </a:r>
            <a:r>
              <a:rPr lang="en-US" altLang="ko-KR" sz="1100" b="1">
                <a:solidFill>
                  <a:srgbClr val="0070C0"/>
                </a:solidFill>
                <a:latin typeface="Calibri"/>
                <a:ea typeface="Calibri"/>
                <a:cs typeface="Calibri"/>
                <a:sym typeface="Calibri"/>
              </a:rPr>
              <a:t>7</a:t>
            </a:r>
            <a:r>
              <a:rPr lang="en-US" sz="1100" b="1">
                <a:solidFill>
                  <a:srgbClr val="0070C0"/>
                </a:solidFill>
                <a:latin typeface="Calibri"/>
                <a:ea typeface="Calibri"/>
                <a:cs typeface="Calibri"/>
                <a:sym typeface="Calibri"/>
              </a:rPr>
              <a:t>.</a:t>
            </a:r>
            <a:r>
              <a:rPr lang="en-US" altLang="ko-KR" sz="1100" b="1">
                <a:solidFill>
                  <a:srgbClr val="0070C0"/>
                </a:solidFill>
                <a:latin typeface="Calibri"/>
                <a:ea typeface="Calibri"/>
                <a:cs typeface="Calibri"/>
                <a:sym typeface="Calibri"/>
              </a:rPr>
              <a:t>6</a:t>
            </a:r>
            <a:endParaRPr sz="11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984622410"/>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tx1"/>
                          </a:solidFill>
                          <a:sym typeface="Calibri"/>
                        </a:rPr>
                        <a:t>Domestic</a:t>
                      </a:r>
                      <a:endParaRPr sz="28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139868916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ECFD93F4-8434-FE54-31C3-BD68508B755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88375B34-8C64-6DD0-9FBE-ACB2C6F75CC8}"/>
              </a:ext>
            </a:extLst>
          </p:cNvPr>
          <p:cNvSpPr txBox="1"/>
          <p:nvPr/>
        </p:nvSpPr>
        <p:spPr>
          <a:xfrm>
            <a:off x="1464366" y="5212277"/>
            <a:ext cx="980661"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7550E0A2-BAC2-77CC-CA51-0D3557CA6F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CCF6AE2C-F0D0-934B-3803-365D62B0F7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0713" y="511492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439270089"/>
              </p:ext>
            </p:extLst>
          </p:nvPr>
        </p:nvGraphicFramePr>
        <p:xfrm>
          <a:off x="98101" y="132866"/>
          <a:ext cx="2132650" cy="4152947"/>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rPr>
                        <a:t>Japan</a:t>
                      </a:r>
                      <a:endParaRPr sz="2400" b="1" u="none" strike="noStrike" cap="none" dirty="0">
                        <a:solidFill>
                          <a:srgbClr val="0070C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84101360"/>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51654410"/>
                  </a:ext>
                </a:extLst>
              </a:tr>
            </a:tbl>
          </a:graphicData>
        </a:graphic>
      </p:graphicFrame>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155073123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51C5D988-811B-0301-9731-AB07EF7D86DC}"/>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25695369"/>
              </p:ext>
            </p:extLst>
          </p:nvPr>
        </p:nvGraphicFramePr>
        <p:xfrm>
          <a:off x="81023" y="3763126"/>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tx1"/>
                          </a:solidFill>
                        </a:rPr>
                        <a:t>Japan</a:t>
                      </a:r>
                      <a:endParaRPr sz="1100" b="0" dirty="0">
                        <a:solidFill>
                          <a:schemeClr val="tx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3135CD-FE0D-D672-B8B7-AE38F68859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611794891"/>
              </p:ext>
            </p:extLst>
          </p:nvPr>
        </p:nvGraphicFramePr>
        <p:xfrm>
          <a:off x="104230" y="114852"/>
          <a:ext cx="2115458" cy="2859780"/>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rgbClr val="00B050"/>
                          </a:solidFill>
                          <a:latin typeface="Calibri"/>
                          <a:ea typeface="Calibri"/>
                          <a:cs typeface="Calibri"/>
                          <a:sym typeface="Calibri"/>
                        </a:rPr>
                        <a:t>China</a:t>
                      </a:r>
                      <a:r>
                        <a:rPr lang="en-US" sz="1800" b="1" u="none" strike="noStrike" cap="none" dirty="0">
                          <a:solidFill>
                            <a:schemeClr val="bg1"/>
                          </a:solidFill>
                          <a:latin typeface="Calibri"/>
                          <a:ea typeface="Calibri"/>
                          <a:cs typeface="Calibri"/>
                          <a:sym typeface="Calibri"/>
                        </a:rPr>
                        <a:t>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CAN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8746633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453105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00867488"/>
                  </a:ext>
                </a:extLst>
              </a:tr>
            </a:tbl>
          </a:graphicData>
        </a:graphic>
      </p:graphicFrame>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155272458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B8B5A48-7593-5DEE-6767-4476684CA64B}"/>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834267655"/>
              </p:ext>
            </p:extLst>
          </p:nvPr>
        </p:nvGraphicFramePr>
        <p:xfrm>
          <a:off x="121884" y="3798834"/>
          <a:ext cx="2069883" cy="1104344"/>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tx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66253469"/>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CAN</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광저우</a:t>
                      </a:r>
                      <a:r>
                        <a:rPr lang="en-US" altLang="ko-KR" sz="900" b="0" dirty="0">
                          <a:solidFill>
                            <a:srgbClr val="00B050"/>
                          </a:solidFill>
                        </a:rPr>
                        <a:t>/</a:t>
                      </a:r>
                      <a:r>
                        <a:rPr lang="ko-KR" altLang="en-US" sz="900" b="0" dirty="0" err="1">
                          <a:solidFill>
                            <a:srgbClr val="00B050"/>
                          </a:solidFill>
                        </a:rPr>
                        <a:t>바이윈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시안</a:t>
                      </a:r>
                      <a:r>
                        <a:rPr lang="en-US" altLang="ko-KR" sz="900" b="0" dirty="0">
                          <a:solidFill>
                            <a:srgbClr val="00B050"/>
                          </a:solidFill>
                        </a:rPr>
                        <a:t>/</a:t>
                      </a:r>
                      <a:r>
                        <a:rPr lang="ko-KR" altLang="en-US" sz="900" b="0" dirty="0" err="1">
                          <a:solidFill>
                            <a:srgbClr val="00B050"/>
                          </a:solidFill>
                        </a:rPr>
                        <a:t>시엔양</a:t>
                      </a:r>
                      <a:endParaRPr sz="900" b="0" dirty="0">
                        <a:solidFill>
                          <a:srgbClr val="00B050"/>
                        </a:solidFill>
                      </a:endParaRPr>
                    </a:p>
                  </a:txBody>
                  <a:tcPr marL="0" marR="0" marT="0" marB="0" anchor="ctr"/>
                </a:tc>
                <a:extLst>
                  <a:ext uri="{0D108BD9-81ED-4DB2-BD59-A6C34878D82A}">
                    <a16:rowId xmlns:a16="http://schemas.microsoft.com/office/drawing/2014/main" val="425419948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bl>
          </a:graphicData>
        </a:graphic>
      </p:graphicFrame>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28790C4-7E26-FFB4-21CC-3E16C21A5C7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84429472"/>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altLang="ko-KR" sz="2400" b="1" u="none" strike="noStrike" cap="none" dirty="0">
                          <a:solidFill>
                            <a:srgbClr val="7030A0"/>
                          </a:solidFill>
                          <a:latin typeface="Calibri"/>
                          <a:ea typeface="Calibri"/>
                          <a:cs typeface="Calibri"/>
                          <a:sym typeface="Calibri"/>
                        </a:rPr>
                        <a:t>SE </a:t>
                      </a:r>
                      <a:r>
                        <a:rPr lang="en-US" sz="2400" b="1" u="none" strike="noStrike" cap="none" dirty="0">
                          <a:solidFill>
                            <a:srgbClr val="7030A0"/>
                          </a:solidFill>
                          <a:latin typeface="Calibri"/>
                          <a:ea typeface="Calibri"/>
                          <a:cs typeface="Calibri"/>
                          <a:sym typeface="Calibri"/>
                        </a:rPr>
                        <a:t>Asia</a:t>
                      </a:r>
                      <a:endParaRPr sz="2400" b="1" u="none" strike="noStrike" cap="none" dirty="0">
                        <a:solidFill>
                          <a:srgbClr val="7030A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82465808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300C3F7-80BE-FCDE-AE00-66776EFBDDA5}"/>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221540470"/>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bl>
          </a:graphicData>
        </a:graphic>
      </p:graphicFrame>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177539904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919822C7-DE3F-F659-C1B5-86715278BF84}"/>
              </a:ext>
            </a:extLst>
          </p:cNvPr>
          <p:cNvSpPr txBox="1"/>
          <p:nvPr/>
        </p:nvSpPr>
        <p:spPr>
          <a:xfrm>
            <a:off x="1464836" y="5278537"/>
            <a:ext cx="1006693"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64D7ADBC-A170-0D7F-4328-F102F81074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124331603"/>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extLst>
              <p:ext uri="{D42A27DB-BD31-4B8C-83A1-F6EECF244321}">
                <p14:modId xmlns:p14="http://schemas.microsoft.com/office/powerpoint/2010/main" val="2158389381"/>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66FAE2-9980-C00E-E905-5E5F7DBD0EE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38454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Oceania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07A69A2B-0668-E18A-E9BB-083570E8A3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3D9EAF46-3FEF-5EB2-F163-5BB55F947550}"/>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38051F1B-8853-CC2D-998D-6CD7EE60CE1F}"/>
              </a:ext>
            </a:extLst>
          </p:cNvPr>
          <p:cNvGraphicFramePr/>
          <p:nvPr>
            <p:extLst>
              <p:ext uri="{D42A27DB-BD31-4B8C-83A1-F6EECF244321}">
                <p14:modId xmlns:p14="http://schemas.microsoft.com/office/powerpoint/2010/main" val="1649060368"/>
              </p:ext>
            </p:extLst>
          </p:nvPr>
        </p:nvGraphicFramePr>
        <p:xfrm>
          <a:off x="98101" y="184953"/>
          <a:ext cx="2132650" cy="3096435"/>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000" b="1" u="none" strike="noStrike" cap="none" dirty="0">
                          <a:solidFill>
                            <a:srgbClr val="002060"/>
                          </a:solidFill>
                          <a:latin typeface="Calibri"/>
                          <a:ea typeface="Calibri"/>
                          <a:cs typeface="Calibri"/>
                          <a:sym typeface="Calibri"/>
                        </a:rPr>
                        <a:t>Mongo, ME Asia</a:t>
                      </a:r>
                      <a:endParaRPr sz="2000" b="1" u="none" strike="noStrike" cap="none" dirty="0">
                        <a:solidFill>
                          <a:srgbClr val="00206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UBN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DXB</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BFD5B3D4-0FE7-0276-A001-5170B87F05AA}"/>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89B58A8-BDA8-A88E-6025-CB9EEC9E6F5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76084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5BA0D3EB-0DDA-1A51-ABEA-AC2CF01EA403}"/>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97C9AC41-143F-0C80-645D-4230AAF27CFF}"/>
              </a:ext>
            </a:extLst>
          </p:cNvPr>
          <p:cNvGraphicFramePr/>
          <p:nvPr>
            <p:extLst>
              <p:ext uri="{D42A27DB-BD31-4B8C-83A1-F6EECF244321}">
                <p14:modId xmlns:p14="http://schemas.microsoft.com/office/powerpoint/2010/main" val="3623628968"/>
              </p:ext>
            </p:extLst>
          </p:nvPr>
        </p:nvGraphicFramePr>
        <p:xfrm>
          <a:off x="114028" y="3763936"/>
          <a:ext cx="2100805" cy="1152300"/>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Mongo, ME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002060"/>
                          </a:solidFill>
                        </a:rPr>
                        <a:t>UBN</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002060"/>
                          </a:solidFill>
                        </a:rPr>
                        <a:t>울란바타르</a:t>
                      </a:r>
                      <a:r>
                        <a:rPr lang="en-US" altLang="ko-KR" sz="800" b="0" dirty="0">
                          <a:solidFill>
                            <a:srgbClr val="002060"/>
                          </a:solidFill>
                        </a:rPr>
                        <a:t>/</a:t>
                      </a:r>
                      <a:r>
                        <a:rPr lang="ko-KR" altLang="en-US" sz="800" b="0" dirty="0" err="1">
                          <a:solidFill>
                            <a:srgbClr val="002060"/>
                          </a:solidFill>
                        </a:rPr>
                        <a:t>칭기스칸</a:t>
                      </a:r>
                      <a:endParaRPr sz="800" b="0" dirty="0">
                        <a:solidFill>
                          <a:srgbClr val="00206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002060"/>
                          </a:solidFill>
                        </a:rPr>
                        <a:t>DXB</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002060"/>
                          </a:solidFill>
                        </a:rPr>
                        <a:t>두바이</a:t>
                      </a:r>
                      <a:endParaRPr sz="800" b="0" dirty="0">
                        <a:solidFill>
                          <a:srgbClr val="00206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9D899C51-27AF-23F3-734C-79D426155FFB}"/>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CAB0477-8700-3365-FC72-A26290AA5055}"/>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C991B66B-483B-59A9-E54E-40785639C9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341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1081EFB0-D11A-4A21-0FEF-698BAD7431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0D6773A-6336-7BA1-7A64-79AA12E3E0B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63803F54-E73A-2897-04E3-9D581817A7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5D61B2C-E47D-4E61-4356-23A2EAB5283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2DF737A-1B19-2424-7810-B57914B3F6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804B8AA-8DCD-B0C3-D877-EE77694B74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3F39A323-FBD3-D6DC-02B1-956629174D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25297958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6">
            <a:alphaModFix/>
          </a:blip>
          <a:srcRect/>
          <a:stretch/>
        </p:blipFill>
        <p:spPr>
          <a:xfrm>
            <a:off x="4472" y="2072681"/>
            <a:ext cx="1559909" cy="651823"/>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50FFFDC4-29D6-ADBF-1961-D8EEFFC7AE7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77773340"/>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HME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6"/>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7"/>
          <a:stretch>
            <a:fillRect/>
          </a:stretch>
        </p:blipFill>
        <p:spPr>
          <a:xfrm>
            <a:off x="148563" y="602614"/>
            <a:ext cx="451728" cy="451728"/>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9CB71F31-9FE7-F6FB-E831-4F77E261766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283173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3071223817"/>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672548229"/>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2190099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a:extLst>
              <a:ext uri="{FF2B5EF4-FFF2-40B4-BE49-F238E27FC236}">
                <a16:creationId xmlns:a16="http://schemas.microsoft.com/office/drawing/2014/main" id="{51363B09-8919-C814-7F0B-0F99CF5CC6C6}"/>
              </a:ext>
            </a:extLst>
          </p:cNvPr>
          <p:cNvPicPr preferRelativeResize="0"/>
          <p:nvPr/>
        </p:nvPicPr>
        <p:blipFill rotWithShape="1">
          <a:blip r:embed="rId5">
            <a:alphaModFix/>
          </a:blip>
          <a:srcRect/>
          <a:stretch/>
        </p:blipFill>
        <p:spPr>
          <a:xfrm>
            <a:off x="-2501" y="2698875"/>
            <a:ext cx="956281" cy="772905"/>
          </a:xfrm>
          <a:prstGeom prst="rect">
            <a:avLst/>
          </a:prstGeom>
          <a:noFill/>
          <a:ln>
            <a:noFill/>
          </a:ln>
        </p:spPr>
      </p:pic>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7"/>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24CF9844-774F-C8AB-ECED-D624262D832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890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3306649105"/>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[058/238]</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06L</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dirty="0"/>
                        <a:t>06R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dirty="0"/>
                        <a:t>24L/R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078939E7-A2B6-601D-BD5F-CE7A3C15903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96157346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ED0FA1C-C787-FA27-B655-4AF0D20893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C4A05EA-E6A9-6593-1DB3-FCB6C8A2F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04315089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C31B9F5F-E93A-4740-DF50-5631F1B0784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4065535975"/>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HME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073B09E-F116-98E8-D2E0-93D39ECEB5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3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051902870"/>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214694340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138F56BC-6605-CFEE-8132-E7EB423066E6}"/>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E5A3A97-4EAF-D1BE-2F1F-BC30BB316EA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77262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6"/>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1857282282"/>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31C7FB-9B7E-ACDC-8249-96BBBD7A53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8270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3" name="Google Shape;293;p18"/>
          <p:cNvGraphicFramePr/>
          <p:nvPr>
            <p:extLst>
              <p:ext uri="{D42A27DB-BD31-4B8C-83A1-F6EECF244321}">
                <p14:modId xmlns:p14="http://schemas.microsoft.com/office/powerpoint/2010/main" val="3067059234"/>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RJGG(NGO) 12ft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39003271"/>
              </p:ext>
            </p:extLst>
          </p:nvPr>
        </p:nvGraphicFramePr>
        <p:xfrm>
          <a:off x="4472" y="3761172"/>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a:t>
                      </a:r>
                      <a:r>
                        <a:rPr lang="en-US" altLang="ko-Kore-KR" sz="800" dirty="0">
                          <a:solidFill>
                            <a:srgbClr val="00B0F0"/>
                          </a:solidFill>
                        </a:rPr>
                        <a:t>[356/176]</a:t>
                      </a:r>
                      <a:r>
                        <a:rPr lang="en-US" altLang="ko-Kore-KR" sz="800" dirty="0"/>
                        <a:t> </a:t>
                      </a:r>
                      <a:r>
                        <a:rPr lang="en-US" sz="800" dirty="0"/>
                        <a:t>: STAR </a:t>
                      </a:r>
                      <a:r>
                        <a:rPr lang="en-US" sz="800" dirty="0">
                          <a:solidFill>
                            <a:srgbClr val="FFC000"/>
                          </a:solidFill>
                        </a:rPr>
                        <a:t>(SAMON 290, MARIA 130)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CBE,</a:t>
                      </a:r>
                      <a:r>
                        <a:rPr lang="en-US" sz="800" b="1" dirty="0">
                          <a:solidFill>
                            <a:srgbClr val="00B050"/>
                          </a:solidFill>
                        </a:rPr>
                        <a:t> </a:t>
                      </a:r>
                      <a:r>
                        <a:rPr lang="en-US" sz="800" b="1" dirty="0">
                          <a:solidFill>
                            <a:srgbClr val="C00000"/>
                          </a:solidFill>
                        </a:rPr>
                        <a:t>36 ICX, 18 ICY</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14670" y="2857126"/>
            <a:ext cx="167225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134.17 – TKO 133.8 – 133.02</a:t>
            </a:r>
          </a:p>
          <a:p>
            <a:pPr>
              <a:lnSpc>
                <a:spcPct val="150000"/>
              </a:lnSpc>
            </a:pPr>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0B32FEC0-931A-DD8E-6007-9522CF14CA28}"/>
              </a:ext>
            </a:extLst>
          </p:cNvPr>
          <p:cNvGraphicFramePr/>
          <p:nvPr>
            <p:extLst>
              <p:ext uri="{D42A27DB-BD31-4B8C-83A1-F6EECF244321}">
                <p14:modId xmlns:p14="http://schemas.microsoft.com/office/powerpoint/2010/main" val="1718035761"/>
              </p:ext>
            </p:extLst>
          </p:nvPr>
        </p:nvGraphicFramePr>
        <p:xfrm>
          <a:off x="1" y="63373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9BD7D8A0-3F36-A428-C25C-5222DA9A70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4917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75679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775238136"/>
              </p:ext>
            </p:extLst>
          </p:nvPr>
        </p:nvGraphicFramePr>
        <p:xfrm>
          <a:off x="0" y="611908"/>
          <a:ext cx="2332950" cy="124743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577875">
                  <a:extLst>
                    <a:ext uri="{9D8B030D-6E8A-4147-A177-3AD203B41FA5}">
                      <a16:colId xmlns:a16="http://schemas.microsoft.com/office/drawing/2014/main" val="20003"/>
                    </a:ext>
                  </a:extLst>
                </a:gridCol>
                <a:gridCol w="855150">
                  <a:extLst>
                    <a:ext uri="{9D8B030D-6E8A-4147-A177-3AD203B41FA5}">
                      <a16:colId xmlns:a16="http://schemas.microsoft.com/office/drawing/2014/main" val="20006"/>
                    </a:ext>
                  </a:extLst>
                </a:gridCol>
              </a:tblGrid>
              <a:tr h="248101">
                <a:tc gridSpan="5">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4182">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t>HD 356 </a:t>
                      </a:r>
                      <a:r>
                        <a:rPr lang="en-US" sz="800" b="1" dirty="0">
                          <a:solidFill>
                            <a:srgbClr val="0070C0"/>
                          </a:solidFill>
                        </a:rPr>
                        <a:t>ALT ATC</a:t>
                      </a:r>
                      <a:r>
                        <a:rPr lang="en-US" sz="458" b="0" dirty="0">
                          <a:solidFill>
                            <a:schemeClr val="dk1"/>
                          </a:solidFill>
                        </a:rPr>
                        <a:t> </a:t>
                      </a:r>
                      <a:r>
                        <a:rPr lang="en-US" sz="800" b="1" dirty="0">
                          <a:solidFill>
                            <a:srgbClr val="0070C0"/>
                          </a:solidFill>
                        </a:rPr>
                        <a:t>(7000)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1"/>
                  </a:ext>
                </a:extLst>
              </a:tr>
              <a:tr h="22548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dirty="0"/>
                        <a:t>HD 176</a:t>
                      </a:r>
                      <a:r>
                        <a:rPr lang="en-US" sz="800" b="1" dirty="0">
                          <a:solidFill>
                            <a:schemeClr val="dk1"/>
                          </a:solidFill>
                        </a:rPr>
                        <a:t> </a:t>
                      </a:r>
                      <a:r>
                        <a:rPr lang="en-US" sz="800" b="1" dirty="0">
                          <a:solidFill>
                            <a:srgbClr val="0070C0"/>
                          </a:solidFill>
                        </a:rPr>
                        <a:t>ALT ATC(7000)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2"/>
                  </a:ext>
                </a:extLst>
              </a:tr>
              <a:tr h="274182">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18 ICY 109.7</a:t>
                      </a:r>
                      <a:endParaRPr sz="8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 ICX 111.9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22548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7439114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1296" y="1890173"/>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38328" y="27813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9D709B94-6F4A-E032-8E9D-8709BD2DF245}"/>
              </a:ext>
            </a:extLst>
          </p:cNvPr>
          <p:cNvGraphicFramePr/>
          <p:nvPr>
            <p:extLst>
              <p:ext uri="{D42A27DB-BD31-4B8C-83A1-F6EECF244321}">
                <p14:modId xmlns:p14="http://schemas.microsoft.com/office/powerpoint/2010/main" val="2191420524"/>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EA9BB64-8011-F3E4-E8E6-C3C6418A68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830644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8" name="Google Shape;328;p22"/>
          <p:cNvGraphicFramePr/>
          <p:nvPr>
            <p:extLst>
              <p:ext uri="{D42A27DB-BD31-4B8C-83A1-F6EECF244321}">
                <p14:modId xmlns:p14="http://schemas.microsoft.com/office/powerpoint/2010/main" val="2577914132"/>
              </p:ext>
            </p:extLst>
          </p:nvPr>
        </p:nvGraphicFramePr>
        <p:xfrm>
          <a:off x="-5177" y="3761019"/>
          <a:ext cx="2331375" cy="179257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a:t>
                      </a:r>
                      <a:r>
                        <a:rPr lang="en-US" sz="800" dirty="0">
                          <a:solidFill>
                            <a:srgbClr val="00B0F0"/>
                          </a:solidFill>
                        </a:rPr>
                        <a:t>[082/182]</a:t>
                      </a:r>
                      <a:r>
                        <a:rPr lang="en-US" sz="800" dirty="0"/>
                        <a:t> :  </a:t>
                      </a:r>
                      <a:r>
                        <a:rPr lang="en-US" sz="800" dirty="0">
                          <a:solidFill>
                            <a:srgbClr val="FFC000"/>
                          </a:solidFill>
                        </a:rPr>
                        <a:t>01R : IDEMI 150, 19L : NAVER 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CHE,</a:t>
                      </a:r>
                      <a:r>
                        <a:rPr lang="en-US" sz="800" b="1" dirty="0">
                          <a:solidFill>
                            <a:srgbClr val="00B050"/>
                          </a:solidFill>
                        </a:rPr>
                        <a:t> </a:t>
                      </a:r>
                      <a:r>
                        <a:rPr lang="en-US" sz="800" b="1" dirty="0">
                          <a:solidFill>
                            <a:srgbClr val="C00000"/>
                          </a:solidFill>
                        </a:rPr>
                        <a:t>01R ICH, 19L ICM</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01R : B4(5278’), B3(7047’), 19L : B8(5177’), B9(7119’)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01L : A5(5538’), A4(6961’), 19R : A7(5390’), A8(6873’)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35363358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RJCC(CTS) 70ft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2830125"/>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23899" y="2859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48187323-9745-7D15-999A-0DB2DA6DB0FD}"/>
              </a:ext>
            </a:extLst>
          </p:cNvPr>
          <p:cNvGraphicFramePr/>
          <p:nvPr>
            <p:extLst>
              <p:ext uri="{D42A27DB-BD31-4B8C-83A1-F6EECF244321}">
                <p14:modId xmlns:p14="http://schemas.microsoft.com/office/powerpoint/2010/main" val="1906755642"/>
              </p:ext>
            </p:extLst>
          </p:nvPr>
        </p:nvGraphicFramePr>
        <p:xfrm>
          <a:off x="1" y="613420"/>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A857DC84-A9EE-B011-B931-FEF867EE725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1203553812"/>
              </p:ext>
            </p:extLst>
          </p:nvPr>
        </p:nvGraphicFramePr>
        <p:xfrm>
          <a:off x="0" y="611908"/>
          <a:ext cx="2332950" cy="1282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CTS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182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01R ICH</a:t>
                      </a:r>
                      <a:endParaRPr dirty="0"/>
                    </a:p>
                    <a:p>
                      <a:pPr marL="0" marR="0" lvl="0" indent="0" algn="ctr" rtl="0">
                        <a:spcBef>
                          <a:spcPts val="0"/>
                        </a:spcBef>
                        <a:spcAft>
                          <a:spcPts val="0"/>
                        </a:spcAft>
                        <a:buNone/>
                      </a:pPr>
                      <a:r>
                        <a:rPr lang="en-US" sz="800" b="1" dirty="0">
                          <a:solidFill>
                            <a:srgbClr val="C00000"/>
                          </a:solidFill>
                        </a:rPr>
                        <a:t>110.75</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19L ICM</a:t>
                      </a:r>
                      <a:endParaRPr dirty="0"/>
                    </a:p>
                    <a:p>
                      <a:pPr marL="0" marR="0" lvl="0" indent="0" algn="ctr" rtl="0">
                        <a:spcBef>
                          <a:spcPts val="0"/>
                        </a:spcBef>
                        <a:spcAft>
                          <a:spcPts val="0"/>
                        </a:spcAft>
                        <a:buNone/>
                      </a:pPr>
                      <a:r>
                        <a:rPr lang="en-US" sz="800" b="1" dirty="0">
                          <a:solidFill>
                            <a:srgbClr val="C00000"/>
                          </a:solidFill>
                        </a:rPr>
                        <a:t>109.35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01L ICN 110.9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19R ICS 111.5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APU, Deicing at the Gate</a:t>
                      </a:r>
                      <a:endParaRPr dirty="0"/>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R/H turn DCT to HWE -&gt; Confirm R/H Turn ND</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163075608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800" dirty="0">
                          <a:solidFill>
                            <a:srgbClr val="FF0000"/>
                          </a:solidFill>
                        </a:rPr>
                        <a:t>NO DCL -5분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133.02 – 124.15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17125" y="326580"/>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4B601688-1CA9-DD87-2D04-8480B38062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47345"/>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83507784-FFD7-5262-00D4-12EDD376F035}"/>
              </a:ext>
            </a:extLst>
          </p:cNvPr>
          <p:cNvGraphicFramePr/>
          <p:nvPr>
            <p:extLst>
              <p:ext uri="{D42A27DB-BD31-4B8C-83A1-F6EECF244321}">
                <p14:modId xmlns:p14="http://schemas.microsoft.com/office/powerpoint/2010/main" val="412285147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31DD9EB2-212E-1F65-C82E-FC8EB6C230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076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232790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6"/>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156020023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1E80393-D911-359C-DEDD-4560586C6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01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511511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31ECD4A-3CBF-B0BA-F892-E3C0EDC36F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396583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504695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9522846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FE832C10-7C86-1F04-7EF1-AA05288C8D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010626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1E7039-3985-3319-8153-00C2DAD591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35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652627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6535541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05B4A0CE-2B8F-CAE1-FB51-3D9B79B995DA}"/>
              </a:ext>
            </a:extLst>
          </p:cNvPr>
          <p:cNvGraphicFramePr/>
          <p:nvPr>
            <p:extLst>
              <p:ext uri="{D42A27DB-BD31-4B8C-83A1-F6EECF244321}">
                <p14:modId xmlns:p14="http://schemas.microsoft.com/office/powerpoint/2010/main" val="27094258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5BEFEE25-3455-FFF4-B399-93ECE194462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101213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7692BD7-8799-FC28-C12C-7A29AFF7ED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AF08B3-435B-624E-A790-C275A7FE5FB0}"/>
              </a:ext>
            </a:extLst>
          </p:cNvPr>
          <p:cNvSpPr txBox="1"/>
          <p:nvPr/>
        </p:nvSpPr>
        <p:spPr>
          <a:xfrm>
            <a:off x="-55838" y="2807093"/>
            <a:ext cx="803425" cy="209151"/>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379CD640-6EAC-04B2-E8A2-2C4DACF85BC8}"/>
              </a:ext>
            </a:extLst>
          </p:cNvPr>
          <p:cNvGraphicFramePr/>
          <p:nvPr>
            <p:extLst>
              <p:ext uri="{D42A27DB-BD31-4B8C-83A1-F6EECF244321}">
                <p14:modId xmlns:p14="http://schemas.microsoft.com/office/powerpoint/2010/main" val="839477221"/>
              </p:ext>
            </p:extLst>
          </p:nvPr>
        </p:nvGraphicFramePr>
        <p:xfrm>
          <a:off x="55" y="3694172"/>
          <a:ext cx="2328808" cy="186892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780986">
                  <a:extLst>
                    <a:ext uri="{9D8B030D-6E8A-4147-A177-3AD203B41FA5}">
                      <a16:colId xmlns:a16="http://schemas.microsoft.com/office/drawing/2014/main" val="20002"/>
                    </a:ext>
                  </a:extLst>
                </a:gridCol>
                <a:gridCol w="31542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CAN </a:t>
                      </a:r>
                      <a:r>
                        <a:rPr lang="en-US" sz="800" dirty="0">
                          <a:solidFill>
                            <a:srgbClr val="00B0F0"/>
                          </a:solidFill>
                        </a:rPr>
                        <a:t>[017/197]</a:t>
                      </a:r>
                      <a:r>
                        <a:rPr lang="en-US" sz="800" dirty="0"/>
                        <a:t> : </a:t>
                      </a:r>
                      <a:r>
                        <a:rPr lang="en-US" sz="800" dirty="0">
                          <a:solidFill>
                            <a:srgbClr val="FFC000"/>
                          </a:solidFill>
                        </a:rPr>
                        <a:t>CAN CTL, APP Freq no Chart</a:t>
                      </a:r>
                    </a:p>
                    <a:p>
                      <a:pPr marL="0" marR="0" lvl="0" indent="0" algn="ctr" rtl="0">
                        <a:spcBef>
                          <a:spcPts val="0"/>
                        </a:spcBef>
                        <a:spcAft>
                          <a:spcPts val="0"/>
                        </a:spcAft>
                        <a:buNone/>
                      </a:pPr>
                      <a:r>
                        <a:rPr lang="en-US" sz="800" dirty="0">
                          <a:solidFill>
                            <a:srgbClr val="FFC000"/>
                          </a:solidFill>
                        </a:rPr>
                        <a:t>Short PTN AFT IAF, RW20 Windshear, </a:t>
                      </a:r>
                      <a:r>
                        <a:rPr lang="en-US" sz="800" dirty="0">
                          <a:solidFill>
                            <a:srgbClr val="C00000"/>
                          </a:solidFill>
                        </a:rPr>
                        <a:t>Lower GA ALT</a:t>
                      </a:r>
                      <a:r>
                        <a:rPr lang="en-US" sz="800" dirty="0">
                          <a:solidFill>
                            <a:srgbClr val="FFC000"/>
                          </a:solidFill>
                        </a:rPr>
                        <a:t>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02R</a:t>
                      </a:r>
                      <a:r>
                        <a:rPr lang="en-US" altLang="ko-Kore-KR" sz="800" b="0" dirty="0"/>
                        <a:t>/L</a:t>
                      </a:r>
                      <a:r>
                        <a:rPr lang="en-US" altLang="ko-Kore-KR" sz="800" b="1" dirty="0">
                          <a:solidFill>
                            <a:srgbClr val="0070C0"/>
                          </a:solidFill>
                        </a:rPr>
                        <a:t>,</a:t>
                      </a:r>
                      <a:r>
                        <a:rPr lang="en-US" sz="800" b="1" dirty="0">
                          <a:solidFill>
                            <a:srgbClr val="0070C0"/>
                          </a:solidFill>
                        </a:rPr>
                        <a:t>01L</a:t>
                      </a:r>
                      <a:r>
                        <a:rPr lang="en-US" sz="800" b="0" dirty="0"/>
                        <a:t>/R</a:t>
                      </a:r>
                      <a:endParaRPr sz="800" b="0" dirty="0"/>
                    </a:p>
                  </a:txBody>
                  <a:tcPr marL="36000" marR="36000" marT="36000" marB="36000" anchor="ctr"/>
                </a:tc>
                <a:tc rowSpan="2">
                  <a:txBody>
                    <a:bodyPr/>
                    <a:lstStyle/>
                    <a:p>
                      <a:pPr marL="0" marR="0" lvl="0" indent="0" algn="ctr" rtl="0">
                        <a:spcBef>
                          <a:spcPts val="0"/>
                        </a:spcBef>
                        <a:spcAft>
                          <a:spcPts val="0"/>
                        </a:spcAft>
                        <a:buNone/>
                      </a:pPr>
                      <a:r>
                        <a:rPr lang="en-US" sz="800" b="1" dirty="0"/>
                        <a:t>OLPAB xx</a:t>
                      </a:r>
                    </a:p>
                  </a:txBody>
                  <a:tcPr marL="36000" marR="36000" marT="36000" marB="36000" anchor="ctr"/>
                </a:tc>
                <a:tc>
                  <a:txBody>
                    <a:bodyPr/>
                    <a:lstStyle/>
                    <a:p>
                      <a:pPr marL="0" marR="0" lvl="0" indent="0" algn="ctr" rtl="0">
                        <a:spcBef>
                          <a:spcPts val="0"/>
                        </a:spcBef>
                        <a:spcAft>
                          <a:spcPts val="0"/>
                        </a:spcAft>
                        <a:buNone/>
                      </a:pPr>
                      <a:r>
                        <a:rPr lang="en-US" sz="800" b="1" dirty="0"/>
                        <a:t>GG611/GG612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20L</a:t>
                      </a:r>
                      <a:r>
                        <a:rPr lang="en-US" altLang="ko-KR" sz="800" b="1" dirty="0"/>
                        <a:t>/</a:t>
                      </a:r>
                      <a:r>
                        <a:rPr lang="en-US" altLang="ko-KR" sz="800" b="0" dirty="0"/>
                        <a:t>R</a:t>
                      </a:r>
                      <a:r>
                        <a:rPr lang="en-US" altLang="ko-KR" sz="800" b="1" dirty="0">
                          <a:solidFill>
                            <a:srgbClr val="0070C0"/>
                          </a:solidFill>
                        </a:rPr>
                        <a:t>,19R</a:t>
                      </a:r>
                      <a:r>
                        <a:rPr lang="en-US" altLang="ko-KR" sz="800" b="0" dirty="0"/>
                        <a:t>/L</a:t>
                      </a:r>
                      <a:endParaRPr sz="800" b="0"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GG511/GG513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POU, </a:t>
                      </a:r>
                      <a:r>
                        <a:rPr lang="en-US" sz="800" b="1" dirty="0">
                          <a:solidFill>
                            <a:srgbClr val="C00000"/>
                          </a:solidFill>
                        </a:rPr>
                        <a:t>02R IDM, 01L IGW, 20L IXL, 19R IKU, </a:t>
                      </a:r>
                      <a:r>
                        <a:rPr lang="en-US" sz="800" b="0" dirty="0">
                          <a:solidFill>
                            <a:srgbClr val="C00000"/>
                          </a:solidFill>
                        </a:rPr>
                        <a:t>02L IBB, 01R IOO, 20R IAA, 19L IPP</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/6(160kts)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02R</a:t>
                      </a:r>
                      <a:r>
                        <a:rPr lang="en-US" sz="800" b="1" dirty="0">
                          <a:solidFill>
                            <a:schemeClr val="dk1"/>
                          </a:solidFill>
                        </a:rPr>
                        <a:t>:Y10(6227’),Y8(7263’), 20L:Y12(6217’),Y14(7240’)</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01L:N5(6453’),N4(7755’), 19R:N8(6423’),N9(7742’)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STD Taxi RTE in JEPP(GREEN x), EAT 3/4 in JEPP</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373AEAD-163A-4322-A9C1-273DF78F28B2}"/>
              </a:ext>
            </a:extLst>
          </p:cNvPr>
          <p:cNvGraphicFramePr/>
          <p:nvPr>
            <p:extLst>
              <p:ext uri="{D42A27DB-BD31-4B8C-83A1-F6EECF244321}">
                <p14:modId xmlns:p14="http://schemas.microsoft.com/office/powerpoint/2010/main" val="3964336370"/>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ZGGG(CAN)</a:t>
                      </a:r>
                      <a:r>
                        <a:rPr lang="en-US" sz="1400" dirty="0">
                          <a:solidFill>
                            <a:schemeClr val="tx1"/>
                          </a:solidFill>
                          <a:hlinkClick r:id="rId4">
                            <a:extLst>
                              <a:ext uri="{A12FA001-AC4F-418D-AE19-62706E023703}">
                                <ahyp:hlinkClr xmlns:ahyp="http://schemas.microsoft.com/office/drawing/2018/hyperlinkcolor" val="tx"/>
                              </a:ext>
                            </a:extLst>
                          </a:hlinkClick>
                        </a:rPr>
                        <a:t> 50ft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Southern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9C40567-E7D3-2C1A-F6F0-886CA3607C0F}"/>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DF4C473-0781-92ED-7146-3AD11741CC68}"/>
              </a:ext>
            </a:extLst>
          </p:cNvPr>
          <p:cNvGraphicFramePr/>
          <p:nvPr>
            <p:extLst>
              <p:ext uri="{D42A27DB-BD31-4B8C-83A1-F6EECF244321}">
                <p14:modId xmlns:p14="http://schemas.microsoft.com/office/powerpoint/2010/main" val="3943297497"/>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D7F1004-4F28-EF3A-7E9C-2AF0DDB213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8103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85964-BB55-0808-6F8D-A8CEB2F0D02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3E397A91-CBA5-7870-E372-A3506A485E92}"/>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493EA80-124D-CA93-DBC2-506E01E4ED2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0E10175-AC5E-5BE8-AE04-E6F05774F06E}"/>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DBCD609E-EC74-35D2-0BC4-A8C8BC91A412}"/>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2219881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CC5C55E-55BA-7CF6-2C3E-CC4901E5B68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4A984D58-3970-BF32-FCC8-E89E06998B8F}"/>
              </a:ext>
            </a:extLst>
          </p:cNvPr>
          <p:cNvGraphicFramePr/>
          <p:nvPr>
            <p:extLst>
              <p:ext uri="{D42A27DB-BD31-4B8C-83A1-F6EECF244321}">
                <p14:modId xmlns:p14="http://schemas.microsoft.com/office/powerpoint/2010/main" val="3996981741"/>
              </p:ext>
            </p:extLst>
          </p:nvPr>
        </p:nvGraphicFramePr>
        <p:xfrm>
          <a:off x="-4046" y="682516"/>
          <a:ext cx="2334602" cy="195416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61267">
                <a:tc gridSpan="7">
                  <a:txBody>
                    <a:bodyPr/>
                    <a:lstStyle/>
                    <a:p>
                      <a:pPr marL="0" marR="0" lvl="0" indent="0" algn="ctr" rtl="0">
                        <a:spcBef>
                          <a:spcPts val="0"/>
                        </a:spcBef>
                        <a:spcAft>
                          <a:spcPts val="0"/>
                        </a:spcAft>
                        <a:buNone/>
                      </a:pPr>
                      <a:r>
                        <a:rPr lang="en-US" sz="800" u="none" strike="noStrike" cap="none" dirty="0"/>
                        <a:t>CAN : SID (NADP 1)  </a:t>
                      </a:r>
                      <a:r>
                        <a:rPr lang="en-US" sz="800" u="none" strike="noStrike" cap="none" dirty="0">
                          <a:solidFill>
                            <a:srgbClr val="FFC000"/>
                          </a:solidFill>
                        </a:rPr>
                        <a:t>Extra Fuel Delay/CRZ LVL</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8715">
                <a:tc>
                  <a:txBody>
                    <a:bodyPr/>
                    <a:lstStyle/>
                    <a:p>
                      <a:pPr marL="0" marR="0" lvl="0" indent="0" algn="ctr" rtl="0">
                        <a:spcBef>
                          <a:spcPts val="0"/>
                        </a:spcBef>
                        <a:spcAft>
                          <a:spcPts val="0"/>
                        </a:spcAft>
                        <a:buNone/>
                      </a:pPr>
                      <a:r>
                        <a:rPr lang="en-US" altLang="ko-KR" sz="800" b="1" u="none" strike="noStrike" cap="none" dirty="0">
                          <a:solidFill>
                            <a:srgbClr val="0070C0"/>
                          </a:solidFill>
                        </a:rPr>
                        <a:t>02L</a:t>
                      </a:r>
                      <a:r>
                        <a:rPr lang="en-US" altLang="ko-KR" sz="800" b="0" u="none" strike="noStrike" cap="none" dirty="0"/>
                        <a:t>/</a:t>
                      </a:r>
                      <a:r>
                        <a:rPr lang="en-US" altLang="ko-KR" sz="800" b="1" u="none" strike="noStrike" cap="none" dirty="0"/>
                        <a:t>R, </a:t>
                      </a:r>
                      <a:r>
                        <a:rPr lang="en-US" altLang="ko-KR" sz="800" b="1" u="none" strike="noStrike" cap="none" dirty="0">
                          <a:solidFill>
                            <a:srgbClr val="0070C0"/>
                          </a:solidFill>
                        </a:rPr>
                        <a:t>01R</a:t>
                      </a:r>
                      <a:r>
                        <a:rPr lang="en-US" altLang="ko-KR" sz="800" b="0" u="none" strike="noStrike" cap="none" dirty="0"/>
                        <a:t>/</a:t>
                      </a:r>
                      <a:r>
                        <a:rPr lang="en-US" altLang="ko-KR" sz="800" b="1" u="none" strike="noStrike" cap="none" dirty="0"/>
                        <a:t>L</a:t>
                      </a:r>
                      <a:endParaRPr sz="800" b="0" u="none" strike="noStrike" cap="none" dirty="0"/>
                    </a:p>
                  </a:txBody>
                  <a:tcPr marL="36000" marR="36000" marT="36000" marB="36000" anchor="ctr"/>
                </a:tc>
                <a:tc rowSpan="2" gridSpan="2">
                  <a:txBody>
                    <a:bodyPr/>
                    <a:lstStyle/>
                    <a:p>
                      <a:pPr marL="0" marR="0" lvl="0" indent="0" algn="ctr" rtl="0">
                        <a:spcBef>
                          <a:spcPts val="0"/>
                        </a:spcBef>
                        <a:spcAft>
                          <a:spcPts val="0"/>
                        </a:spcAft>
                        <a:buNone/>
                      </a:pPr>
                      <a:r>
                        <a:rPr lang="en-US" sz="800" b="1" u="none" strike="noStrike" cap="none" dirty="0">
                          <a:solidFill>
                            <a:srgbClr val="0070C0"/>
                          </a:solidFill>
                        </a:rPr>
                        <a:t>BOVMA xx </a:t>
                      </a:r>
                    </a:p>
                    <a:p>
                      <a:pPr marL="0" marR="0" lvl="0" indent="0" algn="ctr" rtl="0">
                        <a:spcBef>
                          <a:spcPts val="0"/>
                        </a:spcBef>
                        <a:spcAft>
                          <a:spcPts val="0"/>
                        </a:spcAft>
                        <a:buNone/>
                      </a:pPr>
                      <a:r>
                        <a:rPr lang="en-US" sz="800" b="1" u="none" strike="noStrike" cap="none" dirty="0">
                          <a:solidFill>
                            <a:srgbClr val="0070C0"/>
                          </a:solidFill>
                        </a:rPr>
                        <a:t>RNAV</a:t>
                      </a:r>
                    </a:p>
                  </a:txBody>
                  <a:tcPr marL="36000" marR="36000" marT="36000" marB="36000" anchor="ctr"/>
                </a:tc>
                <a:tc rowSpan="2" hMerge="1">
                  <a:txBody>
                    <a:bodyPr/>
                    <a:lstStyle/>
                    <a:p>
                      <a:endParaRPr lang="ko-Kore-KR" altLang="en-US"/>
                    </a:p>
                  </a:txBody>
                  <a:tcPr/>
                </a:tc>
                <a:tc gridSpan="4">
                  <a:txBody>
                    <a:bodyPr/>
                    <a:lstStyle/>
                    <a:p>
                      <a:pPr algn="ctr"/>
                      <a:r>
                        <a:rPr lang="en-US" sz="800" b="1" u="none" strike="noStrike" cap="none" dirty="0"/>
                        <a:t>HD 017 </a:t>
                      </a:r>
                      <a:r>
                        <a:rPr lang="en-US" sz="800" b="1" u="none" strike="noStrike" cap="none" dirty="0">
                          <a:solidFill>
                            <a:srgbClr val="0070C0"/>
                          </a:solidFill>
                        </a:rPr>
                        <a:t>ALT 8900m/ATC(900m)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38715">
                <a:tc>
                  <a:txBody>
                    <a:bodyPr/>
                    <a:lstStyle/>
                    <a:p>
                      <a:pPr marL="0" marR="0" lvl="0" indent="0" algn="ctr" rtl="0">
                        <a:spcBef>
                          <a:spcPts val="0"/>
                        </a:spcBef>
                        <a:spcAft>
                          <a:spcPts val="0"/>
                        </a:spcAft>
                        <a:buNone/>
                      </a:pPr>
                      <a:r>
                        <a:rPr lang="en-US" sz="800" b="1" u="none" strike="noStrike" cap="none" dirty="0">
                          <a:solidFill>
                            <a:srgbClr val="0070C0"/>
                          </a:solidFill>
                        </a:rPr>
                        <a:t>20R</a:t>
                      </a:r>
                      <a:r>
                        <a:rPr lang="en-US" sz="800" b="0" u="none" strike="noStrike" cap="none" dirty="0"/>
                        <a:t>/L,</a:t>
                      </a:r>
                    </a:p>
                    <a:p>
                      <a:pPr marL="0" marR="0" lvl="0" indent="0" algn="ctr" rtl="0">
                        <a:spcBef>
                          <a:spcPts val="0"/>
                        </a:spcBef>
                        <a:spcAft>
                          <a:spcPts val="0"/>
                        </a:spcAft>
                        <a:buNone/>
                      </a:pPr>
                      <a:r>
                        <a:rPr lang="en-US" altLang="ko-Kore-KR" sz="800" b="1" u="none" strike="noStrike" cap="none" dirty="0">
                          <a:solidFill>
                            <a:srgbClr val="0070C0"/>
                          </a:solidFill>
                        </a:rPr>
                        <a:t>19L</a:t>
                      </a:r>
                      <a:r>
                        <a:rPr lang="en-US" altLang="ko-Kore-KR" sz="800" b="0" u="none" strike="noStrike" cap="none" dirty="0"/>
                        <a:t>/R</a:t>
                      </a:r>
                      <a:endParaRPr sz="800" b="0" u="none" strike="noStrike" cap="none" dirty="0"/>
                    </a:p>
                  </a:txBody>
                  <a:tcPr marL="36000" marR="36000" marT="36000" marB="36000" anchor="ctr"/>
                </a:tc>
                <a:tc gridSpan="2" vMerge="1">
                  <a:txBody>
                    <a:bodyPr/>
                    <a:lstStyle/>
                    <a:p>
                      <a:endParaRPr dirty="0"/>
                    </a:p>
                  </a:txBody>
                  <a:tcPr marL="36000" marR="36000" marT="36000" marB="36000" anchor="ctr"/>
                </a:tc>
                <a:tc hMerge="1" vMerge="1">
                  <a:txBody>
                    <a:bodyPr/>
                    <a:lstStyle/>
                    <a:p>
                      <a:endParaRPr lang="ko-Kore-KR" altLang="en-US"/>
                    </a:p>
                  </a:txBody>
                  <a:tcPr/>
                </a:tc>
                <a:tc gridSpan="4">
                  <a:txBody>
                    <a:bodyPr/>
                    <a:lstStyle/>
                    <a:p>
                      <a:pPr algn="ctr"/>
                      <a:r>
                        <a:rPr lang="en-US" sz="800" b="1" u="none" strike="noStrike" cap="none" dirty="0"/>
                        <a:t>HD 246 </a:t>
                      </a:r>
                      <a:r>
                        <a:rPr lang="en-US" sz="800" b="1" u="none" strike="noStrike" cap="none" dirty="0">
                          <a:solidFill>
                            <a:srgbClr val="0070C0"/>
                          </a:solidFill>
                        </a:rPr>
                        <a:t>ATC(900m)</a:t>
                      </a:r>
                    </a:p>
                    <a:p>
                      <a:pPr algn="ctr"/>
                      <a:r>
                        <a:rPr lang="en-US" altLang="ko-Kore-KR" sz="800" b="1" u="none" strike="noStrike" cap="none" dirty="0">
                          <a:solidFill>
                            <a:srgbClr val="7030A0"/>
                          </a:solidFill>
                        </a:rPr>
                        <a:t>SPD 230kts </a:t>
                      </a:r>
                      <a:r>
                        <a:rPr lang="en-US" altLang="ko-Kore-KR"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38715">
                <a:tc rowSpan="2"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POU 11</a:t>
                      </a:r>
                      <a:r>
                        <a:rPr lang="en-US" altLang="ko-KR" sz="800" b="1" u="none" strike="noStrike" cap="none" dirty="0">
                          <a:solidFill>
                            <a:srgbClr val="0070C0"/>
                          </a:solidFill>
                        </a:rPr>
                        <a:t>4</a:t>
                      </a:r>
                      <a:r>
                        <a:rPr lang="en-US" altLang="ko-Kore-KR" sz="800" b="1" u="none" strike="noStrike" cap="none" dirty="0">
                          <a:solidFill>
                            <a:srgbClr val="0070C0"/>
                          </a:solidFill>
                        </a:rPr>
                        <a:t>.</a:t>
                      </a:r>
                      <a:r>
                        <a:rPr lang="en-US" altLang="ko-KR" sz="800" b="1" u="none" strike="noStrike" cap="none" dirty="0">
                          <a:solidFill>
                            <a:srgbClr val="0070C0"/>
                          </a:solidFill>
                        </a:rPr>
                        <a:t>1</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rowSpan="2"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2R</a:t>
                      </a:r>
                      <a:r>
                        <a:rPr kumimoji="0" lang="en-US" altLang="ko-Kore-KR" sz="800" b="1" i="0" u="none" strike="noStrike" kern="1200" cap="none" spc="0" normalizeH="0" baseline="0" noProof="0" dirty="0">
                          <a:ln>
                            <a:noFill/>
                          </a:ln>
                          <a:solidFill>
                            <a:srgbClr val="C00000"/>
                          </a:solidFill>
                          <a:effectLst/>
                          <a:uLnTx/>
                          <a:uFillTx/>
                          <a:latin typeface="Calibri"/>
                          <a:cs typeface="Calibri"/>
                        </a:rPr>
                        <a:t> IDM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01L IGW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20L</a:t>
                      </a:r>
                      <a:r>
                        <a:rPr kumimoji="0" lang="en-US" altLang="ko-Kore-KR" sz="800" b="1" i="0" u="none" strike="noStrike" kern="1200" cap="none" spc="0" normalizeH="0" baseline="0" noProof="0" dirty="0">
                          <a:ln>
                            <a:noFill/>
                          </a:ln>
                          <a:solidFill>
                            <a:srgbClr val="C00000"/>
                          </a:solidFill>
                          <a:effectLst/>
                          <a:uLnTx/>
                          <a:uFillTx/>
                          <a:latin typeface="Calibri"/>
                          <a:cs typeface="Calibri"/>
                        </a:rPr>
                        <a:t> IXL</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111.9</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19R</a:t>
                      </a:r>
                      <a:r>
                        <a:rPr kumimoji="0" lang="en-US" altLang="ko-Kore-KR" sz="800" b="1" i="0" u="none" strike="noStrike" kern="1200" cap="none" spc="0" normalizeH="0" baseline="0" noProof="0" dirty="0">
                          <a:ln>
                            <a:noFill/>
                          </a:ln>
                          <a:solidFill>
                            <a:srgbClr val="C00000"/>
                          </a:solidFill>
                          <a:effectLst/>
                          <a:uLnTx/>
                          <a:uFillTx/>
                          <a:latin typeface="Calibri"/>
                          <a:cs typeface="Calibri"/>
                        </a:rPr>
                        <a:t> IKU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108.95</a:t>
                      </a:r>
                    </a:p>
                  </a:txBody>
                  <a:tcPr marL="36000" marR="36000" marT="36000" marB="36000" anchor="ctr"/>
                </a:tc>
                <a:extLst>
                  <a:ext uri="{0D108BD9-81ED-4DB2-BD59-A6C34878D82A}">
                    <a16:rowId xmlns:a16="http://schemas.microsoft.com/office/drawing/2014/main" val="1446403819"/>
                  </a:ext>
                </a:extLst>
              </a:tr>
              <a:tr h="238715">
                <a:tc gridSpan="2" v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hMerge="1" v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2L</a:t>
                      </a:r>
                      <a:r>
                        <a:rPr kumimoji="0" lang="en-US" altLang="ko-Kore-KR" sz="800" b="1" i="0" u="none" strike="noStrike" kern="1200" cap="none" spc="0" normalizeH="0" baseline="0" noProof="0" dirty="0">
                          <a:ln>
                            <a:noFill/>
                          </a:ln>
                          <a:solidFill>
                            <a:srgbClr val="C00000"/>
                          </a:solidFill>
                          <a:effectLst/>
                          <a:uLnTx/>
                          <a:uFillTx/>
                          <a:latin typeface="Calibri"/>
                          <a:cs typeface="Calibri"/>
                        </a:rPr>
                        <a:t> IBB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110.35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01R IOO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20R</a:t>
                      </a:r>
                      <a:r>
                        <a:rPr kumimoji="0" lang="en-US" altLang="ko-Kore-KR" sz="800" b="1" i="0" u="none" strike="noStrike" kern="1200" cap="none" spc="0" normalizeH="0" baseline="0" noProof="0" dirty="0">
                          <a:ln>
                            <a:noFill/>
                          </a:ln>
                          <a:solidFill>
                            <a:srgbClr val="C00000"/>
                          </a:solidFill>
                          <a:effectLst/>
                          <a:uLnTx/>
                          <a:uFillTx/>
                          <a:latin typeface="Calibri"/>
                          <a:cs typeface="Calibri"/>
                        </a:rPr>
                        <a:t> IAA</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19L</a:t>
                      </a:r>
                      <a:r>
                        <a:rPr kumimoji="0" lang="en-US" altLang="ko-Kore-KR" sz="800" b="1" i="0" u="none" strike="noStrike" kern="1200" cap="none" spc="0" normalizeH="0" baseline="0" noProof="0" dirty="0">
                          <a:ln>
                            <a:noFill/>
                          </a:ln>
                          <a:solidFill>
                            <a:srgbClr val="C00000"/>
                          </a:solidFill>
                          <a:effectLst/>
                          <a:uLnTx/>
                          <a:uFillTx/>
                          <a:latin typeface="Calibri"/>
                          <a:cs typeface="Calibri"/>
                        </a:rPr>
                        <a:t> IPP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111.5</a:t>
                      </a:r>
                    </a:p>
                  </a:txBody>
                  <a:tcPr marL="36000" marR="36000" marT="36000" marB="36000" anchor="ctr"/>
                </a:tc>
                <a:extLst>
                  <a:ext uri="{0D108BD9-81ED-4DB2-BD59-A6C34878D82A}">
                    <a16:rowId xmlns:a16="http://schemas.microsoft.com/office/drawing/2014/main" val="974424816"/>
                  </a:ext>
                </a:extLst>
              </a:tr>
              <a:tr h="238715">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600" b="0" dirty="0"/>
                        <a:t>01L/R : IGW/IOO D5.0 R205, 02L/R : IBB/IDM D4.0/4.3 R220</a:t>
                      </a:r>
                      <a:endParaRPr lang="ko-Kore-KR" altLang="en-US" sz="6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23871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STD Taxi RTE in JEPP(YELLOW x), Report RWY on DEP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E830CD9-16BB-0432-33EC-7CC134AE30F3}"/>
              </a:ext>
            </a:extLst>
          </p:cNvPr>
          <p:cNvGraphicFramePr/>
          <p:nvPr>
            <p:extLst>
              <p:ext uri="{D42A27DB-BD31-4B8C-83A1-F6EECF244321}">
                <p14:modId xmlns:p14="http://schemas.microsoft.com/office/powerpoint/2010/main" val="2632092572"/>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ZHHH(CAN) 50ft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132.0</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No Readback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B36AA5A-95F0-F42C-602E-9DFCAD178EA3}"/>
              </a:ext>
            </a:extLst>
          </p:cNvPr>
          <p:cNvSpPr txBox="1"/>
          <p:nvPr/>
        </p:nvSpPr>
        <p:spPr>
          <a:xfrm>
            <a:off x="684230" y="2646303"/>
            <a:ext cx="761747"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119.7 -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8A60683-3A69-B7C7-25BE-D61471EB47DE}"/>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27B82D9C-82C0-6435-4F6A-09612F368C76}"/>
              </a:ext>
            </a:extLst>
          </p:cNvPr>
          <p:cNvGraphicFramePr/>
          <p:nvPr>
            <p:extLst>
              <p:ext uri="{D42A27DB-BD31-4B8C-83A1-F6EECF244321}">
                <p14:modId xmlns:p14="http://schemas.microsoft.com/office/powerpoint/2010/main" val="1114563869"/>
              </p:ext>
            </p:extLst>
          </p:nvPr>
        </p:nvGraphicFramePr>
        <p:xfrm>
          <a:off x="11589" y="3548020"/>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림 4">
            <a:extLst>
              <a:ext uri="{FF2B5EF4-FFF2-40B4-BE49-F238E27FC236}">
                <a16:creationId xmlns:a16="http://schemas.microsoft.com/office/drawing/2014/main" id="{82C33243-EEB9-D464-8FA6-9C216A929E83}"/>
              </a:ext>
            </a:extLst>
          </p:cNvPr>
          <p:cNvPicPr>
            <a:picLocks noChangeAspect="1"/>
          </p:cNvPicPr>
          <p:nvPr/>
        </p:nvPicPr>
        <p:blipFill>
          <a:blip r:embed="rId6"/>
          <a:stretch>
            <a:fillRect/>
          </a:stretch>
        </p:blipFill>
        <p:spPr>
          <a:xfrm>
            <a:off x="0" y="2651625"/>
            <a:ext cx="684230" cy="752295"/>
          </a:xfrm>
          <a:prstGeom prst="rect">
            <a:avLst/>
          </a:prstGeom>
        </p:spPr>
      </p:pic>
      <p:pic>
        <p:nvPicPr>
          <p:cNvPr id="7" name="그래픽 6" descr="집 Wi-Fi에서 작업 단색으로 채워진">
            <a:hlinkClick r:id="" action="ppaction://hlinkshowjump?jump=firstslide"/>
            <a:extLst>
              <a:ext uri="{FF2B5EF4-FFF2-40B4-BE49-F238E27FC236}">
                <a16:creationId xmlns:a16="http://schemas.microsoft.com/office/drawing/2014/main" id="{67885CE9-3E13-7DC5-4DD1-4BA7AE8866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5595510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2798715"/>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2" name="Google Shape;292;p18"/>
          <p:cNvGraphicFramePr/>
          <p:nvPr>
            <p:extLst>
              <p:ext uri="{D42A27DB-BD31-4B8C-83A1-F6EECF244321}">
                <p14:modId xmlns:p14="http://schemas.microsoft.com/office/powerpoint/2010/main" val="3671123807"/>
              </p:ext>
            </p:extLst>
          </p:nvPr>
        </p:nvGraphicFramePr>
        <p:xfrm>
          <a:off x="-1706" y="3904832"/>
          <a:ext cx="2333879" cy="1654299"/>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339277">
                <a:tc gridSpan="4">
                  <a:txBody>
                    <a:bodyPr/>
                    <a:lstStyle/>
                    <a:p>
                      <a:pPr marL="0" marR="0" lvl="0" indent="0" algn="ctr" rtl="0">
                        <a:spcBef>
                          <a:spcPts val="0"/>
                        </a:spcBef>
                        <a:spcAft>
                          <a:spcPts val="0"/>
                        </a:spcAft>
                        <a:buNone/>
                      </a:pPr>
                      <a:r>
                        <a:rPr lang="en-US" sz="800" dirty="0"/>
                        <a:t>XIY </a:t>
                      </a:r>
                      <a:r>
                        <a:rPr lang="en-US" sz="800" dirty="0">
                          <a:solidFill>
                            <a:srgbClr val="00B0F0"/>
                          </a:solidFill>
                        </a:rPr>
                        <a:t>[052/232]</a:t>
                      </a:r>
                      <a:r>
                        <a:rPr lang="en-US" sz="800" dirty="0">
                          <a:solidFill>
                            <a:schemeClr val="bg1"/>
                          </a:solidFill>
                        </a:rPr>
                        <a:t> </a:t>
                      </a:r>
                      <a:r>
                        <a:rPr lang="en-US" sz="800" dirty="0"/>
                        <a:t>: STAR TL118 </a:t>
                      </a:r>
                    </a:p>
                    <a:p>
                      <a:pPr marL="0" marR="0" lvl="0" indent="0" algn="ctr" rtl="0">
                        <a:spcBef>
                          <a:spcPts val="0"/>
                        </a:spcBef>
                        <a:spcAft>
                          <a:spcPts val="0"/>
                        </a:spcAft>
                        <a:buNone/>
                      </a:pPr>
                      <a:r>
                        <a:rPr lang="en-US" sz="800" dirty="0" err="1">
                          <a:solidFill>
                            <a:srgbClr val="C00000"/>
                          </a:solidFill>
                        </a:rPr>
                        <a:t>Spd</a:t>
                      </a:r>
                      <a:r>
                        <a:rPr lang="en-US" sz="800" dirty="0">
                          <a:solidFill>
                            <a:srgbClr val="C00000"/>
                          </a:solidFill>
                        </a:rPr>
                        <a:t> Restriction at REF Page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20311">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85561">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15583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LCZ, </a:t>
                      </a:r>
                      <a:r>
                        <a:rPr lang="en-US" sz="800" b="1" dirty="0">
                          <a:solidFill>
                            <a:srgbClr val="C00000"/>
                          </a:solidFill>
                        </a:rPr>
                        <a:t>05L IQU, 23R IRA, 05R IXW, 23L IAQ</a:t>
                      </a:r>
                      <a:endParaRPr lang="en-US" altLang="ko-Kore-K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61934">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9290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25627052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45882" y="29801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8DD365E-7219-0DC6-0ED4-B3899D077878}"/>
              </a:ext>
            </a:extLst>
          </p:cNvPr>
          <p:cNvGraphicFramePr/>
          <p:nvPr>
            <p:extLst>
              <p:ext uri="{D42A27DB-BD31-4B8C-83A1-F6EECF244321}">
                <p14:modId xmlns:p14="http://schemas.microsoft.com/office/powerpoint/2010/main" val="1993635572"/>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0191FEC-9740-F804-2F62-4680E32AF4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949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9788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D3F76-0ACF-227A-6409-1225AEBC77D1}"/>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276436F-8F34-1A3E-6363-C2B7D34D656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9023CEF-F14D-D9B6-2954-428FC0F8027D}"/>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FB690D-8F4E-F58B-AF01-306BF3AD2BE1}"/>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EB81FE9-F2DA-F7B4-4362-2D3853FBA6A5}"/>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8721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56310249"/>
              </p:ext>
            </p:extLst>
          </p:nvPr>
        </p:nvGraphicFramePr>
        <p:xfrm>
          <a:off x="-4046" y="692910"/>
          <a:ext cx="2334438" cy="135481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300866">
                  <a:extLst>
                    <a:ext uri="{9D8B030D-6E8A-4147-A177-3AD203B41FA5}">
                      <a16:colId xmlns:a16="http://schemas.microsoft.com/office/drawing/2014/main" val="20001"/>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456341">
                  <a:extLst>
                    <a:ext uri="{9D8B030D-6E8A-4147-A177-3AD203B41FA5}">
                      <a16:colId xmlns:a16="http://schemas.microsoft.com/office/drawing/2014/main" val="456969378"/>
                    </a:ext>
                  </a:extLst>
                </a:gridCol>
                <a:gridCol w="447879">
                  <a:extLst>
                    <a:ext uri="{9D8B030D-6E8A-4147-A177-3AD203B41FA5}">
                      <a16:colId xmlns:a16="http://schemas.microsoft.com/office/drawing/2014/main" val="585746357"/>
                    </a:ext>
                  </a:extLst>
                </a:gridCol>
                <a:gridCol w="447879">
                  <a:extLst>
                    <a:ext uri="{9D8B030D-6E8A-4147-A177-3AD203B41FA5}">
                      <a16:colId xmlns:a16="http://schemas.microsoft.com/office/drawing/2014/main" val="2630083129"/>
                    </a:ext>
                  </a:extLst>
                </a:gridCol>
              </a:tblGrid>
              <a:tr h="147257">
                <a:tc gridSpan="7">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052 </a:t>
                      </a:r>
                      <a:r>
                        <a:rPr lang="en-US" sz="800" b="1" u="none" strike="noStrike" cap="none" dirty="0">
                          <a:solidFill>
                            <a:srgbClr val="0070C0"/>
                          </a:solidFill>
                        </a:rPr>
                        <a:t>ALT ATC</a:t>
                      </a:r>
                    </a:p>
                    <a:p>
                      <a:pPr marL="0" marR="0" lvl="0" indent="0" algn="ctr" rtl="0">
                        <a:spcBef>
                          <a:spcPts val="0"/>
                        </a:spcBef>
                        <a:spcAft>
                          <a:spcPts val="0"/>
                        </a:spcAft>
                        <a:buNone/>
                      </a:pPr>
                      <a:r>
                        <a:rPr lang="en-US" sz="800" b="1" u="none" strike="noStrike" cap="none" dirty="0">
                          <a:solidFill>
                            <a:srgbClr val="0070C0"/>
                          </a:solidFill>
                        </a:rPr>
                        <a:t>1500m(4900’) </a:t>
                      </a:r>
                      <a:r>
                        <a:rPr lang="en-US" sz="800" b="1" u="none" strike="noStrike" cap="none" dirty="0">
                          <a:solidFill>
                            <a:schemeClr val="accent5"/>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232 </a:t>
                      </a:r>
                      <a:r>
                        <a:rPr lang="en-US" altLang="ko-Kore-KR" sz="800" b="1" u="none" strike="noStrike" cap="none" dirty="0">
                          <a:solidFill>
                            <a:srgbClr val="0070C0"/>
                          </a:solidFill>
                        </a:rPr>
                        <a:t>ALT ATC</a:t>
                      </a:r>
                    </a:p>
                    <a:p>
                      <a:pPr marL="0" marR="0" lvl="0" indent="0" algn="ctr" rtl="0">
                        <a:spcBef>
                          <a:spcPts val="0"/>
                        </a:spcBef>
                        <a:spcAft>
                          <a:spcPts val="0"/>
                        </a:spcAft>
                        <a:buNone/>
                      </a:pPr>
                      <a:r>
                        <a:rPr lang="en-US" altLang="ko-Kore-KR" sz="800" b="1" u="none" strike="noStrike" cap="none" dirty="0">
                          <a:solidFill>
                            <a:srgbClr val="0070C0"/>
                          </a:solidFill>
                        </a:rPr>
                        <a:t>1500m(4900’) </a:t>
                      </a:r>
                      <a:r>
                        <a:rPr lang="en-US" altLang="ko-Kore-KR" sz="800" b="1" u="none" strike="noStrike" cap="none" dirty="0">
                          <a:solidFill>
                            <a:srgbClr val="7030A0"/>
                          </a:solidFill>
                        </a:rPr>
                        <a:t>SPD 205/230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7976">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IQU 108.55</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IRA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IXW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IAQ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640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950497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tx1"/>
                          </a:solidFill>
                          <a:hlinkClick r:id="rId3">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3">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235" y="2117735"/>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FD644F29-22A6-97A5-EF44-EC032EDA9D35}"/>
              </a:ext>
            </a:extLst>
          </p:cNvPr>
          <p:cNvGraphicFramePr/>
          <p:nvPr>
            <p:extLst>
              <p:ext uri="{D42A27DB-BD31-4B8C-83A1-F6EECF244321}">
                <p14:modId xmlns:p14="http://schemas.microsoft.com/office/powerpoint/2010/main" val="421859950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E34F2FED-EB1A-4018-3EAA-D07DC1E350E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4886344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2988110"/>
            <a:ext cx="1887055"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132.8 – DLC 132.95</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latin typeface="Gulim" panose="020B0600000101010101" pitchFamily="34" charset="-127"/>
                <a:ea typeface="Gulim" panose="020B0600000101010101" pitchFamily="34" charset="-127"/>
              </a:rPr>
              <a:t>TSN APP 119.27 </a:t>
            </a:r>
          </a:p>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TWR 118.425(130.0)</a:t>
            </a:r>
          </a:p>
        </p:txBody>
      </p:sp>
      <p:graphicFrame>
        <p:nvGraphicFramePr>
          <p:cNvPr id="292" name="Google Shape;292;p18"/>
          <p:cNvGraphicFramePr/>
          <p:nvPr>
            <p:extLst>
              <p:ext uri="{D42A27DB-BD31-4B8C-83A1-F6EECF244321}">
                <p14:modId xmlns:p14="http://schemas.microsoft.com/office/powerpoint/2010/main" val="3701214694"/>
              </p:ext>
            </p:extLst>
          </p:nvPr>
        </p:nvGraphicFramePr>
        <p:xfrm>
          <a:off x="4472" y="3934290"/>
          <a:ext cx="2333879" cy="1624079"/>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9041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177180">
                <a:tc gridSpan="4">
                  <a:txBody>
                    <a:bodyPr/>
                    <a:lstStyle/>
                    <a:p>
                      <a:pPr marL="0" marR="0" lvl="0" indent="0" algn="ctr" rtl="0">
                        <a:spcBef>
                          <a:spcPts val="0"/>
                        </a:spcBef>
                        <a:spcAft>
                          <a:spcPts val="0"/>
                        </a:spcAft>
                        <a:buNone/>
                      </a:pPr>
                      <a:r>
                        <a:rPr lang="en-US" sz="800" dirty="0"/>
                        <a:t>TSN </a:t>
                      </a:r>
                      <a:r>
                        <a:rPr lang="en-US" sz="800" dirty="0">
                          <a:solidFill>
                            <a:srgbClr val="00B0F0"/>
                          </a:solidFill>
                        </a:rPr>
                        <a:t>[161/341]</a:t>
                      </a:r>
                      <a:r>
                        <a:rPr lang="en-US" sz="800" dirty="0"/>
                        <a:t> : STAR </a:t>
                      </a:r>
                      <a:r>
                        <a:rPr lang="en-US" sz="800" dirty="0">
                          <a:solidFill>
                            <a:schemeClr val="accent4"/>
                          </a:solidFill>
                        </a:rPr>
                        <a:t>(Missed App 1970’ Initially)</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62270">
                <a:tc>
                  <a:txBody>
                    <a:bodyPr/>
                    <a:lstStyle/>
                    <a:p>
                      <a:pPr marL="0" marR="0" lvl="0" indent="0" algn="ctr" rtl="0">
                        <a:spcBef>
                          <a:spcPts val="0"/>
                        </a:spcBef>
                        <a:spcAft>
                          <a:spcPts val="0"/>
                        </a:spcAft>
                        <a:buNone/>
                      </a:pPr>
                      <a:r>
                        <a:rPr lang="en-US" sz="800" b="1" dirty="0"/>
                        <a:t>16L</a:t>
                      </a:r>
                      <a:r>
                        <a:rPr lang="en-US" sz="800" b="0" dirty="0"/>
                        <a:t>/16R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xK</a:t>
                      </a:r>
                      <a:r>
                        <a:rPr lang="en-US" sz="800" b="0" dirty="0"/>
                        <a:t>/R/H</a:t>
                      </a:r>
                    </a:p>
                  </a:txBody>
                  <a:tcPr marL="36000" marR="36000" marT="36000" marB="36000" anchor="ctr"/>
                </a:tc>
                <a:tc>
                  <a:txBody>
                    <a:bodyPr/>
                    <a:lstStyle/>
                    <a:p>
                      <a:pPr marL="0" marR="0" lvl="0" indent="0" algn="ctr" rtl="0">
                        <a:spcBef>
                          <a:spcPts val="0"/>
                        </a:spcBef>
                        <a:spcAft>
                          <a:spcPts val="0"/>
                        </a:spcAft>
                        <a:buNone/>
                      </a:pPr>
                      <a:r>
                        <a:rPr lang="en-US" sz="800" b="1" dirty="0"/>
                        <a:t>TJ960</a:t>
                      </a:r>
                    </a:p>
                    <a:p>
                      <a:pPr marL="0" marR="0" lvl="0" indent="0" algn="ctr" rtl="0">
                        <a:spcBef>
                          <a:spcPts val="0"/>
                        </a:spcBef>
                        <a:spcAft>
                          <a:spcPts val="0"/>
                        </a:spcAft>
                        <a:buNone/>
                      </a:pPr>
                      <a:r>
                        <a:rPr lang="en-US" sz="800" b="0" dirty="0"/>
                        <a:t>TJ919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16L</a:t>
                      </a:r>
                      <a:r>
                        <a:rPr lang="en-US" sz="800" b="0" dirty="0"/>
                        <a:t>/16R</a:t>
                      </a:r>
                    </a:p>
                  </a:txBody>
                  <a:tcPr marL="36000" marR="36000" marT="36000" marB="36000" anchor="ctr"/>
                </a:tc>
                <a:extLst>
                  <a:ext uri="{0D108BD9-81ED-4DB2-BD59-A6C34878D82A}">
                    <a16:rowId xmlns:a16="http://schemas.microsoft.com/office/drawing/2014/main" val="10001"/>
                  </a:ext>
                </a:extLst>
              </a:tr>
              <a:tr h="262270">
                <a:tc>
                  <a:txBody>
                    <a:bodyPr/>
                    <a:lstStyle/>
                    <a:p>
                      <a:pPr marL="0" marR="0" lvl="0" indent="0" algn="ctr" rtl="0">
                        <a:spcBef>
                          <a:spcPts val="0"/>
                        </a:spcBef>
                        <a:spcAft>
                          <a:spcPts val="0"/>
                        </a:spcAft>
                        <a:buNone/>
                      </a:pPr>
                      <a:r>
                        <a:rPr lang="en-US" sz="800" b="1" dirty="0"/>
                        <a:t>34R</a:t>
                      </a:r>
                      <a:r>
                        <a:rPr lang="en-US" sz="800" b="0" dirty="0"/>
                        <a:t>/34L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xQ</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TJ841</a:t>
                      </a:r>
                    </a:p>
                  </a:txBody>
                  <a:tcPr marL="36000" marR="36000" marT="36000" marB="36000" anchor="ctr"/>
                </a:tc>
                <a:tc>
                  <a:txBody>
                    <a:bodyPr/>
                    <a:lstStyle/>
                    <a:p>
                      <a:pPr marL="0" marR="0" lvl="0" indent="0" algn="ctr" rtl="0">
                        <a:spcBef>
                          <a:spcPts val="0"/>
                        </a:spcBef>
                        <a:spcAft>
                          <a:spcPts val="0"/>
                        </a:spcAft>
                        <a:buNone/>
                      </a:pPr>
                      <a:r>
                        <a:rPr lang="en-US" sz="800" b="1" dirty="0"/>
                        <a:t>ILS 34R</a:t>
                      </a:r>
                      <a:r>
                        <a:rPr lang="en-US" altLang="ko-Kore-KR" sz="800" b="0" dirty="0"/>
                        <a:t>/34L</a:t>
                      </a:r>
                      <a:endParaRPr sz="800" b="1" dirty="0"/>
                    </a:p>
                  </a:txBody>
                  <a:tcPr marL="36000" marR="36000" marT="36000" marB="36000" anchor="ctr"/>
                </a:tc>
                <a:extLst>
                  <a:ext uri="{0D108BD9-81ED-4DB2-BD59-A6C34878D82A}">
                    <a16:rowId xmlns:a16="http://schemas.microsoft.com/office/drawing/2014/main" val="10002"/>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TAJ, </a:t>
                      </a:r>
                      <a:r>
                        <a:rPr lang="en-US" sz="800" b="1" dirty="0">
                          <a:solidFill>
                            <a:srgbClr val="C00000"/>
                          </a:solidFill>
                        </a:rPr>
                        <a:t>16L ICU, 34R IKD, 16R IJS, 34L ICG</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 </a:t>
                      </a:r>
                      <a:r>
                        <a:rPr kumimoji="0" lang="en-US" altLang="ko-Kore-KR" sz="800" b="1" i="0" u="none" strike="noStrike" kern="0" cap="none" spc="0" normalizeH="0" baseline="0" noProof="0" dirty="0" err="1">
                          <a:ln>
                            <a:noFill/>
                          </a:ln>
                          <a:solidFill>
                            <a:srgbClr val="0070C0"/>
                          </a:solidFill>
                          <a:effectLst/>
                          <a:uLnTx/>
                          <a:uFillTx/>
                          <a:latin typeface="Calibri"/>
                          <a:cs typeface="Calibri"/>
                          <a:sym typeface="Arial"/>
                        </a:rPr>
                        <a:t>RWxx</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/6 160kts</a:t>
                      </a:r>
                      <a:r>
                        <a:rPr kumimoji="0" lang="en-US" altLang="ko-KR" sz="800" b="1" i="0" u="none" strike="noStrike" kern="0" cap="none" spc="0" normalizeH="0" baseline="0" noProof="0" dirty="0">
                          <a:ln>
                            <a:noFill/>
                          </a:ln>
                          <a:solidFill>
                            <a:srgbClr val="0070C0"/>
                          </a:solidFill>
                          <a:effectLst/>
                          <a:uLnTx/>
                          <a:uFillTx/>
                          <a:latin typeface="Calibri"/>
                          <a:cs typeface="Calibri"/>
                          <a:sym typeface="Arial"/>
                        </a:rPr>
                        <a:t>(JEPP REF)</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a:t>
                      </a:r>
                      <a:endParaRPr sz="800" b="0"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77481440"/>
                  </a:ext>
                </a:extLst>
              </a:tr>
              <a:tr h="26227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:W3(6269’),W2(9809’), 34R :W7(6443’),W8(7591’)</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16R :B4(5177’),B3(7191’), 34L :B5(5183’),B6(7201’)</a:t>
                      </a:r>
                      <a:r>
                        <a:rPr lang="en-US" sz="800" b="1" dirty="0">
                          <a:solidFill>
                            <a:schemeClr val="dk1"/>
                          </a:solidFill>
                        </a:rPr>
                        <a:t>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891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on D, TAXI SPD Max 27kts</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418047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ZBTJ(TSN) 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Tianjin</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172E7694-E627-ADAE-DF67-CEC98593FD53}"/>
              </a:ext>
            </a:extLst>
          </p:cNvPr>
          <p:cNvGraphicFramePr/>
          <p:nvPr>
            <p:extLst>
              <p:ext uri="{D42A27DB-BD31-4B8C-83A1-F6EECF244321}">
                <p14:modId xmlns:p14="http://schemas.microsoft.com/office/powerpoint/2010/main" val="4075225115"/>
              </p:ext>
            </p:extLst>
          </p:nvPr>
        </p:nvGraphicFramePr>
        <p:xfrm>
          <a:off x="1" y="63005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108798D-7683-BA79-6C89-C98F19FD5A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255610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37A4C-C378-0F58-BA1F-5505FB25729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5140A9CA-316D-FB9A-5257-AB664BC1E6CC}"/>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82A2B653-147D-4459-010F-CBEC79679F9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C83516-51EE-DD72-01AD-AAB400095B1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A9EC69C2-0557-F9CE-2B14-D788D0534D4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6140810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585854960"/>
              </p:ext>
            </p:extLst>
          </p:nvPr>
        </p:nvGraphicFramePr>
        <p:xfrm>
          <a:off x="-3430" y="676135"/>
          <a:ext cx="2333776" cy="1476730"/>
        </p:xfrm>
        <a:graphic>
          <a:graphicData uri="http://schemas.openxmlformats.org/drawingml/2006/table">
            <a:tbl>
              <a:tblPr firstRow="1" bandRow="1">
                <a:noFill/>
                <a:tableStyleId>{A521BE36-7E6F-4EC9-8D66-1CF97A6895EC}</a:tableStyleId>
              </a:tblPr>
              <a:tblGrid>
                <a:gridCol w="288853">
                  <a:extLst>
                    <a:ext uri="{9D8B030D-6E8A-4147-A177-3AD203B41FA5}">
                      <a16:colId xmlns:a16="http://schemas.microsoft.com/office/drawing/2014/main" val="20000"/>
                    </a:ext>
                  </a:extLst>
                </a:gridCol>
                <a:gridCol w="166338">
                  <a:extLst>
                    <a:ext uri="{9D8B030D-6E8A-4147-A177-3AD203B41FA5}">
                      <a16:colId xmlns:a16="http://schemas.microsoft.com/office/drawing/2014/main" val="20002"/>
                    </a:ext>
                  </a:extLst>
                </a:gridCol>
                <a:gridCol w="451612">
                  <a:extLst>
                    <a:ext uri="{9D8B030D-6E8A-4147-A177-3AD203B41FA5}">
                      <a16:colId xmlns:a16="http://schemas.microsoft.com/office/drawing/2014/main" val="2878850997"/>
                    </a:ext>
                  </a:extLst>
                </a:gridCol>
                <a:gridCol w="61400">
                  <a:extLst>
                    <a:ext uri="{9D8B030D-6E8A-4147-A177-3AD203B41FA5}">
                      <a16:colId xmlns:a16="http://schemas.microsoft.com/office/drawing/2014/main" val="488815992"/>
                    </a:ext>
                  </a:extLst>
                </a:gridCol>
                <a:gridCol w="455192">
                  <a:extLst>
                    <a:ext uri="{9D8B030D-6E8A-4147-A177-3AD203B41FA5}">
                      <a16:colId xmlns:a16="http://schemas.microsoft.com/office/drawing/2014/main" val="2821561803"/>
                    </a:ext>
                  </a:extLst>
                </a:gridCol>
                <a:gridCol w="455190">
                  <a:extLst>
                    <a:ext uri="{9D8B030D-6E8A-4147-A177-3AD203B41FA5}">
                      <a16:colId xmlns:a16="http://schemas.microsoft.com/office/drawing/2014/main" val="2901698894"/>
                    </a:ext>
                  </a:extLst>
                </a:gridCol>
                <a:gridCol w="455191">
                  <a:extLst>
                    <a:ext uri="{9D8B030D-6E8A-4147-A177-3AD203B41FA5}">
                      <a16:colId xmlns:a16="http://schemas.microsoft.com/office/drawing/2014/main" val="526455269"/>
                    </a:ext>
                  </a:extLst>
                </a:gridCol>
              </a:tblGrid>
              <a:tr h="0">
                <a:tc gridSpan="7">
                  <a:txBody>
                    <a:bodyPr/>
                    <a:lstStyle/>
                    <a:p>
                      <a:pPr marL="0" marR="0" lvl="0" indent="0" algn="ctr" rtl="0">
                        <a:spcBef>
                          <a:spcPts val="0"/>
                        </a:spcBef>
                        <a:spcAft>
                          <a:spcPts val="0"/>
                        </a:spcAft>
                        <a:buNone/>
                      </a:pPr>
                      <a:r>
                        <a:rPr lang="en-US" sz="800" u="none" strike="noStrike" cap="none" dirty="0"/>
                        <a:t>TSN : SID (NADP 1)  </a:t>
                      </a:r>
                      <a:r>
                        <a:rPr lang="en-US" sz="800" u="none" strike="noStrike" cap="none" dirty="0">
                          <a:solidFill>
                            <a:schemeClr val="accent4"/>
                          </a:solidFill>
                        </a:rPr>
                        <a:t>Caution 600</a:t>
                      </a:r>
                      <a:r>
                        <a:rPr lang="en-US" altLang="ko-KR" sz="800" u="none" strike="noStrike" cap="none" dirty="0">
                          <a:solidFill>
                            <a:schemeClr val="accent4"/>
                          </a:solidFill>
                        </a:rPr>
                        <a:t>m Level Off – SPD Inc</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16R</a:t>
                      </a:r>
                      <a:endParaRPr lang="en-US" sz="800" b="1" u="none" strike="noStrike" cap="none" dirty="0"/>
                    </a:p>
                    <a:p>
                      <a:pPr marL="0" marR="0" lvl="0" indent="0" algn="ctr" rtl="0">
                        <a:spcBef>
                          <a:spcPts val="0"/>
                        </a:spcBef>
                        <a:spcAft>
                          <a:spcPts val="0"/>
                        </a:spcAft>
                        <a:buNone/>
                      </a:pPr>
                      <a:r>
                        <a:rPr lang="en-US" sz="800" b="0" u="none" strike="noStrike" cap="none" dirty="0"/>
                        <a:t>/16L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MUGLO </a:t>
                      </a:r>
                      <a:r>
                        <a:rPr lang="en-US" sz="800" b="1" u="none" strike="noStrike" cap="none" dirty="0" err="1">
                          <a:solidFill>
                            <a:srgbClr val="0070C0"/>
                          </a:solidFill>
                        </a:rPr>
                        <a:t>xT</a:t>
                      </a:r>
                      <a:endParaRPr lang="ko-Kore-KR" dirty="0"/>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161 </a:t>
                      </a:r>
                      <a:r>
                        <a:rPr lang="en-US" sz="800" b="1" u="none" strike="noStrike" cap="none" dirty="0">
                          <a:solidFill>
                            <a:srgbClr val="0070C0"/>
                          </a:solidFill>
                        </a:rPr>
                        <a:t>ALT ATC(600m)</a:t>
                      </a:r>
                    </a:p>
                    <a:p>
                      <a:pPr algn="ct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34L</a:t>
                      </a:r>
                    </a:p>
                    <a:p>
                      <a:pPr marL="0" marR="0" lvl="0" indent="0" algn="ctr" rtl="0">
                        <a:spcBef>
                          <a:spcPts val="0"/>
                        </a:spcBef>
                        <a:spcAft>
                          <a:spcPts val="0"/>
                        </a:spcAft>
                        <a:buNone/>
                      </a:pPr>
                      <a:r>
                        <a:rPr lang="en-US" sz="800" b="0" u="none" strike="noStrike" cap="none" dirty="0"/>
                        <a:t>/34R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MUGLO </a:t>
                      </a:r>
                      <a:r>
                        <a:rPr lang="en-US" altLang="ko-Kore-KR" sz="800" b="1" u="none" strike="noStrike" cap="none" dirty="0" err="1">
                          <a:solidFill>
                            <a:srgbClr val="0070C0"/>
                          </a:solidFill>
                        </a:rPr>
                        <a:t>xW</a:t>
                      </a:r>
                      <a:r>
                        <a:rPr lang="en-US" altLang="ko-Kore-KR" sz="800" b="1" u="none" strike="noStrike" cap="none" dirty="0">
                          <a:solidFill>
                            <a:srgbClr val="0070C0"/>
                          </a:solidFill>
                        </a:rPr>
                        <a:t>/R</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341 </a:t>
                      </a:r>
                      <a:r>
                        <a:rPr lang="en-US" sz="800" b="1" u="none" strike="noStrike" cap="none" dirty="0">
                          <a:solidFill>
                            <a:srgbClr val="0070C0"/>
                          </a:solidFill>
                        </a:rPr>
                        <a:t>ALT ATC(600m) </a:t>
                      </a:r>
                    </a:p>
                    <a:p>
                      <a:pPr algn="ctr"/>
                      <a:r>
                        <a:rPr lang="en-US" sz="800" b="1" u="none" strike="noStrike" cap="none" dirty="0">
                          <a:solidFill>
                            <a:srgbClr val="7030A0"/>
                          </a:solidFill>
                        </a:rPr>
                        <a:t>SPD 230 </a:t>
                      </a: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TAJ 112.1</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16R IJS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110.9</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34L ICG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16L ICU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34R IKD 111.5</a:t>
                      </a:r>
                    </a:p>
                  </a:txBody>
                  <a:tcPr marL="36000" marR="36000" marT="36000" marB="36000" anchor="ctr"/>
                </a:tc>
                <a:extLst>
                  <a:ext uri="{0D108BD9-81ED-4DB2-BD59-A6C34878D82A}">
                    <a16:rowId xmlns:a16="http://schemas.microsoft.com/office/drawing/2014/main" val="1000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16R : Do not pass A11 </a:t>
                      </a:r>
                    </a:p>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Confirm Parking Brake Release before Push back</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895086968"/>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ZBTJ(TSN) 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Tianjin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971" y="2288989"/>
            <a:ext cx="1226618"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119.27</a:t>
            </a:r>
          </a:p>
          <a:p>
            <a:pPr>
              <a:lnSpc>
                <a:spcPct val="150000"/>
              </a:lnSpc>
            </a:pPr>
            <a:r>
              <a:rPr kumimoji="1" lang="en-US" altLang="ko-Kore-KR" sz="700" b="1" u="sng" dirty="0">
                <a:latin typeface="Gulim" panose="020B0600000101010101" pitchFamily="34" charset="-127"/>
                <a:ea typeface="Gulim" panose="020B0600000101010101" pitchFamily="34" charset="-127"/>
              </a:rPr>
              <a:t>PEK 125.6</a:t>
            </a:r>
          </a:p>
          <a:p>
            <a:pPr>
              <a:lnSpc>
                <a:spcPct val="150000"/>
              </a:lnSpc>
            </a:pPr>
            <a:r>
              <a:rPr kumimoji="1" lang="en-US" altLang="ko-KR" sz="700" b="1" u="sng" dirty="0">
                <a:latin typeface="Gulim" panose="020B0600000101010101" pitchFamily="34" charset="-127"/>
                <a:ea typeface="Gulim" panose="020B0600000101010101" pitchFamily="34" charset="-127"/>
              </a:rPr>
              <a:t>DLC</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123.2 – </a:t>
            </a:r>
            <a:r>
              <a:rPr kumimoji="1" lang="en-US" altLang="ko-Kore-KR" sz="700" b="1" u="sng" dirty="0">
                <a:latin typeface="Gulim" panose="020B0600000101010101" pitchFamily="34" charset="-127"/>
                <a:ea typeface="Gulim" panose="020B0600000101010101" pitchFamily="34" charset="-127"/>
              </a:rPr>
              <a:t>132.95</a:t>
            </a: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latin typeface="Gulim" panose="020B0600000101010101" pitchFamily="34" charset="-127"/>
                <a:ea typeface="Gulim" panose="020B0600000101010101" pitchFamily="34" charset="-127"/>
              </a:rPr>
              <a:t>ICN 128.7 – APP 119.75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C29056F9-0FCD-21C9-FD87-66E9E016BDE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2292"/>
            <a:ext cx="457200" cy="457200"/>
          </a:xfrm>
          <a:prstGeom prst="rect">
            <a:avLst/>
          </a:prstGeom>
          <a:effectLst>
            <a:outerShdw blurRad="50800" dist="50800" dir="3660000" algn="ctr" rotWithShape="0">
              <a:schemeClr val="bg1">
                <a:alpha val="82714"/>
              </a:schemeClr>
            </a:outerShdw>
          </a:effectLst>
        </p:spPr>
      </p:pic>
      <p:graphicFrame>
        <p:nvGraphicFramePr>
          <p:cNvPr id="7" name="Google Shape;283;p17">
            <a:extLst>
              <a:ext uri="{FF2B5EF4-FFF2-40B4-BE49-F238E27FC236}">
                <a16:creationId xmlns:a16="http://schemas.microsoft.com/office/drawing/2014/main" id="{18690DA4-D774-E0DE-9D39-F49B165E8A8C}"/>
              </a:ext>
            </a:extLst>
          </p:cNvPr>
          <p:cNvGraphicFramePr/>
          <p:nvPr>
            <p:extLst>
              <p:ext uri="{D42A27DB-BD31-4B8C-83A1-F6EECF244321}">
                <p14:modId xmlns:p14="http://schemas.microsoft.com/office/powerpoint/2010/main" val="202186850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37388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6">
            <a:alphaModFix/>
          </a:blip>
          <a:srcRect/>
          <a:stretch/>
        </p:blipFill>
        <p:spPr>
          <a:xfrm>
            <a:off x="4472" y="2216136"/>
            <a:ext cx="1217055" cy="455380"/>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4D090B14-9910-1A84-57B2-E03615840B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01966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02F7FFC0-85BA-846B-71CC-16E37B8BC2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3021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714389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A14B28D3-CBB6-1BDE-D81C-9FDAC95B33E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2990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9295094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172468473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A6CD9B32-BC74-09E5-253C-98CE54C8F6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6737285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1946" y="2780313"/>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ETA KABAM 119.3 – ETA MIGUG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Rep MAPNO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(RPHI – VVHM CPDLC Tx Manual)</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2375536302"/>
              </p:ext>
            </p:extLst>
          </p:nvPr>
        </p:nvGraphicFramePr>
        <p:xfrm>
          <a:off x="-2500" y="3525251"/>
          <a:ext cx="2328849" cy="202311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2BFC2019-5193-EE74-E241-BE1E1108C95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104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8784056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2645839936"/>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Standard P/B,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LUSMO/AKMON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45225140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a:solidFill>
                  <a:srgbClr val="0070C0"/>
                </a:solidFill>
                <a:latin typeface="Gulim" panose="020B0600000101010101" pitchFamily="34" charset="-127"/>
                <a:ea typeface="Gulim" panose="020B0600000101010101" pitchFamily="34" charset="-127"/>
              </a:rPr>
              <a:t>ARESI </a:t>
            </a:r>
            <a:r>
              <a:rPr kumimoji="1" lang="en-US" altLang="ko-Kore-KR" sz="700" b="1" u="sng" dirty="0">
                <a:solidFill>
                  <a:srgbClr val="0070C0"/>
                </a:solidFill>
                <a:latin typeface="Gulim" panose="020B0600000101010101" pitchFamily="34" charset="-127"/>
                <a:ea typeface="Gulim" panose="020B0600000101010101" pitchFamily="34" charset="-127"/>
              </a:rPr>
              <a:t>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252403812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89A00C7D-BA29-4591-22CD-220D9BA33D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10946307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307704235"/>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60716488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F0DF12D0-B1A6-A2D8-382D-8E7A4686F2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1173829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7564811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750745" y="2555861"/>
            <a:ext cx="102912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120.45 – DAD </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 – 120.72 – 126.17</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extLst>
              <p:ext uri="{D42A27DB-BD31-4B8C-83A1-F6EECF244321}">
                <p14:modId xmlns:p14="http://schemas.microsoft.com/office/powerpoint/2010/main" val="277579771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6"/>
          <a:stretch>
            <a:fillRect/>
          </a:stretch>
        </p:blipFill>
        <p:spPr>
          <a:xfrm>
            <a:off x="-11023" y="2569113"/>
            <a:ext cx="714348" cy="552448"/>
          </a:xfrm>
          <a:prstGeom prst="rect">
            <a:avLst/>
          </a:prstGeom>
        </p:spPr>
      </p:pic>
      <p:pic>
        <p:nvPicPr>
          <p:cNvPr id="10" name="그래픽 9" descr="집 Wi-Fi에서 작업 단색으로 채워진">
            <a:hlinkClick r:id="" action="ppaction://hlinkshowjump?jump=firstslide"/>
            <a:extLst>
              <a:ext uri="{FF2B5EF4-FFF2-40B4-BE49-F238E27FC236}">
                <a16:creationId xmlns:a16="http://schemas.microsoft.com/office/drawing/2014/main" id="{01E5A0C6-C561-2DA8-C19D-D0AA3133822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6124096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47577254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826650818"/>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a:t>
                      </a:r>
                      <a:r>
                        <a:rPr lang="en-US" sz="800" dirty="0" err="1"/>
                        <a:t>FollowMe</a:t>
                      </a:r>
                      <a:r>
                        <a:rPr lang="en-US" sz="800" dirty="0"/>
                        <a:t>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69798" y="2766733"/>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5A5FD3C2-4F46-E9CA-20AD-03EDE67B054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340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6214639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263320890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extLst>
              <p:ext uri="{D42A27DB-BD31-4B8C-83A1-F6EECF244321}">
                <p14:modId xmlns:p14="http://schemas.microsoft.com/office/powerpoint/2010/main" val="364777378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182A3967-06B9-3A50-34D0-51C8CFE23F4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3909704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74803458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56EC76DA-A6E4-A615-244B-8462D37B9D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3692137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0112523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195101"/>
            <a:ext cx="143789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a:t>
            </a:r>
          </a:p>
        </p:txBody>
      </p:sp>
      <p:graphicFrame>
        <p:nvGraphicFramePr>
          <p:cNvPr id="8" name="Google Shape;283;p17">
            <a:extLst>
              <a:ext uri="{FF2B5EF4-FFF2-40B4-BE49-F238E27FC236}">
                <a16:creationId xmlns:a16="http://schemas.microsoft.com/office/drawing/2014/main" id="{574166AA-9239-71AA-0230-04BF67A4C46F}"/>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6"/>
          <a:stretch>
            <a:fillRect/>
          </a:stretch>
        </p:blipFill>
        <p:spPr>
          <a:xfrm>
            <a:off x="0" y="2210530"/>
            <a:ext cx="786984" cy="873769"/>
          </a:xfrm>
          <a:prstGeom prst="rect">
            <a:avLst/>
          </a:prstGeom>
        </p:spPr>
      </p:pic>
      <p:pic>
        <p:nvPicPr>
          <p:cNvPr id="12" name="그래픽 11" descr="집 Wi-Fi에서 작업 단색으로 채워진">
            <a:hlinkClick r:id="" action="ppaction://hlinkshowjump?jump=firstslide"/>
            <a:extLst>
              <a:ext uri="{FF2B5EF4-FFF2-40B4-BE49-F238E27FC236}">
                <a16:creationId xmlns:a16="http://schemas.microsoft.com/office/drawing/2014/main" id="{4DC646C0-B47F-C0A1-C7BA-7ED6BF4EB1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2328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01518004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2122D84-F1F0-7924-D5B2-E7AD4B8CC4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47464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pic>
        <p:nvPicPr>
          <p:cNvPr id="4" name="그래픽 3" descr="집 Wi-Fi에서 작업 단색으로 채워진">
            <a:hlinkClick r:id="" action="ppaction://hlinkshowjump?jump=firstslide"/>
            <a:extLst>
              <a:ext uri="{FF2B5EF4-FFF2-40B4-BE49-F238E27FC236}">
                <a16:creationId xmlns:a16="http://schemas.microsoft.com/office/drawing/2014/main" id="{640B8F90-F592-DDAB-EFF4-9602FEA2D1F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421023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B5FA85F4-F279-9339-2887-30099F425A2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75853213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extLst>
              <p:ext uri="{D42A27DB-BD31-4B8C-83A1-F6EECF244321}">
                <p14:modId xmlns:p14="http://schemas.microsoft.com/office/powerpoint/2010/main" val="181247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EA7A4F61-E791-AE7A-2251-38C033672D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690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9185289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66468550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Unable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68271" y="2747513"/>
            <a:ext cx="2161169" cy="855482"/>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CPDLC &amp; PSN Report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RJJJ – KZAK(FIR) – AYPM(FIR) – YBBB(FIR)</a:t>
            </a:r>
          </a:p>
          <a:p>
            <a:pPr lvl="0">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(Cross GUM airspace 250NM 118.7, SQ2100)</a:t>
            </a:r>
          </a:p>
          <a:p>
            <a:pPr lvl="0">
              <a:lnSpc>
                <a:spcPct val="150000"/>
              </a:lnSpc>
            </a:pPr>
            <a:r>
              <a:rPr kumimoji="1" lang="en-US" altLang="ko-KR" sz="700" b="1" u="sng" dirty="0">
                <a:latin typeface="Gulim" panose="020B0600000101010101" pitchFamily="34" charset="-127"/>
                <a:ea typeface="Gulim" panose="020B0600000101010101" pitchFamily="34" charset="-127"/>
              </a:rPr>
              <a:t>FIR PSN Report Caution </a:t>
            </a:r>
            <a:r>
              <a:rPr kumimoji="1" lang="en-US" altLang="ko-KR" sz="700" b="1" u="sng" dirty="0" err="1">
                <a:latin typeface="Gulim" panose="020B0600000101010101" pitchFamily="34" charset="-127"/>
                <a:ea typeface="Gulim" panose="020B0600000101010101" pitchFamily="34" charset="-127"/>
              </a:rPr>
              <a:t>Wx</a:t>
            </a:r>
            <a:r>
              <a:rPr kumimoji="1" lang="en-US" altLang="ko-KR" sz="700" b="1" u="sng" dirty="0">
                <a:latin typeface="Gulim" panose="020B0600000101010101" pitchFamily="34" charset="-127"/>
                <a:ea typeface="Gulim" panose="020B0600000101010101" pitchFamily="34" charset="-127"/>
              </a:rPr>
              <a:t> DEV Sequence</a:t>
            </a:r>
          </a:p>
          <a:p>
            <a:pPr lvl="0">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EDB8CF7-4F7D-9EA3-71B0-31F64BCD33D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0358816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extLst>
              <p:ext uri="{D42A27DB-BD31-4B8C-83A1-F6EECF244321}">
                <p14:modId xmlns:p14="http://schemas.microsoft.com/office/powerpoint/2010/main" val="23612659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79DEC8B-8F7C-717B-62B8-9329A92199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955187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B7C0E99-F4ED-0D96-0D56-3E79B45D0E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FF0D5-064A-09CB-C6F2-F143ACAD2A1F}"/>
              </a:ext>
            </a:extLst>
          </p:cNvPr>
          <p:cNvSpPr txBox="1"/>
          <p:nvPr/>
        </p:nvSpPr>
        <p:spPr>
          <a:xfrm>
            <a:off x="-22708" y="2969488"/>
            <a:ext cx="1887055" cy="209151"/>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8C5E93A8-6B6E-2C1C-8472-3D0B62508795}"/>
              </a:ext>
            </a:extLst>
          </p:cNvPr>
          <p:cNvGraphicFramePr/>
          <p:nvPr>
            <p:extLst>
              <p:ext uri="{D42A27DB-BD31-4B8C-83A1-F6EECF244321}">
                <p14:modId xmlns:p14="http://schemas.microsoft.com/office/powerpoint/2010/main" val="1854802853"/>
              </p:ext>
            </p:extLst>
          </p:nvPr>
        </p:nvGraphicFramePr>
        <p:xfrm>
          <a:off x="-6571" y="4008267"/>
          <a:ext cx="2333879" cy="1538482"/>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735496">
                  <a:extLst>
                    <a:ext uri="{9D8B030D-6E8A-4147-A177-3AD203B41FA5}">
                      <a16:colId xmlns:a16="http://schemas.microsoft.com/office/drawing/2014/main" val="20001"/>
                    </a:ext>
                  </a:extLst>
                </a:gridCol>
                <a:gridCol w="530536">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UBN </a:t>
                      </a:r>
                      <a:r>
                        <a:rPr lang="en-US" sz="800" dirty="0">
                          <a:solidFill>
                            <a:srgbClr val="00B0F0"/>
                          </a:solidFill>
                        </a:rPr>
                        <a:t>[110/290]</a:t>
                      </a:r>
                      <a:r>
                        <a:rPr lang="en-US" sz="800" dirty="0"/>
                        <a:t> TL 148 :</a:t>
                      </a:r>
                      <a:r>
                        <a:rPr lang="en-US" sz="800" dirty="0">
                          <a:solidFill>
                            <a:srgbClr val="FFC000"/>
                          </a:solidFill>
                        </a:rPr>
                        <a:t> Hi FE,TERR/Restrict Area</a:t>
                      </a:r>
                    </a:p>
                    <a:p>
                      <a:pPr marL="0" marR="0" lvl="0" indent="0" algn="ctr" rtl="0">
                        <a:spcBef>
                          <a:spcPts val="0"/>
                        </a:spcBef>
                        <a:spcAft>
                          <a:spcPts val="0"/>
                        </a:spcAft>
                        <a:buNone/>
                      </a:pPr>
                      <a:r>
                        <a:rPr lang="en-US" sz="800" b="0" dirty="0">
                          <a:solidFill>
                            <a:srgbClr val="FCFCFC"/>
                          </a:solidFill>
                        </a:rPr>
                        <a:t>CTC UBT CTL 5min Before FIR(POLHO, INTIK)</a:t>
                      </a:r>
                    </a:p>
                    <a:p>
                      <a:pPr marL="0" marR="0" lvl="0" indent="0" algn="ctr" rtl="0">
                        <a:spcBef>
                          <a:spcPts val="0"/>
                        </a:spcBef>
                        <a:spcAft>
                          <a:spcPts val="0"/>
                        </a:spcAft>
                        <a:buNone/>
                      </a:pPr>
                      <a:r>
                        <a:rPr lang="en-US" sz="800" b="0" dirty="0">
                          <a:solidFill>
                            <a:srgbClr val="FCFCFC"/>
                          </a:solidFill>
                        </a:rPr>
                        <a:t>UBT CTL ask L/D Time, </a:t>
                      </a:r>
                      <a:r>
                        <a:rPr lang="en-US" sz="800" b="1" dirty="0">
                          <a:solidFill>
                            <a:srgbClr val="C00000"/>
                          </a:solidFill>
                        </a:rPr>
                        <a:t>Hi FE &amp; Sink Rate due TAS</a:t>
                      </a:r>
                      <a:endParaRPr sz="800" b="1"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29</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MENUG xx W</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ZONAM</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29</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sz="800" b="1" dirty="0"/>
                        <a:t>11</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MENUG xx V</a:t>
                      </a:r>
                      <a:endParaRPr lang="en-US" altLang="ko-Kore-KR" sz="800" b="0" dirty="0"/>
                    </a:p>
                  </a:txBody>
                  <a:tcPr marL="36000" marR="36000" marT="36000" marB="36000" anchor="ctr"/>
                </a:tc>
                <a:tc>
                  <a:txBody>
                    <a:bodyPr/>
                    <a:lstStyle/>
                    <a:p>
                      <a:pPr marL="0" marR="0" lvl="0" indent="0" algn="ctr" rtl="0">
                        <a:spcBef>
                          <a:spcPts val="0"/>
                        </a:spcBef>
                        <a:spcAft>
                          <a:spcPts val="0"/>
                        </a:spcAft>
                        <a:buNone/>
                      </a:pPr>
                      <a:r>
                        <a:rPr lang="en-US" sz="800" b="1" dirty="0"/>
                        <a:t>CK113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11 </a:t>
                      </a:r>
                      <a:r>
                        <a:rPr lang="en-US" altLang="ko-Kore-KR" sz="800" b="1" dirty="0">
                          <a:solidFill>
                            <a:srgbClr val="0070C0"/>
                          </a:solidFill>
                        </a:rPr>
                        <a:t>(Req)</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SER, </a:t>
                      </a:r>
                      <a:r>
                        <a:rPr lang="en-US" sz="800" b="1" dirty="0">
                          <a:solidFill>
                            <a:srgbClr val="C00000"/>
                          </a:solidFill>
                        </a:rPr>
                        <a:t>29 CDA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96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29 : C(5761’), B(8241’), 11 : C(5761’), D(8231’)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2 A330 Must Follow Dashed Line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4A1E274-C74B-8377-4D89-C9950BBBA6DF}"/>
              </a:ext>
            </a:extLst>
          </p:cNvPr>
          <p:cNvGraphicFramePr/>
          <p:nvPr>
            <p:extLst>
              <p:ext uri="{D42A27DB-BD31-4B8C-83A1-F6EECF244321}">
                <p14:modId xmlns:p14="http://schemas.microsoft.com/office/powerpoint/2010/main" val="78167838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ZMCK(UBN)</a:t>
                      </a:r>
                      <a:r>
                        <a:rPr lang="en-US" sz="1100" dirty="0">
                          <a:solidFill>
                            <a:srgbClr val="C00000"/>
                          </a:solidFill>
                          <a:hlinkClick r:id="rId4">
                            <a:extLst>
                              <a:ext uri="{A12FA001-AC4F-418D-AE19-62706E023703}">
                                <ahyp:hlinkClr xmlns:ahyp="http://schemas.microsoft.com/office/drawing/2018/hyperlinkcolor" val="tx"/>
                              </a:ext>
                            </a:extLst>
                          </a:hlinkClick>
                        </a:rPr>
                        <a:t>4485ft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dirty="0">
                          <a:solidFill>
                            <a:srgbClr val="C00000"/>
                          </a:solidFill>
                        </a:rPr>
                        <a:t>No D-ATIS</a:t>
                      </a:r>
                      <a:endParaRPr sz="9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C3817D0-25C7-46CF-B3FF-984C5520644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6D6F5FF-E7B4-AD02-4852-10514DAA0400}"/>
              </a:ext>
            </a:extLst>
          </p:cNvPr>
          <p:cNvGraphicFramePr/>
          <p:nvPr>
            <p:extLst>
              <p:ext uri="{D42A27DB-BD31-4B8C-83A1-F6EECF244321}">
                <p14:modId xmlns:p14="http://schemas.microsoft.com/office/powerpoint/2010/main" val="2238132683"/>
              </p:ext>
            </p:extLst>
          </p:nvPr>
        </p:nvGraphicFramePr>
        <p:xfrm>
          <a:off x="1" y="643197"/>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E50BE71-2FC0-F0B3-E7D2-729DA77C0B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24051147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022B1-085A-75F9-1CF1-572381D6DDB3}"/>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12F796F-1AAA-4ED2-0ECA-9A89CE11B500}"/>
              </a:ext>
            </a:extLst>
          </p:cNvPr>
          <p:cNvGraphicFramePr>
            <a:graphicFrameLocks noGrp="1"/>
          </p:cNvGraphicFramePr>
          <p:nvPr>
            <p:ph idx="1"/>
            <p:extLst>
              <p:ext uri="{D42A27DB-BD31-4B8C-83A1-F6EECF244321}">
                <p14:modId xmlns:p14="http://schemas.microsoft.com/office/powerpoint/2010/main" val="2397723122"/>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352CADC-4005-A80E-FF0C-566D0533D6DB}"/>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C493C74-7CBF-197B-27DF-D12D34FFDA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953B317-20B9-A185-E378-C8CCB8D2925D}"/>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7205993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C94FA3D-C21B-28DC-ADF8-800E7F3FE6C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BE83C2B6-7783-7E58-83A6-2415DA236912}"/>
              </a:ext>
            </a:extLst>
          </p:cNvPr>
          <p:cNvGraphicFramePr/>
          <p:nvPr>
            <p:extLst>
              <p:ext uri="{D42A27DB-BD31-4B8C-83A1-F6EECF244321}">
                <p14:modId xmlns:p14="http://schemas.microsoft.com/office/powerpoint/2010/main" val="587772147"/>
              </p:ext>
            </p:extLst>
          </p:nvPr>
        </p:nvGraphicFramePr>
        <p:xfrm>
          <a:off x="-4046" y="704196"/>
          <a:ext cx="2332909" cy="1304890"/>
        </p:xfrm>
        <a:graphic>
          <a:graphicData uri="http://schemas.openxmlformats.org/drawingml/2006/table">
            <a:tbl>
              <a:tblPr firstRow="1" bandRow="1">
                <a:noFill/>
                <a:tableStyleId>{A521BE36-7E6F-4EC9-8D66-1CF97A6895EC}</a:tableStyleId>
              </a:tblPr>
              <a:tblGrid>
                <a:gridCol w="227615">
                  <a:extLst>
                    <a:ext uri="{9D8B030D-6E8A-4147-A177-3AD203B41FA5}">
                      <a16:colId xmlns:a16="http://schemas.microsoft.com/office/drawing/2014/main" val="20000"/>
                    </a:ext>
                  </a:extLst>
                </a:gridCol>
                <a:gridCol w="896908">
                  <a:extLst>
                    <a:ext uri="{9D8B030D-6E8A-4147-A177-3AD203B41FA5}">
                      <a16:colId xmlns:a16="http://schemas.microsoft.com/office/drawing/2014/main" val="20001"/>
                    </a:ext>
                  </a:extLst>
                </a:gridCol>
                <a:gridCol w="1208386">
                  <a:extLst>
                    <a:ext uri="{9D8B030D-6E8A-4147-A177-3AD203B41FA5}">
                      <a16:colId xmlns:a16="http://schemas.microsoft.com/office/drawing/2014/main" val="20005"/>
                    </a:ext>
                  </a:extLst>
                </a:gridCol>
              </a:tblGrid>
              <a:tr h="0">
                <a:tc gridSpan="3">
                  <a:txBody>
                    <a:bodyPr/>
                    <a:lstStyle/>
                    <a:p>
                      <a:pPr marL="0" marR="0" lvl="0" indent="0" algn="ctr" rtl="0">
                        <a:spcBef>
                          <a:spcPts val="0"/>
                        </a:spcBef>
                        <a:spcAft>
                          <a:spcPts val="0"/>
                        </a:spcAft>
                        <a:buNone/>
                      </a:pPr>
                      <a:r>
                        <a:rPr lang="en-US" sz="800" u="none" strike="noStrike" cap="none" dirty="0"/>
                        <a:t>UBN : SID (NADP 1) TA 128 </a:t>
                      </a: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29</a:t>
                      </a:r>
                      <a:endParaRPr lang="en-US"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MENUG x C</a:t>
                      </a:r>
                      <a:r>
                        <a:rPr lang="en-US" sz="800" b="0" u="none" strike="noStrike" cap="none" dirty="0">
                          <a:solidFill>
                            <a:schemeClr val="bg1"/>
                          </a:solidFill>
                        </a:rPr>
                        <a:t>/A</a:t>
                      </a:r>
                    </a:p>
                  </a:txBody>
                  <a:tcPr marL="36000" marR="36000" marT="36000" marB="36000" anchor="ctr"/>
                </a:tc>
                <a:tc>
                  <a:txBody>
                    <a:bodyPr/>
                    <a:lstStyle/>
                    <a:p>
                      <a:pPr algn="ctr"/>
                      <a:r>
                        <a:rPr lang="en-US" sz="800" b="1" u="none" strike="noStrike" cap="none" dirty="0"/>
                        <a:t>HD 290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11</a:t>
                      </a:r>
                      <a:endParaRPr sz="800" b="0" u="none" strike="noStrike" cap="none" dirty="0"/>
                    </a:p>
                  </a:txBody>
                  <a:tcPr marL="36000" marR="3600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MENUG x D</a:t>
                      </a:r>
                      <a:r>
                        <a:rPr lang="en-US" altLang="ko-Kore-KR" sz="800" b="0" u="none" strike="noStrike" cap="none" dirty="0">
                          <a:solidFill>
                            <a:schemeClr val="bg1"/>
                          </a:solidFill>
                        </a:rPr>
                        <a:t>/B</a:t>
                      </a:r>
                    </a:p>
                  </a:txBody>
                  <a:tcPr marL="36000" marR="36000" marT="36000" marB="36000" anchor="ctr"/>
                </a:tc>
                <a:tc>
                  <a:txBody>
                    <a:bodyPr/>
                    <a:lstStyle/>
                    <a:p>
                      <a:pPr algn="ctr"/>
                      <a:r>
                        <a:rPr lang="en-US" sz="800" b="1" u="none" strike="noStrike" cap="none" dirty="0"/>
                        <a:t>HD 110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SER 116.9</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29 CDA109.9</a:t>
                      </a:r>
                      <a:endParaRPr lang="ko-Kore-KR" dirty="0"/>
                    </a:p>
                  </a:txBody>
                  <a:tcPr marL="36000" marR="36000" marT="36000" marB="36000" anchor="ctr"/>
                </a:tc>
                <a:extLst>
                  <a:ext uri="{0D108BD9-81ED-4DB2-BD59-A6C34878D82A}">
                    <a16:rowId xmlns:a16="http://schemas.microsoft.com/office/drawing/2014/main" val="1446403819"/>
                  </a:ext>
                </a:extLst>
              </a:tr>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29 : SER 290/4, R343, SER R313, SER 290/10, R260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11: SER 110/1.5, SER R313, SER 290/10, R260</a:t>
                      </a:r>
                    </a:p>
                  </a:txBody>
                  <a:tcPr marL="0" marR="0" marT="36000" marB="36000" anchor="ctr"/>
                </a:tc>
                <a:tc hMerge="1">
                  <a:txBody>
                    <a:bodyPr/>
                    <a:lstStyle/>
                    <a:p>
                      <a:endParaRPr/>
                    </a:p>
                  </a:txBody>
                  <a:tcPr marL="36000" marR="36000" marT="36000" marB="36000" anchor="ctr"/>
                </a:tc>
                <a:extLst>
                  <a:ext uri="{0D108BD9-81ED-4DB2-BD59-A6C34878D82A}">
                    <a16:rowId xmlns:a16="http://schemas.microsoft.com/office/drawing/2014/main" val="10005"/>
                  </a:ext>
                </a:extLst>
              </a:tr>
              <a:tr h="115700">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TWY F very Narrow, TWY B,D Opposite Turn Prohibit</a:t>
                      </a:r>
                      <a:endParaRPr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DC0F480D-A1F5-810E-A17B-58EF566CA446}"/>
              </a:ext>
            </a:extLst>
          </p:cNvPr>
          <p:cNvGraphicFramePr/>
          <p:nvPr>
            <p:extLst>
              <p:ext uri="{D42A27DB-BD31-4B8C-83A1-F6EECF244321}">
                <p14:modId xmlns:p14="http://schemas.microsoft.com/office/powerpoint/2010/main" val="891064831"/>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ZMCK(UBN)</a:t>
                      </a:r>
                      <a:r>
                        <a:rPr kumimoji="0" lang="en-US" altLang="ko-Kore-KR" sz="11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4485ft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b="1" dirty="0"/>
                        <a:t>None</a:t>
                      </a:r>
                    </a:p>
                    <a:p>
                      <a:pPr marL="0" marR="0" lvl="0" indent="0" algn="ctr" rtl="0">
                        <a:spcBef>
                          <a:spcPts val="0"/>
                        </a:spcBef>
                        <a:spcAft>
                          <a:spcPts val="0"/>
                        </a:spcAft>
                        <a:buNone/>
                      </a:pPr>
                      <a:r>
                        <a:rPr lang="en-US" sz="800" b="1" dirty="0">
                          <a:solidFill>
                            <a:srgbClr val="C00000"/>
                          </a:solidFill>
                        </a:rPr>
                        <a:t>No D-ATIS</a:t>
                      </a:r>
                      <a:endParaRPr sz="1200" b="1" dirty="0">
                        <a:solidFill>
                          <a:srgbClr val="C00000"/>
                        </a:solidFill>
                      </a:endParaRPr>
                    </a:p>
                    <a:p>
                      <a:pPr marL="0" marR="0" lvl="0" indent="0" algn="ctr" rtl="0">
                        <a:spcBef>
                          <a:spcPts val="0"/>
                        </a:spcBef>
                        <a:spcAft>
                          <a:spcPts val="0"/>
                        </a:spcAft>
                        <a:buNone/>
                      </a:pPr>
                      <a:r>
                        <a:rPr lang="en-US" altLang="ko-KR" sz="700" b="1" dirty="0">
                          <a:solidFill>
                            <a:srgbClr val="C00000"/>
                          </a:solidFill>
                        </a:rPr>
                        <a:t>CLR by Voice to TWR 129.0</a:t>
                      </a:r>
                      <a:endParaRPr sz="7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149120B-E31F-C8E3-0B29-F8DE8574C8E2}"/>
              </a:ext>
            </a:extLst>
          </p:cNvPr>
          <p:cNvSpPr txBox="1"/>
          <p:nvPr/>
        </p:nvSpPr>
        <p:spPr>
          <a:xfrm>
            <a:off x="916297" y="2054340"/>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CF5DCBE-2BDB-51F5-103C-1ACCB9F75F4F}"/>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25D9759-4C3F-0E83-E987-8DA648BB90C4}"/>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E1238F32-6407-DAD8-3BBA-E327C40F6B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14464472-8F1F-6A3B-5705-7C3F95BE3EEB}"/>
              </a:ext>
            </a:extLst>
          </p:cNvPr>
          <p:cNvPicPr>
            <a:picLocks noChangeAspect="1"/>
          </p:cNvPicPr>
          <p:nvPr/>
        </p:nvPicPr>
        <p:blipFill>
          <a:blip r:embed="rId8"/>
          <a:stretch>
            <a:fillRect/>
          </a:stretch>
        </p:blipFill>
        <p:spPr>
          <a:xfrm>
            <a:off x="0" y="2015483"/>
            <a:ext cx="900732" cy="644331"/>
          </a:xfrm>
          <a:prstGeom prst="rect">
            <a:avLst/>
          </a:prstGeom>
        </p:spPr>
      </p:pic>
    </p:spTree>
    <p:extLst>
      <p:ext uri="{BB962C8B-B14F-4D97-AF65-F5344CB8AC3E}">
        <p14:creationId xmlns:p14="http://schemas.microsoft.com/office/powerpoint/2010/main" val="49397703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0098898-BE91-ED49-1468-6F9ED76DC8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9E5BB5-46C7-629C-B832-ED85CEF745AA}"/>
              </a:ext>
            </a:extLst>
          </p:cNvPr>
          <p:cNvSpPr txBox="1"/>
          <p:nvPr/>
        </p:nvSpPr>
        <p:spPr>
          <a:xfrm>
            <a:off x="-35464" y="2805919"/>
            <a:ext cx="2464136" cy="1178647"/>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S RTE : </a:t>
            </a:r>
            <a:r>
              <a:rPr kumimoji="1" lang="en-US" altLang="ko-Kore-KR" sz="700" b="1" u="sng" dirty="0">
                <a:solidFill>
                  <a:srgbClr val="FFC000"/>
                </a:solidFill>
                <a:latin typeface="Gulim" panose="020B0600000101010101" pitchFamily="34" charset="-127"/>
                <a:ea typeface="Gulim" panose="020B0600000101010101" pitchFamily="34" charset="-127"/>
              </a:rPr>
              <a:t>CHILA</a:t>
            </a:r>
            <a:r>
              <a:rPr kumimoji="1" lang="en-US" altLang="ko-Kore-KR" sz="700" b="1" u="sng" dirty="0">
                <a:latin typeface="Gulim" panose="020B0600000101010101" pitchFamily="34" charset="-127"/>
                <a:ea typeface="Gulim" panose="020B0600000101010101" pitchFamily="34" charset="-127"/>
              </a:rPr>
              <a:t> Report YANGON, DAKHA, KOLKATA</a:t>
            </a:r>
          </a:p>
          <a:p>
            <a:pPr>
              <a:lnSpc>
                <a:spcPct val="150000"/>
              </a:lnSpc>
            </a:pPr>
            <a:r>
              <a:rPr kumimoji="1" lang="en-US" altLang="ko-Kore-KR" sz="700" b="1" u="sng" dirty="0">
                <a:latin typeface="Gulim" panose="020B0600000101010101" pitchFamily="34" charset="-127"/>
                <a:ea typeface="Gulim" panose="020B0600000101010101" pitchFamily="34" charset="-127"/>
              </a:rPr>
              <a:t>Boundary Report</a:t>
            </a:r>
          </a:p>
          <a:p>
            <a:pPr>
              <a:lnSpc>
                <a:spcPct val="150000"/>
              </a:lnSpc>
            </a:pPr>
            <a:r>
              <a:rPr kumimoji="1" lang="en-US" altLang="ko-Kore-KR" sz="700" b="1" u="sng" dirty="0">
                <a:latin typeface="Gulim" panose="020B0600000101010101" pitchFamily="34" charset="-127"/>
                <a:ea typeface="Gulim" panose="020B0600000101010101" pitchFamily="34" charset="-127"/>
              </a:rPr>
              <a:t>- PURPA(W112) : </a:t>
            </a:r>
            <a:r>
              <a:rPr kumimoji="1" lang="en-US" altLang="ko-Kore-KR" sz="700" b="1" u="sng" dirty="0" err="1">
                <a:latin typeface="Gulim" panose="020B0600000101010101" pitchFamily="34" charset="-127"/>
                <a:ea typeface="Gulim" panose="020B0600000101010101" pitchFamily="34" charset="-127"/>
              </a:rPr>
              <a:t>islamabad</a:t>
            </a:r>
            <a:r>
              <a:rPr kumimoji="1" lang="en-US" altLang="ko-Kore-KR" sz="700" b="1" u="sng" dirty="0">
                <a:latin typeface="Gulim" panose="020B0600000101010101" pitchFamily="34" charset="-127"/>
                <a:ea typeface="Gulim" panose="020B0600000101010101" pitchFamily="34" charset="-127"/>
              </a:rPr>
              <a:t>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APELO(B505) : Karachi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DERBO(G452) : Air Defense RDR Before10min</a:t>
            </a:r>
          </a:p>
          <a:p>
            <a:pPr>
              <a:lnSpc>
                <a:spcPct val="150000"/>
              </a:lnSpc>
            </a:pPr>
            <a:r>
              <a:rPr kumimoji="1" lang="en-US" altLang="ko-Kore-KR" sz="700" b="1" u="sng" dirty="0">
                <a:latin typeface="Gulim" panose="020B0600000101010101" pitchFamily="34" charset="-127"/>
                <a:ea typeface="Gulim" panose="020B0600000101010101" pitchFamily="34" charset="-127"/>
              </a:rPr>
              <a:t>over IRAN : Air Defense RDR (127.8/135.1) </a:t>
            </a:r>
          </a:p>
          <a:p>
            <a:pPr>
              <a:lnSpc>
                <a:spcPct val="150000"/>
              </a:lnSpc>
            </a:pPr>
            <a:r>
              <a:rPr kumimoji="1" lang="en-US" altLang="ko-Kore-KR" sz="700" b="1" u="sng" dirty="0">
                <a:latin typeface="Gulim" panose="020B0600000101010101" pitchFamily="34" charset="-127"/>
                <a:ea typeface="Gulim" panose="020B0600000101010101" pitchFamily="34" charset="-127"/>
              </a:rPr>
              <a:t>PSN+FL+DEP+DEST </a:t>
            </a:r>
            <a:r>
              <a:rPr kumimoji="1" lang="en-US" altLang="ko-Kore-KR" sz="700" b="1" u="sng" dirty="0">
                <a:solidFill>
                  <a:srgbClr val="FFC000"/>
                </a:solidFill>
                <a:latin typeface="Gulim" panose="020B0600000101010101" pitchFamily="34" charset="-127"/>
                <a:ea typeface="Gulim" panose="020B0600000101010101" pitchFamily="34" charset="-127"/>
              </a:rPr>
              <a:t>(Separate Tehran CTL)</a:t>
            </a:r>
          </a:p>
        </p:txBody>
      </p:sp>
      <p:graphicFrame>
        <p:nvGraphicFramePr>
          <p:cNvPr id="292" name="Google Shape;292;p18">
            <a:extLst>
              <a:ext uri="{FF2B5EF4-FFF2-40B4-BE49-F238E27FC236}">
                <a16:creationId xmlns:a16="http://schemas.microsoft.com/office/drawing/2014/main" id="{E730A344-8610-3AC5-A226-22111FF8B010}"/>
              </a:ext>
            </a:extLst>
          </p:cNvPr>
          <p:cNvGraphicFramePr/>
          <p:nvPr>
            <p:extLst>
              <p:ext uri="{D42A27DB-BD31-4B8C-83A1-F6EECF244321}">
                <p14:modId xmlns:p14="http://schemas.microsoft.com/office/powerpoint/2010/main" val="4137336316"/>
              </p:ext>
            </p:extLst>
          </p:nvPr>
        </p:nvGraphicFramePr>
        <p:xfrm>
          <a:off x="-6571" y="4008267"/>
          <a:ext cx="2333879" cy="1548730"/>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1004460">
                  <a:extLst>
                    <a:ext uri="{9D8B030D-6E8A-4147-A177-3AD203B41FA5}">
                      <a16:colId xmlns:a16="http://schemas.microsoft.com/office/drawing/2014/main" val="20001"/>
                    </a:ext>
                  </a:extLst>
                </a:gridCol>
                <a:gridCol w="427441">
                  <a:extLst>
                    <a:ext uri="{9D8B030D-6E8A-4147-A177-3AD203B41FA5}">
                      <a16:colId xmlns:a16="http://schemas.microsoft.com/office/drawing/2014/main" val="20002"/>
                    </a:ext>
                  </a:extLst>
                </a:gridCol>
                <a:gridCol w="530972">
                  <a:extLst>
                    <a:ext uri="{9D8B030D-6E8A-4147-A177-3AD203B41FA5}">
                      <a16:colId xmlns:a16="http://schemas.microsoft.com/office/drawing/2014/main" val="20003"/>
                    </a:ext>
                  </a:extLst>
                </a:gridCol>
              </a:tblGrid>
              <a:tr h="251323">
                <a:tc gridSpan="4">
                  <a:txBody>
                    <a:bodyPr/>
                    <a:lstStyle/>
                    <a:p>
                      <a:pPr marL="0" marR="0" lvl="0" indent="0" algn="ctr" rtl="0">
                        <a:spcBef>
                          <a:spcPts val="0"/>
                        </a:spcBef>
                        <a:spcAft>
                          <a:spcPts val="0"/>
                        </a:spcAft>
                        <a:buNone/>
                      </a:pPr>
                      <a:r>
                        <a:rPr lang="en-US" sz="800" dirty="0"/>
                        <a:t>DXB </a:t>
                      </a:r>
                      <a:r>
                        <a:rPr lang="en-US" sz="800" dirty="0">
                          <a:solidFill>
                            <a:srgbClr val="00B0F0"/>
                          </a:solidFill>
                        </a:rPr>
                        <a:t>[119/299]</a:t>
                      </a:r>
                      <a:r>
                        <a:rPr lang="en-US" sz="800" dirty="0"/>
                        <a:t> UTC+4, TL 150 : </a:t>
                      </a:r>
                      <a:r>
                        <a:rPr lang="en-US" sz="800" dirty="0">
                          <a:solidFill>
                            <a:srgbClr val="92D050"/>
                          </a:solidFill>
                        </a:rPr>
                        <a:t>SPD Rest in JEPP</a:t>
                      </a:r>
                    </a:p>
                    <a:p>
                      <a:pPr marL="0" marR="0" lvl="0" indent="0" algn="ctr" rtl="0">
                        <a:spcBef>
                          <a:spcPts val="0"/>
                        </a:spcBef>
                        <a:spcAft>
                          <a:spcPts val="0"/>
                        </a:spcAft>
                        <a:buNone/>
                      </a:pPr>
                      <a:r>
                        <a:rPr lang="en-US" sz="800" dirty="0" err="1">
                          <a:solidFill>
                            <a:srgbClr val="FFC000"/>
                          </a:solidFill>
                        </a:rPr>
                        <a:t>Arr</a:t>
                      </a:r>
                      <a:r>
                        <a:rPr lang="en-US" sz="800" dirty="0">
                          <a:solidFill>
                            <a:srgbClr val="FFC000"/>
                          </a:solidFill>
                        </a:rPr>
                        <a:t> C/S, A333, passing FL -&gt;</a:t>
                      </a:r>
                      <a:r>
                        <a:rPr lang="en-US" sz="800" dirty="0"/>
                        <a:t> </a:t>
                      </a:r>
                      <a:r>
                        <a:rPr lang="en-US" sz="800" b="1" dirty="0">
                          <a:solidFill>
                            <a:srgbClr val="FFC000"/>
                          </a:solidFill>
                        </a:rPr>
                        <a:t>Director C/S Only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3123">
                <a:tc>
                  <a:txBody>
                    <a:bodyPr/>
                    <a:lstStyle/>
                    <a:p>
                      <a:pPr marL="0" marR="0" lvl="0" indent="0" algn="ctr" rtl="0">
                        <a:spcBef>
                          <a:spcPts val="0"/>
                        </a:spcBef>
                        <a:spcAft>
                          <a:spcPts val="0"/>
                        </a:spcAft>
                        <a:buNone/>
                      </a:pPr>
                      <a:r>
                        <a:rPr lang="en-US" sz="800" b="1" dirty="0">
                          <a:solidFill>
                            <a:srgbClr val="0070C0"/>
                          </a:solidFill>
                        </a:rPr>
                        <a:t>12L</a:t>
                      </a:r>
                      <a:r>
                        <a:rPr lang="en-US" sz="800" b="1" dirty="0">
                          <a:solidFill>
                            <a:schemeClr val="bg1"/>
                          </a:solidFill>
                        </a:rPr>
                        <a:t>/R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PUVAL, IMPED x B</a:t>
                      </a:r>
                    </a:p>
                  </a:txBody>
                  <a:tcPr marL="36000" marR="36000" marT="36000" marB="36000" anchor="ctr"/>
                </a:tc>
                <a:tc>
                  <a:txBody>
                    <a:bodyPr/>
                    <a:lstStyle/>
                    <a:p>
                      <a:pPr marL="0" marR="0" lvl="0" indent="0" algn="ctr" rtl="0">
                        <a:spcBef>
                          <a:spcPts val="0"/>
                        </a:spcBef>
                        <a:spcAft>
                          <a:spcPts val="0"/>
                        </a:spcAft>
                        <a:buNone/>
                      </a:pPr>
                      <a:r>
                        <a:rPr lang="en-US" sz="800" b="1" dirty="0"/>
                        <a:t>REREK</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45357">
                <a:tc>
                  <a:txBody>
                    <a:bodyPr/>
                    <a:lstStyle/>
                    <a:p>
                      <a:pPr marL="0" marR="0" lvl="0" indent="0" algn="ctr" rtl="0">
                        <a:spcBef>
                          <a:spcPts val="0"/>
                        </a:spcBef>
                        <a:spcAft>
                          <a:spcPts val="0"/>
                        </a:spcAft>
                        <a:buNone/>
                      </a:pPr>
                      <a:r>
                        <a:rPr lang="en-US" sz="800" b="1" dirty="0">
                          <a:solidFill>
                            <a:srgbClr val="0070C0"/>
                          </a:solidFill>
                        </a:rPr>
                        <a:t>30L</a:t>
                      </a:r>
                      <a:r>
                        <a:rPr lang="en-US" sz="800" b="1" dirty="0"/>
                        <a:t>/R</a:t>
                      </a:r>
                      <a:endParaRPr sz="800" b="0" dirty="0"/>
                    </a:p>
                  </a:txBody>
                  <a:tcPr marL="36000" marR="36000" marT="36000" marB="36000" anchor="ctr"/>
                </a:tc>
                <a:tc>
                  <a:txBody>
                    <a:bodyPr/>
                    <a:lstStyle/>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PUVAL, IMPED x C</a:t>
                      </a:r>
                      <a:endParaRPr dirty="0"/>
                    </a:p>
                  </a:txBody>
                  <a:tcPr marL="36000" marR="36000" marT="36000" marB="36000" anchor="ctr"/>
                </a:tc>
                <a:tc>
                  <a:txBody>
                    <a:bodyPr/>
                    <a:lstStyle/>
                    <a:p>
                      <a:pPr marL="0" marR="0" lvl="0" indent="0" algn="ctr" rtl="0">
                        <a:spcBef>
                          <a:spcPts val="0"/>
                        </a:spcBef>
                        <a:spcAft>
                          <a:spcPts val="0"/>
                        </a:spcAft>
                        <a:buNone/>
                      </a:pPr>
                      <a:r>
                        <a:rPr lang="en-US" sz="800" b="1" dirty="0"/>
                        <a:t>ULDOT</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453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 </a:t>
                      </a:r>
                      <a:r>
                        <a:rPr lang="en-US" sz="800" b="1" dirty="0">
                          <a:solidFill>
                            <a:srgbClr val="C00000"/>
                          </a:solidFill>
                        </a:rPr>
                        <a:t>12L IDBL, 30L IDBW, 12R IDBE, 30R IDBR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12L:</a:t>
                      </a:r>
                      <a:r>
                        <a:rPr lang="en-US" sz="800" b="1" dirty="0">
                          <a:solidFill>
                            <a:srgbClr val="0070C0"/>
                          </a:solidFill>
                        </a:rPr>
                        <a:t>M7A(6135’)</a:t>
                      </a:r>
                      <a:r>
                        <a:rPr lang="en-US" sz="800" b="1" dirty="0">
                          <a:solidFill>
                            <a:schemeClr val="dk1"/>
                          </a:solidFill>
                        </a:rPr>
                        <a:t>, M9(7253’), 30L:</a:t>
                      </a:r>
                      <a:r>
                        <a:rPr lang="en-US" sz="800" b="1" dirty="0">
                          <a:solidFill>
                            <a:srgbClr val="0070C0"/>
                          </a:solidFill>
                        </a:rPr>
                        <a:t>K9(6811’)</a:t>
                      </a:r>
                      <a:r>
                        <a:rPr lang="en-US" sz="800" b="1" dirty="0">
                          <a:solidFill>
                            <a:schemeClr val="dk1"/>
                          </a:solidFill>
                        </a:rPr>
                        <a:t>, K8(8041’)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Late L/D CLR</a:t>
                      </a:r>
                      <a:r>
                        <a:rPr lang="en-US" sz="800" b="1" dirty="0">
                          <a:solidFill>
                            <a:schemeClr val="dk1"/>
                          </a:solidFill>
                        </a:rPr>
                        <a:t>, </a:t>
                      </a:r>
                      <a:r>
                        <a:rPr lang="en-US" sz="800" b="1" dirty="0">
                          <a:solidFill>
                            <a:srgbClr val="0070C0"/>
                          </a:solidFill>
                        </a:rPr>
                        <a:t>Assigned Rapid Exit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TWY J,J1,J2,J3,U,W,Y,Z Max 15kts, </a:t>
                      </a:r>
                      <a:r>
                        <a:rPr lang="en-US" sz="800" b="1" dirty="0">
                          <a:solidFill>
                            <a:srgbClr val="00B050"/>
                          </a:solidFill>
                        </a:rPr>
                        <a:t>VDGS 2kts</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TWY Holding Point</a:t>
                      </a:r>
                      <a:r>
                        <a:rPr lang="en-US" sz="800" b="1" dirty="0">
                          <a:solidFill>
                            <a:srgbClr val="0070C0"/>
                          </a:solidFill>
                        </a:rPr>
                        <a:t>, No Wing Walker</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A2D4F49D-F1D2-B283-5CBE-DF08E682EB65}"/>
              </a:ext>
            </a:extLst>
          </p:cNvPr>
          <p:cNvGraphicFramePr/>
          <p:nvPr>
            <p:extLst>
              <p:ext uri="{D42A27DB-BD31-4B8C-83A1-F6EECF244321}">
                <p14:modId xmlns:p14="http://schemas.microsoft.com/office/powerpoint/2010/main" val="3863032767"/>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R" sz="1300" dirty="0">
                          <a:solidFill>
                            <a:schemeClr val="tx1"/>
                          </a:solidFill>
                          <a:hlinkClick r:id="rId4">
                            <a:extLst>
                              <a:ext uri="{A12FA001-AC4F-418D-AE19-62706E023703}">
                                <ahyp:hlinkClr xmlns:ahyp="http://schemas.microsoft.com/office/drawing/2018/hyperlinkcolor" val="tx"/>
                              </a:ext>
                            </a:extLst>
                          </a:hlinkClick>
                        </a:rPr>
                        <a:t>OMDB</a:t>
                      </a:r>
                      <a:r>
                        <a:rPr lang="en-US" sz="1300" dirty="0">
                          <a:solidFill>
                            <a:schemeClr val="tx1"/>
                          </a:solidFill>
                          <a:hlinkClick r:id="rId4">
                            <a:extLst>
                              <a:ext uri="{A12FA001-AC4F-418D-AE19-62706E023703}">
                                <ahyp:hlinkClr xmlns:ahyp="http://schemas.microsoft.com/office/drawing/2018/hyperlinkcolor" val="tx"/>
                              </a:ext>
                            </a:extLst>
                          </a:hlinkClick>
                        </a:rPr>
                        <a:t>(</a:t>
                      </a:r>
                      <a:r>
                        <a:rPr lang="en-US" altLang="ko-KR" sz="1300" dirty="0">
                          <a:solidFill>
                            <a:schemeClr val="tx1"/>
                          </a:solidFill>
                          <a:hlinkClick r:id="rId4">
                            <a:extLst>
                              <a:ext uri="{A12FA001-AC4F-418D-AE19-62706E023703}">
                                <ahyp:hlinkClr xmlns:ahyp="http://schemas.microsoft.com/office/drawing/2018/hyperlinkcolor" val="tx"/>
                              </a:ext>
                            </a:extLst>
                          </a:hlinkClick>
                        </a:rPr>
                        <a:t>DXB)</a:t>
                      </a:r>
                      <a:r>
                        <a:rPr lang="ko-KR" altLang="en-US" sz="1300" dirty="0">
                          <a:solidFill>
                            <a:schemeClr val="tx1"/>
                          </a:solidFill>
                          <a:hlinkClick r:id="rId4">
                            <a:extLst>
                              <a:ext uri="{A12FA001-AC4F-418D-AE19-62706E023703}">
                                <ahyp:hlinkClr xmlns:ahyp="http://schemas.microsoft.com/office/drawing/2018/hyperlinkcolor" val="tx"/>
                              </a:ext>
                            </a:extLst>
                          </a:hlinkClick>
                        </a:rPr>
                        <a:t> </a:t>
                      </a:r>
                      <a:r>
                        <a:rPr lang="en-US" altLang="ko-KR" sz="1300" dirty="0">
                          <a:solidFill>
                            <a:schemeClr val="tx1"/>
                          </a:solidFill>
                          <a:hlinkClick r:id="rId4">
                            <a:extLst>
                              <a:ext uri="{A12FA001-AC4F-418D-AE19-62706E023703}">
                                <ahyp:hlinkClr xmlns:ahyp="http://schemas.microsoft.com/office/drawing/2018/hyperlinkcolor" val="tx"/>
                              </a:ext>
                            </a:extLst>
                          </a:hlinkClick>
                        </a:rPr>
                        <a:t>62ft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DNATA </a:t>
                      </a:r>
                      <a:r>
                        <a:rPr lang="en-US" sz="900" dirty="0" err="1"/>
                        <a:t>Oper</a:t>
                      </a:r>
                      <a:r>
                        <a:rPr lang="en-US" sz="900" dirty="0"/>
                        <a:t> 131.6</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3E98E07-8DF6-5B5A-5457-AF6E78BD1CDD}"/>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371FE366-4F73-80CD-80D4-909650C76A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6054"/>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B7E00EE-7FED-45DF-2D68-818E00C82BC7}"/>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2370572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24283-B57B-ACD9-5BAB-A475D00872D0}"/>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9909619-B80A-65FD-F1BE-D15FE3D832F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FEF8B47-C363-F8D6-E25B-BCA0A7D2949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113C11C-9CEA-3F50-D2CD-5A7670B52CC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06C6D58-E590-6C7E-57A4-C4DF535F9FEE}"/>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2502454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74FFC5A-8195-297C-8276-2423FBF5F89D}"/>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00D72E41-11D9-FABB-6F8C-BEA21EFB6ED9}"/>
              </a:ext>
            </a:extLst>
          </p:cNvPr>
          <p:cNvGraphicFramePr/>
          <p:nvPr>
            <p:extLst>
              <p:ext uri="{D42A27DB-BD31-4B8C-83A1-F6EECF244321}">
                <p14:modId xmlns:p14="http://schemas.microsoft.com/office/powerpoint/2010/main" val="2845794789"/>
              </p:ext>
            </p:extLst>
          </p:nvPr>
        </p:nvGraphicFramePr>
        <p:xfrm>
          <a:off x="-2500" y="613652"/>
          <a:ext cx="2331363" cy="1232890"/>
        </p:xfrm>
        <a:graphic>
          <a:graphicData uri="http://schemas.openxmlformats.org/drawingml/2006/table">
            <a:tbl>
              <a:tblPr firstRow="1" bandRow="1">
                <a:noFill/>
                <a:tableStyleId>{A521BE36-7E6F-4EC9-8D66-1CF97A6895EC}</a:tableStyleId>
              </a:tblPr>
              <a:tblGrid>
                <a:gridCol w="269634">
                  <a:extLst>
                    <a:ext uri="{9D8B030D-6E8A-4147-A177-3AD203B41FA5}">
                      <a16:colId xmlns:a16="http://schemas.microsoft.com/office/drawing/2014/main" val="20000"/>
                    </a:ext>
                  </a:extLst>
                </a:gridCol>
                <a:gridCol w="431910">
                  <a:extLst>
                    <a:ext uri="{9D8B030D-6E8A-4147-A177-3AD203B41FA5}">
                      <a16:colId xmlns:a16="http://schemas.microsoft.com/office/drawing/2014/main" val="20001"/>
                    </a:ext>
                  </a:extLst>
                </a:gridCol>
                <a:gridCol w="471793">
                  <a:extLst>
                    <a:ext uri="{9D8B030D-6E8A-4147-A177-3AD203B41FA5}">
                      <a16:colId xmlns:a16="http://schemas.microsoft.com/office/drawing/2014/main" val="803511504"/>
                    </a:ext>
                  </a:extLst>
                </a:gridCol>
                <a:gridCol w="162876">
                  <a:extLst>
                    <a:ext uri="{9D8B030D-6E8A-4147-A177-3AD203B41FA5}">
                      <a16:colId xmlns:a16="http://schemas.microsoft.com/office/drawing/2014/main" val="20005"/>
                    </a:ext>
                  </a:extLst>
                </a:gridCol>
                <a:gridCol w="497575">
                  <a:extLst>
                    <a:ext uri="{9D8B030D-6E8A-4147-A177-3AD203B41FA5}">
                      <a16:colId xmlns:a16="http://schemas.microsoft.com/office/drawing/2014/main" val="1933115834"/>
                    </a:ext>
                  </a:extLst>
                </a:gridCol>
                <a:gridCol w="497575">
                  <a:extLst>
                    <a:ext uri="{9D8B030D-6E8A-4147-A177-3AD203B41FA5}">
                      <a16:colId xmlns:a16="http://schemas.microsoft.com/office/drawing/2014/main" val="288610891"/>
                    </a:ext>
                  </a:extLst>
                </a:gridCol>
              </a:tblGrid>
              <a:tr h="0">
                <a:tc gridSpan="6">
                  <a:txBody>
                    <a:bodyPr/>
                    <a:lstStyle/>
                    <a:p>
                      <a:pPr marL="0" marR="0" lvl="0" indent="0" algn="ctr" rtl="0">
                        <a:spcBef>
                          <a:spcPts val="0"/>
                        </a:spcBef>
                        <a:spcAft>
                          <a:spcPts val="0"/>
                        </a:spcAft>
                        <a:buNone/>
                      </a:pPr>
                      <a:r>
                        <a:rPr lang="en-US" sz="800" u="none" strike="noStrike" cap="none" dirty="0"/>
                        <a:t>DXB : SID (NADP 1) UTC+4,TA 130  </a:t>
                      </a:r>
                      <a:r>
                        <a:rPr lang="en-US" sz="800" u="none" strike="noStrike" cap="none" dirty="0">
                          <a:solidFill>
                            <a:srgbClr val="FFC000"/>
                          </a:solidFill>
                        </a:rPr>
                        <a:t>Full Length to ATC</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30R</a:t>
                      </a:r>
                      <a:endParaRPr lang="en-US"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DAVMO,IVURO x F</a:t>
                      </a:r>
                      <a:endParaRPr lang="en-US"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299 </a:t>
                      </a:r>
                      <a:r>
                        <a:rPr lang="en-US" sz="800" b="1" u="none" strike="noStrike" cap="none" dirty="0">
                          <a:solidFill>
                            <a:srgbClr val="0070C0"/>
                          </a:solidFill>
                        </a:rPr>
                        <a:t>ALT 4000 </a:t>
                      </a:r>
                      <a:r>
                        <a:rPr lang="en-US" sz="800" b="1" u="none" strike="noStrike" cap="none" dirty="0">
                          <a:solidFill>
                            <a:srgbClr val="7030A0"/>
                          </a:solidFill>
                        </a:rPr>
                        <a:t>SPD 220</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12R</a:t>
                      </a:r>
                      <a:endParaRPr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DAVMO,IVURO x G</a:t>
                      </a:r>
                      <a:endParaRPr lang="en-US" altLang="ko-Kore-KR"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119 </a:t>
                      </a:r>
                      <a:r>
                        <a:rPr lang="en-US" sz="800" b="1" u="none" strike="noStrike" cap="none" dirty="0">
                          <a:solidFill>
                            <a:srgbClr val="0070C0"/>
                          </a:solidFill>
                        </a:rPr>
                        <a:t>ALT 4000 </a:t>
                      </a:r>
                      <a:r>
                        <a:rPr lang="en-US" sz="800" b="1" u="none" strike="noStrike" cap="none" dirty="0">
                          <a:solidFill>
                            <a:srgbClr val="7030A0"/>
                          </a:solidFill>
                        </a:rPr>
                        <a:t>SPD 220 </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C00000"/>
                          </a:solidFill>
                        </a:rPr>
                        <a:t>12R IDBE 109.5</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30R IDBR 110.9</a:t>
                      </a:r>
                      <a:endParaRPr lang="ko-Kore-KR" altLang="en-US" dirty="0"/>
                    </a:p>
                  </a:txBody>
                  <a:tcPr marL="36000" marR="36000" marT="36000" marB="36000" anchor="ctr"/>
                </a:tc>
                <a:tc hMerge="1">
                  <a:txBody>
                    <a:bodyPr/>
                    <a:lstStyle/>
                    <a:p>
                      <a:endParaRPr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12L IDBL 110.1</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30L IDBW 111.3</a:t>
                      </a:r>
                      <a:endParaRPr lang="ko-Kore-KR" altLang="en-US" dirty="0"/>
                    </a:p>
                  </a:txBody>
                  <a:tcPr marL="36000" marR="36000" marT="36000" marB="36000" anchor="ctr"/>
                </a:tc>
                <a:extLst>
                  <a:ext uri="{0D108BD9-81ED-4DB2-BD59-A6C34878D82A}">
                    <a16:rowId xmlns:a16="http://schemas.microsoft.com/office/drawing/2014/main" val="1446403819"/>
                  </a:ext>
                </a:extLst>
              </a:tr>
              <a:tr h="115700">
                <a:tc gridSpan="6">
                  <a:txBody>
                    <a:bodyPr/>
                    <a:lstStyle/>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TWY J,J1,J2,J3,U,W,Y,Z Max 15kts</a:t>
                      </a:r>
                      <a:endParaRPr lang="en-US" sz="800" b="1" u="none" strike="noStrike" cap="none"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28943"/>
                          </a:solidFill>
                        </a:rPr>
                        <a:t>Caution TWY Holding Point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23860676-B46E-43CE-F1C9-491B77F0F159}"/>
              </a:ext>
            </a:extLst>
          </p:cNvPr>
          <p:cNvGraphicFramePr/>
          <p:nvPr>
            <p:extLst>
              <p:ext uri="{D42A27DB-BD31-4B8C-83A1-F6EECF244321}">
                <p14:modId xmlns:p14="http://schemas.microsoft.com/office/powerpoint/2010/main" val="2204109780"/>
              </p:ext>
            </p:extLst>
          </p:nvPr>
        </p:nvGraphicFramePr>
        <p:xfrm>
          <a:off x="-2501" y="16504"/>
          <a:ext cx="2328850" cy="5898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OMDB(DXB) 62ft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b="0" dirty="0"/>
                        <a:t>DNATA </a:t>
                      </a:r>
                      <a:r>
                        <a:rPr lang="en-US" sz="900" b="0" dirty="0" err="1"/>
                        <a:t>Oper</a:t>
                      </a:r>
                      <a:r>
                        <a:rPr lang="en-US" sz="900" b="0" dirty="0"/>
                        <a:t> 131.6</a:t>
                      </a:r>
                      <a:endParaRPr sz="900" b="0" dirty="0">
                        <a:solidFill>
                          <a:srgbClr val="C00000"/>
                        </a:solidFill>
                      </a:endParaRPr>
                    </a:p>
                    <a:p>
                      <a:pPr marL="0" marR="0" lvl="0" indent="0" algn="ctr" rtl="0">
                        <a:spcBef>
                          <a:spcPts val="0"/>
                        </a:spcBef>
                        <a:spcAft>
                          <a:spcPts val="0"/>
                        </a:spcAft>
                        <a:buNone/>
                      </a:pPr>
                      <a:r>
                        <a:rPr lang="en-US" altLang="ko-KR" sz="800" b="1" dirty="0">
                          <a:solidFill>
                            <a:srgbClr val="C00000"/>
                          </a:solidFill>
                        </a:rPr>
                        <a:t>DCL Avail, -10min Voice</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C977D57B-C92E-C488-35FF-652AC7B5091B}"/>
              </a:ext>
            </a:extLst>
          </p:cNvPr>
          <p:cNvSpPr txBox="1"/>
          <p:nvPr/>
        </p:nvSpPr>
        <p:spPr>
          <a:xfrm>
            <a:off x="-10224" y="1846541"/>
            <a:ext cx="2396810" cy="1340230"/>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CTC by TWR 118.75</a:t>
            </a:r>
          </a:p>
          <a:p>
            <a:pPr>
              <a:lnSpc>
                <a:spcPct val="150000"/>
              </a:lnSpc>
            </a:pPr>
            <a:r>
              <a:rPr kumimoji="1" lang="en-US" altLang="ko-Kore-KR" sz="700" b="1" u="sng" dirty="0">
                <a:latin typeface="Gulim" panose="020B0600000101010101" pitchFamily="34" charset="-127"/>
                <a:ea typeface="Gulim" panose="020B0600000101010101" pitchFamily="34" charset="-127"/>
              </a:rPr>
              <a:t>DEP 124.675 C/S, Passing LVL, Unable SPD</a:t>
            </a:r>
          </a:p>
          <a:p>
            <a:pPr>
              <a:lnSpc>
                <a:spcPct val="150000"/>
              </a:lnSpc>
            </a:pPr>
            <a:r>
              <a:rPr kumimoji="1" lang="en-US" altLang="ko-Kore-KR" sz="700" b="1" u="sng" dirty="0">
                <a:latin typeface="Gulim" panose="020B0600000101010101" pitchFamily="34" charset="-127"/>
                <a:ea typeface="Gulim" panose="020B0600000101010101" pitchFamily="34" charset="-127"/>
              </a:rPr>
              <a:t>CTC Air Defense RDR 127.8/135.1 Before 10min </a:t>
            </a:r>
          </a:p>
          <a:p>
            <a:pPr>
              <a:lnSpc>
                <a:spcPct val="150000"/>
              </a:lnSpc>
            </a:pPr>
            <a:r>
              <a:rPr kumimoji="1" lang="en-US" altLang="ko-Kore-KR" sz="700" b="1" u="sng" dirty="0">
                <a:latin typeface="Gulim" panose="020B0600000101010101" pitchFamily="34" charset="-127"/>
                <a:ea typeface="Gulim" panose="020B0600000101010101" pitchFamily="34" charset="-127"/>
              </a:rPr>
              <a:t>Tehran FIR(GABKO FL190)</a:t>
            </a: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 RTE : </a:t>
            </a: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CHILA</a:t>
            </a: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Report YANGON, DAKHA, KOLKATA</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Boundary Report</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D6EFEF65-6CED-D32B-2313-D3C51E922C3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B3053B9-8089-BDAE-5CB9-8BE7146C9E3D}"/>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6DFDB6B5-C8D7-9192-2B32-C634488A91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6803712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pic>
        <p:nvPicPr>
          <p:cNvPr id="15" name="그래픽 14" descr="집 Wi-Fi에서 작업 단색으로 채워진">
            <a:hlinkClick r:id="" action="ppaction://hlinkshowjump?jump=firstslide"/>
            <a:extLst>
              <a:ext uri="{FF2B5EF4-FFF2-40B4-BE49-F238E27FC236}">
                <a16:creationId xmlns:a16="http://schemas.microsoft.com/office/drawing/2014/main" id="{8A716D6E-34BD-CF91-69C6-F7774B9C47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8590726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7B6D3FA-CA08-0C61-8430-D0EEC186A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8076159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63D5603B-EFED-76F2-BE27-3683BBBE5E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27057112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CB9A69EC-5074-67EA-BB93-96CA384FDF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7628" y="2630831"/>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1616780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FB399ED-C222-F6FA-4BE9-D2801A10B8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58269834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11AD4EBE-7260-7598-A427-A3B9DBCBE5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2467"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30007039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CBDA6B3-38AC-2807-0F8D-0DFCBF6633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DA0CD715-5FBD-243E-3B4B-CF9DA26E5E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822" y="513906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2536B5C3-9E66-28BE-B890-12A13404EB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81712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D3CA9FD4-B981-CDD0-942F-FC439F849B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2588"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345701" y="5287626"/>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0617EA81-24BF-09EC-0EC3-CA21BA6EAF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45109"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D891116-FCAC-4CB1-ED21-BEE7C8742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5276175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4"/>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5"/>
          <a:stretch>
            <a:fillRect/>
          </a:stretch>
        </p:blipFill>
        <p:spPr>
          <a:xfrm>
            <a:off x="-4041" y="273766"/>
            <a:ext cx="1226390" cy="421572"/>
          </a:xfrm>
          <a:prstGeom prst="rect">
            <a:avLst/>
          </a:prstGeom>
          <a:ln w="12700">
            <a:solidFill>
              <a:schemeClr val="accent1"/>
            </a:solidFill>
          </a:ln>
        </p:spPr>
      </p:pic>
      <p:pic>
        <p:nvPicPr>
          <p:cNvPr id="3" name="그래픽 2" descr="집 Wi-Fi에서 작업 단색으로 채워진">
            <a:hlinkClick r:id="" action="ppaction://hlinkshowjump?jump=firstslide"/>
            <a:extLst>
              <a:ext uri="{FF2B5EF4-FFF2-40B4-BE49-F238E27FC236}">
                <a16:creationId xmlns:a16="http://schemas.microsoft.com/office/drawing/2014/main" id="{07ED1B04-C768-A104-5A8F-3143CFB435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513959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8CFF7454-ECF1-25AA-7AC1-F6CA6A31CB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1389871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B0CB0C4A-AF08-6912-D0B6-B834094FB9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25840" y="480776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9713173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C282941-F433-57AE-6173-9C4397F44A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2102" y="26675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087726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BD10FE9-9684-3F51-6BB9-93B5640286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495955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2B7BB68-C2C3-8A8A-A873-67FA51C2C3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5231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72637</TotalTime>
  <Words>22815</Words>
  <Application>Microsoft Macintosh PowerPoint</Application>
  <PresentationFormat>사용자 지정</PresentationFormat>
  <Paragraphs>5364</Paragraphs>
  <Slides>102</Slides>
  <Notes>93</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102</vt:i4>
      </vt:variant>
    </vt:vector>
  </HeadingPairs>
  <TitlesOfParts>
    <vt:vector size="112" baseType="lpstr">
      <vt:lpstr>Century Gothic</vt:lpstr>
      <vt:lpstr>Helvetica Neue</vt:lpstr>
      <vt:lpstr>Calibri</vt:lpstr>
      <vt:lpstr>Cambria Math</vt:lpstr>
      <vt:lpstr>Britannic Bold</vt:lpstr>
      <vt:lpstr>Lato</vt:lpstr>
      <vt:lpstr>맑은 고딕</vt:lpstr>
      <vt:lpstr>Gulim</vt:lpstr>
      <vt:lpstr>Arial</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543</cp:revision>
  <dcterms:created xsi:type="dcterms:W3CDTF">2022-05-17T08:00:10Z</dcterms:created>
  <dcterms:modified xsi:type="dcterms:W3CDTF">2025-07-07T07:01:54Z</dcterms:modified>
</cp:coreProperties>
</file>