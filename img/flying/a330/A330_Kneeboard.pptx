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978" r:id="rId1"/>
  </p:sldMasterIdLst>
  <p:notesMasterIdLst>
    <p:notesMasterId r:id="rId159"/>
  </p:notesMasterIdLst>
  <p:sldIdLst>
    <p:sldId id="292" r:id="rId2"/>
    <p:sldId id="345" r:id="rId3"/>
    <p:sldId id="349" r:id="rId4"/>
    <p:sldId id="367" r:id="rId5"/>
    <p:sldId id="346" r:id="rId6"/>
    <p:sldId id="350" r:id="rId7"/>
    <p:sldId id="347" r:id="rId8"/>
    <p:sldId id="351" r:id="rId9"/>
    <p:sldId id="348" r:id="rId10"/>
    <p:sldId id="282" r:id="rId11"/>
    <p:sldId id="333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355" r:id="rId25"/>
    <p:sldId id="356" r:id="rId26"/>
    <p:sldId id="357" r:id="rId27"/>
    <p:sldId id="358" r:id="rId28"/>
    <p:sldId id="269" r:id="rId29"/>
    <p:sldId id="270" r:id="rId30"/>
    <p:sldId id="401" r:id="rId31"/>
    <p:sldId id="402" r:id="rId32"/>
    <p:sldId id="403" r:id="rId33"/>
    <p:sldId id="404" r:id="rId34"/>
    <p:sldId id="273" r:id="rId35"/>
    <p:sldId id="274" r:id="rId36"/>
    <p:sldId id="275" r:id="rId37"/>
    <p:sldId id="276" r:id="rId38"/>
    <p:sldId id="277" r:id="rId39"/>
    <p:sldId id="278" r:id="rId40"/>
    <p:sldId id="279" r:id="rId41"/>
    <p:sldId id="280" r:id="rId42"/>
    <p:sldId id="295" r:id="rId43"/>
    <p:sldId id="296" r:id="rId44"/>
    <p:sldId id="340" r:id="rId45"/>
    <p:sldId id="341" r:id="rId46"/>
    <p:sldId id="382" r:id="rId47"/>
    <p:sldId id="383" r:id="rId48"/>
    <p:sldId id="405" r:id="rId49"/>
    <p:sldId id="406" r:id="rId50"/>
    <p:sldId id="399" r:id="rId51"/>
    <p:sldId id="400" r:id="rId52"/>
    <p:sldId id="293" r:id="rId53"/>
    <p:sldId id="310" r:id="rId54"/>
    <p:sldId id="294" r:id="rId55"/>
    <p:sldId id="352" r:id="rId56"/>
    <p:sldId id="353" r:id="rId57"/>
    <p:sldId id="354" r:id="rId58"/>
    <p:sldId id="297" r:id="rId59"/>
    <p:sldId id="298" r:id="rId60"/>
    <p:sldId id="306" r:id="rId61"/>
    <p:sldId id="311" r:id="rId62"/>
    <p:sldId id="307" r:id="rId63"/>
    <p:sldId id="368" r:id="rId64"/>
    <p:sldId id="369" r:id="rId65"/>
    <p:sldId id="370" r:id="rId66"/>
    <p:sldId id="300" r:id="rId67"/>
    <p:sldId id="312" r:id="rId68"/>
    <p:sldId id="301" r:id="rId69"/>
    <p:sldId id="304" r:id="rId70"/>
    <p:sldId id="313" r:id="rId71"/>
    <p:sldId id="305" r:id="rId72"/>
    <p:sldId id="308" r:id="rId73"/>
    <p:sldId id="314" r:id="rId74"/>
    <p:sldId id="309" r:id="rId75"/>
    <p:sldId id="315" r:id="rId76"/>
    <p:sldId id="316" r:id="rId77"/>
    <p:sldId id="317" r:id="rId78"/>
    <p:sldId id="318" r:id="rId79"/>
    <p:sldId id="319" r:id="rId80"/>
    <p:sldId id="320" r:id="rId81"/>
    <p:sldId id="321" r:id="rId82"/>
    <p:sldId id="322" r:id="rId83"/>
    <p:sldId id="324" r:id="rId84"/>
    <p:sldId id="325" r:id="rId85"/>
    <p:sldId id="328" r:id="rId86"/>
    <p:sldId id="329" r:id="rId87"/>
    <p:sldId id="330" r:id="rId88"/>
    <p:sldId id="334" r:id="rId89"/>
    <p:sldId id="335" r:id="rId90"/>
    <p:sldId id="336" r:id="rId91"/>
    <p:sldId id="337" r:id="rId92"/>
    <p:sldId id="342" r:id="rId93"/>
    <p:sldId id="343" r:id="rId94"/>
    <p:sldId id="344" r:id="rId95"/>
    <p:sldId id="371" r:id="rId96"/>
    <p:sldId id="372" r:id="rId97"/>
    <p:sldId id="373" r:id="rId98"/>
    <p:sldId id="377" r:id="rId99"/>
    <p:sldId id="379" r:id="rId100"/>
    <p:sldId id="386" r:id="rId101"/>
    <p:sldId id="387" r:id="rId102"/>
    <p:sldId id="388" r:id="rId103"/>
    <p:sldId id="391" r:id="rId104"/>
    <p:sldId id="392" r:id="rId105"/>
    <p:sldId id="393" r:id="rId106"/>
    <p:sldId id="394" r:id="rId107"/>
    <p:sldId id="395" r:id="rId108"/>
    <p:sldId id="396" r:id="rId109"/>
    <p:sldId id="407" r:id="rId110"/>
    <p:sldId id="411" r:id="rId111"/>
    <p:sldId id="410" r:id="rId112"/>
    <p:sldId id="412" r:id="rId113"/>
    <p:sldId id="413" r:id="rId114"/>
    <p:sldId id="414" r:id="rId115"/>
    <p:sldId id="415" r:id="rId116"/>
    <p:sldId id="416" r:id="rId117"/>
    <p:sldId id="417" r:id="rId118"/>
    <p:sldId id="419" r:id="rId119"/>
    <p:sldId id="421" r:id="rId120"/>
    <p:sldId id="420" r:id="rId121"/>
    <p:sldId id="326" r:id="rId122"/>
    <p:sldId id="327" r:id="rId123"/>
    <p:sldId id="331" r:id="rId124"/>
    <p:sldId id="332" r:id="rId125"/>
    <p:sldId id="359" r:id="rId126"/>
    <p:sldId id="360" r:id="rId127"/>
    <p:sldId id="361" r:id="rId128"/>
    <p:sldId id="362" r:id="rId129"/>
    <p:sldId id="397" r:id="rId130"/>
    <p:sldId id="398" r:id="rId131"/>
    <p:sldId id="374" r:id="rId132"/>
    <p:sldId id="375" r:id="rId133"/>
    <p:sldId id="338" r:id="rId134"/>
    <p:sldId id="376" r:id="rId135"/>
    <p:sldId id="339" r:id="rId136"/>
    <p:sldId id="380" r:id="rId137"/>
    <p:sldId id="381" r:id="rId138"/>
    <p:sldId id="389" r:id="rId139"/>
    <p:sldId id="390" r:id="rId140"/>
    <p:sldId id="385" r:id="rId141"/>
    <p:sldId id="363" r:id="rId142"/>
    <p:sldId id="364" r:id="rId143"/>
    <p:sldId id="418" r:id="rId144"/>
    <p:sldId id="365" r:id="rId145"/>
    <p:sldId id="366" r:id="rId146"/>
    <p:sldId id="384" r:id="rId147"/>
    <p:sldId id="283" r:id="rId148"/>
    <p:sldId id="284" r:id="rId149"/>
    <p:sldId id="286" r:id="rId150"/>
    <p:sldId id="287" r:id="rId151"/>
    <p:sldId id="288" r:id="rId152"/>
    <p:sldId id="289" r:id="rId153"/>
    <p:sldId id="290" r:id="rId154"/>
    <p:sldId id="291" r:id="rId155"/>
    <p:sldId id="302" r:id="rId156"/>
    <p:sldId id="303" r:id="rId157"/>
    <p:sldId id="281" r:id="rId158"/>
  </p:sldIdLst>
  <p:sldSz cx="2328863" cy="5572125"/>
  <p:notesSz cx="6858000" cy="9144000"/>
  <p:embeddedFontLst>
    <p:embeddedFont>
      <p:font typeface="Cambria Math" panose="02040503050406030204" pitchFamily="18" charset="0"/>
      <p:regular r:id="rId160"/>
    </p:embeddedFont>
    <p:embeddedFont>
      <p:font typeface="Century Gothic" panose="020B0502020202020204" pitchFamily="34" charset="0"/>
      <p:regular r:id="rId161"/>
      <p:bold r:id="rId162"/>
      <p:italic r:id="rId163"/>
      <p:boldItalic r:id="rId164"/>
    </p:embeddedFont>
    <p:embeddedFont>
      <p:font typeface="Helvetica Neue" panose="02000503000000020004" pitchFamily="2" charset="0"/>
      <p:regular r:id="rId165"/>
      <p:bold r:id="rId166"/>
      <p:italic r:id="rId167"/>
      <p:boldItalic r:id="rId168"/>
    </p:embeddedFont>
    <p:embeddedFont>
      <p:font typeface="Lato" panose="020F0502020204030203" pitchFamily="34" charset="0"/>
      <p:regular r:id="rId169"/>
      <p:bold r:id="rId170"/>
      <p:italic r:id="rId171"/>
      <p:boldItalic r:id="rId17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55" userDrawn="1">
          <p15:clr>
            <a:srgbClr val="A4A3A4"/>
          </p15:clr>
        </p15:guide>
        <p15:guide id="2" pos="733" userDrawn="1">
          <p15:clr>
            <a:srgbClr val="A4A3A4"/>
          </p15:clr>
        </p15:guide>
      </p15:sldGuideLst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3" roundtripDataSignature="AMtx7mhbwbpmZl6Umln1q/ckcX3dt/NVN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A47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521BE36-7E6F-4EC9-8D66-1CF97A6895EC}">
  <a:tblStyle styleId="{A521BE36-7E6F-4EC9-8D66-1CF97A6895E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626"/>
  </p:normalViewPr>
  <p:slideViewPr>
    <p:cSldViewPr snapToGrid="0" showGuides="1">
      <p:cViewPr varScale="1">
        <p:scale>
          <a:sx n="149" d="100"/>
          <a:sy n="149" d="100"/>
        </p:scale>
        <p:origin x="3288" y="184"/>
      </p:cViewPr>
      <p:guideLst>
        <p:guide orient="horz" pos="1755"/>
        <p:guide pos="733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notesMaster" Target="notesMasters/notesMaster1.xml"/><Relationship Id="rId170" Type="http://schemas.openxmlformats.org/officeDocument/2006/relationships/font" Target="fonts/font11.fntdata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font" Target="fonts/font1.fntdata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font" Target="fonts/font12.fntdata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font" Target="fonts/font2.fntdata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7" Type="http://schemas.openxmlformats.org/officeDocument/2006/relationships/tableStyles" Target="tableStyles.xml"/><Relationship Id="rId172" Type="http://schemas.openxmlformats.org/officeDocument/2006/relationships/font" Target="fonts/font13.fntdata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font" Target="fonts/font8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font" Target="fonts/font3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customschemas.google.com/relationships/presentationmetadata" Target="meta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font" Target="fonts/font9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font" Target="fonts/font4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presProps" Target="pres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font" Target="fonts/font5.fntdata"/><Relationship Id="rId16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viewProps" Target="viewProp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font" Target="fonts/font6.fntdata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theme" Target="theme/theme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font" Target="fonts/font7.fntdata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Kneeboard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26414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Dometic</a:t>
            </a: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6613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Domestic PA</a:t>
            </a:r>
            <a:endParaRPr dirty="0"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731737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09227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52038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487379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26707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698269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67892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00958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286977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591934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1820320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4662361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9500653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567239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2336083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17610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358239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6240847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255957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5110465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52628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503858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415325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2203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2685082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5261551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150400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6386487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748794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3141705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051454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383948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5896396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5946905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22106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7521971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9619323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2554055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91991175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5919360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1730180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891070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752725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0840488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8528146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63449680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4114391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085001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8224088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397897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75312968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7474063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3371497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0406046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4228466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5434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949989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6585699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5789836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57724403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89791894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2559117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615444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975713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987072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03908419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83282965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5054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5700620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79843573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07536146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7132047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5803180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3227430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780407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982605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2950254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34329477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61123900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13001987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9494170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22424628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28F04BC2-995A-883D-1F9C-8B964E3AB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9F159807-29A1-B76D-C4F7-3843C57BB3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15EC3C7A-8250-B15C-56AD-35D23DB6B4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9271150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ABBAF33E-327A-3B8B-7BBD-71BD5BC6A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F5845856-0077-4466-289C-63A064B3AA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747D5D3A-1071-4ADF-FE14-273E008A54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5364097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D0D68442-E925-0F27-93A9-B596FA1AF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33A5AF1F-D01F-A2BC-D51E-225431B062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91A86C6C-3B36-A104-8EE4-55FFB25692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11318186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CBA007F9-A3EF-503B-612C-932CF5540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492A2DDB-E43F-A118-7076-4FFB3401D1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6A75F646-7847-9AF5-2252-35AE8899C0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44303157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17CF2D6D-B49F-DD01-1168-1C2FF64EE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FEAEC217-200D-8DAB-1AEC-38EF35CB20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16A325AA-530A-6502-93D9-02A5672BC0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6356778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6EDB6F10-8EA4-E8E3-5121-2259ABE2A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18419798-DFA3-502A-7854-681732BF80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9E650C63-B66F-5140-BDD9-48A098E39E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360596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C8B52D91-7381-F071-5762-EC9E8E029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6BA88C35-4299-26A4-9FB4-F5EC93F1D8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C35EE470-E9F0-B858-708E-D1F4B276F4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7390014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1D2D883D-114D-4AC7-AC11-BBA06E25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C7AEA3F3-61D3-AD3E-3686-76D6832CDC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D08848B9-99DF-48DB-3F53-624D782A8C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105968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BF77A258-E153-13BA-241A-10CFF6B7B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6AE2D417-9A59-CC2C-0E93-328401EEC1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8E88688E-F8CF-67CB-F382-F094A7D166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2868306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4236683A-D5AD-6AC4-4975-AAD29AF32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187040F6-6DC7-E938-FDEA-8379143951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4DD61375-6C01-F34E-2837-482BFBA2C4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535503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4FD1C760-C7DB-8C8D-FF37-EA1746F95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CBEB4F4E-E41F-8BC6-C592-4F036D2DDB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65FBAB2D-0449-4513-696D-4D3BF311D0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5575586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5D628CC1-30A6-4CD0-F61B-7DCBF76DD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BC59C445-D267-9F9B-1551-5645A75276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DFA8E44C-EBB9-D35D-6112-18B445F932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42296985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35235444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27955625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09158952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43964762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94335809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5349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65088383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5431813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8509664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00820482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39254069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12535520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59400145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8610407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46030226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64495566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54391033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44413914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53685713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3776738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47666556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651569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>
          <a:extLst>
            <a:ext uri="{FF2B5EF4-FFF2-40B4-BE49-F238E27FC236}">
              <a16:creationId xmlns:a16="http://schemas.microsoft.com/office/drawing/2014/main" id="{7D3EAA58-03C9-5B38-3634-9FC18AD6B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>
            <a:extLst>
              <a:ext uri="{FF2B5EF4-FFF2-40B4-BE49-F238E27FC236}">
                <a16:creationId xmlns:a16="http://schemas.microsoft.com/office/drawing/2014/main" id="{810A13D0-080C-9792-FE38-F7F92108B7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>
            <a:extLst>
              <a:ext uri="{FF2B5EF4-FFF2-40B4-BE49-F238E27FC236}">
                <a16:creationId xmlns:a16="http://schemas.microsoft.com/office/drawing/2014/main" id="{E033A82F-F386-248C-34A6-63506250DF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6534397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9633618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1630487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01195189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3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8126148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414290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1" name="Google Shape;361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p2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02202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8669" y="484266"/>
            <a:ext cx="1912832" cy="2611360"/>
          </a:xfrm>
        </p:spPr>
        <p:txBody>
          <a:bodyPr anchor="b">
            <a:normAutofit/>
          </a:bodyPr>
          <a:lstStyle>
            <a:lvl1pPr algn="ctr">
              <a:defRPr sz="1019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8669" y="3157538"/>
            <a:ext cx="1912832" cy="1803025"/>
          </a:xfrm>
        </p:spPr>
        <p:txBody>
          <a:bodyPr anchor="t">
            <a:normAutofit/>
          </a:bodyPr>
          <a:lstStyle>
            <a:lvl1pPr marL="0" indent="0" algn="ctr">
              <a:buNone/>
              <a:defRPr sz="458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0" scaled="1"/>
                  <a:tileRect/>
                </a:gradFill>
              </a:defRPr>
            </a:lvl1pPr>
            <a:lvl2pPr marL="1164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232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3493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4657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5822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6986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8151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9315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011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921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669" y="2657443"/>
            <a:ext cx="1912832" cy="1481435"/>
          </a:xfrm>
        </p:spPr>
        <p:txBody>
          <a:bodyPr anchor="b">
            <a:normAutofit/>
          </a:bodyPr>
          <a:lstStyle>
            <a:lvl1pPr algn="r">
              <a:defRPr sz="713" b="0" cap="all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669" y="4146846"/>
            <a:ext cx="1912832" cy="811078"/>
          </a:xfrm>
        </p:spPr>
        <p:txBody>
          <a:bodyPr anchor="t">
            <a:normAutofit/>
          </a:bodyPr>
          <a:lstStyle>
            <a:lvl1pPr marL="0" indent="0" algn="r">
              <a:buNone/>
              <a:defRPr sz="458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116449" indent="0">
              <a:buNone/>
              <a:defRPr sz="458">
                <a:solidFill>
                  <a:schemeClr val="tx1">
                    <a:tint val="75000"/>
                  </a:schemeClr>
                </a:solidFill>
              </a:defRPr>
            </a:lvl2pPr>
            <a:lvl3pPr marL="232898" indent="0">
              <a:buNone/>
              <a:defRPr sz="408">
                <a:solidFill>
                  <a:schemeClr val="tx1">
                    <a:tint val="75000"/>
                  </a:schemeClr>
                </a:solidFill>
              </a:defRPr>
            </a:lvl3pPr>
            <a:lvl4pPr marL="349347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4pPr>
            <a:lvl5pPr marL="465795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5pPr>
            <a:lvl6pPr marL="582244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6pPr>
            <a:lvl7pPr marL="698693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7pPr>
            <a:lvl8pPr marL="815142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8pPr>
            <a:lvl9pPr marL="931591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9269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423" y="1674480"/>
            <a:ext cx="938542" cy="3275456"/>
          </a:xfrm>
        </p:spPr>
        <p:txBody>
          <a:bodyPr>
            <a:normAutofit/>
          </a:bodyPr>
          <a:lstStyle>
            <a:lvl1pPr>
              <a:defRPr sz="408"/>
            </a:lvl1pPr>
            <a:lvl2pPr>
              <a:defRPr sz="357"/>
            </a:lvl2pPr>
            <a:lvl3pPr>
              <a:defRPr sz="306"/>
            </a:lvl3pPr>
            <a:lvl4pPr>
              <a:defRPr sz="280"/>
            </a:lvl4pPr>
            <a:lvl5pPr>
              <a:defRPr sz="280"/>
            </a:lvl5pPr>
            <a:lvl6pPr>
              <a:defRPr sz="280"/>
            </a:lvl6pPr>
            <a:lvl7pPr>
              <a:defRPr sz="280"/>
            </a:lvl7pPr>
            <a:lvl8pPr>
              <a:defRPr sz="280"/>
            </a:lvl8pPr>
            <a:lvl9pPr>
              <a:defRPr sz="28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1898" y="1674479"/>
            <a:ext cx="939603" cy="3275456"/>
          </a:xfrm>
        </p:spPr>
        <p:txBody>
          <a:bodyPr>
            <a:normAutofit/>
          </a:bodyPr>
          <a:lstStyle>
            <a:lvl1pPr>
              <a:defRPr sz="408"/>
            </a:lvl1pPr>
            <a:lvl2pPr>
              <a:defRPr sz="357"/>
            </a:lvl2pPr>
            <a:lvl3pPr>
              <a:defRPr sz="306"/>
            </a:lvl3pPr>
            <a:lvl4pPr>
              <a:defRPr sz="280"/>
            </a:lvl4pPr>
            <a:lvl5pPr>
              <a:defRPr sz="280"/>
            </a:lvl5pPr>
            <a:lvl6pPr>
              <a:defRPr sz="280"/>
            </a:lvl6pPr>
            <a:lvl7pPr>
              <a:defRPr sz="280"/>
            </a:lvl7pPr>
            <a:lvl8pPr>
              <a:defRPr sz="280"/>
            </a:lvl8pPr>
            <a:lvl9pPr>
              <a:defRPr sz="28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6961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1763" y="1674480"/>
            <a:ext cx="865202" cy="596047"/>
          </a:xfrm>
        </p:spPr>
        <p:txBody>
          <a:bodyPr anchor="b">
            <a:noAutofit/>
          </a:bodyPr>
          <a:lstStyle>
            <a:lvl1pPr marL="0" indent="0">
              <a:buNone/>
              <a:defRPr sz="560" b="0"/>
            </a:lvl1pPr>
            <a:lvl2pPr marL="116449" indent="0">
              <a:buNone/>
              <a:defRPr sz="509" b="1"/>
            </a:lvl2pPr>
            <a:lvl3pPr marL="232898" indent="0">
              <a:buNone/>
              <a:defRPr sz="458" b="1"/>
            </a:lvl3pPr>
            <a:lvl4pPr marL="349347" indent="0">
              <a:buNone/>
              <a:defRPr sz="408" b="1"/>
            </a:lvl4pPr>
            <a:lvl5pPr marL="465795" indent="0">
              <a:buNone/>
              <a:defRPr sz="408" b="1"/>
            </a:lvl5pPr>
            <a:lvl6pPr marL="582244" indent="0">
              <a:buNone/>
              <a:defRPr sz="408" b="1"/>
            </a:lvl6pPr>
            <a:lvl7pPr marL="698693" indent="0">
              <a:buNone/>
              <a:defRPr sz="408" b="1"/>
            </a:lvl7pPr>
            <a:lvl8pPr marL="815142" indent="0">
              <a:buNone/>
              <a:defRPr sz="408" b="1"/>
            </a:lvl8pPr>
            <a:lvl9pPr marL="931591" indent="0">
              <a:buNone/>
              <a:defRPr sz="408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423" y="2263647"/>
            <a:ext cx="938542" cy="2694277"/>
          </a:xfrm>
        </p:spPr>
        <p:txBody>
          <a:bodyPr anchor="t">
            <a:normAutofit/>
          </a:bodyPr>
          <a:lstStyle>
            <a:lvl1pPr>
              <a:defRPr sz="408"/>
            </a:lvl1pPr>
            <a:lvl2pPr>
              <a:defRPr sz="357"/>
            </a:lvl2pPr>
            <a:lvl3pPr>
              <a:defRPr sz="306"/>
            </a:lvl3pPr>
            <a:lvl4pPr>
              <a:defRPr sz="280"/>
            </a:lvl4pPr>
            <a:lvl5pPr>
              <a:defRPr sz="280"/>
            </a:lvl5pPr>
            <a:lvl6pPr>
              <a:defRPr sz="280"/>
            </a:lvl6pPr>
            <a:lvl7pPr>
              <a:defRPr sz="280"/>
            </a:lvl7pPr>
            <a:lvl8pPr>
              <a:defRPr sz="280"/>
            </a:lvl8pPr>
            <a:lvl9pPr>
              <a:defRPr sz="28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50554" y="1674480"/>
            <a:ext cx="870947" cy="589167"/>
          </a:xfrm>
        </p:spPr>
        <p:txBody>
          <a:bodyPr anchor="b">
            <a:noAutofit/>
          </a:bodyPr>
          <a:lstStyle>
            <a:lvl1pPr marL="0" indent="0">
              <a:buNone/>
              <a:defRPr sz="560" b="0"/>
            </a:lvl1pPr>
            <a:lvl2pPr marL="116449" indent="0">
              <a:buNone/>
              <a:defRPr sz="509" b="1"/>
            </a:lvl2pPr>
            <a:lvl3pPr marL="232898" indent="0">
              <a:buNone/>
              <a:defRPr sz="458" b="1"/>
            </a:lvl3pPr>
            <a:lvl4pPr marL="349347" indent="0">
              <a:buNone/>
              <a:defRPr sz="408" b="1"/>
            </a:lvl4pPr>
            <a:lvl5pPr marL="465795" indent="0">
              <a:buNone/>
              <a:defRPr sz="408" b="1"/>
            </a:lvl5pPr>
            <a:lvl6pPr marL="582244" indent="0">
              <a:buNone/>
              <a:defRPr sz="408" b="1"/>
            </a:lvl6pPr>
            <a:lvl7pPr marL="698693" indent="0">
              <a:buNone/>
              <a:defRPr sz="408" b="1"/>
            </a:lvl7pPr>
            <a:lvl8pPr marL="815142" indent="0">
              <a:buNone/>
              <a:defRPr sz="408" b="1"/>
            </a:lvl8pPr>
            <a:lvl9pPr marL="931591" indent="0">
              <a:buNone/>
              <a:defRPr sz="408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78991" y="2263647"/>
            <a:ext cx="942731" cy="2694277"/>
          </a:xfrm>
        </p:spPr>
        <p:txBody>
          <a:bodyPr anchor="t">
            <a:normAutofit/>
          </a:bodyPr>
          <a:lstStyle>
            <a:lvl1pPr>
              <a:defRPr sz="408"/>
            </a:lvl1pPr>
            <a:lvl2pPr>
              <a:defRPr sz="357"/>
            </a:lvl2pPr>
            <a:lvl3pPr>
              <a:defRPr sz="306"/>
            </a:lvl3pPr>
            <a:lvl4pPr>
              <a:defRPr sz="280"/>
            </a:lvl4pPr>
            <a:lvl5pPr>
              <a:defRPr sz="280"/>
            </a:lvl5pPr>
            <a:lvl6pPr>
              <a:defRPr sz="280"/>
            </a:lvl6pPr>
            <a:lvl7pPr>
              <a:defRPr sz="280"/>
            </a:lvl7pPr>
            <a:lvl8pPr>
              <a:defRPr sz="280"/>
            </a:lvl8pPr>
            <a:lvl9pPr>
              <a:defRPr sz="28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939177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66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322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688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23" y="1425879"/>
            <a:ext cx="695176" cy="1114425"/>
          </a:xfrm>
        </p:spPr>
        <p:txBody>
          <a:bodyPr anchor="b">
            <a:normAutofit/>
          </a:bodyPr>
          <a:lstStyle>
            <a:lvl1pPr algn="l">
              <a:defRPr sz="56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5162" y="484265"/>
            <a:ext cx="1146340" cy="4473658"/>
          </a:xfrm>
        </p:spPr>
        <p:txBody>
          <a:bodyPr anchor="ctr">
            <a:normAutofit/>
          </a:bodyPr>
          <a:lstStyle>
            <a:lvl1pPr>
              <a:defRPr sz="458"/>
            </a:lvl1pPr>
            <a:lvl2pPr>
              <a:defRPr sz="408"/>
            </a:lvl2pPr>
            <a:lvl3pPr>
              <a:defRPr sz="357"/>
            </a:lvl3pPr>
            <a:lvl4pPr>
              <a:defRPr sz="306"/>
            </a:lvl4pPr>
            <a:lvl5pPr>
              <a:defRPr sz="280"/>
            </a:lvl5pPr>
            <a:lvl6pPr>
              <a:defRPr sz="280"/>
            </a:lvl6pPr>
            <a:lvl7pPr>
              <a:defRPr sz="280"/>
            </a:lvl7pPr>
            <a:lvl8pPr>
              <a:defRPr sz="280"/>
            </a:lvl8pPr>
            <a:lvl9pPr>
              <a:defRPr sz="28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423" y="2540304"/>
            <a:ext cx="695176" cy="1485900"/>
          </a:xfrm>
        </p:spPr>
        <p:txBody>
          <a:bodyPr>
            <a:normAutofit/>
          </a:bodyPr>
          <a:lstStyle>
            <a:lvl1pPr marL="0" indent="0">
              <a:buNone/>
              <a:defRPr sz="408"/>
            </a:lvl1pPr>
            <a:lvl2pPr marL="116449" indent="0">
              <a:buNone/>
              <a:defRPr sz="306"/>
            </a:lvl2pPr>
            <a:lvl3pPr marL="232898" indent="0">
              <a:buNone/>
              <a:defRPr sz="255"/>
            </a:lvl3pPr>
            <a:lvl4pPr marL="349347" indent="0">
              <a:buNone/>
              <a:defRPr sz="229"/>
            </a:lvl4pPr>
            <a:lvl5pPr marL="465795" indent="0">
              <a:buNone/>
              <a:defRPr sz="229"/>
            </a:lvl5pPr>
            <a:lvl6pPr marL="582244" indent="0">
              <a:buNone/>
              <a:defRPr sz="229"/>
            </a:lvl6pPr>
            <a:lvl7pPr marL="698693" indent="0">
              <a:buNone/>
              <a:defRPr sz="229"/>
            </a:lvl7pPr>
            <a:lvl8pPr marL="815142" indent="0">
              <a:buNone/>
              <a:defRPr sz="229"/>
            </a:lvl8pPr>
            <a:lvl9pPr marL="931591" indent="0">
              <a:buNone/>
              <a:defRPr sz="22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161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23" y="1542344"/>
            <a:ext cx="1126688" cy="1114425"/>
          </a:xfrm>
        </p:spPr>
        <p:txBody>
          <a:bodyPr anchor="b">
            <a:normAutofit/>
          </a:bodyPr>
          <a:lstStyle>
            <a:lvl1pPr algn="l">
              <a:defRPr sz="611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404714" y="-14859"/>
            <a:ext cx="636735" cy="5609273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408"/>
            </a:lvl1pPr>
            <a:lvl2pPr marL="116449" indent="0">
              <a:buNone/>
              <a:defRPr sz="408"/>
            </a:lvl2pPr>
            <a:lvl3pPr marL="232898" indent="0">
              <a:buNone/>
              <a:defRPr sz="408"/>
            </a:lvl3pPr>
            <a:lvl4pPr marL="349347" indent="0">
              <a:buNone/>
              <a:defRPr sz="408"/>
            </a:lvl4pPr>
            <a:lvl5pPr marL="465795" indent="0">
              <a:buNone/>
              <a:defRPr sz="408"/>
            </a:lvl5pPr>
            <a:lvl6pPr marL="582244" indent="0">
              <a:buNone/>
              <a:defRPr sz="408"/>
            </a:lvl6pPr>
            <a:lvl7pPr marL="698693" indent="0">
              <a:buNone/>
              <a:defRPr sz="408"/>
            </a:lvl7pPr>
            <a:lvl8pPr marL="815142" indent="0">
              <a:buNone/>
              <a:defRPr sz="408"/>
            </a:lvl8pPr>
            <a:lvl9pPr marL="931591" indent="0">
              <a:buNone/>
              <a:defRPr sz="408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161" y="2656769"/>
            <a:ext cx="1126688" cy="1485900"/>
          </a:xfrm>
        </p:spPr>
        <p:txBody>
          <a:bodyPr>
            <a:normAutofit/>
          </a:bodyPr>
          <a:lstStyle>
            <a:lvl1pPr marL="0" indent="0">
              <a:buNone/>
              <a:defRPr sz="408"/>
            </a:lvl1pPr>
            <a:lvl2pPr marL="116449" indent="0">
              <a:buNone/>
              <a:defRPr sz="306"/>
            </a:lvl2pPr>
            <a:lvl3pPr marL="232898" indent="0">
              <a:buNone/>
              <a:defRPr sz="255"/>
            </a:lvl3pPr>
            <a:lvl4pPr marL="349347" indent="0">
              <a:buNone/>
              <a:defRPr sz="229"/>
            </a:lvl4pPr>
            <a:lvl5pPr marL="465795" indent="0">
              <a:buNone/>
              <a:defRPr sz="229"/>
            </a:lvl5pPr>
            <a:lvl6pPr marL="582244" indent="0">
              <a:buNone/>
              <a:defRPr sz="229"/>
            </a:lvl6pPr>
            <a:lvl7pPr marL="698693" indent="0">
              <a:buNone/>
              <a:defRPr sz="229"/>
            </a:lvl7pPr>
            <a:lvl8pPr marL="815142" indent="0">
              <a:buNone/>
              <a:defRPr sz="229"/>
            </a:lvl8pPr>
            <a:lvl9pPr marL="931591" indent="0">
              <a:buNone/>
              <a:defRPr sz="22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152117" y="5022342"/>
            <a:ext cx="182994" cy="296664"/>
          </a:xfrm>
        </p:spPr>
        <p:txBody>
          <a:bodyPr/>
          <a:lstStyle/>
          <a:p>
            <a:endParaRPr lang="ko-Kore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08423" y="5022342"/>
            <a:ext cx="943694" cy="296664"/>
          </a:xfrm>
        </p:spPr>
        <p:txBody>
          <a:bodyPr/>
          <a:lstStyle/>
          <a:p>
            <a:endParaRPr lang="ko-Kore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2043680" y="5022342"/>
            <a:ext cx="77727" cy="267516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70326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3721" y="3556707"/>
            <a:ext cx="1888001" cy="737348"/>
          </a:xfrm>
        </p:spPr>
        <p:txBody>
          <a:bodyPr anchor="b">
            <a:normAutofit/>
          </a:bodyPr>
          <a:lstStyle>
            <a:lvl1pPr algn="l">
              <a:defRPr sz="509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3721" y="809403"/>
            <a:ext cx="1859583" cy="2422165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408"/>
            </a:lvl1pPr>
            <a:lvl2pPr marL="116449" indent="0">
              <a:buNone/>
              <a:defRPr sz="408"/>
            </a:lvl2pPr>
            <a:lvl3pPr marL="232898" indent="0">
              <a:buNone/>
              <a:defRPr sz="408"/>
            </a:lvl3pPr>
            <a:lvl4pPr marL="349347" indent="0">
              <a:buNone/>
              <a:defRPr sz="408"/>
            </a:lvl4pPr>
            <a:lvl5pPr marL="465795" indent="0">
              <a:buNone/>
              <a:defRPr sz="408"/>
            </a:lvl5pPr>
            <a:lvl6pPr marL="582244" indent="0">
              <a:buNone/>
              <a:defRPr sz="408"/>
            </a:lvl6pPr>
            <a:lvl7pPr marL="698693" indent="0">
              <a:buNone/>
              <a:defRPr sz="408"/>
            </a:lvl7pPr>
            <a:lvl8pPr marL="815142" indent="0">
              <a:buNone/>
              <a:defRPr sz="408"/>
            </a:lvl8pPr>
            <a:lvl9pPr marL="931591" indent="0">
              <a:buNone/>
              <a:defRPr sz="408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3721" y="4294055"/>
            <a:ext cx="1888001" cy="663869"/>
          </a:xfrm>
        </p:spPr>
        <p:txBody>
          <a:bodyPr>
            <a:normAutofit/>
          </a:bodyPr>
          <a:lstStyle>
            <a:lvl1pPr marL="0" indent="0">
              <a:buNone/>
              <a:defRPr sz="357"/>
            </a:lvl1pPr>
            <a:lvl2pPr marL="116449" indent="0">
              <a:buNone/>
              <a:defRPr sz="306"/>
            </a:lvl2pPr>
            <a:lvl3pPr marL="232898" indent="0">
              <a:buNone/>
              <a:defRPr sz="255"/>
            </a:lvl3pPr>
            <a:lvl4pPr marL="349347" indent="0">
              <a:buNone/>
              <a:defRPr sz="229"/>
            </a:lvl4pPr>
            <a:lvl5pPr marL="465795" indent="0">
              <a:buNone/>
              <a:defRPr sz="229"/>
            </a:lvl5pPr>
            <a:lvl6pPr marL="582244" indent="0">
              <a:buNone/>
              <a:defRPr sz="229"/>
            </a:lvl6pPr>
            <a:lvl7pPr marL="698693" indent="0">
              <a:buNone/>
              <a:defRPr sz="229"/>
            </a:lvl7pPr>
            <a:lvl8pPr marL="815142" indent="0">
              <a:buNone/>
              <a:defRPr sz="229"/>
            </a:lvl8pPr>
            <a:lvl9pPr marL="931591" indent="0">
              <a:buNone/>
              <a:defRPr sz="22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33721" y="5022342"/>
            <a:ext cx="1359338" cy="296664"/>
          </a:xfrm>
        </p:spPr>
        <p:txBody>
          <a:bodyPr/>
          <a:lstStyle/>
          <a:p>
            <a:endParaRPr lang="ko-Kore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63889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23" y="484265"/>
            <a:ext cx="1913079" cy="2549448"/>
          </a:xfrm>
        </p:spPr>
        <p:txBody>
          <a:bodyPr anchor="ctr">
            <a:normAutofit/>
          </a:bodyPr>
          <a:lstStyle>
            <a:lvl1pPr algn="l">
              <a:defRPr sz="713" b="0" cap="all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423" y="3529013"/>
            <a:ext cx="1913079" cy="1428911"/>
          </a:xfrm>
        </p:spPr>
        <p:txBody>
          <a:bodyPr anchor="ctr">
            <a:normAutofit/>
          </a:bodyPr>
          <a:lstStyle>
            <a:lvl1pPr marL="0" indent="0" algn="l">
              <a:buNone/>
              <a:defRPr sz="458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116449" indent="0">
              <a:buNone/>
              <a:defRPr sz="458">
                <a:solidFill>
                  <a:schemeClr val="tx1">
                    <a:tint val="75000"/>
                  </a:schemeClr>
                </a:solidFill>
              </a:defRPr>
            </a:lvl2pPr>
            <a:lvl3pPr marL="232898" indent="0">
              <a:buNone/>
              <a:defRPr sz="408">
                <a:solidFill>
                  <a:schemeClr val="tx1">
                    <a:tint val="75000"/>
                  </a:schemeClr>
                </a:solidFill>
              </a:defRPr>
            </a:lvl3pPr>
            <a:lvl4pPr marL="349347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4pPr>
            <a:lvl5pPr marL="465795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5pPr>
            <a:lvl6pPr marL="582244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6pPr>
            <a:lvl7pPr marL="698693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7pPr>
            <a:lvl8pPr marL="815142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8pPr>
            <a:lvl9pPr marL="931591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35327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48692" y="698974"/>
            <a:ext cx="116473" cy="475131"/>
          </a:xfrm>
          <a:prstGeom prst="rect">
            <a:avLst/>
          </a:prstGeom>
        </p:spPr>
        <p:txBody>
          <a:bodyPr vert="horz" lIns="23289" tIns="11644" rIns="23289" bIns="11644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2038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09185" y="2426062"/>
            <a:ext cx="116473" cy="475131"/>
          </a:xfrm>
          <a:prstGeom prst="rect">
            <a:avLst/>
          </a:prstGeom>
        </p:spPr>
        <p:txBody>
          <a:bodyPr vert="horz" lIns="23289" tIns="11644" rIns="23289" bIns="11644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2038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6322" y="484265"/>
            <a:ext cx="1776220" cy="2473314"/>
          </a:xfrm>
        </p:spPr>
        <p:txBody>
          <a:bodyPr anchor="ctr">
            <a:normAutofit/>
          </a:bodyPr>
          <a:lstStyle>
            <a:lvl1pPr algn="l">
              <a:defRPr sz="713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19999" y="2966117"/>
            <a:ext cx="1688866" cy="309563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357"/>
            </a:lvl1pPr>
            <a:lvl2pPr marL="116449" indent="0">
              <a:buFontTx/>
              <a:buNone/>
              <a:defRPr/>
            </a:lvl2pPr>
            <a:lvl3pPr marL="232898" indent="0">
              <a:buFontTx/>
              <a:buNone/>
              <a:defRPr/>
            </a:lvl3pPr>
            <a:lvl4pPr marL="349347" indent="0">
              <a:buFontTx/>
              <a:buNone/>
              <a:defRPr/>
            </a:lvl4pPr>
            <a:lvl5pPr marL="465795" indent="0">
              <a:buFontTx/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423" y="3770980"/>
            <a:ext cx="1913079" cy="1176338"/>
          </a:xfrm>
        </p:spPr>
        <p:txBody>
          <a:bodyPr anchor="ctr">
            <a:normAutofit/>
          </a:bodyPr>
          <a:lstStyle>
            <a:lvl1pPr marL="0" indent="0" algn="l">
              <a:buNone/>
              <a:defRPr sz="458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0" scaled="1"/>
                  <a:tileRect/>
                </a:gradFill>
              </a:defRPr>
            </a:lvl1pPr>
            <a:lvl2pPr marL="116449" indent="0">
              <a:buNone/>
              <a:defRPr sz="458">
                <a:solidFill>
                  <a:schemeClr val="tx1">
                    <a:tint val="75000"/>
                  </a:schemeClr>
                </a:solidFill>
              </a:defRPr>
            </a:lvl2pPr>
            <a:lvl3pPr marL="232898" indent="0">
              <a:buNone/>
              <a:defRPr sz="408">
                <a:solidFill>
                  <a:schemeClr val="tx1">
                    <a:tint val="75000"/>
                  </a:schemeClr>
                </a:solidFill>
              </a:defRPr>
            </a:lvl3pPr>
            <a:lvl4pPr marL="349347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4pPr>
            <a:lvl5pPr marL="465795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5pPr>
            <a:lvl6pPr marL="582244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6pPr>
            <a:lvl7pPr marL="698693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7pPr>
            <a:lvl8pPr marL="815142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8pPr>
            <a:lvl9pPr marL="931591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680243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23" y="2927897"/>
            <a:ext cx="1913299" cy="1193400"/>
          </a:xfrm>
        </p:spPr>
        <p:txBody>
          <a:bodyPr anchor="b">
            <a:normAutofit/>
          </a:bodyPr>
          <a:lstStyle>
            <a:lvl1pPr algn="l">
              <a:defRPr sz="713" b="0" cap="all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9103" y="4121298"/>
            <a:ext cx="1913299" cy="836626"/>
          </a:xfrm>
        </p:spPr>
        <p:txBody>
          <a:bodyPr anchor="t">
            <a:normAutofit/>
          </a:bodyPr>
          <a:lstStyle>
            <a:lvl1pPr marL="0" indent="0" algn="l">
              <a:buNone/>
              <a:defRPr sz="458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116449" indent="0">
              <a:buNone/>
              <a:defRPr sz="458">
                <a:solidFill>
                  <a:schemeClr val="tx1">
                    <a:tint val="75000"/>
                  </a:schemeClr>
                </a:solidFill>
              </a:defRPr>
            </a:lvl2pPr>
            <a:lvl3pPr marL="232898" indent="0">
              <a:buNone/>
              <a:defRPr sz="408">
                <a:solidFill>
                  <a:schemeClr val="tx1">
                    <a:tint val="75000"/>
                  </a:schemeClr>
                </a:solidFill>
              </a:defRPr>
            </a:lvl3pPr>
            <a:lvl4pPr marL="349347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4pPr>
            <a:lvl5pPr marL="465795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5pPr>
            <a:lvl6pPr marL="582244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6pPr>
            <a:lvl7pPr marL="698693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7pPr>
            <a:lvl8pPr marL="815142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8pPr>
            <a:lvl9pPr marL="931591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214305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인용문 있는 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148692" y="612504"/>
            <a:ext cx="116473" cy="475131"/>
          </a:xfrm>
          <a:prstGeom prst="rect">
            <a:avLst/>
          </a:prstGeom>
        </p:spPr>
        <p:txBody>
          <a:bodyPr vert="horz" lIns="23289" tIns="11644" rIns="23289" bIns="11644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2038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8863" y="2339592"/>
            <a:ext cx="116473" cy="475131"/>
          </a:xfrm>
          <a:prstGeom prst="rect">
            <a:avLst/>
          </a:prstGeom>
        </p:spPr>
        <p:txBody>
          <a:bodyPr vert="horz" lIns="23289" tIns="11644" rIns="23289" bIns="11644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2038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6322" y="484265"/>
            <a:ext cx="1776220" cy="2311050"/>
          </a:xfrm>
        </p:spPr>
        <p:txBody>
          <a:bodyPr anchor="ctr">
            <a:normAutofit/>
          </a:bodyPr>
          <a:lstStyle>
            <a:lvl1pPr algn="l">
              <a:defRPr sz="713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08423" y="3157538"/>
            <a:ext cx="1913299" cy="8561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509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0" scaled="1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423" y="4013638"/>
            <a:ext cx="1913299" cy="944286"/>
          </a:xfrm>
        </p:spPr>
        <p:txBody>
          <a:bodyPr anchor="t">
            <a:normAutofit/>
          </a:bodyPr>
          <a:lstStyle>
            <a:lvl1pPr marL="0" indent="0" algn="l">
              <a:buNone/>
              <a:defRPr sz="408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116449" indent="0">
              <a:buNone/>
              <a:defRPr sz="408">
                <a:solidFill>
                  <a:schemeClr val="tx1">
                    <a:tint val="75000"/>
                  </a:schemeClr>
                </a:solidFill>
              </a:defRPr>
            </a:lvl2pPr>
            <a:lvl3pPr marL="232898" indent="0">
              <a:buNone/>
              <a:defRPr sz="408">
                <a:solidFill>
                  <a:schemeClr val="tx1">
                    <a:tint val="75000"/>
                  </a:schemeClr>
                </a:solidFill>
              </a:defRPr>
            </a:lvl3pPr>
            <a:lvl4pPr marL="349347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4pPr>
            <a:lvl5pPr marL="465795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5pPr>
            <a:lvl6pPr marL="582244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6pPr>
            <a:lvl7pPr marL="698693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7pPr>
            <a:lvl8pPr marL="815142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8pPr>
            <a:lvl9pPr marL="931591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643334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참 또는 거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23" y="484265"/>
            <a:ext cx="1913079" cy="2239886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713" b="0" dirty="0"/>
            </a:lvl1pPr>
          </a:lstStyle>
          <a:p>
            <a:pPr marL="0" lv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08423" y="2992390"/>
            <a:ext cx="1913079" cy="85254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611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423" y="3844932"/>
            <a:ext cx="1913078" cy="1112992"/>
          </a:xfrm>
        </p:spPr>
        <p:txBody>
          <a:bodyPr anchor="t">
            <a:normAutofit/>
          </a:bodyPr>
          <a:lstStyle>
            <a:lvl1pPr marL="0" indent="0" algn="l">
              <a:buNone/>
              <a:defRPr sz="408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116449" indent="0">
              <a:buNone/>
              <a:defRPr sz="408">
                <a:solidFill>
                  <a:schemeClr val="tx1">
                    <a:tint val="75000"/>
                  </a:schemeClr>
                </a:solidFill>
              </a:defRPr>
            </a:lvl2pPr>
            <a:lvl3pPr marL="232898" indent="0">
              <a:buNone/>
              <a:defRPr sz="408">
                <a:solidFill>
                  <a:schemeClr val="tx1">
                    <a:tint val="75000"/>
                  </a:schemeClr>
                </a:solidFill>
              </a:defRPr>
            </a:lvl3pPr>
            <a:lvl4pPr marL="349347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4pPr>
            <a:lvl5pPr marL="465795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5pPr>
            <a:lvl6pPr marL="582244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6pPr>
            <a:lvl7pPr marL="698693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7pPr>
            <a:lvl8pPr marL="815142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8pPr>
            <a:lvl9pPr marL="931591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035948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208423" y="484265"/>
            <a:ext cx="1913079" cy="106639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63681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68638" y="484265"/>
            <a:ext cx="452863" cy="4473659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423" y="484265"/>
            <a:ext cx="1432398" cy="4473659"/>
          </a:xfrm>
        </p:spPr>
        <p:txBody>
          <a:bodyPr vert="eaVert" anchor="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734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423" y="484265"/>
            <a:ext cx="1913079" cy="10663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423" y="1674480"/>
            <a:ext cx="1913078" cy="32834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68639" y="5019837"/>
            <a:ext cx="327901" cy="2966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4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423" y="5019837"/>
            <a:ext cx="1432398" cy="2966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04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016413" y="5019837"/>
            <a:ext cx="105309" cy="2966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4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6705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79" r:id="rId1"/>
    <p:sldLayoutId id="2147483980" r:id="rId2"/>
    <p:sldLayoutId id="2147483981" r:id="rId3"/>
    <p:sldLayoutId id="2147483982" r:id="rId4"/>
    <p:sldLayoutId id="2147483983" r:id="rId5"/>
    <p:sldLayoutId id="2147483984" r:id="rId6"/>
    <p:sldLayoutId id="2147483985" r:id="rId7"/>
    <p:sldLayoutId id="2147483986" r:id="rId8"/>
    <p:sldLayoutId id="2147483987" r:id="rId9"/>
    <p:sldLayoutId id="2147483988" r:id="rId10"/>
    <p:sldLayoutId id="2147483989" r:id="rId11"/>
    <p:sldLayoutId id="2147483990" r:id="rId12"/>
    <p:sldLayoutId id="2147483991" r:id="rId13"/>
    <p:sldLayoutId id="2147483992" r:id="rId14"/>
    <p:sldLayoutId id="2147483993" r:id="rId15"/>
    <p:sldLayoutId id="2147483994" r:id="rId16"/>
    <p:sldLayoutId id="2147483995" r:id="rId17"/>
  </p:sldLayoutIdLst>
  <p:hf sldNum="0" hdr="0" ftr="0" dt="0"/>
  <p:txStyles>
    <p:titleStyle>
      <a:lvl1pPr algn="l" defTabSz="116449" rtl="0" eaLnBrk="1" latinLnBrk="0" hangingPunct="1">
        <a:spcBef>
          <a:spcPct val="0"/>
        </a:spcBef>
        <a:buNone/>
        <a:defRPr sz="713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72781" indent="-72781" algn="l" defTabSz="116449" rtl="0" eaLnBrk="1" latinLnBrk="0" hangingPunct="1">
        <a:spcBef>
          <a:spcPct val="20000"/>
        </a:spcBef>
        <a:spcAft>
          <a:spcPts val="153"/>
        </a:spcAft>
        <a:buClr>
          <a:schemeClr val="tx1"/>
        </a:buClr>
        <a:buSzPct val="130000"/>
        <a:buFont typeface="Arial"/>
        <a:buChar char="•"/>
        <a:defRPr sz="458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189229" indent="-72781" algn="l" defTabSz="116449" rtl="0" eaLnBrk="1" latinLnBrk="0" hangingPunct="1">
        <a:spcBef>
          <a:spcPct val="20000"/>
        </a:spcBef>
        <a:spcAft>
          <a:spcPts val="153"/>
        </a:spcAft>
        <a:buClr>
          <a:schemeClr val="tx1"/>
        </a:buClr>
        <a:buSzPct val="130000"/>
        <a:buFont typeface="Arial"/>
        <a:buChar char="•"/>
        <a:defRPr sz="408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305678" indent="-72781" algn="l" defTabSz="116449" rtl="0" eaLnBrk="1" latinLnBrk="0" hangingPunct="1">
        <a:spcBef>
          <a:spcPct val="20000"/>
        </a:spcBef>
        <a:spcAft>
          <a:spcPts val="153"/>
        </a:spcAft>
        <a:buClr>
          <a:schemeClr val="tx1"/>
        </a:buClr>
        <a:buSzPct val="130000"/>
        <a:buFont typeface="Arial"/>
        <a:buChar char="•"/>
        <a:defRPr sz="357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393015" indent="-43668" algn="l" defTabSz="116449" rtl="0" eaLnBrk="1" latinLnBrk="0" hangingPunct="1">
        <a:spcBef>
          <a:spcPct val="20000"/>
        </a:spcBef>
        <a:spcAft>
          <a:spcPts val="153"/>
        </a:spcAft>
        <a:buClr>
          <a:schemeClr val="tx1"/>
        </a:buClr>
        <a:buSzPct val="130000"/>
        <a:buFont typeface="Arial"/>
        <a:buChar char="•"/>
        <a:defRPr sz="357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509464" indent="-43668" algn="l" defTabSz="116449" rtl="0" eaLnBrk="1" latinLnBrk="0" hangingPunct="1">
        <a:spcBef>
          <a:spcPct val="20000"/>
        </a:spcBef>
        <a:spcAft>
          <a:spcPts val="153"/>
        </a:spcAft>
        <a:buClr>
          <a:schemeClr val="tx1"/>
        </a:buClr>
        <a:buSzPct val="130000"/>
        <a:buFont typeface="Arial"/>
        <a:buChar char="•"/>
        <a:defRPr sz="306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640469" indent="-58224" algn="l" defTabSz="116449" rtl="0" eaLnBrk="1" latinLnBrk="0" hangingPunct="1">
        <a:spcBef>
          <a:spcPct val="20000"/>
        </a:spcBef>
        <a:spcAft>
          <a:spcPts val="153"/>
        </a:spcAft>
        <a:buClr>
          <a:schemeClr val="tx1"/>
        </a:buClr>
        <a:buSzPct val="130000"/>
        <a:buFont typeface="Arial"/>
        <a:buChar char="•"/>
        <a:defRPr sz="28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756917" indent="-58224" algn="l" defTabSz="116449" rtl="0" eaLnBrk="1" latinLnBrk="0" hangingPunct="1">
        <a:spcBef>
          <a:spcPct val="20000"/>
        </a:spcBef>
        <a:spcAft>
          <a:spcPts val="153"/>
        </a:spcAft>
        <a:buClr>
          <a:schemeClr val="tx1"/>
        </a:buClr>
        <a:buSzPct val="130000"/>
        <a:buFont typeface="Arial"/>
        <a:buChar char="•"/>
        <a:defRPr sz="28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873366" indent="-58224" algn="l" defTabSz="116449" rtl="0" eaLnBrk="1" latinLnBrk="0" hangingPunct="1">
        <a:spcBef>
          <a:spcPct val="20000"/>
        </a:spcBef>
        <a:spcAft>
          <a:spcPts val="153"/>
        </a:spcAft>
        <a:buClr>
          <a:schemeClr val="tx1"/>
        </a:buClr>
        <a:buSzPct val="130000"/>
        <a:buFont typeface="Arial"/>
        <a:buChar char="•"/>
        <a:defRPr sz="28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989815" indent="-58224" algn="l" defTabSz="116449" rtl="0" eaLnBrk="1" latinLnBrk="0" hangingPunct="1">
        <a:spcBef>
          <a:spcPct val="20000"/>
        </a:spcBef>
        <a:spcAft>
          <a:spcPts val="153"/>
        </a:spcAft>
        <a:buClr>
          <a:schemeClr val="tx1"/>
        </a:buClr>
        <a:buSzPct val="100000"/>
        <a:buFont typeface="Arial"/>
        <a:buChar char="•"/>
        <a:defRPr sz="28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6449" rtl="0" eaLnBrk="1" latinLnBrk="0" hangingPunct="1">
        <a:defRPr sz="458" kern="1200">
          <a:solidFill>
            <a:schemeClr val="tx1"/>
          </a:solidFill>
          <a:latin typeface="+mn-lt"/>
          <a:ea typeface="+mn-ea"/>
          <a:cs typeface="+mn-cs"/>
        </a:defRPr>
      </a:lvl1pPr>
      <a:lvl2pPr marL="116449" algn="l" defTabSz="116449" rtl="0" eaLnBrk="1" latinLnBrk="0" hangingPunct="1">
        <a:defRPr sz="458" kern="1200">
          <a:solidFill>
            <a:schemeClr val="tx1"/>
          </a:solidFill>
          <a:latin typeface="+mn-lt"/>
          <a:ea typeface="+mn-ea"/>
          <a:cs typeface="+mn-cs"/>
        </a:defRPr>
      </a:lvl2pPr>
      <a:lvl3pPr marL="232898" algn="l" defTabSz="116449" rtl="0" eaLnBrk="1" latinLnBrk="0" hangingPunct="1">
        <a:defRPr sz="458" kern="1200">
          <a:solidFill>
            <a:schemeClr val="tx1"/>
          </a:solidFill>
          <a:latin typeface="+mn-lt"/>
          <a:ea typeface="+mn-ea"/>
          <a:cs typeface="+mn-cs"/>
        </a:defRPr>
      </a:lvl3pPr>
      <a:lvl4pPr marL="349347" algn="l" defTabSz="116449" rtl="0" eaLnBrk="1" latinLnBrk="0" hangingPunct="1">
        <a:defRPr sz="458" kern="1200">
          <a:solidFill>
            <a:schemeClr val="tx1"/>
          </a:solidFill>
          <a:latin typeface="+mn-lt"/>
          <a:ea typeface="+mn-ea"/>
          <a:cs typeface="+mn-cs"/>
        </a:defRPr>
      </a:lvl4pPr>
      <a:lvl5pPr marL="465795" algn="l" defTabSz="116449" rtl="0" eaLnBrk="1" latinLnBrk="0" hangingPunct="1">
        <a:defRPr sz="458" kern="1200">
          <a:solidFill>
            <a:schemeClr val="tx1"/>
          </a:solidFill>
          <a:latin typeface="+mn-lt"/>
          <a:ea typeface="+mn-ea"/>
          <a:cs typeface="+mn-cs"/>
        </a:defRPr>
      </a:lvl5pPr>
      <a:lvl6pPr marL="582244" algn="l" defTabSz="116449" rtl="0" eaLnBrk="1" latinLnBrk="0" hangingPunct="1">
        <a:defRPr sz="458" kern="1200">
          <a:solidFill>
            <a:schemeClr val="tx1"/>
          </a:solidFill>
          <a:latin typeface="+mn-lt"/>
          <a:ea typeface="+mn-ea"/>
          <a:cs typeface="+mn-cs"/>
        </a:defRPr>
      </a:lvl6pPr>
      <a:lvl7pPr marL="698693" algn="l" defTabSz="116449" rtl="0" eaLnBrk="1" latinLnBrk="0" hangingPunct="1">
        <a:defRPr sz="458" kern="1200">
          <a:solidFill>
            <a:schemeClr val="tx1"/>
          </a:solidFill>
          <a:latin typeface="+mn-lt"/>
          <a:ea typeface="+mn-ea"/>
          <a:cs typeface="+mn-cs"/>
        </a:defRPr>
      </a:lvl7pPr>
      <a:lvl8pPr marL="815142" algn="l" defTabSz="116449" rtl="0" eaLnBrk="1" latinLnBrk="0" hangingPunct="1">
        <a:defRPr sz="458" kern="1200">
          <a:solidFill>
            <a:schemeClr val="tx1"/>
          </a:solidFill>
          <a:latin typeface="+mn-lt"/>
          <a:ea typeface="+mn-ea"/>
          <a:cs typeface="+mn-cs"/>
        </a:defRPr>
      </a:lvl8pPr>
      <a:lvl9pPr marL="931591" algn="l" defTabSz="116449" rtl="0" eaLnBrk="1" latinLnBrk="0" hangingPunct="1">
        <a:defRPr sz="4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" Target="slide140.xml"/><Relationship Id="rId13" Type="http://schemas.openxmlformats.org/officeDocument/2006/relationships/slide" Target="slide151.xml"/><Relationship Id="rId3" Type="http://schemas.openxmlformats.org/officeDocument/2006/relationships/slide" Target="slide2.xml"/><Relationship Id="rId7" Type="http://schemas.openxmlformats.org/officeDocument/2006/relationships/hyperlink" Target="https://flyingdeuk.github.io/posts/B737-kneeboard/" TargetMode="External"/><Relationship Id="rId12" Type="http://schemas.openxmlformats.org/officeDocument/2006/relationships/slide" Target="slide149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slide" Target="slide9.xml"/><Relationship Id="rId11" Type="http://schemas.openxmlformats.org/officeDocument/2006/relationships/slide" Target="slide146.xml"/><Relationship Id="rId5" Type="http://schemas.openxmlformats.org/officeDocument/2006/relationships/slide" Target="slide7.xml"/><Relationship Id="rId10" Type="http://schemas.openxmlformats.org/officeDocument/2006/relationships/slide" Target="slide144.xml"/><Relationship Id="rId4" Type="http://schemas.openxmlformats.org/officeDocument/2006/relationships/slide" Target="slide5.xml"/><Relationship Id="rId9" Type="http://schemas.openxmlformats.org/officeDocument/2006/relationships/slide" Target="slide141.xml"/><Relationship Id="rId14" Type="http://schemas.openxmlformats.org/officeDocument/2006/relationships/slide" Target="slide15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17.xml"/><Relationship Id="rId13" Type="http://schemas.openxmlformats.org/officeDocument/2006/relationships/slide" Target="slide22.xml"/><Relationship Id="rId18" Type="http://schemas.openxmlformats.org/officeDocument/2006/relationships/slide" Target="slide27.xml"/><Relationship Id="rId3" Type="http://schemas.openxmlformats.org/officeDocument/2006/relationships/slide" Target="slide12.xml"/><Relationship Id="rId7" Type="http://schemas.openxmlformats.org/officeDocument/2006/relationships/slide" Target="slide16.xml"/><Relationship Id="rId12" Type="http://schemas.openxmlformats.org/officeDocument/2006/relationships/slide" Target="slide21.xml"/><Relationship Id="rId17" Type="http://schemas.openxmlformats.org/officeDocument/2006/relationships/slide" Target="slide26.xml"/><Relationship Id="rId2" Type="http://schemas.openxmlformats.org/officeDocument/2006/relationships/notesSlide" Target="../notesSlides/notesSlide2.xml"/><Relationship Id="rId16" Type="http://schemas.openxmlformats.org/officeDocument/2006/relationships/slide" Target="slide25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5.xml"/><Relationship Id="rId11" Type="http://schemas.openxmlformats.org/officeDocument/2006/relationships/slide" Target="slide20.xml"/><Relationship Id="rId5" Type="http://schemas.openxmlformats.org/officeDocument/2006/relationships/slide" Target="slide14.xml"/><Relationship Id="rId15" Type="http://schemas.openxmlformats.org/officeDocument/2006/relationships/slide" Target="slide24.xml"/><Relationship Id="rId10" Type="http://schemas.openxmlformats.org/officeDocument/2006/relationships/slide" Target="slide19.xml"/><Relationship Id="rId4" Type="http://schemas.openxmlformats.org/officeDocument/2006/relationships/slide" Target="slide13.xml"/><Relationship Id="rId9" Type="http://schemas.openxmlformats.org/officeDocument/2006/relationships/slide" Target="slide18.xml"/><Relationship Id="rId14" Type="http://schemas.openxmlformats.org/officeDocument/2006/relationships/slide" Target="slide2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31.xml"/><Relationship Id="rId13" Type="http://schemas.openxmlformats.org/officeDocument/2006/relationships/slide" Target="slide36.xml"/><Relationship Id="rId18" Type="http://schemas.openxmlformats.org/officeDocument/2006/relationships/slide" Target="slide41.xml"/><Relationship Id="rId26" Type="http://schemas.openxmlformats.org/officeDocument/2006/relationships/slide" Target="slide49.xml"/><Relationship Id="rId3" Type="http://schemas.openxmlformats.org/officeDocument/2006/relationships/slide" Target="slide58.xml"/><Relationship Id="rId21" Type="http://schemas.openxmlformats.org/officeDocument/2006/relationships/slide" Target="slide44.xml"/><Relationship Id="rId7" Type="http://schemas.openxmlformats.org/officeDocument/2006/relationships/slide" Target="slide30.xml"/><Relationship Id="rId12" Type="http://schemas.openxmlformats.org/officeDocument/2006/relationships/slide" Target="slide35.xml"/><Relationship Id="rId17" Type="http://schemas.openxmlformats.org/officeDocument/2006/relationships/slide" Target="slide40.xml"/><Relationship Id="rId25" Type="http://schemas.openxmlformats.org/officeDocument/2006/relationships/slide" Target="slide48.xml"/><Relationship Id="rId2" Type="http://schemas.openxmlformats.org/officeDocument/2006/relationships/notesSlide" Target="../notesSlides/notesSlide5.xml"/><Relationship Id="rId16" Type="http://schemas.openxmlformats.org/officeDocument/2006/relationships/slide" Target="slide39.xml"/><Relationship Id="rId20" Type="http://schemas.openxmlformats.org/officeDocument/2006/relationships/slide" Target="slide43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9.xml"/><Relationship Id="rId11" Type="http://schemas.openxmlformats.org/officeDocument/2006/relationships/slide" Target="slide34.xml"/><Relationship Id="rId24" Type="http://schemas.openxmlformats.org/officeDocument/2006/relationships/slide" Target="slide47.xml"/><Relationship Id="rId5" Type="http://schemas.openxmlformats.org/officeDocument/2006/relationships/slide" Target="slide28.xml"/><Relationship Id="rId15" Type="http://schemas.openxmlformats.org/officeDocument/2006/relationships/slide" Target="slide38.xml"/><Relationship Id="rId23" Type="http://schemas.openxmlformats.org/officeDocument/2006/relationships/slide" Target="slide46.xml"/><Relationship Id="rId28" Type="http://schemas.openxmlformats.org/officeDocument/2006/relationships/slide" Target="slide51.xml"/><Relationship Id="rId10" Type="http://schemas.openxmlformats.org/officeDocument/2006/relationships/slide" Target="slide33.xml"/><Relationship Id="rId19" Type="http://schemas.openxmlformats.org/officeDocument/2006/relationships/slide" Target="slide42.xml"/><Relationship Id="rId4" Type="http://schemas.openxmlformats.org/officeDocument/2006/relationships/slide" Target="slide59.xml"/><Relationship Id="rId9" Type="http://schemas.openxmlformats.org/officeDocument/2006/relationships/slide" Target="slide32.xml"/><Relationship Id="rId14" Type="http://schemas.openxmlformats.org/officeDocument/2006/relationships/slide" Target="slide37.xml"/><Relationship Id="rId22" Type="http://schemas.openxmlformats.org/officeDocument/2006/relationships/slide" Target="slide45.xml"/><Relationship Id="rId27" Type="http://schemas.openxmlformats.org/officeDocument/2006/relationships/slide" Target="slide5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slide" Target="slide69.xml"/><Relationship Id="rId18" Type="http://schemas.openxmlformats.org/officeDocument/2006/relationships/slide" Target="slide77.xml"/><Relationship Id="rId26" Type="http://schemas.openxmlformats.org/officeDocument/2006/relationships/slide" Target="slide91.xml"/><Relationship Id="rId39" Type="http://schemas.openxmlformats.org/officeDocument/2006/relationships/slide" Target="slide109.xml"/><Relationship Id="rId21" Type="http://schemas.openxmlformats.org/officeDocument/2006/relationships/slide" Target="slide81.xml"/><Relationship Id="rId34" Type="http://schemas.openxmlformats.org/officeDocument/2006/relationships/slide" Target="slide102.xml"/><Relationship Id="rId42" Type="http://schemas.openxmlformats.org/officeDocument/2006/relationships/slide" Target="slide114.xml"/><Relationship Id="rId7" Type="http://schemas.openxmlformats.org/officeDocument/2006/relationships/slide" Target="slide60.xml"/><Relationship Id="rId2" Type="http://schemas.openxmlformats.org/officeDocument/2006/relationships/notesSlide" Target="../notesSlides/notesSlide7.xml"/><Relationship Id="rId16" Type="http://schemas.openxmlformats.org/officeDocument/2006/relationships/slide" Target="slide74.xml"/><Relationship Id="rId29" Type="http://schemas.openxmlformats.org/officeDocument/2006/relationships/slide" Target="slide95.xml"/><Relationship Id="rId1" Type="http://schemas.openxmlformats.org/officeDocument/2006/relationships/slideLayout" Target="../slideLayouts/slideLayout1.xml"/><Relationship Id="rId6" Type="http://schemas.openxmlformats.org/officeDocument/2006/relationships/slide" Target="slide57.xml"/><Relationship Id="rId11" Type="http://schemas.openxmlformats.org/officeDocument/2006/relationships/slide" Target="slide66.xml"/><Relationship Id="rId24" Type="http://schemas.openxmlformats.org/officeDocument/2006/relationships/slide" Target="slide87.xml"/><Relationship Id="rId32" Type="http://schemas.openxmlformats.org/officeDocument/2006/relationships/slide" Target="slide99.xml"/><Relationship Id="rId37" Type="http://schemas.openxmlformats.org/officeDocument/2006/relationships/slide" Target="slide106.xml"/><Relationship Id="rId40" Type="http://schemas.openxmlformats.org/officeDocument/2006/relationships/slide" Target="slide111.xml"/><Relationship Id="rId45" Type="http://schemas.openxmlformats.org/officeDocument/2006/relationships/slide" Target="slide118.xml"/><Relationship Id="rId5" Type="http://schemas.openxmlformats.org/officeDocument/2006/relationships/slide" Target="slide55.xml"/><Relationship Id="rId15" Type="http://schemas.openxmlformats.org/officeDocument/2006/relationships/slide" Target="slide72.xml"/><Relationship Id="rId23" Type="http://schemas.openxmlformats.org/officeDocument/2006/relationships/slide" Target="slide85.xml"/><Relationship Id="rId28" Type="http://schemas.openxmlformats.org/officeDocument/2006/relationships/slide" Target="slide94.xml"/><Relationship Id="rId36" Type="http://schemas.openxmlformats.org/officeDocument/2006/relationships/slide" Target="slide105.xml"/><Relationship Id="rId10" Type="http://schemas.openxmlformats.org/officeDocument/2006/relationships/slide" Target="slide65.xml"/><Relationship Id="rId19" Type="http://schemas.openxmlformats.org/officeDocument/2006/relationships/slide" Target="slide78.xml"/><Relationship Id="rId31" Type="http://schemas.openxmlformats.org/officeDocument/2006/relationships/slide" Target="slide98.xml"/><Relationship Id="rId44" Type="http://schemas.openxmlformats.org/officeDocument/2006/relationships/slide" Target="slide117.xml"/><Relationship Id="rId4" Type="http://schemas.openxmlformats.org/officeDocument/2006/relationships/slide" Target="slide54.xml"/><Relationship Id="rId9" Type="http://schemas.openxmlformats.org/officeDocument/2006/relationships/slide" Target="slide63.xml"/><Relationship Id="rId14" Type="http://schemas.openxmlformats.org/officeDocument/2006/relationships/slide" Target="slide71.xml"/><Relationship Id="rId22" Type="http://schemas.openxmlformats.org/officeDocument/2006/relationships/slide" Target="slide84.xml"/><Relationship Id="rId27" Type="http://schemas.openxmlformats.org/officeDocument/2006/relationships/slide" Target="slide92.xml"/><Relationship Id="rId30" Type="http://schemas.openxmlformats.org/officeDocument/2006/relationships/slide" Target="slide97.xml"/><Relationship Id="rId35" Type="http://schemas.openxmlformats.org/officeDocument/2006/relationships/slide" Target="slide103.xml"/><Relationship Id="rId43" Type="http://schemas.openxmlformats.org/officeDocument/2006/relationships/slide" Target="slide115.xml"/><Relationship Id="rId8" Type="http://schemas.openxmlformats.org/officeDocument/2006/relationships/slide" Target="slide62.xml"/><Relationship Id="rId3" Type="http://schemas.openxmlformats.org/officeDocument/2006/relationships/slide" Target="slide52.xml"/><Relationship Id="rId12" Type="http://schemas.openxmlformats.org/officeDocument/2006/relationships/slide" Target="slide68.xml"/><Relationship Id="rId17" Type="http://schemas.openxmlformats.org/officeDocument/2006/relationships/slide" Target="slide75.xml"/><Relationship Id="rId25" Type="http://schemas.openxmlformats.org/officeDocument/2006/relationships/slide" Target="slide88.xml"/><Relationship Id="rId33" Type="http://schemas.openxmlformats.org/officeDocument/2006/relationships/slide" Target="slide100.xml"/><Relationship Id="rId38" Type="http://schemas.openxmlformats.org/officeDocument/2006/relationships/slide" Target="slide108.xml"/><Relationship Id="rId46" Type="http://schemas.openxmlformats.org/officeDocument/2006/relationships/slide" Target="slide120.xml"/><Relationship Id="rId20" Type="http://schemas.openxmlformats.org/officeDocument/2006/relationships/slide" Target="slide80.xml"/><Relationship Id="rId41" Type="http://schemas.openxmlformats.org/officeDocument/2006/relationships/slide" Target="slide1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126.xml"/><Relationship Id="rId13" Type="http://schemas.openxmlformats.org/officeDocument/2006/relationships/slide" Target="slide131.xml"/><Relationship Id="rId18" Type="http://schemas.openxmlformats.org/officeDocument/2006/relationships/slide" Target="slide135.xml"/><Relationship Id="rId3" Type="http://schemas.openxmlformats.org/officeDocument/2006/relationships/slide" Target="slide121.xml"/><Relationship Id="rId7" Type="http://schemas.openxmlformats.org/officeDocument/2006/relationships/slide" Target="slide125.xml"/><Relationship Id="rId12" Type="http://schemas.openxmlformats.org/officeDocument/2006/relationships/slide" Target="slide130.xml"/><Relationship Id="rId17" Type="http://schemas.openxmlformats.org/officeDocument/2006/relationships/slide" Target="slide133.xml"/><Relationship Id="rId2" Type="http://schemas.openxmlformats.org/officeDocument/2006/relationships/notesSlide" Target="../notesSlides/notesSlide9.xml"/><Relationship Id="rId16" Type="http://schemas.openxmlformats.org/officeDocument/2006/relationships/slide" Target="slide137.xml"/><Relationship Id="rId20" Type="http://schemas.openxmlformats.org/officeDocument/2006/relationships/slide" Target="slide139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24.xml"/><Relationship Id="rId11" Type="http://schemas.openxmlformats.org/officeDocument/2006/relationships/slide" Target="slide129.xml"/><Relationship Id="rId5" Type="http://schemas.openxmlformats.org/officeDocument/2006/relationships/slide" Target="slide123.xml"/><Relationship Id="rId15" Type="http://schemas.openxmlformats.org/officeDocument/2006/relationships/slide" Target="slide136.xml"/><Relationship Id="rId10" Type="http://schemas.openxmlformats.org/officeDocument/2006/relationships/slide" Target="slide128.xml"/><Relationship Id="rId19" Type="http://schemas.openxmlformats.org/officeDocument/2006/relationships/slide" Target="slide138.xml"/><Relationship Id="rId4" Type="http://schemas.openxmlformats.org/officeDocument/2006/relationships/slide" Target="slide122.xml"/><Relationship Id="rId9" Type="http://schemas.openxmlformats.org/officeDocument/2006/relationships/slide" Target="slide127.xml"/><Relationship Id="rId14" Type="http://schemas.openxmlformats.org/officeDocument/2006/relationships/slide" Target="slide13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SS-GMP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jpg"/><Relationship Id="rId5" Type="http://schemas.openxmlformats.org/officeDocument/2006/relationships/image" Target="../media/image2.png"/><Relationship Id="rId4" Type="http://schemas.openxmlformats.org/officeDocument/2006/relationships/hyperlink" Target="https://flyingdeuk.github.io/posts/RKPC-CJU/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jpg"/><Relationship Id="rId4" Type="http://schemas.openxmlformats.org/officeDocument/2006/relationships/hyperlink" Target="https://flyingdeuk.github.io/posts/RKSS-GMP/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slide" Target="slide2.xml"/><Relationship Id="rId3" Type="http://schemas.openxmlformats.org/officeDocument/2006/relationships/image" Target="../media/image3.jp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lyingdeuk.github.io/posts/RKPK-PUS/" TargetMode="External"/><Relationship Id="rId5" Type="http://schemas.openxmlformats.org/officeDocument/2006/relationships/hyperlink" Target="https://flyingdeuk.github.io/posts/RKSS-GMP/" TargetMode="External"/><Relationship Id="rId4" Type="http://schemas.openxmlformats.org/officeDocument/2006/relationships/slide" Target="slide155.xml"/><Relationship Id="rId9" Type="http://schemas.openxmlformats.org/officeDocument/2006/relationships/slide" Target="slide3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SS-GMP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7.jpg"/><Relationship Id="rId4" Type="http://schemas.openxmlformats.org/officeDocument/2006/relationships/hyperlink" Target="https://flyingdeuk.github.io/posts/RKJJ-KWJ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JJ-KW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8.jpg"/><Relationship Id="rId4" Type="http://schemas.openxmlformats.org/officeDocument/2006/relationships/hyperlink" Target="https://flyingdeuk.github.io/posts/RKPC-CJU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7.jpg"/><Relationship Id="rId4" Type="http://schemas.openxmlformats.org/officeDocument/2006/relationships/hyperlink" Target="https://flyingdeuk.github.io/posts/RKTU-CJJ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U-CJ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9.jpg"/><Relationship Id="rId4" Type="http://schemas.openxmlformats.org/officeDocument/2006/relationships/hyperlink" Target="https://flyingdeuk.github.io/posts/RKPC-CJU/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7.jpg"/><Relationship Id="rId4" Type="http://schemas.openxmlformats.org/officeDocument/2006/relationships/hyperlink" Target="https://flyingdeuk.github.io/posts/RKTN-TAE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N-TAE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KPC-CJU/" TargetMode="Externa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5.xml"/><Relationship Id="rId5" Type="http://schemas.openxmlformats.org/officeDocument/2006/relationships/image" Target="../media/image7.jpg"/><Relationship Id="rId4" Type="http://schemas.openxmlformats.org/officeDocument/2006/relationships/hyperlink" Target="https://flyingdeuk.github.io/posts/RKPK-PUS/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11.jpg"/><Relationship Id="rId4" Type="http://schemas.openxmlformats.org/officeDocument/2006/relationships/hyperlink" Target="https://flyingdeuk.github.io/posts/RKPC-CJU/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155.xml"/><Relationship Id="rId7" Type="http://schemas.openxmlformats.org/officeDocument/2006/relationships/slide" Target="slide3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hyperlink" Target="https://flyingdeuk.github.io/posts/RKPK-PUS/" TargetMode="External"/><Relationship Id="rId4" Type="http://schemas.openxmlformats.org/officeDocument/2006/relationships/hyperlink" Target="https://flyingdeuk.github.io/posts/RKSI-ICN/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SI-ICN/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TN-TAE/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N-TAE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g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SI-ICN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1.jpg"/><Relationship Id="rId4" Type="http://schemas.openxmlformats.org/officeDocument/2006/relationships/hyperlink" Target="https://flyingdeuk.github.io/posts/RJAA-NRT/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5.xml"/><Relationship Id="rId4" Type="http://schemas.openxmlformats.org/officeDocument/2006/relationships/hyperlink" Target="https://flyingdeuk.github.io/posts/RKPK-PUS/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1.jpg"/><Relationship Id="rId4" Type="http://schemas.openxmlformats.org/officeDocument/2006/relationships/hyperlink" Target="https://flyingdeuk.github.io/posts/RJGG-NGO/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GG-NGO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5.xml"/><Relationship Id="rId4" Type="http://schemas.openxmlformats.org/officeDocument/2006/relationships/hyperlink" Target="https://flyingdeuk.github.io/posts/RKPK-PUS/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1.jpg"/><Relationship Id="rId4" Type="http://schemas.openxmlformats.org/officeDocument/2006/relationships/hyperlink" Target="https://flyingdeuk.github.io/posts/RJFF-FUK/" TargetMode="Externa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hyperlink" Target="https://flyingdeuk.github.io/posts/RJFF-FU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5.xml"/><Relationship Id="rId4" Type="http://schemas.openxmlformats.org/officeDocument/2006/relationships/hyperlink" Target="https://flyingdeuk.github.io/posts/RKPK-PUS/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BB-KIX/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BB-KIX/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AA-NRT/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CC-CTS/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CC-CTS/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TT-HND/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TT-HND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3.png"/><Relationship Id="rId4" Type="http://schemas.openxmlformats.org/officeDocument/2006/relationships/hyperlink" Target="https://flyingdeuk.github.io/posts/RKSI-ICN/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GG-NGO/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GG-NGO/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FF-FUK/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FF-FUK/" TargetMode="External"/><Relationship Id="rId7" Type="http://schemas.openxmlformats.org/officeDocument/2006/relationships/image" Target="../media/image12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SA-AOJ/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SA-AOJ/" TargetMode="External"/><Relationship Id="rId7" Type="http://schemas.openxmlformats.org/officeDocument/2006/relationships/image" Target="../media/image14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SN-KIJ/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SN-KIJ/" TargetMode="External"/><Relationship Id="rId7" Type="http://schemas.openxmlformats.org/officeDocument/2006/relationships/image" Target="../media/image15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image" Target="../media/image7.jp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AA-NRT/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PC-CJU/" TargetMode="Externa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image" Target="../media/image3.jpg"/><Relationship Id="rId7" Type="http://schemas.openxmlformats.org/officeDocument/2006/relationships/slide" Target="slide7.xm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hyperlink" Target="https://flyingdeuk.github.io/posts/ZSSS-SHA/" TargetMode="External"/><Relationship Id="rId4" Type="http://schemas.openxmlformats.org/officeDocument/2006/relationships/hyperlink" Target="https://flyingdeuk.github.io/posts/RKSS-GMP/" TargetMode="Externa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SS-SHA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5.png"/><Relationship Id="rId4" Type="http://schemas.openxmlformats.org/officeDocument/2006/relationships/hyperlink" Target="https://flyingdeuk.github.io/posts/RKSS-GMP/" TargetMode="Externa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image" Target="../media/image3.jpg"/><Relationship Id="rId7" Type="http://schemas.openxmlformats.org/officeDocument/2006/relationships/slide" Target="slide7.xm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hyperlink" Target="https://flyingdeuk.github.io/posts/ZBAA-PEK/" TargetMode="External"/><Relationship Id="rId4" Type="http://schemas.openxmlformats.org/officeDocument/2006/relationships/hyperlink" Target="https://flyingdeuk.github.io/posts/RKSS-GMP/" TargetMode="Externa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eg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S-GMP/" TargetMode="Externa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slide" Target="slide6.xml"/><Relationship Id="rId3" Type="http://schemas.openxmlformats.org/officeDocument/2006/relationships/hyperlink" Target="https://flyingdeuk.github.io/posts/RKSS-GMP/" TargetMode="External"/><Relationship Id="rId7" Type="http://schemas.openxmlformats.org/officeDocument/2006/relationships/slide" Target="slide5.xm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jpg"/><Relationship Id="rId5" Type="http://schemas.openxmlformats.org/officeDocument/2006/relationships/image" Target="../media/image2.png"/><Relationship Id="rId4" Type="http://schemas.openxmlformats.org/officeDocument/2006/relationships/hyperlink" Target="https://flyingdeuk.github.io/posts/RJBB-KIX/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BB-KIX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5.png"/><Relationship Id="rId4" Type="http://schemas.openxmlformats.org/officeDocument/2006/relationships/hyperlink" Target="https://flyingdeuk.github.io/posts/RKSS-GMP/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8.xml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7.jpg"/><Relationship Id="rId4" Type="http://schemas.openxmlformats.org/officeDocument/2006/relationships/hyperlink" Target="https://flyingdeuk.github.io/posts/ZBAA-PEK/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7.jpeg"/><Relationship Id="rId4" Type="http://schemas.openxmlformats.org/officeDocument/2006/relationships/hyperlink" Target="https://flyingdeuk.github.io/posts/RKSI-ICN/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1.jp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PD-PVG/" TargetMode="Externa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PD-PVG/" TargetMode="External"/><Relationship Id="rId7" Type="http://schemas.openxmlformats.org/officeDocument/2006/relationships/slide" Target="slide155.xml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PK-PUS/" TargetMode="Externa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NJ-NKG/" TargetMode="Externa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NJ-NKG/" TargetMode="External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QD-TAO/" TargetMode="Externa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QD-TAO/" TargetMode="Externa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BAA-PEK/" TargetMode="Externa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7.jpeg"/><Relationship Id="rId4" Type="http://schemas.openxmlformats.org/officeDocument/2006/relationships/hyperlink" Target="https://flyingdeuk.github.io/posts/RKSI-ICN/" TargetMode="Externa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TX-SHE/" TargetMode="Externa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TX-SHE/" TargetMode="External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PD-PVG/" TargetMode="Externa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PD-PVG/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YJ-YNJ/" TargetMode="Externa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YJ-YN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8.jpeg"/><Relationship Id="rId4" Type="http://schemas.openxmlformats.org/officeDocument/2006/relationships/hyperlink" Target="https://flyingdeuk.github.io/posts/RKSI-ICN/" TargetMode="Externa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HC-HGH/" TargetMode="Externa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slide" Target="slide3.xml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ZSHC-HGH/" TargetMode="Externa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WH-WEH/" TargetMode="Externa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WH-WEH/" TargetMode="External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LXY-XIY/" TargetMode="Externa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7" Type="http://schemas.openxmlformats.org/officeDocument/2006/relationships/slide" Target="slide3.xml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ZLXY-XIY/" TargetMode="Externa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GHA-CSX/" TargetMode="Externa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GHA-CSX/" TargetMode="External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VHHH-HKG/" TargetMode="Externa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slide" Target="slide3.xml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VHHH-HKG/" TargetMode="Externa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BTJ-TSN/" TargetMode="Externa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TJ-TSN/" TargetMode="External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HCC-CGO/" TargetMode="Externa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HCC-CGO/" TargetMode="External"/><Relationship Id="rId7" Type="http://schemas.openxmlformats.org/officeDocument/2006/relationships/image" Target="../media/image23.jpe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GDY-DYG/" TargetMode="Externa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GDY-DYG/" TargetMode="External"/><Relationship Id="rId7" Type="http://schemas.openxmlformats.org/officeDocument/2006/relationships/image" Target="../media/image24.jpe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TL-DLC/" TargetMode="Externa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TL-DLC/" TargetMode="External"/><Relationship Id="rId7" Type="http://schemas.openxmlformats.org/officeDocument/2006/relationships/image" Target="../media/image25.jpe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OF-HFE/" TargetMode="Externa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OF-HFE/" TargetMode="External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5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slide" Target="slide142.xml"/><Relationship Id="rId7" Type="http://schemas.openxmlformats.org/officeDocument/2006/relationships/slide" Target="slide7.xml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lyingdeuk.github.io/posts/ZPPP-KMG/" TargetMode="Externa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slide" Target="slide143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PPP-KMG/" TargetMode="External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VMMC-MFM/" TargetMode="Externa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MMC-MFM/" TargetMode="External"/><Relationship Id="rId7" Type="http://schemas.openxmlformats.org/officeDocument/2006/relationships/image" Target="../media/image26.jpe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VCR-CXR/" TargetMode="Externa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VCR-CXR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image" Target="../media/image27.jpeg"/><Relationship Id="rId4" Type="http://schemas.openxmlformats.org/officeDocument/2006/relationships/hyperlink" Target="https://flyingdeuk.github.io/posts/RKSI-ICN/" TargetMode="Externa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VTS-SGN/" TargetMode="Externa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VTS-SGN/" TargetMode="External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DPP-PNH/" TargetMode="Externa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DPP-PNH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jpeg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PLL-MNL/" TargetMode="Externa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PLL-MNL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jpeg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MQ-RMQ/" TargetMode="Externa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MQ-RMQ/" TargetMode="External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7" Type="http://schemas.openxmlformats.org/officeDocument/2006/relationships/image" Target="../media/image31.jpg"/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TP-TPE/" TargetMode="Externa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TP-TPE/" TargetMode="External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PGUM-GUM/" TargetMode="Externa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PGUM-GUM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image" Target="../media/image32.jpeg"/><Relationship Id="rId4" Type="http://schemas.openxmlformats.org/officeDocument/2006/relationships/hyperlink" Target="https://flyingdeuk.github.io/posts/RKSI-ICN/" TargetMode="External"/></Relationships>
</file>

<file path=ppt/slides/_rels/slide1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jpg"/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1.jpg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TP-TPE/" TargetMode="Externa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TP-TPE/" TargetMode="External"/><Relationship Id="rId7" Type="http://schemas.openxmlformats.org/officeDocument/2006/relationships/slide" Target="slide155.xml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PK-PUS/" TargetMode="Externa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1.jpg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TBS-BKK/" TargetMode="Externa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TBS-BKK/" TargetMode="External"/><Relationship Id="rId7" Type="http://schemas.openxmlformats.org/officeDocument/2006/relationships/slide" Target="slide155.xml"/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PK-PUS/" TargetMode="Externa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slide" Target="slide5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slide" Target="slide149.xml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149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image" Target="../media/image35.jpeg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image" Target="../media/image35.jpeg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692784493"/>
              </p:ext>
            </p:extLst>
          </p:nvPr>
        </p:nvGraphicFramePr>
        <p:xfrm>
          <a:off x="98101" y="1122494"/>
          <a:ext cx="2132650" cy="197373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13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cs typeface="Calibri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Domestic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Japan</a:t>
                      </a:r>
                      <a:endParaRPr sz="2400" b="1" u="none" strike="noStrike" cap="none" dirty="0">
                        <a:solidFill>
                          <a:srgbClr val="0070C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China</a:t>
                      </a:r>
                      <a:endParaRPr lang="en-US" altLang="ko-Kore-KR" sz="2400" b="1" u="none" strike="noStrike" cap="none" dirty="0">
                        <a:solidFill>
                          <a:srgbClr val="00B05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AA47F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S.E Asia(GUM)</a:t>
                      </a:r>
                      <a:endParaRPr lang="en-US" altLang="ko-Kore-KR" sz="2400" b="1" u="none" strike="noStrike" cap="none" dirty="0">
                        <a:solidFill>
                          <a:srgbClr val="AA47F5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9" name="Google Shape;89;p1">
            <a:hlinkClick r:id="rId7"/>
          </p:cNvPr>
          <p:cNvSpPr/>
          <p:nvPr/>
        </p:nvSpPr>
        <p:spPr>
          <a:xfrm>
            <a:off x="11947" y="-38794"/>
            <a:ext cx="2332054" cy="8617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45700" rIns="36000" bIns="45700" anchor="ctr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  <a:reflection blurRad="6350" stA="55000" endA="300" endPos="45500" dir="5400000" sy="-100000" algn="bl" rotWithShape="0"/>
                </a:effectLst>
                <a:latin typeface="+mj-lt"/>
                <a:ea typeface="BM DoHyeon OTF" panose="020B0600000101010101" pitchFamily="34" charset="-127"/>
                <a:cs typeface="Calibri"/>
                <a:sym typeface="Calibri"/>
                <a:hlinkClick r:id="rId7"/>
              </a:rPr>
              <a:t>A330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  <a:reflection blurRad="6350" stA="55000" endA="300" endPos="45500" dir="5400000" sy="-100000" algn="bl" rotWithShape="0"/>
                </a:effectLst>
                <a:latin typeface="+mj-lt"/>
                <a:ea typeface="BM DoHyeon OTF" panose="020B0600000101010101" pitchFamily="34" charset="-127"/>
                <a:cs typeface="Calibri"/>
                <a:sym typeface="Calibri"/>
                <a:hlinkClick r:id="rId7"/>
              </a:rPr>
              <a:t>KneeBoard</a:t>
            </a:r>
            <a:endParaRPr sz="3200" b="1" i="0" u="none" strike="noStrike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50800" dist="38100" algn="l" rotWithShape="0">
                  <a:prstClr val="black">
                    <a:alpha val="40000"/>
                  </a:prstClr>
                </a:outerShdw>
                <a:reflection blurRad="6350" stA="55000" endA="300" endPos="45500" dir="5400000" sy="-100000" algn="bl" rotWithShape="0"/>
              </a:effectLst>
              <a:latin typeface="+mj-lt"/>
              <a:ea typeface="BM DoHyeon OTF" panose="020B0600000101010101" pitchFamily="34" charset="-127"/>
              <a:cs typeface="Calibri"/>
              <a:sym typeface="Calibri"/>
            </a:endParaRPr>
          </a:p>
        </p:txBody>
      </p:sp>
      <p:graphicFrame>
        <p:nvGraphicFramePr>
          <p:cNvPr id="90" name="Google Shape;90;p1"/>
          <p:cNvGraphicFramePr/>
          <p:nvPr>
            <p:extLst>
              <p:ext uri="{D42A27DB-BD31-4B8C-83A1-F6EECF244321}">
                <p14:modId xmlns:p14="http://schemas.microsoft.com/office/powerpoint/2010/main" val="2839919986"/>
              </p:ext>
            </p:extLst>
          </p:nvPr>
        </p:nvGraphicFramePr>
        <p:xfrm>
          <a:off x="185895" y="3190448"/>
          <a:ext cx="1969476" cy="230760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9847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6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Supplement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FUEL Consumption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6151611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3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NO ENG Bleed / FLAP 15 L/D</a:t>
                      </a:r>
                      <a:endParaRPr lang="en-US" altLang="ko-Kore-KR" sz="13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0370452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GND Air / Cross Bleed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395324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Cold Temp Correction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Cold </a:t>
                      </a:r>
                      <a:r>
                        <a:rPr lang="en-US" sz="1400" b="1" u="none" strike="noStrike" cap="none" dirty="0" err="1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Wx</a:t>
                      </a:r>
                      <a:r>
                        <a:rPr lang="en-US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Operation</a:t>
                      </a:r>
                      <a:endParaRPr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6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ENG ON </a:t>
                      </a:r>
                      <a:r>
                        <a:rPr lang="en-US" sz="9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Deicing</a:t>
                      </a:r>
                      <a:endParaRPr sz="12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ENG OFF</a:t>
                      </a:r>
                      <a:r>
                        <a:rPr lang="en-US" sz="9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Deicing</a:t>
                      </a:r>
                      <a:endParaRPr sz="12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1" name="Google Shape;91;p1"/>
          <p:cNvSpPr txBox="1"/>
          <p:nvPr/>
        </p:nvSpPr>
        <p:spPr>
          <a:xfrm>
            <a:off x="1384420" y="818320"/>
            <a:ext cx="920606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 </a:t>
            </a:r>
            <a:r>
              <a:rPr lang="en-US" sz="1000" b="1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Flyingdeuk</a:t>
            </a:r>
            <a:endParaRPr sz="10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1298961" y="58256"/>
            <a:ext cx="1025795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VER. 24.12.18</a:t>
            </a:r>
            <a:endParaRPr sz="1000" b="1" dirty="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57724C-88B0-A932-6665-9CCC34DC2660}"/>
              </a:ext>
            </a:extLst>
          </p:cNvPr>
          <p:cNvSpPr txBox="1"/>
          <p:nvPr/>
        </p:nvSpPr>
        <p:spPr>
          <a:xfrm>
            <a:off x="84097" y="808050"/>
            <a:ext cx="13935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ore-KR" sz="1000" u="none" strike="noStrike" cap="none" dirty="0">
                <a:latin typeface="Calibri"/>
                <a:ea typeface="Calibri"/>
                <a:cs typeface="Calibri"/>
                <a:sym typeface="Calibri"/>
              </a:rPr>
              <a:t>☝️ </a:t>
            </a:r>
            <a:r>
              <a:rPr kumimoji="1" lang="en-US" altLang="ko-Kore-KR" sz="900" b="1" u="sng" dirty="0">
                <a:solidFill>
                  <a:schemeClr val="accent1"/>
                </a:solidFill>
              </a:rPr>
              <a:t>Click for Update</a:t>
            </a:r>
            <a:endParaRPr kumimoji="1" lang="ko-Kore-KR" altLang="en-US" sz="900" b="1" u="sng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39529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49993318"/>
              </p:ext>
            </p:extLst>
          </p:nvPr>
        </p:nvGraphicFramePr>
        <p:xfrm>
          <a:off x="98101" y="132865"/>
          <a:ext cx="2132650" cy="3519322"/>
        </p:xfrm>
        <a:graphic>
          <a:graphicData uri="http://schemas.openxmlformats.org/drawingml/2006/table">
            <a:tbl>
              <a:tblPr firstRow="1" bandRow="1"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972615961"/>
                    </a:ext>
                  </a:extLst>
                </a:gridCol>
              </a:tblGrid>
              <a:tr h="460602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b="1" u="none" strike="noStrike" cap="none" dirty="0">
                          <a:solidFill>
                            <a:schemeClr val="bg1"/>
                          </a:solidFill>
                          <a:sym typeface="Calibri"/>
                        </a:rPr>
                        <a:t>Domestic</a:t>
                      </a:r>
                      <a:endParaRPr sz="28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j-ea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KWJ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CJJ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TAE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TAE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83344358"/>
                  </a:ext>
                </a:extLst>
              </a:tr>
            </a:tbl>
          </a:graphicData>
        </a:graphic>
      </p:graphicFrame>
      <p:graphicFrame>
        <p:nvGraphicFramePr>
          <p:cNvPr id="90" name="Google Shape;90;p1"/>
          <p:cNvGraphicFramePr/>
          <p:nvPr>
            <p:extLst>
              <p:ext uri="{D42A27DB-BD31-4B8C-83A1-F6EECF244321}">
                <p14:modId xmlns:p14="http://schemas.microsoft.com/office/powerpoint/2010/main" val="3099304272"/>
              </p:ext>
            </p:extLst>
          </p:nvPr>
        </p:nvGraphicFramePr>
        <p:xfrm>
          <a:off x="185895" y="4446365"/>
          <a:ext cx="1969476" cy="5563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969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Next Page</a:t>
                      </a: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66FA5EE-DE6A-B27F-96EF-30D8A6622BEF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26172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1830274576"/>
              </p:ext>
            </p:extLst>
          </p:nvPr>
        </p:nvGraphicFramePr>
        <p:xfrm>
          <a:off x="0" y="-1"/>
          <a:ext cx="2328875" cy="376285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034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1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284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284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9330995"/>
              </p:ext>
            </p:extLst>
          </p:nvPr>
        </p:nvGraphicFramePr>
        <p:xfrm>
          <a:off x="109959" y="3762857"/>
          <a:ext cx="2112380" cy="150998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74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9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4386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/>
                        <a:t>Domestic</a:t>
                      </a:r>
                      <a:endParaRPr sz="1400" b="0" dirty="0"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412390786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/>
                        <a:t>GMP</a:t>
                      </a:r>
                      <a:endParaRPr sz="900" b="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/>
                        <a:t>서울</a:t>
                      </a:r>
                      <a:r>
                        <a:rPr lang="en-US" sz="900" b="0" dirty="0"/>
                        <a:t>/</a:t>
                      </a:r>
                      <a:r>
                        <a:rPr lang="en-US" sz="900" b="0" dirty="0" err="1"/>
                        <a:t>김포국제</a:t>
                      </a:r>
                      <a:endParaRPr sz="16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ICN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서울</a:t>
                      </a:r>
                      <a:r>
                        <a:rPr lang="en-US" sz="900" dirty="0"/>
                        <a:t>/</a:t>
                      </a:r>
                      <a:r>
                        <a:rPr lang="en-US" sz="900" dirty="0" err="1"/>
                        <a:t>인천국제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CJU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제주국제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PUS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부산</a:t>
                      </a:r>
                      <a:r>
                        <a:rPr lang="en-US" sz="900" dirty="0"/>
                        <a:t>/</a:t>
                      </a:r>
                      <a:r>
                        <a:rPr lang="en-US" sz="900" dirty="0" err="1"/>
                        <a:t>김해국제</a:t>
                      </a:r>
                      <a:endParaRPr sz="9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CJJ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청주국제</a:t>
                      </a:r>
                      <a:endParaRPr sz="9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KWJ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광주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TAE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대구국제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702671" y="5277971"/>
            <a:ext cx="1085619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375B34-8C64-6DD0-9FBE-ACB2C6F75CC8}"/>
              </a:ext>
            </a:extLst>
          </p:cNvPr>
          <p:cNvSpPr txBox="1"/>
          <p:nvPr/>
        </p:nvSpPr>
        <p:spPr>
          <a:xfrm>
            <a:off x="1708763" y="5229777"/>
            <a:ext cx="7228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 dirty="0">
                <a:solidFill>
                  <a:srgbClr val="FF0000"/>
                </a:solidFill>
              </a:rPr>
              <a:t>도착</a:t>
            </a:r>
            <a:r>
              <a:rPr kumimoji="1" lang="ko-KR" altLang="en-US" sz="800" b="1" dirty="0">
                <a:solidFill>
                  <a:srgbClr val="FF0000"/>
                </a:solidFill>
              </a:rPr>
              <a:t> 방송 </a:t>
            </a:r>
            <a:r>
              <a:rPr kumimoji="1" lang="en-US" altLang="ko-KR" sz="800" b="1" dirty="0">
                <a:solidFill>
                  <a:srgbClr val="FF0000"/>
                </a:solidFill>
              </a:rPr>
              <a:t>Next Page</a:t>
            </a:r>
            <a:endParaRPr kumimoji="1" lang="ko-Kore-KR" altLang="en-US" sz="800" b="1" dirty="0">
              <a:solidFill>
                <a:srgbClr val="FF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DF1224-C7E5-5FD7-658D-99524AF467D7}"/>
              </a:ext>
            </a:extLst>
          </p:cNvPr>
          <p:cNvSpPr/>
          <p:nvPr/>
        </p:nvSpPr>
        <p:spPr>
          <a:xfrm>
            <a:off x="59469" y="526610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6750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422430745"/>
              </p:ext>
            </p:extLst>
          </p:nvPr>
        </p:nvGraphicFramePr>
        <p:xfrm>
          <a:off x="0" y="0"/>
          <a:ext cx="2328876" cy="49213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44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76">
                  <a:extLst>
                    <a:ext uri="{9D8B030D-6E8A-4147-A177-3AD203B41FA5}">
                      <a16:colId xmlns:a16="http://schemas.microsoft.com/office/drawing/2014/main" val="2595559527"/>
                    </a:ext>
                  </a:extLst>
                </a:gridCol>
                <a:gridCol w="891962">
                  <a:extLst>
                    <a:ext uri="{9D8B030D-6E8A-4147-A177-3AD203B41FA5}">
                      <a16:colId xmlns:a16="http://schemas.microsoft.com/office/drawing/2014/main" val="1608007032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도착</a:t>
                      </a:r>
                      <a:r>
                        <a:rPr 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방송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(5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시간이상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분전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출발지 기준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2200-0800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Quiet Hour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 b="0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756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기장입니다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우리 비행기는 앞으로 약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(40)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후에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국제공항에 착륙 예정입니다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현재 공항의 날씨는 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기온은 섭씨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en-US" altLang="ko-KR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911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맑으며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다소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흐리며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이슬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비가 내리며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소나기가 내리며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바람이 불고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눈이 오고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안개가 끼어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황사가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804322827"/>
                  </a:ext>
                </a:extLst>
              </a:tr>
              <a:tr h="356733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지금 이곳의 시각은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월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일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요일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오전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오후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입니다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553393"/>
                  </a:ext>
                </a:extLst>
              </a:tr>
              <a:tr h="280822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adies and gentlemen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 is </a:t>
                      </a:r>
                      <a:r>
                        <a:rPr lang="en-US" altLang="ko-KR" sz="8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captain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speaking.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expect to land at __ international airport in about (40) minutes.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temperature at ___ is __ degrees Celsius, or __ degrees Fahrenheit 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 </a:t>
                      </a:r>
                      <a:r>
                        <a:rPr lang="ko-KR" altLang="en-US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참고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lang="en-US" altLang="ko-Kore-KR" sz="700" b="0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it is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___. 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01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(mostly) clear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(partly) cloudy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drizzling / raining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windy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snowing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foggy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hazy or smoggy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669382"/>
                  </a:ext>
                </a:extLst>
              </a:tr>
              <a:tr h="500625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time is __ : __ 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), on (day-of-the-week), (month)(date).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flying with us today.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547286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58EF91-7A59-ED4B-8C85-329D79A12166}"/>
              </a:ext>
            </a:extLst>
          </p:cNvPr>
          <p:cNvSpPr/>
          <p:nvPr/>
        </p:nvSpPr>
        <p:spPr>
          <a:xfrm>
            <a:off x="702671" y="5277971"/>
            <a:ext cx="1085619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705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1447013018"/>
              </p:ext>
            </p:extLst>
          </p:nvPr>
        </p:nvGraphicFramePr>
        <p:xfrm>
          <a:off x="98101" y="132867"/>
          <a:ext cx="2132650" cy="470135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2400549661"/>
                    </a:ext>
                  </a:extLst>
                </a:gridCol>
              </a:tblGrid>
              <a:tr h="39729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Japan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KIX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NGO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60504365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FUK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260318220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KIX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CTS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HND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63828124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NGO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FUK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23778637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AOJ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38432142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KIJ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1894762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97213989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F3491A8-D925-6BB2-F309-8A3F0C288540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8900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3333811122"/>
              </p:ext>
            </p:extLst>
          </p:nvPr>
        </p:nvGraphicFramePr>
        <p:xfrm>
          <a:off x="0" y="0"/>
          <a:ext cx="2328875" cy="37360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2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7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992022177"/>
              </p:ext>
            </p:extLst>
          </p:nvPr>
        </p:nvGraphicFramePr>
        <p:xfrm>
          <a:off x="81023" y="3711435"/>
          <a:ext cx="2129742" cy="156653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11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8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05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chemeClr val="bg1"/>
                          </a:solidFill>
                        </a:rPr>
                        <a:t>Japan</a:t>
                      </a:r>
                      <a:endParaRPr sz="1100" b="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210945862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KIX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오사카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간사이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HND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도쿄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하네다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88143320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NRT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도쿄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나리타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75921985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CTS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삿포로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신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(New) 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치토세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51862034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NGO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70C0"/>
                          </a:solidFill>
                        </a:rPr>
                        <a:t>나고야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</a:rPr>
                        <a:t>주부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(Chubu </a:t>
                      </a:r>
                      <a:r>
                        <a:rPr lang="en-US" altLang="ko-KR" sz="900" b="0" dirty="0" err="1">
                          <a:solidFill>
                            <a:srgbClr val="0070C0"/>
                          </a:solidFill>
                        </a:rPr>
                        <a:t>Centrair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6662300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FUK</a:t>
                      </a:r>
                      <a:endParaRPr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후쿠오카</a:t>
                      </a:r>
                      <a:endParaRPr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>
                          <a:solidFill>
                            <a:srgbClr val="0070C0"/>
                          </a:solidFill>
                        </a:rPr>
                        <a:t>AOJ</a:t>
                      </a:r>
                      <a:endParaRPr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아오모리</a:t>
                      </a:r>
                      <a:endParaRPr lang="ko-KR" altLang="en-US"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88258191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>
                          <a:solidFill>
                            <a:srgbClr val="0070C0"/>
                          </a:solidFill>
                        </a:rPr>
                        <a:t>KIJ</a:t>
                      </a:r>
                      <a:endParaRPr lang="en-US" altLang="ko-Kore-KR"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니가타</a:t>
                      </a:r>
                      <a:endParaRPr lang="ko-KR" altLang="en-US"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17996534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23925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3469401366"/>
              </p:ext>
            </p:extLst>
          </p:nvPr>
        </p:nvGraphicFramePr>
        <p:xfrm>
          <a:off x="55371" y="3173"/>
          <a:ext cx="1874000" cy="55473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93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7000">
                  <a:extLst>
                    <a:ext uri="{9D8B030D-6E8A-4147-A177-3AD203B41FA5}">
                      <a16:colId xmlns:a16="http://schemas.microsoft.com/office/drawing/2014/main" val="2763461019"/>
                    </a:ext>
                  </a:extLst>
                </a:gridCol>
              </a:tblGrid>
              <a:tr h="176667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China </a:t>
                      </a:r>
                      <a:endParaRPr sz="12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SHA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16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16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PVG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251775616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NKG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TAO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SHE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PVG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YNJ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1600" b="0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1600" b="0" u="none" strike="noStrike" cap="none" dirty="0">
                        <a:solidFill>
                          <a:srgbClr val="00B05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HGH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WHE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63828124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XIY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27194592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CSX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33127348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HKG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9315092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TSN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6937921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CGO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46554646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DYG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9722112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DLC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252244187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HFE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088364482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KMG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830567129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MFM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2405437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5500FA-F79C-DB43-B11F-C2A523428F55}"/>
              </a:ext>
            </a:extLst>
          </p:cNvPr>
          <p:cNvSpPr/>
          <p:nvPr/>
        </p:nvSpPr>
        <p:spPr>
          <a:xfrm>
            <a:off x="1807162" y="2015807"/>
            <a:ext cx="644531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O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M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E</a:t>
            </a:r>
          </a:p>
          <a:p>
            <a:pPr algn="ctr"/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98369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514459259"/>
              </p:ext>
            </p:extLst>
          </p:nvPr>
        </p:nvGraphicFramePr>
        <p:xfrm>
          <a:off x="66044" y="2829146"/>
          <a:ext cx="1878761" cy="273676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27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59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0729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chemeClr val="bg1"/>
                          </a:solidFill>
                        </a:rPr>
                        <a:t>China</a:t>
                      </a: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b="0" dirty="0">
                          <a:solidFill>
                            <a:schemeClr val="bg1"/>
                          </a:solidFill>
                        </a:rPr>
                        <a:t>China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912171646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SHA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홍차오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NKG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난징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루커우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TAO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칭다오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자오동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PEK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베이징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소우뚜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(Capital)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SHE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선양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탸오쎈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PVG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푸동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YNJ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옌지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HGH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황저우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샤오산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WHE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웨이하이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따쉐이푸오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88143320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XIY</a:t>
                      </a:r>
                      <a:endParaRPr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ore-KR" altLang="en-US" sz="900" dirty="0">
                          <a:solidFill>
                            <a:srgbClr val="00B050"/>
                          </a:solidFill>
                        </a:rPr>
                        <a:t>시안</a:t>
                      </a: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시엔양</a:t>
                      </a:r>
                      <a:endParaRPr sz="900" b="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75921985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CSX</a:t>
                      </a:r>
                      <a:endParaRPr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창사</a:t>
                      </a: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후앙후아</a:t>
                      </a:r>
                      <a:endParaRPr sz="900" b="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91409112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HKG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홍콩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46085828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TSN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톈진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빈하이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22049173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CGO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정저우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459961862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DYG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장자제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허화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6132794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DLC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다롄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쪼우쑤이쯔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44538903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HFE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허페이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신치아오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28517652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KMG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쿤밍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창쉐이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91254911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MFM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마카오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58851044"/>
                  </a:ext>
                </a:extLst>
              </a:tr>
            </a:tbl>
          </a:graphicData>
        </a:graphic>
      </p:graphicFrame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3485572267"/>
              </p:ext>
            </p:extLst>
          </p:nvPr>
        </p:nvGraphicFramePr>
        <p:xfrm>
          <a:off x="0" y="0"/>
          <a:ext cx="2328875" cy="2849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 </a:t>
                      </a:r>
                      <a:endParaRPr sz="1100" b="1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03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1829993" y="3464323"/>
            <a:ext cx="644531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640585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4119683204"/>
              </p:ext>
            </p:extLst>
          </p:nvPr>
        </p:nvGraphicFramePr>
        <p:xfrm>
          <a:off x="98101" y="184953"/>
          <a:ext cx="2132650" cy="385166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2055015791"/>
                    </a:ext>
                  </a:extLst>
                </a:gridCol>
              </a:tblGrid>
              <a:tr h="453137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S.E Asia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CXR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SGN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23778637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PNH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6454774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MNL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931868389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2000" b="0" u="none" strike="noStrike" cap="none" dirty="0">
                          <a:solidFill>
                            <a:srgbClr val="7030A0"/>
                          </a:solidFill>
                          <a:latin typeface="Calibri"/>
                          <a:cs typeface="Calibri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2000" b="0" u="none" strike="noStrike" cap="none" dirty="0">
                        <a:solidFill>
                          <a:srgbClr val="7030A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RMQ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209742540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2000" b="0" u="none" strike="noStrike" cap="none" dirty="0">
                          <a:solidFill>
                            <a:srgbClr val="7030A0"/>
                          </a:solidFill>
                          <a:latin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2000" b="0" u="none" strike="noStrike" cap="none" dirty="0">
                        <a:solidFill>
                          <a:srgbClr val="7030A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TPE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71315063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TPE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506459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FF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FFFF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FF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GUM</a:t>
                      </a:r>
                      <a:endParaRPr lang="en-US" altLang="ko-Kore-KR" sz="2000" b="1" i="0" u="none" strike="noStrike" cap="none" dirty="0">
                        <a:solidFill>
                          <a:srgbClr val="FFFF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06193184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BKK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61878942"/>
                  </a:ext>
                </a:extLst>
              </a:tr>
            </a:tbl>
          </a:graphicData>
        </a:graphic>
      </p:graphicFrame>
      <p:graphicFrame>
        <p:nvGraphicFramePr>
          <p:cNvPr id="2" name="Google Shape;90;p1">
            <a:extLst>
              <a:ext uri="{FF2B5EF4-FFF2-40B4-BE49-F238E27FC236}">
                <a16:creationId xmlns:a16="http://schemas.microsoft.com/office/drawing/2014/main" id="{420D4B99-E8E2-695D-C567-AA64CB4A50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95471260"/>
              </p:ext>
            </p:extLst>
          </p:nvPr>
        </p:nvGraphicFramePr>
        <p:xfrm>
          <a:off x="185895" y="4446365"/>
          <a:ext cx="1969476" cy="5563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969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Next Page</a:t>
                      </a: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67BBAE9-B926-F113-1CFE-703A0FA7B23A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911654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71327333"/>
              </p:ext>
            </p:extLst>
          </p:nvPr>
        </p:nvGraphicFramePr>
        <p:xfrm>
          <a:off x="0" y="0"/>
          <a:ext cx="2328875" cy="31462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2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324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4049633542"/>
              </p:ext>
            </p:extLst>
          </p:nvPr>
        </p:nvGraphicFramePr>
        <p:xfrm>
          <a:off x="114028" y="3146290"/>
          <a:ext cx="2100805" cy="1685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286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21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425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S.E Asia</a:t>
                      </a:r>
                      <a:endParaRPr sz="1100" b="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8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800" b="0" dirty="0" err="1">
                          <a:solidFill>
                            <a:srgbClr val="00B050"/>
                          </a:solidFill>
                        </a:rPr>
                        <a:t>홍차오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CXR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베트남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나짱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(</a:t>
                      </a:r>
                      <a:r>
                        <a:rPr lang="en-US" altLang="ko-KR" sz="900" b="0" dirty="0" err="1">
                          <a:solidFill>
                            <a:srgbClr val="7030A0"/>
                          </a:solidFill>
                        </a:rPr>
                        <a:t>Nha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 Trang)/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깜라인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51862034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SGN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베트남 호찌민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탄소넛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666230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PNH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캄보디아 프놈펜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2661703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MNL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필리핀 마닐라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니노이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아키노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9408017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TPE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타이완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타이페이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타오유엔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544170142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RMQ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타이완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타이중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칭찬강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9202432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FFFF00"/>
                          </a:solidFill>
                        </a:rPr>
                        <a:t>PGUM</a:t>
                      </a:r>
                      <a:endParaRPr sz="900" dirty="0">
                        <a:solidFill>
                          <a:srgbClr val="FFFF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FFFF00"/>
                          </a:solidFill>
                        </a:rPr>
                        <a:t>괌</a:t>
                      </a:r>
                      <a:endParaRPr sz="900" b="0" dirty="0">
                        <a:solidFill>
                          <a:srgbClr val="FFFF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BKK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방콕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수완나폼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83088539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723414" y="527797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2AD511-3D77-5056-7372-44C616778F18}"/>
              </a:ext>
            </a:extLst>
          </p:cNvPr>
          <p:cNvSpPr txBox="1"/>
          <p:nvPr/>
        </p:nvSpPr>
        <p:spPr>
          <a:xfrm>
            <a:off x="1637044" y="5229777"/>
            <a:ext cx="7228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 dirty="0">
                <a:solidFill>
                  <a:srgbClr val="FF0000"/>
                </a:solidFill>
              </a:rPr>
              <a:t>도착</a:t>
            </a:r>
            <a:r>
              <a:rPr kumimoji="1" lang="ko-KR" altLang="en-US" sz="800" b="1" dirty="0">
                <a:solidFill>
                  <a:srgbClr val="FF0000"/>
                </a:solidFill>
              </a:rPr>
              <a:t> 방송 </a:t>
            </a:r>
            <a:r>
              <a:rPr kumimoji="1" lang="en-US" altLang="ko-KR" sz="800" b="1" dirty="0">
                <a:solidFill>
                  <a:srgbClr val="FF0000"/>
                </a:solidFill>
              </a:rPr>
              <a:t>Next Page</a:t>
            </a:r>
            <a:endParaRPr kumimoji="1" lang="ko-Kore-KR" altLang="en-US" sz="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77561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608306669"/>
              </p:ext>
            </p:extLst>
          </p:nvPr>
        </p:nvGraphicFramePr>
        <p:xfrm>
          <a:off x="0" y="0"/>
          <a:ext cx="2328876" cy="49213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44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76">
                  <a:extLst>
                    <a:ext uri="{9D8B030D-6E8A-4147-A177-3AD203B41FA5}">
                      <a16:colId xmlns:a16="http://schemas.microsoft.com/office/drawing/2014/main" val="2595559527"/>
                    </a:ext>
                  </a:extLst>
                </a:gridCol>
                <a:gridCol w="891962">
                  <a:extLst>
                    <a:ext uri="{9D8B030D-6E8A-4147-A177-3AD203B41FA5}">
                      <a16:colId xmlns:a16="http://schemas.microsoft.com/office/drawing/2014/main" val="1608007032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도착</a:t>
                      </a:r>
                      <a:r>
                        <a:rPr 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방송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(5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시간이상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분전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출발지 기준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2200-0800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Quiet Hour </a:t>
                      </a:r>
                      <a:endParaRPr lang="en-US" altLang="ko-Kore-KR" sz="1000" b="0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756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기장입니다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우리 비행기는 앞으로 약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(40)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후에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국제공항에 착륙 예정입니다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현재 공항의 날씨는 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기온은 섭씨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en-US" altLang="ko-KR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911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맑으며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다소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흐리며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이슬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비가 내리며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소나기가 내리며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바람이 불고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눈이 오고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안개가 끼어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황사가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804322827"/>
                  </a:ext>
                </a:extLst>
              </a:tr>
              <a:tr h="356733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지금 이곳의 시각은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월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일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요일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오전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오후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입니다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kumimoji="0" lang="en-US" altLang="ko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553393"/>
                  </a:ext>
                </a:extLst>
              </a:tr>
              <a:tr h="280822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adies and gentlemen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 is </a:t>
                      </a:r>
                      <a:r>
                        <a:rPr lang="en-US" altLang="ko-KR" sz="8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captain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speaking.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expect to land at __ international airport in about (40) minutes.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temperature at ___ is __ degrees Celsius, or __ degrees Fahrenheit 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 </a:t>
                      </a:r>
                      <a:r>
                        <a:rPr lang="ko-KR" altLang="en-US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참고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lang="en-US" altLang="ko-Kore-KR" sz="700" b="0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it is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___. 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01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(mostly) clear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(partly) cloudy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drizzling / raining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windy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snowing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foggy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hazy or smoggy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669382"/>
                  </a:ext>
                </a:extLst>
              </a:tr>
              <a:tr h="500625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time is __ : __ 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), on (day-of-the-week), (month)(date).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flying with us today.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547286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F0EAA18-1047-FE78-D46B-153C8A14B8A3}"/>
              </a:ext>
            </a:extLst>
          </p:cNvPr>
          <p:cNvSpPr/>
          <p:nvPr/>
        </p:nvSpPr>
        <p:spPr>
          <a:xfrm>
            <a:off x="723414" y="527797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47214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7922502"/>
              </p:ext>
            </p:extLst>
          </p:nvPr>
        </p:nvGraphicFramePr>
        <p:xfrm>
          <a:off x="0" y="1059290"/>
          <a:ext cx="2335800" cy="220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xT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xQ)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xU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xZ)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144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7" name="Google Shape;107;p2"/>
          <p:cNvGraphicFramePr/>
          <p:nvPr>
            <p:extLst>
              <p:ext uri="{D42A27DB-BD31-4B8C-83A1-F6EECF244321}">
                <p14:modId xmlns:p14="http://schemas.microsoft.com/office/powerpoint/2010/main" val="2316435315"/>
              </p:ext>
            </p:extLst>
          </p:nvPr>
        </p:nvGraphicFramePr>
        <p:xfrm>
          <a:off x="4472" y="3784778"/>
          <a:ext cx="2310728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0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71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32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12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927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CJU :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 dirty="0">
                          <a:solidFill>
                            <a:srgbClr val="FFC000"/>
                          </a:solidFill>
                        </a:rPr>
                        <a:t>AFT Merge PT(220kts) DCT IAF(210kts), FAF (160kts)</a:t>
                      </a:r>
                      <a:endParaRPr sz="70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07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DOTOL xP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/>
                        <a:t>YUMIN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DOTOL 160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69801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ILS Z 25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DOTOL </a:t>
                      </a:r>
                      <a:r>
                        <a:rPr lang="en-US" sz="800" b="1" u="none" strike="noStrike" cap="none" dirty="0" err="1"/>
                        <a:t>xT</a:t>
                      </a:r>
                      <a:r>
                        <a:rPr lang="en-US" sz="800" b="1" u="none" strike="noStrike" cap="none" dirty="0"/>
                        <a:t>(</a:t>
                      </a:r>
                      <a:r>
                        <a:rPr lang="en-US" sz="800" b="1" u="none" strike="noStrike" cap="none" dirty="0" err="1"/>
                        <a:t>xM</a:t>
                      </a:r>
                      <a:r>
                        <a:rPr lang="en-US" sz="800" b="1" u="none" strike="noStrike" cap="none" dirty="0"/>
                        <a:t>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1" u="none" strike="noStrike" cap="none" dirty="0"/>
                        <a:t>DUKAL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DOTOL/-10 160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6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1305194788"/>
              </p:ext>
            </p:extLst>
          </p:nvPr>
        </p:nvGraphicFramePr>
        <p:xfrm>
          <a:off x="-2501" y="16503"/>
          <a:ext cx="2328850" cy="56398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508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90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GMP 131.15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</a:t>
                      </a:r>
                      <a:r>
                        <a:rPr lang="en-US" sz="600" u="none" strike="noStrike" cap="none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</a:t>
                      </a: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TOBT 5분 </a:t>
                      </a:r>
                      <a:r>
                        <a:rPr lang="en-US" sz="600" u="none" strike="noStrike" cap="none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80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CJU 129.4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395358-67C5-B17F-BCD1-397471B84C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pic>
        <p:nvPicPr>
          <p:cNvPr id="3" name="그림 2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0A4BE269-C442-8267-320E-C71929B74F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01" y="3253278"/>
            <a:ext cx="546787" cy="5456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83771C-A484-B3B3-0104-3947A3865324}"/>
              </a:ext>
            </a:extLst>
          </p:cNvPr>
          <p:cNvSpPr txBox="1"/>
          <p:nvPr/>
        </p:nvSpPr>
        <p:spPr>
          <a:xfrm>
            <a:off x="1268244" y="3478119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1E1E6C3-2FAC-67D6-CA78-10767C1FFA4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3695470389"/>
              </p:ext>
            </p:extLst>
          </p:nvPr>
        </p:nvGraphicFramePr>
        <p:xfrm>
          <a:off x="0" y="1070883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CJU : SID (NADP 1)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07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066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25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246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/>
                        <a:t>07 : NONE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/>
                        <a:t>25 : YDM246/3, R290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3304168252"/>
              </p:ext>
            </p:extLst>
          </p:nvPr>
        </p:nvGraphicFramePr>
        <p:xfrm>
          <a:off x="4999" y="3494395"/>
          <a:ext cx="233085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4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7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sz="800" b="1" u="none" strike="noStrike" cap="none"/>
                        <a:t>OLMEN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/>
                        <a:t>OLMEN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sz="800" b="1" u="none" strike="noStrike" cap="none" dirty="0"/>
                        <a:t>OLMEN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/>
                        <a:t>OLMEN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00584867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130" name="Google Shape;130;p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617401"/>
            <a:ext cx="1166932" cy="8292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그림 3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2AAA03F3-9C76-BDAE-2BA4-2B888A8439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39C51EF-5E3E-676B-B9A0-C6A5F8FD5CEF}"/>
              </a:ext>
            </a:extLst>
          </p:cNvPr>
          <p:cNvSpPr txBox="1"/>
          <p:nvPr/>
        </p:nvSpPr>
        <p:spPr>
          <a:xfrm>
            <a:off x="1268244" y="3184785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D9173A3-1ECF-6009-194E-99FFD55E035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1D9EE3FE-3D0C-40C8-D531-747FC2E143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00" y="3253277"/>
            <a:ext cx="602791" cy="601513"/>
          </a:xfrm>
          <a:prstGeom prst="rect">
            <a:avLst/>
          </a:prstGeom>
        </p:spPr>
      </p:pic>
      <p:graphicFrame>
        <p:nvGraphicFramePr>
          <p:cNvPr id="136" name="Google Shape;136;p4"/>
          <p:cNvGraphicFramePr/>
          <p:nvPr>
            <p:extLst>
              <p:ext uri="{D42A27DB-BD31-4B8C-83A1-F6EECF244321}">
                <p14:modId xmlns:p14="http://schemas.microsoft.com/office/powerpoint/2010/main" val="1618809659"/>
              </p:ext>
            </p:extLst>
          </p:nvPr>
        </p:nvGraphicFramePr>
        <p:xfrm>
          <a:off x="0" y="1049052"/>
          <a:ext cx="2335800" cy="22318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0825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075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32L/R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xT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324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0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(OSPOT xQ)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324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075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xU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144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70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(OSPOT xZ)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144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32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2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075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7075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325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APRON(130.875) -&gt; GND(121.9) -&gt; TWR (All by ATC)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37" name="Google Shape;137;p4"/>
          <p:cNvGraphicFramePr/>
          <p:nvPr>
            <p:extLst>
              <p:ext uri="{D42A27DB-BD31-4B8C-83A1-F6EECF244321}">
                <p14:modId xmlns:p14="http://schemas.microsoft.com/office/powerpoint/2010/main" val="2869455644"/>
              </p:ext>
            </p:extLst>
          </p:nvPr>
        </p:nvGraphicFramePr>
        <p:xfrm>
          <a:off x="-3340" y="3798485"/>
          <a:ext cx="23288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2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68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24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417267895"/>
              </p:ext>
            </p:extLst>
          </p:nvPr>
        </p:nvGraphicFramePr>
        <p:xfrm>
          <a:off x="-2501" y="16504"/>
          <a:ext cx="2328850" cy="5861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13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9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9" name="Google Shape;139;p4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 </a:t>
            </a:r>
            <a:endParaRPr sz="1800" b="1" dirty="0">
              <a:solidFill>
                <a:srgbClr val="C00000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DF371A0-F72D-9E9E-6B0B-BD68FCA249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E200D8-914C-01D7-557E-F73D37FB7632}"/>
              </a:ext>
            </a:extLst>
          </p:cNvPr>
          <p:cNvSpPr txBox="1"/>
          <p:nvPr/>
        </p:nvSpPr>
        <p:spPr>
          <a:xfrm>
            <a:off x="1268244" y="3491513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9ADE64-A15F-6E0A-A757-78B60E7B342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5" name="Google Shape;155;p5"/>
          <p:cNvGraphicFramePr/>
          <p:nvPr>
            <p:extLst>
              <p:ext uri="{D42A27DB-BD31-4B8C-83A1-F6EECF244321}">
                <p14:modId xmlns:p14="http://schemas.microsoft.com/office/powerpoint/2010/main" val="124299396"/>
              </p:ext>
            </p:extLst>
          </p:nvPr>
        </p:nvGraphicFramePr>
        <p:xfrm>
          <a:off x="0" y="106354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KALOD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GIMHAE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56" name="Google Shape;156;p5"/>
          <p:cNvGraphicFramePr/>
          <p:nvPr>
            <p:extLst>
              <p:ext uri="{D42A27DB-BD31-4B8C-83A1-F6EECF244321}">
                <p14:modId xmlns:p14="http://schemas.microsoft.com/office/powerpoint/2010/main" val="3948340049"/>
              </p:ext>
            </p:extLst>
          </p:nvPr>
        </p:nvGraphicFramePr>
        <p:xfrm>
          <a:off x="-2501" y="3490966"/>
          <a:ext cx="233830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551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3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66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04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367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32L/R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/>
                        <a:t>GUKDO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BUMSI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160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14R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GUKDO </a:t>
                      </a:r>
                      <a:r>
                        <a:rPr lang="en-US" sz="800" b="1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DOKDO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160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57" name="Google Shape;157;p5"/>
          <p:cNvGraphicFramePr/>
          <p:nvPr>
            <p:extLst>
              <p:ext uri="{D42A27DB-BD31-4B8C-83A1-F6EECF244321}">
                <p14:modId xmlns:p14="http://schemas.microsoft.com/office/powerpoint/2010/main" val="210810163"/>
              </p:ext>
            </p:extLst>
          </p:nvPr>
        </p:nvGraphicFramePr>
        <p:xfrm>
          <a:off x="-2501" y="16504"/>
          <a:ext cx="2328850" cy="5682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2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8" name="Google Shape;158;p5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b="1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168" name="Google Shape;168;p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723283"/>
            <a:ext cx="1056807" cy="7199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55C3732C-B99F-06C8-0284-40550C1D6F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2DFD9A-3DE5-9849-C4DF-4F8F47DFC0AA}"/>
              </a:ext>
            </a:extLst>
          </p:cNvPr>
          <p:cNvSpPr txBox="1"/>
          <p:nvPr/>
        </p:nvSpPr>
        <p:spPr>
          <a:xfrm>
            <a:off x="1268244" y="3167422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08367DE-04CA-9C27-2F38-9B696219DB2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4" name="Google Shape;174;p6"/>
          <p:cNvGraphicFramePr/>
          <p:nvPr>
            <p:extLst>
              <p:ext uri="{D42A27DB-BD31-4B8C-83A1-F6EECF244321}">
                <p14:modId xmlns:p14="http://schemas.microsoft.com/office/powerpoint/2010/main" val="120629940"/>
              </p:ext>
            </p:extLst>
          </p:nvPr>
        </p:nvGraphicFramePr>
        <p:xfrm>
          <a:off x="0" y="631358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75" name="Google Shape;175;p6"/>
          <p:cNvGraphicFramePr/>
          <p:nvPr>
            <p:extLst>
              <p:ext uri="{D42A27DB-BD31-4B8C-83A1-F6EECF244321}">
                <p14:modId xmlns:p14="http://schemas.microsoft.com/office/powerpoint/2010/main" val="1885465656"/>
              </p:ext>
            </p:extLst>
          </p:nvPr>
        </p:nvGraphicFramePr>
        <p:xfrm>
          <a:off x="-15362" y="3048090"/>
          <a:ext cx="2363857" cy="251150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48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55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17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24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9894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KWJ : NO STAR (TL 140확인)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–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b="0" dirty="0">
                          <a:solidFill>
                            <a:srgbClr val="FFC000"/>
                          </a:solidFill>
                        </a:rPr>
                        <a:t>STAR RNP app Only</a:t>
                      </a:r>
                      <a:r>
                        <a:rPr lang="en-US" altLang="ko-KR" sz="800" b="0" dirty="0"/>
                        <a:t>!!</a:t>
                      </a:r>
                      <a:endParaRPr sz="800" b="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04R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 KOTTY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SAMUL/-15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CI04R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33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RNP 22L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ORUSA x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ORUSA Tx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3.3도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14210947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LOC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22L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SAMUL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/>
                        <a:t>D058Q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Calibri"/>
                        </a:rPr>
                        <a:t>No PAR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3.3도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22L</a:t>
                      </a:r>
                      <a:r>
                        <a:rPr lang="en-US" altLang="ko-KR" sz="800" b="1" dirty="0"/>
                        <a:t>/</a:t>
                      </a:r>
                      <a:r>
                        <a:rPr lang="en-US" sz="800" b="1" dirty="0"/>
                        <a:t>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SAMUL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D058Q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cs typeface="Calibri"/>
                          <a:sym typeface="Calibri"/>
                        </a:rPr>
                        <a:t>Offset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3.29도 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PAR</a:t>
                      </a:r>
                      <a:endParaRPr kumimoji="0" lang="en-US" altLang="ko-Kore-KR" sz="458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145471554"/>
                  </a:ext>
                </a:extLst>
              </a:tr>
              <a:tr h="16349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04R(46’)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9301’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22L(48’)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349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04L(46’)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9301’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22R(48’)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04R : SAMUL(For reference)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349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End of RWY Vacating 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9021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 22L, VOR 22L/R </a:t>
                      </a:r>
                      <a:r>
                        <a:rPr lang="en-US" sz="8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-&gt; </a:t>
                      </a:r>
                      <a:r>
                        <a:rPr 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LOC/VOR LNAV </a:t>
                      </a:r>
                      <a:r>
                        <a:rPr lang="ko-KR" alt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지시고도 유지후 </a:t>
                      </a:r>
                      <a:r>
                        <a:rPr 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Final Establish </a:t>
                      </a:r>
                      <a:r>
                        <a:rPr lang="ko-KR" alt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이후 강하</a:t>
                      </a:r>
                      <a:r>
                        <a:rPr lang="en-US" altLang="ko-KR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(TERR!!)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 04L/R, 22R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강하각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(6NM, 3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solidFill>
                          <a:srgbClr val="0070C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15 kts (Max 30kts by ATC)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76" name="Google Shape;176;p6"/>
          <p:cNvGraphicFramePr/>
          <p:nvPr>
            <p:extLst>
              <p:ext uri="{D42A27DB-BD31-4B8C-83A1-F6EECF244321}">
                <p14:modId xmlns:p14="http://schemas.microsoft.com/office/powerpoint/2010/main" val="357371806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RKJJ(KWJ) 48ft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KWJ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78" name="Google Shape;178;p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8784" y="2135843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759C90C-95A8-11D3-E92B-972143670888}"/>
              </a:ext>
            </a:extLst>
          </p:cNvPr>
          <p:cNvSpPr txBox="1"/>
          <p:nvPr/>
        </p:nvSpPr>
        <p:spPr>
          <a:xfrm>
            <a:off x="1268244" y="272225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05AB18E-6A6D-D896-C0E1-0B1F6C21F4C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4" name="Google Shape;184;p7"/>
          <p:cNvGraphicFramePr/>
          <p:nvPr>
            <p:extLst>
              <p:ext uri="{D42A27DB-BD31-4B8C-83A1-F6EECF244321}">
                <p14:modId xmlns:p14="http://schemas.microsoft.com/office/powerpoint/2010/main" val="3104195885"/>
              </p:ext>
            </p:extLst>
          </p:nvPr>
        </p:nvGraphicFramePr>
        <p:xfrm>
          <a:off x="0" y="640885"/>
          <a:ext cx="233582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7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5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5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4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3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67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47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43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7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KWJ : SID (NADP 1)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DALSU – Y711 – DOTOL Comm RTE(ATC CLR) </a:t>
                      </a:r>
                      <a:r>
                        <a:rPr lang="ko-KR" altLang="en-US" sz="800" dirty="0">
                          <a:solidFill>
                            <a:srgbClr val="FFC000"/>
                          </a:solidFill>
                        </a:rPr>
                        <a:t>확인</a:t>
                      </a:r>
                      <a:r>
                        <a:rPr lang="en-US" altLang="ko-KR" sz="800" dirty="0">
                          <a:solidFill>
                            <a:srgbClr val="FFC000"/>
                          </a:solidFill>
                        </a:rPr>
                        <a:t>!</a:t>
                      </a:r>
                      <a:r>
                        <a:rPr lang="ko-KR" altLang="en-US" sz="800" dirty="0">
                          <a:solidFill>
                            <a:srgbClr val="FFC000"/>
                          </a:solidFill>
                        </a:rPr>
                        <a:t> </a:t>
                      </a:r>
                      <a:endParaRPr lang="en-US" altLang="ko-KR" sz="800" dirty="0">
                        <a:solidFill>
                          <a:srgbClr val="FFC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(Join Air Way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-</a:t>
                      </a:r>
                      <a:r>
                        <a:rPr lang="ko-KR" alt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DCT DOTOL CRS 192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-</a:t>
                      </a:r>
                      <a:r>
                        <a:rPr lang="ko-KR" alt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LNAV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)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KWA 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8000</a:t>
                      </a:r>
                      <a:endParaRPr sz="458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04L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(GWJ 3)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038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038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038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22R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(GWJ 4)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218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218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218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KWA 114.4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04R 111.1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22L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04 : KWA /4.5, R225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22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04L(46’)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22R(48’)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04R(46’)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22L(48’)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SPD MAX 15kts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MAX 30kts by 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85" name="Google Shape;185;p7"/>
          <p:cNvGraphicFramePr/>
          <p:nvPr>
            <p:extLst>
              <p:ext uri="{D42A27DB-BD31-4B8C-83A1-F6EECF244321}">
                <p14:modId xmlns:p14="http://schemas.microsoft.com/office/powerpoint/2010/main" val="2187236667"/>
              </p:ext>
            </p:extLst>
          </p:nvPr>
        </p:nvGraphicFramePr>
        <p:xfrm>
          <a:off x="4472" y="3785736"/>
          <a:ext cx="234654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17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0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6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47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5826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374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2186472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DUKAL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DOTOL/-10  160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86" name="Google Shape;186;p7"/>
          <p:cNvGraphicFramePr/>
          <p:nvPr>
            <p:extLst>
              <p:ext uri="{D42A27DB-BD31-4B8C-83A1-F6EECF244321}">
                <p14:modId xmlns:p14="http://schemas.microsoft.com/office/powerpoint/2010/main" val="3404563994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RKJJ(KWJ) 48ft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KWJ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NO DCL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88" name="Google Shape;188;p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12" y="2774431"/>
            <a:ext cx="1054108" cy="101130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782A4B3-7311-E70E-8F1E-6AA2A950A9A9}"/>
              </a:ext>
            </a:extLst>
          </p:cNvPr>
          <p:cNvSpPr txBox="1"/>
          <p:nvPr/>
        </p:nvSpPr>
        <p:spPr>
          <a:xfrm>
            <a:off x="1268244" y="3482473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CF55EBE-A8D5-47A4-B1EE-6E09132604F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4" name="Google Shape;194;p8"/>
          <p:cNvGraphicFramePr/>
          <p:nvPr>
            <p:extLst>
              <p:ext uri="{D42A27DB-BD31-4B8C-83A1-F6EECF244321}">
                <p14:modId xmlns:p14="http://schemas.microsoft.com/office/powerpoint/2010/main" val="677818939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95" name="Google Shape;195;p8"/>
          <p:cNvGraphicFramePr/>
          <p:nvPr>
            <p:extLst>
              <p:ext uri="{D42A27DB-BD31-4B8C-83A1-F6EECF244321}">
                <p14:modId xmlns:p14="http://schemas.microsoft.com/office/powerpoint/2010/main" val="2339552871"/>
              </p:ext>
            </p:extLst>
          </p:nvPr>
        </p:nvGraphicFramePr>
        <p:xfrm>
          <a:off x="-2501" y="3043740"/>
          <a:ext cx="2349350" cy="2515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5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3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4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84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CJJ : NO STAR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Caution TCAS RA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C000"/>
                          </a:solidFill>
                        </a:rPr>
                        <a:t> PEBRI FL150, After OSPOT H/D060 – RDR Vector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C000"/>
                          </a:solidFill>
                        </a:rPr>
                        <a:t>Req ILS Z 24R via HYEIN</a:t>
                      </a:r>
                      <a:endParaRPr sz="7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 STAR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(MATIZ x)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OSPOT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(JIKJI </a:t>
                      </a:r>
                      <a:r>
                        <a:rPr lang="en-US" sz="800" b="1" dirty="0" err="1"/>
                        <a:t>tx</a:t>
                      </a:r>
                      <a:r>
                        <a:rPr lang="en-US" sz="800" b="1" dirty="0"/>
                        <a:t>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TU761 / BAKJO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(STAR 안줌)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 STAR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(MATIZ x)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OSPOT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(HYEIN </a:t>
                      </a:r>
                      <a:r>
                        <a:rPr lang="en-US" sz="800" b="1" dirty="0" err="1"/>
                        <a:t>tx</a:t>
                      </a:r>
                      <a:r>
                        <a:rPr lang="en-US" sz="800" b="1" dirty="0"/>
                        <a:t>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HYEIN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(STAR 안줌)</a:t>
                      </a:r>
                      <a:endParaRPr sz="458" b="1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458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536119663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06L(166’)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24R(182’)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06R(173’)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24L(191’)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 : B3(6443’), A3(8786’), 24R : C3(6230’), D3(8825’)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fluc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 - A/P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Dis’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– Back to Normal – A/P Reengage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Req full length Landing (Vacate End of RWY) 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180 BACK LINE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지나 </a:t>
                      </a:r>
                      <a:r>
                        <a:rPr lang="en-US" altLang="ko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Line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있음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Entering TWY A3, B3, B4, C3, D3 change GND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freq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Unless ATC, Taxi SPD less than 20KTS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96" name="Google Shape;196;p8"/>
          <p:cNvGraphicFramePr/>
          <p:nvPr>
            <p:extLst>
              <p:ext uri="{D42A27DB-BD31-4B8C-83A1-F6EECF244321}">
                <p14:modId xmlns:p14="http://schemas.microsoft.com/office/powerpoint/2010/main" val="2139163547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RKTU(CJJ) 192ft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i="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700" b="0" i="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CJJ 129.05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DCL, ATIS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98" name="Google Shape;198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0396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1BDCFA2-A5FB-A979-2969-6AF8C88B2C70}"/>
              </a:ext>
            </a:extLst>
          </p:cNvPr>
          <p:cNvSpPr txBox="1"/>
          <p:nvPr/>
        </p:nvSpPr>
        <p:spPr>
          <a:xfrm>
            <a:off x="1268244" y="264845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B715E8-BB37-04EE-10D7-8B1B1AEC34A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4" name="Google Shape;204;p9"/>
          <p:cNvGraphicFramePr/>
          <p:nvPr>
            <p:extLst>
              <p:ext uri="{D42A27DB-BD31-4B8C-83A1-F6EECF244321}">
                <p14:modId xmlns:p14="http://schemas.microsoft.com/office/powerpoint/2010/main" val="706008215"/>
              </p:ext>
            </p:extLst>
          </p:nvPr>
        </p:nvGraphicFramePr>
        <p:xfrm>
          <a:off x="0" y="640885"/>
          <a:ext cx="2330975" cy="2324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97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/>
                        <a:t>CJJ : SID (NADP 1) </a:t>
                      </a:r>
                      <a:r>
                        <a:rPr lang="en-US" altLang="ko-Kore-KR" sz="800" dirty="0">
                          <a:solidFill>
                            <a:srgbClr val="C00000"/>
                          </a:solidFill>
                        </a:rPr>
                        <a:t>Caution TCAS RA</a:t>
                      </a: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CJJ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060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060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060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CJJ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240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240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>
                          <a:solidFill>
                            <a:srgbClr val="C00000"/>
                          </a:solidFill>
                        </a:rPr>
                        <a:t>240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When ASR is out, RNAV SID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0891660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(06L : BUKIL 1, 2 RNAV)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(24R : OLREG 1, UPTIL 1)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CHO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24R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06L/R : CHO /1.7, R235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24L/R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06L(166’)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24R(182’)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06R(173’)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24L(191’)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Upslope from Apron to RWY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Entering TWY A3, B3, B4, C3, D3 change TWR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freq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Unless ATC, Taxi SPD less than 20KTS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 not Cross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Holdline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without 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206" name="Google Shape;206;p9"/>
          <p:cNvGraphicFramePr/>
          <p:nvPr>
            <p:extLst>
              <p:ext uri="{D42A27DB-BD31-4B8C-83A1-F6EECF244321}">
                <p14:modId xmlns:p14="http://schemas.microsoft.com/office/powerpoint/2010/main" val="1722761944"/>
              </p:ext>
            </p:extLst>
          </p:nvPr>
        </p:nvGraphicFramePr>
        <p:xfrm>
          <a:off x="-5475" y="16504"/>
          <a:ext cx="2331824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57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RKTU(CJJ) 192ft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CJJ 129.05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NO DCL, ATIS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08" name="Google Shape;208;p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279" y="2968570"/>
            <a:ext cx="1357321" cy="59751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Google Shape;185;p7">
            <a:extLst>
              <a:ext uri="{FF2B5EF4-FFF2-40B4-BE49-F238E27FC236}">
                <a16:creationId xmlns:a16="http://schemas.microsoft.com/office/drawing/2014/main" id="{4AA90139-7D8C-A544-2E49-779F9C6AB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39797365"/>
              </p:ext>
            </p:extLst>
          </p:nvPr>
        </p:nvGraphicFramePr>
        <p:xfrm>
          <a:off x="4472" y="3777984"/>
          <a:ext cx="2304147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96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2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12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4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94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53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791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921916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DOTOL/-10 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627E7042-90F9-8233-76D0-9CC332B16296}"/>
              </a:ext>
            </a:extLst>
          </p:cNvPr>
          <p:cNvSpPr txBox="1"/>
          <p:nvPr/>
        </p:nvSpPr>
        <p:spPr>
          <a:xfrm>
            <a:off x="1268244" y="347233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B6FA1FD-940D-D3E2-F886-CF6AE7CF056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10"/>
          <p:cNvGraphicFramePr/>
          <p:nvPr>
            <p:extLst>
              <p:ext uri="{D42A27DB-BD31-4B8C-83A1-F6EECF244321}">
                <p14:modId xmlns:p14="http://schemas.microsoft.com/office/powerpoint/2010/main" val="3372224988"/>
              </p:ext>
            </p:extLst>
          </p:nvPr>
        </p:nvGraphicFramePr>
        <p:xfrm>
          <a:off x="0" y="646856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AKPON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AKPON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25(77’)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15" name="Google Shape;215;p10"/>
          <p:cNvGraphicFramePr/>
          <p:nvPr>
            <p:extLst>
              <p:ext uri="{D42A27DB-BD31-4B8C-83A1-F6EECF244321}">
                <p14:modId xmlns:p14="http://schemas.microsoft.com/office/powerpoint/2010/main" val="288910894"/>
              </p:ext>
            </p:extLst>
          </p:nvPr>
        </p:nvGraphicFramePr>
        <p:xfrm>
          <a:off x="-2501" y="3598722"/>
          <a:ext cx="2335800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6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0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58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79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3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86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TAE : NO STAR (TL </a:t>
                      </a:r>
                      <a:r>
                        <a:rPr lang="en-US" altLang="ko-KR" sz="800" dirty="0"/>
                        <a:t>140</a:t>
                      </a:r>
                      <a:r>
                        <a:rPr lang="ko-KR" altLang="en-US" sz="800" dirty="0"/>
                        <a:t> 확인</a:t>
                      </a:r>
                      <a:r>
                        <a:rPr lang="en-US" altLang="ko-KR" sz="800" dirty="0"/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31L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TGU/-10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CF31L222/7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</a:t>
                      </a: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13R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TGU/-10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YAWAN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(13R Caution GPWS)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49700757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31L(118’)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13R(111’)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13L(112’)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: D1(8848’), 13R : A1(8772’)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 ILS 3.3도 PAPI 3.3도 (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산악지형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주의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lang="en-US"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Stand 6-9 Oversteering Needed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216" name="Google Shape;216;p10"/>
          <p:cNvGraphicFramePr/>
          <p:nvPr>
            <p:extLst>
              <p:ext uri="{D42A27DB-BD31-4B8C-83A1-F6EECF244321}">
                <p14:modId xmlns:p14="http://schemas.microsoft.com/office/powerpoint/2010/main" val="3243436682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 120ft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18" name="Google Shape;218;p1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9439"/>
            <a:ext cx="1511236" cy="82824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E25A77-AD87-2891-BBA1-3541FE0A27F8}"/>
              </a:ext>
            </a:extLst>
          </p:cNvPr>
          <p:cNvSpPr txBox="1"/>
          <p:nvPr/>
        </p:nvSpPr>
        <p:spPr>
          <a:xfrm>
            <a:off x="1268244" y="3242110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DA96E2-B950-6309-9DF7-4162EDFCF90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4" name="Google Shape;224;p11"/>
          <p:cNvGraphicFramePr/>
          <p:nvPr>
            <p:extLst>
              <p:ext uri="{D42A27DB-BD31-4B8C-83A1-F6EECF244321}">
                <p14:modId xmlns:p14="http://schemas.microsoft.com/office/powerpoint/2010/main" val="4090759542"/>
              </p:ext>
            </p:extLst>
          </p:nvPr>
        </p:nvGraphicFramePr>
        <p:xfrm>
          <a:off x="0" y="640885"/>
          <a:ext cx="2330975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11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8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TAE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312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132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DOC 116.5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TGU 112.2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13R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31 : DOC 245/11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DOC R245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13 : TGU076/17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TGU R076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31L(118’)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13R(112’)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13L(112’)</a:t>
                      </a:r>
                      <a:endParaRPr sz="800" b="1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1F, 2F New Holding Point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25" name="Google Shape;225;p11"/>
          <p:cNvGraphicFramePr/>
          <p:nvPr>
            <p:extLst>
              <p:ext uri="{D42A27DB-BD31-4B8C-83A1-F6EECF244321}">
                <p14:modId xmlns:p14="http://schemas.microsoft.com/office/powerpoint/2010/main" val="159884399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 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DCL Available</a:t>
                      </a:r>
                      <a:endParaRPr sz="700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27" name="Google Shape;227;p11"/>
          <p:cNvGraphicFramePr/>
          <p:nvPr>
            <p:extLst>
              <p:ext uri="{D42A27DB-BD31-4B8C-83A1-F6EECF244321}">
                <p14:modId xmlns:p14="http://schemas.microsoft.com/office/powerpoint/2010/main" val="3647467196"/>
              </p:ext>
            </p:extLst>
          </p:nvPr>
        </p:nvGraphicFramePr>
        <p:xfrm>
          <a:off x="4472" y="3778426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358589612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28" name="Google Shape;228;p1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454649"/>
            <a:ext cx="1619573" cy="76286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942074-6A94-228D-FDEE-D2295CA726A3}"/>
              </a:ext>
            </a:extLst>
          </p:cNvPr>
          <p:cNvSpPr txBox="1"/>
          <p:nvPr/>
        </p:nvSpPr>
        <p:spPr>
          <a:xfrm>
            <a:off x="1268244" y="347972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67C6776-0487-EB3A-5D2B-8CFF3C519A7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4" name="Google Shape;234;p12"/>
          <p:cNvGraphicFramePr/>
          <p:nvPr>
            <p:extLst>
              <p:ext uri="{D42A27DB-BD31-4B8C-83A1-F6EECF244321}">
                <p14:modId xmlns:p14="http://schemas.microsoft.com/office/powerpoint/2010/main" val="3736994476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CJU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AKPON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AKPON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35" name="Google Shape;235;p12"/>
          <p:cNvGraphicFramePr/>
          <p:nvPr>
            <p:extLst>
              <p:ext uri="{D42A27DB-BD31-4B8C-83A1-F6EECF244321}">
                <p14:modId xmlns:p14="http://schemas.microsoft.com/office/powerpoint/2010/main" val="484028238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38" name="Google Shape;238;p1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3340" y="2159090"/>
            <a:ext cx="1511235" cy="82824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Google Shape;137;p4">
            <a:extLst>
              <a:ext uri="{FF2B5EF4-FFF2-40B4-BE49-F238E27FC236}">
                <a16:creationId xmlns:a16="http://schemas.microsoft.com/office/drawing/2014/main" id="{C219BCFB-D529-B116-FE7F-CEFD0CAC2D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7704893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9282C91-A9AE-BCC9-5FEC-78765E574F0D}"/>
              </a:ext>
            </a:extLst>
          </p:cNvPr>
          <p:cNvSpPr txBox="1"/>
          <p:nvPr/>
        </p:nvSpPr>
        <p:spPr>
          <a:xfrm>
            <a:off x="1268244" y="341627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183D78-F73C-097D-0450-1B0DF23C0E7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4" name="Google Shape;244;p13"/>
          <p:cNvGraphicFramePr/>
          <p:nvPr>
            <p:extLst>
              <p:ext uri="{D42A27DB-BD31-4B8C-83A1-F6EECF244321}">
                <p14:modId xmlns:p14="http://schemas.microsoft.com/office/powerpoint/2010/main" val="2774644071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47" name="Google Shape;247;p13"/>
          <p:cNvGraphicFramePr/>
          <p:nvPr>
            <p:extLst>
              <p:ext uri="{D42A27DB-BD31-4B8C-83A1-F6EECF244321}">
                <p14:modId xmlns:p14="http://schemas.microsoft.com/office/powerpoint/2010/main" val="2129385174"/>
              </p:ext>
            </p:extLst>
          </p:nvPr>
        </p:nvGraphicFramePr>
        <p:xfrm>
          <a:off x="0" y="68585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48" name="Google Shape;248;p1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456585"/>
            <a:ext cx="1559909" cy="65182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" name="Google Shape;227;p11">
            <a:extLst>
              <a:ext uri="{FF2B5EF4-FFF2-40B4-BE49-F238E27FC236}">
                <a16:creationId xmlns:a16="http://schemas.microsoft.com/office/drawing/2014/main" id="{04159ABD-A06E-9C8C-66B0-59FD50E49E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12908691"/>
              </p:ext>
            </p:extLst>
          </p:nvPr>
        </p:nvGraphicFramePr>
        <p:xfrm>
          <a:off x="4472" y="3782789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85528768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F894E67-D6BE-5F51-CDC7-89AD8D49986E}"/>
              </a:ext>
            </a:extLst>
          </p:cNvPr>
          <p:cNvSpPr txBox="1"/>
          <p:nvPr/>
        </p:nvSpPr>
        <p:spPr>
          <a:xfrm>
            <a:off x="1268244" y="345960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E11C70-1767-EB3D-06A8-A5C6ED6404C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3977029342"/>
              </p:ext>
            </p:extLst>
          </p:nvPr>
        </p:nvGraphicFramePr>
        <p:xfrm>
          <a:off x="4410" y="3733731"/>
          <a:ext cx="2328514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36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84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9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15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rgbClr val="C00000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only,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/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414385758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23473D7-4ABE-6F46-8862-25F187311782}"/>
              </a:ext>
            </a:extLst>
          </p:cNvPr>
          <p:cNvSpPr txBox="1"/>
          <p:nvPr/>
        </p:nvSpPr>
        <p:spPr>
          <a:xfrm>
            <a:off x="1268244" y="341627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4EAB618-D8DC-48CF-B02D-8D5856DA3E5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21D14C-1E21-FD11-21C8-4C6CDD0F96B8}"/>
              </a:ext>
            </a:extLst>
          </p:cNvPr>
          <p:cNvSpPr txBox="1"/>
          <p:nvPr/>
        </p:nvSpPr>
        <p:spPr>
          <a:xfrm>
            <a:off x="-40600" y="3234813"/>
            <a:ext cx="1707519" cy="3520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dirty="0">
                <a:solidFill>
                  <a:srgbClr val="0070C0"/>
                </a:solidFill>
              </a:rPr>
              <a:t>ICN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국제선 이후 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TRANSIT GD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필요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(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팀장님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)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endParaRPr kumimoji="1" lang="en-US" altLang="ko-KR" sz="600" b="1" dirty="0">
              <a:solidFill>
                <a:srgbClr val="0070C0"/>
              </a:solidFill>
            </a:endParaRPr>
          </a:p>
          <a:p>
            <a:pPr>
              <a:lnSpc>
                <a:spcPct val="150000"/>
              </a:lnSpc>
            </a:pPr>
            <a:r>
              <a:rPr kumimoji="1" lang="en-US" altLang="ko-KR" sz="600" b="1" dirty="0">
                <a:solidFill>
                  <a:srgbClr val="0070C0"/>
                </a:solidFill>
              </a:rPr>
              <a:t>–&gt;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PUS PASSPORT Immigration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해야함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.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endParaRPr kumimoji="1" lang="en-US" altLang="ko-KR" sz="6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3066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/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 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KALOD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GIMHAE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/>
        </p:nvGraphicFramePr>
        <p:xfrm>
          <a:off x="11589" y="3405726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/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D54717-0CDF-0CA7-5D03-6084160528CA}"/>
              </a:ext>
            </a:extLst>
          </p:cNvPr>
          <p:cNvSpPr txBox="1"/>
          <p:nvPr/>
        </p:nvSpPr>
        <p:spPr>
          <a:xfrm>
            <a:off x="1268244" y="305167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9A4E246-6724-775D-52E5-7C58BBF23B1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01929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363464616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4115489392"/>
              </p:ext>
            </p:extLst>
          </p:nvPr>
        </p:nvGraphicFramePr>
        <p:xfrm>
          <a:off x="0" y="603259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23473D7-4ABE-6F46-8862-25F187311782}"/>
              </a:ext>
            </a:extLst>
          </p:cNvPr>
          <p:cNvSpPr txBox="1"/>
          <p:nvPr/>
        </p:nvSpPr>
        <p:spPr>
          <a:xfrm>
            <a:off x="1268244" y="3254550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215;p10">
            <a:extLst>
              <a:ext uri="{FF2B5EF4-FFF2-40B4-BE49-F238E27FC236}">
                <a16:creationId xmlns:a16="http://schemas.microsoft.com/office/drawing/2014/main" id="{46F2EAE1-83BB-44D8-D0AD-C94497717E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34425447"/>
              </p:ext>
            </p:extLst>
          </p:nvPr>
        </p:nvGraphicFramePr>
        <p:xfrm>
          <a:off x="-2501" y="3608444"/>
          <a:ext cx="2335800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6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0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58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79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3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86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TAE : NO STAR (TL </a:t>
                      </a:r>
                      <a:r>
                        <a:rPr lang="en-US" altLang="ko-KR" sz="800" dirty="0"/>
                        <a:t>140</a:t>
                      </a:r>
                      <a:r>
                        <a:rPr lang="ko-KR" altLang="en-US" sz="800" dirty="0"/>
                        <a:t> 확인</a:t>
                      </a:r>
                      <a:r>
                        <a:rPr lang="en-US" altLang="ko-KR" sz="800" dirty="0"/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31L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TGU/-10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CF31L222/7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</a:t>
                      </a: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13R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TGU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YAWAN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(13R Caution GPWS)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819058390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31L(118’)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13R(111’)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13L(112’)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: D1(8848’), 13R : A1(8772’)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 ILS 3.3도 PAPI 3.3도 (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산악지형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주의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최소 </a:t>
                      </a:r>
                      <a:r>
                        <a:rPr lang="en-US" altLang="ko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2000</a:t>
                      </a:r>
                      <a:r>
                        <a:rPr lang="en-US" altLang="ko-Kore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ft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Stand 6-9 Oversteering Needed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5B56488-523A-FABA-71D8-1FDCCDC5A78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13895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3" name="Google Shape;283;p17"/>
          <p:cNvGraphicFramePr/>
          <p:nvPr/>
        </p:nvGraphicFramePr>
        <p:xfrm>
          <a:off x="11589" y="3405726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150720750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DCL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D54717-0CDF-0CA7-5D03-6084160528CA}"/>
              </a:ext>
            </a:extLst>
          </p:cNvPr>
          <p:cNvSpPr txBox="1"/>
          <p:nvPr/>
        </p:nvSpPr>
        <p:spPr>
          <a:xfrm>
            <a:off x="1268244" y="305167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224;p11">
            <a:extLst>
              <a:ext uri="{FF2B5EF4-FFF2-40B4-BE49-F238E27FC236}">
                <a16:creationId xmlns:a16="http://schemas.microsoft.com/office/drawing/2014/main" id="{C1B1F82E-30BE-00FB-5A4B-DD199393502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56694776"/>
              </p:ext>
            </p:extLst>
          </p:nvPr>
        </p:nvGraphicFramePr>
        <p:xfrm>
          <a:off x="0" y="640885"/>
          <a:ext cx="2330975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11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8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TAE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312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132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DOC 116.5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TGU 112.2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13R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31 : DOC 245/11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DOC R245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13 : TGU076/17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TGU R076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31L(118’)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13R(112’)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13L(112’)</a:t>
                      </a:r>
                      <a:endParaRPr sz="800" b="1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1F, 2F New Holding Point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4" name="Google Shape;228;p11">
            <a:extLst>
              <a:ext uri="{FF2B5EF4-FFF2-40B4-BE49-F238E27FC236}">
                <a16:creationId xmlns:a16="http://schemas.microsoft.com/office/drawing/2014/main" id="{B662BD49-2593-FB88-2E41-E4E267C1E701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" y="2473309"/>
            <a:ext cx="1451344" cy="661941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749DF53-0E6F-B1AF-BAFC-7A192ADE9C4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41516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273620273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>
            <p:extLst>
              <p:ext uri="{D42A27DB-BD31-4B8C-83A1-F6EECF244321}">
                <p14:modId xmlns:p14="http://schemas.microsoft.com/office/powerpoint/2010/main" val="3945761188"/>
              </p:ext>
            </p:extLst>
          </p:nvPr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3" y="2389151"/>
            <a:ext cx="721464" cy="37597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58" name="Google Shape;258;p14"/>
          <p:cNvGraphicFramePr/>
          <p:nvPr>
            <p:extLst>
              <p:ext uri="{D42A27DB-BD31-4B8C-83A1-F6EECF244321}">
                <p14:modId xmlns:p14="http://schemas.microsoft.com/office/powerpoint/2010/main" val="1326104498"/>
              </p:ext>
            </p:extLst>
          </p:nvPr>
        </p:nvGraphicFramePr>
        <p:xfrm>
          <a:off x="1596" y="3233287"/>
          <a:ext cx="2331400" cy="2302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HAKKA 330,YAGAN 240,LIVET 210,SWAMP 150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Prepare Holding or RWY CHG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T)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ELGAR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(TYLER)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G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N)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GEMIN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(NORMA)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2779805"/>
            <a:ext cx="2335896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 – TKO 133.8 – 133.02 – 132.45 -124.1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128.2 – TKO APP 124.4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4" name="Google Shape;264;p15"/>
          <p:cNvGraphicFramePr/>
          <p:nvPr>
            <p:extLst>
              <p:ext uri="{D42A27DB-BD31-4B8C-83A1-F6EECF244321}">
                <p14:modId xmlns:p14="http://schemas.microsoft.com/office/powerpoint/2010/main" val="332034159"/>
              </p:ext>
            </p:extLst>
          </p:nvPr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1186535340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>
            <p:extLst>
              <p:ext uri="{D42A27DB-BD31-4B8C-83A1-F6EECF244321}">
                <p14:modId xmlns:p14="http://schemas.microsoft.com/office/powerpoint/2010/main" val="2168672014"/>
              </p:ext>
            </p:extLst>
          </p:nvPr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-20938" y="2576930"/>
            <a:ext cx="1787669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133.45 – 133.02 – 133.8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4146721415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 SWISSPORT  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OPERATION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/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389151"/>
            <a:ext cx="1017503" cy="66178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3168865"/>
            <a:ext cx="1691489" cy="478455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 – TKO 133.8 – 133.02 </a:t>
            </a:r>
          </a:p>
          <a:p>
            <a:pPr>
              <a:lnSpc>
                <a:spcPct val="150000"/>
              </a:lnSpc>
            </a:pPr>
            <a:r>
              <a:rPr kumimoji="1" lang="ko-KR" altLang="en-US" sz="700" b="1" u="sng" dirty="0" err="1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센트레아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121.05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92;p18">
            <a:extLst>
              <a:ext uri="{FF2B5EF4-FFF2-40B4-BE49-F238E27FC236}">
                <a16:creationId xmlns:a16="http://schemas.microsoft.com/office/drawing/2014/main" id="{83E1A208-D550-C97A-7CA4-81BFC5838C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9231886"/>
              </p:ext>
            </p:extLst>
          </p:nvPr>
        </p:nvGraphicFramePr>
        <p:xfrm>
          <a:off x="4472" y="3754546"/>
          <a:ext cx="2331400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9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4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STAR (SAMON 290, MARIA 130)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SOUTH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PROBE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NORTH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QUEST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6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36(15’)     11483’     18(15’)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 : A6(5213’), A7(6525’), A8(7837’)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A5(5393’), A4(6528’), A3(7841’)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: After 1500ft L/D FLAP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18 : After 3000ft L/G DN &amp; L/D FLAP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Caution Stop line, Yellow Ramp line, VDGS!!!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91840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314058584"/>
              </p:ext>
            </p:extLst>
          </p:nvPr>
        </p:nvGraphicFramePr>
        <p:xfrm>
          <a:off x="-2501" y="16504"/>
          <a:ext cx="2328850" cy="682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13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4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SWISSPORT OPERATION</a:t>
                      </a:r>
                      <a:r>
                        <a:rPr lang="en-US" sz="9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132.05</a:t>
                      </a:r>
                      <a:r>
                        <a:rPr lang="en-US" sz="14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/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-20938" y="2180233"/>
            <a:ext cx="148149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120.0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133.45 – 133.02 – 133.8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300;p19">
            <a:extLst>
              <a:ext uri="{FF2B5EF4-FFF2-40B4-BE49-F238E27FC236}">
                <a16:creationId xmlns:a16="http://schemas.microsoft.com/office/drawing/2014/main" id="{A4C89653-4217-EFE7-7FC0-2E8C5F9AF4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0824174"/>
              </p:ext>
            </p:extLst>
          </p:nvPr>
        </p:nvGraphicFramePr>
        <p:xfrm>
          <a:off x="0" y="699320"/>
          <a:ext cx="2332950" cy="1468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SID – TANGO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OUMI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- TANGO </a:t>
                      </a:r>
                      <a:r>
                        <a:rPr lang="en-US" sz="800" dirty="0" err="1"/>
                        <a:t>tx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356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176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CBE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117.8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18 109.7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11483’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 30min, Prepare Intersection T/O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76754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1046067484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 KE FUK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/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389151"/>
            <a:ext cx="1017503" cy="66178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3073409"/>
            <a:ext cx="1786066" cy="478455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118.9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APP 119.65 – FUK RDR 121.125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73;p16">
            <a:extLst>
              <a:ext uri="{FF2B5EF4-FFF2-40B4-BE49-F238E27FC236}">
                <a16:creationId xmlns:a16="http://schemas.microsoft.com/office/drawing/2014/main" id="{2C7D814E-F3C6-1679-11D0-3BA5E49BE70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53439758"/>
              </p:ext>
            </p:extLst>
          </p:nvPr>
        </p:nvGraphicFramePr>
        <p:xfrm>
          <a:off x="4410" y="3577043"/>
          <a:ext cx="2305886" cy="19638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9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226">
                  <a:extLst>
                    <a:ext uri="{9D8B030D-6E8A-4147-A177-3AD203B41FA5}">
                      <a16:colId xmlns:a16="http://schemas.microsoft.com/office/drawing/2014/main" val="1384067485"/>
                    </a:ext>
                  </a:extLst>
                </a:gridCol>
                <a:gridCol w="9055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RNAV STAR, RDR Vectoring from IKE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(PAVGA 13000ft)</a:t>
                      </a:r>
                      <a:r>
                        <a:rPr lang="en-US" sz="8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W of IKE published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(Confirm FMS DATA)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SARUP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ENTIX 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ILS,RNP, LOC 16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HAWKS WEST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RWY34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HAWKS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VIS 34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ILS, RNP, LOC 34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16(15’)                 9186’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              34(32’)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16 : C6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(5505’), C7(6407’),  34 : C4(5193’), C3(6354’)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DGC VOR out of 6NM A/P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VIS 34 :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After IKE – RDR Vector Downwind – 1800ft – RWY Insight 1500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ft – Before L/D CHK Complete before base (Do not Extend Downwind due Terrain)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28293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361834748"/>
              </p:ext>
            </p:extLst>
          </p:nvPr>
        </p:nvGraphicFramePr>
        <p:xfrm>
          <a:off x="-2501" y="16505"/>
          <a:ext cx="2328850" cy="6096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21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FUK 132.05</a:t>
                      </a:r>
                      <a:r>
                        <a:rPr lang="en-US" sz="1400" dirty="0">
                          <a:solidFill>
                            <a:schemeClr val="dk1"/>
                          </a:solidFill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-15min,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/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1204369" y="2315681"/>
            <a:ext cx="704039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135.65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82;p17">
            <a:extLst>
              <a:ext uri="{FF2B5EF4-FFF2-40B4-BE49-F238E27FC236}">
                <a16:creationId xmlns:a16="http://schemas.microsoft.com/office/drawing/2014/main" id="{C17B30FB-054D-E017-8A84-FFD35EC5659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22227561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(Consider C2, C8 Intersection T/O)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HAKATA xx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158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338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DGC 114.5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34 108.9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16</a:t>
                      </a:r>
                      <a:r>
                        <a:rPr lang="en-US" sz="800" dirty="0"/>
                        <a:t> : DGC 156/20 R240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(DGC VOR out of 6NM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16(15’)                 9186’                34(32’)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Caution GP HOLD LINE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Initial CTC TWR, “Ready for departure”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RWSL(Runway Status Lights) in operation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그림 6" descr="지도, 텍스트, 도표, 아틀라스이(가) 표시된 사진&#10;&#10;자동 생성된 설명">
            <a:extLst>
              <a:ext uri="{FF2B5EF4-FFF2-40B4-BE49-F238E27FC236}">
                <a16:creationId xmlns:a16="http://schemas.microsoft.com/office/drawing/2014/main" id="{F8C59922-12DD-5524-7A34-49E960AAC4D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95" y="2239966"/>
            <a:ext cx="1102787" cy="99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5785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429749342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40006007"/>
              </p:ext>
            </p:extLst>
          </p:nvPr>
        </p:nvGraphicFramePr>
        <p:xfrm>
          <a:off x="4472" y="3705686"/>
          <a:ext cx="2331400" cy="183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STAR (SAEKI 170, RANDY 150)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B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BERRY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A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ALLAN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C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MAYAH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68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06L(15’)    13123’    24R(23’)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68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06R(5’)      11483’     24L(12’)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 : B8(5160’), B6(6751’), 24R : B7(5318’), B9(6751’)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06R : A7(5137’), A6(6938’), 24L : A8(5269’), A9(6976’)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RWY06 : After 2500ft L/G DN, After 1500ft L/D FLAP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RTE 1(via J4), 2(via J3)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00156307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KIX 130.95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74756" y="3192214"/>
            <a:ext cx="251222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– FUK 124.15 -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RDR 120.85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APP 120.25 </a:t>
            </a: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4712840-8D61-AB2A-6929-88E6EAC824AC}"/>
              </a:ext>
            </a:extLst>
          </p:cNvPr>
          <p:cNvSpPr/>
          <p:nvPr/>
        </p:nvSpPr>
        <p:spPr>
          <a:xfrm>
            <a:off x="1622852" y="337973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273FDD-E3BC-4C98-FE4C-6B5FFE0AD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0" name="Google Shape;300;p19"/>
          <p:cNvGraphicFramePr/>
          <p:nvPr>
            <p:extLst>
              <p:ext uri="{D42A27DB-BD31-4B8C-83A1-F6EECF244321}">
                <p14:modId xmlns:p14="http://schemas.microsoft.com/office/powerpoint/2010/main" val="2829744786"/>
              </p:ext>
            </p:extLst>
          </p:nvPr>
        </p:nvGraphicFramePr>
        <p:xfrm>
          <a:off x="0" y="611908"/>
          <a:ext cx="23329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SID – SOUJA tx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HELEN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- SOUJA tx</a:t>
                      </a:r>
                      <a:endParaRPr sz="80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059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239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111.6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24L 110.7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24R 108.5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06L(15’)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06R (5’)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24L (12’)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Start, TAXI RTE 1(via J4), 2(via J3)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01" name="Google Shape;301;p19"/>
          <p:cNvGraphicFramePr/>
          <p:nvPr>
            <p:extLst>
              <p:ext uri="{D42A27DB-BD31-4B8C-83A1-F6EECF244321}">
                <p14:modId xmlns:p14="http://schemas.microsoft.com/office/powerpoint/2010/main" val="2665713310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KIX 130.95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03" name="Google Shape;303;p19"/>
          <p:cNvGraphicFramePr/>
          <p:nvPr>
            <p:extLst>
              <p:ext uri="{D42A27DB-BD31-4B8C-83A1-F6EECF244321}">
                <p14:modId xmlns:p14="http://schemas.microsoft.com/office/powerpoint/2010/main" val="2245363245"/>
              </p:ext>
            </p:extLst>
          </p:nvPr>
        </p:nvGraphicFramePr>
        <p:xfrm>
          <a:off x="-5861" y="3410462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81FD245-E43C-5EBF-6DC5-C4C9F9774FB6}"/>
              </a:ext>
            </a:extLst>
          </p:cNvPr>
          <p:cNvSpPr txBox="1"/>
          <p:nvPr/>
        </p:nvSpPr>
        <p:spPr>
          <a:xfrm>
            <a:off x="-20938" y="2486190"/>
            <a:ext cx="99418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132.7 –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AE14337-B047-BE87-76E3-9B5D9B8E501D}"/>
              </a:ext>
            </a:extLst>
          </p:cNvPr>
          <p:cNvSpPr/>
          <p:nvPr/>
        </p:nvSpPr>
        <p:spPr>
          <a:xfrm>
            <a:off x="1622852" y="295147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F9DBE84-CD0F-95F2-9F79-E83F51FD81B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9" name="Google Shape;309;p20"/>
          <p:cNvGraphicFramePr/>
          <p:nvPr>
            <p:extLst>
              <p:ext uri="{D42A27DB-BD31-4B8C-83A1-F6EECF244321}">
                <p14:modId xmlns:p14="http://schemas.microsoft.com/office/powerpoint/2010/main" val="1311934234"/>
              </p:ext>
            </p:extLst>
          </p:nvPr>
        </p:nvGraphicFramePr>
        <p:xfrm>
          <a:off x="0" y="565414"/>
          <a:ext cx="2332925" cy="2496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10" name="Google Shape;310;p20"/>
          <p:cNvGraphicFramePr/>
          <p:nvPr>
            <p:extLst>
              <p:ext uri="{D42A27DB-BD31-4B8C-83A1-F6EECF244321}">
                <p14:modId xmlns:p14="http://schemas.microsoft.com/office/powerpoint/2010/main" val="2069230007"/>
              </p:ext>
            </p:extLst>
          </p:nvPr>
        </p:nvGraphicFramePr>
        <p:xfrm>
          <a:off x="1596" y="3416428"/>
          <a:ext cx="2331400" cy="2180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HAKKA 330,YAGAN 240,LIVET 210,SWAMP 150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T)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ELGAR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(TYLER)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G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N)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GEMIN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(NORMA)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11" name="Google Shape;311;p20"/>
          <p:cNvGraphicFramePr/>
          <p:nvPr>
            <p:extLst>
              <p:ext uri="{D42A27DB-BD31-4B8C-83A1-F6EECF244321}">
                <p14:modId xmlns:p14="http://schemas.microsoft.com/office/powerpoint/2010/main" val="2356614443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348A56-DF69-97BA-6C0C-39EEA383FCDD}"/>
              </a:ext>
            </a:extLst>
          </p:cNvPr>
          <p:cNvSpPr txBox="1"/>
          <p:nvPr/>
        </p:nvSpPr>
        <p:spPr>
          <a:xfrm>
            <a:off x="-91698" y="3094015"/>
            <a:ext cx="2063385" cy="281991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24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15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.02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124.1-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128.2 – TKO APP 124.4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120.2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03909F-D98D-16B4-E03D-223D925F26E1}"/>
              </a:ext>
            </a:extLst>
          </p:cNvPr>
          <p:cNvSpPr/>
          <p:nvPr/>
        </p:nvSpPr>
        <p:spPr>
          <a:xfrm>
            <a:off x="1663362" y="317717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0BD91C-DB99-852F-BA1E-37D83389EC4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8" name="Google Shape;318;p21"/>
          <p:cNvGraphicFramePr/>
          <p:nvPr>
            <p:extLst>
              <p:ext uri="{D42A27DB-BD31-4B8C-83A1-F6EECF244321}">
                <p14:modId xmlns:p14="http://schemas.microsoft.com/office/powerpoint/2010/main" val="3209609890"/>
              </p:ext>
            </p:extLst>
          </p:nvPr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9" name="Google Shape;319;p21"/>
          <p:cNvGraphicFramePr/>
          <p:nvPr>
            <p:extLst>
              <p:ext uri="{D42A27DB-BD31-4B8C-83A1-F6EECF244321}">
                <p14:modId xmlns:p14="http://schemas.microsoft.com/office/powerpoint/2010/main" val="408014611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Tokyo 131.70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21" name="Google Shape;321;p21"/>
          <p:cNvGraphicFramePr/>
          <p:nvPr>
            <p:extLst>
              <p:ext uri="{D42A27DB-BD31-4B8C-83A1-F6EECF244321}">
                <p14:modId xmlns:p14="http://schemas.microsoft.com/office/powerpoint/2010/main" val="3534321627"/>
              </p:ext>
            </p:extLst>
          </p:nvPr>
        </p:nvGraphicFramePr>
        <p:xfrm>
          <a:off x="-5861" y="340566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305CE87-CB2D-B9F1-7BCB-D3D6DE9B003F}"/>
              </a:ext>
            </a:extLst>
          </p:cNvPr>
          <p:cNvSpPr txBox="1"/>
          <p:nvPr/>
        </p:nvSpPr>
        <p:spPr>
          <a:xfrm>
            <a:off x="-20938" y="2566981"/>
            <a:ext cx="1787669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133.45 – 133.02 –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1F60108-1835-DB8D-420A-D0FC0E5B5987}"/>
              </a:ext>
            </a:extLst>
          </p:cNvPr>
          <p:cNvSpPr/>
          <p:nvPr/>
        </p:nvSpPr>
        <p:spPr>
          <a:xfrm>
            <a:off x="1622852" y="29919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AC28DF6-545E-A19C-0E4B-50E8331FA0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>
            <p:extLst>
              <p:ext uri="{D42A27DB-BD31-4B8C-83A1-F6EECF244321}">
                <p14:modId xmlns:p14="http://schemas.microsoft.com/office/powerpoint/2010/main" val="1123046964"/>
              </p:ext>
            </p:extLst>
          </p:nvPr>
        </p:nvGraphicFramePr>
        <p:xfrm>
          <a:off x="0" y="565414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349915081"/>
              </p:ext>
            </p:extLst>
          </p:nvPr>
        </p:nvGraphicFramePr>
        <p:xfrm>
          <a:off x="1596" y="3632328"/>
          <a:ext cx="2331375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CTS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(01R : IDEMI FL150, 19L : NAVER FL170)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01R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YOTEI SOUTH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(YUKII WEST)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YOTEI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not YOSEI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Y/Z 01R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3000/2000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19L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19R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CAT III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NAVER(170)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YUNEY SOUTH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(KAORY 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KAORY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YUNEY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(KAORY)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19L</a:t>
                      </a:r>
                      <a:endParaRPr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01R(57’)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01L(62’)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19L(77’)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19R(82’)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01R : B4(5278’), B3(7047’), 19L : B8(5177’), B9(7119’)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01L : A5(5538’), A4(6961’), 19R : A7(5390’), A8(6873’)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Do not Cross 01L/19R After L/D (No TWY)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to Gate Via D(J) or G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3315412402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RJCC(CTS) 70ft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Chitose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1878" y="3155242"/>
            <a:ext cx="2085827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24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15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133.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132.3 - SPR 133.3 -119.3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CTS APP 120.1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1608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/>
        </p:nvGraphicFramePr>
        <p:xfrm>
          <a:off x="0" y="611908"/>
          <a:ext cx="2332950" cy="1598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CTS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DALBI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SUVIT x SOSHU x</a:t>
                      </a:r>
                      <a:endParaRPr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002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002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002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CHE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116.9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01R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19L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01L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19R 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01R(57’)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01L(62’)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19L(77’)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19R(82’)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accent1"/>
                          </a:solidFill>
                        </a:rPr>
                        <a:t>APU, Deicing at the Gate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R/H turn DCT to HWE -&gt; Confirm R/H Turn ND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423840068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RJCC(CTS) 70ft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Chitose Oper 132.05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NO DCL -5분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>
            <p:extLst>
              <p:ext uri="{D42A27DB-BD31-4B8C-83A1-F6EECF244321}">
                <p14:modId xmlns:p14="http://schemas.microsoft.com/office/powerpoint/2010/main" val="1453061728"/>
              </p:ext>
            </p:extLst>
          </p:nvPr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-20938" y="2172085"/>
            <a:ext cx="159691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119.3 – TKO 124.5 - 132.3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133.02 – 124.15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5" name="Google Shape;345;p24"/>
          <p:cNvGraphicFramePr/>
          <p:nvPr>
            <p:extLst>
              <p:ext uri="{D42A27DB-BD31-4B8C-83A1-F6EECF244321}">
                <p14:modId xmlns:p14="http://schemas.microsoft.com/office/powerpoint/2010/main" val="429565451"/>
              </p:ext>
            </p:extLst>
          </p:nvPr>
        </p:nvGraphicFramePr>
        <p:xfrm>
          <a:off x="0" y="565414"/>
          <a:ext cx="2332925" cy="252526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9250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9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834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834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495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4958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4958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4958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46" name="Google Shape;346;p24"/>
          <p:cNvGraphicFramePr/>
          <p:nvPr>
            <p:extLst>
              <p:ext uri="{D42A27DB-BD31-4B8C-83A1-F6EECF244321}">
                <p14:modId xmlns:p14="http://schemas.microsoft.com/office/powerpoint/2010/main" val="4181943612"/>
              </p:ext>
            </p:extLst>
          </p:nvPr>
        </p:nvGraphicFramePr>
        <p:xfrm>
          <a:off x="1596" y="3473578"/>
          <a:ext cx="2313550" cy="2065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0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2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4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5413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HND : </a:t>
                      </a:r>
                      <a:r>
                        <a:rPr lang="en-US" altLang="ko-Kore-KR" sz="800" dirty="0">
                          <a:solidFill>
                            <a:srgbClr val="FFC000"/>
                          </a:solidFill>
                        </a:rPr>
                        <a:t>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XAC Night– APP xxx Y 1400z~</a:t>
                      </a:r>
                      <a:r>
                        <a:rPr lang="en-US" sz="800" dirty="0"/>
                        <a:t> </a:t>
                      </a:r>
                      <a:r>
                        <a:rPr lang="en-US" altLang="ko-Kore-KR" sz="800" dirty="0"/>
                        <a:t>SPENS 220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</a:t>
                      </a:r>
                      <a:r>
                        <a:rPr lang="en-US" sz="800" b="1" dirty="0" err="1"/>
                        <a:t>xK</a:t>
                      </a:r>
                      <a:r>
                        <a:rPr lang="en-US" sz="800" b="0" dirty="0"/>
                        <a:t>/H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KAIHO</a:t>
                      </a:r>
                      <a:r>
                        <a:rPr lang="en-US" sz="800" b="0" dirty="0"/>
                        <a:t>/CACAO</a:t>
                      </a:r>
                      <a:endParaRPr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X </a:t>
                      </a:r>
                      <a:r>
                        <a:rPr lang="en-US" sz="800" b="0" dirty="0"/>
                        <a:t>/ VIS</a:t>
                      </a:r>
                      <a:endParaRPr sz="458" b="0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22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</a:t>
                      </a:r>
                      <a:r>
                        <a:rPr lang="en-US" sz="800" b="1" dirty="0" err="1"/>
                        <a:t>xB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BACON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LDA W(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RNVW 22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R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NATTY</a:t>
                      </a:r>
                      <a:r>
                        <a:rPr lang="en-US" sz="800" b="0" dirty="0"/>
                        <a:t>/SANDY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RNP(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R16RT</a:t>
                      </a:r>
                      <a:r>
                        <a:rPr lang="en-US" sz="8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/R16LT</a:t>
                      </a: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458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23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-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DANON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LDA W(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RNVW 23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0085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34L(18’) 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16R(77’) 8268’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008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34R(21’) 9843’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16L(19’) 9744’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008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22(35’) 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23(55’) 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158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34L : L12(6515’), L13(7165’), 22 : B4(6207’), B3(6830’)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16R : L5(5147’), L3(6361’), 23 : 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D5(5072’), D3(6391’)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907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</a:rPr>
                        <a:t>xxx Z : 180kts, 160kts limit APP Chart, xxx Y After 1400z</a:t>
                      </a:r>
                      <a:endParaRPr sz="7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347" name="Google Shape;347;p24"/>
          <p:cNvGraphicFramePr/>
          <p:nvPr>
            <p:extLst>
              <p:ext uri="{D42A27DB-BD31-4B8C-83A1-F6EECF244321}">
                <p14:modId xmlns:p14="http://schemas.microsoft.com/office/powerpoint/2010/main" val="134299945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RJTT(HND) 21ft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Delta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132.075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BC63946-A7CD-77E9-F5B8-CBBDBDCC5ADA}"/>
              </a:ext>
            </a:extLst>
          </p:cNvPr>
          <p:cNvSpPr txBox="1"/>
          <p:nvPr/>
        </p:nvSpPr>
        <p:spPr>
          <a:xfrm>
            <a:off x="-41878" y="3028026"/>
            <a:ext cx="2212465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–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133.02 – TKO 120.5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133.35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APP 119.1 – 119.65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883402A-2C06-3020-A385-CD1C99F5016F}"/>
              </a:ext>
            </a:extLst>
          </p:cNvPr>
          <p:cNvSpPr/>
          <p:nvPr/>
        </p:nvSpPr>
        <p:spPr>
          <a:xfrm>
            <a:off x="1622852" y="315981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2E95AF-4A51-6082-8123-DE5EE03D2C2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411E119-4026-CE0D-8F48-49BFB4C46FBA}"/>
              </a:ext>
            </a:extLst>
          </p:cNvPr>
          <p:cNvSpPr txBox="1"/>
          <p:nvPr/>
        </p:nvSpPr>
        <p:spPr>
          <a:xfrm>
            <a:off x="624812" y="2553021"/>
            <a:ext cx="128753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ATIS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FUK 133.02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354" name="Google Shape;354;p25"/>
          <p:cNvGraphicFramePr/>
          <p:nvPr>
            <p:extLst>
              <p:ext uri="{D42A27DB-BD31-4B8C-83A1-F6EECF244321}">
                <p14:modId xmlns:p14="http://schemas.microsoft.com/office/powerpoint/2010/main" val="2578373620"/>
              </p:ext>
            </p:extLst>
          </p:nvPr>
        </p:nvGraphicFramePr>
        <p:xfrm>
          <a:off x="0" y="611909"/>
          <a:ext cx="2320125" cy="20055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5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603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579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74725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HND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(xx B/C 2200-0230z 0600-1000z)</a:t>
                      </a:r>
                      <a:r>
                        <a:rPr lang="en-US" sz="800" dirty="0"/>
                        <a:t> NADP 1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ALL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BEKLA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OPPAR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RWY H/D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RWY CRS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RWY H/D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86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HME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112.2</a:t>
                      </a:r>
                      <a:endParaRPr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111.7</a:t>
                      </a:r>
                      <a:endParaRPr sz="458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111.55</a:t>
                      </a:r>
                      <a:endParaRPr sz="80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111.95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23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110.5</a:t>
                      </a:r>
                      <a:endParaRPr sz="80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800">
                <a:tc rowSpan="3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34L(18’)        9843’       16R(77’)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88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34R(21’)       11024’      16L(19’)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8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04(19’)        8202’       05(46’)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865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34L : HME 351/1.1, R095, 34R : HME R080, R095, 22 : HME /2.2 R185 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89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accent1"/>
                          </a:solidFill>
                        </a:rPr>
                        <a:t>34R BEKLA : KAIJI 230kts, TORAM Flap5 SPD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accent1"/>
                          </a:solidFill>
                        </a:rPr>
                        <a:t>16L : BEKLA : PLUTO 230kts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</a:rPr>
                        <a:t>RWY05 RTE5 TAXI Chart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55" name="Google Shape;355;p25"/>
          <p:cNvGraphicFramePr/>
          <p:nvPr>
            <p:extLst>
              <p:ext uri="{D42A27DB-BD31-4B8C-83A1-F6EECF244321}">
                <p14:modId xmlns:p14="http://schemas.microsoft.com/office/powerpoint/2010/main" val="143610559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RJTT(HND) 21ft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Delta Oper 132.075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7" name="Google Shape;357;p25"/>
          <p:cNvGraphicFramePr/>
          <p:nvPr>
            <p:extLst>
              <p:ext uri="{D42A27DB-BD31-4B8C-83A1-F6EECF244321}">
                <p14:modId xmlns:p14="http://schemas.microsoft.com/office/powerpoint/2010/main" val="4292766258"/>
              </p:ext>
            </p:extLst>
          </p:nvPr>
        </p:nvGraphicFramePr>
        <p:xfrm>
          <a:off x="-5861" y="34050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358" name="Google Shape;358;p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606644"/>
            <a:ext cx="711976" cy="60962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3582B6-F7D2-6EF3-A8F0-CE2C1812FEDF}"/>
              </a:ext>
            </a:extLst>
          </p:cNvPr>
          <p:cNvSpPr/>
          <p:nvPr/>
        </p:nvSpPr>
        <p:spPr>
          <a:xfrm>
            <a:off x="1622852" y="300356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594720C-B6A0-A9A8-C0C5-31BACFE322E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535207270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641847903"/>
              </p:ext>
            </p:extLst>
          </p:nvPr>
        </p:nvGraphicFramePr>
        <p:xfrm>
          <a:off x="-2501" y="16504"/>
          <a:ext cx="2328850" cy="6050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</a:t>
                      </a:r>
                      <a:r>
                        <a:rPr lang="en-US" sz="800" dirty="0"/>
                        <a:t>SWISSPORT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    OPERATION    </a:t>
                      </a:r>
                      <a:r>
                        <a:rPr lang="en-US" sz="900" dirty="0"/>
                        <a:t>132.05</a:t>
                      </a:r>
                      <a:endParaRPr sz="900" dirty="0"/>
                    </a:p>
                  </a:txBody>
                  <a:tcPr marL="91450" marR="9145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" name="Google Shape;292;p18">
            <a:extLst>
              <a:ext uri="{FF2B5EF4-FFF2-40B4-BE49-F238E27FC236}">
                <a16:creationId xmlns:a16="http://schemas.microsoft.com/office/drawing/2014/main" id="{875A20F2-11E7-1F75-20D8-CFED1D1E2C0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50715261"/>
              </p:ext>
            </p:extLst>
          </p:nvPr>
        </p:nvGraphicFramePr>
        <p:xfrm>
          <a:off x="4472" y="3754546"/>
          <a:ext cx="2331400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9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4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STAR (SAMON 290, MARIA 130)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SOUTH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PROBE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NORTH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QUEST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6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36(15’)     11483’     18(15’)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 : A6(5213’), A7(6525’), A8(7837’)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A5(5393’), A4(6528’), A3(7841’)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: After 1500ft L/D FLAP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18 : After 3000ft L/G DN &amp; L/D FLAP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Caution Stop line, Yellow Ramp line, VDGS!!!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D1FC2543-C4A5-9C11-508F-89BF4833E0A4}"/>
              </a:ext>
            </a:extLst>
          </p:cNvPr>
          <p:cNvSpPr txBox="1"/>
          <p:nvPr/>
        </p:nvSpPr>
        <p:spPr>
          <a:xfrm>
            <a:off x="27922" y="3289355"/>
            <a:ext cx="1632178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134.17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TKO 133.8 – 133.02</a:t>
            </a:r>
          </a:p>
          <a:p>
            <a:r>
              <a:rPr kumimoji="1" lang="ko-KR" altLang="en-US" sz="700" b="1" u="sng" dirty="0" err="1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센트레아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121.05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F4ECAC-C9A4-C401-BEF9-9B74E7F75934}"/>
              </a:ext>
            </a:extLst>
          </p:cNvPr>
          <p:cNvSpPr/>
          <p:nvPr/>
        </p:nvSpPr>
        <p:spPr>
          <a:xfrm>
            <a:off x="1651788" y="340867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8F7711A-A078-A852-471C-DDD7F032B1E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56796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0" name="Google Shape;300;p19"/>
          <p:cNvGraphicFramePr/>
          <p:nvPr>
            <p:extLst>
              <p:ext uri="{D42A27DB-BD31-4B8C-83A1-F6EECF244321}">
                <p14:modId xmlns:p14="http://schemas.microsoft.com/office/powerpoint/2010/main" val="943093384"/>
              </p:ext>
            </p:extLst>
          </p:nvPr>
        </p:nvGraphicFramePr>
        <p:xfrm>
          <a:off x="0" y="611908"/>
          <a:ext cx="2332950" cy="1468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SID – TANGO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OUMI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- TANGO </a:t>
                      </a:r>
                      <a:r>
                        <a:rPr lang="en-US" sz="800" dirty="0" err="1"/>
                        <a:t>tx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356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176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CBE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117.8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18 109.7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11483’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 30min, Prepare Intersection T/O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01" name="Google Shape;301;p19"/>
          <p:cNvGraphicFramePr/>
          <p:nvPr>
            <p:extLst>
              <p:ext uri="{D42A27DB-BD31-4B8C-83A1-F6EECF244321}">
                <p14:modId xmlns:p14="http://schemas.microsoft.com/office/powerpoint/2010/main" val="264206623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/>
                        <a:t>SWISSPORT OPERATION</a:t>
                      </a:r>
                      <a:r>
                        <a:rPr lang="en-US" altLang="ko-Kore-KR" sz="900" dirty="0"/>
                        <a:t>  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   132.05    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03" name="Google Shape;303;p19"/>
          <p:cNvGraphicFramePr/>
          <p:nvPr>
            <p:extLst>
              <p:ext uri="{D42A27DB-BD31-4B8C-83A1-F6EECF244321}">
                <p14:modId xmlns:p14="http://schemas.microsoft.com/office/powerpoint/2010/main" val="3777137728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91CF481-65C3-26D3-95AE-3671F3B5E010}"/>
              </a:ext>
            </a:extLst>
          </p:cNvPr>
          <p:cNvSpPr txBox="1"/>
          <p:nvPr/>
        </p:nvSpPr>
        <p:spPr>
          <a:xfrm>
            <a:off x="27922" y="2473269"/>
            <a:ext cx="1632178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120.0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33.8 – 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52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5C69C5F-473C-23C7-E8DB-164948105765}"/>
              </a:ext>
            </a:extLst>
          </p:cNvPr>
          <p:cNvSpPr/>
          <p:nvPr/>
        </p:nvSpPr>
        <p:spPr>
          <a:xfrm>
            <a:off x="1622852" y="2986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D2B1E1-5D0A-9574-5547-A89097C5B4B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8306447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3153203903"/>
              </p:ext>
            </p:extLst>
          </p:nvPr>
        </p:nvGraphicFramePr>
        <p:xfrm>
          <a:off x="4410" y="3597139"/>
          <a:ext cx="2305886" cy="192485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9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226">
                  <a:extLst>
                    <a:ext uri="{9D8B030D-6E8A-4147-A177-3AD203B41FA5}">
                      <a16:colId xmlns:a16="http://schemas.microsoft.com/office/drawing/2014/main" val="1384067485"/>
                    </a:ext>
                  </a:extLst>
                </a:gridCol>
                <a:gridCol w="9055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6456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RNAV STAR, RDR Vectoring from IKE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(PAVGA 13000ft)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W of IKE published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(Confirm FMS DATA)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663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SARUP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ENTIX 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ILS, RNP, LOC 16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768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HAWKS WEST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RWY34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HAWKS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VIS 34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ILS, RNP, LOC 34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77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16(15’)                 9186’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              34(32’)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043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16 : C6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(5505’), C7(6407’),  34 : C4(5193’), C3(6354’)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979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DGC VOR out of 6NM A/P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VIS 34 :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After IKE – RDR Vector Downwind – 1800ft – RWY Insight 1500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ft – Before L/D CHK Complete before base (Do not Extend Downwind due Terrain)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3161901041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4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4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FUK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3586232075"/>
              </p:ext>
            </p:extLst>
          </p:nvPr>
        </p:nvGraphicFramePr>
        <p:xfrm>
          <a:off x="0" y="635155"/>
          <a:ext cx="2332925" cy="24471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7737AA9-1E71-11AA-29CE-CB99BAAC9983}"/>
              </a:ext>
            </a:extLst>
          </p:cNvPr>
          <p:cNvSpPr txBox="1"/>
          <p:nvPr/>
        </p:nvSpPr>
        <p:spPr>
          <a:xfrm>
            <a:off x="-69798" y="3044765"/>
            <a:ext cx="15167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Kobe 118.9 - FUK APP 119.65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RDR – 121.125</a:t>
            </a: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DBB501F-12C7-34CA-C78C-1FF1B317E880}"/>
              </a:ext>
            </a:extLst>
          </p:cNvPr>
          <p:cNvSpPr/>
          <p:nvPr/>
        </p:nvSpPr>
        <p:spPr>
          <a:xfrm>
            <a:off x="1622852" y="322926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C10F70C-499F-1525-282C-0C96F903AE7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772624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>
            <p:extLst>
              <p:ext uri="{D42A27DB-BD31-4B8C-83A1-F6EECF244321}">
                <p14:modId xmlns:p14="http://schemas.microsoft.com/office/powerpoint/2010/main" val="1763319469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(Consider C2, C8 Intersection T/O)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HAKATA xx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158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338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DGC 114.5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34 108.9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16</a:t>
                      </a:r>
                      <a:r>
                        <a:rPr lang="en-US" sz="800" dirty="0"/>
                        <a:t> : DGC 156/20 R240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(DGC VOR out of 6NM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16(15’)                 9186’                34(32’)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Caution GP HOLD LINE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Initial CTC TWR, “Ready for departure”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RWSL(Runway Status Lights) in operation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/>
        </p:nvGraphicFramePr>
        <p:xfrm>
          <a:off x="11589" y="342339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2648965937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4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4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KE FUK 132.05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-15min,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C10DF35-4C8C-4BCD-35BF-D473906D8D90}"/>
              </a:ext>
            </a:extLst>
          </p:cNvPr>
          <p:cNvSpPr txBox="1"/>
          <p:nvPr/>
        </p:nvSpPr>
        <p:spPr>
          <a:xfrm>
            <a:off x="1313820" y="2239966"/>
            <a:ext cx="1764127" cy="532316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Kobe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71BB25A-EB2C-6C8E-4320-E80D2FF5995A}"/>
              </a:ext>
            </a:extLst>
          </p:cNvPr>
          <p:cNvSpPr/>
          <p:nvPr/>
        </p:nvSpPr>
        <p:spPr>
          <a:xfrm>
            <a:off x="1622852" y="2986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EADFD83-B1ED-4336-4BA9-069594F75EC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지도, 텍스트, 도표, 아틀라스이(가) 표시된 사진&#10;&#10;자동 생성된 설명">
            <a:extLst>
              <a:ext uri="{FF2B5EF4-FFF2-40B4-BE49-F238E27FC236}">
                <a16:creationId xmlns:a16="http://schemas.microsoft.com/office/drawing/2014/main" id="{F2EF0B45-A026-4882-552D-AE9B1DD5AD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5" y="2239966"/>
            <a:ext cx="1232042" cy="1110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2703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>
            <p:extLst>
              <p:ext uri="{D42A27DB-BD31-4B8C-83A1-F6EECF244321}">
                <p14:modId xmlns:p14="http://schemas.microsoft.com/office/powerpoint/2010/main" val="1308219643"/>
              </p:ext>
            </p:extLst>
          </p:nvPr>
        </p:nvGraphicFramePr>
        <p:xfrm>
          <a:off x="0" y="622240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3173449557"/>
              </p:ext>
            </p:extLst>
          </p:nvPr>
        </p:nvGraphicFramePr>
        <p:xfrm>
          <a:off x="1596" y="3665660"/>
          <a:ext cx="2331375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3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53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3574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AOJ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Obstacle Around Airport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(High FE, Cold Temp)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over MRE, MELOS, YACHI </a:t>
                      </a:r>
                      <a:r>
                        <a:rPr lang="en-US" altLang="ko-KR" sz="800" dirty="0">
                          <a:solidFill>
                            <a:srgbClr val="FFC000"/>
                          </a:solidFill>
                        </a:rPr>
                        <a:t>Confirm CRS, EFC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CAT II,III Request Before 15min By Com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NONE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MRE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YACHI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Y/Z 24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24 (AR)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MELOS SOUTH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YACHI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MELOS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06 (AR)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VOR Z 06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(5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9654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24(664’)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06(647’)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9654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24 : T2(5043’),T1(7043’),     06 : T3(5043’), T4(7043’)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555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ILS Y 24 Turn SPD : Max 200kts,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CHK MRE D12 Turn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시작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선회 반경으로 선회 </a:t>
                      </a:r>
                      <a:r>
                        <a:rPr lang="ko-KR" altLang="en-US" sz="800" b="1" dirty="0" err="1">
                          <a:solidFill>
                            <a:srgbClr val="C00000"/>
                          </a:solidFill>
                        </a:rPr>
                        <a:t>늦어짐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주의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!,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SPD Modify)</a:t>
                      </a:r>
                      <a:endParaRPr lang="en-US" sz="800" b="1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RWY, TWY color Yellow, GND by TWR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53460487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RJSA(AOJ) </a:t>
                      </a:r>
                      <a:r>
                        <a:rPr lang="en-US" sz="13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650ft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JPN AIR AOJ 130.17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NO ATIS</a:t>
                      </a:r>
                      <a:endParaRPr sz="800" dirty="0">
                        <a:solidFill>
                          <a:srgbClr val="C0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9726" y="3213958"/>
            <a:ext cx="1709122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125.15 - 133.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132.3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133.3 -127.57 -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AOJ TWR 118.3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923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36756" y="2782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04441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>
            <p:extLst>
              <p:ext uri="{D42A27DB-BD31-4B8C-83A1-F6EECF244321}">
                <p14:modId xmlns:p14="http://schemas.microsoft.com/office/powerpoint/2010/main" val="4011996195"/>
              </p:ext>
            </p:extLst>
          </p:nvPr>
        </p:nvGraphicFramePr>
        <p:xfrm>
          <a:off x="0" y="611908"/>
          <a:ext cx="2332950" cy="15479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7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6920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AOJ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54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IWAKI xx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241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6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06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97352997"/>
                  </a:ext>
                </a:extLst>
              </a:tr>
              <a:tr h="18698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MRE 114.1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7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24(664’)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06(647’)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045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24 : MRE 241/2, </a:t>
                      </a:r>
                      <a:r>
                        <a:rPr lang="en-US" altLang="ko-Kore-KR" sz="800" dirty="0"/>
                        <a:t>MRE R008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06 : MRE 061/1, R350, </a:t>
                      </a:r>
                      <a:r>
                        <a:rPr lang="en-US" altLang="ko-Kore-KR" sz="800" dirty="0"/>
                        <a:t>MRE R008</a:t>
                      </a:r>
                      <a:r>
                        <a:rPr lang="en-US" sz="800" dirty="0"/>
                        <a:t> 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699774"/>
                  </a:ext>
                </a:extLst>
              </a:tr>
              <a:tr h="153777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ATC </a:t>
                      </a:r>
                      <a:r>
                        <a:rPr lang="ko-KR" altLang="en-US" sz="800" b="1">
                          <a:solidFill>
                            <a:schemeClr val="accent1"/>
                          </a:solidFill>
                        </a:rPr>
                        <a:t>순서 </a:t>
                      </a:r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특이함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.</a:t>
                      </a:r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Deicing at the Gate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2876772314"/>
              </p:ext>
            </p:extLst>
          </p:nvPr>
        </p:nvGraphicFramePr>
        <p:xfrm>
          <a:off x="2665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RJSA(AOJ) </a:t>
                      </a:r>
                      <a:r>
                        <a:rPr lang="en-US" altLang="ko-Kore-KR" sz="13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650ft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/>
                        <a:t>JPN AIR AOJ 130.17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ATIS, TWR 118.3 Voice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/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908959" y="2137789"/>
            <a:ext cx="145103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127.57 – 133.3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– 132.45 – 133.02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6" name="그림 5" descr="텍스트, 지도, 도표, 폰트이(가) 표시된 사진&#10;&#10;자동 생성된 설명">
            <a:extLst>
              <a:ext uri="{FF2B5EF4-FFF2-40B4-BE49-F238E27FC236}">
                <a16:creationId xmlns:a16="http://schemas.microsoft.com/office/drawing/2014/main" id="{C8115353-69BE-87FD-05F8-01C1A3AB70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383" y="2157696"/>
            <a:ext cx="966479" cy="890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0598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/>
        </p:nvGraphicFramePr>
        <p:xfrm>
          <a:off x="0" y="622240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620593510"/>
              </p:ext>
            </p:extLst>
          </p:nvPr>
        </p:nvGraphicFramePr>
        <p:xfrm>
          <a:off x="1596" y="3738754"/>
          <a:ext cx="2331375" cy="180610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3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53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11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KIJ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GTC-50NM – TERAD (Modify!!)</a:t>
                      </a:r>
                      <a:endParaRPr lang="en-US" altLang="ko-KR" sz="800" dirty="0">
                        <a:solidFill>
                          <a:srgbClr val="FFC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At/Below 3000MSL : 200kts, Above 3000MSL : 250kts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5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TERAD EAST 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KYOGA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28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1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10</a:t>
                      </a:r>
                      <a:endParaRPr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TERAD WEST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(KAETSU)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RYUTO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INAHO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10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RNP Y 10 (AR)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997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28(10’)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10(27’)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9973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28 : B4(6167’),B5(7906’),     10 : P3(6292’), B1(8100’)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27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LDC Data :  RWY28+81ft, RWY10+274ft (Due PAPI PSN)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RWY 10 Downslope, Vacate RWY04/22 by ATC Only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GND by TWR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3502802556"/>
              </p:ext>
            </p:extLst>
          </p:nvPr>
        </p:nvGraphicFramePr>
        <p:xfrm>
          <a:off x="-2501" y="16504"/>
          <a:ext cx="2328850" cy="5889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2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RJSN(KIJ) 5ft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51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JPN AIR Niigata 131.85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9726" y="3213958"/>
            <a:ext cx="1709122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133.8 - 132.45 – 132.3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KIJ RDR 121.4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923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36756" y="2782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01322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>
            <p:extLst>
              <p:ext uri="{D42A27DB-BD31-4B8C-83A1-F6EECF244321}">
                <p14:modId xmlns:p14="http://schemas.microsoft.com/office/powerpoint/2010/main" val="3416679218"/>
              </p:ext>
            </p:extLst>
          </p:nvPr>
        </p:nvGraphicFramePr>
        <p:xfrm>
          <a:off x="0" y="611908"/>
          <a:ext cx="2332950" cy="148259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7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6920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KIJ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54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MOKBA xx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281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281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6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97352997"/>
                  </a:ext>
                </a:extLst>
              </a:tr>
              <a:tr h="18698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GTC 115.5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7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28(10’)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10(27’)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045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10 : GTC 101/2, R360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699774"/>
                  </a:ext>
                </a:extLst>
              </a:tr>
              <a:tr h="153777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Sometimes Cross 50NM SW GTC FL200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564158445"/>
              </p:ext>
            </p:extLst>
          </p:nvPr>
        </p:nvGraphicFramePr>
        <p:xfrm>
          <a:off x="2665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RJSN(KIJ) 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/>
                        <a:t>JPN AIR KIJ 131.85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TWR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/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908959" y="2164788"/>
            <a:ext cx="109517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118.0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– 132.45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133.02 – 124.15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텍스트, 폰트, 도표, 스크린샷이(가) 표시된 사진&#10;&#10;자동 생성된 설명">
            <a:extLst>
              <a:ext uri="{FF2B5EF4-FFF2-40B4-BE49-F238E27FC236}">
                <a16:creationId xmlns:a16="http://schemas.microsoft.com/office/drawing/2014/main" id="{DA774A71-0429-BF8E-9C9A-B87EB38399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106094"/>
            <a:ext cx="908959" cy="902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390918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" name="Google Shape;310;p20"/>
          <p:cNvGraphicFramePr/>
          <p:nvPr>
            <p:extLst>
              <p:ext uri="{D42A27DB-BD31-4B8C-83A1-F6EECF244321}">
                <p14:modId xmlns:p14="http://schemas.microsoft.com/office/powerpoint/2010/main" val="3820343038"/>
              </p:ext>
            </p:extLst>
          </p:nvPr>
        </p:nvGraphicFramePr>
        <p:xfrm>
          <a:off x="1596" y="3416428"/>
          <a:ext cx="2331400" cy="2180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MAMAS 240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RUTAS 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(RUTAS T)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ELGAR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(TYLER)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RUTAS G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(RUTAS N)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GEMIN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(NORMA)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11" name="Google Shape;311;p20"/>
          <p:cNvGraphicFramePr/>
          <p:nvPr>
            <p:extLst>
              <p:ext uri="{D42A27DB-BD31-4B8C-83A1-F6EECF244321}">
                <p14:modId xmlns:p14="http://schemas.microsoft.com/office/powerpoint/2010/main" val="450456469"/>
              </p:ext>
            </p:extLst>
          </p:nvPr>
        </p:nvGraphicFramePr>
        <p:xfrm>
          <a:off x="-2501" y="16504"/>
          <a:ext cx="2328850" cy="5899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79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13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105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348A56-DF69-97BA-6C0C-39EEA383FCDD}"/>
              </a:ext>
            </a:extLst>
          </p:cNvPr>
          <p:cNvSpPr txBox="1"/>
          <p:nvPr/>
        </p:nvSpPr>
        <p:spPr>
          <a:xfrm>
            <a:off x="-63376" y="2956451"/>
            <a:ext cx="2517036" cy="281991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121.2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</a:t>
            </a:r>
            <a:r>
              <a:rPr kumimoji="1" lang="en-US" altLang="ko-KR" sz="6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KOB</a:t>
            </a:r>
            <a:r>
              <a:rPr kumimoji="1" lang="en-US" altLang="ko-Kore-KR" sz="6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118.9 – FUK 133.15 – 119.35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134.35 - TKO 125.9 -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TKO APP 124.4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120.2 – ARR 121.27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03909F-D98D-16B4-E03D-223D925F26E1}"/>
              </a:ext>
            </a:extLst>
          </p:cNvPr>
          <p:cNvSpPr/>
          <p:nvPr/>
        </p:nvSpPr>
        <p:spPr>
          <a:xfrm>
            <a:off x="1663362" y="317717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0BD91C-DB99-852F-BA1E-37D83389EC4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14;p10">
            <a:extLst>
              <a:ext uri="{FF2B5EF4-FFF2-40B4-BE49-F238E27FC236}">
                <a16:creationId xmlns:a16="http://schemas.microsoft.com/office/drawing/2014/main" id="{C861A1D2-8B8B-326B-9B77-97488D0896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9122821"/>
              </p:ext>
            </p:extLst>
          </p:nvPr>
        </p:nvGraphicFramePr>
        <p:xfrm>
          <a:off x="0" y="614488"/>
          <a:ext cx="2326349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19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0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3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6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7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7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7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07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5377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37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CJU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TAMNA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TAMNA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25(77’)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Google Shape;218;p10">
            <a:extLst>
              <a:ext uri="{FF2B5EF4-FFF2-40B4-BE49-F238E27FC236}">
                <a16:creationId xmlns:a16="http://schemas.microsoft.com/office/drawing/2014/main" id="{0D8669F7-0055-7495-FBE1-C5C99B795B7B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2501" y="2118979"/>
            <a:ext cx="1511236" cy="82824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281084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8" name="Google Shape;318;p21"/>
          <p:cNvGraphicFramePr/>
          <p:nvPr/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9" name="Google Shape;319;p21"/>
          <p:cNvGraphicFramePr/>
          <p:nvPr>
            <p:extLst>
              <p:ext uri="{D42A27DB-BD31-4B8C-83A1-F6EECF244321}">
                <p14:modId xmlns:p14="http://schemas.microsoft.com/office/powerpoint/2010/main" val="169943201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305CE87-CB2D-B9F1-7BCB-D3D6DE9B003F}"/>
              </a:ext>
            </a:extLst>
          </p:cNvPr>
          <p:cNvSpPr txBox="1"/>
          <p:nvPr/>
        </p:nvSpPr>
        <p:spPr>
          <a:xfrm>
            <a:off x="-20938" y="2486190"/>
            <a:ext cx="231826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128.12 – FUK 133.02 – KOB 133.55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132.7 – FUK 133.15 – KOB 118.9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124.52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121.2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1F60108-1835-DB8D-420A-D0FC0E5B5987}"/>
              </a:ext>
            </a:extLst>
          </p:cNvPr>
          <p:cNvSpPr/>
          <p:nvPr/>
        </p:nvSpPr>
        <p:spPr>
          <a:xfrm>
            <a:off x="1622852" y="29919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AC28DF6-545E-A19C-0E4B-50E8331FA0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27;p11">
            <a:extLst>
              <a:ext uri="{FF2B5EF4-FFF2-40B4-BE49-F238E27FC236}">
                <a16:creationId xmlns:a16="http://schemas.microsoft.com/office/drawing/2014/main" id="{7A61CDFA-D55D-A334-BEF7-D36F17824D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52437702"/>
              </p:ext>
            </p:extLst>
          </p:nvPr>
        </p:nvGraphicFramePr>
        <p:xfrm>
          <a:off x="4472" y="3770996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TAMNA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YUMIN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15447704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TAMNA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502705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EFBAAA5A-4D19-0577-BE44-3A3B7733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00" y="3235347"/>
            <a:ext cx="526844" cy="52572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2566E64-8738-9A9D-AA0F-1948B59B16C4}"/>
              </a:ext>
            </a:extLst>
          </p:cNvPr>
          <p:cNvSpPr txBox="1"/>
          <p:nvPr/>
        </p:nvSpPr>
        <p:spPr>
          <a:xfrm>
            <a:off x="579347" y="3254455"/>
            <a:ext cx="1757212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CJU 124.52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125.625 - 125.4 – 126.65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411126693"/>
              </p:ext>
            </p:extLst>
          </p:nvPr>
        </p:nvGraphicFramePr>
        <p:xfrm>
          <a:off x="0" y="1055589"/>
          <a:ext cx="2335800" cy="220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xT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xQ)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xU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xZ)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144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7" name="Google Shape;107;p2"/>
          <p:cNvGraphicFramePr/>
          <p:nvPr>
            <p:extLst>
              <p:ext uri="{D42A27DB-BD31-4B8C-83A1-F6EECF244321}">
                <p14:modId xmlns:p14="http://schemas.microsoft.com/office/powerpoint/2010/main" val="2739915381"/>
              </p:ext>
            </p:extLst>
          </p:nvPr>
        </p:nvGraphicFramePr>
        <p:xfrm>
          <a:off x="4472" y="3732015"/>
          <a:ext cx="2331327" cy="178630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9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5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6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28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37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9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9187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4722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SHA :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SPD Rest From IAF(210kts), 180kts, 160kts</a:t>
                      </a: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8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18L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PUD 61A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SS204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above 2960ft  </a:t>
                      </a:r>
                      <a:r>
                        <a:rPr lang="en-US" altLang="ko-KR" sz="700" b="1" u="none" strike="noStrike" cap="none" dirty="0"/>
                        <a:t>PUD QRH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Below 2960ft</a:t>
                      </a:r>
                      <a:r>
                        <a:rPr lang="ko-KR" altLang="en-US" sz="700" b="1" u="none" strike="noStrike" cap="none" dirty="0"/>
                        <a:t> </a:t>
                      </a:r>
                      <a:r>
                        <a:rPr lang="en-US" altLang="ko-KR" sz="700" b="1" u="none" strike="noStrike" cap="none" dirty="0"/>
                        <a:t>SHA QRH</a:t>
                      </a:r>
                      <a:endParaRPr sz="700" b="1" u="none" strike="noStrike" cap="none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8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36R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PUD 71A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SS405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Below 2960ft</a:t>
                      </a:r>
                      <a:r>
                        <a:rPr lang="ko-KR" altLang="en-US" sz="700" b="1" u="none" strike="noStrike" cap="none" dirty="0"/>
                        <a:t> </a:t>
                      </a:r>
                      <a:r>
                        <a:rPr lang="en-US" altLang="ko-KR" sz="700" b="1" u="none" strike="noStrike" cap="none" dirty="0"/>
                        <a:t>SHA QRH</a:t>
                      </a:r>
                      <a:endParaRPr sz="700" b="1" u="none" strike="noStrike" cap="none" dirty="0"/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91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18L(6’)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36R(9’)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8627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chemeClr val="dk1"/>
                          </a:solidFill>
                        </a:rPr>
                        <a:t>18L: A3(6555’), A4(7578’) 36R: A2(5738’), A1(7089’)</a:t>
                      </a:r>
                      <a:r>
                        <a:rPr lang="en-US" sz="800" u="none" strike="noStrike" cap="none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1464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Traffic PTN West of RWY, Landing East RWY Normally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FF0000"/>
                          </a:solidFill>
                        </a:rPr>
                        <a:t>Des 550m (1800ft)</a:t>
                      </a:r>
                      <a:r>
                        <a:rPr lang="ko-KR" altLang="en-US" sz="800" u="none" strike="noStrike" cap="none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u="none" strike="noStrike" cap="none" dirty="0">
                          <a:solidFill>
                            <a:srgbClr val="FF0000"/>
                          </a:solidFill>
                        </a:rPr>
                        <a:t>”five five zero meters”</a:t>
                      </a:r>
                      <a:endParaRPr lang="en-US" sz="800" u="none" strike="noStrike" cap="none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L08, L09 not available B737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Shall CTC Apron Before Entering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2350246762"/>
              </p:ext>
            </p:extLst>
          </p:nvPr>
        </p:nvGraphicFramePr>
        <p:xfrm>
          <a:off x="-2501" y="16504"/>
          <a:ext cx="2328850" cy="5181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ZSSS(SHA) 10ft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China Eastern 131.5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8DBB2BF-F0A6-705A-4F11-C79FF42F15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86B7CDB-B447-2DE4-526B-0C8FBADA1700}"/>
              </a:ext>
            </a:extLst>
          </p:cNvPr>
          <p:cNvSpPr/>
          <p:nvPr/>
        </p:nvSpPr>
        <p:spPr>
          <a:xfrm>
            <a:off x="1651787" y="3258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6EAE01E-69D0-D8DB-FED0-BC0AA46D14D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313249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4F0C59D-6ED8-A7D5-E872-D3DA53B8EB0E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598060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742688119"/>
              </p:ext>
            </p:extLst>
          </p:nvPr>
        </p:nvGraphicFramePr>
        <p:xfrm>
          <a:off x="-4045" y="1054227"/>
          <a:ext cx="2328848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737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2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4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2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41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7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25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15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59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417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99558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SHA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N DEP Freq : 126.65 South DEP : 121.10</a:t>
                      </a:r>
                      <a:r>
                        <a:rPr lang="ko-KR" altLang="en-US" sz="800" b="0" u="none" strike="noStrike" cap="none" dirty="0">
                          <a:solidFill>
                            <a:srgbClr val="FFC000"/>
                          </a:solidFill>
                        </a:rPr>
                        <a:t> </a:t>
                      </a:r>
                      <a:r>
                        <a:rPr lang="en-US" altLang="ko-KR" sz="800" b="0" u="none" strike="noStrike" cap="none" dirty="0">
                          <a:solidFill>
                            <a:srgbClr val="FFC000"/>
                          </a:solidFill>
                        </a:rPr>
                        <a:t>(</a:t>
                      </a:r>
                      <a:r>
                        <a:rPr lang="ko-KR" altLang="en-US" sz="800" b="0" u="none" strike="noStrike" cap="none" dirty="0">
                          <a:solidFill>
                            <a:srgbClr val="FFC000"/>
                          </a:solidFill>
                        </a:rPr>
                        <a:t>넘겨줌</a:t>
                      </a:r>
                      <a:r>
                        <a:rPr lang="en-US" altLang="ko-KR" sz="800" b="0" u="none" strike="noStrike" cap="none" dirty="0">
                          <a:solidFill>
                            <a:srgbClr val="FFC000"/>
                          </a:solidFill>
                        </a:rPr>
                        <a:t>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218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61D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2181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36L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73D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2181"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71D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or 4900</a:t>
                      </a:r>
                      <a:endParaRPr lang="ko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4900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109490131"/>
                  </a:ext>
                </a:extLst>
              </a:tr>
              <a:tr h="173254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SHA 117.2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18L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254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18R (9’)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10827’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36L (76’)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3254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RWY 36L LAMEN 71D : </a:t>
                      </a:r>
                      <a:r>
                        <a:rPr lang="en-US" sz="700" u="none" strike="noStrike" cap="none" dirty="0">
                          <a:solidFill>
                            <a:srgbClr val="FF0000"/>
                          </a:solidFill>
                        </a:rPr>
                        <a:t>L/H Turn Below 200m(660ft) in DCL</a:t>
                      </a:r>
                      <a:endParaRPr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1499141600"/>
              </p:ext>
            </p:extLst>
          </p:nvPr>
        </p:nvGraphicFramePr>
        <p:xfrm>
          <a:off x="4999" y="3494395"/>
          <a:ext cx="2328849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0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8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8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32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40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xT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xU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925420226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ZSSS(SHA) 10ft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131.5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-20분, No READBACK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3EEA343B-3551-68D7-E68E-46FF869A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7918" y="2832225"/>
            <a:ext cx="1930337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126.65(121.1)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.625 – 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 – 124.52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4A9E4-C510-C0BA-5B92-621F24258317}"/>
              </a:ext>
            </a:extLst>
          </p:cNvPr>
          <p:cNvSpPr/>
          <p:nvPr/>
        </p:nvSpPr>
        <p:spPr>
          <a:xfrm>
            <a:off x="1651787" y="32061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1856BBB-56E6-4488-8A2D-04F7685B1F5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733550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EFBAAA5A-4D19-0577-BE44-3A3B7733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659" y="3044798"/>
            <a:ext cx="612949" cy="611649"/>
          </a:xfrm>
          <a:prstGeom prst="rect">
            <a:avLst/>
          </a:prstGeom>
        </p:spPr>
      </p:pic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2470370123"/>
              </p:ext>
            </p:extLst>
          </p:nvPr>
        </p:nvGraphicFramePr>
        <p:xfrm>
          <a:off x="0" y="1055589"/>
          <a:ext cx="2335800" cy="2008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(NOPIK </a:t>
                      </a:r>
                      <a:r>
                        <a:rPr lang="en-US" sz="800" u="none" strike="noStrike" cap="none" dirty="0" err="1"/>
                        <a:t>xQ</a:t>
                      </a:r>
                      <a:r>
                        <a:rPr lang="en-US" sz="800" u="none" strike="noStrike" cap="none" dirty="0"/>
                        <a:t>)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14L/R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xU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3630342212"/>
              </p:ext>
            </p:extLst>
          </p:nvPr>
        </p:nvGraphicFramePr>
        <p:xfrm>
          <a:off x="-2501" y="16504"/>
          <a:ext cx="2328850" cy="563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Air China Beijing 131.5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8DBB2BF-F0A6-705A-4F11-C79FF42F15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86B7CDB-B447-2DE4-526B-0C8FBADA1700}"/>
              </a:ext>
            </a:extLst>
          </p:cNvPr>
          <p:cNvSpPr/>
          <p:nvPr/>
        </p:nvSpPr>
        <p:spPr>
          <a:xfrm>
            <a:off x="1677187" y="34741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890A9-B69E-05D9-E60A-AD033088563C}"/>
              </a:ext>
            </a:extLst>
          </p:cNvPr>
          <p:cNvSpPr txBox="1"/>
          <p:nvPr/>
        </p:nvSpPr>
        <p:spPr>
          <a:xfrm>
            <a:off x="514186" y="3018847"/>
            <a:ext cx="18373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7" name="Google Shape;292;p18">
            <a:extLst>
              <a:ext uri="{FF2B5EF4-FFF2-40B4-BE49-F238E27FC236}">
                <a16:creationId xmlns:a16="http://schemas.microsoft.com/office/drawing/2014/main" id="{E94EF807-A170-3ABE-7636-38E13F4116F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8067178"/>
              </p:ext>
            </p:extLst>
          </p:nvPr>
        </p:nvGraphicFramePr>
        <p:xfrm>
          <a:off x="4472" y="375013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99F49BE-0B71-5C35-0AFE-AD9A502DB62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89323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4F0C59D-6ED8-A7D5-E872-D3DA53B8EB0E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651493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3457008859"/>
              </p:ext>
            </p:extLst>
          </p:nvPr>
        </p:nvGraphicFramePr>
        <p:xfrm>
          <a:off x="4999" y="3494395"/>
          <a:ext cx="2328849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0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8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8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32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40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</a:t>
                      </a:r>
                      <a:r>
                        <a:rPr lang="en-US" sz="800" b="1" u="none" strike="noStrike" cap="none" dirty="0" err="1"/>
                        <a:t>xT</a:t>
                      </a:r>
                      <a:r>
                        <a:rPr lang="en-US" sz="800" b="1" u="none" strike="noStrike" cap="none" dirty="0"/>
                        <a:t>(</a:t>
                      </a:r>
                      <a:r>
                        <a:rPr lang="en-US" sz="800" b="1" u="none" strike="noStrike" cap="none" dirty="0" err="1"/>
                        <a:t>xQ</a:t>
                      </a:r>
                      <a:r>
                        <a:rPr lang="en-US" sz="800" b="1" u="none" strike="noStrike" cap="none" dirty="0"/>
                        <a:t>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170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DOKDO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610925021"/>
              </p:ext>
            </p:extLst>
          </p:nvPr>
        </p:nvGraphicFramePr>
        <p:xfrm>
          <a:off x="-2501" y="16505"/>
          <a:ext cx="2328850" cy="73596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200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131.5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-30분, Voice -10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917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4A9E4-C510-C0BA-5B92-621F24258317}"/>
              </a:ext>
            </a:extLst>
          </p:cNvPr>
          <p:cNvSpPr/>
          <p:nvPr/>
        </p:nvSpPr>
        <p:spPr>
          <a:xfrm>
            <a:off x="1651787" y="311086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117;p3">
            <a:extLst>
              <a:ext uri="{FF2B5EF4-FFF2-40B4-BE49-F238E27FC236}">
                <a16:creationId xmlns:a16="http://schemas.microsoft.com/office/drawing/2014/main" id="{75E8D5F0-0A96-9573-9A14-052BC186AC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64734910"/>
              </p:ext>
            </p:extLst>
          </p:nvPr>
        </p:nvGraphicFramePr>
        <p:xfrm>
          <a:off x="-4046" y="113986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236DCDA-A924-2E89-F3AC-73E7B1A264ED}"/>
              </a:ext>
            </a:extLst>
          </p:cNvPr>
          <p:cNvSpPr txBox="1"/>
          <p:nvPr/>
        </p:nvSpPr>
        <p:spPr>
          <a:xfrm>
            <a:off x="617160" y="2835053"/>
            <a:ext cx="141256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7" name="그림 6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BFC308FA-B01C-9CC6-AA03-F79FBDF328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919900"/>
            <a:ext cx="700981" cy="582267"/>
          </a:xfrm>
          <a:prstGeom prst="rect">
            <a:avLst/>
          </a:prstGeom>
        </p:spPr>
      </p:pic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3EEA343B-3551-68D7-E68E-46FF869A3D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02416" y="660946"/>
            <a:ext cx="492402" cy="492402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D93B519-A7D3-A1D5-6DBB-ACF26C94319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345199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EDA6E30-D248-DE64-F79D-540912ED830D}"/>
              </a:ext>
            </a:extLst>
          </p:cNvPr>
          <p:cNvSpPr txBox="1"/>
          <p:nvPr/>
        </p:nvSpPr>
        <p:spPr>
          <a:xfrm>
            <a:off x="551431" y="3091174"/>
            <a:ext cx="1851789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RDR 120.85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APP 120.25 </a:t>
            </a:r>
          </a:p>
        </p:txBody>
      </p:sp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467645227"/>
              </p:ext>
            </p:extLst>
          </p:nvPr>
        </p:nvGraphicFramePr>
        <p:xfrm>
          <a:off x="0" y="1047637"/>
          <a:ext cx="2335800" cy="2008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EGOBA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(EGOBA </a:t>
                      </a:r>
                      <a:r>
                        <a:rPr lang="en-US" sz="800" u="none" strike="noStrike" cap="none" dirty="0" err="1"/>
                        <a:t>xQ</a:t>
                      </a:r>
                      <a:r>
                        <a:rPr lang="en-US" sz="800" u="none" strike="noStrike" cap="none" dirty="0"/>
                        <a:t>)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EGOBA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xU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2981840730"/>
              </p:ext>
            </p:extLst>
          </p:nvPr>
        </p:nvGraphicFramePr>
        <p:xfrm>
          <a:off x="-2501" y="16503"/>
          <a:ext cx="2328850" cy="5590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74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28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KIX 130.95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graphicFrame>
        <p:nvGraphicFramePr>
          <p:cNvPr id="2" name="Google Shape;292;p18">
            <a:extLst>
              <a:ext uri="{FF2B5EF4-FFF2-40B4-BE49-F238E27FC236}">
                <a16:creationId xmlns:a16="http://schemas.microsoft.com/office/drawing/2014/main" id="{53B7324E-CA86-C6F7-B540-2D52A34E95EA}"/>
              </a:ext>
            </a:extLst>
          </p:cNvPr>
          <p:cNvGraphicFramePr/>
          <p:nvPr/>
        </p:nvGraphicFramePr>
        <p:xfrm>
          <a:off x="4472" y="3705686"/>
          <a:ext cx="2331400" cy="183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STAR (SAEKI 170, RANDY 150)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B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BERRY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A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ALLAN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C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MAYAH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68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06L(15’)    13123’    24R(23’)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68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06R(5’)      11483’     24L(12’)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 : B8(5160’), B6(6751’), 24R : B7(5318’), B9(6751’)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06R : A7(5137’), A6(6938’), 24L : A8(5269’), A9(6976’)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RWY06 : After 2500ft L/G DN, After 1500ft L/D FLAP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RTE 1, 2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746A920D-DCD8-D4F8-94B9-AFF91EB1C5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pic>
        <p:nvPicPr>
          <p:cNvPr id="6" name="그림 5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33C8D53E-31DA-A0DB-5A3F-9E3DE67C2E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01" y="3091174"/>
            <a:ext cx="605879" cy="604595"/>
          </a:xfrm>
          <a:prstGeom prst="rect">
            <a:avLst/>
          </a:prstGeom>
        </p:spPr>
      </p:pic>
      <p:sp>
        <p:nvSpPr>
          <p:cNvPr id="7" name="직사각형 6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EBCE2EA-A0C1-6663-F76F-73FFEFF99A68}"/>
              </a:ext>
            </a:extLst>
          </p:cNvPr>
          <p:cNvSpPr/>
          <p:nvPr/>
        </p:nvSpPr>
        <p:spPr>
          <a:xfrm>
            <a:off x="1622852" y="333344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034726D-96DF-678B-60CF-56E0F855284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71157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1879088562"/>
              </p:ext>
            </p:extLst>
          </p:nvPr>
        </p:nvGraphicFramePr>
        <p:xfrm>
          <a:off x="4999" y="3494395"/>
          <a:ext cx="232135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34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7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70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16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194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GUKDO </a:t>
                      </a:r>
                      <a:r>
                        <a:rPr lang="en-US" sz="800" b="1" u="none" strike="noStrike" cap="none" dirty="0" err="1"/>
                        <a:t>xT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GUKDO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029270949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KIX 130.95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graphicFrame>
        <p:nvGraphicFramePr>
          <p:cNvPr id="3" name="Google Shape;300;p19">
            <a:extLst>
              <a:ext uri="{FF2B5EF4-FFF2-40B4-BE49-F238E27FC236}">
                <a16:creationId xmlns:a16="http://schemas.microsoft.com/office/drawing/2014/main" id="{322683CB-72F3-2968-45AE-8ECEC61EFA8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32279940"/>
              </p:ext>
            </p:extLst>
          </p:nvPr>
        </p:nvGraphicFramePr>
        <p:xfrm>
          <a:off x="0" y="1065982"/>
          <a:ext cx="23329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SID – SOUJA tx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HELEN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- SOUJA tx</a:t>
                      </a:r>
                      <a:endParaRPr sz="80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059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239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239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111.6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24L 110.7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24R 108.5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06L(15’)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06R (5’)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24L (12’)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Start, TAXI RTE 1, 2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4" name="그림 3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A2514967-B32E-DB96-72C0-5C07E4BA68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D76042E-1391-3EFF-D963-B4B8BE948E4D}"/>
              </a:ext>
            </a:extLst>
          </p:cNvPr>
          <p:cNvSpPr txBox="1"/>
          <p:nvPr/>
        </p:nvSpPr>
        <p:spPr>
          <a:xfrm>
            <a:off x="-20938" y="2762423"/>
            <a:ext cx="1002197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132.7 –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5F609F-4F3D-A2FD-A1FC-659A46590E91}"/>
              </a:ext>
            </a:extLst>
          </p:cNvPr>
          <p:cNvSpPr/>
          <p:nvPr/>
        </p:nvSpPr>
        <p:spPr>
          <a:xfrm>
            <a:off x="1622852" y="306722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E158E-CC1B-0371-EDB5-08EB94C0DA8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533466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4" name="Google Shape;194;p8"/>
          <p:cNvGraphicFramePr/>
          <p:nvPr>
            <p:extLst>
              <p:ext uri="{D42A27DB-BD31-4B8C-83A1-F6EECF244321}">
                <p14:modId xmlns:p14="http://schemas.microsoft.com/office/powerpoint/2010/main" val="2947711465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LIMDI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96" name="Google Shape;196;p8"/>
          <p:cNvGraphicFramePr/>
          <p:nvPr>
            <p:extLst>
              <p:ext uri="{D42A27DB-BD31-4B8C-83A1-F6EECF244321}">
                <p14:modId xmlns:p14="http://schemas.microsoft.com/office/powerpoint/2010/main" val="246703506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i="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700" b="0" i="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Beijing 132.0</a:t>
                      </a:r>
                      <a:endParaRPr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98" name="Google Shape;198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0396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DAB7941-7C38-1F6C-82DC-A7D9C3DC35E7}"/>
              </a:ext>
            </a:extLst>
          </p:cNvPr>
          <p:cNvSpPr txBox="1"/>
          <p:nvPr/>
        </p:nvSpPr>
        <p:spPr>
          <a:xfrm>
            <a:off x="-55838" y="3017712"/>
            <a:ext cx="236475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121.2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– 120.72 – 126.17 – 132.8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132.95  - 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4" name="Google Shape;292;p18">
            <a:extLst>
              <a:ext uri="{FF2B5EF4-FFF2-40B4-BE49-F238E27FC236}">
                <a16:creationId xmlns:a16="http://schemas.microsoft.com/office/drawing/2014/main" id="{C27BC79A-3C53-AD4E-94CE-36669FDCFF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73432346"/>
              </p:ext>
            </p:extLst>
          </p:nvPr>
        </p:nvGraphicFramePr>
        <p:xfrm>
          <a:off x="4472" y="374058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82A2293-EC9A-B7D8-ACF6-EF97B81D97FB}"/>
              </a:ext>
            </a:extLst>
          </p:cNvPr>
          <p:cNvSpPr/>
          <p:nvPr/>
        </p:nvSpPr>
        <p:spPr>
          <a:xfrm>
            <a:off x="1651787" y="271998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49E9C38-1725-0B94-34E5-C8413D9A7DF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352497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0472A8B-F324-573B-F17A-C6C16EB27F9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8668367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9"/>
          <p:cNvSpPr/>
          <p:nvPr/>
        </p:nvSpPr>
        <p:spPr>
          <a:xfrm>
            <a:off x="1056807" y="167132"/>
            <a:ext cx="230546" cy="415039"/>
          </a:xfrm>
          <a:prstGeom prst="rightArrow">
            <a:avLst>
              <a:gd name="adj1" fmla="val 47084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185;p7">
            <a:extLst>
              <a:ext uri="{FF2B5EF4-FFF2-40B4-BE49-F238E27FC236}">
                <a16:creationId xmlns:a16="http://schemas.microsoft.com/office/drawing/2014/main" id="{4AA90139-7D8C-A544-2E49-779F9C6AB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75792101"/>
              </p:ext>
            </p:extLst>
          </p:nvPr>
        </p:nvGraphicFramePr>
        <p:xfrm>
          <a:off x="4472" y="3782340"/>
          <a:ext cx="2346889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08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8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50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58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02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2399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LIMDI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YUMIN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3252207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LIMDI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DUKAL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" name="Google Shape;117;p3">
            <a:extLst>
              <a:ext uri="{FF2B5EF4-FFF2-40B4-BE49-F238E27FC236}">
                <a16:creationId xmlns:a16="http://schemas.microsoft.com/office/drawing/2014/main" id="{9918FCD0-48F9-3742-0CD5-9F665B43161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94651057"/>
              </p:ext>
            </p:extLst>
          </p:nvPr>
        </p:nvGraphicFramePr>
        <p:xfrm>
          <a:off x="-4046" y="78300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287633155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 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" name="Google Shape;119;p3">
            <a:extLst>
              <a:ext uri="{FF2B5EF4-FFF2-40B4-BE49-F238E27FC236}">
                <a16:creationId xmlns:a16="http://schemas.microsoft.com/office/drawing/2014/main" id="{5B07C474-3B6B-EDED-1E83-D395F2D0A05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33888925"/>
              </p:ext>
            </p:extLst>
          </p:nvPr>
        </p:nvGraphicFramePr>
        <p:xfrm>
          <a:off x="-2501" y="2544"/>
          <a:ext cx="2328850" cy="7727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288BEDC-7E6A-3E6E-FBE9-B8FA96093469}"/>
              </a:ext>
            </a:extLst>
          </p:cNvPr>
          <p:cNvSpPr txBox="1"/>
          <p:nvPr/>
        </p:nvSpPr>
        <p:spPr>
          <a:xfrm>
            <a:off x="998160" y="2545455"/>
            <a:ext cx="138691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126.17 – 120.72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124.52 -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7" name="그림 6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009DE233-E4A5-B767-C030-140E38D64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566027"/>
            <a:ext cx="1029898" cy="855481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AA58C2A-AEE6-6B3E-1D32-AC3698AA1CB4}"/>
              </a:ext>
            </a:extLst>
          </p:cNvPr>
          <p:cNvSpPr/>
          <p:nvPr/>
        </p:nvSpPr>
        <p:spPr>
          <a:xfrm>
            <a:off x="1651787" y="3460480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8" name="직사각형 7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C8CB044-4ABC-7385-D403-AC2C81F17F7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4382558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46480"/>
            <a:ext cx="2085827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125.4 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015713983"/>
              </p:ext>
            </p:extLst>
          </p:nvPr>
        </p:nvGraphicFramePr>
        <p:xfrm>
          <a:off x="4472" y="3705686"/>
          <a:ext cx="2351640" cy="1832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664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25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PVG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(North of ‘PVGNB’, R-276 Prohibited)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07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(L)/35L(R)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 91A/92A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7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16L(R)/</a:t>
                      </a:r>
                      <a:r>
                        <a:rPr lang="en-US" sz="800" b="0" dirty="0"/>
                        <a:t>17R(L)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 81A/82A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34R/L(11’/12’)   12467’  16L/R(12’/11’)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35R(10’)      13123’     17L10’)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35L(12’)      11155’     17R(12’)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5666460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34R : G4(5603’), G5(6896’), 16L : G3(5577’), G2(6909’)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35L : D4(5636’), D5(6932’), 17R : D3(5626’), D2(6942’)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Normally DUMET 6000m</a:t>
                      </a:r>
                      <a:r>
                        <a:rPr lang="en-US" altLang="ko-KR" sz="800" dirty="0"/>
                        <a:t>,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ILS Ident /6 160kts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Insight – TAXI L/T </a:t>
                      </a:r>
                      <a:r>
                        <a:rPr lang="en-US" sz="800" dirty="0" err="1"/>
                        <a:t>off,APU</a:t>
                      </a:r>
                      <a:r>
                        <a:rPr lang="en-US" sz="800" dirty="0"/>
                        <a:t>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00863046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47;p13">
            <a:extLst>
              <a:ext uri="{FF2B5EF4-FFF2-40B4-BE49-F238E27FC236}">
                <a16:creationId xmlns:a16="http://schemas.microsoft.com/office/drawing/2014/main" id="{7B47DFB1-8D07-2EB7-86D8-21FEA1EC941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0412915"/>
              </p:ext>
            </p:extLst>
          </p:nvPr>
        </p:nvGraphicFramePr>
        <p:xfrm>
          <a:off x="0" y="68585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Google Shape;248;p13">
            <a:extLst>
              <a:ext uri="{FF2B5EF4-FFF2-40B4-BE49-F238E27FC236}">
                <a16:creationId xmlns:a16="http://schemas.microsoft.com/office/drawing/2014/main" id="{186D5FF2-55A4-B3AE-F6AA-857B1EA00A73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456585"/>
            <a:ext cx="1559909" cy="6518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4588516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BFE20D2-9E22-107A-6D34-D5883DF23365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4198373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/>
        </p:nvGraphicFramePr>
        <p:xfrm>
          <a:off x="-4045" y="595076"/>
          <a:ext cx="2300931" cy="2208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3029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PVG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34L/R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35R/L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 92D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(LAM 91D)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16R/L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17L/R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LAM 82D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(LAM 81D)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7483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PUD 116.9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35L 108.1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7483">
                <a:tc gridSpan="3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724225180"/>
                  </a:ext>
                </a:extLst>
              </a:tr>
              <a:tr h="30067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34R/L(11’/12’)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35R(10’)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35L(12’)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17R(12’)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937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Ready for Intersection T/O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192046320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130.5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837" y="2825736"/>
            <a:ext cx="1591782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(Without Instruction)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28473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137;p4">
            <a:extLst>
              <a:ext uri="{FF2B5EF4-FFF2-40B4-BE49-F238E27FC236}">
                <a16:creationId xmlns:a16="http://schemas.microsoft.com/office/drawing/2014/main" id="{DFD006B3-CF59-4097-9785-492612F469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8053431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186478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2887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– 125.95 – 119.075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 – 119.25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619649902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304439633"/>
              </p:ext>
            </p:extLst>
          </p:nvPr>
        </p:nvGraphicFramePr>
        <p:xfrm>
          <a:off x="4472" y="3705686"/>
          <a:ext cx="2331400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NKG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(‘D’ N31 34.0 E118 42.1 – R101, R289)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24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(06)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ESB 71F/21A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(ESB 61F/11A)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SNQ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(ILS Z 06)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24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(24)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ESB 52F/22A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(ESB 42F/12A)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NJ210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(ILS Z 24)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07(41’)      11811’      25(39’)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06(43’)      11811’      24(38’)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 : D5(6499’), D6(7582’), 25 : D2(6505’), D1(7582’)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 : A5(6614’), A6(7860’), 24 : A3(6637’), A9(7864’)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IAF, Missed App SPD APP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: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210kts or 205kts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on C 13, APU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4121388174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ZSNJ(NKG) 49ft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DCAAF97-49DD-AE80-34AF-512BE900E983}"/>
              </a:ext>
            </a:extLst>
          </p:cNvPr>
          <p:cNvSpPr/>
          <p:nvPr/>
        </p:nvSpPr>
        <p:spPr>
          <a:xfrm>
            <a:off x="1669148" y="343760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BC0B007-1D05-0F91-185F-EF18A8FB3CE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1079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B7E4DE-4422-34F1-D7EA-F356A7B42392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445460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3729305340"/>
              </p:ext>
            </p:extLst>
          </p:nvPr>
        </p:nvGraphicFramePr>
        <p:xfrm>
          <a:off x="-4046" y="595076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NKG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(07)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ESB 61X/11D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(ESB 71X/21D)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064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(25)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ESB 42X/12D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(ESB 52X/22D)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NJL 113.6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25 111.3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24 110.9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06(43’)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07(41’)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24(38’)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25(39’)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  <a:endParaRPr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206454804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ZSNJ(NKG) 49ft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7918" y="2370769"/>
            <a:ext cx="193354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119.075 – 125.95 -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.55 -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9451313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72E208F-F9E3-4DBD-EA14-654CF7F7CDE4}"/>
              </a:ext>
            </a:extLst>
          </p:cNvPr>
          <p:cNvSpPr/>
          <p:nvPr/>
        </p:nvSpPr>
        <p:spPr>
          <a:xfrm>
            <a:off x="1651787" y="307879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CA2F9E-B6DB-CD38-1DE9-D46BCCC5931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209507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21870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28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 – 134.85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APP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19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77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119.4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746373860"/>
              </p:ext>
            </p:extLst>
          </p:nvPr>
        </p:nvGraphicFramePr>
        <p:xfrm>
          <a:off x="0" y="61494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04166409"/>
              </p:ext>
            </p:extLst>
          </p:nvPr>
        </p:nvGraphicFramePr>
        <p:xfrm>
          <a:off x="4472" y="3705686"/>
          <a:ext cx="2331400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813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TAO : STAR 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(After AGAVO Direct IKEKA then LATUX)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5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35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34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LAT 91A/01A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JD405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35</a:t>
                      </a:r>
                      <a:r>
                        <a:rPr lang="en-US" sz="800" b="0" dirty="0"/>
                        <a:t>(34)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796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17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16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LAT 81A/11A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JD305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17</a:t>
                      </a:r>
                      <a:r>
                        <a:rPr lang="en-US" altLang="ko-Kore-KR" sz="800" b="0" dirty="0"/>
                        <a:t>(16)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796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35(27’)      11811’      17(29’)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796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34(27’)      11811’      16(27’)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7969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AVBIK R014, LAROP R159, R183 (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두점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연결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57286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 : S2(5255’), S4(6624’), 17 : S1(5282’), S3(6604’)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 : R2(5278’), R4(6650’), 16 : R1(5318’), R3(6706’)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728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위의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Point 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불가시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TWR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 보고</a:t>
                      </a:r>
                      <a:r>
                        <a:rPr lang="en-US" altLang="ko-KR" sz="800" dirty="0"/>
                        <a:t>,  </a:t>
                      </a:r>
                      <a:r>
                        <a:rPr lang="en-US" altLang="ko-KR" sz="800" dirty="0">
                          <a:solidFill>
                            <a:srgbClr val="FF0000"/>
                          </a:solidFill>
                        </a:rPr>
                        <a:t>Apron CTC </a:t>
                      </a:r>
                      <a:r>
                        <a:rPr lang="ko-KR" altLang="en-US" sz="800" dirty="0">
                          <a:solidFill>
                            <a:srgbClr val="FF0000"/>
                          </a:solidFill>
                        </a:rPr>
                        <a:t>주의</a:t>
                      </a:r>
                      <a:endParaRPr lang="en-US" altLang="ko-KR" sz="8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 </a:t>
                      </a:r>
                      <a:r>
                        <a:rPr lang="en-US" sz="800" dirty="0"/>
                        <a:t>Follow Me Car on </a:t>
                      </a:r>
                      <a:r>
                        <a:rPr lang="en-US" sz="800" dirty="0" err="1"/>
                        <a:t>Lxx</a:t>
                      </a:r>
                      <a:r>
                        <a:rPr lang="en-US" sz="800" dirty="0"/>
                        <a:t> APU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897201385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ZSQD(TAO) 30ft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2354A7B-36AB-097D-3F10-173DF5226C8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C6CC48E-992D-2E1B-2E89-6F444175F83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1543287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190E0B1-16E2-F3B3-F774-AFEF578BCE9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1410437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925535433"/>
              </p:ext>
            </p:extLst>
          </p:nvPr>
        </p:nvGraphicFramePr>
        <p:xfrm>
          <a:off x="-4046" y="706220"/>
          <a:ext cx="2335723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TAO : SID (NADP 1) </a:t>
                      </a: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Walk Around Ramp Pass &amp; PW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34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</a:t>
                      </a:r>
                      <a:r>
                        <a:rPr lang="en-US" altLang="ko-KR" sz="800" b="0" u="none" strike="noStrike" cap="none" dirty="0"/>
                        <a:t>35</a:t>
                      </a:r>
                      <a:r>
                        <a:rPr lang="en-US" sz="800" b="0" u="none" strike="noStrike" cap="none" dirty="0"/>
                        <a:t>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LAT 91D/01D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(17)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LAT 81D/11D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JDG 114.45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110.15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35 109.75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34 108.55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34(27’)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35(27’)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16(27’)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17(29’)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 FIX : AVBIK R014, LAROP R159, R183 (</a:t>
                      </a:r>
                      <a:r>
                        <a:rPr kumimoji="0" lang="ko-KR" alt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두점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연결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)</a:t>
                      </a:r>
                      <a:endParaRPr kumimoji="0" lang="ko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6188796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Heading 190, Join W209 -&gt;  DCT LATUX CRS 148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622359418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ZSQD(TAO) 30ft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(Voice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ko-KR" altLang="en-US" sz="700" dirty="0" err="1">
                          <a:solidFill>
                            <a:srgbClr val="FF0000"/>
                          </a:solidFill>
                        </a:rPr>
                        <a:t>부터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2069" y="2620659"/>
            <a:ext cx="1345240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APP 119.4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119.73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134.85 – DLC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128.7 – APP 119.75</a:t>
            </a: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22518493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AD61ED-F06C-861F-DFAF-3517618C08E7}"/>
              </a:ext>
            </a:extLst>
          </p:cNvPr>
          <p:cNvSpPr/>
          <p:nvPr/>
        </p:nvSpPr>
        <p:spPr>
          <a:xfrm>
            <a:off x="1651787" y="307879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C40C808-0869-8A3B-733B-1D7E7F429E8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614702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18373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11536212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494330361"/>
              </p:ext>
            </p:extLst>
          </p:nvPr>
        </p:nvGraphicFramePr>
        <p:xfrm>
          <a:off x="4472" y="370568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61046548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Beijing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965832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4799594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985096044"/>
              </p:ext>
            </p:extLst>
          </p:nvPr>
        </p:nvGraphicFramePr>
        <p:xfrm>
          <a:off x="-4046" y="79696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90694353"/>
              </p:ext>
            </p:extLst>
          </p:nvPr>
        </p:nvGraphicFramePr>
        <p:xfrm>
          <a:off x="-2501" y="16504"/>
          <a:ext cx="2328850" cy="7727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998160" y="2492153"/>
            <a:ext cx="141256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1255686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3" name="그림 2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9995A052-72E8-21E5-F8B4-8A7F91B0B5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557950"/>
            <a:ext cx="1029898" cy="855481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14824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106268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56248"/>
            <a:ext cx="229101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 – 135.65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134.325(128.775)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SHE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APP 12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5.55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119.825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118.1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971744343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333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587443432"/>
              </p:ext>
            </p:extLst>
          </p:nvPr>
        </p:nvGraphicFramePr>
        <p:xfrm>
          <a:off x="4472" y="3916715"/>
          <a:ext cx="2307200" cy="16250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229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6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SHE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(CLR Limit TOSID Late Handoff to SHE)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</a:t>
                      </a:r>
                      <a:r>
                        <a:rPr lang="en-US" altLang="ko-KR" sz="800" b="1" dirty="0"/>
                        <a:t>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TOSID 62A, 61A </a:t>
                      </a:r>
                      <a:endParaRPr lang="en-US"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TX504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TOSID 72A, 11A 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TX662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06(170’)          10499’         24(198’)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Around TOSID – Present TRK or HDG – CTC SHE CTL </a:t>
                      </a:r>
                      <a:endParaRPr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17591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D(6210’),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C(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7854’),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24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: J(6227’),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K(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7864’) - ATC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06 : HP06(03), 24 : HP06(03) Follow Me Car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Normally Remain Parking Brake SET!!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68702482"/>
              </p:ext>
            </p:extLst>
          </p:nvPr>
        </p:nvGraphicFramePr>
        <p:xfrm>
          <a:off x="-2501" y="16504"/>
          <a:ext cx="2328850" cy="589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ZYTX(SHE) 198ft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China Southern Dispatch </a:t>
                      </a:r>
                      <a:r>
                        <a:rPr lang="en-US" altLang="ko-Kore-KR" sz="900" dirty="0"/>
                        <a:t>131.5</a:t>
                      </a:r>
                      <a:endParaRPr lang="en-US" altLang="ko-Kore-KR" sz="140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8A73C37-CF59-7012-0D50-0A8C12736755}"/>
              </a:ext>
            </a:extLst>
          </p:cNvPr>
          <p:cNvSpPr/>
          <p:nvPr/>
        </p:nvSpPr>
        <p:spPr>
          <a:xfrm>
            <a:off x="1651787" y="353020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4567F3E-FC40-CA1E-0895-08D2D9D7CB9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29069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8907048-779E-BBF8-5B86-73A6715D9097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1297586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632982756"/>
              </p:ext>
            </p:extLst>
          </p:nvPr>
        </p:nvGraphicFramePr>
        <p:xfrm>
          <a:off x="-4046" y="796960"/>
          <a:ext cx="2335723" cy="1670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SHE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A2, A8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by ATC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TOSID 61,62D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TOSID 71,72D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SEY 114.1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06 110.5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24 110.3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06(170’)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24(198’)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ADT = CTOT See </a:t>
                      </a:r>
                      <a:r>
                        <a:rPr lang="en-US" sz="800" b="1" u="none" strike="noStrike" cap="none" dirty="0" err="1">
                          <a:solidFill>
                            <a:schemeClr val="tx1"/>
                          </a:solidFill>
                        </a:rPr>
                        <a:t>Eroute</a:t>
                      </a: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 ATIS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Follow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FollowMe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Car Until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HPxx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Be Careful “Hold short CAT I Hold line”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Maintain Present TRK/HDG Join A588(CRS 217)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Offset R3 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sym typeface="Wingdings" pitchFamily="2" charset="2"/>
                        </a:rPr>
                        <a:t> 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Active Fix DCT and EXE again!! 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058332410"/>
              </p:ext>
            </p:extLst>
          </p:nvPr>
        </p:nvGraphicFramePr>
        <p:xfrm>
          <a:off x="-2501" y="16504"/>
          <a:ext cx="2328850" cy="7879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ZYTX(SHE) 198ft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China Southern Dispatch 131.5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 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 </a:t>
                      </a: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READ BACK!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(Voice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ko-KR" altLang="en-US"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9087" y="2406392"/>
            <a:ext cx="1601721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CTC APP without TWR Instruction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119.825 – 125.55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134.325 – 135.65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403935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E2EF10-FF6E-C94B-2725-B3EBD91DA06B}"/>
              </a:ext>
            </a:extLst>
          </p:cNvPr>
          <p:cNvSpPr/>
          <p:nvPr/>
        </p:nvSpPr>
        <p:spPr>
          <a:xfrm>
            <a:off x="1651787" y="305564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3EAA5DA-A424-1E7F-0ED4-BD3DFCBFA1E2}"/>
              </a:ext>
            </a:extLst>
          </p:cNvPr>
          <p:cNvSpPr/>
          <p:nvPr/>
        </p:nvSpPr>
        <p:spPr>
          <a:xfrm>
            <a:off x="897266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1416334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9619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125.4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43977185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682451258"/>
              </p:ext>
            </p:extLst>
          </p:nvPr>
        </p:nvGraphicFramePr>
        <p:xfrm>
          <a:off x="4472" y="3705686"/>
          <a:ext cx="2351640" cy="1832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664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25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PVG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(North of ‘PVGNB’, R-276 Prohibited)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07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(L)/35L(R)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 91A/92A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7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16L(R)/</a:t>
                      </a:r>
                      <a:r>
                        <a:rPr lang="en-US" sz="800" b="0" dirty="0"/>
                        <a:t>17R(L)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 81A/82A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34R/L(11’/12’)   12467’  16L/R(12’/11’)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35R(10’)      13123’     17L(10’)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35L(12’)      11155’     17R(12’)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5666460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34R : G4(5603’), G5(6896’), 16L : G3(5577’), G2(6909’)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35L : D4(5636’), D5(6932’), 17R : D3(5626’), D2(6942’)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Normally DUMET 6000m,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ILS Ident /6 160kts</a:t>
                      </a:r>
                      <a:endParaRPr lang="en-US" altLang="ko-KR" sz="800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Insight – TAXI L/T </a:t>
                      </a:r>
                      <a:r>
                        <a:rPr lang="en-US" sz="800" dirty="0" err="1"/>
                        <a:t>off,APU</a:t>
                      </a:r>
                      <a:r>
                        <a:rPr lang="en-US" sz="800" dirty="0"/>
                        <a:t>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94831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555555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BFE20D2-9E22-107A-6D34-D5883DF23365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393502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497413401"/>
              </p:ext>
            </p:extLst>
          </p:nvPr>
        </p:nvGraphicFramePr>
        <p:xfrm>
          <a:off x="-4045" y="595076"/>
          <a:ext cx="2300931" cy="2208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3029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PVG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34L/R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35R/L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 92D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(LAM 91D)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16R/L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17L/R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LAM 82D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(LAM 81D)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7483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PUD 116.9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35L 108.1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7483">
                <a:tc gridSpan="3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724225180"/>
                  </a:ext>
                </a:extLst>
              </a:tr>
              <a:tr h="30067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34R/L(11’/12’)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35R(10’)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35L(12’)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17R(12’)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937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Ready for Intersection T/O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4277932761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130.5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837" y="2823127"/>
            <a:ext cx="1710405" cy="53860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(Without Instruction)</a:t>
            </a:r>
          </a:p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8583957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28473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804552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45720"/>
            <a:ext cx="229101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 – 135.65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128.77 – SHE 119.3 – 118.9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YNJ TWR 118.75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475866777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503814499"/>
              </p:ext>
            </p:extLst>
          </p:nvPr>
        </p:nvGraphicFramePr>
        <p:xfrm>
          <a:off x="-1706" y="3694129"/>
          <a:ext cx="2341562" cy="18699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44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97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YNJ : RNP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(RW09 main for L/D)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CHK NAV DATA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for Holding Area(Expect Hold Mil Train)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9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09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KAN/OMB 09A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(KAN/OMB 04(02)A)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YJ504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(D267T)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09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(VOR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4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off)</a:t>
                      </a:r>
                      <a:endParaRPr lang="en-US"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9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27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KAN/OMB 19</a:t>
                      </a:r>
                      <a:r>
                        <a:rPr lang="en-US" altLang="ko-Kore-KR" sz="800" b="0" dirty="0"/>
                        <a:t>(18</a:t>
                      </a:r>
                      <a:r>
                        <a:rPr lang="en-US" altLang="ko-Kore-KR" sz="800" b="1" dirty="0"/>
                        <a:t>)A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0" dirty="0">
                          <a:solidFill>
                            <a:srgbClr val="0070C0"/>
                          </a:solidFill>
                        </a:rPr>
                        <a:t>(KAN/OMB 11(12)A)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YJ604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(D341N)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(VOR 4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off)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09(621’)      8530’      27(597’)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3.3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DPRKK(N43 01.6/E129 52.0) R100, R200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RWY27  /12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(Do not overshoot 12DME ARC)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406190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09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C(5330’),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180 BACK(8530’),  27 : B(7400’),A (8350’)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Expect Hold Due to MIL Train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(ADD FUEL 30min)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PAX Window must closed Between APP and DEP.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Parking Brake Remain SET (Winter)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66534552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ZYYJ(YNJ) </a:t>
                      </a:r>
                      <a:r>
                        <a:rPr lang="en-US" sz="13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624ft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F8FC769-31D3-C65B-0A4D-8512B1FC1D77}"/>
              </a:ext>
            </a:extLst>
          </p:cNvPr>
          <p:cNvSpPr/>
          <p:nvPr/>
        </p:nvSpPr>
        <p:spPr>
          <a:xfrm>
            <a:off x="1651787" y="339958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4EF24A-3648-E4B6-92DD-3A591532AC2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206859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3B9E08-9399-887D-087F-8AD383B55718}"/>
              </a:ext>
            </a:extLst>
          </p:cNvPr>
          <p:cNvSpPr txBox="1"/>
          <p:nvPr/>
        </p:nvSpPr>
        <p:spPr>
          <a:xfrm>
            <a:off x="24681" y="5030270"/>
            <a:ext cx="16249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1050" dirty="0">
                <a:solidFill>
                  <a:srgbClr val="C00000"/>
                </a:solidFill>
              </a:rPr>
              <a:t>QFE Next Page</a:t>
            </a:r>
            <a:endParaRPr kumimoji="1" lang="ko-Kore-KR" altLang="en-US" sz="1050" dirty="0">
              <a:solidFill>
                <a:srgbClr val="C0000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7EB1F91-A32C-4EF8-0E55-67221839AEA3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371365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oogle Shape;377;p28">
            <a:extLst>
              <a:ext uri="{FF2B5EF4-FFF2-40B4-BE49-F238E27FC236}">
                <a16:creationId xmlns:a16="http://schemas.microsoft.com/office/drawing/2014/main" id="{3BC43B3A-BAD2-E13A-4922-2BB962CCA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4243983"/>
              </p:ext>
            </p:extLst>
          </p:nvPr>
        </p:nvGraphicFramePr>
        <p:xfrm>
          <a:off x="7" y="822012"/>
          <a:ext cx="2328850" cy="4692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132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5634">
                  <a:extLst>
                    <a:ext uri="{9D8B030D-6E8A-4147-A177-3AD203B41FA5}">
                      <a16:colId xmlns:a16="http://schemas.microsoft.com/office/drawing/2014/main" val="2543703711"/>
                    </a:ext>
                  </a:extLst>
                </a:gridCol>
              </a:tblGrid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based on QFE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(instructed by ATC)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Altitude base on QNH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(Set Altitude : QFE + </a:t>
                      </a:r>
                      <a:r>
                        <a:rPr lang="en-US" sz="800" dirty="0" err="1"/>
                        <a:t>Elev</a:t>
                      </a:r>
                      <a:r>
                        <a:rPr lang="en-US" sz="800" dirty="0"/>
                        <a:t> SET)</a:t>
                      </a:r>
                      <a:endParaRPr sz="800" dirty="0"/>
                    </a:p>
                  </a:txBody>
                  <a:tcPr marL="3600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on QFE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plus Elevation Set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0" marT="36000" marB="36000" anchor="ctr"/>
                </a:tc>
                <a:extLst>
                  <a:ext uri="{0D108BD9-81ED-4DB2-BD59-A6C34878D82A}">
                    <a16:rowId xmlns:a16="http://schemas.microsoft.com/office/drawing/2014/main" val="135975710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2700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9500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37287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94665434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7500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8776883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2290507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5600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47505088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1200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4600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82077737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4200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63804659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3900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51020131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0332092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3200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57488931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750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57026468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499569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515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70792709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8519065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425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5972620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355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066265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7348927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2805057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623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087151422"/>
                  </a:ext>
                </a:extLst>
              </a:tr>
            </a:tbl>
          </a:graphicData>
        </a:graphic>
      </p:graphicFrame>
      <p:graphicFrame>
        <p:nvGraphicFramePr>
          <p:cNvPr id="5" name="Google Shape;381;p28">
            <a:extLst>
              <a:ext uri="{FF2B5EF4-FFF2-40B4-BE49-F238E27FC236}">
                <a16:creationId xmlns:a16="http://schemas.microsoft.com/office/drawing/2014/main" id="{574A80DF-A9B9-C95F-1A2C-D48963F2FF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0243799"/>
              </p:ext>
            </p:extLst>
          </p:nvPr>
        </p:nvGraphicFramePr>
        <p:xfrm>
          <a:off x="7" y="0"/>
          <a:ext cx="2328850" cy="8229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C00000"/>
                          </a:solidFill>
                        </a:rPr>
                        <a:t>YNJ</a:t>
                      </a:r>
                      <a:r>
                        <a:rPr lang="en-US" sz="1000" dirty="0"/>
                        <a:t>  Altitude / Height Conversion Table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xxxx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meters on STD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이후 적용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meters on QFE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-&gt; REQ QNH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-&gt; QNH xxx SET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Conversion Table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사용</a:t>
                      </a:r>
                      <a:endParaRPr lang="en-US" altLang="ko-KR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YNJ A/P Elevation : 623ft = 22.5hPa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47732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962440562"/>
              </p:ext>
            </p:extLst>
          </p:nvPr>
        </p:nvGraphicFramePr>
        <p:xfrm>
          <a:off x="-4046" y="586900"/>
          <a:ext cx="2324402" cy="2036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26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05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4800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YNJ : RNP SID (NADP 1)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RW27 Main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CTOT from GND Staff due to Mil Train 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(ADD Fuel)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Consider Improve C/B &amp; NO Bleed T/O (in Summer)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27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KANVU 19D (11D)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271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271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ATC/6500ft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(1800mQFE)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271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09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KANVU 09D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(01D)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091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091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ATC/6500ft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SPD 200kts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091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YNJ 113.1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09 108.7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27 109.3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27 : YNJ 271/3.6, YNJ 073/10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(MAX 162kts)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09 : YNJ 091/4.5, YNJ 287/11 (MAX 162kts)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27(597’)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09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621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Must Check MTOW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RWY 27 180 Back(Clockwise)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/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ZYYJ(YNJ) </a:t>
                      </a:r>
                      <a:r>
                        <a:rPr lang="en-US" altLang="ko-Kore-KR" sz="13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624ft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118.75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1250078" y="2537716"/>
            <a:ext cx="1136850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YNJ 118.75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SHE 132.35 – 119.3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128.77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135.65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132.95 - ICN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7" name="그림 6" descr="지도, 텍스트, 아틀라스이(가) 표시된 사진&#10;&#10;자동 생성된 설명">
            <a:extLst>
              <a:ext uri="{FF2B5EF4-FFF2-40B4-BE49-F238E27FC236}">
                <a16:creationId xmlns:a16="http://schemas.microsoft.com/office/drawing/2014/main" id="{F19609A6-7271-6D23-5630-D75089A260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617765"/>
            <a:ext cx="1311394" cy="602996"/>
          </a:xfrm>
          <a:prstGeom prst="rect">
            <a:avLst/>
          </a:prstGeom>
        </p:spPr>
      </p:pic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D96964-DA7D-DB70-8854-38CF355C9A8D}"/>
              </a:ext>
            </a:extLst>
          </p:cNvPr>
          <p:cNvSpPr/>
          <p:nvPr/>
        </p:nvSpPr>
        <p:spPr>
          <a:xfrm>
            <a:off x="1651787" y="3148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4700386-C099-B304-A62F-487E189607C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7926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34798"/>
            <a:ext cx="249619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120.55 - SHA APP 125.62 – 119.7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HGH APP 119.82 – 120.4 – 125.55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04056796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641533169"/>
              </p:ext>
            </p:extLst>
          </p:nvPr>
        </p:nvGraphicFramePr>
        <p:xfrm>
          <a:off x="4472" y="3681982"/>
          <a:ext cx="2311025" cy="1921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1302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HGH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- STAR, APP, Missed APP Keep Track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Cauton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Military Traffic </a:t>
                      </a:r>
                      <a:r>
                        <a:rPr lang="en-US" sz="800" b="0" dirty="0">
                          <a:solidFill>
                            <a:srgbClr val="FF0000"/>
                          </a:solidFill>
                        </a:rPr>
                        <a:t>(Missed APP ALT In ATIS)</a:t>
                      </a:r>
                      <a:endParaRPr sz="800" b="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07/06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OKT, SUP 91A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HC410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25/24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OKT, SUP 81A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HC305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1128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06(22’)          11155’          24(22’)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1128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07(22’)           11811’         25(22’)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APP SPD REST in APP Chart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1095565"/>
                  </a:ext>
                </a:extLst>
              </a:tr>
              <a:tr h="34116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 : C5(5613’), C6(6899’), 24 : C4(5613’), C3(6981’)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 : A5(6266’),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A6(7565’)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 25 : A4(6250’),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A3(7555’) TWR </a:t>
                      </a:r>
                      <a:r>
                        <a:rPr lang="en-US" sz="800" b="1" dirty="0" err="1">
                          <a:solidFill>
                            <a:srgbClr val="FF0000"/>
                          </a:solidFill>
                        </a:rPr>
                        <a:t>Permisson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   </a:t>
                      </a:r>
                      <a:r>
                        <a:rPr lang="ko-KR" altLang="en-US" sz="8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chemeClr val="accent1"/>
                          </a:solidFill>
                        </a:rPr>
                        <a:t>Report RWY Vacated</a:t>
                      </a:r>
                      <a:endParaRPr lang="en-US" sz="800" b="0" dirty="0">
                        <a:solidFill>
                          <a:schemeClr val="accent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944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700" dirty="0"/>
                        <a:t>TAXI RTE In Jeppesen Chart, </a:t>
                      </a:r>
                      <a:r>
                        <a:rPr lang="en-US" sz="700" dirty="0"/>
                        <a:t>Follow Me Car, APU off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847130966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ZSHC(HGH) 22ft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Hangzhou Reporting Office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130.65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D544921-59D8-2C59-3286-145F4315D9D9}"/>
              </a:ext>
            </a:extLst>
          </p:cNvPr>
          <p:cNvSpPr/>
          <p:nvPr/>
        </p:nvSpPr>
        <p:spPr>
          <a:xfrm>
            <a:off x="1651787" y="3420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987965-3A09-D2F6-CA7C-EAA8074C7BDE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8589741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49B192A-52FC-825F-D237-334CAD1FDCC8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2740686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3B6882F-FDE6-F4CD-5407-162E3DE90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" y="2535825"/>
            <a:ext cx="832968" cy="631595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548670728"/>
              </p:ext>
            </p:extLst>
          </p:nvPr>
        </p:nvGraphicFramePr>
        <p:xfrm>
          <a:off x="-4045" y="860542"/>
          <a:ext cx="2339846" cy="169316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4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2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3304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737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56088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HGH: SID (NADP 1) </a:t>
                      </a:r>
                    </a:p>
                  </a:txBody>
                  <a:tcPr marL="36000" marR="72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104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07/06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OKT, SUP 91D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069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069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104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25/24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SUP 81D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249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249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837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HGH 113.0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110.5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07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110.35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25 108.5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608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</a:p>
                  </a:txBody>
                  <a:tcPr marL="0" marR="0" marT="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lang="en-US" altLang="ko-Kore-KR" sz="800" b="0" u="none" strike="noStrike" cap="none" dirty="0">
                          <a:solidFill>
                            <a:schemeClr val="tx1"/>
                          </a:solidFill>
                        </a:rPr>
                        <a:t>24/25 : HGH 249/5.5, R020</a:t>
                      </a:r>
                      <a:endParaRPr lang="ko-Kore-KR" altLang="en-US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72556726"/>
                  </a:ext>
                </a:extLst>
              </a:tr>
              <a:tr h="141859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06(22’)          11155’          24(22’)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1859"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07(22’)           11811’         25(22’)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1217085"/>
                  </a:ext>
                </a:extLst>
              </a:tr>
              <a:tr h="267567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Red/Blue </a:t>
                      </a:r>
                      <a:r>
                        <a:rPr lang="en-US" sz="800" u="none" strike="noStrike" cap="none" dirty="0" err="1"/>
                        <a:t>PushBack</a:t>
                      </a:r>
                      <a:r>
                        <a:rPr lang="en-US" sz="800" u="none" strike="noStrike" cap="none" dirty="0"/>
                        <a:t>, Verify RWY </a:t>
                      </a:r>
                      <a:r>
                        <a:rPr lang="en-US" altLang="ko-KR" sz="800" u="none" strike="noStrike" cap="none" dirty="0"/>
                        <a:t>&amp;</a:t>
                      </a:r>
                      <a:r>
                        <a:rPr lang="ko-KR" altLang="en-US" sz="800" u="none" strike="noStrike" cap="none" dirty="0"/>
                        <a:t> </a:t>
                      </a:r>
                      <a:r>
                        <a:rPr lang="en-US" sz="800" u="none" strike="noStrike" cap="none" dirty="0"/>
                        <a:t>Direction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B050"/>
                          </a:solidFill>
                        </a:rPr>
                        <a:t>After T/O, Report T/O RWY</a:t>
                      </a:r>
                      <a:endParaRPr lang="en-US" sz="800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55905173"/>
              </p:ext>
            </p:extLst>
          </p:nvPr>
        </p:nvGraphicFramePr>
        <p:xfrm>
          <a:off x="-2501" y="16504"/>
          <a:ext cx="2328850" cy="8379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ZSHC(HGH) 22ft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Hangzhou Reporting Office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130.65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DCL(NO Readback)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Voice 10min</a:t>
                      </a:r>
                      <a:r>
                        <a:rPr lang="ko-KR" altLang="en-US" sz="800" dirty="0">
                          <a:solidFill>
                            <a:srgbClr val="FF0000"/>
                          </a:solidFill>
                        </a:rPr>
                        <a:t>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25517" y="2723165"/>
            <a:ext cx="1710405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HGH APP 120.4 – 119.82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119.975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120.55 - 120.95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A72C02-893D-80AB-C1B5-D0AD7E61DEE9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4A13C61-F219-F854-BFC9-F82AA1917851}"/>
              </a:ext>
            </a:extLst>
          </p:cNvPr>
          <p:cNvSpPr/>
          <p:nvPr/>
        </p:nvSpPr>
        <p:spPr>
          <a:xfrm>
            <a:off x="865296" y="37882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4814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293811"/>
            <a:ext cx="1917513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WHE TWR 118.65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(130.0)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62332743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7163590"/>
              </p:ext>
            </p:extLst>
          </p:nvPr>
        </p:nvGraphicFramePr>
        <p:xfrm>
          <a:off x="-1706" y="3951218"/>
          <a:ext cx="2333879" cy="159996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6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6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35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WEH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(TL 69) </a:t>
                      </a:r>
                      <a:r>
                        <a:rPr lang="en-US" sz="800" dirty="0"/>
                        <a:t>: RNAV STAR 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(QFE but QNH Operation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</a:rPr>
                        <a:t>)</a:t>
                      </a:r>
                      <a:endParaRPr lang="en-US" sz="800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Around AGAVO ATIS 126.25 get RWY, APP info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03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IKE xx F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WH106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ILS Z 03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21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IKE xx F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WH206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ILS Z 21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03(113’)          8530’          21(146’)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03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B(6500’), C(5300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21 : D(7300’)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 Turn Vacate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180 Back No Terminal Side Turn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RWY 21 Short Track Miles -&gt; Req one Orbit WH113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Watch MLDW Due to RWY 21 </a:t>
                      </a:r>
                      <a:r>
                        <a:rPr lang="en-US" altLang="ko-Kore-KR" sz="800" b="0" dirty="0" err="1">
                          <a:solidFill>
                            <a:srgbClr val="C00000"/>
                          </a:solidFill>
                        </a:rPr>
                        <a:t>ShortCut</a:t>
                      </a:r>
                      <a:endParaRPr lang="en-US" altLang="ko-Kore-KR" sz="800" b="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Descend Published Report Published = CLR APP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PAX Window must closed Between APP and DEP 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967153133"/>
              </p:ext>
            </p:extLst>
          </p:nvPr>
        </p:nvGraphicFramePr>
        <p:xfrm>
          <a:off x="-2501" y="12087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ZSWH(WEH)146ft</a:t>
                      </a:r>
                      <a:endParaRPr sz="12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E23E752-ACE1-7421-5106-79D1E7E0EF39}"/>
              </a:ext>
            </a:extLst>
          </p:cNvPr>
          <p:cNvSpPr/>
          <p:nvPr/>
        </p:nvSpPr>
        <p:spPr>
          <a:xfrm>
            <a:off x="1651787" y="35880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476D46B-565B-EB4B-5B7D-1257109BE44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629431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1261518" y="3548722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84456" y="3513354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3B9E08-9399-887D-087F-8AD383B55718}"/>
              </a:ext>
            </a:extLst>
          </p:cNvPr>
          <p:cNvSpPr txBox="1"/>
          <p:nvPr/>
        </p:nvSpPr>
        <p:spPr>
          <a:xfrm>
            <a:off x="24681" y="5030270"/>
            <a:ext cx="16249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1050" dirty="0">
                <a:solidFill>
                  <a:srgbClr val="C00000"/>
                </a:solidFill>
              </a:rPr>
              <a:t>QFE Next Page</a:t>
            </a:r>
            <a:endParaRPr kumimoji="1" lang="ko-Kore-KR" altLang="en-US" sz="1050" dirty="0">
              <a:solidFill>
                <a:srgbClr val="C0000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AF21F4E-8C9C-427D-21CD-DFB14BD167E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71061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oogle Shape;377;p28">
            <a:extLst>
              <a:ext uri="{FF2B5EF4-FFF2-40B4-BE49-F238E27FC236}">
                <a16:creationId xmlns:a16="http://schemas.microsoft.com/office/drawing/2014/main" id="{3BC43B3A-BAD2-E13A-4922-2BB962CCA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18335596"/>
              </p:ext>
            </p:extLst>
          </p:nvPr>
        </p:nvGraphicFramePr>
        <p:xfrm>
          <a:off x="7" y="822012"/>
          <a:ext cx="2328850" cy="4692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132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817">
                  <a:extLst>
                    <a:ext uri="{9D8B030D-6E8A-4147-A177-3AD203B41FA5}">
                      <a16:colId xmlns:a16="http://schemas.microsoft.com/office/drawing/2014/main" val="2543703711"/>
                    </a:ext>
                  </a:extLst>
                </a:gridCol>
                <a:gridCol w="657817">
                  <a:extLst>
                    <a:ext uri="{9D8B030D-6E8A-4147-A177-3AD203B41FA5}">
                      <a16:colId xmlns:a16="http://schemas.microsoft.com/office/drawing/2014/main" val="2409258293"/>
                    </a:ext>
                  </a:extLst>
                </a:gridCol>
              </a:tblGrid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based on QFE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(instructed by ATC)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Altitude base on QNH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(Set Altitude : QFE + </a:t>
                      </a:r>
                      <a:r>
                        <a:rPr lang="en-US" sz="800" dirty="0" err="1"/>
                        <a:t>Elev</a:t>
                      </a:r>
                      <a:r>
                        <a:rPr lang="en-US" sz="800" dirty="0"/>
                        <a:t> SET)</a:t>
                      </a:r>
                      <a:endParaRPr sz="800" dirty="0"/>
                    </a:p>
                  </a:txBody>
                  <a:tcPr marL="3600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on QFE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plus Elevation Set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975710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65434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7000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76883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290507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5100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505088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1200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077737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3700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804659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20131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900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08004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2700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488931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700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26468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600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9569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550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1900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792709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519065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972620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6265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6768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280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840234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48927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805057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03 : 113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21 : 146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087151422"/>
                  </a:ext>
                </a:extLst>
              </a:tr>
            </a:tbl>
          </a:graphicData>
        </a:graphic>
      </p:graphicFrame>
      <p:graphicFrame>
        <p:nvGraphicFramePr>
          <p:cNvPr id="5" name="Google Shape;381;p28">
            <a:extLst>
              <a:ext uri="{FF2B5EF4-FFF2-40B4-BE49-F238E27FC236}">
                <a16:creationId xmlns:a16="http://schemas.microsoft.com/office/drawing/2014/main" id="{574A80DF-A9B9-C95F-1A2C-D48963F2FF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04247137"/>
              </p:ext>
            </p:extLst>
          </p:nvPr>
        </p:nvGraphicFramePr>
        <p:xfrm>
          <a:off x="7" y="0"/>
          <a:ext cx="2328850" cy="8229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C00000"/>
                          </a:solidFill>
                        </a:rPr>
                        <a:t>WEH</a:t>
                      </a:r>
                      <a:r>
                        <a:rPr lang="en-US" sz="1000" dirty="0"/>
                        <a:t>  Altitude / Height Conversion Table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xxxx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meters on STD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이후 적용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meters on QFE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-&gt; REQ QNH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-&gt; QNH xxx SET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Conversion Table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사용</a:t>
                      </a:r>
                      <a:endParaRPr lang="en-US" altLang="ko-KR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03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</a:rPr>
                        <a:t>Elev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 : 113ft = 4.0hPa, 21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</a:rPr>
                        <a:t>Elev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 : 146ft = 5.2hPa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357949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309956683"/>
              </p:ext>
            </p:extLst>
          </p:nvPr>
        </p:nvGraphicFramePr>
        <p:xfrm>
          <a:off x="4919" y="568970"/>
          <a:ext cx="2300363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28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7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9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0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8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19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69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03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42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WEH 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(TA 4930’) </a:t>
                      </a:r>
                      <a:r>
                        <a:rPr lang="en-US" sz="800" u="none" strike="noStrike" cap="none" dirty="0"/>
                        <a:t>: RNP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03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IKE xx X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026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4500m(14800’)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026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IKE xx X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206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4500m(14800’)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206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WHE 115.8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03 110.1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03(113’)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21(146’)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RWY03/21 Expect C – Taxi down on RWY – 180 Back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chemeClr val="tx1"/>
                          </a:solidFill>
                        </a:rPr>
                        <a:t>Taxi to RWY21 via B -&gt; Confirm 180 Back!!!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>
                          <a:solidFill>
                            <a:srgbClr val="C00000"/>
                          </a:solidFill>
                        </a:rPr>
                        <a:t>180 Back No Terminal Side Turn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dirty="0">
                          <a:solidFill>
                            <a:srgbClr val="0070C0"/>
                          </a:solidFill>
                        </a:rPr>
                        <a:t>PAX Window must closed Between APP and DEP 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4287823038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ZSWH(WEH)146ft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-5 Min, TWR 118.65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50119" y="2509276"/>
            <a:ext cx="74892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CAC7CD4-98E6-8004-ECC6-D82BC228CB84}"/>
              </a:ext>
            </a:extLst>
          </p:cNvPr>
          <p:cNvSpPr/>
          <p:nvPr/>
        </p:nvSpPr>
        <p:spPr>
          <a:xfrm>
            <a:off x="1651787" y="30498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8726A69-B260-0DB1-8F3C-79808AA2BAA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4556607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16083" y="3136641"/>
            <a:ext cx="223971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 – 128.15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125.6 – 120.35 – 133.65 – 134.15 - 126.7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XIY 125.3 –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XIY APP 119.05 – 120.2 – 125.1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338440718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015755674"/>
              </p:ext>
            </p:extLst>
          </p:nvPr>
        </p:nvGraphicFramePr>
        <p:xfrm>
          <a:off x="-1706" y="4004222"/>
          <a:ext cx="2333879" cy="153781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30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3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89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1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XIY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 118) </a:t>
                      </a:r>
                      <a:r>
                        <a:rPr lang="en-US" sz="800" dirty="0"/>
                        <a:t>: RNAV STAR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en-US" sz="800" dirty="0" err="1">
                          <a:solidFill>
                            <a:srgbClr val="FF0000"/>
                          </a:solidFill>
                        </a:rPr>
                        <a:t>Spd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 Restriction at REF Page)</a:t>
                      </a:r>
                      <a:r>
                        <a:rPr lang="en-US" sz="8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Req ILS APP instead of Visual APP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LOVRA xx W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XY906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05L/R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LOVRA xx Y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XY801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23R/L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03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05L(1562’)          9843’          23R(1569’)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05R(1556’)          12467’          23L(1538’)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4078636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05L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A3(6778’), A2(9032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23R : A6(5544’), A7(6512’)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05R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: D4(5613’), D3(7322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23L : D5(5646’), D6(7408’)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Follow Me Car, CTC Apron before Gate in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“Closing to xx TWY, apply to change to xx Freq”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Taxi RTE in Jeppesen Chart. 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34980095"/>
              </p:ext>
            </p:extLst>
          </p:nvPr>
        </p:nvGraphicFramePr>
        <p:xfrm>
          <a:off x="-2501" y="12087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ZLXY(XIY)</a:t>
                      </a:r>
                      <a:r>
                        <a:rPr lang="en-US" sz="12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1572ft</a:t>
                      </a:r>
                      <a:endParaRPr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Airport Operation Center 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856CD2-FE31-6284-01C8-D7D16E5D0A5D}"/>
              </a:ext>
            </a:extLst>
          </p:cNvPr>
          <p:cNvSpPr/>
          <p:nvPr/>
        </p:nvSpPr>
        <p:spPr>
          <a:xfrm>
            <a:off x="1651787" y="369803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009EB74-6D91-1AA6-A9DA-65019232BABA}"/>
              </a:ext>
            </a:extLst>
          </p:cNvPr>
          <p:cNvSpPr/>
          <p:nvPr/>
        </p:nvSpPr>
        <p:spPr>
          <a:xfrm>
            <a:off x="852508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788347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68822" y="3180964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1015375" y="3142296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B986224-3CA1-75D5-0CA8-58CC5B2A801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742792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도표, 라인, 원, 폰트이(가) 표시된 사진&#10;&#10;자동 생성된 설명">
            <a:extLst>
              <a:ext uri="{FF2B5EF4-FFF2-40B4-BE49-F238E27FC236}">
                <a16:creationId xmlns:a16="http://schemas.microsoft.com/office/drawing/2014/main" id="{79E91389-E6D4-6BB5-D030-8522DB1AF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046" y="2634634"/>
            <a:ext cx="818867" cy="487272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812185731"/>
              </p:ext>
            </p:extLst>
          </p:nvPr>
        </p:nvGraphicFramePr>
        <p:xfrm>
          <a:off x="-4046" y="692910"/>
          <a:ext cx="2334438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35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2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5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110">
                  <a:extLst>
                    <a:ext uri="{9D8B030D-6E8A-4147-A177-3AD203B41FA5}">
                      <a16:colId xmlns:a16="http://schemas.microsoft.com/office/drawing/2014/main" val="456969378"/>
                    </a:ext>
                  </a:extLst>
                </a:gridCol>
                <a:gridCol w="23760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0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47879">
                  <a:extLst>
                    <a:ext uri="{9D8B030D-6E8A-4147-A177-3AD203B41FA5}">
                      <a16:colId xmlns:a16="http://schemas.microsoft.com/office/drawing/2014/main" val="585746357"/>
                    </a:ext>
                  </a:extLst>
                </a:gridCol>
                <a:gridCol w="165775">
                  <a:extLst>
                    <a:ext uri="{9D8B030D-6E8A-4147-A177-3AD203B41FA5}">
                      <a16:colId xmlns:a16="http://schemas.microsoft.com/office/drawing/2014/main" val="2630083129"/>
                    </a:ext>
                  </a:extLst>
                </a:gridCol>
                <a:gridCol w="28210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7257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XIY (TA 9850’)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RNAV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9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05L</a:t>
                      </a:r>
                      <a:r>
                        <a:rPr lang="en-US" sz="800" b="0" u="none" strike="noStrike" cap="none" dirty="0"/>
                        <a:t>/R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WJC xx W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/Z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052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052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1500m(4900’)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052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9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WJC xx X</a:t>
                      </a: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/Y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232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232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1500m(4900’)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232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97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LCZ 109.0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109.9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110.3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83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23R/L : LCZ /18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647479"/>
                  </a:ext>
                </a:extLst>
              </a:tr>
              <a:tr h="133833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05L(1562’)          9843’          23R(1569’)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833"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05R(1556’)          12467’          23L(1538’)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466261"/>
                  </a:ext>
                </a:extLst>
              </a:tr>
              <a:tr h="136405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FF0000"/>
                          </a:solidFill>
                        </a:rPr>
                        <a:t>NOTAM TO Perf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, ADT = CTOT</a:t>
                      </a:r>
                      <a:endParaRPr lang="en-US" altLang="ko-Kore-KR" sz="8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845494477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ZLXY(XIY)</a:t>
                      </a:r>
                      <a:r>
                        <a:rPr lang="en-US" altLang="ko-Kore-KR" sz="12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1572ft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Airport Operation Center 132.0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-30~10 Min, Read Back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20492" y="2737843"/>
            <a:ext cx="1794081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119.9- XIY 120.95 – 124.1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126.7 – 134.15 – 128.3 – 120.35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123.2 - 132.95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TAE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AB538F5-03F3-C5A0-114C-C38C1B3D58AD}"/>
              </a:ext>
            </a:extLst>
          </p:cNvPr>
          <p:cNvSpPr/>
          <p:nvPr/>
        </p:nvSpPr>
        <p:spPr>
          <a:xfrm>
            <a:off x="1651787" y="312509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3AC9E1A-44C6-BA36-C536-ED6640435CB5}"/>
              </a:ext>
            </a:extLst>
          </p:cNvPr>
          <p:cNvSpPr/>
          <p:nvPr/>
        </p:nvSpPr>
        <p:spPr>
          <a:xfrm>
            <a:off x="890872" y="32766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8863445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16083" y="3136641"/>
            <a:ext cx="2268570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 – 128.15 – PEK 127.35 –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132.2 – SHA 118.9 – WUH 119.7 - 134.35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CSX 132.55 – 125.6 – 119.65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HUH TWR 118.55(118.175)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818370097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689268254"/>
              </p:ext>
            </p:extLst>
          </p:nvPr>
        </p:nvGraphicFramePr>
        <p:xfrm>
          <a:off x="-1706" y="4004222"/>
          <a:ext cx="2333879" cy="153781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30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39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8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1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CSX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 118) </a:t>
                      </a:r>
                      <a:r>
                        <a:rPr lang="en-US" sz="800" dirty="0"/>
                        <a:t>: RNAV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After OLMIB 6600M, STAR or RDR 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Vec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 before GUSIV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PEX xx W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HA366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18L/R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PEX xx X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HA383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36R/L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03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18L(212’)          12467’          36R(188’)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18R(219’)          10499’          36L(198’)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4078636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18L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C9(5629’),C7(6948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’),36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R : C11(5675’),C13(6961’)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18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R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: B4(5167’), B3(6427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36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L : B5(5206’), B6(6443’)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Position Report to GND first CTC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TWY T9 less 29.2m , Follow Me Car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APU Procedure but APU available cabin 26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ko-KR" altLang="en-US" sz="800" dirty="0" err="1">
                          <a:solidFill>
                            <a:srgbClr val="0070C0"/>
                          </a:solidFill>
                        </a:rPr>
                        <a:t>이하시</a:t>
                      </a:r>
                      <a:endParaRPr lang="en-US"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764217243"/>
              </p:ext>
            </p:extLst>
          </p:nvPr>
        </p:nvGraphicFramePr>
        <p:xfrm>
          <a:off x="-2501" y="12087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ZGHA(CSX)220ft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Changsha Reporting Office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856CD2-FE31-6284-01C8-D7D16E5D0A5D}"/>
              </a:ext>
            </a:extLst>
          </p:cNvPr>
          <p:cNvSpPr/>
          <p:nvPr/>
        </p:nvSpPr>
        <p:spPr>
          <a:xfrm>
            <a:off x="1651787" y="369803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009EB74-6D91-1AA6-A9DA-65019232BABA}"/>
              </a:ext>
            </a:extLst>
          </p:cNvPr>
          <p:cNvSpPr/>
          <p:nvPr/>
        </p:nvSpPr>
        <p:spPr>
          <a:xfrm>
            <a:off x="82950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0240110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68822" y="3180964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1015375" y="3142296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B986224-3CA1-75D5-0CA8-58CC5B2A801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607585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204834433"/>
              </p:ext>
            </p:extLst>
          </p:nvPr>
        </p:nvGraphicFramePr>
        <p:xfrm>
          <a:off x="-4047" y="692910"/>
          <a:ext cx="2342652" cy="161892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796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0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721">
                  <a:extLst>
                    <a:ext uri="{9D8B030D-6E8A-4147-A177-3AD203B41FA5}">
                      <a16:colId xmlns:a16="http://schemas.microsoft.com/office/drawing/2014/main" val="1994765097"/>
                    </a:ext>
                  </a:extLst>
                </a:gridCol>
                <a:gridCol w="372124">
                  <a:extLst>
                    <a:ext uri="{9D8B030D-6E8A-4147-A177-3AD203B41FA5}">
                      <a16:colId xmlns:a16="http://schemas.microsoft.com/office/drawing/2014/main" val="3574586511"/>
                    </a:ext>
                  </a:extLst>
                </a:gridCol>
                <a:gridCol w="200613">
                  <a:extLst>
                    <a:ext uri="{9D8B030D-6E8A-4147-A177-3AD203B41FA5}">
                      <a16:colId xmlns:a16="http://schemas.microsoft.com/office/drawing/2014/main" val="456969378"/>
                    </a:ext>
                  </a:extLst>
                </a:gridCol>
                <a:gridCol w="71153">
                  <a:extLst>
                    <a:ext uri="{9D8B030D-6E8A-4147-A177-3AD203B41FA5}">
                      <a16:colId xmlns:a16="http://schemas.microsoft.com/office/drawing/2014/main" val="3691084646"/>
                    </a:ext>
                  </a:extLst>
                </a:gridCol>
                <a:gridCol w="2909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683">
                  <a:extLst>
                    <a:ext uri="{9D8B030D-6E8A-4147-A177-3AD203B41FA5}">
                      <a16:colId xmlns:a16="http://schemas.microsoft.com/office/drawing/2014/main" val="585746357"/>
                    </a:ext>
                  </a:extLst>
                </a:gridCol>
                <a:gridCol w="336965">
                  <a:extLst>
                    <a:ext uri="{9D8B030D-6E8A-4147-A177-3AD203B41FA5}">
                      <a16:colId xmlns:a16="http://schemas.microsoft.com/office/drawing/2014/main" val="3290678495"/>
                    </a:ext>
                  </a:extLst>
                </a:gridCol>
                <a:gridCol w="23577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7257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XIY (TA 9850’)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RNAV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976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OPO xx W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OPO xx W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ATC(900m)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OPO xx X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OPO xx X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ATC(900m)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97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18R 110.3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36L 109.9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18R 110.3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36L 109.9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36R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36L/R : LYH217/8.5, R190 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(LYH 113.55 for EO)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647479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18R(219’)          10499’          36L(198’)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18L(212’)          12467’          36R(188’)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466261"/>
                  </a:ext>
                </a:extLst>
              </a:tr>
              <a:tr h="13640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CTC DEP 119.65 without TWR Instruction</a:t>
                      </a:r>
                      <a:endParaRPr lang="en-US" altLang="ko-Kore-KR" sz="8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084727226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ZGHA(CSX)220ft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Changsha Reporting Office 132.0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-20m, Read Back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66500" y="2271735"/>
            <a:ext cx="1587294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119.65- CSX 132.55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WUH 134.35 – 120.975 – 135.65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125.775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132.4 - 125.325 - 120.55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AB538F5-03F3-C5A0-114C-C38C1B3D58AD}"/>
              </a:ext>
            </a:extLst>
          </p:cNvPr>
          <p:cNvSpPr/>
          <p:nvPr/>
        </p:nvSpPr>
        <p:spPr>
          <a:xfrm>
            <a:off x="1651787" y="312509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3AC9E1A-44C6-BA36-C536-ED6640435CB5}"/>
              </a:ext>
            </a:extLst>
          </p:cNvPr>
          <p:cNvSpPr/>
          <p:nvPr/>
        </p:nvSpPr>
        <p:spPr>
          <a:xfrm>
            <a:off x="890872" y="344920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5BE487A-EE0C-7027-8052-DEFA65E0A9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5" y="2313175"/>
            <a:ext cx="699076" cy="690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647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521844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124.52(125.72)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TPE 125.5 – 126.7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129.1 - HKG RDR 121.3 – 126.5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122.0 – Final 119.1 – 119.35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4157552187"/>
              </p:ext>
            </p:extLst>
          </p:nvPr>
        </p:nvGraphicFramePr>
        <p:xfrm>
          <a:off x="0" y="635155"/>
          <a:ext cx="2332925" cy="2518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76621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443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052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052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0521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201029949"/>
              </p:ext>
            </p:extLst>
          </p:nvPr>
        </p:nvGraphicFramePr>
        <p:xfrm>
          <a:off x="4472" y="3700084"/>
          <a:ext cx="2351640" cy="184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06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6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7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586">
                  <a:extLst>
                    <a:ext uri="{9D8B030D-6E8A-4147-A177-3AD203B41FA5}">
                      <a16:colId xmlns:a16="http://schemas.microsoft.com/office/drawing/2014/main" val="2302053776"/>
                    </a:ext>
                  </a:extLst>
                </a:gridCol>
                <a:gridCol w="7460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7788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HKG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Terminal Tx RTE + STAR Chart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(TL110)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ENPET FL260,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RWY25R After TOPUN - </a:t>
                      </a:r>
                      <a:r>
                        <a:rPr lang="en-US" sz="800" b="1" dirty="0">
                          <a:solidFill>
                            <a:srgbClr val="FFC000"/>
                          </a:solidFill>
                        </a:rPr>
                        <a:t>APP Mode</a:t>
                      </a:r>
                      <a:endParaRPr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07L</a:t>
                      </a:r>
                      <a:r>
                        <a:rPr lang="en-US" sz="800" b="0" dirty="0"/>
                        <a:t>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ABBEY </a:t>
                      </a:r>
                      <a:r>
                        <a:rPr lang="en-US" sz="800" b="1" dirty="0" err="1"/>
                        <a:t>xxA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SIERA </a:t>
                      </a:r>
                      <a:r>
                        <a:rPr lang="en-US" sz="800" b="1" dirty="0" err="1"/>
                        <a:t>xxA</a:t>
                      </a:r>
                      <a:r>
                        <a:rPr lang="en-US" sz="800" b="1" dirty="0"/>
                        <a:t>/C</a:t>
                      </a:r>
                    </a:p>
                  </a:txBody>
                  <a:tcPr marL="36000" marR="3600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LIMES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07L</a:t>
                      </a:r>
                      <a:r>
                        <a:rPr lang="en-US" sz="800" b="0" dirty="0"/>
                        <a:t>(R)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8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25R</a:t>
                      </a:r>
                      <a:r>
                        <a:rPr lang="en-US" sz="800" b="0" dirty="0"/>
                        <a:t>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ABBEY </a:t>
                      </a:r>
                      <a:r>
                        <a:rPr lang="en-US" altLang="ko-Kore-KR" sz="800" b="1" dirty="0" err="1"/>
                        <a:t>xxB</a:t>
                      </a:r>
                      <a:endParaRPr lang="en-US" altLang="ko-Kore-KR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SIERA </a:t>
                      </a:r>
                      <a:r>
                        <a:rPr lang="en-US" altLang="ko-Kore-KR" sz="800" b="1" dirty="0" err="1"/>
                        <a:t>xxB</a:t>
                      </a:r>
                      <a:r>
                        <a:rPr lang="en-US" altLang="ko-Kore-KR" sz="800" b="1" dirty="0"/>
                        <a:t>/D</a:t>
                      </a:r>
                    </a:p>
                  </a:txBody>
                  <a:tcPr marL="36000" marR="3600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TD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RNAV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tx</a:t>
                      </a:r>
                      <a:r>
                        <a:rPr lang="en-US" sz="800" b="1" dirty="0"/>
                        <a:t> ILS 25R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25L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909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07L(23’)         11896’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      25R 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9095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07R(27’) 11942’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12467’     25L(27’)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833"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07L : C7(5882’), C8(7194’),   25R : C6(5882’), C5(7211’)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07R : J7(6916’), J8(7998’),     25L : J5(6916’), J4(8192’)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4811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Confirm Chart SPD vs ATC SPD (ATC First)</a:t>
                      </a:r>
                      <a:endParaRPr lang="en-US" altLang="ko-KR" sz="800" b="1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>
                          <a:solidFill>
                            <a:srgbClr val="0070C0"/>
                          </a:solidFill>
                        </a:rPr>
                        <a:t>xxR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Dash Line for B737, APU BAN off Procedure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6929003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VHHH(HKG) 28ft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HAS FLT Dispatch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131.6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74227" y="34132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2327901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ACE50AE8-CC83-E9FB-37A0-3FD0CCE99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111" y="2490164"/>
            <a:ext cx="756864" cy="628119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380361153"/>
              </p:ext>
            </p:extLst>
          </p:nvPr>
        </p:nvGraphicFramePr>
        <p:xfrm>
          <a:off x="7175" y="707276"/>
          <a:ext cx="2300931" cy="179870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398225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HKG : SID + </a:t>
                      </a: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Terminal Tx RTE Chart</a:t>
                      </a:r>
                      <a:r>
                        <a:rPr lang="en-US" sz="800" u="none" strike="noStrike" cap="none" dirty="0"/>
                        <a:t> TA 9000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NADP2 : 1000 SPD INTV (Vzf+10~20kts), 1500 CLB TH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u="none" strike="noStrike" cap="none" dirty="0">
                          <a:solidFill>
                            <a:schemeClr val="bg1"/>
                          </a:solidFill>
                        </a:rPr>
                        <a:t>(NADP 1/2 for 07L/R)</a:t>
                      </a:r>
                      <a:endParaRPr sz="700" b="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5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07L</a:t>
                      </a:r>
                      <a:r>
                        <a:rPr lang="en-US" sz="800" b="0" u="none" strike="noStrike" cap="none" dirty="0"/>
                        <a:t>(R)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OCEAN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(A)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(RASSE </a:t>
                      </a:r>
                      <a:r>
                        <a:rPr lang="en-US" sz="800" b="0" u="none" strike="noStrike" cap="none" dirty="0" err="1">
                          <a:solidFill>
                            <a:srgbClr val="0070C0"/>
                          </a:solidFill>
                        </a:rPr>
                        <a:t>xxZ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/X)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074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5000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074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72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25R</a:t>
                      </a:r>
                      <a:r>
                        <a:rPr lang="en-US" sz="800" b="0" u="none" strike="noStrike" cap="none" dirty="0"/>
                        <a:t>(L)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OCEAN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xxB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/F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254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5000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254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70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SMT 114.8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25R 108.75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110.9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25L 110.9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727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07R/L(27’/23’) 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25L/R(27’/23’)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22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 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07L(R) : LKC R105(SMT /3), LKC105/9.5 R185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25R(L) : ITFR(ITFL)254/10, R156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822849"/>
                  </a:ext>
                </a:extLst>
              </a:tr>
              <a:tr h="165372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SID – Tx RTE Chart Many SPD Restriction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836173499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VHHH(HKG) 28ft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HAS FLT </a:t>
                      </a:r>
                      <a:r>
                        <a:rPr lang="en-US" sz="900" dirty="0" err="1"/>
                        <a:t>Disp</a:t>
                      </a:r>
                      <a:r>
                        <a:rPr lang="en-US" sz="900" dirty="0"/>
                        <a:t> 131.6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20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차이시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794992" y="2499092"/>
            <a:ext cx="1498808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DEP 123.8 – RDR 118.925 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129.1 – 126.7 – 123.6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- 120.72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30997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115118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46724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TSN APP 119.27 –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118.425(130.0)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065032155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970969007"/>
              </p:ext>
            </p:extLst>
          </p:nvPr>
        </p:nvGraphicFramePr>
        <p:xfrm>
          <a:off x="4472" y="3705689"/>
          <a:ext cx="2333879" cy="18179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6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04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718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TSN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(Missed App 1970’ Initially)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</a:t>
                      </a:r>
                      <a:r>
                        <a:rPr lang="en-US" sz="800" b="0" dirty="0"/>
                        <a:t>/16R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xK</a:t>
                      </a:r>
                      <a:r>
                        <a:rPr lang="en-US" sz="800" b="0" dirty="0"/>
                        <a:t>/R/H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TJ960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TJ919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16L</a:t>
                      </a:r>
                      <a:r>
                        <a:rPr lang="en-US" sz="800" b="0" dirty="0"/>
                        <a:t>/16R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/34L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xQ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TJ841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34R</a:t>
                      </a:r>
                      <a:r>
                        <a:rPr lang="en-US" altLang="ko-Kore-KR" sz="800" b="0" dirty="0"/>
                        <a:t>/34L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02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16L(4’)          10 499’         34R(5’)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02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TH</a:t>
                      </a: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 16R(5’)    10499’/11811’    34L(6’)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029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/8,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/6 </a:t>
                      </a:r>
                      <a:r>
                        <a:rPr kumimoji="0" lang="en-US" altLang="ko-Kore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160kts</a:t>
                      </a:r>
                      <a:r>
                        <a:rPr kumimoji="0" lang="en-US" altLang="ko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(JEPP REF)</a:t>
                      </a:r>
                      <a:r>
                        <a:rPr kumimoji="0" lang="en-US" altLang="ko-Kore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6227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16L :W3(6269’),W2(9809’), 34R :W7(6443’),W8(7591’)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16R :B4(5177’),B3(7191’), 34L :B5(5183’),B6(7201’)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891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on D, TAXI SPD Max 27kts</a:t>
                      </a:r>
                      <a:endParaRPr lang="en-US" altLang="ko-KR"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840082249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ZBTJ(TSN) 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Tianjin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1787" y="325670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2556107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44258019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4116751183"/>
              </p:ext>
            </p:extLst>
          </p:nvPr>
        </p:nvGraphicFramePr>
        <p:xfrm>
          <a:off x="-3431" y="676135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091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01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64">
                  <a:extLst>
                    <a:ext uri="{9D8B030D-6E8A-4147-A177-3AD203B41FA5}">
                      <a16:colId xmlns:a16="http://schemas.microsoft.com/office/drawing/2014/main" val="488815992"/>
                    </a:ext>
                  </a:extLst>
                </a:gridCol>
                <a:gridCol w="167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1066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56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TSN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Caution 600</a:t>
                      </a:r>
                      <a:r>
                        <a:rPr lang="en-US" altLang="ko-KR" sz="800" u="none" strike="noStrike" cap="none" dirty="0">
                          <a:solidFill>
                            <a:schemeClr val="accent4"/>
                          </a:solidFill>
                        </a:rPr>
                        <a:t>m Level Off – SPD Inc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16R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/16L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/34R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/R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TAJ 112.1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109.7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34R 111.5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34L 110.5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16R(5’)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lang="en-US"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34L(6’)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34R(5’)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16R : Do not pass A11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Confirm Parking Brake Release before Push back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515392825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ZBTJ(TSN) 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Tianjin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(Read Back!)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971" y="2439767"/>
            <a:ext cx="1226618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128.7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07203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73882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251703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133.05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128.55 - 128.15 – PEK 127.35 – TAO 128.35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CGO 119.35 – 120.72 - APP 126.35</a:t>
            </a:r>
            <a:endParaRPr kumimoji="1" lang="en-US" altLang="ko-Kore-KR" sz="700" b="1" u="sng" dirty="0">
              <a:solidFill>
                <a:srgbClr val="FF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88881374"/>
              </p:ext>
            </p:extLst>
          </p:nvPr>
        </p:nvGraphicFramePr>
        <p:xfrm>
          <a:off x="0" y="3759696"/>
          <a:ext cx="2333879" cy="17959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6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19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9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/>
                        <a:t>CGO</a:t>
                      </a:r>
                      <a:r>
                        <a:rPr lang="en-US" sz="800" dirty="0"/>
                        <a:t> : STAR   </a:t>
                      </a:r>
                      <a:r>
                        <a:rPr lang="en-US" sz="800" dirty="0" err="1">
                          <a:solidFill>
                            <a:srgbClr val="7030A0"/>
                          </a:solidFill>
                        </a:rPr>
                        <a:t>xxL</a:t>
                      </a:r>
                      <a:r>
                        <a:rPr lang="en-US" sz="800" dirty="0">
                          <a:solidFill>
                            <a:srgbClr val="7030A0"/>
                          </a:solidFill>
                        </a:rPr>
                        <a:t>/R L/D RWY Freq CHG ATIS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(Caution 12R/30L LOC false Capture, Fluctuation)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</a:t>
                      </a:r>
                      <a:r>
                        <a:rPr lang="en-US" altLang="ko-KR" sz="800" b="1" dirty="0"/>
                        <a:t>2L</a:t>
                      </a:r>
                      <a:r>
                        <a:rPr lang="en-US" sz="800" b="0" dirty="0"/>
                        <a:t>/12R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NOP </a:t>
                      </a:r>
                      <a:r>
                        <a:rPr lang="en-US" sz="800" b="1" dirty="0" err="1"/>
                        <a:t>xxU</a:t>
                      </a:r>
                      <a:r>
                        <a:rPr lang="en-US" sz="800" b="1" dirty="0"/>
                        <a:t> RNAV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DZY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12L</a:t>
                      </a:r>
                      <a:r>
                        <a:rPr lang="en-US" sz="800" b="0" dirty="0"/>
                        <a:t>/12R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3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30L</a:t>
                      </a:r>
                      <a:r>
                        <a:rPr lang="en-US" sz="800" b="0" dirty="0"/>
                        <a:t>/30R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NOP </a:t>
                      </a:r>
                      <a:r>
                        <a:rPr lang="en-US" altLang="ko-Kore-KR" sz="800" b="1" dirty="0" err="1"/>
                        <a:t>xxV</a:t>
                      </a:r>
                      <a:r>
                        <a:rPr lang="en-US" altLang="ko-Kore-KR" sz="800" b="1" dirty="0"/>
                        <a:t> RNAV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CC527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30L</a:t>
                      </a:r>
                      <a:r>
                        <a:rPr lang="en-US" altLang="ko-Kore-KR" sz="800" b="0" dirty="0"/>
                        <a:t>/30R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79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12L(496’)          11811’         30R(484’)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79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12R(494’).         11155’          30L(484’)     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9791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ILS Ident /8 (180kts) /6 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APP SPD in JEPP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7654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12L : D7(5853’),D8(6955’), 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30R :D6(5833’),D5(6935’)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12R :H7(5702’),H8(6883’),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30L :H5(5672’),H4(6932’) </a:t>
                      </a:r>
                      <a:endParaRPr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5251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car, APU Off But 26</a:t>
                      </a:r>
                      <a:r>
                        <a:rPr lang="ko-KR" altLang="en-US" sz="800" dirty="0"/>
                        <a:t>도 이하 사용가능</a:t>
                      </a:r>
                      <a:endParaRPr lang="en-US" altLang="ko-KR"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84611328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ZHCC(CGO) </a:t>
                      </a:r>
                      <a:r>
                        <a:rPr lang="en-US" sz="13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496ft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Zhengzhou AOC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7574" y="34946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4599347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7191039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372567521"/>
              </p:ext>
            </p:extLst>
          </p:nvPr>
        </p:nvGraphicFramePr>
        <p:xfrm>
          <a:off x="-3431" y="581398"/>
          <a:ext cx="2335724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091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01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64">
                  <a:extLst>
                    <a:ext uri="{9D8B030D-6E8A-4147-A177-3AD203B41FA5}">
                      <a16:colId xmlns:a16="http://schemas.microsoft.com/office/drawing/2014/main" val="488815992"/>
                    </a:ext>
                  </a:extLst>
                </a:gridCol>
                <a:gridCol w="167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3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4293">
                  <a:extLst>
                    <a:ext uri="{9D8B030D-6E8A-4147-A177-3AD203B41FA5}">
                      <a16:colId xmlns:a16="http://schemas.microsoft.com/office/drawing/2014/main" val="1210640370"/>
                    </a:ext>
                  </a:extLst>
                </a:gridCol>
                <a:gridCol w="1556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CGO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Lower ALT – Consider Add Fuel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12R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/12L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OKT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RNAV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116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116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116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30R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/30L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OKT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 RNAV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296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296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296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CGO 114.5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12L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30R 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12R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30L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12R(494’)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12L(496’)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lang="en-US"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30L(484’)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30R(484’)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30L : CGO 296/4, R180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30R : CGO /4, CRS 070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5082982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Req Pushback to Apron 121.7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52076322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ZHCC(CGO) 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496ft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Zhengzhou AOC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(Read Back!)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586954" y="2445968"/>
            <a:ext cx="1741909" cy="855482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126.35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(AUTO or NOT)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CGO 124.2 – 119.35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128.35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PEK 127.35 – 128.15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132.95 - ICN 128.7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10049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스크린샷, 소프트웨어, 도표이(가) 표시된 사진&#10;&#10;자동 생성된 설명">
            <a:extLst>
              <a:ext uri="{FF2B5EF4-FFF2-40B4-BE49-F238E27FC236}">
                <a16:creationId xmlns:a16="http://schemas.microsoft.com/office/drawing/2014/main" id="{98C5E6F4-394E-6412-4449-3BC7BF7D0ACF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49649" t="31341" r="20715" b="11205"/>
          <a:stretch/>
        </p:blipFill>
        <p:spPr>
          <a:xfrm>
            <a:off x="0" y="2445969"/>
            <a:ext cx="647775" cy="941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70626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987" y="3151645"/>
            <a:ext cx="249619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– 125.32 – 132.32 - 120.1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GZU 124.9 – 133.5 - WUH 134.35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119.3 - CHS 123.9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DYG TWR 118.45</a:t>
            </a: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915221272"/>
              </p:ext>
            </p:extLst>
          </p:nvPr>
        </p:nvGraphicFramePr>
        <p:xfrm>
          <a:off x="1525" y="4082615"/>
          <a:ext cx="2331400" cy="146570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DYG : STAR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High Terr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, ATIS within 100NM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DYG TWR no RDR Service KEEP FLT PLAN RTE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281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08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LIN </a:t>
                      </a:r>
                      <a:r>
                        <a:rPr lang="en-US" sz="800" b="1" dirty="0" err="1"/>
                        <a:t>xxA</a:t>
                      </a:r>
                      <a:r>
                        <a:rPr lang="en-US" sz="800" b="1" dirty="0"/>
                        <a:t> RNP</a:t>
                      </a:r>
                      <a:endParaRPr lang="en-US"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JX001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X 08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6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26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LIN </a:t>
                      </a:r>
                      <a:r>
                        <a:rPr lang="en-US" altLang="ko-Kore-KR" sz="800" b="0" dirty="0" err="1"/>
                        <a:t>xxA</a:t>
                      </a:r>
                      <a:r>
                        <a:rPr lang="en-US" altLang="ko-Kore-KR" sz="800" b="0" dirty="0"/>
                        <a:t> RNP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DG944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ILS X 26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08(713’)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8530’     26(665’)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3.2도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05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8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J(6530’), </a:t>
                      </a:r>
                      <a:r>
                        <a:rPr lang="en-US" sz="800" b="0" dirty="0" err="1">
                          <a:solidFill>
                            <a:schemeClr val="dk1"/>
                          </a:solidFill>
                        </a:rPr>
                        <a:t>DownSlope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0.65%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 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B(6530’)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Do not Intercept RWY08 inside DYG 11NM(FIX)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Grooved (AIP), Follow Me Car on A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73609132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ZGDY(DYG) </a:t>
                      </a:r>
                      <a:r>
                        <a:rPr lang="en-US" sz="12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713ft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DCAAF97-49DD-AE80-34AF-512BE900E983}"/>
              </a:ext>
            </a:extLst>
          </p:cNvPr>
          <p:cNvSpPr/>
          <p:nvPr/>
        </p:nvSpPr>
        <p:spPr>
          <a:xfrm>
            <a:off x="1669148" y="352822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BC0B007-1D05-0F91-185F-EF18A8FB3CE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4675191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B7E4DE-4422-34F1-D7EA-F356A7B42392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842237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283296557"/>
              </p:ext>
            </p:extLst>
          </p:nvPr>
        </p:nvGraphicFramePr>
        <p:xfrm>
          <a:off x="0" y="578251"/>
          <a:ext cx="2335724" cy="1548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4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972">
                  <a:extLst>
                    <a:ext uri="{9D8B030D-6E8A-4147-A177-3AD203B41FA5}">
                      <a16:colId xmlns:a16="http://schemas.microsoft.com/office/drawing/2014/main" val="924808566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49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6672">
                  <a:extLst>
                    <a:ext uri="{9D8B030D-6E8A-4147-A177-3AD203B41FA5}">
                      <a16:colId xmlns:a16="http://schemas.microsoft.com/office/drawing/2014/main" val="484641046"/>
                    </a:ext>
                  </a:extLst>
                </a:gridCol>
                <a:gridCol w="11803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5242">
                  <a:extLst>
                    <a:ext uri="{9D8B030D-6E8A-4147-A177-3AD203B41FA5}">
                      <a16:colId xmlns:a16="http://schemas.microsoft.com/office/drawing/2014/main" val="4194299910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DYG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(RWY Grooved AIP)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08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LIN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(2400m)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26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LIN </a:t>
                      </a:r>
                      <a:r>
                        <a:rPr lang="en-US" altLang="ko-Kore-KR" sz="800" b="0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259</a:t>
                      </a:r>
                      <a:endParaRPr sz="458" b="0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259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(2400m)</a:t>
                      </a:r>
                      <a:endParaRPr lang="ko-Kore-KR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259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DYG 114.4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08 109.7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26 108.9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08(713’)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24(665’)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08 : DYG 079/8, R055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 : DYG, R250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8502685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008559832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ZGDY(DYG) 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713ft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Voice TWR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15566" y="2376477"/>
            <a:ext cx="239039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118.45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CHS 123.9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GZU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124.9 – 133.5 -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133.25 – SHA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120.1 – 132.32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128.12 – 125.32 – 126.17 – 120.55 –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72E208F-F9E3-4DBD-EA14-654CF7F7CDE4}"/>
              </a:ext>
            </a:extLst>
          </p:cNvPr>
          <p:cNvSpPr/>
          <p:nvPr/>
        </p:nvSpPr>
        <p:spPr>
          <a:xfrm>
            <a:off x="1651787" y="313646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CA2F9E-B6DB-CD38-1DE9-D46BCCC5931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지도, 텍스트, 아틀라스이(가) 표시된 사진&#10;&#10;자동 생성된 설명">
            <a:extLst>
              <a:ext uri="{FF2B5EF4-FFF2-40B4-BE49-F238E27FC236}">
                <a16:creationId xmlns:a16="http://schemas.microsoft.com/office/drawing/2014/main" id="{9F632F4C-60D3-9EE8-7A8D-0CA4319CC3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5676" y="2123530"/>
            <a:ext cx="1090673" cy="64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691745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6FF77275-DC2D-7782-8A56-C3FCD4C15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EEC30C3-708C-B4A4-6427-5E6725C26554}"/>
              </a:ext>
            </a:extLst>
          </p:cNvPr>
          <p:cNvSpPr txBox="1"/>
          <p:nvPr/>
        </p:nvSpPr>
        <p:spPr>
          <a:xfrm>
            <a:off x="-55838" y="3280623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123.85 – 119.6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118.25</a:t>
            </a:r>
          </a:p>
        </p:txBody>
      </p:sp>
      <p:graphicFrame>
        <p:nvGraphicFramePr>
          <p:cNvPr id="291" name="Google Shape;291;p18">
            <a:extLst>
              <a:ext uri="{FF2B5EF4-FFF2-40B4-BE49-F238E27FC236}">
                <a16:creationId xmlns:a16="http://schemas.microsoft.com/office/drawing/2014/main" id="{184C1080-0236-2052-E1E9-648A12C011A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83395981"/>
              </p:ext>
            </p:extLst>
          </p:nvPr>
        </p:nvGraphicFramePr>
        <p:xfrm>
          <a:off x="0" y="60692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425BFED1-9719-706B-35CE-6D6E3D9DD9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1657253"/>
              </p:ext>
            </p:extLst>
          </p:nvPr>
        </p:nvGraphicFramePr>
        <p:xfrm>
          <a:off x="-1706" y="3819333"/>
          <a:ext cx="2333880" cy="174281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6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60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42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DLC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dirty="0"/>
                        <a:t>: RNAV(PMS) STAR </a:t>
                      </a:r>
                      <a:r>
                        <a:rPr lang="en-US" sz="700" dirty="0">
                          <a:solidFill>
                            <a:srgbClr val="C00000"/>
                          </a:solidFill>
                        </a:rPr>
                        <a:t>CHK RWY 10 TL107 CAT C/D</a:t>
                      </a:r>
                      <a:endParaRPr lang="en-US" sz="80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chemeClr val="accent4"/>
                          </a:solidFill>
                        </a:rPr>
                        <a:t>If Over MLDW, Report DLC -32NM for Holding or Missed APP</a:t>
                      </a:r>
                      <a:endParaRPr lang="en-US" sz="800" dirty="0">
                        <a:solidFill>
                          <a:schemeClr val="accent4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RUPID xx A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TL107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(PMS)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CHK ALT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TL106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10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OFF SET LOC</a:t>
                      </a:r>
                      <a:endParaRPr lang="en-US"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RUPID xx A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TL307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(PMS)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TL304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28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10(106’)  10171’  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   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28(89’)  9843’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10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(3.3/3.5)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E(5469’),D(6535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28 : F(5393’),G(6555’)</a:t>
                      </a:r>
                      <a:endParaRPr lang="en-US" sz="800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10 Align After DA Due Terrain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NO AUTO L/D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AA47F5"/>
                          </a:solidFill>
                        </a:rPr>
                        <a:t>Align by Visual Follow GS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sz="700" b="1" dirty="0">
                          <a:solidFill>
                            <a:schemeClr val="tx1"/>
                          </a:solidFill>
                        </a:rPr>
                        <a:t>Parking Brake Remain SET </a:t>
                      </a:r>
                      <a:r>
                        <a:rPr lang="en-US" sz="600" b="1" dirty="0">
                          <a:solidFill>
                            <a:srgbClr val="0070C0"/>
                          </a:solidFill>
                        </a:rPr>
                        <a:t>(After All Offload then REQ Release) 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FF0000"/>
                          </a:solidFill>
                        </a:rPr>
                        <a:t>TAXI SPD Max 16kts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, APU off Procedure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2B7D9463-A88C-657E-36E3-FFACA0B4A96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90648043"/>
              </p:ext>
            </p:extLst>
          </p:nvPr>
        </p:nvGraphicFramePr>
        <p:xfrm>
          <a:off x="-2501" y="12087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ZYTL(DLC) 107ft</a:t>
                      </a:r>
                      <a:endParaRPr sz="12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4BC288-4472-D50A-E876-6EB1EB95F6A1}"/>
              </a:ext>
            </a:extLst>
          </p:cNvPr>
          <p:cNvSpPr/>
          <p:nvPr/>
        </p:nvSpPr>
        <p:spPr>
          <a:xfrm>
            <a:off x="1651787" y="350455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97D4F3D-FF0C-FDED-A507-17DB62A3B3B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2885768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899C8511-836F-F239-6741-D6AC626F5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FEE7959D-3C0C-154D-04C3-CBA939701D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64E036-24A6-4740-3AAE-4CBCE7AE3EA0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4B2AF9A-775E-6F54-8C97-508EFCD60E7D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703358-AEE5-EB43-CBCB-FFC25292DE8A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29DFFA1-BE25-8CB2-ACDF-27EE6789585C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90954660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2AE82B88-A031-A9EF-D496-D553CF650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1646C4F2-3ED5-5AF0-F68C-A238C964F7C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6795127"/>
              </p:ext>
            </p:extLst>
          </p:nvPr>
        </p:nvGraphicFramePr>
        <p:xfrm>
          <a:off x="4919" y="705249"/>
          <a:ext cx="2300363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28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7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9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0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8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19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69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03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42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DLC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RNP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10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SANKO xx 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900m(3000’)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103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28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SANKO xx 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283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283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900m(3000’)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283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DBL 115.4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10 109.1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28 111.1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10(106’)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10827’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28(89’)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 : DBL 283/2.9, DBL 280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820102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PushBack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Facing West (RWY28 180Back)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TAXI SPD 16kts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RWY28 Hold Short C/B – HP3/HP3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5CCFD6AD-7902-F336-4C89-5CED287368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05987276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718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69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ZYTL(DLC)107ft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DCL 20min(</a:t>
                      </a:r>
                      <a:r>
                        <a:rPr lang="en-US" altLang="ko-KR" sz="700" b="1" dirty="0" err="1">
                          <a:solidFill>
                            <a:srgbClr val="FF0000"/>
                          </a:solidFill>
                        </a:rPr>
                        <a:t>ReadBack</a:t>
                      </a: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 to GND)</a:t>
                      </a:r>
                      <a:r>
                        <a:rPr lang="ko-KR" altLang="en-US" sz="7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Voice 10min(GND)</a:t>
                      </a:r>
                      <a:endParaRPr lang="en-US" altLang="ko-KR" sz="600" b="1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3070BD7-0C1A-83AC-8136-EF8CBE88DCDB}"/>
              </a:ext>
            </a:extLst>
          </p:cNvPr>
          <p:cNvSpPr txBox="1"/>
          <p:nvPr/>
        </p:nvSpPr>
        <p:spPr>
          <a:xfrm>
            <a:off x="969470" y="2622118"/>
            <a:ext cx="708848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5561BE8A-EE22-E068-7878-1E854D00D852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D0FA613-9312-F2DD-DC23-51909AB28B98}"/>
              </a:ext>
            </a:extLst>
          </p:cNvPr>
          <p:cNvSpPr/>
          <p:nvPr/>
        </p:nvSpPr>
        <p:spPr>
          <a:xfrm>
            <a:off x="1651787" y="30498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34D4E9-7B50-AB61-FEC1-B03789F420CB}"/>
              </a:ext>
            </a:extLst>
          </p:cNvPr>
          <p:cNvSpPr/>
          <p:nvPr/>
        </p:nvSpPr>
        <p:spPr>
          <a:xfrm>
            <a:off x="847312" y="18339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텍스트, 라인, 폰트, 도표이(가) 표시된 사진&#10;&#10;자동 생성된 설명">
            <a:extLst>
              <a:ext uri="{FF2B5EF4-FFF2-40B4-BE49-F238E27FC236}">
                <a16:creationId xmlns:a16="http://schemas.microsoft.com/office/drawing/2014/main" id="{FD37E064-C7D6-A385-2859-C7566E24AC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9" y="2568389"/>
            <a:ext cx="964551" cy="70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88371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22FF73A4-94AA-8A00-AF77-9E8843AFD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179AF4B-23CD-124F-C0C8-9DC20C1A596A}"/>
              </a:ext>
            </a:extLst>
          </p:cNvPr>
          <p:cNvSpPr txBox="1"/>
          <p:nvPr/>
        </p:nvSpPr>
        <p:spPr>
          <a:xfrm>
            <a:off x="-77262" y="3211794"/>
            <a:ext cx="2496196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120.55 - 125.32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HFE APP 124.45 – 119.85</a:t>
            </a:r>
          </a:p>
        </p:txBody>
      </p:sp>
      <p:graphicFrame>
        <p:nvGraphicFramePr>
          <p:cNvPr id="291" name="Google Shape;291;p18">
            <a:extLst>
              <a:ext uri="{FF2B5EF4-FFF2-40B4-BE49-F238E27FC236}">
                <a16:creationId xmlns:a16="http://schemas.microsoft.com/office/drawing/2014/main" id="{5225E797-C66F-3829-5728-529E7A13D967}"/>
              </a:ext>
            </a:extLst>
          </p:cNvPr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8FA9982D-D6D8-0E82-9799-7C6E20D0059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77336891"/>
              </p:ext>
            </p:extLst>
          </p:nvPr>
        </p:nvGraphicFramePr>
        <p:xfrm>
          <a:off x="15324" y="3912947"/>
          <a:ext cx="2311025" cy="1655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1302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HFE : STAR  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SA CAT I not Approved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RVR 550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Wx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Min (with HUD or AP or FD)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DCT “VEMEX”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MAD 01A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OF205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15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33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MAD 02A,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RDR </a:t>
                      </a:r>
                      <a:r>
                        <a:rPr lang="en-US" altLang="ko-Kore-KR" sz="800" b="1" dirty="0" err="1">
                          <a:solidFill>
                            <a:srgbClr val="0070C0"/>
                          </a:solidFill>
                        </a:rPr>
                        <a:t>Vec</a:t>
                      </a:r>
                      <a:endParaRPr lang="en-US" altLang="ko-Kore-KR"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OF108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33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15(200’)          11155’          33(208’)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116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15 : A5(5500’), A6(6500’), 33 :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A4(5500’)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 A3(6500’)</a:t>
                      </a:r>
                      <a:endParaRPr lang="en-US" sz="800" b="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No AMM                  TWR CLR</a:t>
                      </a:r>
                      <a:endParaRPr lang="en-US" altLang="ko-KR" sz="800" b="0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0" dirty="0">
                          <a:solidFill>
                            <a:schemeClr val="accent1"/>
                          </a:solidFill>
                        </a:rPr>
                        <a:t>Report Vacating RWY, TWY to TWR</a:t>
                      </a:r>
                      <a:endParaRPr lang="en-US" sz="800" b="0" dirty="0">
                        <a:solidFill>
                          <a:schemeClr val="accent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944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700" dirty="0"/>
                        <a:t>Follow Me Car H(F/G), Report Marshaller Insight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F6586E72-9505-A68D-6163-26752AF96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91305844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ZSOF(HFE) 207ft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105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7442CBE-0134-C613-4BC2-54B56810AE98}"/>
              </a:ext>
            </a:extLst>
          </p:cNvPr>
          <p:cNvSpPr/>
          <p:nvPr/>
        </p:nvSpPr>
        <p:spPr>
          <a:xfrm>
            <a:off x="1651787" y="3420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79B37DD-EE7B-8538-714F-0B0E69584813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326543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F7A00444-65D0-C212-1393-2F2732621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A399D77B-6746-0424-93E8-059E004A92D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E64775F-96C4-F314-6FEE-E605479C8C58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DD16C1B-B2BE-39D5-6D32-5D55F65E2F0F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6B962A-9955-6973-4956-E17DED997C74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9C970C1-71C2-3ACD-C30C-D0B0C078B52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9227107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777628F0-D372-0CA9-C296-D7E3A92D9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61CFE0C6-4258-86C9-1D05-8493D3F270E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85104227"/>
              </p:ext>
            </p:extLst>
          </p:nvPr>
        </p:nvGraphicFramePr>
        <p:xfrm>
          <a:off x="-4159" y="622988"/>
          <a:ext cx="2339846" cy="130078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4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65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737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674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HFE: SID (NADP 1) </a:t>
                      </a:r>
                    </a:p>
                  </a:txBody>
                  <a:tcPr marL="36000" marR="72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15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MAD 01/03D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154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154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154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33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MAD 02/04D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334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334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334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87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XQH 109.8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15    109.3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33    108.5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613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15(200’)          11155’          33(208’)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856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00B050"/>
                          </a:solidFill>
                        </a:rPr>
                        <a:t>Confirm Pushback Direction &amp; RWY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A2BCE2B1-C74D-3AFF-60FB-3D3D12DC5B1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2951418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ZSOF(HFE) 207ft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DCL(NO Readback)</a:t>
                      </a: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EB04AD8-D9E4-76EC-E5FB-300A9A730A73}"/>
              </a:ext>
            </a:extLst>
          </p:cNvPr>
          <p:cNvSpPr txBox="1"/>
          <p:nvPr/>
        </p:nvSpPr>
        <p:spPr>
          <a:xfrm>
            <a:off x="32545" y="2128974"/>
            <a:ext cx="1710405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HFE APP 119.85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- 124.45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132.4 - 120.55 - 120.95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597B4D83-CABC-3458-4491-C849AB332E79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4003D5B-CD63-500B-2937-F0A8F12629AB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3EF7D9C-B8AB-C70B-000C-0CCBC7A1B98A}"/>
              </a:ext>
            </a:extLst>
          </p:cNvPr>
          <p:cNvSpPr/>
          <p:nvPr/>
        </p:nvSpPr>
        <p:spPr>
          <a:xfrm>
            <a:off x="844824" y="32423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063729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55657D24-EF04-788C-A1E9-7789054D1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A0A2667-F766-B4F2-F036-D649D29449F8}"/>
              </a:ext>
            </a:extLst>
          </p:cNvPr>
          <p:cNvSpPr txBox="1"/>
          <p:nvPr/>
        </p:nvSpPr>
        <p:spPr>
          <a:xfrm>
            <a:off x="-77262" y="3102610"/>
            <a:ext cx="254749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 – TAO 128.55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127.35 – 127.5 - 132.2 – CAN 18.9 – 133.5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CAN 135.35 – 132.35 – 128.72 – CHD 132.25 – 133.65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KMG 134.35 - APP 120.35 – 119.0</a:t>
            </a:r>
          </a:p>
        </p:txBody>
      </p:sp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665C0695-28F6-DD44-D6A8-CC9C5617F8D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4019103"/>
              </p:ext>
            </p:extLst>
          </p:nvPr>
        </p:nvGraphicFramePr>
        <p:xfrm>
          <a:off x="15324" y="3815434"/>
          <a:ext cx="2311025" cy="17731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25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8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2514">
                  <a:extLst>
                    <a:ext uri="{9D8B030D-6E8A-4147-A177-3AD203B41FA5}">
                      <a16:colId xmlns:a16="http://schemas.microsoft.com/office/drawing/2014/main" val="1537120119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725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KMG : STAR no VOR at A/P </a:t>
                      </a:r>
                      <a:r>
                        <a:rPr lang="en-US" sz="900" dirty="0">
                          <a:solidFill>
                            <a:srgbClr val="C00000"/>
                          </a:solidFill>
                        </a:rPr>
                        <a:t>LD ALT 6900 </a:t>
                      </a:r>
                      <a:r>
                        <a:rPr lang="en-US" sz="900" dirty="0" err="1">
                          <a:solidFill>
                            <a:srgbClr val="C00000"/>
                          </a:solidFill>
                        </a:rPr>
                        <a:t>ini</a:t>
                      </a:r>
                      <a:r>
                        <a:rPr lang="en-US" sz="900" dirty="0">
                          <a:solidFill>
                            <a:srgbClr val="C00000"/>
                          </a:solidFill>
                        </a:rPr>
                        <a:t> DES</a:t>
                      </a:r>
                      <a:endParaRPr lang="en-US" sz="800" b="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FFC000"/>
                          </a:solidFill>
                        </a:rPr>
                        <a:t>CHK LD Limit </a:t>
                      </a:r>
                      <a:r>
                        <a:rPr lang="en-US" sz="900" b="1" dirty="0">
                          <a:solidFill>
                            <a:srgbClr val="C00000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NO ENG BLEED L/D</a:t>
                      </a:r>
                      <a:r>
                        <a:rPr lang="en-US" sz="900" b="1" dirty="0">
                          <a:solidFill>
                            <a:srgbClr val="C00000"/>
                          </a:solidFill>
                        </a:rPr>
                        <a:t>, </a:t>
                      </a:r>
                      <a:r>
                        <a:rPr lang="en-US" sz="900" b="1" dirty="0">
                          <a:solidFill>
                            <a:schemeClr val="accent2"/>
                          </a:solidFill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FLAP 15 L/D</a:t>
                      </a:r>
                      <a:endParaRPr lang="en-US" sz="900" b="1" dirty="0">
                        <a:solidFill>
                          <a:schemeClr val="accent2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03/04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XIS 2J </a:t>
                      </a:r>
                      <a:r>
                        <a:rPr lang="en-US" sz="800" b="0" dirty="0"/>
                        <a:t>(1,3J)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MP3 </a:t>
                      </a:r>
                      <a:r>
                        <a:rPr lang="en-US" sz="800" b="0" dirty="0"/>
                        <a:t>(XSJ)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21/22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XIS 2L </a:t>
                      </a:r>
                      <a:r>
                        <a:rPr lang="en-US" altLang="ko-Kore-KR" sz="800" b="0" dirty="0"/>
                        <a:t>(1,3L)</a:t>
                      </a:r>
                      <a:endParaRPr lang="en-US" altLang="ko-Kore-KR"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r>
                        <a:rPr lang="en-US" sz="800" b="0" dirty="0"/>
                        <a:t> (MP2)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58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03(6896’)    11352’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04(6885’)    14764’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11352’     21(6887’)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13123’     22(6879’)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RWY21/22 /8 170kts, /6 160kts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4524519"/>
                  </a:ext>
                </a:extLst>
              </a:tr>
              <a:tr h="270587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03 : F4(5994’), F3(7227’),     21 : F7(5892’), F8(7204’)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04 : C5(6482’), C4(716’),       22 : C6(6509’), C7(7726’)</a:t>
                      </a:r>
                      <a:endParaRPr lang="en-US"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136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700" dirty="0"/>
                        <a:t>Follow Me Car </a:t>
                      </a:r>
                      <a:r>
                        <a:rPr lang="en-US" sz="700" b="1" dirty="0"/>
                        <a:t>D7</a:t>
                      </a:r>
                      <a:r>
                        <a:rPr lang="en-US" sz="700" dirty="0"/>
                        <a:t>, </a:t>
                      </a:r>
                      <a:r>
                        <a:rPr lang="en-US" sz="800" b="1" dirty="0"/>
                        <a:t>R East only, Q West Only</a:t>
                      </a:r>
                      <a:endParaRPr b="1"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3EF6D167-24A1-9215-ABD7-487F64DC0C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76007282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ZPPP(KMG) 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CHK below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KMG 133.35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LD ALT 6000ft for T/O</a:t>
                      </a:r>
                      <a:endParaRPr sz="9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7245724-33D4-02A8-C4A0-C832FF8FFE59}"/>
              </a:ext>
            </a:extLst>
          </p:cNvPr>
          <p:cNvSpPr/>
          <p:nvPr/>
        </p:nvSpPr>
        <p:spPr>
          <a:xfrm>
            <a:off x="1610843" y="35499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235581E-ACC7-00F2-10B7-543CD2C385F8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91;p18">
            <a:extLst>
              <a:ext uri="{FF2B5EF4-FFF2-40B4-BE49-F238E27FC236}">
                <a16:creationId xmlns:a16="http://schemas.microsoft.com/office/drawing/2014/main" id="{5049F2F4-85AA-4A63-9F66-7192D50846F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1500826"/>
              </p:ext>
            </p:extLst>
          </p:nvPr>
        </p:nvGraphicFramePr>
        <p:xfrm>
          <a:off x="0" y="606927"/>
          <a:ext cx="2332925" cy="252511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81611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70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882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882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882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505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5056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5056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916830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DB7FAE1E-B18C-74EC-9B2A-076C45F40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BD773260-2EF4-64FA-451C-67FFE2E4B96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0FAE85-9FD7-AAA7-8D18-E346FB76BA1D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9A2C8C-327C-FB35-BE2C-6164DD8593E3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387D75-AA7B-0E17-26E2-A9031A8B166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698FB7A-3563-0A57-494B-50A15AA05870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957764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C9E1F807-0D99-3574-03F6-F70BD7E5E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E8309597-2BC1-0786-685C-C832E85B012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12195289"/>
              </p:ext>
            </p:extLst>
          </p:nvPr>
        </p:nvGraphicFramePr>
        <p:xfrm>
          <a:off x="-4159" y="643460"/>
          <a:ext cx="2339848" cy="1555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0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1959">
                  <a:extLst>
                    <a:ext uri="{9D8B030D-6E8A-4147-A177-3AD203B41FA5}">
                      <a16:colId xmlns:a16="http://schemas.microsoft.com/office/drawing/2014/main" val="2691487666"/>
                    </a:ext>
                  </a:extLst>
                </a:gridCol>
                <a:gridCol w="183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3555">
                  <a:extLst>
                    <a:ext uri="{9D8B030D-6E8A-4147-A177-3AD203B41FA5}">
                      <a16:colId xmlns:a16="http://schemas.microsoft.com/office/drawing/2014/main" val="3936429666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89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64878">
                  <a:extLst>
                    <a:ext uri="{9D8B030D-6E8A-4147-A177-3AD203B41FA5}">
                      <a16:colId xmlns:a16="http://schemas.microsoft.com/office/drawing/2014/main" val="89384936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674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KMG: SID (NADP 1)  </a:t>
                      </a:r>
                      <a:r>
                        <a:rPr lang="en-US" sz="800" u="none" strike="noStrike" cap="none" dirty="0">
                          <a:solidFill>
                            <a:srgbClr val="FF0000"/>
                          </a:solidFill>
                        </a:rPr>
                        <a:t>Check T/O Perf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Report SID to TWR Initial CTC</a:t>
                      </a:r>
                    </a:p>
                  </a:txBody>
                  <a:tcPr marL="36000" marR="72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03/04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NOD x W/X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040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(3000m)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040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21/22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NOD x Y/Z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220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(3000m)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220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87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03 111.3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04 109.3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21 110.1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22 108.5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613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03(6896’)            13123’            21(6887’)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04(6885’)            14764’            22(6879’)       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856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00B050"/>
                          </a:solidFill>
                        </a:rPr>
                        <a:t>Pushback After 5min, Eng Start After Pushback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tx1"/>
                          </a:solidFill>
                        </a:rPr>
                        <a:t>Watch STOPBAR L/T, Don’t Confuse J, C1, C2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86851603-C2B9-746F-A760-C9423ACB89B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354829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ZPPP(KMG) </a:t>
                      </a:r>
                      <a:r>
                        <a:rPr lang="en-US" sz="11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6901ft</a:t>
                      </a:r>
                      <a:endParaRPr sz="11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KMG 133.35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10-30min TOBT</a:t>
                      </a: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926328A-E9B9-D486-502B-D68E01ED0134}"/>
              </a:ext>
            </a:extLst>
          </p:cNvPr>
          <p:cNvSpPr txBox="1"/>
          <p:nvPr/>
        </p:nvSpPr>
        <p:spPr>
          <a:xfrm>
            <a:off x="32545" y="2281540"/>
            <a:ext cx="1380186" cy="13644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KMG APP 124.25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KMG 125.75</a:t>
            </a: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CD12EC5-2C4E-47F2-1E10-686FD8FE7030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09BD212-F7DA-E363-F1F3-3E28935E209E}"/>
              </a:ext>
            </a:extLst>
          </p:cNvPr>
          <p:cNvSpPr/>
          <p:nvPr/>
        </p:nvSpPr>
        <p:spPr>
          <a:xfrm>
            <a:off x="844824" y="32423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3" name="Google Shape;303;p19">
            <a:extLst>
              <a:ext uri="{FF2B5EF4-FFF2-40B4-BE49-F238E27FC236}">
                <a16:creationId xmlns:a16="http://schemas.microsoft.com/office/drawing/2014/main" id="{C1F55D7A-A272-9D92-C849-FD4500C03132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1726275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A6C4FA8D-AB36-64AD-0C41-22D8EBAD4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5F06C4E-F900-1E16-77CC-12579246C61F}"/>
              </a:ext>
            </a:extLst>
          </p:cNvPr>
          <p:cNvSpPr txBox="1"/>
          <p:nvPr/>
        </p:nvSpPr>
        <p:spPr>
          <a:xfrm>
            <a:off x="-69798" y="3164294"/>
            <a:ext cx="2521844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124.52(125.72)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TPE 125.5 – 126.7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129.1 - HKG RDR 121.3 – 126.3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ZUI APP 123.85 – MFM TWR 118.0</a:t>
            </a:r>
          </a:p>
        </p:txBody>
      </p:sp>
      <p:graphicFrame>
        <p:nvGraphicFramePr>
          <p:cNvPr id="291" name="Google Shape;291;p18">
            <a:extLst>
              <a:ext uri="{FF2B5EF4-FFF2-40B4-BE49-F238E27FC236}">
                <a16:creationId xmlns:a16="http://schemas.microsoft.com/office/drawing/2014/main" id="{B142E5DB-4913-0E81-A18E-599BE55C006A}"/>
              </a:ext>
            </a:extLst>
          </p:cNvPr>
          <p:cNvGraphicFramePr/>
          <p:nvPr/>
        </p:nvGraphicFramePr>
        <p:xfrm>
          <a:off x="0" y="635155"/>
          <a:ext cx="2332925" cy="2518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76621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443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052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052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0521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F5602DF1-B5B4-1FC1-A507-6E71D395C26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37722462"/>
              </p:ext>
            </p:extLst>
          </p:nvPr>
        </p:nvGraphicFramePr>
        <p:xfrm>
          <a:off x="4472" y="3748852"/>
          <a:ext cx="2314285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41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93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79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2880">
                  <a:extLst>
                    <a:ext uri="{9D8B030D-6E8A-4147-A177-3AD203B41FA5}">
                      <a16:colId xmlns:a16="http://schemas.microsoft.com/office/drawing/2014/main" val="2302053776"/>
                    </a:ext>
                  </a:extLst>
                </a:gridCol>
              </a:tblGrid>
              <a:tr h="25778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MFM :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STAR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 ATC) </a:t>
                      </a: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Missed APP See Meter Table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ZAO R231 North X,  FL110 250kts, App 190kts</a:t>
                      </a:r>
                      <a:endParaRPr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SMT xx</a:t>
                      </a:r>
                      <a:r>
                        <a:rPr lang="ko-KR" altLang="en-US" sz="800" b="1" dirty="0"/>
                        <a:t> </a:t>
                      </a:r>
                      <a:r>
                        <a:rPr lang="en-US" altLang="ko-KR" sz="800" b="1" dirty="0"/>
                        <a:t>A</a:t>
                      </a:r>
                      <a:endParaRPr lang="en-US"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HAZEL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/>
                        <a:t>ILS Z 34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16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SMT xx B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ZUM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Offset 54 LOC Z 16 1000ft Turn Final </a:t>
                      </a:r>
                    </a:p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NAV CHG (GS Warn)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909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34(20’) 9613’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9400’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16(20’)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909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ZAO R231, </a:t>
                      </a:r>
                      <a:r>
                        <a:rPr lang="en-US" sz="800" b="1" dirty="0" err="1">
                          <a:solidFill>
                            <a:schemeClr val="tx1"/>
                          </a:solidFill>
                        </a:rPr>
                        <a:t>RWxx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 /8</a:t>
                      </a:r>
                      <a:endParaRPr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926462761"/>
                  </a:ext>
                </a:extLst>
              </a:tr>
              <a:tr h="186514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 34 : G(9074’)                                 16 : E(7020’),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D(8989’)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4811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In Apron, Caution Wingtip &amp; Jet Blast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Advanced VDGS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32211FFD-03EB-93D5-28A6-B9931AD7D7D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7805698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VMMC(MFM) 20ft</a:t>
                      </a:r>
                      <a:endParaRPr sz="12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Menzies OCD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130.55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4EDC834-7773-59FE-97E5-43CCAFAC5156}"/>
              </a:ext>
            </a:extLst>
          </p:cNvPr>
          <p:cNvSpPr/>
          <p:nvPr/>
        </p:nvSpPr>
        <p:spPr>
          <a:xfrm>
            <a:off x="1674227" y="344979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C1BBEA-1CB8-4E77-8A50-538B7C56BE5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860190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F83C628C-ADA9-9C15-F3DF-99D5B8F9D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41E6EB93-FEF2-1C9F-6F4E-33AE81F211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A3035EA-DF68-8BC5-1CAC-01163F9A72E6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356E31E-69CF-997F-3FEB-698A82473E0E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A2AC44-241B-5D7B-FAF8-A7E46034948A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44C2A75-2A01-AD59-CAF2-E45F45E3F830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0219058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BBD43E86-00FC-2B4E-604E-A003C2849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0E119484-5864-648E-E57B-28487A91C0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26187328"/>
              </p:ext>
            </p:extLst>
          </p:nvPr>
        </p:nvGraphicFramePr>
        <p:xfrm>
          <a:off x="7175" y="603644"/>
          <a:ext cx="2300931" cy="1771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29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398225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MFM : </a:t>
                      </a: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RW34 Modified NADP</a:t>
                      </a:r>
                      <a:r>
                        <a:rPr lang="en-US" sz="800" u="none" strike="noStrike" cap="none" dirty="0"/>
                        <a:t> (TA 9000)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bg1"/>
                          </a:solidFill>
                        </a:rPr>
                        <a:t>Climb Offset 15</a:t>
                      </a:r>
                      <a:r>
                        <a:rPr lang="ko-KR" altLang="en-US" sz="800" b="0" u="none" strike="noStrike" cap="none" dirty="0">
                          <a:solidFill>
                            <a:schemeClr val="bg1"/>
                          </a:solidFill>
                        </a:rPr>
                        <a:t>도</a:t>
                      </a:r>
                      <a:r>
                        <a:rPr lang="en-US" altLang="ko-KR" sz="800" b="0" u="none" strike="noStrike" cap="none" dirty="0">
                          <a:solidFill>
                            <a:schemeClr val="bg1"/>
                          </a:solidFill>
                        </a:rPr>
                        <a:t>(359)</a:t>
                      </a:r>
                      <a:r>
                        <a:rPr lang="ko-KR" altLang="en-US" sz="800" b="0" u="none" strike="noStrike" cap="none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altLang="ko-KR" sz="800" b="0" u="none" strike="noStrike" cap="none" dirty="0">
                          <a:solidFill>
                            <a:schemeClr val="bg1"/>
                          </a:solidFill>
                        </a:rPr>
                        <a:t>to 400ft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0" u="none" strike="noStrike" cap="none" dirty="0">
                          <a:solidFill>
                            <a:srgbClr val="FFC000"/>
                          </a:solidFill>
                        </a:rPr>
                        <a:t>(B737 No LNAV, 400ft R/T 359, DCT LATOP then LNAV)</a:t>
                      </a:r>
                      <a:endParaRPr lang="en-US"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5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CONGA  xx T/U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FL160/ATC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72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16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CONGA xx P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164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5000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164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70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MCU 116.4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34  109.7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16 111.7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727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 (20’) 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11024’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 (20’)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22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ZAO R231 , RW34 E.O : MCU 344/2.5, R025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822849"/>
                  </a:ext>
                </a:extLst>
              </a:tr>
              <a:tr h="165372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A1-15, A17, B1-6, B8 Confirm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PushBack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BLUE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After TWY Protection, Eng Start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65000D49-058D-E40D-4EF0-48B668949B4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43688691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VMMC(MFM) 20ft</a:t>
                      </a:r>
                      <a:endParaRPr lang="en-US" altLang="ko-Kore-KR" sz="12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Menzies OCD 130.55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GND/TWR 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 Voice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703CDEB-16B8-E69C-A1F0-A6469B60D76F}"/>
              </a:ext>
            </a:extLst>
          </p:cNvPr>
          <p:cNvSpPr txBox="1"/>
          <p:nvPr/>
        </p:nvSpPr>
        <p:spPr>
          <a:xfrm>
            <a:off x="910816" y="2407652"/>
            <a:ext cx="1348126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ZUI DEP 123.85 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RDR 123.8 - 118.25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125.5 - FUK 127.5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- 120.72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      126.17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D0AC14C0-AFE6-CB21-11C8-20EB8A8B424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D963F5F-CB6D-A450-43AE-40BA3AFFA920}"/>
              </a:ext>
            </a:extLst>
          </p:cNvPr>
          <p:cNvSpPr/>
          <p:nvPr/>
        </p:nvSpPr>
        <p:spPr>
          <a:xfrm>
            <a:off x="1657574" y="30997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C5E36BA-68D9-3F9F-F76A-0E04064EB12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8" name="그림 7" descr="텍스트, 지도, 도표, 폰트이(가) 표시된 사진&#10;&#10;자동 생성된 설명">
            <a:extLst>
              <a:ext uri="{FF2B5EF4-FFF2-40B4-BE49-F238E27FC236}">
                <a16:creationId xmlns:a16="http://schemas.microsoft.com/office/drawing/2014/main" id="{45A9F79A-D38F-7264-637D-181668F136A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2500" y="2389930"/>
            <a:ext cx="857950" cy="574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77771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6574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 – MNL 119.3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 – HCM 120.7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132.35 – 134.05 – CXR APP 127.9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60783343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978494010"/>
              </p:ext>
            </p:extLst>
          </p:nvPr>
        </p:nvGraphicFramePr>
        <p:xfrm>
          <a:off x="-2501" y="3686661"/>
          <a:ext cx="2327658" cy="18687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59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7331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324137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CXR : STAR 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Wx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, Using RWY from 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HoChiMinh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 CTL)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RWY20 Max Tail Wind 15kts,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chk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condition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CAAV STAR, APP not Authorized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9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20L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COTUN, BANKE, HUNTA, NHATA xx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r>
                        <a:rPr lang="en-US" sz="800" b="1" dirty="0"/>
                        <a:t>CR xxx </a:t>
                      </a:r>
                      <a:r>
                        <a:rPr lang="en-US" sz="700" b="0" dirty="0">
                          <a:solidFill>
                            <a:srgbClr val="C00000"/>
                          </a:solidFill>
                        </a:rPr>
                        <a:t>AFT IAF STEEP DES(3.8)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 20L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RNP 20R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02R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dirty="0"/>
                        <a:t>ILS X/Z 02L/R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02R(15’)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20L(34’)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02L(20’)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10010’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20R(46’)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20L : G3(6735’), G1(9603’),   02R : G5(6528’), G7(9662’)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20R : W4(5971’), W3(7680’),02L : W5(5606’), W6(7345’)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/>
                        <a:t>FollowMe</a:t>
                      </a:r>
                      <a:r>
                        <a:rPr lang="en-US" sz="800" dirty="0"/>
                        <a:t> Car Service,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Sensitie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VDGS Caution!!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39052970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VVCR(CXR) 46ft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246992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2605063"/>
              </p:ext>
            </p:extLst>
          </p:nvPr>
        </p:nvGraphicFramePr>
        <p:xfrm>
          <a:off x="-4046" y="586900"/>
          <a:ext cx="2347194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48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0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4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93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CNX : RNP SID (NADP 1)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Follow Restrictions due to Military Traffic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02L</a:t>
                      </a:r>
                      <a:r>
                        <a:rPr lang="en-US" sz="800" b="0" u="none" strike="noStrike" cap="none" dirty="0"/>
                        <a:t>/R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NIHOA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020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ATC/FL</a:t>
                      </a:r>
                      <a:r>
                        <a:rPr lang="en-US" altLang="ko-KR" sz="800" b="1" u="none" strike="noStrike" cap="none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020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NIHOA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200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ATC/FL100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200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CRA 116.5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02R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02L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20L 110.3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02 : CRA 020/2, R090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 20 : CRA 200/6, R150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02L(20’)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20R(46’)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02R(15’) </a:t>
                      </a:r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10000’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20L(34’)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TWY Y5 only below wingspan 36m/118ft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19691675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VVCR(CXR) 46ft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118.2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775855" y="2358321"/>
            <a:ext cx="161294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 – HCM 134.05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DAD 123.3 – SNY 122.6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(-5min)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132.15 – 127.1 – TPE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9" name="그림 8" descr="지도, 텍스트, 도표이(가) 표시된 사진&#10;&#10;자동 생성된 설명">
            <a:extLst>
              <a:ext uri="{FF2B5EF4-FFF2-40B4-BE49-F238E27FC236}">
                <a16:creationId xmlns:a16="http://schemas.microsoft.com/office/drawing/2014/main" id="{40FAD37A-76DB-4884-AE7F-03831C74A2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336310"/>
            <a:ext cx="845389" cy="825728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026387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38488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 – HCM 120.7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132.35 – SGN APP 125.5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153951041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356095685"/>
              </p:ext>
            </p:extLst>
          </p:nvPr>
        </p:nvGraphicFramePr>
        <p:xfrm>
          <a:off x="-11466" y="3788344"/>
          <a:ext cx="236537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23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06">
                  <a:extLst>
                    <a:ext uri="{9D8B030D-6E8A-4147-A177-3AD203B41FA5}">
                      <a16:colId xmlns:a16="http://schemas.microsoft.com/office/drawing/2014/main" val="689142997"/>
                    </a:ext>
                  </a:extLst>
                </a:gridCol>
                <a:gridCol w="224118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94645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SGN : STAR 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(CPDLC : VVHM)</a:t>
                      </a:r>
                      <a:r>
                        <a:rPr lang="ko-KR" altLang="en-US" sz="800" dirty="0">
                          <a:solidFill>
                            <a:schemeClr val="accent4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190</a:t>
                      </a:r>
                      <a:endParaRPr sz="8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25R</a:t>
                      </a:r>
                      <a:r>
                        <a:rPr lang="en-US" sz="800" b="0" dirty="0"/>
                        <a:t>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xxH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/>
                        <a:t>SOKAN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SOKAN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W 25R/L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07R</a:t>
                      </a:r>
                      <a:r>
                        <a:rPr lang="en-US" sz="800" b="0" dirty="0"/>
                        <a:t>(L)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xxG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SAMDU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SAMDU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W 07R, VOR 07L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25R(33’)                  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10007’           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07L(20’)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25L(32’)      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12559’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10036’ (DISP TH)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07R(24’)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25R: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P4(6158’), P5(6991’)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07R:</a:t>
                      </a:r>
                      <a:r>
                        <a:rPr lang="en-US" altLang="ko-Kore-KR" sz="800" b="1" dirty="0">
                          <a:solidFill>
                            <a:schemeClr val="accent1"/>
                          </a:solidFill>
                        </a:rPr>
                        <a:t>S6(4412’),S5(6574’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,</a:t>
                      </a:r>
                      <a:r>
                        <a:rPr lang="en-US" altLang="ko-KR" sz="700" b="1" dirty="0">
                          <a:solidFill>
                            <a:schemeClr val="accent1"/>
                          </a:solidFill>
                        </a:rPr>
                        <a:t>11</a:t>
                      </a:r>
                      <a:r>
                        <a:rPr lang="en-US" altLang="ko-Kore-KR" sz="700" b="1" dirty="0">
                          <a:solidFill>
                            <a:schemeClr val="accent1"/>
                          </a:solidFill>
                        </a:rPr>
                        <a:t>0도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accent1"/>
                          </a:solidFill>
                        </a:rPr>
                        <a:t>B737 P4, P5, S6, S5 Unable Tell ATC</a:t>
                      </a:r>
                      <a:endParaRPr lang="en-US" altLang="ko-Kore-KR"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25L : S7(6824’),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S8(9671’),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    07L : P3(6266’), P2(8907’)</a:t>
                      </a:r>
                      <a:endParaRPr lang="en-US" altLang="ko-Kore-KR" sz="80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/>
                        <a:t>FollowMe</a:t>
                      </a:r>
                      <a:r>
                        <a:rPr lang="en-US" sz="800" dirty="0"/>
                        <a:t> Car Service in Ramp </a:t>
                      </a: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(Caution STOPBAR L/T)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Sensitie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VDGS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!!!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0.5m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이내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2m STOP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시 바로 정지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) </a:t>
                      </a:r>
                      <a:endParaRPr lang="en-US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13347349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VVTS(SGN) 33ft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7640F26-AA68-BC81-60B9-DD726B8F893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64756758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26756709"/>
              </p:ext>
            </p:extLst>
          </p:nvPr>
        </p:nvGraphicFramePr>
        <p:xfrm>
          <a:off x="-15808" y="580010"/>
          <a:ext cx="2349161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70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3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14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65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71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SGN : RNP SID (NADP 1) TA 18000’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Request RWY due to Performance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25L</a:t>
                      </a:r>
                      <a:r>
                        <a:rPr lang="en-US" sz="800" b="0" u="none" strike="noStrike" cap="none" dirty="0"/>
                        <a:t>(R)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11000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250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07L</a:t>
                      </a:r>
                      <a:r>
                        <a:rPr lang="en-US" sz="800" b="0" u="none" strike="noStrike" cap="none" dirty="0"/>
                        <a:t>(R)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070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TSH 116.8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25R 110.5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07R 111.7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25L 108.3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25R(33’)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10007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07L(20’)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20R(46’)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25L(32’)</a:t>
                      </a:r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12559’          07R(24’)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10000’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20L(34’)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Caution TSAT +- 5min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CLR, RWY CHG After TAXI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Caution STOPBAR L/T, </a:t>
                      </a: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Follow Car Service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02158126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VVTS(SGN) 33ft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-15min,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DEL 121.8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78327" y="2363041"/>
            <a:ext cx="1963999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 – HCM 120.1 - 134.05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HNI 123.3 – SNY 122.6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(-5min)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132.15 – 127.1 – TPE 129.1 – 127.9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126.7 – 123.6 - 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5CD2C11-84BB-CA3F-91BE-B3B15E82C89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2432630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36663"/>
            <a:ext cx="2438488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  <a:r>
              <a:rPr kumimoji="1" lang="ko-KR" altLang="en-US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HCM 120.7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(MIGUG)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PNH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617524240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275025826"/>
              </p:ext>
            </p:extLst>
          </p:nvPr>
        </p:nvGraphicFramePr>
        <p:xfrm>
          <a:off x="20430" y="3857452"/>
          <a:ext cx="2286834" cy="1670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70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10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532">
                  <a:extLst>
                    <a:ext uri="{9D8B030D-6E8A-4147-A177-3AD203B41FA5}">
                      <a16:colId xmlns:a16="http://schemas.microsoft.com/office/drawing/2014/main" val="689142997"/>
                    </a:ext>
                  </a:extLst>
                </a:gridCol>
                <a:gridCol w="518328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595906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PNH : RNAV STAR (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ATC, ATIS)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Caution CLR Limit GONLY, Do not Confuse ANAT, ANAB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NANXY </a:t>
                      </a:r>
                      <a:r>
                        <a:rPr lang="en-US" sz="800" b="1" dirty="0" err="1"/>
                        <a:t>xxB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BOSET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SOKAN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05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23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DETMA </a:t>
                      </a:r>
                      <a:r>
                        <a:rPr lang="en-US" sz="800" b="1" dirty="0" err="1"/>
                        <a:t>xxA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KOSDA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Del Holding Data</a:t>
                      </a:r>
                      <a:endParaRPr lang="en-US" sz="7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SAMDU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05(40’)       9843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9350’ (DISP TH)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23(37’)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05 : E(6240’), H(7148’),     23 </a:t>
                      </a: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: C(7004’), 180 Back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No Centerline L/T,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No Vacate Lead L/T(Only Edge L/T)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APU Off after 5min after parking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Stand xx Yellow Lead-in Marking(xx A,B Blue Line!!)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857097307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VDPP(PNH) 40ft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PNH DIS 129.0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304DB22-750F-4097-365B-79B389FA238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4169301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83847497"/>
              </p:ext>
            </p:extLst>
          </p:nvPr>
        </p:nvGraphicFramePr>
        <p:xfrm>
          <a:off x="-15808" y="580010"/>
          <a:ext cx="2349161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33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3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14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482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97551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PNH : RNAV SID (NADP 1) TA 10000’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accent4"/>
                          </a:solidFill>
                        </a:rPr>
                        <a:t>RWY 23 SEYHA Watch Over Bank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2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0</a:t>
                      </a:r>
                      <a:r>
                        <a:rPr lang="en-US" sz="800" b="1" u="none" strike="noStrike" cap="none" dirty="0"/>
                        <a:t>5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NANXY xx</a:t>
                      </a:r>
                    </a:p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(SEYHA xx)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046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(5000)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046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23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226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226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2093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PNH 114.3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23 109.7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05(40’)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23(37’)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PNH 226/2.5, R160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4648163"/>
                  </a:ext>
                </a:extLst>
              </a:tr>
              <a:tr h="28029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APU Start 10min Before DEP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Line up 180 Back follow Yellow Guide Line</a:t>
                      </a:r>
                      <a:endParaRPr lang="en-US" sz="800" b="1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86314932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VDPP(PNH) 40ft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PNH DIS 129.0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READY!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118.0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295394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폰트, 라인, 도표이(가) 표시된 사진&#10;&#10;자동 생성된 설명">
            <a:extLst>
              <a:ext uri="{FF2B5EF4-FFF2-40B4-BE49-F238E27FC236}">
                <a16:creationId xmlns:a16="http://schemas.microsoft.com/office/drawing/2014/main" id="{48DFD2B7-3E52-6B57-0EA3-05AC6BD7B7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4232" y="2344525"/>
            <a:ext cx="806295" cy="67884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598763" y="2378007"/>
            <a:ext cx="1491114" cy="117864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 – PNH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HCM 134.05 – 120.7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8942/5655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(ARESI)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(AKOTA)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127.9 – 125.5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271B0A-E414-C9F5-151D-200BBB86EC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593187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20765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6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127.5 – 123.2 – 123.9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(BISIG ETA)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13300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(BEDIP)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APP 124.4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54626213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313761822"/>
              </p:ext>
            </p:extLst>
          </p:nvPr>
        </p:nvGraphicFramePr>
        <p:xfrm>
          <a:off x="-11466" y="3783028"/>
          <a:ext cx="2365375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8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3525">
                  <a:extLst>
                    <a:ext uri="{9D8B030D-6E8A-4147-A177-3AD203B41FA5}">
                      <a16:colId xmlns:a16="http://schemas.microsoft.com/office/drawing/2014/main" val="154479603"/>
                    </a:ext>
                  </a:extLst>
                </a:gridCol>
                <a:gridCol w="498528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MNL : RNP STAR with RNP APP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(CPDLC : RPHI)</a:t>
                      </a:r>
                      <a:r>
                        <a:rPr lang="ko-KR" altLang="en-US" sz="800" dirty="0">
                          <a:solidFill>
                            <a:schemeClr val="accent4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130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3 STAR Difference Track Mile &amp; IAF  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POLIO, NABAL </a:t>
                      </a:r>
                      <a:r>
                        <a:rPr lang="en-US" altLang="ko-KR" sz="800" b="1" dirty="0"/>
                        <a:t>(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7</a:t>
                      </a:r>
                      <a:r>
                        <a:rPr lang="en-US" altLang="ko-KR" sz="800" b="1" dirty="0"/>
                        <a:t>,5,3)R/P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DCT MIA RDR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</a:rPr>
                        <a:t>Vec</a:t>
                      </a:r>
                      <a:endParaRPr lang="en-US"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C00000"/>
                          </a:solidFill>
                        </a:rPr>
                        <a:t>(TMA 250, 20NM 210)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GONDO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</a:t>
                      </a:r>
                      <a:r>
                        <a:rPr lang="en-US" altLang="ko-Kore-KR" sz="800" b="1" dirty="0"/>
                        <a:t>DAGAT</a:t>
                      </a:r>
                      <a:r>
                        <a:rPr lang="en-US" sz="800" b="1" dirty="0"/>
                        <a:t>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06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ILS 06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24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xxG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MUTAN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/>
                        <a:t>(</a:t>
                      </a:r>
                      <a:r>
                        <a:rPr lang="en-US" altLang="ko-Kore-KR" sz="800" b="1" dirty="0"/>
                        <a:t>MEDAM</a:t>
                      </a:r>
                      <a:r>
                        <a:rPr lang="en-US" sz="800" b="1" dirty="0"/>
                        <a:t>)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RNP 24 </a:t>
                      </a:r>
                    </a:p>
                    <a:p>
                      <a:pPr algn="ctr"/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ILS 24</a:t>
                      </a:r>
                      <a:endParaRPr lang="ko-Kore-KR" altLang="en-US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(16’)          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11188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’             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24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(75’)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06 : R2(6223’), R1(8221’),     24 </a:t>
                      </a: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: R4(6095’), R5(7746’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Unable advise ATC, </a:t>
                      </a:r>
                      <a:r>
                        <a:rPr lang="en-US" altLang="ko-KR" sz="800" b="0" dirty="0">
                          <a:solidFill>
                            <a:srgbClr val="C00000"/>
                          </a:solidFill>
                        </a:rPr>
                        <a:t>Do not confuse R2, E2, RWY31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CTC Ramp before Entering apron,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Report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</a:rPr>
                        <a:t>Chockin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Time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Caution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HotSpot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RWY31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513704510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RPLL(MNL) 75ft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PAGSS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131.0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3365F54-8A36-6A9A-F1D4-D28F7D1796D7}"/>
              </a:ext>
            </a:extLst>
          </p:cNvPr>
          <p:cNvSpPr/>
          <p:nvPr/>
        </p:nvSpPr>
        <p:spPr>
          <a:xfrm>
            <a:off x="846113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32215541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52760667"/>
              </p:ext>
            </p:extLst>
          </p:nvPr>
        </p:nvGraphicFramePr>
        <p:xfrm>
          <a:off x="-15808" y="675701"/>
          <a:ext cx="2349162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2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004">
                  <a:extLst>
                    <a:ext uri="{9D8B030D-6E8A-4147-A177-3AD203B41FA5}">
                      <a16:colId xmlns:a16="http://schemas.microsoft.com/office/drawing/2014/main" val="2284565888"/>
                    </a:ext>
                  </a:extLst>
                </a:gridCol>
                <a:gridCol w="2447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414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482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303688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MNL : RDR Vector to CAB (NADP 1) TA 11000’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Main RWY H/D Climb 7000ft, CLR for T/O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0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CAB xx R/A (Cabanatuan)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</a:t>
                      </a:r>
                      <a:r>
                        <a:rPr lang="en-US" altLang="ko-KR" sz="800" b="1" u="none" strike="noStrike" cap="none" dirty="0">
                          <a:solidFill>
                            <a:srgbClr val="0070C0"/>
                          </a:solidFill>
                        </a:rPr>
                        <a:t>0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60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CAB xx P/B</a:t>
                      </a:r>
                    </a:p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(Cabanatuan)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9000</a:t>
                      </a:r>
                      <a:r>
                        <a:rPr lang="ko-KR" altLang="en-US" sz="800" b="1" u="none" strike="noStrike" cap="none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56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MIA 114.4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06 109.1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24 109.9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564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06 </a:t>
                      </a:r>
                      <a:r>
                        <a:rPr lang="en-US" sz="800" b="0" u="none" strike="noStrike" cap="none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: MIA /2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, R250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7310195"/>
                  </a:ext>
                </a:extLst>
              </a:tr>
              <a:tr h="17564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(16’)          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11188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24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(75’)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5643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Req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ENG Startup to GND </a:t>
                      </a:r>
                      <a:r>
                        <a:rPr lang="en-US" altLang="ko-KR" sz="800" b="0" u="none" strike="noStrike" cap="none" dirty="0">
                          <a:solidFill>
                            <a:srgbClr val="C00000"/>
                          </a:solidFill>
                        </a:rPr>
                        <a:t>-&gt;</a:t>
                      </a:r>
                      <a:r>
                        <a:rPr lang="ko-KR" altLang="en-US" sz="800" b="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 Req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Pushback to Ramp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55956729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RPLL(MNL) 75ft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PAGSS </a:t>
                      </a:r>
                      <a:r>
                        <a:rPr lang="en-US" sz="800" dirty="0" err="1">
                          <a:solidFill>
                            <a:schemeClr val="tx1"/>
                          </a:solidFill>
                        </a:rPr>
                        <a:t>Oper</a:t>
                      </a: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 131.0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-5min,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CLR 125.1 By Voice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Aircraft Type, Proposing ALT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901089" y="2339711"/>
            <a:ext cx="1522810" cy="1017064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124.4(121.1)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119.3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(LEBIX ETA)</a:t>
            </a:r>
            <a:endParaRPr kumimoji="1" lang="en-US" altLang="ko-Kore-KR" sz="700" b="1" u="sng" dirty="0">
              <a:solidFill>
                <a:srgbClr val="FF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127.9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125.72 - 124.52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311245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라인, 도표, 폰트이(가) 표시된 사진&#10;&#10;자동 생성된 설명">
            <a:extLst>
              <a:ext uri="{FF2B5EF4-FFF2-40B4-BE49-F238E27FC236}">
                <a16:creationId xmlns:a16="http://schemas.microsoft.com/office/drawing/2014/main" id="{B005688E-5621-947C-9A52-94A084F0AE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734" y="2423260"/>
            <a:ext cx="993580" cy="464007"/>
          </a:xfrm>
          <a:prstGeom prst="rect">
            <a:avLst/>
          </a:prstGeom>
        </p:spPr>
      </p:pic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363B5B1-8E7B-7609-6A41-4AC4F2531BE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8846541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3162308"/>
            <a:ext cx="1338828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28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119.7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130.1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225320391"/>
              </p:ext>
            </p:extLst>
          </p:nvPr>
        </p:nvGraphicFramePr>
        <p:xfrm>
          <a:off x="-2501" y="3771883"/>
          <a:ext cx="2327659" cy="178514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0869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2509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RMQ : No STAR TL130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COPRA FL220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accent4"/>
                          </a:solidFill>
                        </a:rPr>
                        <a:t>ILS Z 36 : HLG31 SPD Modify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31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RDR Vector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HLG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18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36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FATAN</a:t>
                      </a:r>
                    </a:p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(ARROZ)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Z 36 </a:t>
                      </a:r>
                    </a:p>
                    <a:p>
                      <a:pPr algn="ctr"/>
                      <a:r>
                        <a:rPr lang="en-US" sz="800" b="1" dirty="0"/>
                        <a:t>(ILS Y 36</a:t>
                      </a:r>
                      <a:r>
                        <a:rPr lang="en-US" sz="800" b="0" dirty="0"/>
                        <a:t>)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18(653’)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12005’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36(663’)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 err="1">
                          <a:solidFill>
                            <a:schemeClr val="tx1"/>
                          </a:solidFill>
                        </a:rPr>
                        <a:t>RWxx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 /8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43174176"/>
                  </a:ext>
                </a:extLst>
              </a:tr>
              <a:tr h="236413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EOR(12005’),  36 : W5(8500’)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5153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E1~4, W1 for Military 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Follow Me Car on W, Report W3 Intersection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778245021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RCMQ(RMQ)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665ft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Mandarin Operation 131.85/95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24277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1443223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6744170"/>
              </p:ext>
            </p:extLst>
          </p:nvPr>
        </p:nvGraphicFramePr>
        <p:xfrm>
          <a:off x="-4046" y="689875"/>
          <a:ext cx="2347194" cy="1376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17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RMQ : SID (NADP 1) TA 11000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HLG </a:t>
                      </a:r>
                      <a:r>
                        <a:rPr lang="en-US" sz="700" b="1" u="none" strike="noStrike" cap="none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 (SPRAY </a:t>
                      </a:r>
                      <a:r>
                        <a:rPr lang="en-US" sz="700" b="1" u="none" strike="noStrike" cap="none" dirty="0" err="1">
                          <a:solidFill>
                            <a:srgbClr val="0070C0"/>
                          </a:solidFill>
                        </a:rPr>
                        <a:t>xS</a:t>
                      </a:r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lang="ko-Kore-KR" sz="12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7000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HLG </a:t>
                      </a:r>
                      <a:r>
                        <a:rPr lang="en-US" altLang="ko-Kore-KR" sz="700" b="1" u="none" strike="noStrike" cap="none" dirty="0" err="1">
                          <a:solidFill>
                            <a:srgbClr val="0070C0"/>
                          </a:solidFill>
                        </a:rPr>
                        <a:t>xB</a:t>
                      </a:r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 (SPRAY </a:t>
                      </a:r>
                      <a:r>
                        <a:rPr lang="en-US" altLang="ko-Kore-KR" sz="7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lang="ko-Kore-KR" sz="12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18 111.7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36 111.5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18(653’)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12005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36(663’)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 : TCK 181/7, R270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0062539"/>
                  </a:ext>
                </a:extLst>
              </a:tr>
              <a:tr h="11570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CLR after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PushBack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, Report W3 Intersection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6817655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RCMQ(RMQ)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665ft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 err="1"/>
                        <a:t>Madarin</a:t>
                      </a:r>
                      <a:r>
                        <a:rPr lang="en-US" sz="800" dirty="0"/>
                        <a:t> Operation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131.85/95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to GND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1166590" y="2223843"/>
            <a:ext cx="1213794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118.75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APP 130.1 – 119.7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폰트, 도표, 라인이(가) 표시된 사진&#10;&#10;자동 생성된 설명">
            <a:extLst>
              <a:ext uri="{FF2B5EF4-FFF2-40B4-BE49-F238E27FC236}">
                <a16:creationId xmlns:a16="http://schemas.microsoft.com/office/drawing/2014/main" id="{B1A74796-EF8E-5C5F-D7DE-4AA33B5D8B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093371"/>
            <a:ext cx="1040674" cy="876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6235835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3162308"/>
            <a:ext cx="1213794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29093741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114335148"/>
              </p:ext>
            </p:extLst>
          </p:nvPr>
        </p:nvGraphicFramePr>
        <p:xfrm>
          <a:off x="-2501" y="3874835"/>
          <a:ext cx="2327659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164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351705">
                  <a:extLst>
                    <a:ext uri="{9D8B030D-6E8A-4147-A177-3AD203B41FA5}">
                      <a16:colId xmlns:a16="http://schemas.microsoft.com/office/drawing/2014/main" val="1226482719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25097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TPE : STAR TL130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COPRA FL200 (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FL250-130 : 280kts, FL130-10000ft : Max 280kts, APP Chart Text)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31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05</a:t>
                      </a:r>
                      <a:r>
                        <a:rPr lang="en-US" sz="800" b="1" dirty="0"/>
                        <a:t>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BAKER xx A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JAMMY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05L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23</a:t>
                      </a:r>
                      <a:r>
                        <a:rPr lang="en-US" sz="800" b="1" dirty="0"/>
                        <a:t>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BAKER xx B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AUGUR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23R</a:t>
                      </a:r>
                      <a:r>
                        <a:rPr lang="en-US" sz="800" b="0" dirty="0"/>
                        <a:t>/L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153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05L(74’)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12008’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23R(63’)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5153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05R(107’)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12139’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12467’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11319’</a:t>
                      </a:r>
                      <a:endParaRPr lang="en-US" altLang="ko-Kore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641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05L : N7(5787’), N6(6738’),  23R : N6(4468’), N4(6656’)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05R : S6(5419’), S7(7244’), 23L : S5(5442’), S4(7470’)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515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No VOR at TPE, A-VDGS see above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943571297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Dynasty Operation 131.3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6" name="그림 5" descr="텍스트, 도표, 스크린샷, 폰트이(가) 표시된 사진&#10;&#10;자동 생성된 설명">
            <a:extLst>
              <a:ext uri="{FF2B5EF4-FFF2-40B4-BE49-F238E27FC236}">
                <a16:creationId xmlns:a16="http://schemas.microsoft.com/office/drawing/2014/main" id="{6533B1B9-4E05-6110-F9FE-1C5ADBF7FA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998" y="3339535"/>
            <a:ext cx="833046" cy="53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69506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6107896"/>
              </p:ext>
            </p:extLst>
          </p:nvPr>
        </p:nvGraphicFramePr>
        <p:xfrm>
          <a:off x="-4046" y="586900"/>
          <a:ext cx="2347194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2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TPE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Be Ready Intersection T/O, A030 -&gt; 3000ft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/C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05L(74’)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23R(63’)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05R(107’)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23L(96’)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“DCT PIANO then L3 RNAV Transition”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73734826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Dynasty Operation 131.3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DCL, Voice -5min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0" y="2096731"/>
            <a:ext cx="1213794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6243048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7737AA9-1E71-11AA-29CE-CB99BAAC9983}"/>
              </a:ext>
            </a:extLst>
          </p:cNvPr>
          <p:cNvSpPr txBox="1"/>
          <p:nvPr/>
        </p:nvSpPr>
        <p:spPr>
          <a:xfrm>
            <a:off x="-69798" y="3001904"/>
            <a:ext cx="1508746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135.3 – 132.3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RDO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(BIXAK)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17904/8870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SFO RDO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(PAKDO)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4666/8903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GUM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(NATSS)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118.7</a:t>
            </a:r>
          </a:p>
        </p:txBody>
      </p:sp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2481405603"/>
              </p:ext>
            </p:extLst>
          </p:nvPr>
        </p:nvGraphicFramePr>
        <p:xfrm>
          <a:off x="4410" y="3667475"/>
          <a:ext cx="2305886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68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0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2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18799">
                  <a:extLst>
                    <a:ext uri="{9D8B030D-6E8A-4147-A177-3AD203B41FA5}">
                      <a16:colId xmlns:a16="http://schemas.microsoft.com/office/drawing/2014/main" val="3120437882"/>
                    </a:ext>
                  </a:extLst>
                </a:gridCol>
              </a:tblGrid>
              <a:tr h="395263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GUM : no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(UTC + 10, TL 180)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CPDLC BIXAK to NATSS : RJJJ to KZAK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CTC GUM CERAP 118.7 (SQ2100) Before 250NM 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06L/R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/>
                        <a:t>UNZ/-15,OBALE(MEMKE) </a:t>
                      </a:r>
                    </a:p>
                  </a:txBody>
                  <a:tcPr marL="0" marR="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ILS 6L/R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(Upslope)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24L/R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/>
                        <a:t>UNZ/-15,CIBOL(WABOX)</a:t>
                      </a:r>
                      <a:endParaRPr lang="en-US" sz="800" b="1" dirty="0"/>
                    </a:p>
                  </a:txBody>
                  <a:tcPr marL="0" marR="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RNAV Y 24L/R </a:t>
                      </a:r>
                      <a:r>
                        <a:rPr kumimoji="0" lang="en-US" altLang="ko-Kore-KR" sz="6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(Downslope)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04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6L(256’) 11014’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DIS TH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6R(258’) 10014’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24R(305’) 12014’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UNZ /250 </a:t>
                      </a:r>
                      <a:r>
                        <a:rPr lang="en-US" sz="800" b="0" dirty="0">
                          <a:solidFill>
                            <a:srgbClr val="C00000"/>
                          </a:solidFill>
                        </a:rPr>
                        <a:t>(UNZ VOR out of 3.3NM A/P)</a:t>
                      </a:r>
                      <a:endParaRPr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304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06L : E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(6473’), F(6975’),  24R : D(6282’), C(8264’)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06R : E(6502’), G(7808’) , 24L : B(8254’)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3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Prepare GS OUT, Vacate RWY CTC Ramp CTL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1948597028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1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PGUM(GUM) </a:t>
                      </a:r>
                      <a:r>
                        <a:rPr lang="en-US" altLang="ko-Kore-KR" sz="11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305ft</a:t>
                      </a:r>
                      <a:endParaRPr lang="en-US" altLang="ko-Kore-KR" sz="11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Menzies Operations 129.4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DATIS</a:t>
                      </a:r>
                      <a:endParaRPr sz="9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3814818659"/>
              </p:ext>
            </p:extLst>
          </p:nvPr>
        </p:nvGraphicFramePr>
        <p:xfrm>
          <a:off x="0" y="603073"/>
          <a:ext cx="2332925" cy="24471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885B48-D909-DBA8-463D-C2595910C8DE}"/>
              </a:ext>
            </a:extLst>
          </p:cNvPr>
          <p:cNvSpPr/>
          <p:nvPr/>
        </p:nvSpPr>
        <p:spPr>
          <a:xfrm>
            <a:off x="1469976" y="3356584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FCA215-6716-977F-75BA-F0B5E1689E17}"/>
              </a:ext>
            </a:extLst>
          </p:cNvPr>
          <p:cNvSpPr/>
          <p:nvPr/>
        </p:nvSpPr>
        <p:spPr>
          <a:xfrm>
            <a:off x="826930" y="2701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68300014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661764979"/>
              </p:ext>
            </p:extLst>
          </p:nvPr>
        </p:nvGraphicFramePr>
        <p:xfrm>
          <a:off x="0" y="1"/>
          <a:ext cx="2328875" cy="550992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9414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EDTO Procedure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APU Remain ON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908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</a:rPr>
                        <a:t>PREFLIGHT</a:t>
                      </a:r>
                    </a:p>
                    <a:p>
                      <a:pPr algn="l"/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Apply </a:t>
                      </a:r>
                      <a:r>
                        <a:rPr lang="en-US" altLang="ko-Kore-KR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Alternate Airport IFR </a:t>
                      </a:r>
                      <a:r>
                        <a:rPr lang="en-US" altLang="ko-Kore-KR" sz="7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Wx</a:t>
                      </a:r>
                      <a:r>
                        <a:rPr lang="en-US" altLang="ko-Kore-KR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 Minima for Planning (Ops Pecs C055)</a:t>
                      </a:r>
                      <a:r>
                        <a:rPr lang="ko-KR" altLang="en-US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 </a:t>
                      </a:r>
                      <a:r>
                        <a:rPr lang="en-US" altLang="ko-KR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-&gt;</a:t>
                      </a:r>
                      <a:r>
                        <a:rPr lang="ko-KR" altLang="en-US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 </a:t>
                      </a:r>
                      <a:r>
                        <a:rPr lang="en-US" altLang="ko-KR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EDTO ERA Only(ERA no </a:t>
                      </a:r>
                      <a:r>
                        <a:rPr lang="en-US" altLang="ko-KR" sz="700" b="1" i="0" u="none" strike="noStrike" dirty="0" err="1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Wx</a:t>
                      </a:r>
                      <a:r>
                        <a:rPr lang="en-US" altLang="ko-KR" sz="700" b="1" i="0" u="none" strike="noStrike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)</a:t>
                      </a:r>
                      <a:endParaRPr lang="en-US" sz="700" b="1" dirty="0">
                        <a:solidFill>
                          <a:srgbClr val="AA47F5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</a:rPr>
                        <a:t>RVSM CHK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CAPT/FO 50ft, PILOT/FE 75ft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</a:rPr>
                        <a:t>FUEL CROSS FEED V/V CHK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On -&gt; Off, V/V L/T CHK</a:t>
                      </a:r>
                      <a:endParaRPr lang="en-US" sz="800" b="1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</a:rPr>
                        <a:t>NAV DATA Input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EEP, ETP1, ETP2, EXP</a:t>
                      </a:r>
                      <a:endParaRPr lang="en-US" sz="800" b="1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</a:rPr>
                        <a:t>HF SELCAL CHK : Jeppesen - ENT DATA Pacific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SEOUL RADIO : 8903(3004,6532,13300,13303,17904)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3418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AFTER START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</a:rPr>
                        <a:t>APU Remain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ON</a:t>
                      </a:r>
                      <a:r>
                        <a:rPr lang="en-US" sz="800" dirty="0">
                          <a:latin typeface="+mn-lt"/>
                        </a:rPr>
                        <a:t> Until Passing EXP 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90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LEVEL OFF (CRZ CHK)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RVSM CHK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CAPT/FO 200ft 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109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BEFORE EEP (Entry Point,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ERA 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60min </a:t>
                      </a:r>
                      <a:r>
                        <a:rPr kumimoji="0" lang="ko-Kore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B737-900 398NM,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Others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408NM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(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winthin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MAX 120min 750NM)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1 ELEC SRC Fail Before EEP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Reroute, Divert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FIX 1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EEP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 FIX 2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ETP1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FMS ALT A/P SET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ALTN Page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EDTO C/L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Fuel, A/C, MSA, ALT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&amp; NOTAM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Review Contingency Procedure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- Drift Down 30</a:t>
                      </a:r>
                      <a:r>
                        <a:rPr kumimoji="0" lang="ko-Kore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도이상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5NM, FL290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이하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 +-500ft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- </a:t>
                      </a:r>
                      <a:r>
                        <a:rPr kumimoji="0" lang="en-US" altLang="ko-Kore-KR" sz="7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Dev 5NM 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이상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+-300ft</a:t>
                      </a:r>
                      <a:endParaRPr kumimoji="0" lang="en-US" altLang="ko-Kore-KR" sz="6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AA47F5"/>
                        </a:solidFill>
                        <a:effectLst/>
                        <a:uLnTx/>
                        <a:uFillTx/>
                        <a:latin typeface="+mn-lt"/>
                        <a:cs typeface="Calibri"/>
                        <a:sym typeface="Arial"/>
                      </a:endParaRPr>
                    </a:p>
                  </a:txBody>
                  <a:tcPr marL="0" marR="0" marT="36000" marB="36000"/>
                </a:tc>
                <a:extLst>
                  <a:ext uri="{0D108BD9-81ED-4DB2-BD59-A6C34878D82A}">
                    <a16:rowId xmlns:a16="http://schemas.microsoft.com/office/drawing/2014/main" val="3740928111"/>
                  </a:ext>
                </a:extLst>
              </a:tr>
              <a:tr h="4629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EDTO Segment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1 ELEC SRC Fail After EEP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Continue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Apply Actual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 for Actual Divert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799958746"/>
                  </a:ext>
                </a:extLst>
              </a:tr>
              <a:tr h="6703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ETP (Equal Time Point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ko-KR" altLang="en-US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EDTO ERA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FIX, ALTN Page SET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EDTO C/L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Fuel, A/C, MSA, ALT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 &amp; NOTAM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Last ETP(Critical Point) Fuel less then PLAN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– Continue by PIC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646462774"/>
                  </a:ext>
                </a:extLst>
              </a:tr>
              <a:tr h="3418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EXP (Exit Point)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APU -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OFF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122030425"/>
                  </a:ext>
                </a:extLst>
              </a:tr>
              <a:tr h="4629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1 HR Before TOD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FUEL CROSS FEED V/V CHK :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On -&gt; Off, V/V L/T CHK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318742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8424028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>
            <p:extLst>
              <p:ext uri="{D42A27DB-BD31-4B8C-83A1-F6EECF244321}">
                <p14:modId xmlns:p14="http://schemas.microsoft.com/office/powerpoint/2010/main" val="4072713511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no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(RWY 06 LNAV not Arming on GND)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</a:t>
                      </a:r>
                      <a:r>
                        <a:rPr lang="en-US" sz="800" b="1" dirty="0"/>
                        <a:t>6L/R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H/D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063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063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 (9000)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063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H/D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243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243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ATC (9000)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243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UNZ 115.8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06L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06R 110.9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24 : UNZ /2.5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(UNZ VOR out of 3.3NM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06L(256’)        12014’       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24R(305’)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06R(258’)        10014’        24L(293’)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RWY, Ramp Area have lots of Slope, Be Caution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06 Upslope, 24 Downslope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>
            <p:extLst>
              <p:ext uri="{D42A27DB-BD31-4B8C-83A1-F6EECF244321}">
                <p14:modId xmlns:p14="http://schemas.microsoft.com/office/powerpoint/2010/main" val="2685120419"/>
              </p:ext>
            </p:extLst>
          </p:nvPr>
        </p:nvGraphicFramePr>
        <p:xfrm>
          <a:off x="11589" y="342339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533897768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1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PGUM(GUM) </a:t>
                      </a:r>
                      <a:r>
                        <a:rPr lang="en-US" altLang="ko-Kore-KR" sz="11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305ft</a:t>
                      </a:r>
                      <a:endParaRPr lang="en-US" altLang="ko-Kore-KR" sz="11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600" dirty="0"/>
                        <a:t>Menzies Operations   </a:t>
                      </a:r>
                      <a:r>
                        <a:rPr lang="en-US" altLang="ko-Kore-KR" sz="900" dirty="0"/>
                        <a:t>129.4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By Voice, No DATIS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4" name="그림 3" descr="텍스트, 지도, 도표, 폰트이(가) 표시된 사진&#10;&#10;자동 생성된 설명">
            <a:extLst>
              <a:ext uri="{FF2B5EF4-FFF2-40B4-BE49-F238E27FC236}">
                <a16:creationId xmlns:a16="http://schemas.microsoft.com/office/drawing/2014/main" id="{87A0FC69-EC5A-98B1-ECF9-3EE0D15EB3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4" y="2257781"/>
            <a:ext cx="914393" cy="93227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C10DF35-4C8C-4BCD-35BF-D473906D8D90}"/>
              </a:ext>
            </a:extLst>
          </p:cNvPr>
          <p:cNvSpPr txBox="1"/>
          <p:nvPr/>
        </p:nvSpPr>
        <p:spPr>
          <a:xfrm>
            <a:off x="880917" y="2173448"/>
            <a:ext cx="1764127" cy="1017064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118.7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SFO RDO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(NATSS)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8870/6532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RDO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(PAKDO)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3455/8903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132.3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(HIDEK)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133.85 – 118.9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TAE 125.37</a:t>
            </a: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F680019-B6B1-64EC-2F72-04F687483095}"/>
              </a:ext>
            </a:extLst>
          </p:cNvPr>
          <p:cNvSpPr/>
          <p:nvPr/>
        </p:nvSpPr>
        <p:spPr>
          <a:xfrm>
            <a:off x="1469976" y="3096153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2E5B13E-BE59-CD40-278E-11D41D54540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4366310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2991349"/>
            <a:ext cx="2069797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919514618"/>
              </p:ext>
            </p:extLst>
          </p:nvPr>
        </p:nvGraphicFramePr>
        <p:xfrm>
          <a:off x="-2501" y="3903061"/>
          <a:ext cx="2327659" cy="16703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164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351705">
                  <a:extLst>
                    <a:ext uri="{9D8B030D-6E8A-4147-A177-3AD203B41FA5}">
                      <a16:colId xmlns:a16="http://schemas.microsoft.com/office/drawing/2014/main" val="1226482719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324137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TPE : STAR TL130 </a:t>
                      </a:r>
                      <a:r>
                        <a:rPr lang="en-US" altLang="ko-Kore-KR" sz="800" dirty="0">
                          <a:solidFill>
                            <a:schemeClr val="accent4"/>
                          </a:solidFill>
                        </a:rPr>
                        <a:t>COPRA FL200 (</a:t>
                      </a:r>
                      <a:r>
                        <a:rPr lang="en-US" altLang="ko-Kore-KR" sz="800" b="0" dirty="0">
                          <a:solidFill>
                            <a:srgbClr val="FFC000"/>
                          </a:solidFill>
                        </a:rPr>
                        <a:t>FL250-130 : 280kts, FL130-10000ft : Max 280kts, APP Chart Text)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56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05</a:t>
                      </a:r>
                      <a:r>
                        <a:rPr lang="en-US" sz="800" b="1" dirty="0"/>
                        <a:t>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BAKER xx A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JAMMY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05L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23</a:t>
                      </a:r>
                      <a:r>
                        <a:rPr lang="en-US" sz="800" b="1" dirty="0"/>
                        <a:t>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BAKER xx B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AUGUR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23R</a:t>
                      </a:r>
                      <a:r>
                        <a:rPr lang="en-US" sz="800" b="0" dirty="0"/>
                        <a:t>/L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05L(74’)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12008’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23R(63’)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05R(107’)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12139’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12467’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11319’</a:t>
                      </a:r>
                      <a:endParaRPr lang="en-US" altLang="ko-Kore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05L : N7(5787’), N6(6738’),  23R : N6(4468’), N4(6656’)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05R : S6(5419’), S7(7244’), 23L : S5(5442’), S4(7470’)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No VOR at TPE,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A-VDGS see above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459661021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5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Dynasty Operation 131.3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47;p13">
            <a:extLst>
              <a:ext uri="{FF2B5EF4-FFF2-40B4-BE49-F238E27FC236}">
                <a16:creationId xmlns:a16="http://schemas.microsoft.com/office/drawing/2014/main" id="{0A1B02FF-5F26-C6D7-81DB-46D44D71B26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04171429"/>
              </p:ext>
            </p:extLst>
          </p:nvPr>
        </p:nvGraphicFramePr>
        <p:xfrm>
          <a:off x="0" y="64097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Google Shape;248;p13">
            <a:extLst>
              <a:ext uri="{FF2B5EF4-FFF2-40B4-BE49-F238E27FC236}">
                <a16:creationId xmlns:a16="http://schemas.microsoft.com/office/drawing/2014/main" id="{7031B509-E213-E55A-D00C-2A7E716876D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383655"/>
            <a:ext cx="1559909" cy="65182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그림 9" descr="텍스트, 도표, 스크린샷, 폰트이(가) 표시된 사진&#10;&#10;자동 생성된 설명">
            <a:extLst>
              <a:ext uri="{FF2B5EF4-FFF2-40B4-BE49-F238E27FC236}">
                <a16:creationId xmlns:a16="http://schemas.microsoft.com/office/drawing/2014/main" id="{F64CEF4C-47A5-8D86-A1CC-D5A6FCB545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2272" y="3352795"/>
            <a:ext cx="867550" cy="55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82276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70534173"/>
              </p:ext>
            </p:extLst>
          </p:nvPr>
        </p:nvGraphicFramePr>
        <p:xfrm>
          <a:off x="-4046" y="643000"/>
          <a:ext cx="2347194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2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TPE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Be Ready Intersection T/O, A030 -&gt; 3000ft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/C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05L(74’)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23R(63’)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05R(107’)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23L(96’)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“DCT PIANO then L3 RNAV Transition”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8776729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Dynasty Operation 131.3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DCL, Voice -5min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endParaRPr lang="en-US" sz="9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4A1E97-A30C-EFBD-8019-7DCE7F1ED4CC}"/>
              </a:ext>
            </a:extLst>
          </p:cNvPr>
          <p:cNvSpPr txBox="1"/>
          <p:nvPr/>
        </p:nvSpPr>
        <p:spPr>
          <a:xfrm>
            <a:off x="60107" y="2180607"/>
            <a:ext cx="1306448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9" name="Google Shape;137;p4">
            <a:extLst>
              <a:ext uri="{FF2B5EF4-FFF2-40B4-BE49-F238E27FC236}">
                <a16:creationId xmlns:a16="http://schemas.microsoft.com/office/drawing/2014/main" id="{DB02378F-05ED-DDF1-8735-FC7557702C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55913174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5559787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2991349"/>
            <a:ext cx="2069797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129.1 – HKG 132.15 - 127.1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SNY 122.6 – HNI 123.3 – VTN 128.3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BKK 132.1 – 133.1 - APP 119.1 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580172753"/>
              </p:ext>
            </p:extLst>
          </p:nvPr>
        </p:nvGraphicFramePr>
        <p:xfrm>
          <a:off x="-2501" y="3838579"/>
          <a:ext cx="2327659" cy="169603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8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7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0916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0904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471166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145629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BKK : STAR TL130 UTC+7 </a:t>
                      </a:r>
                      <a:r>
                        <a:rPr lang="en-US" altLang="ko-Kore-KR" sz="800" dirty="0">
                          <a:solidFill>
                            <a:srgbClr val="FFC000"/>
                          </a:solidFill>
                        </a:rPr>
                        <a:t>(SPD CTL via STAR Chart)</a:t>
                      </a:r>
                      <a:endParaRPr lang="en-US" altLang="ko-Kore-KR" sz="800" b="1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5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19L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EASTE </a:t>
                      </a:r>
                      <a:r>
                        <a:rPr lang="en-US" sz="800" b="1" dirty="0" err="1"/>
                        <a:t>xxC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Select Tx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EASTE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xxD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Select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Tx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Z 01L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007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19L(4’)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13123’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 No </a:t>
                      </a:r>
                      <a:r>
                        <a:rPr lang="en-US" altLang="ko-KR" sz="800" b="1" dirty="0" err="1">
                          <a:solidFill>
                            <a:srgbClr val="C00000"/>
                          </a:solidFill>
                        </a:rPr>
                        <a:t>Groov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01R(4’)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007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19R(4’)</a:t>
                      </a:r>
                      <a:endParaRPr lang="en-US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12139’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01L(4’)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00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RWxx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/8 (180tks), /5 (160-150kts)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433256594"/>
                  </a:ext>
                </a:extLst>
              </a:tr>
              <a:tr h="195571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19L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B8(5567’), B10(6965’), 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01R : B7(5964’), B5(7962’)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19R : E9(5052’), E13(7139’),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01L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E12(4872’), E7(6958’)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0077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HIRO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Standard Taxi Route, APU Off Procedure</a:t>
                      </a:r>
                      <a:endParaRPr 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73615981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VTBS(BKK) 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5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Bangkok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131.25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572577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47;p13">
            <a:extLst>
              <a:ext uri="{FF2B5EF4-FFF2-40B4-BE49-F238E27FC236}">
                <a16:creationId xmlns:a16="http://schemas.microsoft.com/office/drawing/2014/main" id="{0A1B02FF-5F26-C6D7-81DB-46D44D71B267}"/>
              </a:ext>
            </a:extLst>
          </p:cNvPr>
          <p:cNvGraphicFramePr/>
          <p:nvPr/>
        </p:nvGraphicFramePr>
        <p:xfrm>
          <a:off x="0" y="64097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Google Shape;248;p13">
            <a:extLst>
              <a:ext uri="{FF2B5EF4-FFF2-40B4-BE49-F238E27FC236}">
                <a16:creationId xmlns:a16="http://schemas.microsoft.com/office/drawing/2014/main" id="{7031B509-E213-E55A-D00C-2A7E716876D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383655"/>
            <a:ext cx="1559909" cy="6518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196651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34931131"/>
              </p:ext>
            </p:extLst>
          </p:nvPr>
        </p:nvGraphicFramePr>
        <p:xfrm>
          <a:off x="-4045" y="643000"/>
          <a:ext cx="2342156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8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4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6370">
                  <a:extLst>
                    <a:ext uri="{9D8B030D-6E8A-4147-A177-3AD203B41FA5}">
                      <a16:colId xmlns:a16="http://schemas.microsoft.com/office/drawing/2014/main" val="316027583"/>
                    </a:ext>
                  </a:extLst>
                </a:gridCol>
                <a:gridCol w="160014">
                  <a:extLst>
                    <a:ext uri="{9D8B030D-6E8A-4147-A177-3AD203B41FA5}">
                      <a16:colId xmlns:a16="http://schemas.microsoft.com/office/drawing/2014/main" val="3522764159"/>
                    </a:ext>
                  </a:extLst>
                </a:gridCol>
                <a:gridCol w="2744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535">
                  <a:extLst>
                    <a:ext uri="{9D8B030D-6E8A-4147-A177-3AD203B41FA5}">
                      <a16:colId xmlns:a16="http://schemas.microsoft.com/office/drawing/2014/main" val="2506187783"/>
                    </a:ext>
                  </a:extLst>
                </a:gridCol>
                <a:gridCol w="13783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1939">
                  <a:extLst>
                    <a:ext uri="{9D8B030D-6E8A-4147-A177-3AD203B41FA5}">
                      <a16:colId xmlns:a16="http://schemas.microsoft.com/office/drawing/2014/main" val="3421815691"/>
                    </a:ext>
                  </a:extLst>
                </a:gridCol>
                <a:gridCol w="335266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BKK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A-CDM REQ Pushback +-5min of TSAT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TSAT/CTOT Inform to GND CTL 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19R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UPKUP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xxG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/J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195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195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195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01R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UPKUP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xxK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/H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015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015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015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SVB 111.4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19L 110.5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01L 109.1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19R 109.5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01R 110.1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19R(4’)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12139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01L(4’)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19L (4’)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13123’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No </a:t>
                      </a:r>
                      <a:r>
                        <a:rPr lang="en-US" sz="800" b="1" u="none" strike="noStrike" cap="none" dirty="0" err="1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Groov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01R(4’)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01R(4’)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APU Start within 10min, Standard TAXI Route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19R Do not Pass E1, D2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6619825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VTBS(BKK) 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KE Bangkok 131.25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-20min, Voice 133.8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endParaRPr lang="en-US" sz="9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4A1E97-A30C-EFBD-8019-7DCE7F1ED4CC}"/>
              </a:ext>
            </a:extLst>
          </p:cNvPr>
          <p:cNvSpPr txBox="1"/>
          <p:nvPr/>
        </p:nvSpPr>
        <p:spPr>
          <a:xfrm>
            <a:off x="48383" y="2534703"/>
            <a:ext cx="1987724" cy="94436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119.25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(AUTO)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BKK 133.1 – VIE 128.3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HNI 123.3 - SNY 122.6 – HKG 127.1 – 125.35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129.1(126.7, 127.9)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9" name="Google Shape;137;p4">
            <a:extLst>
              <a:ext uri="{FF2B5EF4-FFF2-40B4-BE49-F238E27FC236}">
                <a16:creationId xmlns:a16="http://schemas.microsoft.com/office/drawing/2014/main" id="{DB02378F-05ED-DDF1-8735-FC7557702C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63007963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143895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959424697"/>
              </p:ext>
            </p:extLst>
          </p:nvPr>
        </p:nvGraphicFramePr>
        <p:xfrm>
          <a:off x="0" y="0"/>
          <a:ext cx="2328875" cy="18424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CRZ FUEL Penalty </a:t>
                      </a:r>
                      <a:r>
                        <a:rPr lang="en-US" sz="1000" dirty="0">
                          <a:latin typeface="+mn-lt"/>
                        </a:rPr>
                        <a:t>(Approximation)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ISA+10℃ : 1% increase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2000ft above/below OPT ALT : 1~2% increase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NG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0ft below OPT ALT : 3~5% increase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8000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ft below OPT ALT : 8~14% increase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-8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4000ft below OPT ALT : 2% increase in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8000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ft below OPT ALT : 7% increase in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0.01M above LRC : 1~2% increase in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4015474656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19319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8C1A594E-6DAE-98B3-E918-E5F0370C4B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67045316"/>
              </p:ext>
            </p:extLst>
          </p:nvPr>
        </p:nvGraphicFramePr>
        <p:xfrm>
          <a:off x="1933" y="1830722"/>
          <a:ext cx="2328875" cy="20821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FUEL Consumption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GND : 270LBS/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hr</a:t>
                      </a:r>
                      <a:endParaRPr lang="en-US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 FLT : 180LBS/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hr</a:t>
                      </a:r>
                      <a:endParaRPr lang="en-US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TAXI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2 ENG, no APU : 1500LBS/</a:t>
                      </a:r>
                      <a:r>
                        <a:rPr lang="en-US" altLang="ko-Kore-KR" sz="900" b="0" i="0" u="none" strike="noStrike" cap="none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hr</a:t>
                      </a: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(400LBS 16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 연료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CRZ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1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시간당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750ft 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상승가능</a:t>
                      </a:r>
                      <a:endParaRPr lang="en-US" altLang="ko-Kore-KR" sz="900" b="0" i="0" u="none" strike="noStrike" cap="none" dirty="0">
                        <a:solidFill>
                          <a:srgbClr val="0070C0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4015474656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Holding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분당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100LBS (4000LBS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는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Holding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가능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Missed App 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&amp;</a:t>
                      </a:r>
                      <a:r>
                        <a:rPr kumimoji="0" lang="ko-KR" altLang="en-US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Landing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1200LBS (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과거 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EDTO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자료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1500LBS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이상 적용</a:t>
                      </a:r>
                      <a:endParaRPr kumimoji="0" lang="en-US" altLang="ko-KR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077422953"/>
                  </a:ext>
                </a:extLst>
              </a:tr>
            </a:tbl>
          </a:graphicData>
        </a:graphic>
      </p:graphicFrame>
      <p:graphicFrame>
        <p:nvGraphicFramePr>
          <p:cNvPr id="5" name="Google Shape;402;p31">
            <a:extLst>
              <a:ext uri="{FF2B5EF4-FFF2-40B4-BE49-F238E27FC236}">
                <a16:creationId xmlns:a16="http://schemas.microsoft.com/office/drawing/2014/main" id="{CC58B19C-6D0D-9F37-979E-48EB8461996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2519374"/>
              </p:ext>
            </p:extLst>
          </p:nvPr>
        </p:nvGraphicFramePr>
        <p:xfrm>
          <a:off x="3864" y="3904509"/>
          <a:ext cx="2328875" cy="130382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  <a:ea typeface="+mn-ea"/>
                          <a:cs typeface="Calibri" panose="020F0502020204030204" pitchFamily="34" charset="0"/>
                        </a:rPr>
                        <a:t>FUEL Loading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Center Tank 1000LBS </a:t>
                      </a:r>
                      <a:r>
                        <a:rPr lang="ko-KR" alt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이상시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Main Tank FULL FUEL Overfill : 1000LBS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기준</a:t>
                      </a:r>
                      <a:endParaRPr lang="en-US" altLang="ko-KR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: CTR fuel 1000~2000LBS T/O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시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Low Press L/T ON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-&gt;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CTR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Fuel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필요시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2000LBS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이상으로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Dispatch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0761599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2314084060"/>
              </p:ext>
            </p:extLst>
          </p:nvPr>
        </p:nvGraphicFramePr>
        <p:xfrm>
          <a:off x="0" y="0"/>
          <a:ext cx="2328875" cy="502529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TAKEOFF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AFTER START</a:t>
                      </a:r>
                      <a:r>
                        <a:rPr lang="en-US" sz="1000" dirty="0">
                          <a:latin typeface="+mn-lt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C00000"/>
                          </a:solidFill>
                          <a:latin typeface="+mn-lt"/>
                        </a:rPr>
                        <a:t>(APU ON)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</a:rPr>
                        <a:t>Consideration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-</a:t>
                      </a:r>
                      <a:r>
                        <a:rPr lang="ko-KR" altLang="en-US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 </a:t>
                      </a:r>
                      <a:r>
                        <a:rPr lang="en-US" altLang="ko-KR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Max Taxi Weight Check (MTOW+500lbs)</a:t>
                      </a:r>
                      <a:endParaRPr lang="en-US" sz="700" b="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sz="700" dirty="0">
                          <a:latin typeface="+mn-lt"/>
                        </a:rPr>
                        <a:t>Improved T/O &lt; No Bleed T/O &lt; Improved T/O + No Bleed T/O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0070C0"/>
                          </a:solidFill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solidFill>
                            <a:srgbClr val="0070C0"/>
                          </a:solidFill>
                          <a:latin typeface="+mn-lt"/>
                        </a:rPr>
                        <a:t> </a:t>
                      </a:r>
                      <a:r>
                        <a:rPr lang="en-US" sz="700" dirty="0">
                          <a:solidFill>
                            <a:srgbClr val="0070C0"/>
                          </a:solidFill>
                          <a:latin typeface="+mn-lt"/>
                        </a:rPr>
                        <a:t>OPT TOW Blank -&gt; </a:t>
                      </a:r>
                      <a:r>
                        <a:rPr lang="en-US" altLang="ko-KR" sz="700" dirty="0">
                          <a:solidFill>
                            <a:srgbClr val="0070C0"/>
                          </a:solidFill>
                          <a:latin typeface="+mn-lt"/>
                        </a:rPr>
                        <a:t>MTOW Check</a:t>
                      </a:r>
                      <a:r>
                        <a:rPr lang="en-US" altLang="ko-KR" sz="700" dirty="0">
                          <a:latin typeface="+mn-lt"/>
                        </a:rPr>
                        <a:t>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ELEC :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ENG GEN, BLEED : APU BLEED </a:t>
                      </a:r>
                      <a:r>
                        <a:rPr lang="en-US" altLang="ko-KR" sz="700" dirty="0">
                          <a:solidFill>
                            <a:srgbClr val="C00000"/>
                          </a:solidFill>
                          <a:latin typeface="+mn-lt"/>
                        </a:rPr>
                        <a:t>(Max 17000ft)</a:t>
                      </a:r>
                      <a:endParaRPr sz="7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Anti-ice </a:t>
                      </a:r>
                      <a:r>
                        <a:rPr lang="ko-KR" altLang="en-US" sz="700" dirty="0">
                          <a:latin typeface="+mn-lt"/>
                        </a:rPr>
                        <a:t>필요시 </a:t>
                      </a:r>
                      <a:r>
                        <a:rPr lang="ko-KR" altLang="en-US" sz="700" dirty="0" err="1">
                          <a:latin typeface="+mn-lt"/>
                        </a:rPr>
                        <a:t>이륙전</a:t>
                      </a:r>
                      <a:r>
                        <a:rPr lang="ko-KR" altLang="en-US" sz="700" dirty="0">
                          <a:latin typeface="+mn-lt"/>
                        </a:rPr>
                        <a:t> 수행</a:t>
                      </a:r>
                      <a:r>
                        <a:rPr lang="en-US" altLang="ko-KR" sz="700" dirty="0">
                          <a:latin typeface="+mn-lt"/>
                        </a:rPr>
                        <a:t>,</a:t>
                      </a:r>
                      <a:r>
                        <a:rPr lang="ko-KR" altLang="en-US" sz="700" dirty="0">
                          <a:latin typeface="+mn-lt"/>
                        </a:rPr>
                        <a:t> 불필요시 </a:t>
                      </a:r>
                      <a:r>
                        <a:rPr lang="ko-KR" altLang="en-US" sz="700" dirty="0" err="1">
                          <a:latin typeface="+mn-lt"/>
                        </a:rPr>
                        <a:t>시동후</a:t>
                      </a:r>
                      <a:r>
                        <a:rPr lang="ko-KR" altLang="en-US" sz="700" dirty="0">
                          <a:latin typeface="+mn-lt"/>
                        </a:rPr>
                        <a:t> 수행</a:t>
                      </a:r>
                      <a:endParaRPr lang="en-US" altLang="ko-KR" sz="70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BLUE(S/W CHG)</a:t>
                      </a:r>
                      <a:r>
                        <a:rPr lang="en-US" sz="800" b="1" dirty="0">
                          <a:latin typeface="+mn-lt"/>
                        </a:rPr>
                        <a:t>,</a:t>
                      </a:r>
                      <a:r>
                        <a:rPr lang="en-US" sz="800" dirty="0">
                          <a:latin typeface="+mn-lt"/>
                        </a:rPr>
                        <a:t>  </a:t>
                      </a:r>
                      <a:r>
                        <a:rPr lang="en-US" sz="800" b="1" dirty="0">
                          <a:latin typeface="+mn-lt"/>
                        </a:rPr>
                        <a:t>BLACK(S/W NO CHG)</a:t>
                      </a:r>
                      <a:r>
                        <a:rPr lang="en-US" sz="800" dirty="0">
                          <a:latin typeface="+mn-lt"/>
                        </a:rPr>
                        <a:t> </a:t>
                      </a:r>
                      <a:endParaRPr sz="8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Stabilized -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Flow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 BUS, Prob Heats ON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이후 수행</a:t>
                      </a:r>
                      <a:endParaRPr lang="en-US" sz="900" b="1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 switch . . . . . . . . . . .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 . . . CLOSE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 switch . . . . . . . . . .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Trim Air Switch . . . . . . . . . . . . . . . . . . 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. . . . . . . . . . .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(ENG BLEED ON &amp; ISOL V/V AUTO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OFF)</a:t>
                      </a:r>
                      <a:endParaRPr lang="en-US" sz="9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 Check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bleed air supplies the packs.</a:t>
                      </a:r>
                      <a:endParaRPr lang="en-US"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APU Remain – ON (OFF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주의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)</a:t>
                      </a:r>
                      <a:endParaRPr lang="en-US" sz="800" b="1" dirty="0">
                        <a:solidFill>
                          <a:srgbClr val="C00000"/>
                        </a:solidFill>
                        <a:latin typeface="+mn-lt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RECALL CHK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AFTER START CHECK LIST</a:t>
                      </a:r>
                      <a:endParaRPr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409F7C-9A34-07D3-B638-05B5A50E1A63}"/>
              </a:ext>
            </a:extLst>
          </p:cNvPr>
          <p:cNvSpPr txBox="1"/>
          <p:nvPr/>
        </p:nvSpPr>
        <p:spPr>
          <a:xfrm>
            <a:off x="1460215" y="5170979"/>
            <a:ext cx="84350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100" dirty="0">
                <a:solidFill>
                  <a:srgbClr val="C00000"/>
                </a:solidFill>
              </a:rPr>
              <a:t>Continue </a:t>
            </a:r>
          </a:p>
          <a:p>
            <a:r>
              <a:rPr kumimoji="1" lang="en-US" altLang="ko-Kore-KR" sz="1100" dirty="0">
                <a:solidFill>
                  <a:srgbClr val="C00000"/>
                </a:solidFill>
              </a:rPr>
              <a:t>Next Page</a:t>
            </a:r>
            <a:endParaRPr kumimoji="1" lang="ko-Kore-KR" altLang="en-US" sz="11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3982406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1645659515"/>
              </p:ext>
            </p:extLst>
          </p:nvPr>
        </p:nvGraphicFramePr>
        <p:xfrm>
          <a:off x="0" y="2511642"/>
          <a:ext cx="2328875" cy="269617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713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LANDING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950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GA Thrust </a:t>
                      </a:r>
                      <a:r>
                        <a:rPr lang="ko-KR" altLang="en-US" sz="700" dirty="0">
                          <a:latin typeface="+mn-lt"/>
                        </a:rPr>
                        <a:t>추가 필요시 </a:t>
                      </a:r>
                      <a:r>
                        <a:rPr lang="en-US" altLang="ko-KR" sz="700" b="1" dirty="0">
                          <a:solidFill>
                            <a:srgbClr val="C00000"/>
                          </a:solidFill>
                          <a:latin typeface="+mn-lt"/>
                        </a:rPr>
                        <a:t>10000ft</a:t>
                      </a:r>
                      <a:r>
                        <a:rPr lang="en-US" altLang="ko-KR" sz="700" dirty="0">
                          <a:latin typeface="+mn-lt"/>
                        </a:rPr>
                        <a:t> </a:t>
                      </a:r>
                      <a:r>
                        <a:rPr lang="ko-KR" altLang="en-US" sz="700" dirty="0">
                          <a:latin typeface="+mn-lt"/>
                        </a:rPr>
                        <a:t>이하에서 수행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87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FL200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or TOD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이하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switch . .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</a:t>
                      </a:r>
                      <a:endParaRPr sz="1200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5533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When below 10,000 ft: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. . . . . . . . . . . 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 switch . . . . . .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.. .  CLOSE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 switch . . . . . . .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.Check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APU bleed air supplies the packs.</a:t>
                      </a:r>
                      <a:endParaRPr sz="1100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864529546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22E60F0B-EE5F-9463-9E12-FE63A897D8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93942609"/>
              </p:ext>
            </p:extLst>
          </p:nvPr>
        </p:nvGraphicFramePr>
        <p:xfrm>
          <a:off x="-12" y="7167"/>
          <a:ext cx="2328875" cy="24412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179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AFTERTAKEOFF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156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ENG Fail</a:t>
                      </a:r>
                      <a:r>
                        <a:rPr lang="ko-KR" altLang="en-US" sz="700" dirty="0">
                          <a:latin typeface="+mn-lt"/>
                        </a:rPr>
                        <a:t>시 </a:t>
                      </a:r>
                      <a:r>
                        <a:rPr lang="en-US" altLang="ko-KR" sz="700" dirty="0">
                          <a:latin typeface="+mn-lt"/>
                        </a:rPr>
                        <a:t>FE+1500ft or Obstacle CLR</a:t>
                      </a:r>
                      <a:r>
                        <a:rPr lang="ko-KR" altLang="en-US" sz="700" dirty="0">
                          <a:latin typeface="+mn-lt"/>
                        </a:rPr>
                        <a:t>후 수행하라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047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N1, Climb Thrust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(APU Bleed MAX 17000ft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lang="en-US" sz="900" b="1" dirty="0">
                        <a:solidFill>
                          <a:srgbClr val="C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switch. . . . . . . . . . . . 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CABIN rate of CLIMB indicator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안정되면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switch . . . . . . OFF (or ON for EDTO)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For EDTO flights, APU EXP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유지하라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.Check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bleed air supplies the packs.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2178700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>
          <a:extLst>
            <a:ext uri="{FF2B5EF4-FFF2-40B4-BE49-F238E27FC236}">
              <a16:creationId xmlns:a16="http://schemas.microsoft.com/office/drawing/2014/main" id="{8CF74D2A-34DE-9C7E-664B-738C27559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2F52199-2BB4-AE92-B2DF-191959FBE5A8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CBF03987-8E54-340D-0952-0B89831F88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6158286"/>
              </p:ext>
            </p:extLst>
          </p:nvPr>
        </p:nvGraphicFramePr>
        <p:xfrm>
          <a:off x="-12" y="7171"/>
          <a:ext cx="2328875" cy="51082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188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All Eng FLAP 15 LANDING 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latin typeface="+mn-lt"/>
                        </a:rPr>
                        <a:t>(</a:t>
                      </a:r>
                      <a:r>
                        <a:rPr lang="en-US" sz="1000" dirty="0" err="1">
                          <a:solidFill>
                            <a:schemeClr val="bg1"/>
                          </a:solidFill>
                          <a:latin typeface="+mn-lt"/>
                        </a:rPr>
                        <a:t>e.g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latin typeface="+mn-lt"/>
                        </a:rPr>
                        <a:t> KMG)</a:t>
                      </a:r>
                      <a:endParaRPr sz="10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880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5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Consideration</a:t>
                      </a:r>
                      <a:r>
                        <a:rPr lang="en-US" altLang="ko-Kore-KR" sz="100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NO AUTO L/D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Check Limit </a:t>
                      </a:r>
                      <a:r>
                        <a:rPr lang="en-US" altLang="ko-KR" sz="900" b="1" i="0" u="none" strike="noStrike" cap="none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Wt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BY OPT LDG Dispatch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 </a:t>
                      </a:r>
                      <a:r>
                        <a:rPr lang="en-US" altLang="ko-KR" sz="80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(1 ENG 2.1%, 2 ENG 3.2% FAR)</a:t>
                      </a:r>
                      <a:endParaRPr lang="en-US" altLang="ko-KR" sz="900" b="1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ore-KR" sz="9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</a:t>
                      </a:r>
                      <a:r>
                        <a:rPr lang="en-US" altLang="ko-Kore-KR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“OPT With ICE” means ENG and/or Wing Anti-ice</a:t>
                      </a:r>
                      <a:endParaRPr lang="en-US" altLang="ko-Kore-KR" sz="900" b="1" i="0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 (Flap 40 &lt; 30 &lt; Flap 30 No Bleed L/D &lt; Flap 15 L/D)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Increase EST PWR 5% (High TAS, GS)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L/D Pitch Increase 1-1.5 degree (Tail CLR)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500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Operating Instructions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Select Ground Proximity Flap Inhibit switch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to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INHIBIT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for flaps 15 landing.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Note: GPWS INOP L/T - ON if  A/S exceeds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          250 kts for 60 secs.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Set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VREF ICE = VREF 15 + 10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if    ENG Anti-ice ON L/D or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Wing Anti-ice ON one time in FLT 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Icing Condition FLT &amp; L/D below 10</a:t>
                      </a:r>
                      <a:r>
                        <a:rPr lang="en-US" altLang="ko-Kore-KR" sz="80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° C</a:t>
                      </a:r>
                      <a:endParaRPr lang="en-US" sz="800" b="1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Do not carry excess airspeed on final.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Consider not using autothrottles.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15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for Go-Around with both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engines operating.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1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for Go-Around with one engine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operating.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caution during flare to avoid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tail strike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Apply reverse thrust expeditiously upon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touchdown.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Use of maximum reverse thrust is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recommended.</a:t>
                      </a:r>
                      <a:endParaRPr lang="en-US" sz="7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8950646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50407446"/>
              </p:ext>
            </p:extLst>
          </p:nvPr>
        </p:nvGraphicFramePr>
        <p:xfrm>
          <a:off x="0" y="2264316"/>
          <a:ext cx="2328875" cy="296027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GND AIR CART USE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APU </a:t>
                      </a:r>
                      <a:r>
                        <a:rPr lang="ko-KR" altLang="en-US" sz="700" dirty="0">
                          <a:latin typeface="+mn-lt"/>
                        </a:rPr>
                        <a:t>부작동시 </a:t>
                      </a:r>
                      <a:r>
                        <a:rPr lang="en-US" altLang="ko-KR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로 </a:t>
                      </a:r>
                      <a:r>
                        <a:rPr lang="en-US" altLang="ko-KR" sz="700" dirty="0">
                          <a:latin typeface="+mn-lt"/>
                        </a:rPr>
                        <a:t>PACK</a:t>
                      </a:r>
                      <a:r>
                        <a:rPr lang="ko-KR" altLang="en-US" sz="700" dirty="0">
                          <a:latin typeface="+mn-lt"/>
                        </a:rPr>
                        <a:t>과 시동을 위해 사용</a:t>
                      </a:r>
                      <a:endParaRPr lang="en-US" altLang="ko-KR" sz="700"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는 외부 </a:t>
                      </a:r>
                      <a:r>
                        <a:rPr lang="en-US" altLang="ko-KR" sz="700" dirty="0">
                          <a:latin typeface="+mn-lt"/>
                        </a:rPr>
                        <a:t>BLEED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AIR</a:t>
                      </a:r>
                      <a:r>
                        <a:rPr lang="ko-KR" altLang="en-US" sz="700" dirty="0">
                          <a:latin typeface="+mn-lt"/>
                        </a:rPr>
                        <a:t>의 역할을 함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OPEN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RECIRC FAN switches . . . . . . . . . .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AUTO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Trim Air Switch . . . . . . . . . . . . . . . . . . . ON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AUTO or HIGH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Cabin temperature selectors . . . . .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Set for desired temperature.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Duct pressure . . . . . . . . . 20 psi minimum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20 psi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이하고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사용가능시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switch. . . . . . . . . . . . .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external air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pack.</a:t>
                      </a:r>
                      <a:endParaRPr kumimoji="0" lang="en-US" altLang="ko-Kore-KR" sz="105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+mn-lt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724847737"/>
                  </a:ext>
                </a:extLst>
              </a:tr>
            </a:tbl>
          </a:graphicData>
        </a:graphic>
      </p:graphicFrame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EB44648E-001A-8E9D-2B8C-BD51554662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9665009"/>
              </p:ext>
            </p:extLst>
          </p:nvPr>
        </p:nvGraphicFramePr>
        <p:xfrm>
          <a:off x="-12" y="9491"/>
          <a:ext cx="2328875" cy="22791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GND CONDITIONED AIR USE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700" dirty="0">
                          <a:latin typeface="+mn-lt"/>
                        </a:rPr>
                        <a:t>공항 요구로 </a:t>
                      </a:r>
                      <a:r>
                        <a:rPr lang="en-US" altLang="ko-KR" sz="700" dirty="0">
                          <a:latin typeface="+mn-lt"/>
                        </a:rPr>
                        <a:t>APU OFF</a:t>
                      </a:r>
                      <a:r>
                        <a:rPr lang="ko-KR" altLang="en-US" sz="700" dirty="0">
                          <a:latin typeface="+mn-lt"/>
                        </a:rPr>
                        <a:t>후 기내 온도 조절을 위한 방법</a:t>
                      </a:r>
                      <a:endParaRPr lang="en-US" altLang="ko-KR" sz="700"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와는 다르며 단순 에어컨 기능만 함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GPU Connect – GPU ONBUS</a:t>
                      </a:r>
                      <a:r>
                        <a:rPr lang="en-US" altLang="ko-Kore-KR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– APU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OFF</a:t>
                      </a:r>
                      <a:r>
                        <a:rPr 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(no POM)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(APU </a:t>
                      </a:r>
                      <a:r>
                        <a:rPr lang="ko-KR" altLang="en-US" sz="700" b="0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시동후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</a:t>
                      </a:r>
                      <a:r>
                        <a:rPr lang="ko-KR" altLang="en-US" sz="700" b="0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분뒤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ON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을 위해서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OFF)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lang="en-US" sz="800" b="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Ground conditioned air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연결 전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Packs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의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damage</a:t>
                      </a: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를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방지하기 위함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Start – APU ONBUS – GPU, GND Air 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제거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kumimoji="0" lang="en-US" altLang="ko-Kore-KR" sz="9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.As needed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2min,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ON </a:t>
                      </a:r>
                      <a:r>
                        <a:rPr lang="en-US" altLang="ko-Kore-KR" sz="8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(no POM)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00403791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8409F7C-9A34-07D3-B638-05B5A50E1A63}"/>
              </a:ext>
            </a:extLst>
          </p:cNvPr>
          <p:cNvSpPr txBox="1"/>
          <p:nvPr/>
        </p:nvSpPr>
        <p:spPr>
          <a:xfrm>
            <a:off x="1406773" y="5170979"/>
            <a:ext cx="99418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100" dirty="0">
                <a:solidFill>
                  <a:srgbClr val="C00000"/>
                </a:solidFill>
                <a:latin typeface="+mn-lt"/>
              </a:rPr>
              <a:t>ENG START</a:t>
            </a:r>
          </a:p>
          <a:p>
            <a:r>
              <a:rPr kumimoji="1" lang="en-US" altLang="ko-Kore-KR" sz="1100" dirty="0">
                <a:solidFill>
                  <a:srgbClr val="C00000"/>
                </a:solidFill>
                <a:latin typeface="+mn-lt"/>
              </a:rPr>
              <a:t>Next Page</a:t>
            </a:r>
            <a:endParaRPr kumimoji="1" lang="ko-Kore-KR" altLang="en-US" sz="1100" dirty="0">
              <a:solidFill>
                <a:srgbClr val="C00000"/>
              </a:solidFill>
              <a:latin typeface="+mn-lt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C530451-8D9A-9F43-6651-727AC3D815C1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0571121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2248538797"/>
              </p:ext>
            </p:extLst>
          </p:nvPr>
        </p:nvGraphicFramePr>
        <p:xfrm>
          <a:off x="0" y="2391489"/>
          <a:ext cx="2328875" cy="284273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ENG CROSSBLEED START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</a:rPr>
                        <a:t>#1 ENGBLEED </a:t>
                      </a:r>
                      <a:r>
                        <a:rPr lang="ko-KR" altLang="en-US" sz="800" dirty="0">
                          <a:latin typeface="+mn-lt"/>
                        </a:rPr>
                        <a:t>로 </a:t>
                      </a:r>
                      <a:r>
                        <a:rPr lang="en-US" altLang="ko-KR" sz="800" dirty="0">
                          <a:latin typeface="+mn-lt"/>
                        </a:rPr>
                        <a:t>#2</a:t>
                      </a:r>
                      <a:r>
                        <a:rPr lang="ko-KR" altLang="en-US" sz="800" dirty="0">
                          <a:latin typeface="+mn-lt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</a:rPr>
                        <a:t>ENG START</a:t>
                      </a:r>
                      <a:endParaRPr sz="8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PushBack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완료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#2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Area CLR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Parking brake . . . . . . . . . . . . . . . . . . .  SET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. . . . . . . . .ON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Bleed air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들어오는지 확인하라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#1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thrust lever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Advance thrust lever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Duct Press 30PSI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증가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IDLE)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Starting ENG #2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Stabilized - #1 ENG IDLE – After START Flow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CHKLIST</a:t>
                      </a:r>
                      <a:endParaRPr sz="1000" b="1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EB44648E-001A-8E9D-2B8C-BD51554662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20291280"/>
              </p:ext>
            </p:extLst>
          </p:nvPr>
        </p:nvGraphicFramePr>
        <p:xfrm>
          <a:off x="-12" y="9491"/>
          <a:ext cx="2328875" cy="23297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STARTING with GND AIR SOURCE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#1 ENG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먼저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우측에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AIR CART, GPU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연결됨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</a:rPr>
                        <a:t>“Req Engine Start up Present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  <a:latin typeface="+mn-lt"/>
                        </a:rPr>
                        <a:t>Positon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</a:rPr>
                        <a:t>~~~”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must be started first.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When cleared to start: -&gt;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Before Start CHKLIST</a:t>
                      </a:r>
                      <a:endParaRPr lang="en-US"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start . . . . . . . . . .Accomplish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Use normal start procedures. -&gt;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PACKS – OFF…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Generator No. 1 switch . . . . . . . . . . . . 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Disconnect Air Cart &amp; GPU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“Request Pushback” (if needed)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#2 </a:t>
                      </a:r>
                      <a:r>
                        <a:rPr lang="ko-KR" altLang="en-US" sz="800" b="1" dirty="0" err="1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시동전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Air Cart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제거 반드시 확인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!!</a:t>
                      </a:r>
                      <a:endParaRPr lang="en-US" sz="800" b="1" dirty="0">
                        <a:solidFill>
                          <a:srgbClr val="C00000"/>
                        </a:solidFill>
                        <a:latin typeface="+mn-ea"/>
                        <a:ea typeface="+mn-ea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6167801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7" name="Google Shape;377;p28"/>
          <p:cNvGraphicFramePr/>
          <p:nvPr>
            <p:extLst>
              <p:ext uri="{D42A27DB-BD31-4B8C-83A1-F6EECF244321}">
                <p14:modId xmlns:p14="http://schemas.microsoft.com/office/powerpoint/2010/main" val="2732521415"/>
              </p:ext>
            </p:extLst>
          </p:nvPr>
        </p:nvGraphicFramePr>
        <p:xfrm>
          <a:off x="7" y="1099855"/>
          <a:ext cx="2328775" cy="1357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173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Above FE (Feet)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200-800ft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TEMP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600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700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800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-5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-10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-15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40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50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90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-20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6798653"/>
                  </a:ext>
                </a:extLst>
              </a:tr>
            </a:tbl>
          </a:graphicData>
        </a:graphic>
      </p:graphicFrame>
      <p:graphicFrame>
        <p:nvGraphicFramePr>
          <p:cNvPr id="381" name="Google Shape;381;p28"/>
          <p:cNvGraphicFramePr/>
          <p:nvPr>
            <p:extLst>
              <p:ext uri="{D42A27DB-BD31-4B8C-83A1-F6EECF244321}">
                <p14:modId xmlns:p14="http://schemas.microsoft.com/office/powerpoint/2010/main" val="2425467214"/>
              </p:ext>
            </p:extLst>
          </p:nvPr>
        </p:nvGraphicFramePr>
        <p:xfrm>
          <a:off x="7" y="0"/>
          <a:ext cx="2328850" cy="10668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</a:rPr>
                        <a:t>COLD TEMP CORRECTION General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0" dirty="0">
                          <a:solidFill>
                            <a:schemeClr val="bg1"/>
                          </a:solidFill>
                        </a:rPr>
                        <a:t>5</a:t>
                      </a:r>
                      <a:r>
                        <a:rPr lang="ko-KR" altLang="en-US" sz="700" b="0" dirty="0">
                          <a:solidFill>
                            <a:schemeClr val="bg1"/>
                          </a:solidFill>
                        </a:rPr>
                        <a:t>도 간격은 보수적으로 </a:t>
                      </a:r>
                      <a:r>
                        <a:rPr lang="ko-KR" altLang="en-US" sz="700" b="0" dirty="0" err="1">
                          <a:solidFill>
                            <a:schemeClr val="bg1"/>
                          </a:solidFill>
                        </a:rPr>
                        <a:t>보간법</a:t>
                      </a:r>
                      <a:r>
                        <a:rPr lang="ko-KR" altLang="en-US" sz="700" b="0" dirty="0">
                          <a:solidFill>
                            <a:schemeClr val="bg1"/>
                          </a:solidFill>
                        </a:rPr>
                        <a:t> 적용됨</a:t>
                      </a:r>
                      <a:endParaRPr sz="700" b="0" dirty="0">
                        <a:solidFill>
                          <a:schemeClr val="bg1"/>
                        </a:solidFill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B050"/>
                          </a:solidFill>
                        </a:rPr>
                        <a:t>Min</a:t>
                      </a:r>
                      <a:r>
                        <a:rPr lang="en-US" sz="700" dirty="0"/>
                        <a:t> </a:t>
                      </a:r>
                      <a:r>
                        <a:rPr lang="ko-KR" altLang="en-US" sz="700" dirty="0"/>
                        <a:t>제외한 모든 고도 수정은 </a:t>
                      </a:r>
                      <a:r>
                        <a:rPr lang="en-US" altLang="ko-KR" sz="700" dirty="0"/>
                        <a:t>ATC </a:t>
                      </a:r>
                      <a:r>
                        <a:rPr lang="ko-KR" altLang="en-US" sz="700" dirty="0"/>
                        <a:t>인가 필요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C00000"/>
                          </a:solidFill>
                        </a:rPr>
                        <a:t>Mandatory</a:t>
                      </a:r>
                      <a:r>
                        <a:rPr lang="en-US" altLang="ko-KR" sz="700" b="1" dirty="0">
                          <a:solidFill>
                            <a:srgbClr val="C00000"/>
                          </a:solidFill>
                        </a:rPr>
                        <a:t>,</a:t>
                      </a:r>
                      <a:r>
                        <a:rPr lang="ko-KR" altLang="en-US" sz="7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700" b="1" dirty="0">
                          <a:solidFill>
                            <a:srgbClr val="C00000"/>
                          </a:solidFill>
                        </a:rPr>
                        <a:t>Missed App </a:t>
                      </a:r>
                      <a:r>
                        <a:rPr lang="en-US" sz="700" b="1" dirty="0" err="1">
                          <a:solidFill>
                            <a:srgbClr val="C00000"/>
                          </a:solidFill>
                        </a:rPr>
                        <a:t>고도</a:t>
                      </a:r>
                      <a:r>
                        <a:rPr lang="ko-KR" altLang="en-US" sz="7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700" dirty="0"/>
                        <a:t>ATC </a:t>
                      </a:r>
                      <a:r>
                        <a:rPr lang="ko-KR" altLang="en-US" sz="700" dirty="0"/>
                        <a:t>사전 인가 없이 금지</a:t>
                      </a:r>
                      <a:endParaRPr sz="7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반드시 고도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–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FE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후의 고도를 </a:t>
                      </a:r>
                      <a:r>
                        <a:rPr lang="ko-KR" altLang="en-US" sz="700" b="1" dirty="0" err="1">
                          <a:solidFill>
                            <a:srgbClr val="0070C0"/>
                          </a:solidFill>
                        </a:rPr>
                        <a:t>보정해야함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.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lang="en-US" altLang="ko-KR" sz="7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R" sz="7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</a:rPr>
                        <a:t>Ex) FE 200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ft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공항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: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5000ft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는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4800ft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만 </a:t>
                      </a:r>
                      <a:r>
                        <a:rPr lang="ko-KR" altLang="en-US" sz="700" b="1" dirty="0" err="1">
                          <a:solidFill>
                            <a:srgbClr val="0070C0"/>
                          </a:solidFill>
                        </a:rPr>
                        <a:t>보정해야함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.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sz="7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226436469"/>
                  </a:ext>
                </a:extLst>
              </a:tr>
            </a:tbl>
          </a:graphicData>
        </a:graphic>
      </p:graphicFrame>
      <p:sp>
        <p:nvSpPr>
          <p:cNvPr id="382" name="Google Shape;382;p28"/>
          <p:cNvSpPr txBox="1"/>
          <p:nvPr/>
        </p:nvSpPr>
        <p:spPr>
          <a:xfrm>
            <a:off x="0" y="5241265"/>
            <a:ext cx="1584088" cy="25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GMP, CJU, CJJ next page</a:t>
            </a:r>
            <a:endParaRPr sz="1050" dirty="0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6196B91-167A-7407-2A65-8B29A3124F68}"/>
              </a:ext>
            </a:extLst>
          </p:cNvPr>
          <p:cNvSpPr/>
          <p:nvPr/>
        </p:nvSpPr>
        <p:spPr>
          <a:xfrm>
            <a:off x="1545366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3" name="Google Shape;377;p28">
            <a:extLst>
              <a:ext uri="{FF2B5EF4-FFF2-40B4-BE49-F238E27FC236}">
                <a16:creationId xmlns:a16="http://schemas.microsoft.com/office/drawing/2014/main" id="{87F6FFF9-91B5-765E-7C49-0198867FA8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25032359"/>
              </p:ext>
            </p:extLst>
          </p:nvPr>
        </p:nvGraphicFramePr>
        <p:xfrm>
          <a:off x="2356" y="2496279"/>
          <a:ext cx="2328775" cy="1357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74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Above FE (Feet)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900-5000ft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TEMP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900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1500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-5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310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390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-10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-15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120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480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600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-20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210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710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6798653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66801E4-3ED8-B281-2C8A-63070C97C57C}"/>
              </a:ext>
            </a:extLst>
          </p:cNvPr>
          <p:cNvSpPr/>
          <p:nvPr/>
        </p:nvSpPr>
        <p:spPr>
          <a:xfrm>
            <a:off x="66127" y="45356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8B52D6-2250-6FEA-FA01-2747CB81C281}"/>
              </a:ext>
            </a:extLst>
          </p:cNvPr>
          <p:cNvSpPr/>
          <p:nvPr/>
        </p:nvSpPr>
        <p:spPr>
          <a:xfrm>
            <a:off x="73208" y="41952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527F55-1A9F-C247-A6B1-9D9CFFC42267}"/>
              </a:ext>
            </a:extLst>
          </p:cNvPr>
          <p:cNvSpPr txBox="1"/>
          <p:nvPr/>
        </p:nvSpPr>
        <p:spPr>
          <a:xfrm>
            <a:off x="-158860" y="388140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0070399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7" name="Google Shape;377;p28"/>
          <p:cNvGraphicFramePr/>
          <p:nvPr>
            <p:extLst>
              <p:ext uri="{D42A27DB-BD31-4B8C-83A1-F6EECF244321}">
                <p14:modId xmlns:p14="http://schemas.microsoft.com/office/powerpoint/2010/main" val="1810471796"/>
              </p:ext>
            </p:extLst>
          </p:nvPr>
        </p:nvGraphicFramePr>
        <p:xfrm>
          <a:off x="7" y="550180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32L (261’) / 32R (262’) / 14R (254’)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32L/R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8000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5500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5300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2800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2300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8450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5600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2970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8620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5930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5710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3030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2490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5820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2530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R14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2970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3030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1540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78" name="Google Shape;378;p28"/>
          <p:cNvGraphicFramePr/>
          <p:nvPr/>
        </p:nvGraphicFramePr>
        <p:xfrm>
          <a:off x="7" y="2364823"/>
          <a:ext cx="2328800" cy="9696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91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07 (307’) / 25 (296’)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2900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8000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1900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8450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8620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1970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79" name="Google Shape;379;p28"/>
          <p:cNvGraphicFramePr/>
          <p:nvPr/>
        </p:nvGraphicFramePr>
        <p:xfrm>
          <a:off x="0" y="3396272"/>
          <a:ext cx="2328800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91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CJJ 06L (387’) / 24R (296’)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4400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3900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7000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4650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4110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4740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4200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2270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24R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3700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3900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2640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3980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2700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2270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4040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1" name="Google Shape;381;p28"/>
          <p:cNvGraphicFramePr/>
          <p:nvPr/>
        </p:nvGraphicFramePr>
        <p:xfrm>
          <a:off x="7" y="0"/>
          <a:ext cx="2328850" cy="5486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/>
                        <a:t>COLD TEMP CORRECTION 1/2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Min </a:t>
                      </a:r>
                      <a:r>
                        <a:rPr lang="en-US" sz="700" dirty="0" err="1"/>
                        <a:t>은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반드시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수정</a:t>
                      </a:r>
                      <a:r>
                        <a:rPr lang="en-US" sz="700" dirty="0"/>
                        <a:t> (</a:t>
                      </a:r>
                      <a:r>
                        <a:rPr lang="en-US" sz="700" dirty="0" err="1"/>
                        <a:t>중간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고도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CORRECTION은</a:t>
                      </a:r>
                      <a:r>
                        <a:rPr lang="en-US" sz="700" dirty="0"/>
                        <a:t> PIC </a:t>
                      </a:r>
                      <a:r>
                        <a:rPr lang="en-US" sz="700" dirty="0" err="1"/>
                        <a:t>결정</a:t>
                      </a:r>
                      <a:r>
                        <a:rPr lang="en-US" sz="700" dirty="0"/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Missed App </a:t>
                      </a:r>
                      <a:r>
                        <a:rPr lang="en-US" sz="700" dirty="0" err="1"/>
                        <a:t>고도는</a:t>
                      </a:r>
                      <a:r>
                        <a:rPr lang="en-US" sz="700" dirty="0"/>
                        <a:t> ATC </a:t>
                      </a:r>
                      <a:r>
                        <a:rPr lang="en-US" sz="700" dirty="0" err="1"/>
                        <a:t>협조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필요</a:t>
                      </a:r>
                      <a:endParaRPr sz="7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82" name="Google Shape;382;p28"/>
          <p:cNvSpPr txBox="1"/>
          <p:nvPr/>
        </p:nvSpPr>
        <p:spPr>
          <a:xfrm>
            <a:off x="0" y="5241265"/>
            <a:ext cx="1584088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ICN, KWJ, PUS next page</a:t>
            </a:r>
            <a:endParaRPr sz="1050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6196B91-167A-7407-2A65-8B29A3124F68}"/>
              </a:ext>
            </a:extLst>
          </p:cNvPr>
          <p:cNvSpPr/>
          <p:nvPr/>
        </p:nvSpPr>
        <p:spPr>
          <a:xfrm>
            <a:off x="1545366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7" name="Google Shape;387;p29"/>
          <p:cNvGraphicFramePr/>
          <p:nvPr/>
        </p:nvGraphicFramePr>
        <p:xfrm>
          <a:off x="7" y="255716"/>
          <a:ext cx="23288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4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ALL RWY (243’)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33/34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7000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7400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3880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1730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3950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15/16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2600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3000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1730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8" name="Google Shape;388;p29"/>
          <p:cNvGraphicFramePr/>
          <p:nvPr/>
        </p:nvGraphicFramePr>
        <p:xfrm>
          <a:off x="7" y="2016116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1475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KWJ 04R(266’),04L(610’) / 22L(610’)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04L/R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7000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7500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22L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4100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3500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2900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2200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2420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9" name="Google Shape;389;p29"/>
          <p:cNvGraphicFramePr/>
          <p:nvPr/>
        </p:nvGraphicFramePr>
        <p:xfrm>
          <a:off x="0" y="3780351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65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PUS 36L(233’),36R(228’) / 18L/R (see below)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3560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2250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3620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18L/R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2600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1700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1800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1870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91" name="Google Shape;391;p29"/>
          <p:cNvGraphicFramePr/>
          <p:nvPr/>
        </p:nvGraphicFramePr>
        <p:xfrm>
          <a:off x="7" y="0"/>
          <a:ext cx="2328850" cy="2438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COLD TEMP CORRECTION 2/2</a:t>
                      </a:r>
                      <a:endParaRPr sz="10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9FA331-F385-DAB6-152D-D16ACE7E220C}"/>
              </a:ext>
            </a:extLst>
          </p:cNvPr>
          <p:cNvSpPr/>
          <p:nvPr/>
        </p:nvSpPr>
        <p:spPr>
          <a:xfrm>
            <a:off x="1363204" y="263329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834570802"/>
              </p:ext>
            </p:extLst>
          </p:nvPr>
        </p:nvGraphicFramePr>
        <p:xfrm>
          <a:off x="0" y="-1"/>
          <a:ext cx="2328875" cy="52221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10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COLD </a:t>
                      </a:r>
                      <a:r>
                        <a:rPr lang="en-US" sz="1000" dirty="0" err="1">
                          <a:latin typeface="+mn-lt"/>
                        </a:rPr>
                        <a:t>Wx</a:t>
                      </a:r>
                      <a:r>
                        <a:rPr lang="en-US" sz="1000" dirty="0">
                          <a:latin typeface="+mn-lt"/>
                        </a:rPr>
                        <a:t> Operation 1/2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80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OAT (GND) / TAT (TAT) is 10°C (50°F) or below :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• visible moisture (clouds, fog with VIS 1SM (1600 m) or rain, snow, sleet, ice crystals...)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• ice, snow, slush and standing water is present on the ramps, taxiways, or runways.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89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PREFLIGHT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PROBE HEAT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196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NG : OAT -35</a:t>
                      </a:r>
                      <a:r>
                        <a:rPr lang="en-US" altLang="ko-Kore-KR" sz="800" b="0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°C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</a:t>
                      </a:r>
                      <a:r>
                        <a:rPr lang="ko-KR" alt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변경전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분간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IDLE, Min Oil Press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수분간 유지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Oil Temp Nor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후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Oil Press High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 </a:t>
                      </a:r>
                      <a:r>
                        <a:rPr lang="en-US" altLang="ko-KR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</a:t>
                      </a:r>
                      <a:endParaRPr lang="en-US" altLang="ko-KR" sz="800" b="0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749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CONT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COWL V/V OPEN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Bright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APU Bleed OFF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ISO V/V  AUTO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서서히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증가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Max 30%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6427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Type II or IV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로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Deicing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안할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거면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사용하라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9409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GENERATOR 1 and 2 switches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IDG 1분이내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늦어도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5분이내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안정된다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FLIGHT controls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Deicing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할거면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Deicing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하고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한다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endParaRPr sz="800" dirty="0">
                        <a:solidFill>
                          <a:srgbClr val="AA47F5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Full Travel UP – 40 – UP 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(Deicing</a:t>
                      </a:r>
                      <a:r>
                        <a:rPr lang="ko-KR" alt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 하고 실시</a:t>
                      </a:r>
                      <a:r>
                        <a:rPr lang="en-US" altLang="ko-KR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UP Taxi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고려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78404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TAXI OUT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OAT 3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°C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이하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RUN UP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Shedding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RUNUP : Behind CLR, Min 70% 30초, 30분간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격   </a:t>
                      </a:r>
                      <a:endParaRPr lang="en-US" altLang="ko-KR" sz="800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50%-IDLE, 60분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간격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Shedding (FZRA, FZDZ, FZFG, +SN) :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Min 70%, 1초, 10분간격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없음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TWY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상태 고려 허용되는 만큼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N1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endParaRPr lang="en-US" sz="7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8" name="Google Shape;408;p32"/>
          <p:cNvGraphicFramePr/>
          <p:nvPr>
            <p:extLst>
              <p:ext uri="{D42A27DB-BD31-4B8C-83A1-F6EECF244321}">
                <p14:modId xmlns:p14="http://schemas.microsoft.com/office/powerpoint/2010/main" val="2744516737"/>
              </p:ext>
            </p:extLst>
          </p:nvPr>
        </p:nvGraphicFramePr>
        <p:xfrm>
          <a:off x="0" y="0"/>
          <a:ext cx="2328875" cy="522213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526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COLD </a:t>
                      </a:r>
                      <a:r>
                        <a:rPr lang="en-US" sz="1000" dirty="0" err="1">
                          <a:latin typeface="+mn-lt"/>
                        </a:rPr>
                        <a:t>Wx</a:t>
                      </a:r>
                      <a:r>
                        <a:rPr lang="en-US" sz="1000" dirty="0">
                          <a:latin typeface="+mn-lt"/>
                        </a:rPr>
                        <a:t> Operation 2/2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2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BEFORE T/O </a:t>
                      </a:r>
                      <a:r>
                        <a:rPr lang="en-US" sz="900" b="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(Takeoff Signal - FLAPS 5)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SET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-8 : Oil Temp 31°C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이상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확인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2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Standing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TAKEOFF</a:t>
                      </a:r>
                      <a:endParaRPr sz="8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with EAI  --------------</a:t>
                      </a:r>
                      <a:r>
                        <a:rPr lang="en-US" altLang="ko-Kore-KR" sz="800" b="1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70%,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-8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50%5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초</a:t>
                      </a:r>
                      <a:endParaRPr sz="8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RUNUP(OAT 3°C이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하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 NG 70%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30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초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-8 : 50% 5초</a:t>
                      </a:r>
                      <a:endParaRPr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0" marR="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838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CONT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 switches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SAT -4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1°C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부터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 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가능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COWL V/V OPEN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Bright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APU Bleed OFF, ISO V/V  AUTO, TH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서서히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증가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Max 30%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18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FAN ICE REMOVAL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one ENG at a time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Moderate Severe Icing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가능하면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회피하라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FAN ICE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로 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Vibration 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발생 또는 예방을 위한 절차</a:t>
                      </a:r>
                      <a:endParaRPr lang="en-US" altLang="ko-KR" sz="800" dirty="0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(both)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FLT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Autothrottle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(if engaged)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Disengage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------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Increase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(min 80%, 1초)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&amp; Adjust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15초이내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Vib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4.0이하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안정화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15분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간격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반</a:t>
                      </a:r>
                      <a:r>
                        <a:rPr lang="ko-KR" alt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복가능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Autothrottle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(if needed)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Engage</a:t>
                      </a:r>
                      <a:endParaRPr sz="80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4.0보다 </a:t>
                      </a:r>
                      <a:r>
                        <a:rPr lang="en-US" sz="800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크면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Engine High Vibration Check List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056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Icing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보이면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Deicer로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r>
                        <a:rPr lang="en-US" altLang="ko-KR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Anti-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icer도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사용가능</a:t>
                      </a:r>
                      <a:r>
                        <a:rPr lang="en-US" altLang="ko-KR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FL350이상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사용금지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-&gt; Emer Descend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Icing </a:t>
                      </a:r>
                      <a:r>
                        <a:rPr lang="en-US" sz="800" b="0" i="0" u="none" strike="noStrike" cap="none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지역</a:t>
                      </a:r>
                      <a:r>
                        <a:rPr lang="en-US" sz="800" b="0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Holding – Flap </a:t>
                      </a:r>
                      <a:r>
                        <a:rPr lang="en-US" sz="800" b="0" i="0" u="none" strike="noStrike" cap="none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사용금지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83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APPROACH L/D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15 </a:t>
                      </a:r>
                      <a:r>
                        <a:rPr lang="ko-KR" alt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조건일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경우만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VREF ICE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5838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L/D, SHUTDOWN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TAXI RUNUP, ICE SHEDDING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절차적용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15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까지만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sz="800" b="1" i="0" u="none" strike="noStrike" cap="none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ANTI-ICE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ENG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ShutDown전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OFF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Stabilizer trim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Set 5 units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</a:t>
                      </a:r>
                      <a:endParaRPr sz="800" b="1" i="0" u="none" strike="noStrike" cap="none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19ACE0E-D4B8-D113-7C2B-F51F440D8340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4" name="Google Shape;414;p33"/>
          <p:cNvGraphicFramePr/>
          <p:nvPr>
            <p:extLst>
              <p:ext uri="{D42A27DB-BD31-4B8C-83A1-F6EECF244321}">
                <p14:modId xmlns:p14="http://schemas.microsoft.com/office/powerpoint/2010/main" val="4221559759"/>
              </p:ext>
            </p:extLst>
          </p:nvPr>
        </p:nvGraphicFramePr>
        <p:xfrm>
          <a:off x="0" y="7749"/>
          <a:ext cx="2326511" cy="523869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65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3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+mn-lt"/>
                        </a:rPr>
                        <a:t>ENG ON Deicing in </a:t>
                      </a:r>
                      <a:r>
                        <a:rPr lang="en-US" sz="1100" dirty="0">
                          <a:solidFill>
                            <a:srgbClr val="00B050"/>
                          </a:solidFill>
                          <a:latin typeface="+mn-lt"/>
                        </a:rPr>
                        <a:t>ICN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TOBT- 40min CTC KE ICN 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Helvetica Neue"/>
                          <a:sym typeface="Helvetica Neue"/>
                        </a:rPr>
                        <a:t>사전신청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Helvetica Neue"/>
                          <a:sym typeface="Helvetica Neue"/>
                        </a:rPr>
                        <a:t> 결과확인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Arial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7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ICN Deicing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”Deicing Required ENG On Deicing”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ICN Apron </a:t>
                      </a:r>
                      <a:r>
                        <a:rPr lang="en-US" sz="7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“Req Pushback Deicing Zone xxx”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SQ2000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Pad Control 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Arrange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Deicing Pad No.</a:t>
                      </a:r>
                      <a:endParaRPr lang="en-US"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Man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Manage Deicing Process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92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PARKING BRAKE --------------</a:t>
                      </a:r>
                      <a:r>
                        <a:rPr lang="en-US" altLang="ko-KR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 SET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Report Parking Brake SET - &gt; Ice Man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B737-8,900ER BROADBAND s/w ---- OFF</a:t>
                      </a:r>
                      <a:endParaRPr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------------------------------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 UP </a:t>
                      </a:r>
                      <a:endParaRPr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 LEVERS ---------------</a:t>
                      </a:r>
                      <a:r>
                        <a:rPr lang="en-US" altLang="ko-KR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STABILIZER TRIM ---------------</a:t>
                      </a: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----- OFF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----------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 OFF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Report Ready for Deicing - &gt; Ice Man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2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 DE/ANTI-ICING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REQ DCL(CTC DEL)</a:t>
                      </a:r>
                      <a:endParaRPr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항공기이동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및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Configuration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변경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금지</a:t>
                      </a:r>
                      <a:endParaRPr sz="9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1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DE/ANTI-ICING IS COMPLETED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(TIME CHECK 1분)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용액과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마지막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용액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뿌린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시간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받고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적는다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Holdover Time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결정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!!!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B737-8,900ER BROADBAND s/w ------ ON 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96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TIME CHECK 1분후 </a:t>
                      </a:r>
                      <a:endParaRPr sz="800" b="1" i="0" u="none" strike="noStrike" cap="none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-----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 As needed </a:t>
                      </a:r>
                      <a:endParaRPr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 ON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LEVER -----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  Set for takeoff or UP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ice, snow, slush or standing water,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강수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지속시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– </a:t>
                      </a:r>
                      <a:r>
                        <a:rPr lang="en-US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full travel check </a:t>
                      </a:r>
                      <a:r>
                        <a:rPr lang="en-US" altLang="ko-KR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(FLAP UP TAXI </a:t>
                      </a:r>
                      <a:r>
                        <a:rPr lang="ko-KR" altLang="en-US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고려</a:t>
                      </a:r>
                      <a:r>
                        <a:rPr lang="en-US" altLang="ko-KR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sz="800" b="0" dirty="0">
                        <a:solidFill>
                          <a:srgbClr val="AA47F5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Flight controls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</a:t>
                      </a:r>
                      <a:r>
                        <a:rPr lang="en-US" sz="900" b="0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Cheklist</a:t>
                      </a:r>
                      <a:endParaRPr sz="800" b="0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46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TAXI, BEFORE T/O, T/O Procedure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DECISION TREE next page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871598603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54F4649-BD0D-E760-E72F-6EB5CB4F04CE}"/>
              </a:ext>
            </a:extLst>
          </p:cNvPr>
          <p:cNvSpPr/>
          <p:nvPr/>
        </p:nvSpPr>
        <p:spPr>
          <a:xfrm>
            <a:off x="1608188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7F3A02-AA51-DBC3-F6F5-0AAFB47EC18F}"/>
              </a:ext>
            </a:extLst>
          </p:cNvPr>
          <p:cNvSpPr/>
          <p:nvPr/>
        </p:nvSpPr>
        <p:spPr>
          <a:xfrm>
            <a:off x="54704" y="4610094"/>
            <a:ext cx="89419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AA47F5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Cold Wx</a:t>
            </a:r>
            <a:endParaRPr lang="en-US" altLang="ko-KR" sz="1800" b="1" cap="none" spc="0" dirty="0">
              <a:ln w="0"/>
              <a:solidFill>
                <a:srgbClr val="AA47F5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3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</a:pPr>
            <a:endParaRPr/>
          </a:p>
        </p:txBody>
      </p:sp>
      <p:sp>
        <p:nvSpPr>
          <p:cNvPr id="421" name="Google Shape;421;p34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8224" lvl="0" indent="-1294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13"/>
              <a:buNone/>
            </a:pPr>
            <a:endParaRPr/>
          </a:p>
        </p:txBody>
      </p:sp>
      <p:pic>
        <p:nvPicPr>
          <p:cNvPr id="422" name="Google Shape;422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2328863" cy="4848616"/>
          </a:xfrm>
          <a:prstGeom prst="rect">
            <a:avLst/>
          </a:prstGeom>
          <a:noFill/>
          <a:ln>
            <a:noFill/>
          </a:ln>
        </p:spPr>
      </p:pic>
      <p:sp>
        <p:nvSpPr>
          <p:cNvPr id="424" name="Google Shape;424;p34"/>
          <p:cNvSpPr/>
          <p:nvPr/>
        </p:nvSpPr>
        <p:spPr>
          <a:xfrm>
            <a:off x="178231" y="2526223"/>
            <a:ext cx="759416" cy="348713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34"/>
          <p:cNvSpPr/>
          <p:nvPr/>
        </p:nvSpPr>
        <p:spPr>
          <a:xfrm>
            <a:off x="1164430" y="2545838"/>
            <a:ext cx="850349" cy="406589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997E6E1-18FF-431A-35CB-6F548E671CDF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30" name="Google Shape;430;p35"/>
              <p:cNvGraphicFramePr/>
              <p:nvPr>
                <p:extLst>
                  <p:ext uri="{D42A27DB-BD31-4B8C-83A1-F6EECF244321}">
                    <p14:modId xmlns:p14="http://schemas.microsoft.com/office/powerpoint/2010/main" val="394993808"/>
                  </p:ext>
                </p:extLst>
              </p:nvPr>
            </p:nvGraphicFramePr>
            <p:xfrm>
              <a:off x="8056" y="-4101"/>
              <a:ext cx="2332393" cy="6405047"/>
            </p:xfrm>
            <a:graphic>
              <a:graphicData uri="http://schemas.openxmlformats.org/drawingml/2006/table">
                <a:tbl>
                  <a:tblPr firstRow="1" bandRow="1">
                    <a:noFill/>
                    <a:tableStyleId>{A521BE36-7E6F-4EC9-8D66-1CF97A6895EC}</a:tableStyleId>
                  </a:tblPr>
                  <a:tblGrid>
                    <a:gridCol w="233239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2515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100" dirty="0">
                              <a:latin typeface="+mn-lt"/>
                            </a:rPr>
                            <a:t>ENG OFF Deicing in </a:t>
                          </a:r>
                          <a:r>
                            <a:rPr lang="en-US" sz="1100" dirty="0">
                              <a:solidFill>
                                <a:srgbClr val="00B050"/>
                              </a:solidFill>
                              <a:latin typeface="+mn-lt"/>
                            </a:rPr>
                            <a:t>GMP...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TOBT- 20min CTC KE GMP (</a:t>
                          </a: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맑은 고딕" panose="020B0503020000020004" pitchFamily="34" charset="-127"/>
                              <a:cs typeface="Helvetica Neue"/>
                              <a:sym typeface="Helvetica Neue"/>
                            </a:rPr>
                            <a:t>PAD, New TOBT</a:t>
                          </a:r>
                          <a:r>
                            <a:rPr kumimoji="0" lang="en-US" altLang="ko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kumimoji="0" lang="en-US" altLang="ko-Kore-KR" sz="800" b="1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C000"/>
                            </a:solidFill>
                            <a:effectLst/>
                            <a:uLnTx/>
                            <a:uFillTx/>
                            <a:latin typeface="Arial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102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B05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REQ DCL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Deicing </a:t>
                          </a: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“Deicing Required </a:t>
                          </a:r>
                          <a:r>
                            <a:rPr kumimoji="0" lang="en-US" altLang="ko-Kore-KR" sz="800" b="0" i="0" u="none" strike="noStrike" kern="0" cap="none" spc="0" normalizeH="0" baseline="0" noProof="0" dirty="0" err="1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PADxxx</a:t>
                          </a: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” </a:t>
                          </a:r>
                          <a14:m>
                            <m:oMath xmlns:m="http://schemas.openxmlformats.org/officeDocument/2006/math">
                              <m:r>
                                <a:rPr kumimoji="0" lang="en-US" altLang="ko-Kore-KR" sz="8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C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Helvetica Neue"/>
                                  <a:sym typeface="Helvetica Neue"/>
                                </a:rPr>
                                <m:t>±</m:t>
                              </m:r>
                            </m:oMath>
                          </a14:m>
                          <a:r>
                            <a:rPr kumimoji="0" lang="en-US" altLang="ko-Kore-KR" sz="7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5min TOBT</a:t>
                          </a:r>
                          <a:endParaRPr lang="en-US" sz="800" dirty="0">
                            <a:solidFill>
                              <a:srgbClr val="C0000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Apron</a:t>
                          </a:r>
                          <a:r>
                            <a:rPr lang="en-US" sz="80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”Req Pushback Deicing </a:t>
                          </a:r>
                          <a:r>
                            <a:rPr lang="en-US" sz="80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PADxxx</a:t>
                          </a:r>
                          <a:r>
                            <a:rPr lang="en-US" sz="80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” 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11482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PARKING BRAKE ---------------------- SET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Establish communications with GND personnel.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 OFF</a:t>
                          </a:r>
                          <a:endParaRPr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FLAPS ----------------------------</a:t>
                          </a:r>
                          <a:r>
                            <a:rPr lang="en-US" altLang="ko-KR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</a:t>
                          </a: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UP </a:t>
                          </a:r>
                          <a:endParaRPr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THRUST LEVERS 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------IDLE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STABILIZER TRIM ---------------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 CHECK</a:t>
                          </a:r>
                          <a:endParaRPr lang="en-US"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 OFF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-------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 OFF</a:t>
                          </a:r>
                          <a:endParaRPr sz="8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9087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------------------ START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</a:t>
                          </a:r>
                          <a:r>
                            <a:rPr lang="ko-KR" altLang="en-US" sz="900" b="1" dirty="0" err="1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시동후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ON 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유지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r>
                            <a:rPr 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FF000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GENERATOR bus switches ------ ON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OFF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Start levers 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 CUTOFF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SHUTDOWN CHECKLIST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7799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START DE/ANTI-ICING </a:t>
                          </a:r>
                          <a:endParaRPr sz="9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항공기이동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및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Configuration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변경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금지</a:t>
                          </a:r>
                          <a:endParaRPr sz="900" b="1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DE/ANTI-ICING IS COMPLETED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(TIME CHECK 1분)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용액과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마지막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뿌린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시간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받고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적는다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.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Holdover Time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결정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!!!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----- ON</a:t>
                          </a:r>
                          <a:endParaRPr kumimoji="0" lang="en-US" altLang="ko-Kore-KR" sz="14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Arial"/>
                            <a:cs typeface="Calibri"/>
                            <a:sym typeface="Arial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33859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i="0" u="none" strike="noStrike" cap="none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TIME CHECK 1분후 </a:t>
                          </a:r>
                          <a:endParaRPr sz="800" b="1" i="0" u="none" strike="noStrike" cap="none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----------- ON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------ ON 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PREFLT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-&gt; Req STARTUP -&gt;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endParaRPr sz="8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2394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BOTH ENGINES ARE STARTED</a:t>
                          </a:r>
                          <a:endParaRPr sz="800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switches----As needed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APU----------------------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As needed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LEVER 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Set for takeoff or UP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ice, snow, slush or standing water,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강수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지속시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– 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Full travel check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(FLAP UP TAXI </a:t>
                          </a:r>
                          <a:r>
                            <a:rPr lang="ko-KR" alt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고려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sz="800" b="0" i="0" u="none" strike="noStrike" cap="none" dirty="0">
                            <a:solidFill>
                              <a:srgbClr val="AA47F5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Flight controls  ---</a:t>
                          </a:r>
                          <a:r>
                            <a:rPr lang="en-US" altLang="ko-Kore-KR" sz="900" b="1" i="0" u="none" strike="noStrike" cap="none" dirty="0">
                              <a:solidFill>
                                <a:srgbClr val="0070C0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--------------------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  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Check</a:t>
                          </a:r>
                          <a:endParaRPr dirty="0">
                            <a:solidFill>
                              <a:srgbClr val="AA47F5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START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(ATC CLR Confirm)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6842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TAXI, BEFORE T/O, T/O Procedure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lang="en-US" altLang="ko-Kore-KR" sz="800" b="1" i="0" u="none" strike="noStrike" cap="none" dirty="0">
                              <a:solidFill>
                                <a:schemeClr val="dk1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lang="en-US" altLang="ko-Kore-KR" sz="800" b="0" i="0" u="none" strike="noStrike" cap="none" dirty="0">
                            <a:solidFill>
                              <a:schemeClr val="dk1"/>
                            </a:solidFill>
                            <a:latin typeface="Calibri"/>
                            <a:ea typeface="Calibri"/>
                            <a:cs typeface="Calibri"/>
                            <a:sym typeface="Arial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                               </a:t>
                          </a: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highlight>
                                <a:srgbClr val="FFFF00"/>
                              </a:highlight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DECISION TREE next page</a:t>
                          </a:r>
                          <a:endParaRPr sz="800" b="1" dirty="0">
                            <a:solidFill>
                              <a:schemeClr val="dk1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30" name="Google Shape;430;p35"/>
              <p:cNvGraphicFramePr/>
              <p:nvPr>
                <p:extLst>
                  <p:ext uri="{D42A27DB-BD31-4B8C-83A1-F6EECF244321}">
                    <p14:modId xmlns:p14="http://schemas.microsoft.com/office/powerpoint/2010/main" val="394993808"/>
                  </p:ext>
                </p:extLst>
              </p:nvPr>
            </p:nvGraphicFramePr>
            <p:xfrm>
              <a:off x="8056" y="-4101"/>
              <a:ext cx="2332393" cy="5560827"/>
            </p:xfrm>
            <a:graphic>
              <a:graphicData uri="http://schemas.openxmlformats.org/drawingml/2006/table">
                <a:tbl>
                  <a:tblPr firstRow="1" bandRow="1">
                    <a:noFill/>
                    <a:tableStyleId>{A521BE36-7E6F-4EC9-8D66-1CF97A6895EC}</a:tableStyleId>
                  </a:tblPr>
                  <a:tblGrid>
                    <a:gridCol w="233239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2515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100" dirty="0">
                              <a:latin typeface="+mn-lt"/>
                            </a:rPr>
                            <a:t>ENG OFF Deicing in </a:t>
                          </a:r>
                          <a:r>
                            <a:rPr lang="en-US" sz="1100" dirty="0">
                              <a:solidFill>
                                <a:srgbClr val="00B050"/>
                              </a:solidFill>
                              <a:latin typeface="+mn-lt"/>
                            </a:rPr>
                            <a:t>GMP...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TOBT- 20min CTC KE GMP (</a:t>
                          </a: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맑은 고딕" panose="020B0503020000020004" pitchFamily="34" charset="-127"/>
                              <a:cs typeface="Helvetica Neue"/>
                              <a:sym typeface="Helvetica Neue"/>
                            </a:rPr>
                            <a:t>PAD, New TOBT</a:t>
                          </a:r>
                          <a:r>
                            <a:rPr kumimoji="0" lang="en-US" altLang="ko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kumimoji="0" lang="en-US" altLang="ko-Kore-KR" sz="800" b="1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C000"/>
                            </a:solidFill>
                            <a:effectLst/>
                            <a:uLnTx/>
                            <a:uFillTx/>
                            <a:latin typeface="Arial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1023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36000" marR="36000" marT="36000" marB="36000">
                        <a:blipFill>
                          <a:blip r:embed="rId3"/>
                          <a:stretch>
                            <a:fillRect t="-80556" r="-1081" b="-1052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11482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PARKING BRAKE ---------------------- SET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Establish communications with GND personnel.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 OFF</a:t>
                          </a:r>
                          <a:endParaRPr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FLAPS ----------------------------</a:t>
                          </a:r>
                          <a:r>
                            <a:rPr lang="en-US" altLang="ko-KR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</a:t>
                          </a: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UP </a:t>
                          </a:r>
                          <a:endParaRPr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THRUST LEVERS 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------IDLE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STABILIZER TRIM ---------------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 CHECK</a:t>
                          </a:r>
                          <a:endParaRPr lang="en-US"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 OFF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-------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 OFF</a:t>
                          </a:r>
                          <a:endParaRPr sz="8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9087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------------------ START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</a:t>
                          </a:r>
                          <a:r>
                            <a:rPr lang="ko-KR" altLang="en-US" sz="900" b="1" dirty="0" err="1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시동후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ON 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유지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r>
                            <a:rPr 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FF000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GENERATOR bus switches ------ ON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OFF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Start levers 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 CUTOFF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SHUTDOWN CHECKLIST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7799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START DE/ANTI-ICING </a:t>
                          </a:r>
                          <a:endParaRPr sz="9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항공기이동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및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Configuration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변경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금지</a:t>
                          </a:r>
                          <a:endParaRPr sz="900" b="1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DE/ANTI-ICING IS COMPLETED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(TIME CHECK 1분)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용액과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마지막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뿌린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시간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받고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적는다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.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Holdover Time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결정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!!!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----- ON</a:t>
                          </a:r>
                          <a:endParaRPr kumimoji="0" lang="en-US" altLang="ko-Kore-KR" sz="14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Arial"/>
                            <a:cs typeface="Calibri"/>
                            <a:sym typeface="Arial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33859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i="0" u="none" strike="noStrike" cap="none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TIME CHECK 1분후 </a:t>
                          </a:r>
                          <a:endParaRPr sz="800" b="1" i="0" u="none" strike="noStrike" cap="none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----------- ON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------ ON 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PREFLT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-&gt; Req STARTUP -&gt;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endParaRPr sz="8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2394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BOTH ENGINES ARE STARTED</a:t>
                          </a:r>
                          <a:endParaRPr sz="800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switches----As needed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APU----------------------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As needed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LEVER 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Set for takeoff or UP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ice, snow, slush or standing water,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강수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지속시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– 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Full travel check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(FLAP UP TAXI </a:t>
                          </a:r>
                          <a:r>
                            <a:rPr lang="ko-KR" alt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고려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sz="800" b="0" i="0" u="none" strike="noStrike" cap="none" dirty="0">
                            <a:solidFill>
                              <a:srgbClr val="AA47F5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Flight controls  ---</a:t>
                          </a:r>
                          <a:r>
                            <a:rPr lang="en-US" altLang="ko-Kore-KR" sz="900" b="1" i="0" u="none" strike="noStrike" cap="none" dirty="0">
                              <a:solidFill>
                                <a:srgbClr val="0070C0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--------------------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  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Check</a:t>
                          </a:r>
                          <a:endParaRPr dirty="0">
                            <a:solidFill>
                              <a:srgbClr val="AA47F5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START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(ATC CLR Confirm)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6842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TAXI, BEFORE T/O, T/O Procedure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lang="en-US" altLang="ko-Kore-KR" sz="800" b="1" i="0" u="none" strike="noStrike" cap="none" dirty="0">
                              <a:solidFill>
                                <a:schemeClr val="dk1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lang="en-US" altLang="ko-Kore-KR" sz="800" b="0" i="0" u="none" strike="noStrike" cap="none" dirty="0">
                            <a:solidFill>
                              <a:schemeClr val="dk1"/>
                            </a:solidFill>
                            <a:latin typeface="Calibri"/>
                            <a:ea typeface="Calibri"/>
                            <a:cs typeface="Calibri"/>
                            <a:sym typeface="Arial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                               </a:t>
                          </a: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highlight>
                                <a:srgbClr val="FFFF00"/>
                              </a:highlight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DECISION TREE next page</a:t>
                          </a:r>
                          <a:endParaRPr sz="800" b="1" dirty="0">
                            <a:solidFill>
                              <a:schemeClr val="dk1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03DDE63-4142-5292-5212-CBAA9E926A97}"/>
              </a:ext>
            </a:extLst>
          </p:cNvPr>
          <p:cNvSpPr/>
          <p:nvPr/>
        </p:nvSpPr>
        <p:spPr>
          <a:xfrm>
            <a:off x="1637957" y="246168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BAAC3CB-C309-1E4C-1777-F739C1CDA2CB}"/>
              </a:ext>
            </a:extLst>
          </p:cNvPr>
          <p:cNvSpPr/>
          <p:nvPr/>
        </p:nvSpPr>
        <p:spPr>
          <a:xfrm>
            <a:off x="42407" y="5279729"/>
            <a:ext cx="89419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AA47F5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Cold Wx</a:t>
            </a:r>
            <a:endParaRPr lang="en-US" altLang="ko-KR" sz="1800" b="1" cap="none" spc="0" dirty="0">
              <a:ln w="0"/>
              <a:solidFill>
                <a:srgbClr val="AA47F5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</a:pPr>
            <a:endParaRPr/>
          </a:p>
        </p:txBody>
      </p:sp>
      <p:sp>
        <p:nvSpPr>
          <p:cNvPr id="437" name="Google Shape;437;p36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8224" lvl="0" indent="-1294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13"/>
              <a:buNone/>
            </a:pPr>
            <a:endParaRPr/>
          </a:p>
        </p:txBody>
      </p:sp>
      <p:pic>
        <p:nvPicPr>
          <p:cNvPr id="438" name="Google Shape;438;p3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2328863" cy="4848616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36"/>
          <p:cNvSpPr/>
          <p:nvPr/>
        </p:nvSpPr>
        <p:spPr>
          <a:xfrm>
            <a:off x="178231" y="2526223"/>
            <a:ext cx="759416" cy="348713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36"/>
          <p:cNvSpPr/>
          <p:nvPr/>
        </p:nvSpPr>
        <p:spPr>
          <a:xfrm>
            <a:off x="1164430" y="2545838"/>
            <a:ext cx="850349" cy="406589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E2B9E81-8C15-BCB6-ACE9-2C1298DF2B3C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3662325515"/>
              </p:ext>
            </p:extLst>
          </p:nvPr>
        </p:nvGraphicFramePr>
        <p:xfrm>
          <a:off x="0" y="0"/>
          <a:ext cx="2328850" cy="966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16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2569">
                  <a:extLst>
                    <a:ext uri="{9D8B030D-6E8A-4147-A177-3AD203B41FA5}">
                      <a16:colId xmlns:a16="http://schemas.microsoft.com/office/drawing/2014/main" val="3596387649"/>
                    </a:ext>
                  </a:extLst>
                </a:gridCol>
              </a:tblGrid>
              <a:tr h="20256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PUS VOR 18L/R </a:t>
                      </a:r>
                      <a:endParaRPr lang="en-US" sz="11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856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00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STARS                    RUNWAYS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VOR18L/R              18L/R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TRANS.  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KMH22 </a:t>
                      </a: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Vref+wind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GAYHA</a:t>
                      </a:r>
                      <a:r>
                        <a:rPr lang="ko-KR" altLang="en-US" sz="900" b="1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(Modify Required)</a:t>
                      </a:r>
                      <a:endParaRPr lang="en-US" altLang="ko-Kore-KR" sz="9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</a:rPr>
                        <a:t>FIX : KMH 280(Base Turn), 284(Missed App)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900" b="1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2408181646"/>
                  </a:ext>
                </a:extLst>
              </a:tr>
            </a:tbl>
          </a:graphicData>
        </a:graphic>
      </p:graphicFrame>
      <p:pic>
        <p:nvPicPr>
          <p:cNvPr id="5" name="그림 4" descr="텍스트, 야외, 장치, 계량기이(가) 표시된 사진&#10;&#10;자동 생성된 설명">
            <a:extLst>
              <a:ext uri="{FF2B5EF4-FFF2-40B4-BE49-F238E27FC236}">
                <a16:creationId xmlns:a16="http://schemas.microsoft.com/office/drawing/2014/main" id="{19EEF72C-78E5-61F3-2B86-EF01369AF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71" y="248016"/>
            <a:ext cx="1080097" cy="573801"/>
          </a:xfrm>
          <a:prstGeom prst="rect">
            <a:avLst/>
          </a:prstGeom>
        </p:spPr>
      </p:pic>
      <p:graphicFrame>
        <p:nvGraphicFramePr>
          <p:cNvPr id="145" name="Google Shape;138;p4">
            <a:extLst>
              <a:ext uri="{FF2B5EF4-FFF2-40B4-BE49-F238E27FC236}">
                <a16:creationId xmlns:a16="http://schemas.microsoft.com/office/drawing/2014/main" id="{2DD2492E-25C7-6F3E-A765-74CDA08552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13902082"/>
              </p:ext>
            </p:extLst>
          </p:nvPr>
        </p:nvGraphicFramePr>
        <p:xfrm>
          <a:off x="-4122" y="4139510"/>
          <a:ext cx="2328850" cy="1069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255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Missed App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46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Base Turn </a:t>
                      </a:r>
                      <a:r>
                        <a:rPr lang="ko-KR" altLang="en-US" sz="900" dirty="0"/>
                        <a:t>이전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284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/>
                        <a:t>(SEL HDG SEL – INT H/D - VOR/LOC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7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Base Turn </a:t>
                      </a:r>
                      <a:r>
                        <a:rPr lang="ko-KR" altLang="en-US" sz="900" dirty="0"/>
                        <a:t>이후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Continue R/H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284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(SEL HDG SEL – INT H/D - VOR/LOC 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24277550"/>
                  </a:ext>
                </a:extLst>
              </a:tr>
            </a:tbl>
          </a:graphicData>
        </a:graphic>
      </p:graphicFrame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4BE8B393-F758-B69E-C71F-41B24ABD3B39}"/>
              </a:ext>
            </a:extLst>
          </p:cNvPr>
          <p:cNvGrpSpPr/>
          <p:nvPr/>
        </p:nvGrpSpPr>
        <p:grpSpPr>
          <a:xfrm>
            <a:off x="-48346" y="955136"/>
            <a:ext cx="2394309" cy="3138086"/>
            <a:chOff x="-48346" y="990763"/>
            <a:chExt cx="2394309" cy="3138086"/>
          </a:xfrm>
        </p:grpSpPr>
        <p:pic>
          <p:nvPicPr>
            <p:cNvPr id="12" name="그림 11" descr="나무, 식물이(가) 표시된 사진&#10;&#10;자동 생성된 설명">
              <a:extLst>
                <a:ext uri="{FF2B5EF4-FFF2-40B4-BE49-F238E27FC236}">
                  <a16:creationId xmlns:a16="http://schemas.microsoft.com/office/drawing/2014/main" id="{CDDBC3DB-6733-2907-F7DB-E2FDA5AE9F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>
            <a:xfrm>
              <a:off x="-361" y="1021136"/>
              <a:ext cx="2346324" cy="3107713"/>
            </a:xfrm>
            <a:prstGeom prst="rect">
              <a:avLst/>
            </a:prstGeom>
          </p:spPr>
        </p:pic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A447B34E-85E3-7041-0027-4D72BCEB8F4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 flipH="1" flipV="1">
              <a:off x="647706" y="1548692"/>
              <a:ext cx="35808" cy="119660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[R] 40">
              <a:extLst>
                <a:ext uri="{FF2B5EF4-FFF2-40B4-BE49-F238E27FC236}">
                  <a16:creationId xmlns:a16="http://schemas.microsoft.com/office/drawing/2014/main" id="{AF422B5F-7DE7-D8E9-59E5-31D47952B5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437" y="2745299"/>
              <a:ext cx="354533" cy="488137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포인트가 4개인 별 22">
              <a:extLst>
                <a:ext uri="{FF2B5EF4-FFF2-40B4-BE49-F238E27FC236}">
                  <a16:creationId xmlns:a16="http://schemas.microsoft.com/office/drawing/2014/main" id="{34EBE2B8-A456-4BC0-19B9-499481DE4E5C}"/>
                </a:ext>
              </a:extLst>
            </p:cNvPr>
            <p:cNvSpPr/>
            <p:nvPr/>
          </p:nvSpPr>
          <p:spPr>
            <a:xfrm>
              <a:off x="590749" y="2639281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9" name="호 28">
              <a:extLst>
                <a:ext uri="{FF2B5EF4-FFF2-40B4-BE49-F238E27FC236}">
                  <a16:creationId xmlns:a16="http://schemas.microsoft.com/office/drawing/2014/main" id="{0EDEDCBE-E5F5-DEFE-E89D-A65BA4BB793D}"/>
                </a:ext>
              </a:extLst>
            </p:cNvPr>
            <p:cNvSpPr/>
            <p:nvPr/>
          </p:nvSpPr>
          <p:spPr>
            <a:xfrm>
              <a:off x="647194" y="1114257"/>
              <a:ext cx="956185" cy="911025"/>
            </a:xfrm>
            <a:prstGeom prst="arc">
              <a:avLst>
                <a:gd name="adj1" fmla="val 10951624"/>
                <a:gd name="adj2" fmla="val 61662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1" name="포인트가 4개인 별 30">
              <a:extLst>
                <a:ext uri="{FF2B5EF4-FFF2-40B4-BE49-F238E27FC236}">
                  <a16:creationId xmlns:a16="http://schemas.microsoft.com/office/drawing/2014/main" id="{58BD0D03-CFFD-7313-7A4A-408AE9CE381A}"/>
                </a:ext>
              </a:extLst>
            </p:cNvPr>
            <p:cNvSpPr/>
            <p:nvPr/>
          </p:nvSpPr>
          <p:spPr>
            <a:xfrm>
              <a:off x="573819" y="1967600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5" name="호 34">
              <a:extLst>
                <a:ext uri="{FF2B5EF4-FFF2-40B4-BE49-F238E27FC236}">
                  <a16:creationId xmlns:a16="http://schemas.microsoft.com/office/drawing/2014/main" id="{930CEE6A-5EFE-59E6-5594-85206F09186A}"/>
                </a:ext>
              </a:extLst>
            </p:cNvPr>
            <p:cNvSpPr/>
            <p:nvPr/>
          </p:nvSpPr>
          <p:spPr>
            <a:xfrm>
              <a:off x="686711" y="1114708"/>
              <a:ext cx="973831" cy="1004707"/>
            </a:xfrm>
            <a:prstGeom prst="arc">
              <a:avLst>
                <a:gd name="adj1" fmla="val 16012884"/>
                <a:gd name="adj2" fmla="val 21134675"/>
              </a:avLst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8" name="포인트가 4개인 별 37">
              <a:extLst>
                <a:ext uri="{FF2B5EF4-FFF2-40B4-BE49-F238E27FC236}">
                  <a16:creationId xmlns:a16="http://schemas.microsoft.com/office/drawing/2014/main" id="{7EB48E4E-D41B-9BE2-A6CB-DE56A1828C44}"/>
                </a:ext>
              </a:extLst>
            </p:cNvPr>
            <p:cNvSpPr/>
            <p:nvPr/>
          </p:nvSpPr>
          <p:spPr>
            <a:xfrm>
              <a:off x="539954" y="1019339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9" name="포인트가 4개인 별 38">
              <a:extLst>
                <a:ext uri="{FF2B5EF4-FFF2-40B4-BE49-F238E27FC236}">
                  <a16:creationId xmlns:a16="http://schemas.microsoft.com/office/drawing/2014/main" id="{4623912B-268E-11E3-0FE7-B2FCDA90C0C0}"/>
                </a:ext>
              </a:extLst>
            </p:cNvPr>
            <p:cNvSpPr/>
            <p:nvPr/>
          </p:nvSpPr>
          <p:spPr>
            <a:xfrm>
              <a:off x="1431776" y="996764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AA47F5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0" name="포인트가 4개인 별 39">
              <a:extLst>
                <a:ext uri="{FF2B5EF4-FFF2-40B4-BE49-F238E27FC236}">
                  <a16:creationId xmlns:a16="http://schemas.microsoft.com/office/drawing/2014/main" id="{00C949CF-AF86-BF74-7612-33AF2285DACA}"/>
                </a:ext>
              </a:extLst>
            </p:cNvPr>
            <p:cNvSpPr/>
            <p:nvPr/>
          </p:nvSpPr>
          <p:spPr>
            <a:xfrm>
              <a:off x="1539024" y="991120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92D05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cxnSp>
          <p:nvCxnSpPr>
            <p:cNvPr id="44" name="직선 연결선[R] 43">
              <a:extLst>
                <a:ext uri="{FF2B5EF4-FFF2-40B4-BE49-F238E27FC236}">
                  <a16:creationId xmlns:a16="http://schemas.microsoft.com/office/drawing/2014/main" id="{868CF2DE-D380-1488-974D-31BDE8684A05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H="1" flipV="1">
              <a:off x="1603294" y="1578344"/>
              <a:ext cx="22873" cy="38925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[R] 48">
              <a:extLst>
                <a:ext uri="{FF2B5EF4-FFF2-40B4-BE49-F238E27FC236}">
                  <a16:creationId xmlns:a16="http://schemas.microsoft.com/office/drawing/2014/main" id="{66964C75-BD54-9870-DA4E-4CA275254DF7}"/>
                </a:ext>
              </a:extLst>
            </p:cNvPr>
            <p:cNvCxnSpPr>
              <a:cxnSpLocks/>
              <a:endCxn id="35" idx="2"/>
            </p:cNvCxnSpPr>
            <p:nvPr/>
          </p:nvCxnSpPr>
          <p:spPr>
            <a:xfrm flipH="1" flipV="1">
              <a:off x="1656354" y="1551319"/>
              <a:ext cx="22321" cy="421925"/>
            </a:xfrm>
            <a:prstGeom prst="line">
              <a:avLst/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[R] 53">
              <a:extLst>
                <a:ext uri="{FF2B5EF4-FFF2-40B4-BE49-F238E27FC236}">
                  <a16:creationId xmlns:a16="http://schemas.microsoft.com/office/drawing/2014/main" id="{DA8E6069-ABB3-A90D-9CB2-412A7718E23F}"/>
                </a:ext>
              </a:extLst>
            </p:cNvPr>
            <p:cNvCxnSpPr>
              <a:cxnSpLocks/>
            </p:cNvCxnSpPr>
            <p:nvPr/>
          </p:nvCxnSpPr>
          <p:spPr>
            <a:xfrm>
              <a:off x="79022" y="1374350"/>
              <a:ext cx="1538285" cy="603307"/>
            </a:xfrm>
            <a:prstGeom prst="line">
              <a:avLst/>
            </a:prstGeom>
            <a:ln w="1905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E0B4524-D5ED-0F82-3605-CE03D6D8F41C}"/>
                </a:ext>
              </a:extLst>
            </p:cNvPr>
            <p:cNvSpPr txBox="1"/>
            <p:nvPr/>
          </p:nvSpPr>
          <p:spPr>
            <a:xfrm>
              <a:off x="1670760" y="990763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KMH35</a:t>
              </a:r>
            </a:p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(18L)</a:t>
              </a:r>
              <a:endParaRPr kumimoji="1" lang="ko-Kore-KR" altLang="en-US" sz="800" dirty="0">
                <a:solidFill>
                  <a:srgbClr val="92D050"/>
                </a:solidFill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03758C5-ABCE-E358-B805-F5F84F53890B}"/>
                </a:ext>
              </a:extLst>
            </p:cNvPr>
            <p:cNvSpPr txBox="1"/>
            <p:nvPr/>
          </p:nvSpPr>
          <p:spPr>
            <a:xfrm>
              <a:off x="984588" y="1165881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KMH34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(18R)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AB56EBB-C6CC-544B-6B1B-7AD74DDE9799}"/>
                </a:ext>
              </a:extLst>
            </p:cNvPr>
            <p:cNvSpPr txBox="1"/>
            <p:nvPr/>
          </p:nvSpPr>
          <p:spPr>
            <a:xfrm>
              <a:off x="70193" y="1013484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KMH32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26F0C7B-7DBA-0E46-EAB1-02BB391E9101}"/>
                </a:ext>
              </a:extLst>
            </p:cNvPr>
            <p:cNvSpPr txBox="1"/>
            <p:nvPr/>
          </p:nvSpPr>
          <p:spPr>
            <a:xfrm>
              <a:off x="104058" y="1956094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KMH30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46E7BA4-156E-250A-F438-49FB015FCB5C}"/>
                </a:ext>
              </a:extLst>
            </p:cNvPr>
            <p:cNvSpPr txBox="1"/>
            <p:nvPr/>
          </p:nvSpPr>
          <p:spPr>
            <a:xfrm>
              <a:off x="87128" y="2599564"/>
              <a:ext cx="57900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KMH22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(MA046)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30" name="구부러진 연결선[U] 129">
              <a:extLst>
                <a:ext uri="{FF2B5EF4-FFF2-40B4-BE49-F238E27FC236}">
                  <a16:creationId xmlns:a16="http://schemas.microsoft.com/office/drawing/2014/main" id="{CF940597-B6DB-F9E0-2BFE-9248A4AEFCD5}"/>
                </a:ext>
              </a:extLst>
            </p:cNvPr>
            <p:cNvCxnSpPr/>
            <p:nvPr/>
          </p:nvCxnSpPr>
          <p:spPr>
            <a:xfrm>
              <a:off x="191911" y="3164206"/>
              <a:ext cx="279053" cy="138461"/>
            </a:xfrm>
            <a:prstGeom prst="curvedConnector3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구부러진 연결선[U] 131">
              <a:extLst>
                <a:ext uri="{FF2B5EF4-FFF2-40B4-BE49-F238E27FC236}">
                  <a16:creationId xmlns:a16="http://schemas.microsoft.com/office/drawing/2014/main" id="{414C5854-DCF3-751F-4CA3-DD8A308A66C6}"/>
                </a:ext>
              </a:extLst>
            </p:cNvPr>
            <p:cNvCxnSpPr/>
            <p:nvPr/>
          </p:nvCxnSpPr>
          <p:spPr>
            <a:xfrm>
              <a:off x="152401" y="3226298"/>
              <a:ext cx="279053" cy="138461"/>
            </a:xfrm>
            <a:prstGeom prst="curvedConnector3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직선 연결선[R] 132">
              <a:extLst>
                <a:ext uri="{FF2B5EF4-FFF2-40B4-BE49-F238E27FC236}">
                  <a16:creationId xmlns:a16="http://schemas.microsoft.com/office/drawing/2014/main" id="{CBE8342F-5466-CF7A-EF58-F1468E9658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0" y="3298447"/>
              <a:ext cx="302153" cy="381645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포인트가 4개인 별 141">
              <a:extLst>
                <a:ext uri="{FF2B5EF4-FFF2-40B4-BE49-F238E27FC236}">
                  <a16:creationId xmlns:a16="http://schemas.microsoft.com/office/drawing/2014/main" id="{A338195F-D345-F96E-91F4-57F2A830C58D}"/>
                </a:ext>
              </a:extLst>
            </p:cNvPr>
            <p:cNvSpPr/>
            <p:nvPr/>
          </p:nvSpPr>
          <p:spPr>
            <a:xfrm>
              <a:off x="54533" y="3395637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46" name="사각형 설명선[R] 145">
              <a:extLst>
                <a:ext uri="{FF2B5EF4-FFF2-40B4-BE49-F238E27FC236}">
                  <a16:creationId xmlns:a16="http://schemas.microsoft.com/office/drawing/2014/main" id="{CFB9E6EC-B866-FE82-A5A6-F4E244DD87CD}"/>
                </a:ext>
              </a:extLst>
            </p:cNvPr>
            <p:cNvSpPr/>
            <p:nvPr/>
          </p:nvSpPr>
          <p:spPr>
            <a:xfrm>
              <a:off x="596770" y="3621224"/>
              <a:ext cx="836148" cy="465790"/>
            </a:xfrm>
            <a:prstGeom prst="wedgeRectCallout">
              <a:avLst>
                <a:gd name="adj1" fmla="val -118823"/>
                <a:gd name="adj2" fmla="val -3300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Before L/D CHK Complete</a:t>
              </a:r>
            </a:p>
            <a:p>
              <a:r>
                <a:rPr kumimoji="1" lang="en-US" altLang="ko-Kore-KR" sz="800" dirty="0"/>
                <a:t>NEXT 1700ft</a:t>
              </a:r>
              <a:endParaRPr kumimoji="1" lang="ko-Kore-KR" altLang="en-US" sz="800" dirty="0"/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E7A4A2FD-4EC4-596A-9970-F3E9CA163536}"/>
                </a:ext>
              </a:extLst>
            </p:cNvPr>
            <p:cNvSpPr txBox="1"/>
            <p:nvPr/>
          </p:nvSpPr>
          <p:spPr>
            <a:xfrm>
              <a:off x="28182" y="3553474"/>
              <a:ext cx="55015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FAF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(FF046)</a:t>
              </a:r>
            </a:p>
          </p:txBody>
        </p:sp>
        <p:sp>
          <p:nvSpPr>
            <p:cNvPr id="147" name="사각형 설명선[R] 146">
              <a:extLst>
                <a:ext uri="{FF2B5EF4-FFF2-40B4-BE49-F238E27FC236}">
                  <a16:creationId xmlns:a16="http://schemas.microsoft.com/office/drawing/2014/main" id="{AE343AE0-07BA-1600-95F8-3A2E7E340B60}"/>
                </a:ext>
              </a:extLst>
            </p:cNvPr>
            <p:cNvSpPr/>
            <p:nvPr/>
          </p:nvSpPr>
          <p:spPr>
            <a:xfrm>
              <a:off x="907947" y="3061301"/>
              <a:ext cx="629556" cy="465790"/>
            </a:xfrm>
            <a:prstGeom prst="wedgeRectCallout">
              <a:avLst>
                <a:gd name="adj1" fmla="val -109055"/>
                <a:gd name="adj2" fmla="val -66606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1700ft L/O 6000ft SET</a:t>
              </a:r>
            </a:p>
            <a:p>
              <a:r>
                <a:rPr kumimoji="1" lang="en-US" altLang="ko-Kore-KR" sz="800" dirty="0"/>
                <a:t>CRS 284 </a:t>
              </a:r>
              <a:endParaRPr kumimoji="1" lang="ko-Kore-KR" altLang="en-US" sz="800" dirty="0"/>
            </a:p>
          </p:txBody>
        </p:sp>
        <p:sp>
          <p:nvSpPr>
            <p:cNvPr id="148" name="사각형 설명선[R] 147">
              <a:extLst>
                <a:ext uri="{FF2B5EF4-FFF2-40B4-BE49-F238E27FC236}">
                  <a16:creationId xmlns:a16="http://schemas.microsoft.com/office/drawing/2014/main" id="{E871E623-1836-7590-4F6F-CB1F7591C0E6}"/>
                </a:ext>
              </a:extLst>
            </p:cNvPr>
            <p:cNvSpPr/>
            <p:nvPr/>
          </p:nvSpPr>
          <p:spPr>
            <a:xfrm>
              <a:off x="828719" y="2258171"/>
              <a:ext cx="708292" cy="465790"/>
            </a:xfrm>
            <a:prstGeom prst="wedgeRectCallout">
              <a:avLst>
                <a:gd name="adj1" fmla="val -69799"/>
                <a:gd name="adj2" fmla="val -4715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 H/D110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KMH30-1NM</a:t>
              </a:r>
            </a:p>
            <a:p>
              <a:r>
                <a:rPr kumimoji="1" lang="en-US" altLang="ko-Kore-KR" sz="800" dirty="0"/>
                <a:t> Start Des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C0E1023B-1541-46CF-70D1-CCD44038861A}"/>
                </a:ext>
              </a:extLst>
            </p:cNvPr>
            <p:cNvSpPr txBox="1"/>
            <p:nvPr/>
          </p:nvSpPr>
          <p:spPr>
            <a:xfrm>
              <a:off x="-48346" y="1507131"/>
              <a:ext cx="6880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KMH R280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Start Turn</a:t>
              </a:r>
              <a:endParaRPr kumimoji="1" lang="ko-Kore-KR" altLang="en-US" sz="800" b="1" dirty="0">
                <a:solidFill>
                  <a:srgbClr val="FFC000"/>
                </a:solidFill>
              </a:endParaRPr>
            </a:p>
          </p:txBody>
        </p:sp>
        <p:sp>
          <p:nvSpPr>
            <p:cNvPr id="150" name="사각형 설명선[R] 149">
              <a:extLst>
                <a:ext uri="{FF2B5EF4-FFF2-40B4-BE49-F238E27FC236}">
                  <a16:creationId xmlns:a16="http://schemas.microsoft.com/office/drawing/2014/main" id="{FD89808B-5034-A5A3-931F-51E835F84D56}"/>
                </a:ext>
              </a:extLst>
            </p:cNvPr>
            <p:cNvSpPr/>
            <p:nvPr/>
          </p:nvSpPr>
          <p:spPr>
            <a:xfrm>
              <a:off x="931503" y="1488263"/>
              <a:ext cx="605516" cy="353512"/>
            </a:xfrm>
            <a:prstGeom prst="wedgeRectCallout">
              <a:avLst>
                <a:gd name="adj1" fmla="val -86957"/>
                <a:gd name="adj2" fmla="val -779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 H/D 182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 090-1000ft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</a:t>
              </a:r>
              <a:r>
                <a:rPr kumimoji="1" lang="en-US" altLang="ko-Kore-KR" sz="800" b="1" dirty="0">
                  <a:solidFill>
                    <a:srgbClr val="92D050"/>
                  </a:solidFill>
                </a:rPr>
                <a:t>(900ft)</a:t>
              </a:r>
            </a:p>
          </p:txBody>
        </p:sp>
        <p:sp>
          <p:nvSpPr>
            <p:cNvPr id="151" name="사각형 설명선[R] 150">
              <a:extLst>
                <a:ext uri="{FF2B5EF4-FFF2-40B4-BE49-F238E27FC236}">
                  <a16:creationId xmlns:a16="http://schemas.microsoft.com/office/drawing/2014/main" id="{976C1F7A-E636-B87D-52FD-AEB37F9F32B9}"/>
                </a:ext>
              </a:extLst>
            </p:cNvPr>
            <p:cNvSpPr/>
            <p:nvPr/>
          </p:nvSpPr>
          <p:spPr>
            <a:xfrm>
              <a:off x="1848171" y="1477339"/>
              <a:ext cx="418277" cy="547943"/>
            </a:xfrm>
            <a:prstGeom prst="wedgeRectCallout">
              <a:avLst>
                <a:gd name="adj1" fmla="val -90896"/>
                <a:gd name="adj2" fmla="val -2983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500</a:t>
              </a:r>
              <a:r>
                <a:rPr kumimoji="1" lang="en-US" altLang="ko-KR" sz="800" dirty="0"/>
                <a:t>’</a:t>
              </a:r>
              <a:r>
                <a:rPr kumimoji="1" lang="ko-KR" altLang="en-US" sz="800" dirty="0"/>
                <a:t>전</a:t>
              </a:r>
              <a:endParaRPr kumimoji="1" lang="en-US" altLang="ko-KR" sz="800" dirty="0"/>
            </a:p>
            <a:p>
              <a:r>
                <a:rPr kumimoji="1" lang="en-US" altLang="ko-Kore-KR" sz="800" dirty="0"/>
                <a:t> A/P Off  </a:t>
              </a:r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FD Off - </a:t>
              </a:r>
              <a:r>
                <a:rPr kumimoji="1" lang="ko-KR" altLang="en-US" sz="800" dirty="0"/>
                <a:t> </a:t>
              </a:r>
              <a:endParaRPr kumimoji="1" lang="en-US" altLang="ko-KR" sz="800" dirty="0"/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On</a:t>
              </a:r>
            </a:p>
          </p:txBody>
        </p:sp>
      </p:grpSp>
      <p:sp>
        <p:nvSpPr>
          <p:cNvPr id="153" name="TextBox 152">
            <a:extLst>
              <a:ext uri="{FF2B5EF4-FFF2-40B4-BE49-F238E27FC236}">
                <a16:creationId xmlns:a16="http://schemas.microsoft.com/office/drawing/2014/main" id="{97F6DB83-E6BE-C7AD-44FF-AB2D0BD878C7}"/>
              </a:ext>
            </a:extLst>
          </p:cNvPr>
          <p:cNvSpPr txBox="1"/>
          <p:nvPr/>
        </p:nvSpPr>
        <p:spPr>
          <a:xfrm>
            <a:off x="1427395" y="5172015"/>
            <a:ext cx="9733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LOC 36 Circling</a:t>
            </a:r>
          </a:p>
          <a:p>
            <a:r>
              <a:rPr kumimoji="1" lang="en-US" altLang="ko-Kore-KR" sz="10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Next Page</a:t>
            </a:r>
            <a:endParaRPr kumimoji="1" lang="ko-Kore-KR" altLang="en-US" sz="1000" b="1" dirty="0">
              <a:solidFill>
                <a:srgbClr val="C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9E31F1-F9F0-C78C-4D15-80D409335936}"/>
              </a:ext>
            </a:extLst>
          </p:cNvPr>
          <p:cNvSpPr txBox="1"/>
          <p:nvPr/>
        </p:nvSpPr>
        <p:spPr>
          <a:xfrm>
            <a:off x="515207" y="5165987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5139595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2375068743"/>
              </p:ext>
            </p:extLst>
          </p:nvPr>
        </p:nvGraphicFramePr>
        <p:xfrm>
          <a:off x="0" y="0"/>
          <a:ext cx="2328850" cy="11041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16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2569">
                  <a:extLst>
                    <a:ext uri="{9D8B030D-6E8A-4147-A177-3AD203B41FA5}">
                      <a16:colId xmlns:a16="http://schemas.microsoft.com/office/drawing/2014/main" val="3596387649"/>
                    </a:ext>
                  </a:extLst>
                </a:gridCol>
              </a:tblGrid>
              <a:tr h="20256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PUS LOC 36L/R Circling 18L/R</a:t>
                      </a:r>
                    </a:p>
                  </a:txBody>
                  <a:tcPr marL="91450" marR="9145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856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00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STARS                    RUNWAYS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36L18L/R              18L/R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TRANS.  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KMH22 </a:t>
                      </a: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Vref+wind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GEOJE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(Modify Required)</a:t>
                      </a:r>
                      <a:endParaRPr lang="en-US" altLang="ko-Kore-KR" sz="9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FF0000"/>
                          </a:solidFill>
                        </a:rPr>
                        <a:t>CI36L(CF36R) 3500 FI36L(FF36R) 2100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884486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</a:rPr>
                        <a:t>FIX : KMH 280(Base Turn), 310(Missed App)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900" b="1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2408181646"/>
                  </a:ext>
                </a:extLst>
              </a:tr>
            </a:tbl>
          </a:graphicData>
        </a:graphic>
      </p:graphicFrame>
      <p:pic>
        <p:nvPicPr>
          <p:cNvPr id="3" name="그림 2" descr="텍스트이(가) 표시된 사진&#10;&#10;자동 생성된 설명">
            <a:extLst>
              <a:ext uri="{FF2B5EF4-FFF2-40B4-BE49-F238E27FC236}">
                <a16:creationId xmlns:a16="http://schemas.microsoft.com/office/drawing/2014/main" id="{5021DF9B-6AB4-7517-602B-0CD3A9E073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4" y="243355"/>
            <a:ext cx="1066737" cy="566704"/>
          </a:xfrm>
          <a:prstGeom prst="rect">
            <a:avLst/>
          </a:prstGeom>
        </p:spPr>
      </p:pic>
      <p:graphicFrame>
        <p:nvGraphicFramePr>
          <p:cNvPr id="145" name="Google Shape;138;p4">
            <a:extLst>
              <a:ext uri="{FF2B5EF4-FFF2-40B4-BE49-F238E27FC236}">
                <a16:creationId xmlns:a16="http://schemas.microsoft.com/office/drawing/2014/main" id="{2DD2492E-25C7-6F3E-A765-74CDA0855231}"/>
              </a:ext>
            </a:extLst>
          </p:cNvPr>
          <p:cNvGraphicFramePr/>
          <p:nvPr/>
        </p:nvGraphicFramePr>
        <p:xfrm>
          <a:off x="-4122" y="4192952"/>
          <a:ext cx="2328850" cy="1069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255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Missed App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46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Base Turn </a:t>
                      </a:r>
                      <a:r>
                        <a:rPr lang="ko-KR" altLang="en-US" sz="900" dirty="0"/>
                        <a:t>이전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310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/>
                        <a:t>(SEL HDG SEL – INT H/D - VOR/LOC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7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Base Turn </a:t>
                      </a:r>
                      <a:r>
                        <a:rPr lang="ko-KR" altLang="en-US" sz="900" dirty="0"/>
                        <a:t>이후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Continue R/H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310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(SEL HDG SEL – INT H/D - VOR/LOC 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24277550"/>
                  </a:ext>
                </a:extLst>
              </a:tr>
            </a:tbl>
          </a:graphicData>
        </a:graphic>
      </p:graphicFrame>
      <p:grpSp>
        <p:nvGrpSpPr>
          <p:cNvPr id="15" name="그룹 14">
            <a:extLst>
              <a:ext uri="{FF2B5EF4-FFF2-40B4-BE49-F238E27FC236}">
                <a16:creationId xmlns:a16="http://schemas.microsoft.com/office/drawing/2014/main" id="{EA4E3C12-23F7-925D-4989-9A1D08C75E1F}"/>
              </a:ext>
            </a:extLst>
          </p:cNvPr>
          <p:cNvGrpSpPr/>
          <p:nvPr/>
        </p:nvGrpSpPr>
        <p:grpSpPr>
          <a:xfrm>
            <a:off x="-48346" y="1067956"/>
            <a:ext cx="2394309" cy="3138086"/>
            <a:chOff x="-48346" y="1067956"/>
            <a:chExt cx="2394309" cy="3138086"/>
          </a:xfrm>
        </p:grpSpPr>
        <p:pic>
          <p:nvPicPr>
            <p:cNvPr id="12" name="그림 11" descr="나무, 식물이(가) 표시된 사진&#10;&#10;자동 생성된 설명">
              <a:extLst>
                <a:ext uri="{FF2B5EF4-FFF2-40B4-BE49-F238E27FC236}">
                  <a16:creationId xmlns:a16="http://schemas.microsoft.com/office/drawing/2014/main" id="{CDDBC3DB-6733-2907-F7DB-E2FDA5AE9F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>
            <a:xfrm>
              <a:off x="-361" y="1098329"/>
              <a:ext cx="2346324" cy="3107713"/>
            </a:xfrm>
            <a:prstGeom prst="rect">
              <a:avLst/>
            </a:prstGeom>
          </p:spPr>
        </p:pic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A447B34E-85E3-7041-0027-4D72BCEB8F4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 flipH="1" flipV="1">
              <a:off x="647706" y="1625885"/>
              <a:ext cx="35808" cy="119660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[R] 40">
              <a:extLst>
                <a:ext uri="{FF2B5EF4-FFF2-40B4-BE49-F238E27FC236}">
                  <a16:creationId xmlns:a16="http://schemas.microsoft.com/office/drawing/2014/main" id="{AF422B5F-7DE7-D8E9-59E5-31D47952B5A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5970" y="2822492"/>
              <a:ext cx="1038585" cy="862373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포인트가 4개인 별 22">
              <a:extLst>
                <a:ext uri="{FF2B5EF4-FFF2-40B4-BE49-F238E27FC236}">
                  <a16:creationId xmlns:a16="http://schemas.microsoft.com/office/drawing/2014/main" id="{34EBE2B8-A456-4BC0-19B9-499481DE4E5C}"/>
                </a:ext>
              </a:extLst>
            </p:cNvPr>
            <p:cNvSpPr/>
            <p:nvPr/>
          </p:nvSpPr>
          <p:spPr>
            <a:xfrm>
              <a:off x="590749" y="2716474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9" name="호 28">
              <a:extLst>
                <a:ext uri="{FF2B5EF4-FFF2-40B4-BE49-F238E27FC236}">
                  <a16:creationId xmlns:a16="http://schemas.microsoft.com/office/drawing/2014/main" id="{0EDEDCBE-E5F5-DEFE-E89D-A65BA4BB793D}"/>
                </a:ext>
              </a:extLst>
            </p:cNvPr>
            <p:cNvSpPr/>
            <p:nvPr/>
          </p:nvSpPr>
          <p:spPr>
            <a:xfrm>
              <a:off x="647194" y="1191450"/>
              <a:ext cx="956185" cy="911025"/>
            </a:xfrm>
            <a:prstGeom prst="arc">
              <a:avLst>
                <a:gd name="adj1" fmla="val 10951624"/>
                <a:gd name="adj2" fmla="val 61662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1" name="포인트가 4개인 별 30">
              <a:extLst>
                <a:ext uri="{FF2B5EF4-FFF2-40B4-BE49-F238E27FC236}">
                  <a16:creationId xmlns:a16="http://schemas.microsoft.com/office/drawing/2014/main" id="{58BD0D03-CFFD-7313-7A4A-408AE9CE381A}"/>
                </a:ext>
              </a:extLst>
            </p:cNvPr>
            <p:cNvSpPr/>
            <p:nvPr/>
          </p:nvSpPr>
          <p:spPr>
            <a:xfrm>
              <a:off x="573819" y="2044793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5" name="호 34">
              <a:extLst>
                <a:ext uri="{FF2B5EF4-FFF2-40B4-BE49-F238E27FC236}">
                  <a16:creationId xmlns:a16="http://schemas.microsoft.com/office/drawing/2014/main" id="{930CEE6A-5EFE-59E6-5594-85206F09186A}"/>
                </a:ext>
              </a:extLst>
            </p:cNvPr>
            <p:cNvSpPr/>
            <p:nvPr/>
          </p:nvSpPr>
          <p:spPr>
            <a:xfrm>
              <a:off x="686711" y="1191901"/>
              <a:ext cx="973831" cy="1004707"/>
            </a:xfrm>
            <a:prstGeom prst="arc">
              <a:avLst>
                <a:gd name="adj1" fmla="val 16012884"/>
                <a:gd name="adj2" fmla="val 21134675"/>
              </a:avLst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8" name="포인트가 4개인 별 37">
              <a:extLst>
                <a:ext uri="{FF2B5EF4-FFF2-40B4-BE49-F238E27FC236}">
                  <a16:creationId xmlns:a16="http://schemas.microsoft.com/office/drawing/2014/main" id="{7EB48E4E-D41B-9BE2-A6CB-DE56A1828C44}"/>
                </a:ext>
              </a:extLst>
            </p:cNvPr>
            <p:cNvSpPr/>
            <p:nvPr/>
          </p:nvSpPr>
          <p:spPr>
            <a:xfrm>
              <a:off x="539954" y="1096532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9" name="포인트가 4개인 별 38">
              <a:extLst>
                <a:ext uri="{FF2B5EF4-FFF2-40B4-BE49-F238E27FC236}">
                  <a16:creationId xmlns:a16="http://schemas.microsoft.com/office/drawing/2014/main" id="{4623912B-268E-11E3-0FE7-B2FCDA90C0C0}"/>
                </a:ext>
              </a:extLst>
            </p:cNvPr>
            <p:cNvSpPr/>
            <p:nvPr/>
          </p:nvSpPr>
          <p:spPr>
            <a:xfrm>
              <a:off x="1431776" y="1073957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AA47F5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0" name="포인트가 4개인 별 39">
              <a:extLst>
                <a:ext uri="{FF2B5EF4-FFF2-40B4-BE49-F238E27FC236}">
                  <a16:creationId xmlns:a16="http://schemas.microsoft.com/office/drawing/2014/main" id="{00C949CF-AF86-BF74-7612-33AF2285DACA}"/>
                </a:ext>
              </a:extLst>
            </p:cNvPr>
            <p:cNvSpPr/>
            <p:nvPr/>
          </p:nvSpPr>
          <p:spPr>
            <a:xfrm>
              <a:off x="1539024" y="1068313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92D05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cxnSp>
          <p:nvCxnSpPr>
            <p:cNvPr id="44" name="직선 연결선[R] 43">
              <a:extLst>
                <a:ext uri="{FF2B5EF4-FFF2-40B4-BE49-F238E27FC236}">
                  <a16:creationId xmlns:a16="http://schemas.microsoft.com/office/drawing/2014/main" id="{868CF2DE-D380-1488-974D-31BDE8684A05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H="1" flipV="1">
              <a:off x="1603294" y="1655537"/>
              <a:ext cx="22873" cy="38925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[R] 48">
              <a:extLst>
                <a:ext uri="{FF2B5EF4-FFF2-40B4-BE49-F238E27FC236}">
                  <a16:creationId xmlns:a16="http://schemas.microsoft.com/office/drawing/2014/main" id="{66964C75-BD54-9870-DA4E-4CA275254DF7}"/>
                </a:ext>
              </a:extLst>
            </p:cNvPr>
            <p:cNvCxnSpPr>
              <a:cxnSpLocks/>
              <a:endCxn id="35" idx="2"/>
            </p:cNvCxnSpPr>
            <p:nvPr/>
          </p:nvCxnSpPr>
          <p:spPr>
            <a:xfrm flipH="1" flipV="1">
              <a:off x="1656354" y="1628512"/>
              <a:ext cx="22321" cy="421925"/>
            </a:xfrm>
            <a:prstGeom prst="line">
              <a:avLst/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[R] 53">
              <a:extLst>
                <a:ext uri="{FF2B5EF4-FFF2-40B4-BE49-F238E27FC236}">
                  <a16:creationId xmlns:a16="http://schemas.microsoft.com/office/drawing/2014/main" id="{DA8E6069-ABB3-A90D-9CB2-412A7718E23F}"/>
                </a:ext>
              </a:extLst>
            </p:cNvPr>
            <p:cNvCxnSpPr>
              <a:cxnSpLocks/>
            </p:cNvCxnSpPr>
            <p:nvPr/>
          </p:nvCxnSpPr>
          <p:spPr>
            <a:xfrm>
              <a:off x="79022" y="1451543"/>
              <a:ext cx="1538285" cy="603307"/>
            </a:xfrm>
            <a:prstGeom prst="line">
              <a:avLst/>
            </a:prstGeom>
            <a:ln w="1905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E0B4524-D5ED-0F82-3605-CE03D6D8F41C}"/>
                </a:ext>
              </a:extLst>
            </p:cNvPr>
            <p:cNvSpPr txBox="1"/>
            <p:nvPr/>
          </p:nvSpPr>
          <p:spPr>
            <a:xfrm>
              <a:off x="1670760" y="1067956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KMH35</a:t>
              </a:r>
            </a:p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(18L)</a:t>
              </a:r>
              <a:endParaRPr kumimoji="1" lang="ko-Kore-KR" altLang="en-US" sz="800" dirty="0">
                <a:solidFill>
                  <a:srgbClr val="92D050"/>
                </a:solidFill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03758C5-ABCE-E358-B805-F5F84F53890B}"/>
                </a:ext>
              </a:extLst>
            </p:cNvPr>
            <p:cNvSpPr txBox="1"/>
            <p:nvPr/>
          </p:nvSpPr>
          <p:spPr>
            <a:xfrm>
              <a:off x="984588" y="1243074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KMH34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(18R)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AB56EBB-C6CC-544B-6B1B-7AD74DDE9799}"/>
                </a:ext>
              </a:extLst>
            </p:cNvPr>
            <p:cNvSpPr txBox="1"/>
            <p:nvPr/>
          </p:nvSpPr>
          <p:spPr>
            <a:xfrm>
              <a:off x="70193" y="1090677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KMH32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26F0C7B-7DBA-0E46-EAB1-02BB391E9101}"/>
                </a:ext>
              </a:extLst>
            </p:cNvPr>
            <p:cNvSpPr txBox="1"/>
            <p:nvPr/>
          </p:nvSpPr>
          <p:spPr>
            <a:xfrm>
              <a:off x="104058" y="2033287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KMH30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46E7BA4-156E-250A-F438-49FB015FCB5C}"/>
                </a:ext>
              </a:extLst>
            </p:cNvPr>
            <p:cNvSpPr txBox="1"/>
            <p:nvPr/>
          </p:nvSpPr>
          <p:spPr>
            <a:xfrm>
              <a:off x="103959" y="2676757"/>
              <a:ext cx="5453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KMH22</a:t>
              </a:r>
            </a:p>
            <a:p>
              <a:pPr algn="ctr"/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30" name="구부러진 연결선[U] 129">
              <a:extLst>
                <a:ext uri="{FF2B5EF4-FFF2-40B4-BE49-F238E27FC236}">
                  <a16:creationId xmlns:a16="http://schemas.microsoft.com/office/drawing/2014/main" id="{CF940597-B6DB-F9E0-2BFE-9248A4AEFCD5}"/>
                </a:ext>
              </a:extLst>
            </p:cNvPr>
            <p:cNvCxnSpPr>
              <a:cxnSpLocks/>
            </p:cNvCxnSpPr>
            <p:nvPr/>
          </p:nvCxnSpPr>
          <p:spPr>
            <a:xfrm>
              <a:off x="1610387" y="3841126"/>
              <a:ext cx="324227" cy="49428"/>
            </a:xfrm>
            <a:prstGeom prst="curvedConnector3">
              <a:avLst>
                <a:gd name="adj1" fmla="val 44506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직선 연결선[R] 132">
              <a:extLst>
                <a:ext uri="{FF2B5EF4-FFF2-40B4-BE49-F238E27FC236}">
                  <a16:creationId xmlns:a16="http://schemas.microsoft.com/office/drawing/2014/main" id="{CBE8342F-5466-CF7A-EF58-F1468E9658D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68383" y="3786668"/>
              <a:ext cx="4117" cy="397222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포인트가 4개인 별 141">
              <a:extLst>
                <a:ext uri="{FF2B5EF4-FFF2-40B4-BE49-F238E27FC236}">
                  <a16:creationId xmlns:a16="http://schemas.microsoft.com/office/drawing/2014/main" id="{A338195F-D345-F96E-91F4-57F2A830C58D}"/>
                </a:ext>
              </a:extLst>
            </p:cNvPr>
            <p:cNvSpPr/>
            <p:nvPr/>
          </p:nvSpPr>
          <p:spPr>
            <a:xfrm>
              <a:off x="1679774" y="3607592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46" name="사각형 설명선[R] 145">
              <a:extLst>
                <a:ext uri="{FF2B5EF4-FFF2-40B4-BE49-F238E27FC236}">
                  <a16:creationId xmlns:a16="http://schemas.microsoft.com/office/drawing/2014/main" id="{CFB9E6EC-B866-FE82-A5A6-F4E244DD87CD}"/>
                </a:ext>
              </a:extLst>
            </p:cNvPr>
            <p:cNvSpPr/>
            <p:nvPr/>
          </p:nvSpPr>
          <p:spPr>
            <a:xfrm>
              <a:off x="596770" y="3653893"/>
              <a:ext cx="836148" cy="510314"/>
            </a:xfrm>
            <a:prstGeom prst="wedgeRectCallout">
              <a:avLst>
                <a:gd name="adj1" fmla="val 84272"/>
                <a:gd name="adj2" fmla="val 1671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Before FAF L/G DN FLAP15</a:t>
              </a:r>
            </a:p>
            <a:p>
              <a:r>
                <a:rPr kumimoji="1" lang="en-US" altLang="ko-Kore-KR" sz="800" dirty="0"/>
                <a:t>1700ft L/O</a:t>
              </a:r>
            </a:p>
            <a:p>
              <a:r>
                <a:rPr kumimoji="1" lang="en-US" altLang="ko-Kore-KR" sz="800" dirty="0"/>
                <a:t>6000ft SET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E7A4A2FD-4EC4-596A-9970-F3E9CA163536}"/>
                </a:ext>
              </a:extLst>
            </p:cNvPr>
            <p:cNvSpPr txBox="1"/>
            <p:nvPr/>
          </p:nvSpPr>
          <p:spPr>
            <a:xfrm>
              <a:off x="1711414" y="3383086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KMH18</a:t>
              </a:r>
            </a:p>
          </p:txBody>
        </p:sp>
        <p:sp>
          <p:nvSpPr>
            <p:cNvPr id="147" name="사각형 설명선[R] 146">
              <a:extLst>
                <a:ext uri="{FF2B5EF4-FFF2-40B4-BE49-F238E27FC236}">
                  <a16:creationId xmlns:a16="http://schemas.microsoft.com/office/drawing/2014/main" id="{AE343AE0-07BA-1600-95F8-3A2E7E340B60}"/>
                </a:ext>
              </a:extLst>
            </p:cNvPr>
            <p:cNvSpPr/>
            <p:nvPr/>
          </p:nvSpPr>
          <p:spPr>
            <a:xfrm>
              <a:off x="25794" y="3080133"/>
              <a:ext cx="1032571" cy="531481"/>
            </a:xfrm>
            <a:prstGeom prst="wedgeRectCallout">
              <a:avLst>
                <a:gd name="adj1" fmla="val 94487"/>
                <a:gd name="adj2" fmla="val 37595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VOR SET CRS 310</a:t>
              </a:r>
            </a:p>
            <a:p>
              <a:r>
                <a:rPr kumimoji="1" lang="en-US" altLang="ko-Kore-KR" sz="800" dirty="0"/>
                <a:t>L/D FLAP</a:t>
              </a:r>
            </a:p>
            <a:p>
              <a:r>
                <a:rPr kumimoji="1" lang="en-US" altLang="ko-Kore-KR" sz="800" dirty="0"/>
                <a:t>Before L/D CHK Complete</a:t>
              </a:r>
            </a:p>
          </p:txBody>
        </p:sp>
        <p:sp>
          <p:nvSpPr>
            <p:cNvPr id="148" name="사각형 설명선[R] 147">
              <a:extLst>
                <a:ext uri="{FF2B5EF4-FFF2-40B4-BE49-F238E27FC236}">
                  <a16:creationId xmlns:a16="http://schemas.microsoft.com/office/drawing/2014/main" id="{E871E623-1836-7590-4F6F-CB1F7591C0E6}"/>
                </a:ext>
              </a:extLst>
            </p:cNvPr>
            <p:cNvSpPr/>
            <p:nvPr/>
          </p:nvSpPr>
          <p:spPr>
            <a:xfrm>
              <a:off x="828719" y="2335364"/>
              <a:ext cx="708292" cy="465790"/>
            </a:xfrm>
            <a:prstGeom prst="wedgeRectCallout">
              <a:avLst>
                <a:gd name="adj1" fmla="val -69799"/>
                <a:gd name="adj2" fmla="val -4715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 H/D110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KMH30-1NM</a:t>
              </a:r>
            </a:p>
            <a:p>
              <a:r>
                <a:rPr kumimoji="1" lang="en-US" altLang="ko-Kore-KR" sz="800" dirty="0"/>
                <a:t> Start Des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C0E1023B-1541-46CF-70D1-CCD44038861A}"/>
                </a:ext>
              </a:extLst>
            </p:cNvPr>
            <p:cNvSpPr txBox="1"/>
            <p:nvPr/>
          </p:nvSpPr>
          <p:spPr>
            <a:xfrm>
              <a:off x="-48346" y="1584324"/>
              <a:ext cx="6880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KMH R280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Start Turn</a:t>
              </a:r>
              <a:endParaRPr kumimoji="1" lang="ko-Kore-KR" altLang="en-US" sz="800" b="1" dirty="0">
                <a:solidFill>
                  <a:srgbClr val="FFC000"/>
                </a:solidFill>
              </a:endParaRPr>
            </a:p>
          </p:txBody>
        </p:sp>
        <p:sp>
          <p:nvSpPr>
            <p:cNvPr id="150" name="사각형 설명선[R] 149">
              <a:extLst>
                <a:ext uri="{FF2B5EF4-FFF2-40B4-BE49-F238E27FC236}">
                  <a16:creationId xmlns:a16="http://schemas.microsoft.com/office/drawing/2014/main" id="{FD89808B-5034-A5A3-931F-51E835F84D56}"/>
                </a:ext>
              </a:extLst>
            </p:cNvPr>
            <p:cNvSpPr/>
            <p:nvPr/>
          </p:nvSpPr>
          <p:spPr>
            <a:xfrm>
              <a:off x="931503" y="1565456"/>
              <a:ext cx="605516" cy="353512"/>
            </a:xfrm>
            <a:prstGeom prst="wedgeRectCallout">
              <a:avLst>
                <a:gd name="adj1" fmla="val -86957"/>
                <a:gd name="adj2" fmla="val -779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 H/D 182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 090-1000ft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</a:t>
              </a:r>
              <a:r>
                <a:rPr kumimoji="1" lang="en-US" altLang="ko-Kore-KR" sz="800" b="1" dirty="0">
                  <a:solidFill>
                    <a:srgbClr val="92D050"/>
                  </a:solidFill>
                </a:rPr>
                <a:t>(900ft)</a:t>
              </a:r>
            </a:p>
          </p:txBody>
        </p:sp>
        <p:sp>
          <p:nvSpPr>
            <p:cNvPr id="151" name="사각형 설명선[R] 150">
              <a:extLst>
                <a:ext uri="{FF2B5EF4-FFF2-40B4-BE49-F238E27FC236}">
                  <a16:creationId xmlns:a16="http://schemas.microsoft.com/office/drawing/2014/main" id="{976C1F7A-E636-B87D-52FD-AEB37F9F32B9}"/>
                </a:ext>
              </a:extLst>
            </p:cNvPr>
            <p:cNvSpPr/>
            <p:nvPr/>
          </p:nvSpPr>
          <p:spPr>
            <a:xfrm>
              <a:off x="1848171" y="1554532"/>
              <a:ext cx="418277" cy="547943"/>
            </a:xfrm>
            <a:prstGeom prst="wedgeRectCallout">
              <a:avLst>
                <a:gd name="adj1" fmla="val -90896"/>
                <a:gd name="adj2" fmla="val -2983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500</a:t>
              </a:r>
              <a:r>
                <a:rPr kumimoji="1" lang="en-US" altLang="ko-KR" sz="800" dirty="0"/>
                <a:t>’</a:t>
              </a:r>
              <a:r>
                <a:rPr kumimoji="1" lang="ko-KR" altLang="en-US" sz="800" dirty="0"/>
                <a:t>전</a:t>
              </a:r>
              <a:endParaRPr kumimoji="1" lang="en-US" altLang="ko-KR" sz="800" dirty="0"/>
            </a:p>
            <a:p>
              <a:r>
                <a:rPr kumimoji="1" lang="en-US" altLang="ko-Kore-KR" sz="800" dirty="0"/>
                <a:t> A/P Off  </a:t>
              </a:r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FD Off - </a:t>
              </a:r>
              <a:r>
                <a:rPr kumimoji="1" lang="ko-KR" altLang="en-US" sz="800" dirty="0"/>
                <a:t> </a:t>
              </a:r>
              <a:endParaRPr kumimoji="1" lang="en-US" altLang="ko-KR" sz="800" dirty="0"/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On</a:t>
              </a:r>
            </a:p>
          </p:txBody>
        </p:sp>
        <p:cxnSp>
          <p:nvCxnSpPr>
            <p:cNvPr id="13" name="구부러진 연결선[U] 12">
              <a:extLst>
                <a:ext uri="{FF2B5EF4-FFF2-40B4-BE49-F238E27FC236}">
                  <a16:creationId xmlns:a16="http://schemas.microsoft.com/office/drawing/2014/main" id="{3FA0277A-46F3-9B10-43A1-F9FC3A7CADA4}"/>
                </a:ext>
              </a:extLst>
            </p:cNvPr>
            <p:cNvCxnSpPr>
              <a:cxnSpLocks/>
            </p:cNvCxnSpPr>
            <p:nvPr/>
          </p:nvCxnSpPr>
          <p:spPr>
            <a:xfrm>
              <a:off x="1603294" y="3938785"/>
              <a:ext cx="324227" cy="49428"/>
            </a:xfrm>
            <a:prstGeom prst="curvedConnector3">
              <a:avLst>
                <a:gd name="adj1" fmla="val 44506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4BD0B5CA-87B6-4833-6589-576CFFE0A29B}"/>
              </a:ext>
            </a:extLst>
          </p:cNvPr>
          <p:cNvSpPr txBox="1"/>
          <p:nvPr/>
        </p:nvSpPr>
        <p:spPr>
          <a:xfrm>
            <a:off x="515207" y="5165987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389871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65" name="Google Shape;365;p26"/>
          <p:cNvGraphicFramePr/>
          <p:nvPr/>
        </p:nvGraphicFramePr>
        <p:xfrm>
          <a:off x="388143" y="11369"/>
          <a:ext cx="1552575" cy="51932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1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7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7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45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GS KTS</a:t>
                      </a:r>
                      <a:endParaRPr sz="800"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KM</a:t>
                      </a:r>
                      <a:endParaRPr sz="800"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MILES</a:t>
                      </a:r>
                      <a:endParaRPr sz="800"/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350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740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700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1300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B02B414-F437-EC29-A025-C000B0E23D64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42348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그물">
  <a:themeElements>
    <a:clrScheme name="그물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그물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그물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Mesh</Template>
  <TotalTime>45400</TotalTime>
  <Words>32322</Words>
  <Application>Microsoft Macintosh PowerPoint</Application>
  <PresentationFormat>사용자 지정</PresentationFormat>
  <Paragraphs>8711</Paragraphs>
  <Slides>157</Slides>
  <Notes>155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157</vt:i4>
      </vt:variant>
    </vt:vector>
  </HeadingPairs>
  <TitlesOfParts>
    <vt:vector size="167" baseType="lpstr">
      <vt:lpstr>Calibri</vt:lpstr>
      <vt:lpstr>Cambria Math</vt:lpstr>
      <vt:lpstr>Britannic Bold</vt:lpstr>
      <vt:lpstr>Wingdings</vt:lpstr>
      <vt:lpstr>Gulim</vt:lpstr>
      <vt:lpstr>Helvetica Neue</vt:lpstr>
      <vt:lpstr>Lato</vt:lpstr>
      <vt:lpstr>Arial</vt:lpstr>
      <vt:lpstr>Century Gothic</vt:lpstr>
      <vt:lpstr>그물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cho deukhyeon</dc:creator>
  <cp:lastModifiedBy>deukhyeon cho</cp:lastModifiedBy>
  <cp:revision>364</cp:revision>
  <dcterms:created xsi:type="dcterms:W3CDTF">2022-05-17T08:00:10Z</dcterms:created>
  <dcterms:modified xsi:type="dcterms:W3CDTF">2024-12-18T05:22:53Z</dcterms:modified>
</cp:coreProperties>
</file>