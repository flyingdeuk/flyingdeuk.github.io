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122"/>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467" r:id="rId14"/>
    <p:sldId id="468" r:id="rId15"/>
    <p:sldId id="257" r:id="rId16"/>
    <p:sldId id="258" r:id="rId17"/>
    <p:sldId id="259" r:id="rId18"/>
    <p:sldId id="260" r:id="rId19"/>
    <p:sldId id="267" r:id="rId20"/>
    <p:sldId id="268" r:id="rId21"/>
    <p:sldId id="355" r:id="rId22"/>
    <p:sldId id="356" r:id="rId23"/>
    <p:sldId id="440" r:id="rId24"/>
    <p:sldId id="455" r:id="rId25"/>
    <p:sldId id="441" r:id="rId26"/>
    <p:sldId id="273" r:id="rId27"/>
    <p:sldId id="274" r:id="rId28"/>
    <p:sldId id="275" r:id="rId29"/>
    <p:sldId id="276" r:id="rId30"/>
    <p:sldId id="279" r:id="rId31"/>
    <p:sldId id="456" r:id="rId32"/>
    <p:sldId id="280" r:id="rId33"/>
    <p:sldId id="340" r:id="rId34"/>
    <p:sldId id="341" r:id="rId35"/>
    <p:sldId id="295" r:id="rId36"/>
    <p:sldId id="296" r:id="rId37"/>
    <p:sldId id="277" r:id="rId38"/>
    <p:sldId id="278" r:id="rId39"/>
    <p:sldId id="377" r:id="rId40"/>
    <p:sldId id="379" r:id="rId41"/>
    <p:sldId id="308" r:id="rId42"/>
    <p:sldId id="451" r:id="rId43"/>
    <p:sldId id="309" r:id="rId44"/>
    <p:sldId id="457" r:id="rId45"/>
    <p:sldId id="458" r:id="rId46"/>
    <p:sldId id="459" r:id="rId47"/>
    <p:sldId id="463" r:id="rId48"/>
    <p:sldId id="464" r:id="rId49"/>
    <p:sldId id="465" r:id="rId50"/>
    <p:sldId id="342" r:id="rId51"/>
    <p:sldId id="466" r:id="rId52"/>
    <p:sldId id="344" r:id="rId53"/>
    <p:sldId id="386" r:id="rId54"/>
    <p:sldId id="475" r:id="rId55"/>
    <p:sldId id="388" r:id="rId56"/>
    <p:sldId id="483" r:id="rId57"/>
    <p:sldId id="484" r:id="rId58"/>
    <p:sldId id="485" r:id="rId59"/>
    <p:sldId id="486" r:id="rId60"/>
    <p:sldId id="487" r:id="rId61"/>
    <p:sldId id="488" r:id="rId62"/>
    <p:sldId id="389" r:id="rId63"/>
    <p:sldId id="390" r:id="rId64"/>
    <p:sldId id="442" r:id="rId65"/>
    <p:sldId id="443" r:id="rId66"/>
    <p:sldId id="447" r:id="rId67"/>
    <p:sldId id="448" r:id="rId68"/>
    <p:sldId id="449" r:id="rId69"/>
    <p:sldId id="479" r:id="rId70"/>
    <p:sldId id="450" r:id="rId71"/>
    <p:sldId id="452" r:id="rId72"/>
    <p:sldId id="453" r:id="rId73"/>
    <p:sldId id="460" r:id="rId74"/>
    <p:sldId id="462" r:id="rId75"/>
    <p:sldId id="461" r:id="rId76"/>
    <p:sldId id="476" r:id="rId77"/>
    <p:sldId id="478" r:id="rId78"/>
    <p:sldId id="359" r:id="rId79"/>
    <p:sldId id="360" r:id="rId80"/>
    <p:sldId id="374" r:id="rId81"/>
    <p:sldId id="375" r:id="rId82"/>
    <p:sldId id="480" r:id="rId83"/>
    <p:sldId id="482" r:id="rId84"/>
    <p:sldId id="481" r:id="rId85"/>
    <p:sldId id="489" r:id="rId86"/>
    <p:sldId id="490" r:id="rId87"/>
    <p:sldId id="436" r:id="rId88"/>
    <p:sldId id="376" r:id="rId89"/>
    <p:sldId id="434" r:id="rId90"/>
    <p:sldId id="437" r:id="rId91"/>
    <p:sldId id="439" r:id="rId92"/>
    <p:sldId id="438" r:id="rId93"/>
    <p:sldId id="444" r:id="rId94"/>
    <p:sldId id="445" r:id="rId95"/>
    <p:sldId id="446" r:id="rId96"/>
    <p:sldId id="469" r:id="rId97"/>
    <p:sldId id="470" r:id="rId98"/>
    <p:sldId id="471" r:id="rId99"/>
    <p:sldId id="472" r:id="rId100"/>
    <p:sldId id="473" r:id="rId101"/>
    <p:sldId id="474" r:id="rId102"/>
    <p:sldId id="422" r:id="rId103"/>
    <p:sldId id="385" r:id="rId104"/>
    <p:sldId id="365" r:id="rId105"/>
    <p:sldId id="366" r:id="rId106"/>
    <p:sldId id="423" r:id="rId107"/>
    <p:sldId id="384" r:id="rId108"/>
    <p:sldId id="283" r:id="rId109"/>
    <p:sldId id="286" r:id="rId110"/>
    <p:sldId id="428" r:id="rId111"/>
    <p:sldId id="288" r:id="rId112"/>
    <p:sldId id="289" r:id="rId113"/>
    <p:sldId id="290" r:id="rId114"/>
    <p:sldId id="424" r:id="rId115"/>
    <p:sldId id="302" r:id="rId116"/>
    <p:sldId id="303" r:id="rId117"/>
    <p:sldId id="426" r:id="rId118"/>
    <p:sldId id="427" r:id="rId119"/>
    <p:sldId id="430" r:id="rId120"/>
    <p:sldId id="281" r:id="rId121"/>
  </p:sldIdLst>
  <p:sldSz cx="2328863" cy="5572125"/>
  <p:notesSz cx="6858000" cy="9144000"/>
  <p:embeddedFontLst>
    <p:embeddedFont>
      <p:font typeface="맑은 고딕" panose="020B0503020000020004" pitchFamily="34" charset="-127"/>
      <p:regular r:id="rId123"/>
      <p:bold r:id="rId124"/>
    </p:embeddedFont>
    <p:embeddedFont>
      <p:font typeface="Cambria Math" panose="02040503050406030204" pitchFamily="18" charset="0"/>
      <p:regular r:id="rId125"/>
    </p:embeddedFont>
    <p:embeddedFont>
      <p:font typeface="Century Gothic" panose="020B0502020202020204" pitchFamily="34" charset="0"/>
      <p:regular r:id="rId126"/>
      <p:bold r:id="rId127"/>
      <p:italic r:id="rId128"/>
      <p:boldItalic r:id="rId129"/>
    </p:embeddedFont>
    <p:embeddedFont>
      <p:font typeface="Helvetica Neue" panose="02000503000000020004" pitchFamily="2" charset="0"/>
      <p:regular r:id="rId130"/>
      <p:bold r:id="rId131"/>
      <p:italic r:id="rId132"/>
      <p:boldItalic r:id="rId133"/>
    </p:embeddedFont>
    <p:embeddedFont>
      <p:font typeface="Lato" panose="020F0502020204030203" pitchFamily="34" charset="0"/>
      <p:regular r:id="rId134"/>
      <p:bold r:id="rId135"/>
      <p:italic r:id="rId136"/>
      <p:boldItalic r:id="rId137"/>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6583"/>
    <p:restoredTop sz="96966"/>
  </p:normalViewPr>
  <p:slideViewPr>
    <p:cSldViewPr snapToGrid="0" showGuides="1">
      <p:cViewPr>
        <p:scale>
          <a:sx n="268" d="100"/>
          <a:sy n="268" d="100"/>
        </p:scale>
        <p:origin x="1696" y="208"/>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font" Target="fonts/font1.fntdata"/><Relationship Id="rId128" Type="http://schemas.openxmlformats.org/officeDocument/2006/relationships/font" Target="fonts/font6.fntdata"/><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font" Target="fonts/font12.fntdata"/><Relationship Id="rId80" Type="http://schemas.openxmlformats.org/officeDocument/2006/relationships/slide" Target="slides/slide79.xml"/><Relationship Id="rId85" Type="http://schemas.openxmlformats.org/officeDocument/2006/relationships/slide" Target="slides/slide84.xml"/><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font" Target="fonts/font2.fntdata"/><Relationship Id="rId129" Type="http://schemas.openxmlformats.org/officeDocument/2006/relationships/font" Target="fonts/font7.fntdata"/><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font" Target="fonts/font8.fntdata"/><Relationship Id="rId135" Type="http://schemas.openxmlformats.org/officeDocument/2006/relationships/font" Target="fonts/font13.fntdata"/><Relationship Id="rId177"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font" Target="fonts/font3.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font" Target="fonts/font9.fntdata"/><Relationship Id="rId136" Type="http://schemas.openxmlformats.org/officeDocument/2006/relationships/font" Target="fonts/font14.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font" Target="fonts/font4.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font" Target="fonts/font15.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font" Target="fonts/font10.fntdata"/><Relationship Id="rId174" Type="http://customschemas.google.com/relationships/presentationmetadata" Target="meta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font" Target="fonts/font5.fntdata"/><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font" Target="fonts/font11.fntdata"/><Relationship Id="rId175" Type="http://schemas.openxmlformats.org/officeDocument/2006/relationships/presProps" Target="presProps.xml"/><Relationship Id="rId16"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26775FA1-1320-E035-38FA-8371813223DC}"/>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F676C17A-2843-0C49-F801-6E0A0E1A5D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897BC005-844D-3873-D24C-5DDE07B38D1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48795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C7713DDB-27B1-04F2-6E21-AD5C79BC6C19}"/>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4622DEBC-D4AF-9D8A-C262-D83DE8C785C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62D33C27-83CF-115D-4709-C82E5012E57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19632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CAD9C56-A927-F97B-00A1-D558E0F2D59B}"/>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0C2FFFB8-52C6-11DB-B143-A30E9E3A2CC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5A09A23E-C4E3-E9D5-08A0-06D2848B1C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21922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240847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25595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5221A22E-A846-0CD0-7ACE-17F2FF46E1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E43679A-CC0C-F7CC-59F5-F05F5D2088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6297C63-2E00-9D2E-5F71-5500D537937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68514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392FE5BC-8962-F657-11B1-5DD2D6EFCF4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0493363A-0373-2A42-9D72-B3DD81232AE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103A678A-D99C-9D39-AFE4-54581F701F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6587797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67D4974-F13A-099F-BD03-E02C1785CE9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217BFC9-402A-6001-C345-C99D57A552C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60800C15-6134-8514-936C-95AD6F0976E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0680780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6704C9-DB15-B2DD-8763-E73F06ECAF91}"/>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7B7C85-C808-6110-5AB8-E18346C1DAC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BDF4A0D8-92B2-DDAE-5221-A24508136D0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653533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390841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50548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22743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982605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1FF93BF-508E-CF4F-5AC7-31AD1900C591}"/>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D02F6920-F028-A8AA-7695-A4ACD3B7E21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FDC43B7B-4A30-8C0E-1A19-EC744F1D528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5560161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E75664AE-AD5F-BE4A-CC07-E504D150751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6A6417D-B2BB-90C9-1C10-1DD6227DC75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305CC4E3-0F65-A4A4-587E-79FB8ED5F47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616157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0AB9BBD-47B2-C548-F51D-4243F985FFA2}"/>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9A27EE0-30EF-6FF2-9960-E674EEDE056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7575E27F-48A6-8255-53E9-44DF6F7F03C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443410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E1A6927A-89ED-B2E5-8B9E-96A15CF8C98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782C6369-4A45-CC4F-5E6A-89E8F30385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4613D65-A925-7DBC-7E52-11FCEC235E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561708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28F7987-A104-9E95-1CB2-2FC94F37957E}"/>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AAEF965-15C5-5E43-2BF7-C70C3FC20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344228A9-D99D-1E6B-4DEA-ADDD68814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571991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F4CA0078-9F91-0E18-6676-B6152F72572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E26590E-B883-CC87-7471-1F5C736A70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006F02B3-F144-B62E-BEEF-B753EEED1FA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2103669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CDC468B5-5BC6-CDB6-FBD0-69FDB6D18C55}"/>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DA42E90B-1992-058D-35CD-78EF1C38C59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D88B8-12C0-B903-D2F7-757AC147A90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5753108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73ADF9E0-8A03-79AB-3AED-DC7CE29C9512}"/>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C3E7A42-08D2-1B41-7D49-BF7F4807DBD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ED49BFC-BEB8-4553-5085-5908EA33976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4994276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4335809"/>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5349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3925406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1253552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D4D4FBC-D175-DEDD-EF94-25F749F8E46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A40AE2BB-00EC-1BCC-FA83-AF2888DFE7C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1D6F032D-B7D9-9A22-D3A5-8890A41ECE0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351567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466C6E54-8713-771C-6D7C-E093CE43711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75E8BF7-74DD-8A48-71B9-94FAF1C56EC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DFC59E8-B103-4E2C-3E45-50972C62BB5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7263488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3A05C23-C04D-095A-7BD0-7F686EF6DB5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6CF72FC-CD0E-9D4F-8070-48FF2B948D6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FE1C4BF-6721-F604-6FFC-51CDE1415C2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322876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D6D2006-D2CB-6D12-D3FC-17526D5D5584}"/>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40846F7-1786-72D3-7E3A-6256A60E957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6C590D3-F071-6353-539D-773F927160F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488213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85F4C01-B0AF-7285-3799-8E155A51CD2B}"/>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04541C7C-6017-A663-E8D1-2A06EE03F34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9C474937-B94E-6434-6DC3-A64FB92F97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72295139"/>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19656100-CCF3-B540-8D98-DE6C3FA10D9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AFCE595-4D98-F31A-D878-8B8451A798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7DA8CE28-2E52-3632-54DD-A8D72B0C32B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516424"/>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7C1CA010-E5B5-E314-C6A2-5C6C7B7D1268}"/>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6BD57082-3CFA-9D0E-F304-D046497FEE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841C43C7-EFFA-43C4-EE37-75C4DD77EE4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15078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0E6D7B58-AC25-EA0D-7540-0E7EEE65F57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B30B6C6-087C-B850-831D-9C9B02E84DF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BB6E4EC-9EA8-08C8-7615-E1A65F0A55C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80132300"/>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102</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120</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13.xml"/><Relationship Id="rId13" Type="http://schemas.openxmlformats.org/officeDocument/2006/relationships/slide" Target="slide104.xml"/><Relationship Id="rId18" Type="http://schemas.openxmlformats.org/officeDocument/2006/relationships/slide" Target="slide117.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103.xml"/><Relationship Id="rId17" Type="http://schemas.openxmlformats.org/officeDocument/2006/relationships/slide" Target="slide113.xml"/><Relationship Id="rId2" Type="http://schemas.openxmlformats.org/officeDocument/2006/relationships/notesSlide" Target="../notesSlides/notesSlide1.xml"/><Relationship Id="rId16" Type="http://schemas.openxmlformats.org/officeDocument/2006/relationships/slide" Target="slide111.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102.xml"/><Relationship Id="rId5" Type="http://schemas.openxmlformats.org/officeDocument/2006/relationships/slide" Target="slide7.xml"/><Relationship Id="rId15" Type="http://schemas.openxmlformats.org/officeDocument/2006/relationships/slide" Target="slide109.xml"/><Relationship Id="rId10" Type="http://schemas.openxmlformats.org/officeDocument/2006/relationships/hyperlink" Target="https://flyingdeuk.github.io/posts/A330-kneeboard/" TargetMode="External"/><Relationship Id="rId19" Type="http://schemas.openxmlformats.org/officeDocument/2006/relationships/slide" Target="slide118.xml"/><Relationship Id="rId4" Type="http://schemas.openxmlformats.org/officeDocument/2006/relationships/slide" Target="slide5.xml"/><Relationship Id="rId9" Type="http://schemas.openxmlformats.org/officeDocument/2006/relationships/hyperlink" Target="https://flyingdeuk.github.io/posts/B737-kneeboard/" TargetMode="External"/><Relationship Id="rId14" Type="http://schemas.openxmlformats.org/officeDocument/2006/relationships/slide" Target="slide107.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12"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11" Type="http://schemas.openxmlformats.org/officeDocument/2006/relationships/image" Target="../media/image2.png"/><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8" Type="http://schemas.openxmlformats.org/officeDocument/2006/relationships/slide" Target="slide29.xml"/><Relationship Id="rId13" Type="http://schemas.openxmlformats.org/officeDocument/2006/relationships/slide" Target="slide35.xml"/><Relationship Id="rId18" Type="http://schemas.openxmlformats.org/officeDocument/2006/relationships/image" Target="../media/image3.svg"/><Relationship Id="rId3" Type="http://schemas.openxmlformats.org/officeDocument/2006/relationships/slide" Target="slide23.xml"/><Relationship Id="rId7" Type="http://schemas.openxmlformats.org/officeDocument/2006/relationships/slide" Target="slide28.xml"/><Relationship Id="rId12" Type="http://schemas.openxmlformats.org/officeDocument/2006/relationships/slide" Target="slide34.xml"/><Relationship Id="rId17" Type="http://schemas.openxmlformats.org/officeDocument/2006/relationships/image" Target="../media/image2.png"/><Relationship Id="rId2" Type="http://schemas.openxmlformats.org/officeDocument/2006/relationships/notesSlide" Target="../notesSlides/notesSlide5.xml"/><Relationship Id="rId16" Type="http://schemas.openxmlformats.org/officeDocument/2006/relationships/slide" Target="slide38.xml"/><Relationship Id="rId1" Type="http://schemas.openxmlformats.org/officeDocument/2006/relationships/slideLayout" Target="../slideLayouts/slideLayout1.xml"/><Relationship Id="rId6" Type="http://schemas.openxmlformats.org/officeDocument/2006/relationships/slide" Target="slide27.xml"/><Relationship Id="rId11" Type="http://schemas.openxmlformats.org/officeDocument/2006/relationships/slide" Target="slide33.xml"/><Relationship Id="rId5" Type="http://schemas.openxmlformats.org/officeDocument/2006/relationships/slide" Target="slide26.xml"/><Relationship Id="rId15" Type="http://schemas.openxmlformats.org/officeDocument/2006/relationships/slide" Target="slide37.xml"/><Relationship Id="rId10" Type="http://schemas.openxmlformats.org/officeDocument/2006/relationships/slide" Target="slide32.xml"/><Relationship Id="rId4" Type="http://schemas.openxmlformats.org/officeDocument/2006/relationships/slide" Target="slide25.xml"/><Relationship Id="rId9" Type="http://schemas.openxmlformats.org/officeDocument/2006/relationships/slide" Target="slide30.xml"/><Relationship Id="rId14" Type="http://schemas.openxmlformats.org/officeDocument/2006/relationships/slide" Target="slide36.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7.xml.rels><?xml version="1.0" encoding="UTF-8" standalone="yes"?>
<Relationships xmlns="http://schemas.openxmlformats.org/package/2006/relationships"><Relationship Id="rId8" Type="http://schemas.openxmlformats.org/officeDocument/2006/relationships/slide" Target="slide46.xml"/><Relationship Id="rId13" Type="http://schemas.openxmlformats.org/officeDocument/2006/relationships/slide" Target="slide53.xml"/><Relationship Id="rId18" Type="http://schemas.openxmlformats.org/officeDocument/2006/relationships/slide" Target="slide61.xml"/><Relationship Id="rId3" Type="http://schemas.openxmlformats.org/officeDocument/2006/relationships/slide" Target="slide39.xml"/><Relationship Id="rId7" Type="http://schemas.openxmlformats.org/officeDocument/2006/relationships/slide" Target="slide44.xml"/><Relationship Id="rId12" Type="http://schemas.openxmlformats.org/officeDocument/2006/relationships/slide" Target="slide52.xml"/><Relationship Id="rId17" Type="http://schemas.openxmlformats.org/officeDocument/2006/relationships/slide" Target="slide59.xml"/><Relationship Id="rId2" Type="http://schemas.openxmlformats.org/officeDocument/2006/relationships/notesSlide" Target="../notesSlides/notesSlide7.xml"/><Relationship Id="rId16" Type="http://schemas.openxmlformats.org/officeDocument/2006/relationships/slide" Target="slide58.xml"/><Relationship Id="rId20"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43.xml"/><Relationship Id="rId11" Type="http://schemas.openxmlformats.org/officeDocument/2006/relationships/slide" Target="slide50.xml"/><Relationship Id="rId5" Type="http://schemas.openxmlformats.org/officeDocument/2006/relationships/slide" Target="slide41.xml"/><Relationship Id="rId15" Type="http://schemas.openxmlformats.org/officeDocument/2006/relationships/slide" Target="slide56.xml"/><Relationship Id="rId10" Type="http://schemas.openxmlformats.org/officeDocument/2006/relationships/slide" Target="slide49.xml"/><Relationship Id="rId19" Type="http://schemas.openxmlformats.org/officeDocument/2006/relationships/image" Target="../media/image2.png"/><Relationship Id="rId4" Type="http://schemas.openxmlformats.org/officeDocument/2006/relationships/slide" Target="slide40.xml"/><Relationship Id="rId9" Type="http://schemas.openxmlformats.org/officeDocument/2006/relationships/slide" Target="slide47.xml"/><Relationship Id="rId14" Type="http://schemas.openxmlformats.org/officeDocument/2006/relationships/slide" Target="slide55.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8" Type="http://schemas.openxmlformats.org/officeDocument/2006/relationships/slide" Target="slide67.xml"/><Relationship Id="rId13" Type="http://schemas.openxmlformats.org/officeDocument/2006/relationships/slide" Target="slide73.xml"/><Relationship Id="rId18" Type="http://schemas.openxmlformats.org/officeDocument/2006/relationships/slide" Target="slide79.xml"/><Relationship Id="rId26" Type="http://schemas.openxmlformats.org/officeDocument/2006/relationships/image" Target="../media/image3.svg"/><Relationship Id="rId3" Type="http://schemas.openxmlformats.org/officeDocument/2006/relationships/slide" Target="slide62.xml"/><Relationship Id="rId21" Type="http://schemas.openxmlformats.org/officeDocument/2006/relationships/slide" Target="slide82.xml"/><Relationship Id="rId7" Type="http://schemas.openxmlformats.org/officeDocument/2006/relationships/slide" Target="slide66.xml"/><Relationship Id="rId12" Type="http://schemas.openxmlformats.org/officeDocument/2006/relationships/slide" Target="slide72.xml"/><Relationship Id="rId17" Type="http://schemas.openxmlformats.org/officeDocument/2006/relationships/slide" Target="slide78.xml"/><Relationship Id="rId25" Type="http://schemas.openxmlformats.org/officeDocument/2006/relationships/image" Target="../media/image2.png"/><Relationship Id="rId2" Type="http://schemas.openxmlformats.org/officeDocument/2006/relationships/notesSlide" Target="../notesSlides/notesSlide9.xml"/><Relationship Id="rId16" Type="http://schemas.openxmlformats.org/officeDocument/2006/relationships/slide" Target="slide77.xml"/><Relationship Id="rId20" Type="http://schemas.openxmlformats.org/officeDocument/2006/relationships/slide" Target="slide81.xml"/><Relationship Id="rId1" Type="http://schemas.openxmlformats.org/officeDocument/2006/relationships/slideLayout" Target="../slideLayouts/slideLayout1.xml"/><Relationship Id="rId6" Type="http://schemas.openxmlformats.org/officeDocument/2006/relationships/slide" Target="slide65.xml"/><Relationship Id="rId11" Type="http://schemas.openxmlformats.org/officeDocument/2006/relationships/slide" Target="slide71.xml"/><Relationship Id="rId24" Type="http://schemas.openxmlformats.org/officeDocument/2006/relationships/slide" Target="slide86.xml"/><Relationship Id="rId5" Type="http://schemas.openxmlformats.org/officeDocument/2006/relationships/slide" Target="slide64.xml"/><Relationship Id="rId15" Type="http://schemas.openxmlformats.org/officeDocument/2006/relationships/slide" Target="slide76.xml"/><Relationship Id="rId23" Type="http://schemas.openxmlformats.org/officeDocument/2006/relationships/slide" Target="slide85.xml"/><Relationship Id="rId10" Type="http://schemas.openxmlformats.org/officeDocument/2006/relationships/slide" Target="slide70.xml"/><Relationship Id="rId19" Type="http://schemas.openxmlformats.org/officeDocument/2006/relationships/slide" Target="slide80.xml"/><Relationship Id="rId4" Type="http://schemas.openxmlformats.org/officeDocument/2006/relationships/slide" Target="slide63.xml"/><Relationship Id="rId9" Type="http://schemas.openxmlformats.org/officeDocument/2006/relationships/slide" Target="slide68.xml"/><Relationship Id="rId14" Type="http://schemas.openxmlformats.org/officeDocument/2006/relationships/slide" Target="slide75.xml"/><Relationship Id="rId22" Type="http://schemas.openxmlformats.org/officeDocument/2006/relationships/slide" Target="slide84.xml"/></Relationships>
</file>

<file path=ppt/slides/_rels/slide10.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8" Type="http://schemas.openxmlformats.org/officeDocument/2006/relationships/slide" Target="slide95.xml"/><Relationship Id="rId3" Type="http://schemas.openxmlformats.org/officeDocument/2006/relationships/slide" Target="slide87.xml"/><Relationship Id="rId7" Type="http://schemas.openxmlformats.org/officeDocument/2006/relationships/slide" Target="slide93.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92.xml"/><Relationship Id="rId5" Type="http://schemas.openxmlformats.org/officeDocument/2006/relationships/slide" Target="slide90.xml"/><Relationship Id="rId10" Type="http://schemas.openxmlformats.org/officeDocument/2006/relationships/image" Target="../media/image3.svg"/><Relationship Id="rId4" Type="http://schemas.openxmlformats.org/officeDocument/2006/relationships/slide" Target="slide89.xml"/><Relationship Id="rId9"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96.xml"/><Relationship Id="rId7"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slide" Target="slide101.xml"/><Relationship Id="rId5" Type="http://schemas.openxmlformats.org/officeDocument/2006/relationships/slide" Target="slide99.xml"/><Relationship Id="rId4" Type="http://schemas.openxmlformats.org/officeDocument/2006/relationships/slide" Target="slide98.xml"/></Relationships>
</file>

<file path=ppt/slides/_rels/slide14.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image" Target="../media/image4.png"/><Relationship Id="rId4" Type="http://schemas.openxmlformats.org/officeDocument/2006/relationships/hyperlink" Target="https://flyingdeuk.github.io/posts/RKPC-CJU/" TargetMode="External"/><Relationship Id="rId9" Type="http://schemas.openxmlformats.org/officeDocument/2006/relationships/image" Target="../media/image3.svg"/></Relationships>
</file>

<file path=ppt/slides/_rels/slide1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5.jpg"/><Relationship Id="rId7"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10" Type="http://schemas.openxmlformats.org/officeDocument/2006/relationships/image" Target="../media/image3.svg"/><Relationship Id="rId4" Type="http://schemas.openxmlformats.org/officeDocument/2006/relationships/slide" Target="slide115.xml"/><Relationship Id="rId9" Type="http://schemas.openxmlformats.org/officeDocument/2006/relationships/image" Target="../media/image2.png"/></Relationships>
</file>

<file path=ppt/slides/_rels/slide18.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8.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9.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115.xml"/><Relationship Id="rId5" Type="http://schemas.openxmlformats.org/officeDocument/2006/relationships/image" Target="../media/image9.jpg"/><Relationship Id="rId4" Type="http://schemas.openxmlformats.org/officeDocument/2006/relationships/hyperlink" Target="https://flyingdeuk.github.io/posts/RKPK-PUS/" TargetMode="External"/><Relationship Id="rId9" Type="http://schemas.openxmlformats.org/officeDocument/2006/relationships/image" Target="../media/image3.svg"/></Relationships>
</file>

<file path=ppt/slides/_rels/slide2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0.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115.xml"/><Relationship Id="rId7"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slide" Target="slide6.xml"/><Relationship Id="rId4" Type="http://schemas.openxmlformats.org/officeDocument/2006/relationships/hyperlink" Target="https://flyingdeuk.github.io/posts/RJTT-HND/" TargetMode="External"/><Relationship Id="rId9" Type="http://schemas.openxmlformats.org/officeDocument/2006/relationships/image" Target="../media/image3.sv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TT-HND/" TargetMode="External"/><Relationship Id="rId7"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slide" Target="slide3.xml"/><Relationship Id="rId4" Type="http://schemas.openxmlformats.org/officeDocument/2006/relationships/hyperlink" Target="https://flyingdeuk.github.io/posts/RKSS-GMP/" TargetMode="External"/><Relationship Id="rId9" Type="http://schemas.openxmlformats.org/officeDocument/2006/relationships/image" Target="../media/image13.jpeg"/></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7" Type="http://schemas.openxmlformats.org/officeDocument/2006/relationships/image" Target="../media/image3.sv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8" Type="http://schemas.openxmlformats.org/officeDocument/2006/relationships/image" Target="../media/image13.jpeg"/><Relationship Id="rId3" Type="http://schemas.openxmlformats.org/officeDocument/2006/relationships/hyperlink" Target="https://flyingdeuk.github.io/posts/RJTT-HND/" TargetMode="External"/><Relationship Id="rId7" Type="http://schemas.openxmlformats.org/officeDocument/2006/relationships/image" Target="../media/image3.sv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FF-FUK/" TargetMode="External"/></Relationships>
</file>

<file path=ppt/slides/_rels/slide3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FF-FUK/" TargetMode="External"/><Relationship Id="rId7"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GG-NGO/"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JGG-NGO/" TargetMode="External"/><Relationship Id="rId7" Type="http://schemas.openxmlformats.org/officeDocument/2006/relationships/image" Target="../media/image3.sv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CC-CTS/"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JCC-CTS/" TargetMode="External"/><Relationship Id="rId7" Type="http://schemas.openxmlformats.org/officeDocument/2006/relationships/image" Target="../media/image3.sv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VHHH-HKG/" TargetMode="External"/></Relationships>
</file>

<file path=ppt/slides/_rels/slide4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HHH-HKG/" TargetMode="External"/><Relationship Id="rId7"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AA-PEK/"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BAA-PEK/" TargetMode="External"/><Relationship Id="rId7"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6.jpeg"/><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HHH-WUH/"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ZHHH-WUH/" TargetMode="External"/><Relationship Id="rId7" Type="http://schemas.openxmlformats.org/officeDocument/2006/relationships/image" Target="../media/image3.sv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GG-CAN/"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GGG-CAN/" TargetMode="External"/><Relationship Id="rId7"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LXY-XIY/"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ZLXY-XIY/" TargetMode="External"/><Relationship Id="rId7" Type="http://schemas.openxmlformats.org/officeDocument/2006/relationships/image" Target="../media/image3.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TJ-TS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ZBTJ-TSN/" TargetMode="External"/><Relationship Id="rId7" Type="http://schemas.openxmlformats.org/officeDocument/2006/relationships/image" Target="../media/image3.sv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SQD-TAO/"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hyperlink" Target="https://flyingdeuk.github.io/posts/ZSQD-TAO/" TargetMode="External"/><Relationship Id="rId7" Type="http://schemas.openxmlformats.org/officeDocument/2006/relationships/image" Target="../media/image3.sv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SZ-SZX/"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8" Type="http://schemas.openxmlformats.org/officeDocument/2006/relationships/image" Target="../media/image18.jpeg"/><Relationship Id="rId3" Type="http://schemas.openxmlformats.org/officeDocument/2006/relationships/hyperlink" Target="https://flyingdeuk.github.io/posts/ZGSZ-SZX/" TargetMode="External"/><Relationship Id="rId7" Type="http://schemas.openxmlformats.org/officeDocument/2006/relationships/image" Target="../media/image3.sv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6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BS-BKK/" TargetMode="External"/><Relationship Id="rId7"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slide" Target="slide115.xml"/><Relationship Id="rId5" Type="http://schemas.openxmlformats.org/officeDocument/2006/relationships/slide" Target="slide3.xml"/><Relationship Id="rId4" Type="http://schemas.openxmlformats.org/officeDocument/2006/relationships/hyperlink" Target="https://flyingdeuk.github.io/posts/RKPK-PUS/" TargetMode="External"/></Relationships>
</file>

<file path=ppt/slides/_rels/slide6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65.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image" Target="../media/image3.sv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SSS-SIN/" TargetMode="External"/></Relationships>
</file>

<file path=ppt/slides/_rels/slide67.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7" Type="http://schemas.openxmlformats.org/officeDocument/2006/relationships/image" Target="../media/image3.sv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DN-DAD/" TargetMode="External"/><Relationship Id="rId7"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TS-SGN/" TargetMode="External"/></Relationships>
</file>

<file path=ppt/slides/_rels/slide72.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7" Type="http://schemas.openxmlformats.org/officeDocument/2006/relationships/image" Target="../media/image3.svg"/><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CC-CNX/"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CC-CNX/" TargetMode="External"/><Relationship Id="rId7" Type="http://schemas.openxmlformats.org/officeDocument/2006/relationships/image" Target="../media/image2.pn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image" Target="../media/image20.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ADD-DPS/" TargetMode="External"/></Relationships>
</file>

<file path=ppt/slides/_rels/slide77.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hyperlink" Target="https://flyingdeuk.github.io/posts/WADD-DPS/" TargetMode="External"/><Relationship Id="rId7" Type="http://schemas.openxmlformats.org/officeDocument/2006/relationships/image" Target="../media/image3.svg"/><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DTI-KTI/" TargetMode="External"/></Relationships>
</file>

<file path=ppt/slides/_rels/slide79.xml.rels><?xml version="1.0" encoding="UTF-8" standalone="yes"?>
<Relationships xmlns="http://schemas.openxmlformats.org/package/2006/relationships"><Relationship Id="rId3" Type="http://schemas.openxmlformats.org/officeDocument/2006/relationships/hyperlink" Target="https://flyingdeuk.github.io/posts/VDTI-KTI/" TargetMode="External"/><Relationship Id="rId7" Type="http://schemas.openxmlformats.org/officeDocument/2006/relationships/image" Target="../media/image3.svg"/><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0.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RCTP-TPE/" TargetMode="External"/></Relationships>
</file>

<file path=ppt/slides/_rels/slide81.xml.rels><?xml version="1.0" encoding="UTF-8" standalone="yes"?>
<Relationships xmlns="http://schemas.openxmlformats.org/package/2006/relationships"><Relationship Id="rId3" Type="http://schemas.openxmlformats.org/officeDocument/2006/relationships/hyperlink" Target="https://flyingdeuk.github.io/posts/RCTP-TPE/" TargetMode="External"/><Relationship Id="rId7" Type="http://schemas.openxmlformats.org/officeDocument/2006/relationships/image" Target="../media/image3.svg"/><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YYY-RGN/"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hyperlink" Target="https://flyingdeuk.github.io/posts/VYYY-RGN/" TargetMode="External"/><Relationship Id="rId7" Type="http://schemas.openxmlformats.org/officeDocument/2006/relationships/image" Target="../media/image3.svg"/><Relationship Id="rId2" Type="http://schemas.openxmlformats.org/officeDocument/2006/relationships/notesSlide" Target="../notesSlides/notesSlide7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PQ-PQC/" TargetMode="External"/></Relationships>
</file>

<file path=ppt/slides/_rels/slide86.xml.rels><?xml version="1.0" encoding="UTF-8" standalone="yes"?>
<Relationships xmlns="http://schemas.openxmlformats.org/package/2006/relationships"><Relationship Id="rId3" Type="http://schemas.openxmlformats.org/officeDocument/2006/relationships/hyperlink" Target="https://flyingdeuk.github.io/posts/VVPQ-PQC/" TargetMode="External"/><Relationship Id="rId7" Type="http://schemas.openxmlformats.org/officeDocument/2006/relationships/image" Target="../media/image3.svg"/><Relationship Id="rId2" Type="http://schemas.openxmlformats.org/officeDocument/2006/relationships/notesSlide" Target="../notesSlides/notesSlide7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7.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7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PHNL-HNL/" TargetMode="External"/><Relationship Id="rId7" Type="http://schemas.openxmlformats.org/officeDocument/2006/relationships/image" Target="../media/image2.png"/><Relationship Id="rId2" Type="http://schemas.openxmlformats.org/officeDocument/2006/relationships/notesSlide" Target="../notesSlides/notesSlide79.xml"/><Relationship Id="rId1" Type="http://schemas.openxmlformats.org/officeDocument/2006/relationships/slideLayout" Target="../slideLayouts/slideLayout2.xml"/><Relationship Id="rId6" Type="http://schemas.openxmlformats.org/officeDocument/2006/relationships/image" Target="../media/image23.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9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7" Type="http://schemas.openxmlformats.org/officeDocument/2006/relationships/image" Target="../media/image3.svg"/><Relationship Id="rId2" Type="http://schemas.openxmlformats.org/officeDocument/2006/relationships/notesSlide" Target="../notesSlides/notesSlide8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9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7" Type="http://schemas.openxmlformats.org/officeDocument/2006/relationships/image" Target="../media/image3.svg"/><Relationship Id="rId2" Type="http://schemas.openxmlformats.org/officeDocument/2006/relationships/notesSlide" Target="../notesSlides/notesSlide8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9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ZMCK-UBN/" TargetMode="Externa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hyperlink" Target="https://flyingdeuk.github.io/posts/ZMCK-UBN/" TargetMode="External"/><Relationship Id="rId7" Type="http://schemas.openxmlformats.org/officeDocument/2006/relationships/image" Target="../media/image3.svg"/><Relationship Id="rId2" Type="http://schemas.openxmlformats.org/officeDocument/2006/relationships/notesSlide" Target="../notesSlides/notesSlide8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9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OMDB-DXB/" TargetMode="Externa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hyperlink" Target="https://flyingdeuk.github.io/posts/OMDB-DXB/" TargetMode="External"/><Relationship Id="rId7" Type="http://schemas.openxmlformats.org/officeDocument/2006/relationships/image" Target="../media/image3.svg"/><Relationship Id="rId2" Type="http://schemas.openxmlformats.org/officeDocument/2006/relationships/notesSlide" Target="../notesSlides/notesSlide8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0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90.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26.png"/></Relationships>
</file>

<file path=ppt/slides/_rels/slide10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3.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5.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7.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1.xml.rels><?xml version="1.0" encoding="UTF-8" standalone="yes"?>
<Relationships xmlns="http://schemas.openxmlformats.org/package/2006/relationships"><Relationship Id="rId3" Type="http://schemas.openxmlformats.org/officeDocument/2006/relationships/slide" Target="slide109.xml"/><Relationship Id="rId2" Type="http://schemas.openxmlformats.org/officeDocument/2006/relationships/notesSlide" Target="../notesSlides/notesSlide98.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100.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slide" Target="slide109.xml"/></Relationships>
</file>

<file path=ppt/slides/_rels/slide1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01.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5.xml.rels><?xml version="1.0" encoding="UTF-8" standalone="yes"?>
<Relationships xmlns="http://schemas.openxmlformats.org/package/2006/relationships"><Relationship Id="rId3" Type="http://schemas.openxmlformats.org/officeDocument/2006/relationships/image" Target="../media/image28.jpeg"/><Relationship Id="rId7" Type="http://schemas.openxmlformats.org/officeDocument/2006/relationships/image" Target="../media/image3.svg"/><Relationship Id="rId2" Type="http://schemas.openxmlformats.org/officeDocument/2006/relationships/notesSlide" Target="../notesSlides/notesSlide10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30.jpeg"/><Relationship Id="rId4" Type="http://schemas.openxmlformats.org/officeDocument/2006/relationships/image" Target="../media/image29.jpeg"/></Relationships>
</file>

<file path=ppt/slides/_rels/slide116.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10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5.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7.xml"/><Relationship Id="rId1" Type="http://schemas.openxmlformats.org/officeDocument/2006/relationships/slideLayout" Target="../slideLayouts/slideLayout2.xml"/><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214502570"/>
              </p:ext>
            </p:extLst>
          </p:nvPr>
        </p:nvGraphicFramePr>
        <p:xfrm>
          <a:off x="98101" y="1069487"/>
          <a:ext cx="2132650" cy="239550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r h="40374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2000" b="1" u="none" strike="noStrike" cap="none" dirty="0">
                          <a:solidFill>
                            <a:srgbClr val="002060"/>
                          </a:solidFill>
                          <a:latin typeface="Calibri"/>
                          <a:cs typeface="Calibri"/>
                          <a:sym typeface="Calibri"/>
                          <a:hlinkClick r:id="rId8" action="ppaction://hlinksldjump">
                            <a:extLst>
                              <a:ext uri="{A12FA001-AC4F-418D-AE19-62706E023703}">
                                <ahyp:hlinkClr xmlns:ahyp="http://schemas.microsoft.com/office/drawing/2018/hyperlinkcolor" val="tx"/>
                              </a:ext>
                            </a:extLst>
                          </a:hlinkClick>
                        </a:rPr>
                        <a:t>Mongo, ME Asia</a:t>
                      </a:r>
                      <a:endParaRPr lang="en-US" altLang="ko-Kore-KR" sz="2000" b="1" u="none" strike="noStrike" cap="none" dirty="0">
                        <a:solidFill>
                          <a:srgbClr val="002060"/>
                        </a:solidFill>
                        <a:latin typeface="Calibri"/>
                        <a:cs typeface="Calibri"/>
                        <a:sym typeface="Calibri"/>
                      </a:endParaRPr>
                    </a:p>
                  </a:txBody>
                  <a:tcPr marL="0" marR="0" marT="0" marB="0" anchor="ctr"/>
                </a:tc>
                <a:extLst>
                  <a:ext uri="{0D108BD9-81ED-4DB2-BD59-A6C34878D82A}">
                    <a16:rowId xmlns:a16="http://schemas.microsoft.com/office/drawing/2014/main" val="2503510456"/>
                  </a:ext>
                </a:extLst>
              </a:tr>
            </a:tbl>
          </a:graphicData>
        </a:graphic>
      </p:graphicFrame>
      <p:sp>
        <p:nvSpPr>
          <p:cNvPr id="89" name="Google Shape;89;p1">
            <a:hlinkClick r:id="rId9"/>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endParaRPr>
          </a:p>
        </p:txBody>
      </p:sp>
      <p:graphicFrame>
        <p:nvGraphicFramePr>
          <p:cNvPr id="90" name="Google Shape;90;p1"/>
          <p:cNvGraphicFramePr/>
          <p:nvPr>
            <p:extLst>
              <p:ext uri="{D42A27DB-BD31-4B8C-83A1-F6EECF244321}">
                <p14:modId xmlns:p14="http://schemas.microsoft.com/office/powerpoint/2010/main" val="363553593"/>
              </p:ext>
            </p:extLst>
          </p:nvPr>
        </p:nvGraphicFramePr>
        <p:xfrm>
          <a:off x="185895" y="3531746"/>
          <a:ext cx="1969476" cy="1882638"/>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tx1"/>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chemeClr val="tx1"/>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0">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8"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9"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latin typeface="Calibri"/>
                <a:ea typeface="Calibri"/>
                <a:cs typeface="Calibri"/>
                <a:sym typeface="Calibri"/>
              </a:rPr>
              <a:t>by </a:t>
            </a:r>
            <a:r>
              <a:rPr lang="en-US" sz="1000" b="1" i="0" u="none" strike="noStrike" cap="none" dirty="0" err="1">
                <a:latin typeface="Calibri"/>
                <a:ea typeface="Calibri"/>
                <a:cs typeface="Calibri"/>
                <a:sym typeface="Calibri"/>
              </a:rPr>
              <a:t>Flyingdeuk</a:t>
            </a:r>
            <a:endParaRPr sz="1000" b="1" dirty="0">
              <a:latin typeface="Calibri"/>
              <a:ea typeface="Calibri"/>
              <a:cs typeface="Calibri"/>
              <a:sym typeface="Calibri"/>
            </a:endParaRPr>
          </a:p>
        </p:txBody>
      </p:sp>
      <p:sp>
        <p:nvSpPr>
          <p:cNvPr id="92" name="Google Shape;92;p1"/>
          <p:cNvSpPr txBox="1"/>
          <p:nvPr/>
        </p:nvSpPr>
        <p:spPr>
          <a:xfrm>
            <a:off x="1373736"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92D050"/>
                </a:solidFill>
                <a:latin typeface="Calibri"/>
                <a:ea typeface="Calibri"/>
                <a:cs typeface="Calibri"/>
                <a:sym typeface="Calibri"/>
              </a:rPr>
              <a:t>VER. 25.</a:t>
            </a:r>
            <a:r>
              <a:rPr lang="en-US" altLang="ko-KR" sz="1100" b="1" dirty="0">
                <a:solidFill>
                  <a:srgbClr val="92D050"/>
                </a:solidFill>
                <a:latin typeface="Calibri"/>
                <a:ea typeface="Calibri"/>
                <a:cs typeface="Calibri"/>
                <a:sym typeface="Calibri"/>
              </a:rPr>
              <a:t>11</a:t>
            </a:r>
            <a:r>
              <a:rPr lang="en-US" sz="1100" b="1" dirty="0">
                <a:solidFill>
                  <a:srgbClr val="92D050"/>
                </a:solidFill>
                <a:latin typeface="Calibri"/>
                <a:ea typeface="Calibri"/>
                <a:cs typeface="Calibri"/>
                <a:sym typeface="Calibri"/>
              </a:rPr>
              <a:t>.20</a:t>
            </a:r>
            <a:endParaRPr sz="1100" b="1" dirty="0">
              <a:solidFill>
                <a:srgbClr val="92D05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solidFill>
                  <a:srgbClr val="00B0F0"/>
                </a:solidFill>
                <a:latin typeface="Calibri"/>
                <a:ea typeface="Calibri"/>
                <a:cs typeface="Calibri"/>
                <a:sym typeface="Calibri"/>
                <a:hlinkClick r:id="rId10">
                  <a:extLst>
                    <a:ext uri="{A12FA001-AC4F-418D-AE19-62706E023703}">
                      <ahyp:hlinkClr xmlns:ahyp="http://schemas.microsoft.com/office/drawing/2018/hyperlinkcolor" val="tx"/>
                    </a:ext>
                  </a:extLst>
                </a:hlinkClick>
              </a:rPr>
              <a:t>☝️ </a:t>
            </a:r>
            <a:r>
              <a:rPr kumimoji="1" lang="en-US" altLang="ko-Kore-KR" sz="900" b="1" u="sng" dirty="0">
                <a:solidFill>
                  <a:srgbClr val="00B0F0"/>
                </a:solidFill>
                <a:hlinkClick r:id="rId10">
                  <a:extLst>
                    <a:ext uri="{A12FA001-AC4F-418D-AE19-62706E023703}">
                      <ahyp:hlinkClr xmlns:ahyp="http://schemas.microsoft.com/office/drawing/2018/hyperlinkcolor" val="tx"/>
                    </a:ext>
                  </a:extLst>
                </a:hlinkClick>
              </a:rPr>
              <a:t>Click for Update</a:t>
            </a:r>
            <a:endParaRPr kumimoji="1" lang="ko-Kore-KR" altLang="en-US" sz="900" b="1" u="sng" dirty="0">
              <a:solidFill>
                <a:srgbClr val="00B0F0"/>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984622410"/>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tx1"/>
                          </a:solidFill>
                          <a:sym typeface="Calibri"/>
                        </a:rPr>
                        <a:t>Domestic</a:t>
                      </a:r>
                      <a:endParaRPr sz="28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139868916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ECFD93F4-8434-FE54-31C3-BD68508B755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2" name="TextBox 1">
            <a:extLst>
              <a:ext uri="{FF2B5EF4-FFF2-40B4-BE49-F238E27FC236}">
                <a16:creationId xmlns:a16="http://schemas.microsoft.com/office/drawing/2014/main" id="{88375B34-8C64-6DD0-9FBE-ACB2C6F75CC8}"/>
              </a:ext>
            </a:extLst>
          </p:cNvPr>
          <p:cNvSpPr txBox="1"/>
          <p:nvPr/>
        </p:nvSpPr>
        <p:spPr>
          <a:xfrm>
            <a:off x="1464366" y="5212277"/>
            <a:ext cx="980661"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7550E0A2-BAC2-77CC-CA51-0D3557CA6F9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CCF6AE2C-F0D0-934B-3803-365D62B0F75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70713" y="511492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548312558"/>
              </p:ext>
            </p:extLst>
          </p:nvPr>
        </p:nvGraphicFramePr>
        <p:xfrm>
          <a:off x="98101" y="132866"/>
          <a:ext cx="2132650" cy="4152947"/>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Japan</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NGO</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84101360"/>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CTS</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51654410"/>
                  </a:ext>
                </a:extLst>
              </a:tr>
            </a:tbl>
          </a:graphicData>
        </a:graphic>
      </p:graphicFrame>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155073123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51C5D988-811B-0301-9731-AB07EF7D86DC}"/>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25695369"/>
              </p:ext>
            </p:extLst>
          </p:nvPr>
        </p:nvGraphicFramePr>
        <p:xfrm>
          <a:off x="81023" y="3763126"/>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tx1"/>
                          </a:solidFill>
                        </a:rPr>
                        <a:t>Japan</a:t>
                      </a:r>
                      <a:endParaRPr sz="1100" b="0" dirty="0">
                        <a:solidFill>
                          <a:schemeClr val="tx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3135CD-FE0D-D672-B8B7-AE38F688594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1393679"/>
              </p:ext>
            </p:extLst>
          </p:nvPr>
        </p:nvGraphicFramePr>
        <p:xfrm>
          <a:off x="104230" y="114852"/>
          <a:ext cx="2115458" cy="3695978"/>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tx1"/>
                          </a:solidFill>
                          <a:latin typeface="Calibri"/>
                          <a:ea typeface="Calibri"/>
                          <a:cs typeface="Calibri"/>
                          <a:sym typeface="Calibri"/>
                        </a:rPr>
                        <a:t>China</a:t>
                      </a:r>
                      <a:r>
                        <a:rPr lang="en-US" sz="1800" b="1" u="none" strike="noStrike" cap="none" dirty="0">
                          <a:solidFill>
                            <a:schemeClr val="bg1"/>
                          </a:solidFill>
                          <a:latin typeface="Calibri"/>
                          <a:ea typeface="Calibri"/>
                          <a:cs typeface="Calibri"/>
                          <a:sym typeface="Calibri"/>
                        </a:rPr>
                        <a:t>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WUH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CAN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48746633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XIY</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453105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TSN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0086748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TAO</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32392428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SZX</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09224305"/>
                  </a:ext>
                </a:extLst>
              </a:tr>
            </a:tbl>
          </a:graphicData>
        </a:graphic>
      </p:graphicFrame>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155272458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B8B5A48-7593-5DEE-6767-4476684CA64B}"/>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673965251"/>
              </p:ext>
            </p:extLst>
          </p:nvPr>
        </p:nvGraphicFramePr>
        <p:xfrm>
          <a:off x="121884" y="3798834"/>
          <a:ext cx="2069883" cy="1242387"/>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tx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66253469"/>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WUH</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우한</a:t>
                      </a:r>
                      <a:r>
                        <a:rPr lang="en-US" altLang="ko-KR" sz="900" dirty="0">
                          <a:solidFill>
                            <a:srgbClr val="00B050"/>
                          </a:solidFill>
                        </a:rPr>
                        <a:t>/</a:t>
                      </a:r>
                      <a:r>
                        <a:rPr lang="ko-KR" altLang="en-US" sz="900" dirty="0" err="1">
                          <a:solidFill>
                            <a:srgbClr val="00B050"/>
                          </a:solidFill>
                        </a:rPr>
                        <a:t>톈허</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CAN</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광저우</a:t>
                      </a:r>
                      <a:r>
                        <a:rPr lang="en-US" altLang="ko-KR" sz="900" b="0" dirty="0">
                          <a:solidFill>
                            <a:srgbClr val="00B050"/>
                          </a:solidFill>
                        </a:rPr>
                        <a:t>/</a:t>
                      </a:r>
                      <a:r>
                        <a:rPr lang="ko-KR" altLang="en-US" sz="900" b="0" dirty="0" err="1">
                          <a:solidFill>
                            <a:srgbClr val="00B050"/>
                          </a:solidFill>
                        </a:rPr>
                        <a:t>바이윈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XIY</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시안</a:t>
                      </a:r>
                      <a:r>
                        <a:rPr lang="en-US" altLang="ko-KR" sz="900" b="0" dirty="0">
                          <a:solidFill>
                            <a:srgbClr val="00B050"/>
                          </a:solidFill>
                        </a:rPr>
                        <a:t>/</a:t>
                      </a:r>
                      <a:r>
                        <a:rPr lang="ko-KR" altLang="en-US" sz="900" b="0" dirty="0" err="1">
                          <a:solidFill>
                            <a:srgbClr val="00B050"/>
                          </a:solidFill>
                        </a:rPr>
                        <a:t>시엔양</a:t>
                      </a:r>
                      <a:endParaRPr sz="900" b="0" dirty="0">
                        <a:solidFill>
                          <a:srgbClr val="00B050"/>
                        </a:solidFill>
                      </a:endParaRPr>
                    </a:p>
                  </a:txBody>
                  <a:tcPr marL="0" marR="0" marT="0" marB="0" anchor="ctr"/>
                </a:tc>
                <a:extLst>
                  <a:ext uri="{0D108BD9-81ED-4DB2-BD59-A6C34878D82A}">
                    <a16:rowId xmlns:a16="http://schemas.microsoft.com/office/drawing/2014/main" val="425419948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TAO</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칭다오</a:t>
                      </a:r>
                      <a:r>
                        <a:rPr lang="en-US" altLang="ko-KR" sz="900" dirty="0">
                          <a:solidFill>
                            <a:srgbClr val="00B050"/>
                          </a:solidFill>
                        </a:rPr>
                        <a:t>/</a:t>
                      </a:r>
                      <a:r>
                        <a:rPr lang="ko-KR" altLang="en-US" sz="900" dirty="0" err="1">
                          <a:solidFill>
                            <a:srgbClr val="00B050"/>
                          </a:solidFill>
                        </a:rPr>
                        <a:t>자오둥</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SZX</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선전</a:t>
                      </a:r>
                      <a:r>
                        <a:rPr lang="en-US" altLang="ko-KR" sz="900" dirty="0">
                          <a:solidFill>
                            <a:srgbClr val="00B050"/>
                          </a:solidFill>
                        </a:rPr>
                        <a:t>/</a:t>
                      </a:r>
                      <a:r>
                        <a:rPr lang="ko-KR" altLang="en-US" sz="900" dirty="0" err="1">
                          <a:solidFill>
                            <a:srgbClr val="00B050"/>
                          </a:solidFill>
                        </a:rPr>
                        <a:t>바오안</a:t>
                      </a:r>
                      <a:endParaRPr lang="en-US" altLang="ko-Kore-KR" sz="900" dirty="0">
                        <a:solidFill>
                          <a:srgbClr val="AA47F5"/>
                        </a:solidFill>
                      </a:endParaRPr>
                    </a:p>
                  </a:txBody>
                  <a:tcPr marL="0" marR="0" marT="0" marB="0" anchor="ctr"/>
                </a:tc>
                <a:extLst>
                  <a:ext uri="{0D108BD9-81ED-4DB2-BD59-A6C34878D82A}">
                    <a16:rowId xmlns:a16="http://schemas.microsoft.com/office/drawing/2014/main" val="610266171"/>
                  </a:ext>
                </a:extLst>
              </a:tr>
            </a:tbl>
          </a:graphicData>
        </a:graphic>
      </p:graphicFrame>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28790C4-7E26-FFB4-21CC-3E16C21A5C7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791141998"/>
              </p:ext>
            </p:extLst>
          </p:nvPr>
        </p:nvGraphicFramePr>
        <p:xfrm>
          <a:off x="98101" y="184953"/>
          <a:ext cx="2132650" cy="4606891"/>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altLang="ko-KR" sz="2400" b="1" u="none" strike="noStrike" cap="none" dirty="0">
                          <a:solidFill>
                            <a:schemeClr val="tx1"/>
                          </a:solidFill>
                          <a:latin typeface="Calibri"/>
                          <a:ea typeface="Calibri"/>
                          <a:cs typeface="Calibri"/>
                          <a:sym typeface="Calibri"/>
                        </a:rPr>
                        <a:t>SE </a:t>
                      </a:r>
                      <a:r>
                        <a:rPr lang="en-US" sz="2400" b="1" u="none" strike="noStrike" cap="none" dirty="0">
                          <a:solidFill>
                            <a:schemeClr val="tx1"/>
                          </a:solidFill>
                          <a:latin typeface="Calibri"/>
                          <a:ea typeface="Calibri"/>
                          <a:cs typeface="Calibri"/>
                          <a:sym typeface="Calibri"/>
                        </a:rPr>
                        <a:t>Asia</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CNX</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DPS</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KTI</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0" action="ppaction://hlinksldjump">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2" action="ppaction://hlinksldjump">
                            <a:extLst>
                              <a:ext uri="{A12FA001-AC4F-418D-AE19-62706E023703}">
                                <ahyp:hlinkClr xmlns:ahyp="http://schemas.microsoft.com/office/drawing/2018/hyperlinkcolor" val="tx"/>
                              </a:ext>
                            </a:extLst>
                          </a:hlinkClick>
                        </a:rPr>
                        <a:t>RGN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477982926"/>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4" action="ppaction://hlinksldjump">
                            <a:extLst>
                              <a:ext uri="{A12FA001-AC4F-418D-AE19-62706E023703}">
                                <ahyp:hlinkClr xmlns:ahyp="http://schemas.microsoft.com/office/drawing/2018/hyperlinkcolor" val="tx"/>
                              </a:ext>
                            </a:extLst>
                          </a:hlinkClick>
                        </a:rPr>
                        <a:t>PQC</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94719372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300C3F7-80BE-FCDE-AE00-66776EFBDDA5}"/>
              </a:ext>
            </a:extLst>
          </p:cNvPr>
          <p:cNvPicPr>
            <a:picLocks noChangeAspect="1"/>
          </p:cNvPicPr>
          <p:nvPr/>
        </p:nvPicPr>
        <p:blipFill>
          <a:blip r:embed="rId25">
            <a:extLst>
              <a:ext uri="{96DAC541-7B7A-43D3-8B79-37D633B846F1}">
                <asvg:svgBlip xmlns:asvg="http://schemas.microsoft.com/office/drawing/2016/SVG/main" r:embed="rId26"/>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2143901707"/>
              </p:ext>
            </p:extLst>
          </p:nvPr>
        </p:nvGraphicFramePr>
        <p:xfrm>
          <a:off x="114028" y="3010332"/>
          <a:ext cx="2100805" cy="2134068"/>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S.E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CNX</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치앙마이</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r>
                        <a:rPr lang="en-US" sz="900" dirty="0">
                          <a:solidFill>
                            <a:srgbClr val="7030A0"/>
                          </a:solidFill>
                        </a:rPr>
                        <a:t>DPS</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덴파사르</a:t>
                      </a:r>
                      <a:r>
                        <a:rPr lang="ko-KR" altLang="en-US" sz="900" b="0" dirty="0">
                          <a:solidFill>
                            <a:srgbClr val="7030A0"/>
                          </a:solidFill>
                        </a:rPr>
                        <a:t> 발리</a:t>
                      </a:r>
                      <a:r>
                        <a:rPr lang="en-US" altLang="ko-KR" sz="900" b="0" dirty="0">
                          <a:solidFill>
                            <a:srgbClr val="7030A0"/>
                          </a:solidFill>
                        </a:rPr>
                        <a:t>/</a:t>
                      </a:r>
                      <a:r>
                        <a:rPr lang="ko-KR" altLang="en-US" sz="900" b="0" dirty="0" err="1">
                          <a:solidFill>
                            <a:srgbClr val="7030A0"/>
                          </a:solidFill>
                        </a:rPr>
                        <a:t>응우라라이</a:t>
                      </a: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r>
                        <a:rPr lang="en-US" sz="900" dirty="0">
                          <a:solidFill>
                            <a:srgbClr val="7030A0"/>
                          </a:solidFill>
                        </a:rPr>
                        <a:t>KTI</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프놈펜</a:t>
                      </a:r>
                      <a:r>
                        <a:rPr lang="en-US" altLang="ko-KR" sz="900" b="0" dirty="0">
                          <a:solidFill>
                            <a:srgbClr val="7030A0"/>
                          </a:solidFill>
                        </a:rPr>
                        <a:t>/</a:t>
                      </a:r>
                      <a:r>
                        <a:rPr lang="ko-KR" altLang="en-US" sz="900" b="0">
                          <a:solidFill>
                            <a:srgbClr val="7030A0"/>
                          </a:solidFill>
                        </a:rPr>
                        <a:t>테초</a:t>
                      </a:r>
                      <a:endParaRPr lang="ko-KR" altLang="en-US" sz="900" b="0" dirty="0">
                        <a:solidFill>
                          <a:srgbClr val="7030A0"/>
                        </a:solidFill>
                      </a:endParaRPr>
                    </a:p>
                  </a:txBody>
                  <a:tcPr marL="0" marR="0" marT="0" marB="0" anchor="ctr"/>
                </a:tc>
                <a:extLst>
                  <a:ext uri="{0D108BD9-81ED-4DB2-BD59-A6C34878D82A}">
                    <a16:rowId xmlns:a16="http://schemas.microsoft.com/office/drawing/2014/main" val="551135157"/>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686483843"/>
                  </a:ext>
                </a:extLst>
              </a:tr>
              <a:tr h="163628">
                <a:tc>
                  <a:txBody>
                    <a:bodyPr/>
                    <a:lstStyle/>
                    <a:p>
                      <a:pPr marL="0" marR="0" lvl="0" indent="0" algn="ctr" rtl="0">
                        <a:spcBef>
                          <a:spcPts val="0"/>
                        </a:spcBef>
                        <a:spcAft>
                          <a:spcPts val="0"/>
                        </a:spcAft>
                        <a:buNone/>
                      </a:pPr>
                      <a:r>
                        <a:rPr lang="en-US" sz="900" dirty="0">
                          <a:solidFill>
                            <a:srgbClr val="7030A0"/>
                          </a:solidFill>
                        </a:rPr>
                        <a:t>RGN</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양곤</a:t>
                      </a:r>
                    </a:p>
                  </a:txBody>
                  <a:tcPr marL="0" marR="0" marT="0" marB="0" anchor="ctr"/>
                </a:tc>
                <a:extLst>
                  <a:ext uri="{0D108BD9-81ED-4DB2-BD59-A6C34878D82A}">
                    <a16:rowId xmlns:a16="http://schemas.microsoft.com/office/drawing/2014/main" val="4151894381"/>
                  </a:ext>
                </a:extLst>
              </a:tr>
              <a:tr h="163628">
                <a:tc>
                  <a:txBody>
                    <a:bodyPr/>
                    <a:lstStyle/>
                    <a:p>
                      <a:pPr marL="0" marR="0" lvl="0" indent="0" algn="ctr" rtl="0">
                        <a:spcBef>
                          <a:spcPts val="0"/>
                        </a:spcBef>
                        <a:spcAft>
                          <a:spcPts val="0"/>
                        </a:spcAft>
                        <a:buNone/>
                      </a:pPr>
                      <a:r>
                        <a:rPr lang="en-US" sz="900" dirty="0">
                          <a:solidFill>
                            <a:srgbClr val="7030A0"/>
                          </a:solidFill>
                        </a:rPr>
                        <a:t>PQC</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푸꾸옥</a:t>
                      </a:r>
                      <a:endParaRPr lang="ko-KR" altLang="en-US" sz="900" b="0" dirty="0">
                        <a:solidFill>
                          <a:srgbClr val="7030A0"/>
                        </a:solidFill>
                      </a:endParaRPr>
                    </a:p>
                  </a:txBody>
                  <a:tcPr marL="0" marR="0" marT="0" marB="0" anchor="ctr"/>
                </a:tc>
                <a:extLst>
                  <a:ext uri="{0D108BD9-81ED-4DB2-BD59-A6C34878D82A}">
                    <a16:rowId xmlns:a16="http://schemas.microsoft.com/office/drawing/2014/main" val="1333652893"/>
                  </a:ext>
                </a:extLst>
              </a:tr>
            </a:tbl>
          </a:graphicData>
        </a:graphic>
      </p:graphicFrame>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360448728"/>
              </p:ext>
            </p:extLst>
          </p:nvPr>
        </p:nvGraphicFramePr>
        <p:xfrm>
          <a:off x="0" y="3"/>
          <a:ext cx="2328875" cy="317359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179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0" marB="0"/>
                </a:tc>
                <a:extLst>
                  <a:ext uri="{0D108BD9-81ED-4DB2-BD59-A6C34878D82A}">
                    <a16:rowId xmlns:a16="http://schemas.microsoft.com/office/drawing/2014/main" val="10000"/>
                  </a:ext>
                </a:extLst>
              </a:tr>
              <a:tr h="1215347">
                <a:tc>
                  <a:txBody>
                    <a:bodyPr/>
                    <a:lstStyle/>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손님</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여러분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안녕하십니까</a:t>
                      </a:r>
                      <a:r>
                        <a:rPr lang="en-US" sz="800" b="1" dirty="0">
                          <a:latin typeface="Gulim" panose="020B0600000101010101" pitchFamily="34" charset="-127"/>
                          <a:ea typeface="Gulim" panose="020B0600000101010101" pitchFamily="34" charset="-127"/>
                          <a:cs typeface="Calibri"/>
                          <a:sym typeface="Calibri"/>
                        </a:rPr>
                        <a:t>? </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저는</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여러분을 모시고 가는 </a:t>
                      </a:r>
                      <a:r>
                        <a:rPr lang="en-US" sz="800" b="1" dirty="0" err="1">
                          <a:latin typeface="Gulim" panose="020B0600000101010101" pitchFamily="34" charset="-127"/>
                          <a:ea typeface="Gulim" panose="020B0600000101010101" pitchFamily="34" charset="-127"/>
                          <a:cs typeface="Calibri"/>
                          <a:sym typeface="Calibri"/>
                        </a:rPr>
                        <a:t>기장</a:t>
                      </a:r>
                      <a:r>
                        <a:rPr lang="en-US" sz="800" b="1" dirty="0">
                          <a:latin typeface="Gulim" panose="020B0600000101010101" pitchFamily="34" charset="-127"/>
                          <a:ea typeface="Gulim" panose="020B0600000101010101" pitchFamily="34" charset="-127"/>
                          <a:cs typeface="Calibri"/>
                          <a:sym typeface="Calibri"/>
                        </a:rPr>
                        <a:t> ___</a:t>
                      </a:r>
                      <a:r>
                        <a:rPr lang="en-US" sz="800" b="1" dirty="0" err="1">
                          <a:latin typeface="Gulim" panose="020B0600000101010101" pitchFamily="34" charset="-127"/>
                          <a:ea typeface="Gulim" panose="020B0600000101010101" pitchFamily="34" charset="-127"/>
                          <a:cs typeface="Calibri"/>
                          <a:sym typeface="Calibri"/>
                        </a:rPr>
                        <a:t>입니다</a:t>
                      </a:r>
                      <a:r>
                        <a:rPr lang="en-US"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저희</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대한항공을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이용해</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주셔서</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대단</a:t>
                      </a:r>
                      <a:r>
                        <a:rPr lang="ko-KR" altLang="en-US" sz="800" b="1" dirty="0">
                          <a:latin typeface="Gulim" panose="020B0600000101010101" pitchFamily="34" charset="-127"/>
                          <a:ea typeface="Gulim" panose="020B0600000101010101" pitchFamily="34" charset="-127"/>
                          <a:cs typeface="Calibri"/>
                          <a:sym typeface="Calibri"/>
                        </a:rPr>
                        <a:t>히 고맙습니다</a:t>
                      </a:r>
                      <a:r>
                        <a:rPr lang="en-US" altLang="ko-KR"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a:latin typeface="Gulim" panose="020B0600000101010101" pitchFamily="34" charset="-127"/>
                          <a:ea typeface="Gulim" panose="020B0600000101010101" pitchFamily="34" charset="-127"/>
                          <a:cs typeface="Calibri"/>
                          <a:sym typeface="Calibri"/>
                        </a:rPr>
                        <a:t>___ (</a:t>
                      </a:r>
                      <a:r>
                        <a:rPr lang="en-US" sz="800" b="1" dirty="0" err="1">
                          <a:latin typeface="Gulim" panose="020B0600000101010101" pitchFamily="34" charset="-127"/>
                          <a:ea typeface="Gulim" panose="020B0600000101010101" pitchFamily="34" charset="-127"/>
                          <a:cs typeface="Calibri"/>
                          <a:sym typeface="Calibri"/>
                        </a:rPr>
                        <a:t>국제</a:t>
                      </a:r>
                      <a:r>
                        <a:rPr lang="en-US" sz="800" b="1" dirty="0">
                          <a:latin typeface="Gulim" panose="020B0600000101010101" pitchFamily="34" charset="-127"/>
                          <a:ea typeface="Gulim" panose="020B0600000101010101" pitchFamily="34" charset="-127"/>
                          <a:cs typeface="Calibri"/>
                          <a:sym typeface="Calibri"/>
                        </a:rPr>
                        <a:t>)</a:t>
                      </a:r>
                      <a:r>
                        <a:rPr lang="en-US" sz="800" b="1" dirty="0" err="1">
                          <a:latin typeface="Gulim" panose="020B0600000101010101" pitchFamily="34" charset="-127"/>
                          <a:ea typeface="Gulim" panose="020B0600000101010101" pitchFamily="34" charset="-127"/>
                          <a:cs typeface="Calibri"/>
                          <a:sym typeface="Calibri"/>
                        </a:rPr>
                        <a:t>공항까지</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비행시간은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시간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분 </a:t>
                      </a:r>
                      <a:r>
                        <a:rPr lang="ko-KR" altLang="en-US" sz="800" b="1" dirty="0" err="1">
                          <a:latin typeface="Gulim" panose="020B0600000101010101" pitchFamily="34" charset="-127"/>
                          <a:ea typeface="Gulim" panose="020B0600000101010101" pitchFamily="34" charset="-127"/>
                          <a:cs typeface="Calibri"/>
                          <a:sym typeface="Calibri"/>
                        </a:rPr>
                        <a:t>으로</a:t>
                      </a:r>
                      <a:r>
                        <a:rPr lang="ko-KR" altLang="en-US" sz="800" b="1" dirty="0">
                          <a:latin typeface="Gulim" panose="020B0600000101010101" pitchFamily="34" charset="-127"/>
                          <a:ea typeface="Gulim" panose="020B0600000101010101" pitchFamily="34" charset="-127"/>
                          <a:cs typeface="Calibri"/>
                          <a:sym typeface="Calibri"/>
                        </a:rPr>
                        <a:t> 예상됩니다</a:t>
                      </a:r>
                      <a:r>
                        <a:rPr lang="en-US" altLang="ko-KR" sz="800" b="1" dirty="0">
                          <a:latin typeface="Gulim" panose="020B0600000101010101" pitchFamily="34" charset="-127"/>
                          <a:ea typeface="Gulim" panose="020B0600000101010101" pitchFamily="34" charset="-127"/>
                          <a:cs typeface="Calibri"/>
                          <a:sym typeface="Calibri"/>
                        </a:rPr>
                        <a:t>.</a:t>
                      </a: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비행 중에는 항공기가 갑자기 흔들릴 수도 있으니</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자리에 않아 계실 때에는 항상 좌석벨트를 매주시기 바랍니다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a:t>
                      </a:r>
                      <a:endParaRPr lang="en-US" altLang="ko-K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en-US" altLang="ko-Kore-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저희 승무원 모두는</a:t>
                      </a:r>
                      <a:r>
                        <a:rPr lang="en-US" altLang="ko-KR"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저는 여러분을 안전하게 모시기 위해 최선을 다하겠습니다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고맙습니다</a:t>
                      </a:r>
                      <a:r>
                        <a:rPr lang="en-US"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txBody>
                  <a:tcPr marL="36000" marR="36000" marT="0" marB="0" anchor="ctr"/>
                </a:tc>
                <a:extLst>
                  <a:ext uri="{0D108BD9-81ED-4DB2-BD59-A6C34878D82A}">
                    <a16:rowId xmlns:a16="http://schemas.microsoft.com/office/drawing/2014/main" val="10001"/>
                  </a:ext>
                </a:extLst>
              </a:tr>
              <a:tr h="1251545">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0" marB="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919822C7-DE3F-F659-C1B5-86715278BF84}"/>
              </a:ext>
            </a:extLst>
          </p:cNvPr>
          <p:cNvSpPr txBox="1"/>
          <p:nvPr/>
        </p:nvSpPr>
        <p:spPr>
          <a:xfrm>
            <a:off x="1464836" y="5278537"/>
            <a:ext cx="1006693"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64D7ADBC-A170-0D7F-4328-F102F81074F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2030849835"/>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Oceania</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extLst>
              <p:ext uri="{D42A27DB-BD31-4B8C-83A1-F6EECF244321}">
                <p14:modId xmlns:p14="http://schemas.microsoft.com/office/powerpoint/2010/main" val="2158389381"/>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66FAE2-9980-C00E-E905-5E5F7DBD0EE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38454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Oceania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07A69A2B-0668-E18A-E9BB-083570E8A3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3D9EAF46-3FEF-5EB2-F163-5BB55F947550}"/>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38051F1B-8853-CC2D-998D-6CD7EE60CE1F}"/>
              </a:ext>
            </a:extLst>
          </p:cNvPr>
          <p:cNvGraphicFramePr/>
          <p:nvPr>
            <p:extLst>
              <p:ext uri="{D42A27DB-BD31-4B8C-83A1-F6EECF244321}">
                <p14:modId xmlns:p14="http://schemas.microsoft.com/office/powerpoint/2010/main" val="3365959265"/>
              </p:ext>
            </p:extLst>
          </p:nvPr>
        </p:nvGraphicFramePr>
        <p:xfrm>
          <a:off x="98101" y="184953"/>
          <a:ext cx="2132650" cy="3096435"/>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000" b="1" u="none" strike="noStrike" cap="none" dirty="0">
                          <a:solidFill>
                            <a:schemeClr val="tx1"/>
                          </a:solidFill>
                          <a:latin typeface="Calibri"/>
                          <a:ea typeface="Calibri"/>
                          <a:cs typeface="Calibri"/>
                          <a:sym typeface="Calibri"/>
                        </a:rPr>
                        <a:t>Mongo, ME Asia</a:t>
                      </a:r>
                      <a:endParaRPr sz="20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UBN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DXB</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BFD5B3D4-0FE7-0276-A001-5170B87F05AA}"/>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89B58A8-BDA8-A88E-6025-CB9EEC9E6F5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760840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5BA0D3EB-0DDA-1A51-ABEA-AC2CF01EA403}"/>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97C9AC41-143F-0C80-645D-4230AAF27CFF}"/>
              </a:ext>
            </a:extLst>
          </p:cNvPr>
          <p:cNvGraphicFramePr/>
          <p:nvPr>
            <p:extLst>
              <p:ext uri="{D42A27DB-BD31-4B8C-83A1-F6EECF244321}">
                <p14:modId xmlns:p14="http://schemas.microsoft.com/office/powerpoint/2010/main" val="3623628968"/>
              </p:ext>
            </p:extLst>
          </p:nvPr>
        </p:nvGraphicFramePr>
        <p:xfrm>
          <a:off x="114028" y="3763936"/>
          <a:ext cx="2100805" cy="1152300"/>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Mongo, ME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002060"/>
                          </a:solidFill>
                        </a:rPr>
                        <a:t>UBN</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002060"/>
                          </a:solidFill>
                        </a:rPr>
                        <a:t>울란바타르</a:t>
                      </a:r>
                      <a:r>
                        <a:rPr lang="en-US" altLang="ko-KR" sz="800" b="0" dirty="0">
                          <a:solidFill>
                            <a:srgbClr val="002060"/>
                          </a:solidFill>
                        </a:rPr>
                        <a:t>/</a:t>
                      </a:r>
                      <a:r>
                        <a:rPr lang="ko-KR" altLang="en-US" sz="800" b="0" dirty="0" err="1">
                          <a:solidFill>
                            <a:srgbClr val="002060"/>
                          </a:solidFill>
                        </a:rPr>
                        <a:t>칭기스칸</a:t>
                      </a:r>
                      <a:endParaRPr sz="800" b="0" dirty="0">
                        <a:solidFill>
                          <a:srgbClr val="00206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002060"/>
                          </a:solidFill>
                        </a:rPr>
                        <a:t>DXB</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002060"/>
                          </a:solidFill>
                        </a:rPr>
                        <a:t>두바이</a:t>
                      </a:r>
                      <a:endParaRPr sz="800" b="0" dirty="0">
                        <a:solidFill>
                          <a:srgbClr val="00206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9D899C51-27AF-23F3-734C-79D426155FFB}"/>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2CAB0477-8700-3365-FC72-A26290AA5055}"/>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C991B66B-483B-59A9-E54E-40785639C94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534168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167799734"/>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1081EFB0-D11A-4A21-0FEF-698BAD74319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795498547"/>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0D6773A-6336-7BA1-7A64-79AA12E3E0B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63803F54-E73A-2897-04E3-9D581817A79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54687635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5D61B2C-E47D-4E61-4356-23A2EAB5283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2DF737A-1B19-2424-7810-B57914B3F6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934664792"/>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804B8AA-8DCD-B0C3-D877-EE77694B74C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3F39A323-FBD3-D6DC-02B1-956629174DA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6">
            <a:alphaModFix/>
          </a:blip>
          <a:srcRect/>
          <a:stretch/>
        </p:blipFill>
        <p:spPr>
          <a:xfrm>
            <a:off x="4472" y="2072681"/>
            <a:ext cx="1559909" cy="651823"/>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50FFFDC4-29D6-ADBF-1961-D8EEFFC7AE7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915521"/>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1FCC2624-E781-95C1-E0B0-9B50AE82A2AB}"/>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879618775"/>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TTE,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TTE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TTE 178</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6"/>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7"/>
          <a:stretch>
            <a:fillRect/>
          </a:stretch>
        </p:blipFill>
        <p:spPr>
          <a:xfrm>
            <a:off x="148563" y="602614"/>
            <a:ext cx="451728" cy="451728"/>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9CB71F31-9FE7-F6FB-E831-4F77E261766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283173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402064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extLst>
              <p:ext uri="{D42A27DB-BD31-4B8C-83A1-F6EECF244321}">
                <p14:modId xmlns:p14="http://schemas.microsoft.com/office/powerpoint/2010/main" val="4254911068"/>
              </p:ext>
            </p:extLst>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extLst>
              <p:ext uri="{D42A27DB-BD31-4B8C-83A1-F6EECF244321}">
                <p14:modId xmlns:p14="http://schemas.microsoft.com/office/powerpoint/2010/main" val="1514582562"/>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TTE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extLst>
              <p:ext uri="{D42A27DB-BD31-4B8C-83A1-F6EECF244321}">
                <p14:modId xmlns:p14="http://schemas.microsoft.com/office/powerpoint/2010/main" val="3460565506"/>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TTE 178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extLst>
              <p:ext uri="{D42A27DB-BD31-4B8C-83A1-F6EECF244321}">
                <p14:modId xmlns:p14="http://schemas.microsoft.com/office/powerpoint/2010/main" val="1075971734"/>
              </p:ext>
            </p:extLst>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0857189A-CA0F-E5AC-FE0C-F518EA8AAE45}"/>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25841694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18347175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TTE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117.4</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TTE 346/1.2, R095, 34R : TTE R071, R095, 22 : TTE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6"/>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24CF9844-774F-C8AB-ECED-D624262D8320}"/>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pic>
        <p:nvPicPr>
          <p:cNvPr id="9" name="그림 8" descr="텍스트, 도표, 폰트, 스크린샷이(가) 표시된 사진&#10;&#10;자동 생성된 설명">
            <a:extLst>
              <a:ext uri="{FF2B5EF4-FFF2-40B4-BE49-F238E27FC236}">
                <a16:creationId xmlns:a16="http://schemas.microsoft.com/office/drawing/2014/main" id="{5AAE61DA-EABE-45F6-7BE8-656B4FC1438C}"/>
              </a:ext>
            </a:extLst>
          </p:cNvPr>
          <p:cNvPicPr>
            <a:picLocks noChangeAspect="1"/>
          </p:cNvPicPr>
          <p:nvPr/>
        </p:nvPicPr>
        <p:blipFill>
          <a:blip r:embed="rId9"/>
          <a:stretch>
            <a:fillRect/>
          </a:stretch>
        </p:blipFill>
        <p:spPr>
          <a:xfrm>
            <a:off x="1" y="2689627"/>
            <a:ext cx="973712" cy="744177"/>
          </a:xfrm>
          <a:prstGeom prst="rect">
            <a:avLst/>
          </a:prstGeom>
        </p:spPr>
      </p:pic>
    </p:spTree>
    <p:extLst>
      <p:ext uri="{BB962C8B-B14F-4D97-AF65-F5344CB8AC3E}">
        <p14:creationId xmlns:p14="http://schemas.microsoft.com/office/powerpoint/2010/main" val="1748908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197766668"/>
              </p:ext>
            </p:extLst>
          </p:nvPr>
        </p:nvGraphicFramePr>
        <p:xfrm>
          <a:off x="4472" y="3760299"/>
          <a:ext cx="2331400" cy="1792570"/>
        </p:xfrm>
        <a:graphic>
          <a:graphicData uri="http://schemas.openxmlformats.org/drawingml/2006/table">
            <a:tbl>
              <a:tblPr firstRow="1" bandRow="1">
                <a:noFill/>
                <a:tableStyleId>{A521BE36-7E6F-4EC9-8D66-1CF97A6895EC}</a:tableStyleId>
              </a:tblPr>
              <a:tblGrid>
                <a:gridCol w="456115">
                  <a:extLst>
                    <a:ext uri="{9D8B030D-6E8A-4147-A177-3AD203B41FA5}">
                      <a16:colId xmlns:a16="http://schemas.microsoft.com/office/drawing/2014/main" val="20000"/>
                    </a:ext>
                  </a:extLst>
                </a:gridCol>
                <a:gridCol w="70958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a:t>
                      </a:r>
                      <a:r>
                        <a:rPr lang="en-US" altLang="ko-KR" sz="800" dirty="0">
                          <a:solidFill>
                            <a:srgbClr val="00B0F0"/>
                          </a:solidFill>
                        </a:rPr>
                        <a:t>9</a:t>
                      </a:r>
                      <a:r>
                        <a:rPr lang="en-US" sz="800" dirty="0">
                          <a:solidFill>
                            <a:srgbClr val="00B0F0"/>
                          </a:solidFill>
                        </a:rPr>
                        <a:t>/23</a:t>
                      </a:r>
                      <a:r>
                        <a:rPr lang="en-US" altLang="ko-KR" sz="800" dirty="0">
                          <a:solidFill>
                            <a:srgbClr val="00B0F0"/>
                          </a:solidFill>
                        </a:rPr>
                        <a:t>9</a:t>
                      </a:r>
                      <a:r>
                        <a:rPr lang="en-US" sz="800" dirty="0">
                          <a:solidFill>
                            <a:srgbClr val="00B0F0"/>
                          </a:solidFill>
                        </a:rPr>
                        <a:t>]</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06R</a:t>
                      </a:r>
                      <a:r>
                        <a:rPr lang="en-US" sz="800" b="0" dirty="0"/>
                        <a:t>/L</a:t>
                      </a:r>
                      <a:endParaRPr sz="800" b="0"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ATMUG B</a:t>
                      </a:r>
                    </a:p>
                    <a:p>
                      <a:pPr marL="0" marR="0" lvl="0" indent="0" algn="ctr" rtl="0">
                        <a:spcBef>
                          <a:spcPts val="0"/>
                        </a:spcBef>
                        <a:spcAft>
                          <a:spcPts val="0"/>
                        </a:spcAft>
                        <a:buNone/>
                      </a:pPr>
                      <a:r>
                        <a:rPr lang="en-US" sz="800" b="0" dirty="0"/>
                        <a:t>ATMUG A</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BERRY</a:t>
                      </a:r>
                    </a:p>
                    <a:p>
                      <a:pPr marL="0" marR="0" lvl="0" indent="0" algn="ctr" rtl="0">
                        <a:spcBef>
                          <a:spcPts val="0"/>
                        </a:spcBef>
                        <a:spcAft>
                          <a:spcPts val="0"/>
                        </a:spcAft>
                        <a:buNone/>
                      </a:pPr>
                      <a:r>
                        <a:rPr lang="en-US" sz="800" b="0" dirty="0"/>
                        <a:t>ATVID</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Z 06R</a:t>
                      </a:r>
                      <a:r>
                        <a:rPr lang="en-US" sz="800" b="0" dirty="0"/>
                        <a:t>/L</a:t>
                      </a:r>
                      <a:endParaRPr sz="800" b="0" dirty="0"/>
                    </a:p>
                  </a:txBody>
                  <a:tcPr marL="36000" marR="36000" marT="36000" marB="36000" anchor="ctr"/>
                </a:tc>
                <a:extLst>
                  <a:ext uri="{0D108BD9-81ED-4DB2-BD59-A6C34878D82A}">
                    <a16:rowId xmlns:a16="http://schemas.microsoft.com/office/drawing/2014/main" val="10001"/>
                  </a:ext>
                </a:extLst>
              </a:tr>
              <a:tr h="145629">
                <a:tc>
                  <a:txBody>
                    <a:bodyPr/>
                    <a:lstStyle/>
                    <a:p>
                      <a:pPr marL="0" marR="0" lvl="0" indent="0" algn="ctr" rtl="0">
                        <a:spcBef>
                          <a:spcPts val="0"/>
                        </a:spcBef>
                        <a:spcAft>
                          <a:spcPts val="0"/>
                        </a:spcAft>
                        <a:buNone/>
                      </a:pPr>
                      <a:r>
                        <a:rPr lang="en-US" sz="800" b="1" dirty="0"/>
                        <a:t>24L</a:t>
                      </a:r>
                      <a:r>
                        <a:rPr lang="en-US" sz="800" b="0" dirty="0"/>
                        <a:t>/R</a:t>
                      </a:r>
                      <a:endParaRPr sz="800" b="0"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ATMUG M/C</a:t>
                      </a:r>
                    </a:p>
                    <a:p>
                      <a:pPr marL="0" marR="0" lvl="0" indent="0" algn="ctr" rtl="0">
                        <a:spcBef>
                          <a:spcPts val="0"/>
                        </a:spcBef>
                        <a:spcAft>
                          <a:spcPts val="0"/>
                        </a:spcAft>
                        <a:buNone/>
                      </a:pPr>
                      <a:r>
                        <a:rPr lang="en-US" sz="800" b="0" dirty="0"/>
                        <a:t>ATMUG D/E</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MAYAH</a:t>
                      </a:r>
                    </a:p>
                    <a:p>
                      <a:pPr marL="0" marR="0" lvl="0" indent="0" algn="ctr" rtl="0">
                        <a:spcBef>
                          <a:spcPts val="0"/>
                        </a:spcBef>
                        <a:spcAft>
                          <a:spcPts val="0"/>
                        </a:spcAft>
                        <a:buNone/>
                      </a:pPr>
                      <a:r>
                        <a:rPr lang="en-US" sz="800" b="0" dirty="0">
                          <a:solidFill>
                            <a:srgbClr val="0070C0"/>
                          </a:solidFill>
                        </a:rPr>
                        <a:t>D/E Night</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Z 24L/R</a:t>
                      </a:r>
                      <a:endParaRPr sz="800" b="1" dirty="0"/>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06L : B8(5160’), B6(6751’), 24R : B7(5318’), B9(6751’)</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24L Downslope</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RWY06 : After 2500ft L/G DN, After 1500ft L/D FLAP</a:t>
                      </a:r>
                      <a:endParaRPr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latin typeface="Gulim" panose="020B0600000101010101" pitchFamily="34" charset="-127"/>
                <a:ea typeface="Gulim" panose="020B0600000101010101" pitchFamily="34" charset="-127"/>
              </a:rPr>
              <a:t>TKO 133.8</a:t>
            </a:r>
          </a:p>
          <a:p>
            <a:pPr>
              <a:lnSpc>
                <a:spcPct val="150000"/>
              </a:lnSpc>
            </a:pPr>
            <a:r>
              <a:rPr kumimoji="1" lang="en-US" altLang="ko-Kore-KR" sz="700" b="1" u="sng" dirty="0">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latin typeface="Gulim" panose="020B0600000101010101" pitchFamily="34" charset="-127"/>
                <a:ea typeface="Gulim" panose="020B0600000101010101" pitchFamily="34" charset="-127"/>
              </a:rPr>
              <a:t>KIX APP 120.25 </a:t>
            </a: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078939E7-A2B6-601D-BD5F-CE7A3C15903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3031721779"/>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06L</a:t>
                      </a:r>
                      <a:r>
                        <a:rPr lang="en-US" sz="800" b="0" dirty="0"/>
                        <a:t>/R</a:t>
                      </a:r>
                      <a:endParaRPr sz="800" b="0"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RINKU x</a:t>
                      </a:r>
                      <a:endParaRPr sz="800" b="1" dirty="0">
                        <a:solidFill>
                          <a:srgbClr val="0070C0"/>
                        </a:solidFill>
                      </a:endParaRPr>
                    </a:p>
                    <a:p>
                      <a:pPr marL="0" marR="0" lvl="0" indent="0" algn="ctr" rtl="0">
                        <a:spcBef>
                          <a:spcPts val="0"/>
                        </a:spcBef>
                        <a:spcAft>
                          <a:spcPts val="0"/>
                        </a:spcAft>
                        <a:buNone/>
                      </a:pPr>
                      <a:r>
                        <a:rPr lang="en-US" sz="800" dirty="0"/>
                        <a:t>- SOUJA </a:t>
                      </a:r>
                      <a:r>
                        <a:rPr lang="en-US" sz="800" dirty="0" err="1"/>
                        <a:t>tx</a:t>
                      </a:r>
                      <a:endParaRPr sz="800" dirty="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24R</a:t>
                      </a:r>
                      <a:r>
                        <a:rPr lang="en-US" sz="800" b="0" dirty="0"/>
                        <a:t>/L</a:t>
                      </a:r>
                      <a:endParaRPr sz="800" b="0"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a:t>
                      </a:r>
                      <a:r>
                        <a:rPr lang="en-US" sz="800" b="1" dirty="0">
                          <a:solidFill>
                            <a:srgbClr val="0070C0"/>
                          </a:solidFill>
                        </a:rPr>
                        <a:t>TAXI RTE 1(via J4), 2(via J3)</a:t>
                      </a:r>
                      <a:endParaRPr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a:t>
            </a:r>
          </a:p>
          <a:p>
            <a:pPr>
              <a:lnSpc>
                <a:spcPct val="150000"/>
              </a:lnSpc>
            </a:pPr>
            <a:r>
              <a:rPr kumimoji="1" lang="en-US" altLang="ko-KR" sz="700" b="1" u="sng" dirty="0">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latin typeface="Gulim" panose="020B0600000101010101" pitchFamily="34" charset="-127"/>
                <a:ea typeface="Gulim" panose="020B0600000101010101" pitchFamily="34" charset="-127"/>
              </a:rPr>
              <a:t>FUK 124.15</a:t>
            </a: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FED0FA1C-C787-FA27-B655-4AF0D20893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13184"/>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01C0916-67C6-33D9-879E-9C9DA320619D}"/>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C4A05EA-E6A9-6593-1DB3-FCB6C8A2FAE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C31B9F5F-E93A-4740-DF50-5631F1B0784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34962"/>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78C43CE0-36E4-0AF6-2E54-CF306B6F8B82}"/>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976296007"/>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TTE,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TTE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TTE 178</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134.17 – FUK</a:t>
            </a:r>
            <a:r>
              <a:rPr kumimoji="1" lang="en-US" altLang="ko-Kore-KR" sz="700" b="1" u="sng" dirty="0">
                <a:latin typeface="Gulim" panose="020B0600000101010101" pitchFamily="34" charset="-127"/>
                <a:ea typeface="Gulim" panose="020B0600000101010101" pitchFamily="34" charset="-127"/>
              </a:rPr>
              <a:t> 133.02  </a:t>
            </a:r>
          </a:p>
          <a:p>
            <a:pPr>
              <a:lnSpc>
                <a:spcPct val="150000"/>
              </a:lnSpc>
            </a:pPr>
            <a:r>
              <a:rPr kumimoji="1" lang="en-US" altLang="ko-Kore-KR" sz="700" b="1" u="sng" dirty="0">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latin typeface="Gulim" panose="020B0600000101010101" pitchFamily="34" charset="-127"/>
                <a:ea typeface="Gulim" panose="020B0600000101010101" pitchFamily="34" charset="-127"/>
              </a:rPr>
              <a:t>TKO APP 119.1 – 119.65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073B09E-F116-98E8-D2E0-93D39ECEB56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3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39FF32A-9EBE-7D5D-64B4-45915D5E0684}"/>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DC1F9CCB-3538-08F6-5567-CB682F491644}"/>
              </a:ext>
            </a:extLst>
          </p:cNvPr>
          <p:cNvGraphicFramePr/>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7A14C35A-164F-8547-9CEB-4F95504BC3CF}"/>
              </a:ext>
            </a:extLst>
          </p:cNvPr>
          <p:cNvGraphicFramePr/>
          <p:nvPr>
            <p:extLst>
              <p:ext uri="{D42A27DB-BD31-4B8C-83A1-F6EECF244321}">
                <p14:modId xmlns:p14="http://schemas.microsoft.com/office/powerpoint/2010/main" val="2064894858"/>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TTE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BE288F8B-3AE8-B312-41C6-2277AECEE678}"/>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C3AB4444-0DD8-7415-5717-D892E7EE6948}"/>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70E7719A-35AD-9206-F628-D87AC1B5536A}"/>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EC8B493F-28AE-A9A1-AF6D-A275AB3C264E}"/>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89D6F6CA-777D-D7D4-9846-3086E6CCA74C}"/>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29B7606A-B2E9-F9BA-4DD9-B577B2A7CE38}"/>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54936FFF-286B-52D9-EF51-E220EDB6893E}"/>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F90E3164-F069-C2F3-A5EB-67950C7C5973}"/>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260815F3-D6F8-3F5D-24D0-82E10E970668}"/>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9EB3DF49-B628-5885-2BE8-A8B8E5C37805}"/>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F25A4166-CE20-A019-424A-A439CE14E3DE}"/>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F40EBA3-30F9-2C4B-D13B-8D38F6206C0D}"/>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FFA0C5D-0EC2-208A-4793-FACBB0A4B562}"/>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AC3DCC66-B6BE-DC92-E8DE-0363D02192AC}"/>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E8C9F3BE-ED9E-251E-9208-71C731E37D99}"/>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C39EA500-A57A-BA91-06BD-9B41157EFCAC}"/>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84A54016-4FB3-3E87-5D7F-1E61252697B8}"/>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64FB1F02-CF32-0F7D-E310-C5EBB7809182}"/>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BC636861-D006-FE49-7590-21628C454DF5}"/>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8F735340-C880-A7F3-BDBE-8C8BEE15F307}"/>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30D01E05-E128-8D39-648F-4EBA25FB6854}"/>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7DAF5005-BB3A-297C-E6B7-6F5B084E5EE3}"/>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ABA6971-8F98-0C9D-5EAB-1A3A1814FD4B}"/>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E2BD253F-112E-6F2A-01AC-FF493861223B}"/>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385048C7-C54A-143F-099C-73BAD42F923B}"/>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A6891B91-3509-143E-EE3B-BE08FCBA6C4F}"/>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50F8FB4A-B0C5-1097-08A8-A99C29B11AC5}"/>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F6A533BC-8A9A-7058-7C59-40E16EE23D14}"/>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49CD6598-1AD5-4896-00A5-6685E15A7EFF}"/>
              </a:ext>
            </a:extLst>
          </p:cNvPr>
          <p:cNvGraphicFramePr/>
          <p:nvPr>
            <p:extLst>
              <p:ext uri="{D42A27DB-BD31-4B8C-83A1-F6EECF244321}">
                <p14:modId xmlns:p14="http://schemas.microsoft.com/office/powerpoint/2010/main" val="3302484684"/>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TTE 178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721A4D9C-94AB-6C05-577F-57FE032AC484}"/>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63B6537-785B-4415-982F-5570CAB6C14E}"/>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CCAADF6F-C723-9626-43C9-D3EA68106BA2}"/>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55AA203A-4DBD-1703-A78C-DE339A266C0B}"/>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B60173C9-60FF-88CC-1878-29E91EBCFD47}"/>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FA2EC4A5-7DCF-63D5-9905-ED5F96161282}"/>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13682C87-220F-3C6D-122F-D290A8A8456C}"/>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FA7C57CB-2DEB-9F65-9733-7B9C94C4286A}"/>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9D109C1B-DE83-259A-6760-4E401FC85F2F}"/>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8C3CF52E-4B03-E408-1FCC-17F89471079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CBC73532-D832-AD74-229A-E558A64010BE}"/>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441D308B-352F-D1AB-0A5C-4FCC983E4CDC}"/>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9AC0ED4C-6F77-D30B-9DBE-264AF523ABFD}"/>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6EBD211B-AE74-F804-C764-3E49B28A996B}"/>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FE1DE3EC-3FF5-A902-21E2-220B0B65C7F0}"/>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3E67399B-9171-68DF-0084-8ED2F03169CF}"/>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2DC2640-4B3C-7FDF-2A0A-5FE2AA00AE49}"/>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7EBE6BC0-7167-4C36-63B4-BD92064F0B81}"/>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F541C3FD-B3D9-801F-2860-0A9309E6E534}"/>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B564E15B-A610-1B00-C486-13AA915EE032}"/>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2B959C5A-93AF-B2A0-7EC4-6F37A4A50484}"/>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422495BC-B091-7E52-453A-47E6DF9BA6F9}"/>
              </a:ext>
            </a:extLst>
          </p:cNvPr>
          <p:cNvGraphicFramePr/>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A0E06639-0944-9437-6E50-A746889BA235}"/>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FE1BDB2D-3BA7-D9E4-AC4B-A7D57DD429AC}"/>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35380960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latin typeface="Gulim" panose="020B0600000101010101" pitchFamily="34" charset="-127"/>
                <a:ea typeface="Gulim" panose="020B0600000101010101" pitchFamily="34" charset="-127"/>
              </a:rPr>
              <a:t>TKO 120.5 – FUK 133.02 </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1305581196"/>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dirty="0"/>
                        <a:t>HD 338(158), 051(231)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TTE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117.4</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TTE 346/1.2, R095, 34R : TTE R071, R095, 22 : TTE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138F56BC-6605-CFEE-8132-E7EB423066E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42617"/>
            <a:ext cx="457200" cy="457200"/>
          </a:xfrm>
          <a:prstGeom prst="rect">
            <a:avLst/>
          </a:prstGeom>
          <a:effectLst>
            <a:outerShdw blurRad="50800" dist="50800" dir="3660000" algn="ctr" rotWithShape="0">
              <a:schemeClr val="bg1">
                <a:alpha val="82714"/>
              </a:schemeClr>
            </a:outerShdw>
          </a:effectLst>
        </p:spPr>
      </p:pic>
      <p:pic>
        <p:nvPicPr>
          <p:cNvPr id="7" name="그림 6" descr="텍스트, 도표, 폰트, 스크린샷이(가) 표시된 사진&#10;&#10;자동 생성된 설명">
            <a:extLst>
              <a:ext uri="{FF2B5EF4-FFF2-40B4-BE49-F238E27FC236}">
                <a16:creationId xmlns:a16="http://schemas.microsoft.com/office/drawing/2014/main" id="{CBE4F2F1-4C9A-E184-62A3-F8EA85EBBF4E}"/>
              </a:ext>
            </a:extLst>
          </p:cNvPr>
          <p:cNvPicPr>
            <a:picLocks noChangeAspect="1"/>
          </p:cNvPicPr>
          <p:nvPr/>
        </p:nvPicPr>
        <p:blipFill>
          <a:blip r:embed="rId8"/>
          <a:stretch>
            <a:fillRect/>
          </a:stretch>
        </p:blipFill>
        <p:spPr>
          <a:xfrm>
            <a:off x="-2501" y="2229999"/>
            <a:ext cx="953780" cy="728943"/>
          </a:xfrm>
          <a:prstGeom prst="rect">
            <a:avLst/>
          </a:prstGeom>
        </p:spPr>
      </p:pic>
      <p:graphicFrame>
        <p:nvGraphicFramePr>
          <p:cNvPr id="4" name="Google Shape;283;p17">
            <a:extLst>
              <a:ext uri="{FF2B5EF4-FFF2-40B4-BE49-F238E27FC236}">
                <a16:creationId xmlns:a16="http://schemas.microsoft.com/office/drawing/2014/main" id="{7CE926EF-2955-EFE8-E1DB-12CAAC3F05A5}"/>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E5A3A97-4EAF-D1BE-2F1F-BC30BB316EA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772624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6"/>
          <a:stretch>
            <a:fillRect/>
          </a:stretch>
        </p:blipFill>
        <p:spPr>
          <a:xfrm>
            <a:off x="6595" y="2191106"/>
            <a:ext cx="1232042" cy="1110658"/>
          </a:xfrm>
          <a:prstGeom prst="rect">
            <a:avLst/>
          </a:prstGeom>
        </p:spPr>
      </p:pic>
      <p:pic>
        <p:nvPicPr>
          <p:cNvPr id="6" name="그래픽 5" descr="집 Wi-Fi에서 작업 단색으로 채워진">
            <a:hlinkClick r:id="" action="ppaction://hlinkshowjump?jump=firstslide"/>
            <a:extLst>
              <a:ext uri="{FF2B5EF4-FFF2-40B4-BE49-F238E27FC236}">
                <a16:creationId xmlns:a16="http://schemas.microsoft.com/office/drawing/2014/main" id="{8A31C7FB-9B7E-ACDC-8249-96BBBD7A53B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948655"/>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8605B7DF-8A6B-ACE4-EBBD-78C25223B1F4}"/>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282703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3" name="Google Shape;293;p18"/>
          <p:cNvGraphicFramePr/>
          <p:nvPr>
            <p:extLst>
              <p:ext uri="{D42A27DB-BD31-4B8C-83A1-F6EECF244321}">
                <p14:modId xmlns:p14="http://schemas.microsoft.com/office/powerpoint/2010/main" val="3067059234"/>
              </p:ext>
            </p:extLst>
          </p:nvPr>
        </p:nvGraphicFramePr>
        <p:xfrm>
          <a:off x="-2501" y="16504"/>
          <a:ext cx="2328850" cy="6050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RJGG(NGO) 12ft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l" rtl="0">
                        <a:spcBef>
                          <a:spcPts val="0"/>
                        </a:spcBef>
                        <a:spcAft>
                          <a:spcPts val="0"/>
                        </a:spcAft>
                        <a:buNone/>
                      </a:pPr>
                      <a:r>
                        <a:rPr lang="en-US" sz="900" dirty="0"/>
                        <a:t>    </a:t>
                      </a:r>
                      <a:r>
                        <a:rPr lang="en-US" sz="800" dirty="0"/>
                        <a:t>SWISSPORT </a:t>
                      </a:r>
                    </a:p>
                    <a:p>
                      <a:pPr marL="0" marR="0" lvl="0" indent="0" algn="ctr" rtl="0">
                        <a:spcBef>
                          <a:spcPts val="0"/>
                        </a:spcBef>
                        <a:spcAft>
                          <a:spcPts val="0"/>
                        </a:spcAft>
                        <a:buNone/>
                      </a:pPr>
                      <a:r>
                        <a:rPr lang="en-US" sz="800" dirty="0"/>
                        <a:t>    OPERATION    </a:t>
                      </a:r>
                      <a:r>
                        <a:rPr lang="en-US" sz="900" dirty="0"/>
                        <a:t>132.05</a:t>
                      </a:r>
                      <a:endParaRPr sz="900" dirty="0"/>
                    </a:p>
                  </a:txBody>
                  <a:tcPr marL="91450" marR="91450" marT="36000" marB="36000" anchor="ctr"/>
                </a:tc>
                <a:extLst>
                  <a:ext uri="{0D108BD9-81ED-4DB2-BD59-A6C34878D82A}">
                    <a16:rowId xmlns:a16="http://schemas.microsoft.com/office/drawing/2014/main" val="10001"/>
                  </a:ext>
                </a:extLst>
              </a:tr>
            </a:tbl>
          </a:graphicData>
        </a:graphic>
      </p:graphicFrame>
      <p:graphicFrame>
        <p:nvGraphicFramePr>
          <p:cNvPr id="3" name="Google Shape;292;p18">
            <a:extLst>
              <a:ext uri="{FF2B5EF4-FFF2-40B4-BE49-F238E27FC236}">
                <a16:creationId xmlns:a16="http://schemas.microsoft.com/office/drawing/2014/main" id="{875A20F2-11E7-1F75-20D8-CFED1D1E2C0E}"/>
              </a:ext>
            </a:extLst>
          </p:cNvPr>
          <p:cNvGraphicFramePr/>
          <p:nvPr>
            <p:extLst>
              <p:ext uri="{D42A27DB-BD31-4B8C-83A1-F6EECF244321}">
                <p14:modId xmlns:p14="http://schemas.microsoft.com/office/powerpoint/2010/main" val="139003271"/>
              </p:ext>
            </p:extLst>
          </p:nvPr>
        </p:nvGraphicFramePr>
        <p:xfrm>
          <a:off x="4472" y="3761172"/>
          <a:ext cx="2331400" cy="1792570"/>
        </p:xfrm>
        <a:graphic>
          <a:graphicData uri="http://schemas.openxmlformats.org/drawingml/2006/table">
            <a:tbl>
              <a:tblPr firstRow="1" bandRow="1">
                <a:noFill/>
                <a:tableStyleId>{A521BE36-7E6F-4EC9-8D66-1CF97A6895EC}</a:tableStyleId>
              </a:tblPr>
              <a:tblGrid>
                <a:gridCol w="449238">
                  <a:extLst>
                    <a:ext uri="{9D8B030D-6E8A-4147-A177-3AD203B41FA5}">
                      <a16:colId xmlns:a16="http://schemas.microsoft.com/office/drawing/2014/main" val="20000"/>
                    </a:ext>
                  </a:extLst>
                </a:gridCol>
                <a:gridCol w="716462">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dirty="0"/>
                        <a:t>NGO </a:t>
                      </a:r>
                      <a:r>
                        <a:rPr lang="en-US" altLang="ko-Kore-KR" sz="800" dirty="0">
                          <a:solidFill>
                            <a:srgbClr val="00B0F0"/>
                          </a:solidFill>
                        </a:rPr>
                        <a:t>[356/176]</a:t>
                      </a:r>
                      <a:r>
                        <a:rPr lang="en-US" altLang="ko-Kore-KR" sz="800" dirty="0"/>
                        <a:t> </a:t>
                      </a:r>
                      <a:r>
                        <a:rPr lang="en-US" sz="800" dirty="0"/>
                        <a:t>: STAR </a:t>
                      </a:r>
                      <a:r>
                        <a:rPr lang="en-US" sz="800" dirty="0">
                          <a:solidFill>
                            <a:srgbClr val="FFC000"/>
                          </a:solidFill>
                        </a:rPr>
                        <a:t>(SAMON 290, MARIA 130)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SOUTH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PROBE</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sz="800" b="1" dirty="0"/>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NORTH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QUEST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18</a:t>
                      </a:r>
                      <a:endParaRPr sz="800" b="1" dirty="0"/>
                    </a:p>
                  </a:txBody>
                  <a:tcPr marL="36000" marR="36000" marT="36000" marB="36000" anchor="ctr"/>
                </a:tc>
                <a:extLst>
                  <a:ext uri="{0D108BD9-81ED-4DB2-BD59-A6C34878D82A}">
                    <a16:rowId xmlns:a16="http://schemas.microsoft.com/office/drawing/2014/main" val="10002"/>
                  </a:ext>
                </a:extLst>
              </a:tr>
              <a:tr h="116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CBE,</a:t>
                      </a:r>
                      <a:r>
                        <a:rPr lang="en-US" sz="800" b="1" dirty="0">
                          <a:solidFill>
                            <a:srgbClr val="00B050"/>
                          </a:solidFill>
                        </a:rPr>
                        <a:t> </a:t>
                      </a:r>
                      <a:r>
                        <a:rPr lang="en-US" sz="800" b="1" dirty="0">
                          <a:solidFill>
                            <a:srgbClr val="C00000"/>
                          </a:solidFill>
                        </a:rPr>
                        <a:t>36 ICX, 18 ICY</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 : A6(5213’), A7(6525’), A8(7837’)</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 : A5(5393’), A4(6528’), A3(7841’)</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 After 1500ft L/D FLAP </a:t>
                      </a:r>
                    </a:p>
                    <a:p>
                      <a:pPr marL="0" marR="0" lvl="0" indent="0" algn="ctr" rtl="0">
                        <a:lnSpc>
                          <a:spcPct val="100000"/>
                        </a:lnSpc>
                        <a:spcBef>
                          <a:spcPts val="0"/>
                        </a:spcBef>
                        <a:spcAft>
                          <a:spcPts val="0"/>
                        </a:spcAft>
                        <a:buClr>
                          <a:schemeClr val="dk1"/>
                        </a:buClr>
                        <a:buSzPts val="800"/>
                        <a:buFont typeface="Calibri"/>
                        <a:buNone/>
                      </a:pPr>
                      <a:r>
                        <a:rPr lang="en-US" sz="800" dirty="0"/>
                        <a:t>RWY 18 : After 3000ft L/G DN &amp; L/D FLAP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B050"/>
                          </a:solidFill>
                        </a:rPr>
                        <a:t>Caution Stop line, Yellow Ramp line, VDGS!!!</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D1FC2543-C4A5-9C11-508F-89BF4833E0A4}"/>
              </a:ext>
            </a:extLst>
          </p:cNvPr>
          <p:cNvSpPr txBox="1"/>
          <p:nvPr/>
        </p:nvSpPr>
        <p:spPr>
          <a:xfrm>
            <a:off x="14670" y="2857126"/>
            <a:ext cx="1672253"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134.17 – TKO 133.8 – 133.02</a:t>
            </a:r>
          </a:p>
          <a:p>
            <a:pPr>
              <a:lnSpc>
                <a:spcPct val="150000"/>
              </a:lnSpc>
            </a:pPr>
            <a:r>
              <a:rPr kumimoji="1" lang="ko-KR" altLang="en-US" sz="700" b="1" u="sng" dirty="0" err="1">
                <a:solidFill>
                  <a:srgbClr val="0070C0"/>
                </a:solidFill>
                <a:latin typeface="Gulim" panose="020B0600000101010101" pitchFamily="34" charset="-127"/>
                <a:ea typeface="Gulim" panose="020B0600000101010101" pitchFamily="34" charset="-127"/>
              </a:rPr>
              <a:t>센트레아</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121.05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F7711A-A078-A852-471C-DDD7F032B1E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0B32FEC0-931A-DD8E-6007-9522CF14CA28}"/>
              </a:ext>
            </a:extLst>
          </p:cNvPr>
          <p:cNvGraphicFramePr/>
          <p:nvPr>
            <p:extLst>
              <p:ext uri="{D42A27DB-BD31-4B8C-83A1-F6EECF244321}">
                <p14:modId xmlns:p14="http://schemas.microsoft.com/office/powerpoint/2010/main" val="1718035761"/>
              </p:ext>
            </p:extLst>
          </p:nvPr>
        </p:nvGraphicFramePr>
        <p:xfrm>
          <a:off x="1" y="63373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9BD7D8A0-3F36-A428-C25C-5222DA9A70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4917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756796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775238136"/>
              </p:ext>
            </p:extLst>
          </p:nvPr>
        </p:nvGraphicFramePr>
        <p:xfrm>
          <a:off x="0" y="611908"/>
          <a:ext cx="2332950" cy="124743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577875">
                  <a:extLst>
                    <a:ext uri="{9D8B030D-6E8A-4147-A177-3AD203B41FA5}">
                      <a16:colId xmlns:a16="http://schemas.microsoft.com/office/drawing/2014/main" val="20003"/>
                    </a:ext>
                  </a:extLst>
                </a:gridCol>
                <a:gridCol w="855150">
                  <a:extLst>
                    <a:ext uri="{9D8B030D-6E8A-4147-A177-3AD203B41FA5}">
                      <a16:colId xmlns:a16="http://schemas.microsoft.com/office/drawing/2014/main" val="20006"/>
                    </a:ext>
                  </a:extLst>
                </a:gridCol>
              </a:tblGrid>
              <a:tr h="248101">
                <a:tc gridSpan="5">
                  <a:txBody>
                    <a:bodyPr/>
                    <a:lstStyle/>
                    <a:p>
                      <a:pPr marL="0" marR="0" lvl="0" indent="0" algn="ctr" rtl="0">
                        <a:spcBef>
                          <a:spcPts val="0"/>
                        </a:spcBef>
                        <a:spcAft>
                          <a:spcPts val="0"/>
                        </a:spcAft>
                        <a:buNone/>
                      </a:pPr>
                      <a:r>
                        <a:rPr lang="en-US" sz="800" dirty="0"/>
                        <a:t>NGO : SID – TANGO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74182">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OUMI x</a:t>
                      </a:r>
                      <a:endParaRPr sz="800" b="1" dirty="0">
                        <a:solidFill>
                          <a:srgbClr val="0070C0"/>
                        </a:solidFill>
                      </a:endParaRPr>
                    </a:p>
                    <a:p>
                      <a:pPr marL="0" marR="0" lvl="0" indent="0" algn="ctr" rtl="0">
                        <a:spcBef>
                          <a:spcPts val="0"/>
                        </a:spcBef>
                        <a:spcAft>
                          <a:spcPts val="0"/>
                        </a:spcAft>
                        <a:buNone/>
                      </a:pPr>
                      <a:r>
                        <a:rPr lang="en-US" sz="800" dirty="0"/>
                        <a:t>- TANGO </a:t>
                      </a:r>
                      <a:r>
                        <a:rPr lang="en-US" sz="800" dirty="0" err="1"/>
                        <a:t>tx</a:t>
                      </a:r>
                      <a:endParaRPr sz="800" dirty="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dirty="0"/>
                        <a:t>HD 356 </a:t>
                      </a:r>
                      <a:r>
                        <a:rPr lang="en-US" sz="800" b="1" dirty="0">
                          <a:solidFill>
                            <a:srgbClr val="0070C0"/>
                          </a:solidFill>
                        </a:rPr>
                        <a:t>ALT ATC</a:t>
                      </a:r>
                      <a:r>
                        <a:rPr lang="en-US" sz="458" b="0" dirty="0">
                          <a:solidFill>
                            <a:schemeClr val="dk1"/>
                          </a:solidFill>
                        </a:rPr>
                        <a:t> </a:t>
                      </a:r>
                      <a:r>
                        <a:rPr lang="en-US" sz="800" b="1" dirty="0">
                          <a:solidFill>
                            <a:srgbClr val="0070C0"/>
                          </a:solidFill>
                        </a:rPr>
                        <a:t>(7000)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1"/>
                  </a:ext>
                </a:extLst>
              </a:tr>
              <a:tr h="225485">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dirty="0"/>
                        <a:t>HD 176</a:t>
                      </a:r>
                      <a:r>
                        <a:rPr lang="en-US" sz="800" b="1" dirty="0">
                          <a:solidFill>
                            <a:schemeClr val="dk1"/>
                          </a:solidFill>
                        </a:rPr>
                        <a:t> </a:t>
                      </a:r>
                      <a:r>
                        <a:rPr lang="en-US" sz="800" b="1" dirty="0">
                          <a:solidFill>
                            <a:srgbClr val="0070C0"/>
                          </a:solidFill>
                        </a:rPr>
                        <a:t>ALT ATC(7000)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2"/>
                  </a:ext>
                </a:extLst>
              </a:tr>
              <a:tr h="274182">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CBE</a:t>
                      </a:r>
                      <a:r>
                        <a:rPr lang="en-US" sz="800" b="0" dirty="0">
                          <a:solidFill>
                            <a:schemeClr val="dk1"/>
                          </a:solidFill>
                        </a:rPr>
                        <a:t> </a:t>
                      </a:r>
                      <a:r>
                        <a:rPr lang="en-US" sz="800" b="1" dirty="0">
                          <a:solidFill>
                            <a:srgbClr val="0070C0"/>
                          </a:solidFill>
                        </a:rPr>
                        <a:t>117.8</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18 ICY 109.7</a:t>
                      </a:r>
                      <a:endParaRPr sz="8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 ICX 111.9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22548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30min, Prepare Intersection T/O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7439114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RJGG(NGO) 12ft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l" rtl="0">
                        <a:spcBef>
                          <a:spcPts val="0"/>
                        </a:spcBef>
                        <a:spcAft>
                          <a:spcPts val="0"/>
                        </a:spcAft>
                        <a:buNone/>
                      </a:pPr>
                      <a:r>
                        <a:rPr lang="en-US" altLang="ko-Kore-KR" sz="700" dirty="0"/>
                        <a:t>SWISSPORT OPERATION</a:t>
                      </a:r>
                      <a:r>
                        <a:rPr lang="en-US" altLang="ko-Kore-KR" sz="900" dirty="0"/>
                        <a:t>      </a:t>
                      </a:r>
                    </a:p>
                    <a:p>
                      <a:pPr marL="0" marR="0" lvl="0" indent="0" algn="l" rtl="0">
                        <a:spcBef>
                          <a:spcPts val="0"/>
                        </a:spcBef>
                        <a:spcAft>
                          <a:spcPts val="0"/>
                        </a:spcAft>
                        <a:buNone/>
                      </a:pPr>
                      <a:r>
                        <a:rPr lang="en-US" altLang="ko-Kore-KR" sz="900" dirty="0"/>
                        <a:t>   132.05    </a:t>
                      </a:r>
                      <a:r>
                        <a:rPr lang="en-US" sz="700" dirty="0">
                          <a:solidFill>
                            <a:srgbClr val="FF0000"/>
                          </a:solidFill>
                        </a:rPr>
                        <a:t>DCL -15분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91CF481-65C3-26D3-95AE-3671F3B5E010}"/>
              </a:ext>
            </a:extLst>
          </p:cNvPr>
          <p:cNvSpPr txBox="1"/>
          <p:nvPr/>
        </p:nvSpPr>
        <p:spPr>
          <a:xfrm>
            <a:off x="21296" y="1890173"/>
            <a:ext cx="163217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.5</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a:t>
            </a:r>
            <a:r>
              <a:rPr kumimoji="1" lang="en-US" altLang="ko-Kore-KR" sz="700" b="1" u="sng" dirty="0">
                <a:solidFill>
                  <a:srgbClr val="0070C0"/>
                </a:solidFill>
                <a:latin typeface="Gulim" panose="020B0600000101010101" pitchFamily="34" charset="-127"/>
                <a:ea typeface="Gulim" panose="020B0600000101010101" pitchFamily="34" charset="-127"/>
              </a:rPr>
              <a:t>33.8 – 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33D2B1E1-5D0A-9574-5547-A89097C5B4BB}"/>
              </a:ext>
            </a:extLst>
          </p:cNvPr>
          <p:cNvSpPr/>
          <p:nvPr/>
        </p:nvSpPr>
        <p:spPr>
          <a:xfrm>
            <a:off x="838328" y="27813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EA9BB64-8011-F3E4-E8E6-C3C6418A689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21853"/>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6995A1D0-6BC0-59D8-498C-1537F94121BC}"/>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830644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8" name="Google Shape;328;p22"/>
          <p:cNvGraphicFramePr/>
          <p:nvPr>
            <p:extLst>
              <p:ext uri="{D42A27DB-BD31-4B8C-83A1-F6EECF244321}">
                <p14:modId xmlns:p14="http://schemas.microsoft.com/office/powerpoint/2010/main" val="2577914132"/>
              </p:ext>
            </p:extLst>
          </p:nvPr>
        </p:nvGraphicFramePr>
        <p:xfrm>
          <a:off x="-5177" y="3761019"/>
          <a:ext cx="2331375" cy="1792570"/>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CTS </a:t>
                      </a:r>
                      <a:r>
                        <a:rPr lang="en-US" sz="800" dirty="0">
                          <a:solidFill>
                            <a:srgbClr val="00B0F0"/>
                          </a:solidFill>
                        </a:rPr>
                        <a:t>[082/182]</a:t>
                      </a:r>
                      <a:r>
                        <a:rPr lang="en-US" sz="800" dirty="0"/>
                        <a:t> :  </a:t>
                      </a:r>
                      <a:r>
                        <a:rPr lang="en-US" sz="800" dirty="0">
                          <a:solidFill>
                            <a:srgbClr val="FFC000"/>
                          </a:solidFill>
                        </a:rPr>
                        <a:t>01R : IDEMI 150, 19L : NAVER 170</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01R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YOTEI SOUTH</a:t>
                      </a:r>
                      <a:endParaRPr dirty="0"/>
                    </a:p>
                    <a:p>
                      <a:pPr marL="0" marR="0" lvl="0" indent="0" algn="ctr" rtl="0">
                        <a:spcBef>
                          <a:spcPts val="0"/>
                        </a:spcBef>
                        <a:spcAft>
                          <a:spcPts val="0"/>
                        </a:spcAft>
                        <a:buNone/>
                      </a:pPr>
                      <a:r>
                        <a:rPr lang="en-US" sz="800" b="1" dirty="0"/>
                        <a:t>(YUKII WEST)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YOTEI</a:t>
                      </a:r>
                      <a:endParaRPr/>
                    </a:p>
                    <a:p>
                      <a:pPr marL="0" marR="0" lvl="0" indent="0" algn="ctr" rtl="0">
                        <a:spcBef>
                          <a:spcPts val="0"/>
                        </a:spcBef>
                        <a:spcAft>
                          <a:spcPts val="0"/>
                        </a:spcAft>
                        <a:buNone/>
                      </a:pPr>
                      <a:r>
                        <a:rPr lang="en-US" sz="800" b="1"/>
                        <a:t>not YOSEI</a:t>
                      </a:r>
                      <a:endParaRPr/>
                    </a:p>
                  </a:txBody>
                  <a:tcPr marL="36000" marR="36000" marT="36000" marB="36000" anchor="ctr"/>
                </a:tc>
                <a:tc>
                  <a:txBody>
                    <a:bodyPr/>
                    <a:lstStyle/>
                    <a:p>
                      <a:pPr marL="0" marR="0" lvl="0" indent="0" algn="ctr" rtl="0">
                        <a:spcBef>
                          <a:spcPts val="0"/>
                        </a:spcBef>
                        <a:spcAft>
                          <a:spcPts val="0"/>
                        </a:spcAft>
                        <a:buNone/>
                      </a:pPr>
                      <a:r>
                        <a:rPr lang="en-US" sz="800" b="1" dirty="0"/>
                        <a:t>ILS Y/Z 01R</a:t>
                      </a:r>
                    </a:p>
                    <a:p>
                      <a:pPr marL="0" marR="0" lvl="0" indent="0" algn="ctr" rtl="0">
                        <a:spcBef>
                          <a:spcPts val="0"/>
                        </a:spcBef>
                        <a:spcAft>
                          <a:spcPts val="0"/>
                        </a:spcAft>
                        <a:buNone/>
                      </a:pPr>
                      <a:r>
                        <a:rPr lang="en-US" sz="800" b="1" dirty="0">
                          <a:solidFill>
                            <a:srgbClr val="C00000"/>
                          </a:solidFill>
                        </a:rPr>
                        <a:t>3000/2000</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19L</a:t>
                      </a:r>
                    </a:p>
                    <a:p>
                      <a:pPr marL="0" marR="0" lvl="0" indent="0" algn="ctr" rtl="0">
                        <a:spcBef>
                          <a:spcPts val="0"/>
                        </a:spcBef>
                        <a:spcAft>
                          <a:spcPts val="0"/>
                        </a:spcAft>
                        <a:buNone/>
                      </a:pPr>
                      <a:r>
                        <a:rPr lang="en-US" sz="800" b="1" dirty="0">
                          <a:solidFill>
                            <a:srgbClr val="C00000"/>
                          </a:solidFill>
                        </a:rPr>
                        <a:t>19R </a:t>
                      </a:r>
                    </a:p>
                    <a:p>
                      <a:pPr marL="0" marR="0" lvl="0" indent="0" algn="ctr" rtl="0">
                        <a:spcBef>
                          <a:spcPts val="0"/>
                        </a:spcBef>
                        <a:spcAft>
                          <a:spcPts val="0"/>
                        </a:spcAft>
                        <a:buNone/>
                      </a:pPr>
                      <a:r>
                        <a:rPr lang="en-US" sz="800" b="1" dirty="0">
                          <a:solidFill>
                            <a:srgbClr val="C00000"/>
                          </a:solidFill>
                        </a:rPr>
                        <a:t>CAT III</a:t>
                      </a:r>
                      <a:endParaRPr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t>NAVER(170)</a:t>
                      </a:r>
                      <a:endParaRPr/>
                    </a:p>
                    <a:p>
                      <a:pPr marL="0" marR="0" lvl="0" indent="0" algn="ctr" rtl="0">
                        <a:spcBef>
                          <a:spcPts val="0"/>
                        </a:spcBef>
                        <a:spcAft>
                          <a:spcPts val="0"/>
                        </a:spcAft>
                        <a:buNone/>
                      </a:pPr>
                      <a:r>
                        <a:rPr lang="en-US" sz="800" b="1"/>
                        <a:t>YUNEY SOUTH</a:t>
                      </a:r>
                      <a:endParaRPr/>
                    </a:p>
                    <a:p>
                      <a:pPr marL="0" marR="0" lvl="0" indent="0" algn="ctr" rtl="0">
                        <a:spcBef>
                          <a:spcPts val="0"/>
                        </a:spcBef>
                        <a:spcAft>
                          <a:spcPts val="0"/>
                        </a:spcAft>
                        <a:buNone/>
                      </a:pPr>
                      <a:r>
                        <a:rPr lang="en-US" sz="800" b="1"/>
                        <a:t>(KAORY A)</a:t>
                      </a:r>
                      <a:endParaRPr sz="800" b="1"/>
                    </a:p>
                  </a:txBody>
                  <a:tcPr marL="36000" marR="36000" marT="36000" marB="36000" anchor="ctr"/>
                </a:tc>
                <a:tc>
                  <a:txBody>
                    <a:bodyPr/>
                    <a:lstStyle/>
                    <a:p>
                      <a:pPr marL="0" marR="0" lvl="0" indent="0" algn="ctr" rtl="0">
                        <a:spcBef>
                          <a:spcPts val="0"/>
                        </a:spcBef>
                        <a:spcAft>
                          <a:spcPts val="0"/>
                        </a:spcAft>
                        <a:buNone/>
                      </a:pPr>
                      <a:r>
                        <a:rPr lang="en-US" sz="800" b="1"/>
                        <a:t>KAORY</a:t>
                      </a:r>
                      <a:endParaRPr/>
                    </a:p>
                    <a:p>
                      <a:pPr marL="0" marR="0" lvl="0" indent="0" algn="ctr" rtl="0">
                        <a:spcBef>
                          <a:spcPts val="0"/>
                        </a:spcBef>
                        <a:spcAft>
                          <a:spcPts val="0"/>
                        </a:spcAft>
                        <a:buNone/>
                      </a:pPr>
                      <a:r>
                        <a:rPr lang="en-US" sz="800" b="1"/>
                        <a:t>YUNEY</a:t>
                      </a:r>
                      <a:endParaRPr/>
                    </a:p>
                    <a:p>
                      <a:pPr marL="0" marR="0" lvl="0" indent="0" algn="ctr" rtl="0">
                        <a:spcBef>
                          <a:spcPts val="0"/>
                        </a:spcBef>
                        <a:spcAft>
                          <a:spcPts val="0"/>
                        </a:spcAft>
                        <a:buNone/>
                      </a:pPr>
                      <a:r>
                        <a:rPr lang="en-US" sz="800" b="1"/>
                        <a:t>(KAORY)</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19L</a:t>
                      </a:r>
                      <a:endParaRPr/>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CHE,</a:t>
                      </a:r>
                      <a:r>
                        <a:rPr lang="en-US" sz="800" b="1" dirty="0">
                          <a:solidFill>
                            <a:srgbClr val="00B050"/>
                          </a:solidFill>
                        </a:rPr>
                        <a:t> </a:t>
                      </a:r>
                      <a:r>
                        <a:rPr lang="en-US" sz="800" b="1" dirty="0">
                          <a:solidFill>
                            <a:srgbClr val="C00000"/>
                          </a:solidFill>
                        </a:rPr>
                        <a:t>01R ICH, 19L ICM</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3"/>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01R : B4(5278’), B3(7047’), 19L : B8(5177’), B9(7119’)</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01L : A5(5538’), A4(6961’), 19R : A7(5390’), A8(6873’)</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Do not Cross 01L/19R After L/D (No TWY)</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to Gate Via D(J) or 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335363358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RJCC(CTS) 70ft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1878" y="2830125"/>
            <a:ext cx="2085827"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a:t>
            </a:r>
            <a:r>
              <a:rPr kumimoji="1" lang="en-US" altLang="ko-KR" sz="600" b="1" u="sng" dirty="0">
                <a:solidFill>
                  <a:srgbClr val="0070C0"/>
                </a:solidFill>
                <a:latin typeface="Gulim" panose="020B0600000101010101" pitchFamily="34" charset="-127"/>
                <a:ea typeface="Gulim" panose="020B0600000101010101" pitchFamily="34" charset="-127"/>
              </a:rPr>
              <a:t>24</a:t>
            </a:r>
            <a:r>
              <a:rPr kumimoji="1" lang="en-US" altLang="ko-Kore-KR" sz="600" b="1" u="sng" dirty="0">
                <a:solidFill>
                  <a:srgbClr val="0070C0"/>
                </a:solidFill>
                <a:latin typeface="Gulim" panose="020B0600000101010101" pitchFamily="34" charset="-127"/>
                <a:ea typeface="Gulim" panose="020B0600000101010101" pitchFamily="34" charset="-127"/>
              </a:rPr>
              <a:t>.</a:t>
            </a:r>
            <a:r>
              <a:rPr kumimoji="1" lang="en-US" altLang="ko-KR" sz="600" b="1" u="sng" dirty="0">
                <a:solidFill>
                  <a:srgbClr val="0070C0"/>
                </a:solidFill>
                <a:latin typeface="Gulim" panose="020B0600000101010101" pitchFamily="34" charset="-127"/>
                <a:ea typeface="Gulim" panose="020B0600000101010101" pitchFamily="34" charset="-127"/>
              </a:rPr>
              <a:t>15</a:t>
            </a:r>
            <a:r>
              <a:rPr kumimoji="1" lang="en-US" altLang="ko-Kore-KR" sz="600" b="1" u="sng" dirty="0">
                <a:solidFill>
                  <a:srgbClr val="0070C0"/>
                </a:solidFill>
                <a:latin typeface="Gulim" panose="020B0600000101010101" pitchFamily="34" charset="-127"/>
                <a:ea typeface="Gulim" panose="020B0600000101010101" pitchFamily="34" charset="-127"/>
              </a:rPr>
              <a:t> – 133.</a:t>
            </a:r>
            <a:r>
              <a:rPr kumimoji="1" lang="en-US" altLang="ko-KR" sz="600" b="1" u="sng" dirty="0">
                <a:solidFill>
                  <a:srgbClr val="0070C0"/>
                </a:solidFill>
                <a:latin typeface="Gulim" panose="020B0600000101010101" pitchFamily="34" charset="-127"/>
                <a:ea typeface="Gulim" panose="020B0600000101010101" pitchFamily="34" charset="-127"/>
              </a:rPr>
              <a:t>02</a:t>
            </a:r>
            <a:r>
              <a:rPr kumimoji="1" lang="en-US" altLang="ko-Kore-KR" sz="6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132.3 - SPR 133.3 -119.3</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CTS APP 120.1</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23899" y="2859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48187323-9745-7D15-999A-0DB2DA6DB0FD}"/>
              </a:ext>
            </a:extLst>
          </p:cNvPr>
          <p:cNvGraphicFramePr/>
          <p:nvPr>
            <p:extLst>
              <p:ext uri="{D42A27DB-BD31-4B8C-83A1-F6EECF244321}">
                <p14:modId xmlns:p14="http://schemas.microsoft.com/office/powerpoint/2010/main" val="1906755642"/>
              </p:ext>
            </p:extLst>
          </p:nvPr>
        </p:nvGraphicFramePr>
        <p:xfrm>
          <a:off x="1" y="613420"/>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A857DC84-A9EE-B011-B931-FEF867EE725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extLst>
              <p:ext uri="{D42A27DB-BD31-4B8C-83A1-F6EECF244321}">
                <p14:modId xmlns:p14="http://schemas.microsoft.com/office/powerpoint/2010/main" val="1203553812"/>
              </p:ext>
            </p:extLst>
          </p:nvPr>
        </p:nvGraphicFramePr>
        <p:xfrm>
          <a:off x="0" y="611908"/>
          <a:ext cx="2332950" cy="12828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CTS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row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DALBI x</a:t>
                      </a:r>
                      <a:endParaRPr/>
                    </a:p>
                    <a:p>
                      <a:pPr marL="0" marR="0" lvl="0" indent="0" algn="ctr" rtl="0">
                        <a:spcBef>
                          <a:spcPts val="0"/>
                        </a:spcBef>
                        <a:spcAft>
                          <a:spcPts val="0"/>
                        </a:spcAft>
                        <a:buNone/>
                      </a:pPr>
                      <a:r>
                        <a:rPr lang="en-US" sz="800" b="1">
                          <a:solidFill>
                            <a:srgbClr val="0070C0"/>
                          </a:solidFill>
                        </a:rPr>
                        <a:t>SUVIT x SOSHU x</a:t>
                      </a:r>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vMerge="1">
                  <a:txBody>
                    <a:bodyPr/>
                    <a:lstStyle/>
                    <a:p>
                      <a:endParaRPr lang="ko-Kore-KR"/>
                    </a:p>
                  </a:txBody>
                  <a:tcP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182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CHE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116.9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01R ICH</a:t>
                      </a:r>
                      <a:endParaRPr dirty="0"/>
                    </a:p>
                    <a:p>
                      <a:pPr marL="0" marR="0" lvl="0" indent="0" algn="ctr" rtl="0">
                        <a:spcBef>
                          <a:spcPts val="0"/>
                        </a:spcBef>
                        <a:spcAft>
                          <a:spcPts val="0"/>
                        </a:spcAft>
                        <a:buNone/>
                      </a:pPr>
                      <a:r>
                        <a:rPr lang="en-US" sz="800" b="1" dirty="0">
                          <a:solidFill>
                            <a:srgbClr val="C00000"/>
                          </a:solidFill>
                        </a:rPr>
                        <a:t>110.75</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19L ICM</a:t>
                      </a:r>
                      <a:endParaRPr dirty="0"/>
                    </a:p>
                    <a:p>
                      <a:pPr marL="0" marR="0" lvl="0" indent="0" algn="ctr" rtl="0">
                        <a:spcBef>
                          <a:spcPts val="0"/>
                        </a:spcBef>
                        <a:spcAft>
                          <a:spcPts val="0"/>
                        </a:spcAft>
                        <a:buNone/>
                      </a:pPr>
                      <a:r>
                        <a:rPr lang="en-US" sz="800" b="1" dirty="0">
                          <a:solidFill>
                            <a:srgbClr val="C00000"/>
                          </a:solidFill>
                        </a:rPr>
                        <a:t>109.35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01L ICN 110.9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19R ICS 111.5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APU, Deicing at the Gate</a:t>
                      </a:r>
                      <a:endParaRPr dirty="0"/>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R/H turn DCT to HWE -&gt; Confirm R/H Turn ND</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163075608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RJCC(CTS) 70ft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800" dirty="0">
                          <a:solidFill>
                            <a:srgbClr val="FF0000"/>
                          </a:solidFill>
                        </a:rPr>
                        <a:t>NO DCL -5분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20938" y="2172085"/>
            <a:ext cx="1596912"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124.7</a:t>
            </a:r>
          </a:p>
          <a:p>
            <a:pPr>
              <a:lnSpc>
                <a:spcPct val="150000"/>
              </a:lnSpc>
            </a:pPr>
            <a:r>
              <a:rPr kumimoji="1" lang="en-US" altLang="ko-KR" sz="700" b="1" u="sng" dirty="0">
                <a:latin typeface="Gulim" panose="020B0600000101010101" pitchFamily="34" charset="-127"/>
                <a:ea typeface="Gulim" panose="020B0600000101010101" pitchFamily="34" charset="-127"/>
              </a:rPr>
              <a:t>SPR 119.3 – TKO 124.5 - 132.3 </a:t>
            </a:r>
          </a:p>
          <a:p>
            <a:pPr>
              <a:lnSpc>
                <a:spcPct val="150000"/>
              </a:lnSpc>
            </a:pPr>
            <a:r>
              <a:rPr kumimoji="1" lang="en-US" altLang="ko-KR" sz="700" b="1" u="sng" dirty="0">
                <a:latin typeface="Gulim" panose="020B0600000101010101" pitchFamily="34" charset="-127"/>
                <a:ea typeface="Gulim" panose="020B0600000101010101" pitchFamily="34" charset="-127"/>
              </a:rPr>
              <a:t>FUK 133.02 – 124.15 </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17125" y="326580"/>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4B601688-1CA9-DD87-2D04-8480B38062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47345"/>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83507784-FFD7-5262-00D4-12EDD376F035}"/>
              </a:ext>
            </a:extLst>
          </p:cNvPr>
          <p:cNvGraphicFramePr/>
          <p:nvPr>
            <p:extLst>
              <p:ext uri="{D42A27DB-BD31-4B8C-83A1-F6EECF244321}">
                <p14:modId xmlns:p14="http://schemas.microsoft.com/office/powerpoint/2010/main" val="3993184712"/>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31DD9EB2-212E-1F65-C82E-FC8EB6C230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076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232790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525532967"/>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r>
                        <a:rPr lang="en-US" altLang="ko-Kore-KR" sz="800" b="1" u="none" strike="noStrike" cap="none" dirty="0">
                          <a:solidFill>
                            <a:srgbClr val="F28943"/>
                          </a:solidFill>
                        </a:rPr>
                        <a:t>TA 9000</a:t>
                      </a:r>
                      <a:endParaRPr lang="ko-Kore-KR" altLang="en-US" dirty="0">
                        <a:solidFill>
                          <a:srgbClr val="F28943"/>
                        </a:solidFill>
                      </a:endParaRPr>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72985"/>
            <a:ext cx="1498808" cy="459613"/>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6"/>
          <a:stretch>
            <a:fillRect/>
          </a:stretch>
        </p:blipFill>
        <p:spPr>
          <a:xfrm>
            <a:off x="-2501" y="2580615"/>
            <a:ext cx="690063" cy="519130"/>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A1E80393-D911-359C-DEDD-4560586C6CE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59750"/>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15204D4C-BEA5-EAB6-46B3-FEBC20C1800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5115118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31ECD4A-3CBF-B0BA-F892-E3C0EDC36F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396583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5046955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47599819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181 </a:t>
                      </a:r>
                      <a:r>
                        <a:rPr lang="en-US" sz="800" b="1" u="none" strike="noStrike" cap="none" dirty="0">
                          <a:solidFill>
                            <a:srgbClr val="0070C0"/>
                          </a:solidFill>
                        </a:rPr>
                        <a:t>ALT DCL(1500m)</a:t>
                      </a:r>
                    </a:p>
                    <a:p>
                      <a:pPr algn="ct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FE832C10-7C86-1F04-7EF1-AA05288C8DF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56888552-4493-DABB-C1C9-B2A992A602E9}"/>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010626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27E294E-7F66-46E0-7CE2-81B2EF6F43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37C797-5AC1-48CA-DEDE-FAB3486F6536}"/>
              </a:ext>
            </a:extLst>
          </p:cNvPr>
          <p:cNvSpPr txBox="1"/>
          <p:nvPr/>
        </p:nvSpPr>
        <p:spPr>
          <a:xfrm>
            <a:off x="-55838" y="2877421"/>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2403E1D1-F044-7A96-3151-E5BF721B1E1B}"/>
              </a:ext>
            </a:extLst>
          </p:cNvPr>
          <p:cNvGraphicFramePr/>
          <p:nvPr>
            <p:extLst>
              <p:ext uri="{D42A27DB-BD31-4B8C-83A1-F6EECF244321}">
                <p14:modId xmlns:p14="http://schemas.microsoft.com/office/powerpoint/2010/main" val="491424708"/>
              </p:ext>
            </p:extLst>
          </p:nvPr>
        </p:nvGraphicFramePr>
        <p:xfrm>
          <a:off x="55" y="3694172"/>
          <a:ext cx="2333879" cy="1868920"/>
        </p:xfrm>
        <a:graphic>
          <a:graphicData uri="http://schemas.openxmlformats.org/drawingml/2006/table">
            <a:tbl>
              <a:tblPr firstRow="1" bandRow="1">
                <a:noFill/>
                <a:tableStyleId>{A521BE36-7E6F-4EC9-8D66-1CF97A6895EC}</a:tableStyleId>
              </a:tblPr>
              <a:tblGrid>
                <a:gridCol w="479630">
                  <a:extLst>
                    <a:ext uri="{9D8B030D-6E8A-4147-A177-3AD203B41FA5}">
                      <a16:colId xmlns:a16="http://schemas.microsoft.com/office/drawing/2014/main" val="20000"/>
                    </a:ext>
                  </a:extLst>
                </a:gridCol>
                <a:gridCol w="786958">
                  <a:extLst>
                    <a:ext uri="{9D8B030D-6E8A-4147-A177-3AD203B41FA5}">
                      <a16:colId xmlns:a16="http://schemas.microsoft.com/office/drawing/2014/main" val="20001"/>
                    </a:ext>
                  </a:extLst>
                </a:gridCol>
                <a:gridCol w="700816">
                  <a:extLst>
                    <a:ext uri="{9D8B030D-6E8A-4147-A177-3AD203B41FA5}">
                      <a16:colId xmlns:a16="http://schemas.microsoft.com/office/drawing/2014/main" val="20002"/>
                    </a:ext>
                  </a:extLst>
                </a:gridCol>
                <a:gridCol w="36647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WUH </a:t>
                      </a:r>
                      <a:r>
                        <a:rPr lang="en-US" sz="800" dirty="0">
                          <a:solidFill>
                            <a:srgbClr val="00B0F0"/>
                          </a:solidFill>
                        </a:rPr>
                        <a:t>[046/226]</a:t>
                      </a:r>
                      <a:r>
                        <a:rPr lang="en-US" sz="800" dirty="0"/>
                        <a:t> : </a:t>
                      </a:r>
                      <a:r>
                        <a:rPr lang="en-US" sz="800" dirty="0">
                          <a:solidFill>
                            <a:srgbClr val="FFC000"/>
                          </a:solidFill>
                        </a:rPr>
                        <a:t>WUH CTL Rep </a:t>
                      </a:r>
                      <a:r>
                        <a:rPr lang="en-US" sz="800" dirty="0" err="1">
                          <a:solidFill>
                            <a:srgbClr val="FFC000"/>
                          </a:solidFill>
                        </a:rPr>
                        <a:t>HLxxxx</a:t>
                      </a:r>
                      <a:r>
                        <a:rPr lang="en-US" sz="800" dirty="0">
                          <a:solidFill>
                            <a:srgbClr val="FFC000"/>
                          </a:solidFill>
                        </a:rPr>
                        <a:t>, RDR CTC 60NM</a:t>
                      </a:r>
                    </a:p>
                    <a:p>
                      <a:pPr marL="0" marR="0" lvl="0" indent="0" algn="ctr" rtl="0">
                        <a:spcBef>
                          <a:spcPts val="0"/>
                        </a:spcBef>
                        <a:spcAft>
                          <a:spcPts val="0"/>
                        </a:spcAft>
                        <a:buNone/>
                      </a:pPr>
                      <a:r>
                        <a:rPr lang="en-US" sz="800" dirty="0">
                          <a:solidFill>
                            <a:srgbClr val="FFC000"/>
                          </a:solidFill>
                        </a:rPr>
                        <a:t>Prepare STAR CHG</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04</a:t>
                      </a:r>
                      <a:r>
                        <a:rPr lang="en-US" sz="800" b="1" dirty="0"/>
                        <a:t>/05R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PONUD 01T/05T</a:t>
                      </a:r>
                    </a:p>
                  </a:txBody>
                  <a:tcPr marL="36000" marR="36000" marT="36000" marB="36000" anchor="ctr"/>
                </a:tc>
                <a:tc>
                  <a:txBody>
                    <a:bodyPr/>
                    <a:lstStyle/>
                    <a:p>
                      <a:pPr marL="0" marR="0" lvl="0" indent="0" algn="ctr" rtl="0">
                        <a:spcBef>
                          <a:spcPts val="0"/>
                        </a:spcBef>
                        <a:spcAft>
                          <a:spcPts val="0"/>
                        </a:spcAft>
                        <a:buNone/>
                      </a:pPr>
                      <a:r>
                        <a:rPr lang="en-US" sz="800" b="1" dirty="0"/>
                        <a:t>HH310/HH357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22</a:t>
                      </a:r>
                      <a:r>
                        <a:rPr lang="en-US" altLang="ko-KR" sz="800" b="1" dirty="0"/>
                        <a:t>/23L</a:t>
                      </a:r>
                      <a:r>
                        <a:rPr lang="en-US" altLang="ko-KR"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PONUD 02T</a:t>
                      </a:r>
                    </a:p>
                  </a:txBody>
                  <a:tcPr marL="36000" marR="36000" marT="36000" marB="36000" anchor="ctr"/>
                </a:tc>
                <a:tc>
                  <a:txBody>
                    <a:bodyPr/>
                    <a:lstStyle/>
                    <a:p>
                      <a:pPr marL="0" marR="0" lvl="0" indent="0" algn="ctr" rtl="0">
                        <a:spcBef>
                          <a:spcPts val="0"/>
                        </a:spcBef>
                        <a:spcAft>
                          <a:spcPts val="0"/>
                        </a:spcAft>
                        <a:buNone/>
                      </a:pPr>
                      <a:r>
                        <a:rPr lang="en-US" sz="800" b="1" dirty="0"/>
                        <a:t>AVLEN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WHA, </a:t>
                      </a:r>
                      <a:r>
                        <a:rPr lang="en-US" sz="800" b="1" dirty="0">
                          <a:solidFill>
                            <a:srgbClr val="C00000"/>
                          </a:solidFill>
                        </a:rPr>
                        <a:t>04 IHN, 05R IMU, 22 ITS, 23L IQD, </a:t>
                      </a:r>
                      <a:r>
                        <a:rPr lang="en-US" sz="800" b="0" dirty="0">
                          <a:solidFill>
                            <a:srgbClr val="C00000"/>
                          </a:solidFill>
                        </a:rPr>
                        <a:t>05L IWF, 23R IUT</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intercept final 180kts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04</a:t>
                      </a:r>
                      <a:r>
                        <a:rPr lang="en-US" sz="800" b="1" dirty="0">
                          <a:solidFill>
                            <a:schemeClr val="dk1"/>
                          </a:solidFill>
                        </a:rPr>
                        <a:t> : B8(5557’), B9(6578’), 22 : B5(6738’), B4(7939’)</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F10(5475’), F11(6597’), 23L : F7(5341’), F6(6545’)</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TWY K/J</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06452A51-4762-47A4-ADA8-9CE16B4CAAEE}"/>
              </a:ext>
            </a:extLst>
          </p:cNvPr>
          <p:cNvGraphicFramePr/>
          <p:nvPr>
            <p:extLst>
              <p:ext uri="{D42A27DB-BD31-4B8C-83A1-F6EECF244321}">
                <p14:modId xmlns:p14="http://schemas.microsoft.com/office/powerpoint/2010/main" val="331795161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ZHHH(WUH)</a:t>
                      </a:r>
                      <a:r>
                        <a:rPr lang="en-US" sz="1100" dirty="0">
                          <a:solidFill>
                            <a:schemeClr val="tx1"/>
                          </a:solidFill>
                          <a:hlinkClick r:id="rId4">
                            <a:extLst>
                              <a:ext uri="{A12FA001-AC4F-418D-AE19-62706E023703}">
                                <ahyp:hlinkClr xmlns:ahyp="http://schemas.microsoft.com/office/drawing/2018/hyperlinkcolor" val="tx"/>
                              </a:ext>
                            </a:extLst>
                          </a:hlinkClick>
                        </a:rPr>
                        <a:t>115ft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8E1048C-82F4-DA0C-B25B-BB308E6EC9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F1CBEC3-24C1-077F-F86D-21DA821249F2}"/>
              </a:ext>
            </a:extLst>
          </p:cNvPr>
          <p:cNvGraphicFramePr/>
          <p:nvPr>
            <p:extLst>
              <p:ext uri="{D42A27DB-BD31-4B8C-83A1-F6EECF244321}">
                <p14:modId xmlns:p14="http://schemas.microsoft.com/office/powerpoint/2010/main" val="3194380724"/>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1E7039-3985-3319-8153-00C2DAD591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35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6526273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9DC52-799B-207D-29F8-8A90E9CF797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8B808DF6-7600-D8FC-9793-0A4A662F4DC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AC3BAA90-8162-6561-191A-847D18A94074}"/>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AD063AC-23F2-97DF-01C2-3E47B86D26A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16DC4BCA-74CB-FD52-E9BF-03DB4F277BC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65355410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333C40A7-A839-062E-AC98-ADBCE816C0FE}"/>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256DD3D5-A12A-4FEB-FE52-EA7759FEA2B0}"/>
              </a:ext>
            </a:extLst>
          </p:cNvPr>
          <p:cNvGraphicFramePr/>
          <p:nvPr>
            <p:extLst>
              <p:ext uri="{D42A27DB-BD31-4B8C-83A1-F6EECF244321}">
                <p14:modId xmlns:p14="http://schemas.microsoft.com/office/powerpoint/2010/main" val="3648788356"/>
              </p:ext>
            </p:extLst>
          </p:nvPr>
        </p:nvGraphicFramePr>
        <p:xfrm>
          <a:off x="-4046" y="682516"/>
          <a:ext cx="2332909" cy="1598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17152">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sz="800" u="none" strike="noStrike" cap="none" dirty="0"/>
                        <a:t>WUH : SID (NADP 1)  </a:t>
                      </a:r>
                      <a:r>
                        <a:rPr lang="en-US" sz="800" u="none" strike="noStrike" cap="none" dirty="0">
                          <a:solidFill>
                            <a:srgbClr val="FFC000"/>
                          </a:solidFill>
                        </a:rPr>
                        <a:t>Readback RWY, ALT to CLR</a:t>
                      </a:r>
                    </a:p>
                    <a:p>
                      <a:pPr marL="0" marR="0" lvl="0" indent="0" algn="ctr" rtl="0">
                        <a:spcBef>
                          <a:spcPts val="0"/>
                        </a:spcBef>
                        <a:spcAft>
                          <a:spcPts val="0"/>
                        </a:spcAft>
                        <a:buNone/>
                      </a:pPr>
                      <a:r>
                        <a:rPr lang="en-US" sz="800" u="none" strike="noStrike" cap="none" dirty="0">
                          <a:solidFill>
                            <a:srgbClr val="FFC000"/>
                          </a:solidFill>
                        </a:rPr>
                        <a:t>Report Ready for P/B to CLR</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solidFill>
                            <a:srgbClr val="0070C0"/>
                          </a:solidFill>
                        </a:rPr>
                        <a:t>04</a:t>
                      </a:r>
                      <a:r>
                        <a:rPr lang="en-US" altLang="ko-KR" sz="800" b="1" u="none" strike="noStrike" cap="none" dirty="0"/>
                        <a:t>/</a:t>
                      </a:r>
                      <a:r>
                        <a:rPr lang="en-US" sz="800" b="0" u="none" strike="noStrike" cap="none" dirty="0"/>
                        <a:t>05L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BIVIP 7S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046 </a:t>
                      </a:r>
                      <a:r>
                        <a:rPr lang="en-US" sz="800" b="1" u="none" strike="noStrike" cap="none" dirty="0">
                          <a:solidFill>
                            <a:srgbClr val="0070C0"/>
                          </a:solidFill>
                        </a:rPr>
                        <a:t>ALT 4800m or ATC(900m) </a:t>
                      </a:r>
                      <a:r>
                        <a:rPr lang="en-US" sz="800" b="1" u="none" strike="noStrike" cap="none" dirty="0">
                          <a:solidFill>
                            <a:srgbClr val="F28943"/>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22</a:t>
                      </a:r>
                      <a:r>
                        <a:rPr lang="en-US" sz="800" b="1" u="none" strike="noStrike" cap="none" dirty="0"/>
                        <a:t>/</a:t>
                      </a:r>
                    </a:p>
                    <a:p>
                      <a:pPr marL="0" marR="0" lvl="0" indent="0" algn="ctr" rtl="0">
                        <a:spcBef>
                          <a:spcPts val="0"/>
                        </a:spcBef>
                        <a:spcAft>
                          <a:spcPts val="0"/>
                        </a:spcAft>
                        <a:buNone/>
                      </a:pPr>
                      <a:r>
                        <a:rPr lang="en-US" sz="800" b="0" u="none" strike="noStrike" cap="none" dirty="0"/>
                        <a:t>23R</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BIVIP 6S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246 </a:t>
                      </a:r>
                      <a:r>
                        <a:rPr lang="en-US" sz="800" b="1" u="none" strike="noStrike" cap="none" dirty="0">
                          <a:solidFill>
                            <a:srgbClr val="0070C0"/>
                          </a:solidFill>
                        </a:rPr>
                        <a:t>ALT 4800m or ATC(900m)</a:t>
                      </a:r>
                    </a:p>
                    <a:p>
                      <a:pPr algn="ctr"/>
                      <a:r>
                        <a:rPr lang="en-US" altLang="ko-Kore-KR" sz="800" b="1" u="none" strike="noStrike" cap="none" dirty="0">
                          <a:solidFill>
                            <a:srgbClr val="7030A0"/>
                          </a:solidFill>
                        </a:rPr>
                        <a:t>SPD 220/230kts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WHA 112.2</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04 IHN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109.3</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22 ITS 108.5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05L IWF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IUT 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err="1">
                          <a:solidFill>
                            <a:srgbClr val="0070C0"/>
                          </a:solidFill>
                        </a:rPr>
                        <a:t>Uncommanded</a:t>
                      </a:r>
                      <a:r>
                        <a:rPr lang="en-US" sz="800" b="1" u="none" strike="noStrike" cap="none" dirty="0">
                          <a:solidFill>
                            <a:srgbClr val="0070C0"/>
                          </a:solidFill>
                        </a:rPr>
                        <a:t> Turn RNP Departure</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F1CA6E7-138F-6692-D8FD-74777DD14A57}"/>
              </a:ext>
            </a:extLst>
          </p:cNvPr>
          <p:cNvGraphicFramePr/>
          <p:nvPr>
            <p:extLst>
              <p:ext uri="{D42A27DB-BD31-4B8C-83A1-F6EECF244321}">
                <p14:modId xmlns:p14="http://schemas.microsoft.com/office/powerpoint/2010/main" val="1257515821"/>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ZHHH(WUH)</a:t>
                      </a:r>
                      <a:r>
                        <a:rPr lang="en-US" altLang="ko-Kore-KR" sz="1050" dirty="0">
                          <a:solidFill>
                            <a:schemeClr val="tx1"/>
                          </a:solidFill>
                          <a:hlinkClick r:id="rId3">
                            <a:extLst>
                              <a:ext uri="{A12FA001-AC4F-418D-AE19-62706E023703}">
                                <ahyp:hlinkClr xmlns:ahyp="http://schemas.microsoft.com/office/drawing/2018/hyperlinkcolor" val="tx"/>
                              </a:ext>
                            </a:extLst>
                          </a:hlinkClick>
                        </a:rPr>
                        <a:t>115ft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Readback to CLR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A11941-6534-0E55-E63A-E7303D3769D4}"/>
              </a:ext>
            </a:extLst>
          </p:cNvPr>
          <p:cNvSpPr txBox="1"/>
          <p:nvPr/>
        </p:nvSpPr>
        <p:spPr>
          <a:xfrm>
            <a:off x="-4046" y="2397456"/>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119.575</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120.55 – </a:t>
            </a:r>
            <a:r>
              <a:rPr kumimoji="1" lang="en-US" altLang="ko-Kore-KR" sz="700" b="1" u="sng" dirty="0">
                <a:solidFill>
                  <a:srgbClr val="0070C0"/>
                </a:solidFill>
                <a:latin typeface="Gulim" panose="020B0600000101010101" pitchFamily="34" charset="-127"/>
                <a:ea typeface="Gulim" panose="020B0600000101010101" pitchFamily="34" charset="-127"/>
              </a:rPr>
              <a:t>120.95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9FB92E6-462A-A671-D50E-73C4126B5712}"/>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BEFEE25-3455-FFF4-B399-93ECE194462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9076"/>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8250B686-D8C8-F6E8-5889-31A0E1A8FB3B}"/>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81012134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7692BD7-8799-FC28-C12C-7A29AFF7ED0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FAF08B3-435B-624E-A790-C275A7FE5FB0}"/>
              </a:ext>
            </a:extLst>
          </p:cNvPr>
          <p:cNvSpPr txBox="1"/>
          <p:nvPr/>
        </p:nvSpPr>
        <p:spPr>
          <a:xfrm>
            <a:off x="12776" y="2830851"/>
            <a:ext cx="1842171" cy="693899"/>
          </a:xfrm>
          <a:prstGeom prst="rect">
            <a:avLst/>
          </a:prstGeom>
          <a:noFill/>
        </p:spPr>
        <p:txBody>
          <a:bodyPr wrap="none" tIns="36000" bIns="36000" rtlCol="0" anchor="ctr">
            <a:spAutoFit/>
          </a:bodyPr>
          <a:lstStyle/>
          <a:p>
            <a:pPr>
              <a:lnSpc>
                <a:spcPct val="150000"/>
              </a:lnSpc>
            </a:pPr>
            <a:r>
              <a:rPr kumimoji="1" lang="en-US" altLang="ko-KR" sz="700" b="1" dirty="0">
                <a:latin typeface="Gulim" panose="020B0600000101010101" pitchFamily="34" charset="-127"/>
                <a:ea typeface="Gulim" panose="020B0600000101010101" pitchFamily="34" charset="-127"/>
              </a:rPr>
              <a:t>Detour RTE : L01 (NOTAM)</a:t>
            </a:r>
          </a:p>
          <a:p>
            <a:pPr>
              <a:lnSpc>
                <a:spcPct val="150000"/>
              </a:lnSpc>
            </a:pPr>
            <a:r>
              <a:rPr kumimoji="1" lang="en-US" altLang="ko-KR" sz="700" b="1" dirty="0">
                <a:latin typeface="Gulim" panose="020B0600000101010101" pitchFamily="34" charset="-127"/>
                <a:ea typeface="Gulim" panose="020B0600000101010101" pitchFamily="34" charset="-127"/>
              </a:rPr>
              <a:t>SHR - FP02(N282500E1164500)</a:t>
            </a:r>
          </a:p>
          <a:p>
            <a:pPr>
              <a:lnSpc>
                <a:spcPct val="150000"/>
              </a:lnSpc>
            </a:pPr>
            <a:r>
              <a:rPr kumimoji="1" lang="en-US" altLang="ko-KR" sz="700" b="1" dirty="0">
                <a:latin typeface="Gulim" panose="020B0600000101010101" pitchFamily="34" charset="-127"/>
                <a:ea typeface="Gulim" panose="020B0600000101010101" pitchFamily="34" charset="-127"/>
              </a:rPr>
              <a:t>       - FP01(N274500E1160000) </a:t>
            </a:r>
          </a:p>
          <a:p>
            <a:pPr>
              <a:lnSpc>
                <a:spcPct val="150000"/>
              </a:lnSpc>
            </a:pPr>
            <a:r>
              <a:rPr kumimoji="1" lang="en-US" altLang="ko-KR" sz="700" b="1" dirty="0">
                <a:latin typeface="Gulim" panose="020B0600000101010101" pitchFamily="34" charset="-127"/>
                <a:ea typeface="Gulim" panose="020B0600000101010101" pitchFamily="34" charset="-127"/>
              </a:rPr>
              <a:t>       - ZP01(N261500E1152000)-PLT</a:t>
            </a:r>
            <a:r>
              <a:rPr kumimoji="1" lang="ko-KR" altLang="en-US" sz="700" b="1" dirty="0">
                <a:latin typeface="Gulim" panose="020B0600000101010101" pitchFamily="34" charset="-127"/>
                <a:ea typeface="Gulim" panose="020B0600000101010101" pitchFamily="34" charset="-127"/>
              </a:rPr>
              <a:t> </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379CD640-6EAC-04B2-E8A2-2C4DACF85BC8}"/>
              </a:ext>
            </a:extLst>
          </p:cNvPr>
          <p:cNvGraphicFramePr/>
          <p:nvPr>
            <p:extLst>
              <p:ext uri="{D42A27DB-BD31-4B8C-83A1-F6EECF244321}">
                <p14:modId xmlns:p14="http://schemas.microsoft.com/office/powerpoint/2010/main" val="131716015"/>
              </p:ext>
            </p:extLst>
          </p:nvPr>
        </p:nvGraphicFramePr>
        <p:xfrm>
          <a:off x="55" y="3599348"/>
          <a:ext cx="2328808" cy="198649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780986">
                  <a:extLst>
                    <a:ext uri="{9D8B030D-6E8A-4147-A177-3AD203B41FA5}">
                      <a16:colId xmlns:a16="http://schemas.microsoft.com/office/drawing/2014/main" val="20002"/>
                    </a:ext>
                  </a:extLst>
                </a:gridCol>
                <a:gridCol w="315425">
                  <a:extLst>
                    <a:ext uri="{9D8B030D-6E8A-4147-A177-3AD203B41FA5}">
                      <a16:colId xmlns:a16="http://schemas.microsoft.com/office/drawing/2014/main" val="20003"/>
                    </a:ext>
                  </a:extLst>
                </a:gridCol>
              </a:tblGrid>
              <a:tr h="196892">
                <a:tc gridSpan="4">
                  <a:txBody>
                    <a:bodyPr/>
                    <a:lstStyle/>
                    <a:p>
                      <a:pPr marL="0" marR="0" lvl="0" indent="0" algn="ctr" rtl="0">
                        <a:spcBef>
                          <a:spcPts val="0"/>
                        </a:spcBef>
                        <a:spcAft>
                          <a:spcPts val="0"/>
                        </a:spcAft>
                        <a:buNone/>
                      </a:pPr>
                      <a:r>
                        <a:rPr lang="en-US" sz="800" dirty="0"/>
                        <a:t>CAN </a:t>
                      </a:r>
                      <a:r>
                        <a:rPr lang="en-US" sz="800" dirty="0">
                          <a:solidFill>
                            <a:srgbClr val="00B0F0"/>
                          </a:solidFill>
                        </a:rPr>
                        <a:t>[017/197]</a:t>
                      </a:r>
                      <a:r>
                        <a:rPr lang="en-US" sz="800" dirty="0"/>
                        <a:t> TL 108 : </a:t>
                      </a:r>
                      <a:r>
                        <a:rPr lang="en-US" sz="800" dirty="0">
                          <a:solidFill>
                            <a:srgbClr val="FFC000"/>
                          </a:solidFill>
                        </a:rPr>
                        <a:t>CAN CTL, APP Freq no Chart</a:t>
                      </a:r>
                    </a:p>
                    <a:p>
                      <a:pPr marL="0" marR="0" lvl="0" indent="0" algn="ctr" rtl="0">
                        <a:spcBef>
                          <a:spcPts val="0"/>
                        </a:spcBef>
                        <a:spcAft>
                          <a:spcPts val="0"/>
                        </a:spcAft>
                        <a:buNone/>
                      </a:pPr>
                      <a:r>
                        <a:rPr lang="en-US" sz="800" dirty="0">
                          <a:solidFill>
                            <a:srgbClr val="FFC000"/>
                          </a:solidFill>
                        </a:rPr>
                        <a:t>Short PTN AFT IAF, RW20 Windshear, </a:t>
                      </a:r>
                      <a:r>
                        <a:rPr lang="en-US" sz="800" dirty="0">
                          <a:solidFill>
                            <a:srgbClr val="C00000"/>
                          </a:solidFill>
                        </a:rPr>
                        <a:t>Lower GA ALT</a:t>
                      </a:r>
                      <a:r>
                        <a:rPr lang="en-US" sz="800" dirty="0">
                          <a:solidFill>
                            <a:srgbClr val="FFC000"/>
                          </a:solidFill>
                        </a:rPr>
                        <a:t> </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6430">
                <a:tc>
                  <a:txBody>
                    <a:bodyPr/>
                    <a:lstStyle/>
                    <a:p>
                      <a:pPr marL="0" marR="0" lvl="0" indent="0" algn="ctr" rtl="0">
                        <a:spcBef>
                          <a:spcPts val="0"/>
                        </a:spcBef>
                        <a:spcAft>
                          <a:spcPts val="0"/>
                        </a:spcAft>
                        <a:buNone/>
                      </a:pPr>
                      <a:r>
                        <a:rPr lang="en-US" sz="800" b="1" dirty="0">
                          <a:solidFill>
                            <a:srgbClr val="0070C0"/>
                          </a:solidFill>
                        </a:rPr>
                        <a:t>02R</a:t>
                      </a:r>
                      <a:r>
                        <a:rPr lang="en-US" altLang="ko-Kore-KR" sz="800" b="0" dirty="0"/>
                        <a:t>/</a:t>
                      </a:r>
                      <a:r>
                        <a:rPr lang="en-US" altLang="ko-Kore-KR" sz="800" b="0" dirty="0">
                          <a:solidFill>
                            <a:schemeClr val="bg1"/>
                          </a:solidFill>
                        </a:rPr>
                        <a:t>L</a:t>
                      </a:r>
                      <a:r>
                        <a:rPr lang="en-US" altLang="ko-Kore-KR" sz="800" b="1" dirty="0">
                          <a:solidFill>
                            <a:schemeClr val="bg1"/>
                          </a:solidFill>
                        </a:rPr>
                        <a:t>,</a:t>
                      </a:r>
                      <a:r>
                        <a:rPr lang="en-US" sz="800" b="1" dirty="0">
                          <a:solidFill>
                            <a:schemeClr val="bg1"/>
                          </a:solidFill>
                        </a:rPr>
                        <a:t>01L</a:t>
                      </a:r>
                      <a:r>
                        <a:rPr lang="en-US" sz="800" b="0" dirty="0">
                          <a:solidFill>
                            <a:schemeClr val="bg1"/>
                          </a:solidFill>
                        </a:rPr>
                        <a:t>/R</a:t>
                      </a:r>
                      <a:endParaRPr sz="800" b="0" dirty="0">
                        <a:solidFill>
                          <a:schemeClr val="bg1"/>
                        </a:solidFill>
                      </a:endParaRPr>
                    </a:p>
                  </a:txBody>
                  <a:tcPr marL="36000" marR="36000" marT="36000" marB="36000" anchor="ctr"/>
                </a:tc>
                <a:tc rowSpan="2">
                  <a:txBody>
                    <a:bodyPr/>
                    <a:lstStyle/>
                    <a:p>
                      <a:pPr marL="0" marR="0" lvl="0" indent="0" algn="ctr" rtl="0">
                        <a:spcBef>
                          <a:spcPts val="0"/>
                        </a:spcBef>
                        <a:spcAft>
                          <a:spcPts val="0"/>
                        </a:spcAft>
                        <a:buNone/>
                      </a:pPr>
                      <a:r>
                        <a:rPr lang="en-US" sz="800" b="1" dirty="0"/>
                        <a:t>OLPAB xx</a:t>
                      </a:r>
                    </a:p>
                  </a:txBody>
                  <a:tcPr marL="36000" marR="36000" marT="36000" marB="36000" anchor="ctr"/>
                </a:tc>
                <a:tc>
                  <a:txBody>
                    <a:bodyPr/>
                    <a:lstStyle/>
                    <a:p>
                      <a:pPr marL="0" marR="0" lvl="0" indent="0" algn="ctr" rtl="0">
                        <a:spcBef>
                          <a:spcPts val="0"/>
                        </a:spcBef>
                        <a:spcAft>
                          <a:spcPts val="0"/>
                        </a:spcAft>
                        <a:buNone/>
                      </a:pPr>
                      <a:r>
                        <a:rPr lang="en-US" sz="800" b="1" dirty="0"/>
                        <a:t>GG611/GG612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13875">
                <a:tc>
                  <a:txBody>
                    <a:bodyPr/>
                    <a:lstStyle/>
                    <a:p>
                      <a:pPr marL="0" marR="0" lvl="0" indent="0" algn="ctr" rtl="0">
                        <a:spcBef>
                          <a:spcPts val="0"/>
                        </a:spcBef>
                        <a:spcAft>
                          <a:spcPts val="0"/>
                        </a:spcAft>
                        <a:buNone/>
                      </a:pPr>
                      <a:r>
                        <a:rPr lang="en-US" altLang="ko-KR" sz="800" b="1" dirty="0">
                          <a:solidFill>
                            <a:srgbClr val="0070C0"/>
                          </a:solidFill>
                        </a:rPr>
                        <a:t>20L</a:t>
                      </a:r>
                      <a:r>
                        <a:rPr lang="en-US" altLang="ko-KR" sz="800" b="1" dirty="0"/>
                        <a:t>/</a:t>
                      </a:r>
                      <a:r>
                        <a:rPr lang="en-US" altLang="ko-KR" sz="800" b="0" dirty="0"/>
                        <a:t>R</a:t>
                      </a:r>
                      <a:r>
                        <a:rPr lang="en-US" altLang="ko-KR" sz="800" b="1" dirty="0">
                          <a:solidFill>
                            <a:schemeClr val="bg1"/>
                          </a:solidFill>
                        </a:rPr>
                        <a:t>,19R</a:t>
                      </a:r>
                      <a:r>
                        <a:rPr lang="en-US" altLang="ko-KR" sz="800" b="0" dirty="0">
                          <a:solidFill>
                            <a:schemeClr val="bg1"/>
                          </a:solidFill>
                        </a:rPr>
                        <a:t>/</a:t>
                      </a:r>
                      <a:r>
                        <a:rPr lang="en-US" altLang="ko-KR" sz="800" b="0" dirty="0"/>
                        <a:t>L</a:t>
                      </a:r>
                      <a:endParaRPr sz="800" b="0"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GG511/GG513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547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POU, </a:t>
                      </a:r>
                      <a:r>
                        <a:rPr lang="en-US" sz="800" b="1" dirty="0">
                          <a:solidFill>
                            <a:srgbClr val="C00000"/>
                          </a:solidFill>
                        </a:rPr>
                        <a:t>02R IDM, 01L IGW, 20L IXL, 19R IKU, </a:t>
                      </a:r>
                      <a:r>
                        <a:rPr lang="en-US" sz="800" b="0" dirty="0">
                          <a:solidFill>
                            <a:srgbClr val="C00000"/>
                          </a:solidFill>
                        </a:rPr>
                        <a:t>02L IBB, 01R IOO, 20R IAA, 19L IPP</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3875">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final, /6(160kts)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06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02R</a:t>
                      </a:r>
                      <a:r>
                        <a:rPr lang="en-US" sz="800" b="1" dirty="0">
                          <a:solidFill>
                            <a:schemeClr val="dk1"/>
                          </a:solidFill>
                        </a:rPr>
                        <a:t>:Y10(6227’),Y8(7263’), 20L:Y12(6217’),Y14(7240’)</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01L:N5(6453’),N4(7755’), 19R:N8(6423’),N9(7742’)</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Caution Cross RWY Intermediate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8547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STD Taxi RTE in JEPP(GREEN x), EAT 3/4 in JEPP</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but Remain, </a:t>
                      </a:r>
                      <a:r>
                        <a:rPr lang="en-US" altLang="ko-KR" sz="800" b="1" dirty="0">
                          <a:solidFill>
                            <a:srgbClr val="C00000"/>
                          </a:solidFill>
                        </a:rPr>
                        <a:t>FLAP 0 for Refuel</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373AEAD-163A-4322-A9C1-273DF78F28B2}"/>
              </a:ext>
            </a:extLst>
          </p:cNvPr>
          <p:cNvGraphicFramePr/>
          <p:nvPr>
            <p:extLst>
              <p:ext uri="{D42A27DB-BD31-4B8C-83A1-F6EECF244321}">
                <p14:modId xmlns:p14="http://schemas.microsoft.com/office/powerpoint/2010/main" val="3964336370"/>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ZGGG(CAN)</a:t>
                      </a:r>
                      <a:r>
                        <a:rPr lang="en-US" sz="1400" dirty="0">
                          <a:solidFill>
                            <a:schemeClr val="tx1"/>
                          </a:solidFill>
                          <a:hlinkClick r:id="rId4">
                            <a:extLst>
                              <a:ext uri="{A12FA001-AC4F-418D-AE19-62706E023703}">
                                <ahyp:hlinkClr xmlns:ahyp="http://schemas.microsoft.com/office/drawing/2018/hyperlinkcolor" val="tx"/>
                              </a:ext>
                            </a:extLst>
                          </a:hlinkClick>
                        </a:rPr>
                        <a:t> 50ft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China Southern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9C40567-E7D3-2C1A-F6F0-886CA3607C0F}"/>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DF4C473-0781-92ED-7146-3AD11741CC68}"/>
              </a:ext>
            </a:extLst>
          </p:cNvPr>
          <p:cNvGraphicFramePr/>
          <p:nvPr>
            <p:extLst>
              <p:ext uri="{D42A27DB-BD31-4B8C-83A1-F6EECF244321}">
                <p14:modId xmlns:p14="http://schemas.microsoft.com/office/powerpoint/2010/main" val="3943297497"/>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D7F1004-4F28-EF3A-7E9C-2AF0DDB213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2376"/>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810389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85964-BB55-0808-6F8D-A8CEB2F0D02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3E397A91-CBA5-7870-E372-A3506A485E92}"/>
              </a:ext>
            </a:extLst>
          </p:cNvPr>
          <p:cNvGraphicFramePr>
            <a:graphicFrameLocks noGrp="1"/>
          </p:cNvGraphicFramePr>
          <p:nvPr>
            <p:ph idx="1"/>
            <p:extLst>
              <p:ext uri="{D42A27DB-BD31-4B8C-83A1-F6EECF244321}">
                <p14:modId xmlns:p14="http://schemas.microsoft.com/office/powerpoint/2010/main" val="236181943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493EA80-124D-CA93-DBC2-506E01E4ED2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0E10175-AC5E-5BE8-AE04-E6F05774F06E}"/>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DBCD609E-EC74-35D2-0BC4-A8C8BC91A412}"/>
              </a:ext>
            </a:extLst>
          </p:cNvPr>
          <p:cNvGraphicFramePr>
            <a:graphicFrameLocks noGrp="1"/>
          </p:cNvGraphicFramePr>
          <p:nvPr>
            <p:extLst>
              <p:ext uri="{D42A27DB-BD31-4B8C-83A1-F6EECF244321}">
                <p14:modId xmlns:p14="http://schemas.microsoft.com/office/powerpoint/2010/main" val="945612177"/>
              </p:ext>
            </p:extLst>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직사각형 1">
            <a:extLst>
              <a:ext uri="{FF2B5EF4-FFF2-40B4-BE49-F238E27FC236}">
                <a16:creationId xmlns:a16="http://schemas.microsoft.com/office/drawing/2014/main" id="{4652A3C8-BD58-C163-44E3-0A03B9196499}"/>
              </a:ext>
            </a:extLst>
          </p:cNvPr>
          <p:cNvSpPr/>
          <p:nvPr/>
        </p:nvSpPr>
        <p:spPr>
          <a:xfrm>
            <a:off x="1219200" y="3217333"/>
            <a:ext cx="1070207" cy="34544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8" name="TextBox 7">
            <a:extLst>
              <a:ext uri="{FF2B5EF4-FFF2-40B4-BE49-F238E27FC236}">
                <a16:creationId xmlns:a16="http://schemas.microsoft.com/office/drawing/2014/main" id="{38A1B484-8980-63B1-2B41-EA5BA6DF2B4A}"/>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dirty="0">
                <a:solidFill>
                  <a:prstClr val="white"/>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322198817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CC5C55E-55BA-7CF6-2C3E-CC4901E5B68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4A984D58-3970-BF32-FCC8-E89E06998B8F}"/>
              </a:ext>
            </a:extLst>
          </p:cNvPr>
          <p:cNvGraphicFramePr/>
          <p:nvPr>
            <p:extLst>
              <p:ext uri="{D42A27DB-BD31-4B8C-83A1-F6EECF244321}">
                <p14:modId xmlns:p14="http://schemas.microsoft.com/office/powerpoint/2010/main" val="491101299"/>
              </p:ext>
            </p:extLst>
          </p:nvPr>
        </p:nvGraphicFramePr>
        <p:xfrm>
          <a:off x="-4046" y="682516"/>
          <a:ext cx="2334602" cy="186457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24198">
                <a:tc gridSpan="7">
                  <a:txBody>
                    <a:bodyPr/>
                    <a:lstStyle/>
                    <a:p>
                      <a:pPr marL="0" marR="0" lvl="0" indent="0" algn="ctr" rtl="0">
                        <a:spcBef>
                          <a:spcPts val="0"/>
                        </a:spcBef>
                        <a:spcAft>
                          <a:spcPts val="0"/>
                        </a:spcAft>
                        <a:buNone/>
                      </a:pPr>
                      <a:r>
                        <a:rPr lang="en-US" sz="800" u="none" strike="noStrike" cap="none" dirty="0"/>
                        <a:t>CAN : TA 8900 SID  </a:t>
                      </a:r>
                      <a:r>
                        <a:rPr lang="en-US" sz="800" u="none" strike="noStrike" cap="none" dirty="0">
                          <a:solidFill>
                            <a:srgbClr val="FFC000"/>
                          </a:solidFill>
                        </a:rPr>
                        <a:t>Extra Fuel Delay/CRZ LVL</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3843">
                <a:tc>
                  <a:txBody>
                    <a:bodyPr/>
                    <a:lstStyle/>
                    <a:p>
                      <a:pPr marL="0" marR="0" lvl="0" indent="0" algn="ctr" rtl="0">
                        <a:spcBef>
                          <a:spcPts val="0"/>
                        </a:spcBef>
                        <a:spcAft>
                          <a:spcPts val="0"/>
                        </a:spcAft>
                        <a:buNone/>
                      </a:pPr>
                      <a:r>
                        <a:rPr lang="en-US" altLang="ko-KR" sz="800" b="1" u="none" strike="noStrike" cap="none" dirty="0">
                          <a:solidFill>
                            <a:srgbClr val="0070C0"/>
                          </a:solidFill>
                        </a:rPr>
                        <a:t>02L</a:t>
                      </a:r>
                      <a:r>
                        <a:rPr lang="en-US" altLang="ko-KR" sz="800" b="0" u="none" strike="noStrike" cap="none" dirty="0"/>
                        <a:t>/</a:t>
                      </a:r>
                      <a:r>
                        <a:rPr lang="en-US" altLang="ko-KR" sz="800" b="1" u="none" strike="noStrike" cap="none" dirty="0"/>
                        <a:t>R, </a:t>
                      </a:r>
                      <a:r>
                        <a:rPr lang="en-US" altLang="ko-KR" sz="800" b="1" u="none" strike="noStrike" cap="none" dirty="0">
                          <a:solidFill>
                            <a:schemeClr val="bg1"/>
                          </a:solidFill>
                        </a:rPr>
                        <a:t>01R</a:t>
                      </a:r>
                      <a:r>
                        <a:rPr lang="en-US" altLang="ko-KR" sz="800" b="0" u="none" strike="noStrike" cap="none" dirty="0">
                          <a:solidFill>
                            <a:schemeClr val="bg1"/>
                          </a:solidFill>
                        </a:rPr>
                        <a:t>/</a:t>
                      </a:r>
                      <a:r>
                        <a:rPr lang="en-US" altLang="ko-KR" sz="800" b="1" u="none" strike="noStrike" cap="none" dirty="0">
                          <a:solidFill>
                            <a:schemeClr val="bg1"/>
                          </a:solidFill>
                        </a:rPr>
                        <a:t>L</a:t>
                      </a:r>
                      <a:endParaRPr sz="800" b="0" u="none" strike="noStrike" cap="none" dirty="0">
                        <a:solidFill>
                          <a:schemeClr val="bg1"/>
                        </a:solidFill>
                      </a:endParaRPr>
                    </a:p>
                  </a:txBody>
                  <a:tcPr marL="36000" marR="36000" marT="36000" marB="36000" anchor="ctr"/>
                </a:tc>
                <a:tc rowSpan="2" gridSpan="2">
                  <a:txBody>
                    <a:bodyPr/>
                    <a:lstStyle/>
                    <a:p>
                      <a:pPr marL="0" marR="0" lvl="0" indent="0" algn="ctr" rtl="0">
                        <a:spcBef>
                          <a:spcPts val="0"/>
                        </a:spcBef>
                        <a:spcAft>
                          <a:spcPts val="0"/>
                        </a:spcAft>
                        <a:buNone/>
                      </a:pPr>
                      <a:r>
                        <a:rPr lang="en-US" sz="800" b="1" u="none" strike="noStrike" cap="none" dirty="0">
                          <a:solidFill>
                            <a:srgbClr val="0070C0"/>
                          </a:solidFill>
                        </a:rPr>
                        <a:t>BOVMA xx </a:t>
                      </a:r>
                    </a:p>
                    <a:p>
                      <a:pPr marL="0" marR="0" lvl="0" indent="0" algn="ctr" rtl="0">
                        <a:spcBef>
                          <a:spcPts val="0"/>
                        </a:spcBef>
                        <a:spcAft>
                          <a:spcPts val="0"/>
                        </a:spcAft>
                        <a:buNone/>
                      </a:pPr>
                      <a:r>
                        <a:rPr lang="en-US" sz="800" b="1" u="none" strike="noStrike" cap="none" dirty="0">
                          <a:solidFill>
                            <a:srgbClr val="0070C0"/>
                          </a:solidFill>
                        </a:rPr>
                        <a:t>RNAV</a:t>
                      </a:r>
                    </a:p>
                  </a:txBody>
                  <a:tcPr marL="36000" marR="36000" marT="36000" marB="36000" anchor="ctr"/>
                </a:tc>
                <a:tc rowSpan="2" hMerge="1">
                  <a:txBody>
                    <a:bodyPr/>
                    <a:lstStyle/>
                    <a:p>
                      <a:endParaRPr lang="ko-Kore-KR" altLang="en-US"/>
                    </a:p>
                  </a:txBody>
                  <a:tcPr/>
                </a:tc>
                <a:tc gridSpan="4">
                  <a:txBody>
                    <a:bodyPr/>
                    <a:lstStyle/>
                    <a:p>
                      <a:pPr algn="ctr"/>
                      <a:r>
                        <a:rPr lang="en-US" sz="800" b="1" u="none" strike="noStrike" cap="none" dirty="0"/>
                        <a:t>HD 017 </a:t>
                      </a:r>
                      <a:r>
                        <a:rPr lang="en-US" sz="800" b="1" u="none" strike="noStrike" cap="none" dirty="0">
                          <a:solidFill>
                            <a:srgbClr val="0070C0"/>
                          </a:solidFill>
                        </a:rPr>
                        <a:t>ALT 8900m/ATC(900m)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83843">
                <a:tc>
                  <a:txBody>
                    <a:bodyPr/>
                    <a:lstStyle/>
                    <a:p>
                      <a:pPr marL="0" marR="0" lvl="0" indent="0" algn="ctr" rtl="0">
                        <a:spcBef>
                          <a:spcPts val="0"/>
                        </a:spcBef>
                        <a:spcAft>
                          <a:spcPts val="0"/>
                        </a:spcAft>
                        <a:buNone/>
                      </a:pPr>
                      <a:r>
                        <a:rPr lang="en-US" sz="800" b="1" u="none" strike="noStrike" cap="none" dirty="0">
                          <a:solidFill>
                            <a:srgbClr val="0070C0"/>
                          </a:solidFill>
                        </a:rPr>
                        <a:t>20R</a:t>
                      </a:r>
                      <a:r>
                        <a:rPr lang="en-US" sz="800" b="0" u="none" strike="noStrike" cap="none" dirty="0"/>
                        <a:t>/L,</a:t>
                      </a:r>
                    </a:p>
                    <a:p>
                      <a:pPr marL="0" marR="0" lvl="0" indent="0" algn="ctr" rtl="0">
                        <a:spcBef>
                          <a:spcPts val="0"/>
                        </a:spcBef>
                        <a:spcAft>
                          <a:spcPts val="0"/>
                        </a:spcAft>
                        <a:buNone/>
                      </a:pPr>
                      <a:r>
                        <a:rPr lang="en-US" altLang="ko-Kore-KR" sz="800" b="1" u="none" strike="noStrike" cap="none" dirty="0">
                          <a:solidFill>
                            <a:schemeClr val="bg1"/>
                          </a:solidFill>
                        </a:rPr>
                        <a:t>19L</a:t>
                      </a:r>
                      <a:r>
                        <a:rPr lang="en-US" altLang="ko-Kore-KR"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2" vMerge="1">
                  <a:txBody>
                    <a:bodyPr/>
                    <a:lstStyle/>
                    <a:p>
                      <a:endParaRPr dirty="0"/>
                    </a:p>
                  </a:txBody>
                  <a:tcPr marL="36000" marR="36000" marT="36000" marB="36000" anchor="ctr"/>
                </a:tc>
                <a:tc hMerge="1" vMerge="1">
                  <a:txBody>
                    <a:bodyPr/>
                    <a:lstStyle/>
                    <a:p>
                      <a:endParaRPr lang="ko-Kore-KR" altLang="en-US"/>
                    </a:p>
                  </a:txBody>
                  <a:tcPr/>
                </a:tc>
                <a:tc gridSpan="4">
                  <a:txBody>
                    <a:bodyPr/>
                    <a:lstStyle/>
                    <a:p>
                      <a:pPr algn="ctr"/>
                      <a:r>
                        <a:rPr lang="en-US" sz="800" b="1" u="none" strike="noStrike" cap="none"/>
                        <a:t>HD 197 </a:t>
                      </a:r>
                      <a:r>
                        <a:rPr lang="en-US" sz="800" b="1" u="none" strike="noStrike" cap="none" dirty="0">
                          <a:solidFill>
                            <a:srgbClr val="0070C0"/>
                          </a:solidFill>
                        </a:rPr>
                        <a:t>ATC(900m)</a:t>
                      </a:r>
                    </a:p>
                    <a:p>
                      <a:pPr algn="ctr"/>
                      <a:r>
                        <a:rPr lang="en-US" altLang="ko-Kore-KR" sz="800" b="1" u="none" strike="noStrike" cap="none" dirty="0">
                          <a:solidFill>
                            <a:srgbClr val="7030A0"/>
                          </a:solidFill>
                        </a:rPr>
                        <a:t>SPD 230kts </a:t>
                      </a:r>
                      <a:r>
                        <a:rPr lang="en-US" altLang="ko-Kore-KR"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83843">
                <a:tc rowSpan="2"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POU 11</a:t>
                      </a:r>
                      <a:r>
                        <a:rPr lang="en-US" altLang="ko-KR" sz="800" b="1" u="none" strike="noStrike" cap="none" dirty="0">
                          <a:solidFill>
                            <a:srgbClr val="0070C0"/>
                          </a:solidFill>
                        </a:rPr>
                        <a:t>4</a:t>
                      </a:r>
                      <a:r>
                        <a:rPr lang="en-US" altLang="ko-Kore-KR" sz="800" b="1" u="none" strike="noStrike" cap="none" dirty="0">
                          <a:solidFill>
                            <a:srgbClr val="0070C0"/>
                          </a:solidFill>
                        </a:rPr>
                        <a:t>.</a:t>
                      </a:r>
                      <a:r>
                        <a:rPr lang="en-US" altLang="ko-KR" sz="800" b="1" u="none" strike="noStrike" cap="none" dirty="0">
                          <a:solidFill>
                            <a:srgbClr val="0070C0"/>
                          </a:solidFill>
                        </a:rPr>
                        <a:t>1</a:t>
                      </a:r>
                    </a:p>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rowSpan="2"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2R</a:t>
                      </a:r>
                      <a:r>
                        <a:rPr kumimoji="0" lang="en-US" altLang="ko-Kore-KR" sz="800" b="1" i="0" u="none" strike="noStrike" kern="1200" cap="none" spc="0" normalizeH="0" baseline="0" noProof="0" dirty="0">
                          <a:ln>
                            <a:noFill/>
                          </a:ln>
                          <a:solidFill>
                            <a:srgbClr val="C00000"/>
                          </a:solidFill>
                          <a:effectLst/>
                          <a:uLnTx/>
                          <a:uFillTx/>
                          <a:latin typeface="Calibri"/>
                          <a:cs typeface="Calibri"/>
                        </a:rPr>
                        <a:t> IDM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01L IGW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20L</a:t>
                      </a:r>
                      <a:r>
                        <a:rPr kumimoji="0" lang="en-US" altLang="ko-Kore-KR" sz="800" b="1" i="0" u="none" strike="noStrike" kern="1200" cap="none" spc="0" normalizeH="0" baseline="0" noProof="0" dirty="0">
                          <a:ln>
                            <a:noFill/>
                          </a:ln>
                          <a:solidFill>
                            <a:srgbClr val="C00000"/>
                          </a:solidFill>
                          <a:effectLst/>
                          <a:uLnTx/>
                          <a:uFillTx/>
                          <a:latin typeface="Calibri"/>
                          <a:cs typeface="Calibri"/>
                        </a:rPr>
                        <a:t> IXL</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111.9</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19R</a:t>
                      </a:r>
                      <a:r>
                        <a:rPr kumimoji="0" lang="en-US" altLang="ko-Kore-KR" sz="800" b="1" i="0" u="none" strike="noStrike" kern="1200" cap="none" spc="0" normalizeH="0" baseline="0" noProof="0" dirty="0">
                          <a:ln>
                            <a:noFill/>
                          </a:ln>
                          <a:solidFill>
                            <a:srgbClr val="C00000"/>
                          </a:solidFill>
                          <a:effectLst/>
                          <a:uLnTx/>
                          <a:uFillTx/>
                          <a:latin typeface="Calibri"/>
                          <a:cs typeface="Calibri"/>
                        </a:rPr>
                        <a:t> IKU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108.95</a:t>
                      </a:r>
                    </a:p>
                  </a:txBody>
                  <a:tcPr marL="36000" marR="36000" marT="36000" marB="36000" anchor="ctr"/>
                </a:tc>
                <a:extLst>
                  <a:ext uri="{0D108BD9-81ED-4DB2-BD59-A6C34878D82A}">
                    <a16:rowId xmlns:a16="http://schemas.microsoft.com/office/drawing/2014/main" val="1446403819"/>
                  </a:ext>
                </a:extLst>
              </a:tr>
              <a:tr h="183843">
                <a:tc gridSpan="2" vMerge="1">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endParaRPr lang="en-US" altLang="ko-Kore-KR" sz="800" b="1" u="none" strike="noStrike" cap="none" dirty="0">
                        <a:solidFill>
                          <a:srgbClr val="0070C0"/>
                        </a:solidFill>
                      </a:endParaRPr>
                    </a:p>
                  </a:txBody>
                  <a:tcPr marL="36000" marR="36000" marT="36000" marB="36000" anchor="ctr"/>
                </a:tc>
                <a:tc hMerge="1" v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2L</a:t>
                      </a:r>
                      <a:r>
                        <a:rPr kumimoji="0" lang="en-US" altLang="ko-Kore-KR" sz="800" b="1" i="0" u="none" strike="noStrike" kern="1200" cap="none" spc="0" normalizeH="0" baseline="0" noProof="0" dirty="0">
                          <a:ln>
                            <a:noFill/>
                          </a:ln>
                          <a:solidFill>
                            <a:srgbClr val="C00000"/>
                          </a:solidFill>
                          <a:effectLst/>
                          <a:uLnTx/>
                          <a:uFillTx/>
                          <a:latin typeface="Calibri"/>
                          <a:cs typeface="Calibri"/>
                        </a:rPr>
                        <a:t> IBB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110.35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01R IOO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20R</a:t>
                      </a:r>
                      <a:r>
                        <a:rPr kumimoji="0" lang="en-US" altLang="ko-Kore-KR" sz="800" b="1" i="0" u="none" strike="noStrike" kern="1200" cap="none" spc="0" normalizeH="0" baseline="0" noProof="0" dirty="0">
                          <a:ln>
                            <a:noFill/>
                          </a:ln>
                          <a:solidFill>
                            <a:srgbClr val="C00000"/>
                          </a:solidFill>
                          <a:effectLst/>
                          <a:uLnTx/>
                          <a:uFillTx/>
                          <a:latin typeface="Calibri"/>
                          <a:cs typeface="Calibri"/>
                        </a:rPr>
                        <a:t> IAA</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19L</a:t>
                      </a:r>
                      <a:r>
                        <a:rPr kumimoji="0" lang="en-US" altLang="ko-Kore-KR" sz="800" b="1" i="0" u="none" strike="noStrike" kern="1200" cap="none" spc="0" normalizeH="0" baseline="0" noProof="0" dirty="0">
                          <a:ln>
                            <a:noFill/>
                          </a:ln>
                          <a:solidFill>
                            <a:srgbClr val="C00000"/>
                          </a:solidFill>
                          <a:effectLst/>
                          <a:uLnTx/>
                          <a:uFillTx/>
                          <a:latin typeface="Calibri"/>
                          <a:cs typeface="Calibri"/>
                        </a:rPr>
                        <a:t> IPP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111.5</a:t>
                      </a:r>
                    </a:p>
                  </a:txBody>
                  <a:tcPr marL="36000" marR="36000" marT="36000" marB="36000" anchor="ctr"/>
                </a:tc>
                <a:extLst>
                  <a:ext uri="{0D108BD9-81ED-4DB2-BD59-A6C34878D82A}">
                    <a16:rowId xmlns:a16="http://schemas.microsoft.com/office/drawing/2014/main" val="974424816"/>
                  </a:ext>
                </a:extLst>
              </a:tr>
              <a:tr h="112876">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600" b="0" dirty="0"/>
                        <a:t>01L/R : IGW/IOO D5.0 R205, 02L/R : IBB/IDM D4.0/4.3 R220</a:t>
                      </a:r>
                      <a:endParaRPr lang="ko-Kore-KR" altLang="en-US" sz="6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112876">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STD Taxi RTE in JEPP(YELLOW x), Report RWY on DEP</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E830CD9-16BB-0432-33EC-7CC134AE30F3}"/>
              </a:ext>
            </a:extLst>
          </p:cNvPr>
          <p:cNvGraphicFramePr/>
          <p:nvPr>
            <p:extLst>
              <p:ext uri="{D42A27DB-BD31-4B8C-83A1-F6EECF244321}">
                <p14:modId xmlns:p14="http://schemas.microsoft.com/office/powerpoint/2010/main" val="2632092572"/>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ZHHH(CAN) 50ft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China Southern 132.0</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No Readback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9B36AA5A-95F0-F42C-602E-9DFCAD178EA3}"/>
              </a:ext>
            </a:extLst>
          </p:cNvPr>
          <p:cNvSpPr txBox="1"/>
          <p:nvPr/>
        </p:nvSpPr>
        <p:spPr>
          <a:xfrm>
            <a:off x="684230" y="2549528"/>
            <a:ext cx="1378904" cy="693899"/>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(DEP RWY)</a:t>
            </a:r>
          </a:p>
          <a:p>
            <a:pPr>
              <a:lnSpc>
                <a:spcPct val="150000"/>
              </a:lnSpc>
            </a:pPr>
            <a:r>
              <a:rPr kumimoji="1" lang="en-US" altLang="ko-Kore-KR" sz="700" b="1" dirty="0">
                <a:latin typeface="Gulim" panose="020B0600000101010101" pitchFamily="34" charset="-127"/>
                <a:ea typeface="Gulim" panose="020B0600000101010101" pitchFamily="34" charset="-127"/>
              </a:rPr>
              <a:t>Detour RTE L01 (PLT-SHR)</a:t>
            </a:r>
          </a:p>
          <a:p>
            <a:pPr>
              <a:lnSpc>
                <a:spcPct val="150000"/>
              </a:lnSpc>
            </a:pPr>
            <a:r>
              <a:rPr kumimoji="1" lang="en-US" altLang="ko-Kore-KR" sz="700" b="1" dirty="0">
                <a:latin typeface="Gulim" panose="020B0600000101010101" pitchFamily="34" charset="-127"/>
                <a:ea typeface="Gulim" panose="020B0600000101010101" pitchFamily="34" charset="-127"/>
              </a:rPr>
              <a:t>- Using Pilot Way Point</a:t>
            </a:r>
          </a:p>
          <a:p>
            <a:pPr>
              <a:lnSpc>
                <a:spcPct val="150000"/>
              </a:lnSpc>
            </a:pPr>
            <a:r>
              <a:rPr kumimoji="1" lang="en-US" altLang="ko-Kore-KR" sz="700" b="1" dirty="0">
                <a:latin typeface="Gulim" panose="020B0600000101010101" pitchFamily="34" charset="-127"/>
                <a:ea typeface="Gulim" panose="020B0600000101010101" pitchFamily="34" charset="-127"/>
              </a:rPr>
              <a:t>- Vise Versa </a:t>
            </a:r>
          </a:p>
        </p:txBody>
      </p:sp>
      <p:sp>
        <p:nvSpPr>
          <p:cNvPr id="2" name="직사각형 1">
            <a:hlinkClick r:id="" action="ppaction://hlinkshowjump?jump=firstslide"/>
            <a:extLst>
              <a:ext uri="{FF2B5EF4-FFF2-40B4-BE49-F238E27FC236}">
                <a16:creationId xmlns:a16="http://schemas.microsoft.com/office/drawing/2014/main" id="{28A60683-3A69-B7C7-25BE-D61471EB47DE}"/>
              </a:ext>
            </a:extLst>
          </p:cNvPr>
          <p:cNvSpPr/>
          <p:nvPr/>
        </p:nvSpPr>
        <p:spPr>
          <a:xfrm>
            <a:off x="838919" y="323931"/>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림 4">
            <a:extLst>
              <a:ext uri="{FF2B5EF4-FFF2-40B4-BE49-F238E27FC236}">
                <a16:creationId xmlns:a16="http://schemas.microsoft.com/office/drawing/2014/main" id="{82C33243-EEB9-D464-8FA6-9C216A929E83}"/>
              </a:ext>
            </a:extLst>
          </p:cNvPr>
          <p:cNvPicPr>
            <a:picLocks noChangeAspect="1"/>
          </p:cNvPicPr>
          <p:nvPr/>
        </p:nvPicPr>
        <p:blipFill>
          <a:blip r:embed="rId6"/>
          <a:stretch>
            <a:fillRect/>
          </a:stretch>
        </p:blipFill>
        <p:spPr>
          <a:xfrm>
            <a:off x="0" y="2570348"/>
            <a:ext cx="684230" cy="752295"/>
          </a:xfrm>
          <a:prstGeom prst="rect">
            <a:avLst/>
          </a:prstGeom>
        </p:spPr>
      </p:pic>
      <p:pic>
        <p:nvPicPr>
          <p:cNvPr id="7" name="그래픽 6" descr="집 Wi-Fi에서 작업 단색으로 채워진">
            <a:hlinkClick r:id="" action="ppaction://hlinkshowjump?jump=firstslide"/>
            <a:extLst>
              <a:ext uri="{FF2B5EF4-FFF2-40B4-BE49-F238E27FC236}">
                <a16:creationId xmlns:a16="http://schemas.microsoft.com/office/drawing/2014/main" id="{67885CE9-3E13-7DC5-4DD1-4BA7AE8866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52887"/>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ED3BB5D2-F6D9-5644-DA9B-7F55062C525D}"/>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5595510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2798715"/>
            <a:ext cx="223971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 – 120.35 – 133.65 – 134.15 - 126.7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125.3 –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APP 119.05 – 120.2 – 125.1</a:t>
            </a:r>
          </a:p>
        </p:txBody>
      </p:sp>
      <p:graphicFrame>
        <p:nvGraphicFramePr>
          <p:cNvPr id="292" name="Google Shape;292;p18"/>
          <p:cNvGraphicFramePr/>
          <p:nvPr>
            <p:extLst>
              <p:ext uri="{D42A27DB-BD31-4B8C-83A1-F6EECF244321}">
                <p14:modId xmlns:p14="http://schemas.microsoft.com/office/powerpoint/2010/main" val="3671123807"/>
              </p:ext>
            </p:extLst>
          </p:nvPr>
        </p:nvGraphicFramePr>
        <p:xfrm>
          <a:off x="-1706" y="3904832"/>
          <a:ext cx="2333879" cy="1654299"/>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733287">
                  <a:extLst>
                    <a:ext uri="{9D8B030D-6E8A-4147-A177-3AD203B41FA5}">
                      <a16:colId xmlns:a16="http://schemas.microsoft.com/office/drawing/2014/main" val="20001"/>
                    </a:ext>
                  </a:extLst>
                </a:gridCol>
                <a:gridCol w="348974">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339277">
                <a:tc gridSpan="4">
                  <a:txBody>
                    <a:bodyPr/>
                    <a:lstStyle/>
                    <a:p>
                      <a:pPr marL="0" marR="0" lvl="0" indent="0" algn="ctr" rtl="0">
                        <a:spcBef>
                          <a:spcPts val="0"/>
                        </a:spcBef>
                        <a:spcAft>
                          <a:spcPts val="0"/>
                        </a:spcAft>
                        <a:buNone/>
                      </a:pPr>
                      <a:r>
                        <a:rPr lang="en-US" sz="800" dirty="0"/>
                        <a:t>XIY </a:t>
                      </a:r>
                      <a:r>
                        <a:rPr lang="en-US" sz="800" dirty="0">
                          <a:solidFill>
                            <a:srgbClr val="00B0F0"/>
                          </a:solidFill>
                        </a:rPr>
                        <a:t>[052/232]</a:t>
                      </a:r>
                      <a:r>
                        <a:rPr lang="en-US" sz="800" dirty="0">
                          <a:solidFill>
                            <a:schemeClr val="bg1"/>
                          </a:solidFill>
                        </a:rPr>
                        <a:t> </a:t>
                      </a:r>
                      <a:r>
                        <a:rPr lang="en-US" sz="800" dirty="0"/>
                        <a:t>: STAR TL118 </a:t>
                      </a:r>
                    </a:p>
                    <a:p>
                      <a:pPr marL="0" marR="0" lvl="0" indent="0" algn="ctr" rtl="0">
                        <a:spcBef>
                          <a:spcPts val="0"/>
                        </a:spcBef>
                        <a:spcAft>
                          <a:spcPts val="0"/>
                        </a:spcAft>
                        <a:buNone/>
                      </a:pPr>
                      <a:r>
                        <a:rPr lang="en-US" sz="800" dirty="0" err="1">
                          <a:solidFill>
                            <a:srgbClr val="C00000"/>
                          </a:solidFill>
                        </a:rPr>
                        <a:t>Spd</a:t>
                      </a:r>
                      <a:r>
                        <a:rPr lang="en-US" sz="800" dirty="0">
                          <a:solidFill>
                            <a:srgbClr val="C00000"/>
                          </a:solidFill>
                        </a:rPr>
                        <a:t> Restriction at REF Page </a:t>
                      </a:r>
                    </a:p>
                    <a:p>
                      <a:pPr marL="0" marR="0" lvl="0" indent="0" algn="ctr" rtl="0">
                        <a:spcBef>
                          <a:spcPts val="0"/>
                        </a:spcBef>
                        <a:spcAft>
                          <a:spcPts val="0"/>
                        </a:spcAft>
                        <a:buNone/>
                      </a:pPr>
                      <a:r>
                        <a:rPr lang="en-US" sz="800" dirty="0">
                          <a:solidFill>
                            <a:schemeClr val="accent4"/>
                          </a:solidFill>
                        </a:rPr>
                        <a:t>Req ILS APP instead of Visual APP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20311">
                <a:tc>
                  <a:txBody>
                    <a:bodyPr/>
                    <a:lstStyle/>
                    <a:p>
                      <a:pPr marL="0" marR="0" lvl="0" indent="0" algn="ctr" rtl="0">
                        <a:spcBef>
                          <a:spcPts val="0"/>
                        </a:spcBef>
                        <a:spcAft>
                          <a:spcPts val="0"/>
                        </a:spcAft>
                        <a:buNone/>
                      </a:pPr>
                      <a:r>
                        <a:rPr lang="en-US" sz="800" b="1" dirty="0"/>
                        <a:t>05L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LOVRA xx W</a:t>
                      </a:r>
                    </a:p>
                  </a:txBody>
                  <a:tcPr marL="36000" marR="36000" marT="0" marB="0" anchor="ctr"/>
                </a:tc>
                <a:tc>
                  <a:txBody>
                    <a:bodyPr/>
                    <a:lstStyle/>
                    <a:p>
                      <a:pPr marL="0" marR="0" lvl="0" indent="0" algn="ctr" rtl="0">
                        <a:spcBef>
                          <a:spcPts val="0"/>
                        </a:spcBef>
                        <a:spcAft>
                          <a:spcPts val="0"/>
                        </a:spcAft>
                        <a:buNone/>
                      </a:pPr>
                      <a:r>
                        <a:rPr lang="en-US" sz="800" b="1" dirty="0"/>
                        <a:t>XY906</a:t>
                      </a:r>
                    </a:p>
                  </a:txBody>
                  <a:tcPr marL="36000" marR="36000" marT="0" marB="0" anchor="ctr"/>
                </a:tc>
                <a:tc>
                  <a:txBody>
                    <a:bodyPr/>
                    <a:lstStyle/>
                    <a:p>
                      <a:pPr marL="0" marR="0" lvl="0" indent="0" algn="ctr" rtl="0">
                        <a:spcBef>
                          <a:spcPts val="0"/>
                        </a:spcBef>
                        <a:spcAft>
                          <a:spcPts val="0"/>
                        </a:spcAft>
                        <a:buNone/>
                      </a:pPr>
                      <a:r>
                        <a:rPr lang="en-US" sz="800" b="1" dirty="0"/>
                        <a:t>RNAV ILS Z 05L/R</a:t>
                      </a:r>
                      <a:endParaRPr lang="en-US" sz="800" b="0" dirty="0"/>
                    </a:p>
                  </a:txBody>
                  <a:tcPr marL="36000" marR="36000" marT="0" marB="0" anchor="ctr"/>
                </a:tc>
                <a:extLst>
                  <a:ext uri="{0D108BD9-81ED-4DB2-BD59-A6C34878D82A}">
                    <a16:rowId xmlns:a16="http://schemas.microsoft.com/office/drawing/2014/main" val="10001"/>
                  </a:ext>
                </a:extLst>
              </a:tr>
              <a:tr h="185561">
                <a:tc>
                  <a:txBody>
                    <a:bodyPr/>
                    <a:lstStyle/>
                    <a:p>
                      <a:pPr marL="0" marR="0" lvl="0" indent="0" algn="ctr" rtl="0">
                        <a:spcBef>
                          <a:spcPts val="0"/>
                        </a:spcBef>
                        <a:spcAft>
                          <a:spcPts val="0"/>
                        </a:spcAft>
                        <a:buNone/>
                      </a:pPr>
                      <a:r>
                        <a:rPr lang="en-US" sz="800" b="1" dirty="0"/>
                        <a:t>23R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LOVRA xx Y</a:t>
                      </a:r>
                    </a:p>
                  </a:txBody>
                  <a:tcPr marL="36000" marR="36000" marT="0" marB="0" anchor="ctr"/>
                </a:tc>
                <a:tc>
                  <a:txBody>
                    <a:bodyPr/>
                    <a:lstStyle/>
                    <a:p>
                      <a:pPr marL="0" marR="0" lvl="0" indent="0" algn="ctr" rtl="0">
                        <a:spcBef>
                          <a:spcPts val="0"/>
                        </a:spcBef>
                        <a:spcAft>
                          <a:spcPts val="0"/>
                        </a:spcAft>
                        <a:buNone/>
                      </a:pPr>
                      <a:r>
                        <a:rPr lang="en-US" altLang="ko-Kore-KR" sz="800" b="1" dirty="0"/>
                        <a:t>XY801</a:t>
                      </a:r>
                    </a:p>
                  </a:txBody>
                  <a:tcPr marL="36000" marR="36000" marT="0" marB="0" anchor="ctr"/>
                </a:tc>
                <a:tc>
                  <a:txBody>
                    <a:bodyPr/>
                    <a:lstStyle/>
                    <a:p>
                      <a:pPr marL="0" marR="0" lvl="0" indent="0" algn="ctr" rtl="0">
                        <a:spcBef>
                          <a:spcPts val="0"/>
                        </a:spcBef>
                        <a:spcAft>
                          <a:spcPts val="0"/>
                        </a:spcAft>
                        <a:buNone/>
                      </a:pPr>
                      <a:r>
                        <a:rPr lang="en-US" sz="800" b="1" dirty="0"/>
                        <a:t>RNAV ILS Z 23R/L</a:t>
                      </a:r>
                      <a:endParaRPr sz="800" b="1" dirty="0"/>
                    </a:p>
                  </a:txBody>
                  <a:tcPr marL="36000" marR="36000" marT="0" marB="0" anchor="ctr"/>
                </a:tc>
                <a:extLst>
                  <a:ext uri="{0D108BD9-81ED-4DB2-BD59-A6C34878D82A}">
                    <a16:rowId xmlns:a16="http://schemas.microsoft.com/office/drawing/2014/main" val="10002"/>
                  </a:ext>
                </a:extLst>
              </a:tr>
              <a:tr h="15583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LCZ, </a:t>
                      </a:r>
                      <a:r>
                        <a:rPr lang="en-US" sz="800" b="1" dirty="0">
                          <a:solidFill>
                            <a:srgbClr val="C00000"/>
                          </a:solidFill>
                        </a:rPr>
                        <a:t>05L IQU, 23R IRA, 05R IXW, 23L IAQ</a:t>
                      </a:r>
                      <a:endParaRPr lang="en-US" altLang="ko-Kore-K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61934">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05L</a:t>
                      </a:r>
                      <a:r>
                        <a:rPr lang="en-US" sz="800" b="1" dirty="0">
                          <a:solidFill>
                            <a:schemeClr val="dk1"/>
                          </a:solidFill>
                        </a:rPr>
                        <a:t> : A3(6778’), A2(9032</a:t>
                      </a:r>
                      <a:r>
                        <a:rPr lang="en-US" altLang="ko-KR" sz="800" b="1" dirty="0">
                          <a:solidFill>
                            <a:schemeClr val="dk1"/>
                          </a:solidFill>
                        </a:rPr>
                        <a:t>’), </a:t>
                      </a:r>
                      <a:r>
                        <a:rPr lang="en-US" sz="800" b="1" dirty="0">
                          <a:solidFill>
                            <a:schemeClr val="dk1"/>
                          </a:solidFill>
                        </a:rPr>
                        <a:t>23R : A6(5544’), A7(6512’)</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a:t>
                      </a:r>
                      <a:r>
                        <a:rPr lang="en-US" altLang="ko-KR" sz="800" b="1" dirty="0">
                          <a:solidFill>
                            <a:schemeClr val="dk1"/>
                          </a:solidFill>
                        </a:rPr>
                        <a:t>05R</a:t>
                      </a:r>
                      <a:r>
                        <a:rPr lang="en-US" altLang="ko-Kore-KR" sz="800" b="1" dirty="0">
                          <a:solidFill>
                            <a:schemeClr val="dk1"/>
                          </a:solidFill>
                        </a:rPr>
                        <a:t> : D4(5613’), D3(7322</a:t>
                      </a:r>
                      <a:r>
                        <a:rPr lang="en-US" altLang="ko-KR" sz="800" b="1" dirty="0">
                          <a:solidFill>
                            <a:schemeClr val="dk1"/>
                          </a:solidFill>
                        </a:rPr>
                        <a:t>’), </a:t>
                      </a:r>
                      <a:r>
                        <a:rPr lang="en-US" altLang="ko-Kore-KR" sz="800" b="1" dirty="0">
                          <a:solidFill>
                            <a:schemeClr val="dk1"/>
                          </a:solidFill>
                        </a:rPr>
                        <a:t>23L : D5(5646’), D6(7408’)</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9290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Follow Me Car, CTC Apron before Gate 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“Closing to xx TWY, apply to change to xx Freq”</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Taxi RTE in Jeppesen Chart.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256270523"/>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ZLXY(XIY)</a:t>
                      </a:r>
                      <a:r>
                        <a:rPr lang="en-US" sz="1200" dirty="0">
                          <a:solidFill>
                            <a:srgbClr val="C00000"/>
                          </a:solidFill>
                          <a:hlinkClick r:id="rId4">
                            <a:extLst>
                              <a:ext uri="{A12FA001-AC4F-418D-AE19-62706E023703}">
                                <ahyp:hlinkClr xmlns:ahyp="http://schemas.microsoft.com/office/drawing/2018/hyperlinkcolor" val="tx"/>
                              </a:ext>
                            </a:extLst>
                          </a:hlinkClick>
                        </a:rPr>
                        <a:t>1572ft</a:t>
                      </a:r>
                      <a:endParaRPr sz="12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Airport Operation Center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45882" y="29801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8DD365E-7219-0DC6-0ED4-B3899D077878}"/>
              </a:ext>
            </a:extLst>
          </p:cNvPr>
          <p:cNvGraphicFramePr/>
          <p:nvPr>
            <p:extLst>
              <p:ext uri="{D42A27DB-BD31-4B8C-83A1-F6EECF244321}">
                <p14:modId xmlns:p14="http://schemas.microsoft.com/office/powerpoint/2010/main" val="1993635572"/>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0191FEC-9740-F804-2F62-4680E32AF4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949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978834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D3F76-0ACF-227A-6409-1225AEBC77D1}"/>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276436F-8F34-1A3E-6363-C2B7D34D656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69023CEF-F14D-D9B6-2954-428FC0F8027D}"/>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FB690D-8F4E-F58B-AF01-306BF3AD2BE1}"/>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EB81FE9-F2DA-F7B4-4362-2D3853FBA6A5}"/>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872154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56310249"/>
              </p:ext>
            </p:extLst>
          </p:nvPr>
        </p:nvGraphicFramePr>
        <p:xfrm>
          <a:off x="-4046" y="692910"/>
          <a:ext cx="2334438" cy="1354810"/>
        </p:xfrm>
        <a:graphic>
          <a:graphicData uri="http://schemas.openxmlformats.org/drawingml/2006/table">
            <a:tbl>
              <a:tblPr firstRow="1" bandRow="1">
                <a:noFill/>
                <a:tableStyleId>{A521BE36-7E6F-4EC9-8D66-1CF97A6895EC}</a:tableStyleId>
              </a:tblPr>
              <a:tblGrid>
                <a:gridCol w="233594">
                  <a:extLst>
                    <a:ext uri="{9D8B030D-6E8A-4147-A177-3AD203B41FA5}">
                      <a16:colId xmlns:a16="http://schemas.microsoft.com/office/drawing/2014/main" val="20000"/>
                    </a:ext>
                  </a:extLst>
                </a:gridCol>
                <a:gridCol w="300866">
                  <a:extLst>
                    <a:ext uri="{9D8B030D-6E8A-4147-A177-3AD203B41FA5}">
                      <a16:colId xmlns:a16="http://schemas.microsoft.com/office/drawing/2014/main" val="20001"/>
                    </a:ext>
                  </a:extLst>
                </a:gridCol>
                <a:gridCol w="339920">
                  <a:extLst>
                    <a:ext uri="{9D8B030D-6E8A-4147-A177-3AD203B41FA5}">
                      <a16:colId xmlns:a16="http://schemas.microsoft.com/office/drawing/2014/main" val="20003"/>
                    </a:ext>
                  </a:extLst>
                </a:gridCol>
                <a:gridCol w="107959">
                  <a:extLst>
                    <a:ext uri="{9D8B030D-6E8A-4147-A177-3AD203B41FA5}">
                      <a16:colId xmlns:a16="http://schemas.microsoft.com/office/drawing/2014/main" val="20004"/>
                    </a:ext>
                  </a:extLst>
                </a:gridCol>
                <a:gridCol w="456341">
                  <a:extLst>
                    <a:ext uri="{9D8B030D-6E8A-4147-A177-3AD203B41FA5}">
                      <a16:colId xmlns:a16="http://schemas.microsoft.com/office/drawing/2014/main" val="456969378"/>
                    </a:ext>
                  </a:extLst>
                </a:gridCol>
                <a:gridCol w="447879">
                  <a:extLst>
                    <a:ext uri="{9D8B030D-6E8A-4147-A177-3AD203B41FA5}">
                      <a16:colId xmlns:a16="http://schemas.microsoft.com/office/drawing/2014/main" val="585746357"/>
                    </a:ext>
                  </a:extLst>
                </a:gridCol>
                <a:gridCol w="447879">
                  <a:extLst>
                    <a:ext uri="{9D8B030D-6E8A-4147-A177-3AD203B41FA5}">
                      <a16:colId xmlns:a16="http://schemas.microsoft.com/office/drawing/2014/main" val="2630083129"/>
                    </a:ext>
                  </a:extLst>
                </a:gridCol>
              </a:tblGrid>
              <a:tr h="147257">
                <a:tc gridSpan="7">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a:txBody>
                    <a:bodyPr/>
                    <a:lstStyle/>
                    <a:p>
                      <a:pPr marL="0" marR="0" lvl="0" indent="0" algn="ctr" rtl="0">
                        <a:spcBef>
                          <a:spcPts val="0"/>
                        </a:spcBef>
                        <a:spcAft>
                          <a:spcPts val="0"/>
                        </a:spcAft>
                        <a:buNone/>
                      </a:pPr>
                      <a:r>
                        <a:rPr lang="en-US" sz="800" b="1" u="none" strike="noStrike" cap="none" dirty="0"/>
                        <a:t>05L</a:t>
                      </a:r>
                      <a:r>
                        <a:rPr lang="en-US" sz="800" b="0" u="none" strike="noStrike" cap="none" dirty="0"/>
                        <a:t>/R</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WJC xx W</a:t>
                      </a:r>
                      <a:r>
                        <a:rPr lang="en-US" sz="800" b="0" u="none" strike="noStrike" cap="none" dirty="0">
                          <a:solidFill>
                            <a:srgbClr val="0070C0"/>
                          </a:solidFill>
                        </a:rPr>
                        <a:t>/Z</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052 </a:t>
                      </a:r>
                      <a:r>
                        <a:rPr lang="en-US" sz="800" b="1" u="none" strike="noStrike" cap="none" dirty="0">
                          <a:solidFill>
                            <a:srgbClr val="0070C0"/>
                          </a:solidFill>
                        </a:rPr>
                        <a:t>ALT ATC</a:t>
                      </a:r>
                    </a:p>
                    <a:p>
                      <a:pPr marL="0" marR="0" lvl="0" indent="0" algn="ctr" rtl="0">
                        <a:spcBef>
                          <a:spcPts val="0"/>
                        </a:spcBef>
                        <a:spcAft>
                          <a:spcPts val="0"/>
                        </a:spcAft>
                        <a:buNone/>
                      </a:pPr>
                      <a:r>
                        <a:rPr lang="en-US" sz="800" b="1" u="none" strike="noStrike" cap="none" dirty="0">
                          <a:solidFill>
                            <a:srgbClr val="0070C0"/>
                          </a:solidFill>
                        </a:rPr>
                        <a:t>1500m(4900’) </a:t>
                      </a:r>
                      <a:r>
                        <a:rPr lang="en-US" sz="800" b="1" u="none" strike="noStrike" cap="none" dirty="0">
                          <a:solidFill>
                            <a:schemeClr val="accent5"/>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17976">
                <a:tc>
                  <a:txBody>
                    <a:bodyPr/>
                    <a:lstStyle/>
                    <a:p>
                      <a:pPr marL="0" marR="0" lvl="0" indent="0" algn="ctr" rtl="0">
                        <a:spcBef>
                          <a:spcPts val="0"/>
                        </a:spcBef>
                        <a:spcAft>
                          <a:spcPts val="0"/>
                        </a:spcAft>
                        <a:buNone/>
                      </a:pPr>
                      <a:r>
                        <a:rPr lang="en-US" sz="800" b="1" u="none" strike="noStrike" cap="none" dirty="0"/>
                        <a:t>23R</a:t>
                      </a:r>
                      <a:r>
                        <a:rPr lang="en-US" sz="800" b="0" u="none" strike="noStrike" cap="none" dirty="0"/>
                        <a:t>/L</a:t>
                      </a:r>
                      <a:endParaRPr sz="800" b="0"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WJC xx X</a:t>
                      </a:r>
                      <a:r>
                        <a:rPr lang="en-US" altLang="ko-Kore-KR" sz="800" b="0" u="none" strike="noStrike" cap="none" dirty="0">
                          <a:solidFill>
                            <a:srgbClr val="0070C0"/>
                          </a:solidFill>
                        </a:rPr>
                        <a:t>/Y</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232 </a:t>
                      </a:r>
                      <a:r>
                        <a:rPr lang="en-US" altLang="ko-Kore-KR" sz="800" b="1" u="none" strike="noStrike" cap="none" dirty="0">
                          <a:solidFill>
                            <a:srgbClr val="0070C0"/>
                          </a:solidFill>
                        </a:rPr>
                        <a:t>ALT ATC</a:t>
                      </a:r>
                    </a:p>
                    <a:p>
                      <a:pPr marL="0" marR="0" lvl="0" indent="0" algn="ctr" rtl="0">
                        <a:spcBef>
                          <a:spcPts val="0"/>
                        </a:spcBef>
                        <a:spcAft>
                          <a:spcPts val="0"/>
                        </a:spcAft>
                        <a:buNone/>
                      </a:pPr>
                      <a:r>
                        <a:rPr lang="en-US" altLang="ko-Kore-KR" sz="800" b="1" u="none" strike="noStrike" cap="none" dirty="0">
                          <a:solidFill>
                            <a:srgbClr val="0070C0"/>
                          </a:solidFill>
                        </a:rPr>
                        <a:t>1500m(4900’) </a:t>
                      </a:r>
                      <a:r>
                        <a:rPr lang="en-US" altLang="ko-Kore-KR" sz="800" b="1" u="none" strike="noStrike" cap="none" dirty="0">
                          <a:solidFill>
                            <a:srgbClr val="7030A0"/>
                          </a:solidFill>
                        </a:rPr>
                        <a:t>SPD 205/230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7976">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LCZ 109.0</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IQU 108.55</a:t>
                      </a: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IRA 111.7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IXW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IAQ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640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0000"/>
                          </a:solidFill>
                        </a:rPr>
                        <a:t>NOTAM TO Perf</a:t>
                      </a:r>
                      <a:r>
                        <a:rPr lang="en-US" altLang="ko-Kore-KR" sz="800" b="1" dirty="0">
                          <a:solidFill>
                            <a:srgbClr val="0070C0"/>
                          </a:solidFill>
                        </a:rPr>
                        <a:t>, ADT = CTOT</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29504973"/>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tx1"/>
                          </a:solidFill>
                          <a:hlinkClick r:id="rId3">
                            <a:extLst>
                              <a:ext uri="{A12FA001-AC4F-418D-AE19-62706E023703}">
                                <ahyp:hlinkClr xmlns:ahyp="http://schemas.microsoft.com/office/drawing/2018/hyperlinkcolor" val="tx"/>
                              </a:ext>
                            </a:extLst>
                          </a:hlinkClick>
                        </a:rPr>
                        <a:t>ZLXY(XIY)</a:t>
                      </a:r>
                      <a:r>
                        <a:rPr lang="en-US" altLang="ko-Kore-KR" sz="1200" dirty="0">
                          <a:solidFill>
                            <a:srgbClr val="C00000"/>
                          </a:solidFill>
                          <a:hlinkClick r:id="rId3">
                            <a:extLst>
                              <a:ext uri="{A12FA001-AC4F-418D-AE19-62706E023703}">
                                <ahyp:hlinkClr xmlns:ahyp="http://schemas.microsoft.com/office/drawing/2018/hyperlinkcolor" val="tx"/>
                              </a:ext>
                            </a:extLst>
                          </a:hlinkClick>
                        </a:rPr>
                        <a:t>1572ft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Airport Operation Center 132.0</a:t>
                      </a:r>
                    </a:p>
                    <a:p>
                      <a:pPr marL="0" marR="0" lvl="0" indent="0" algn="ctr" rtl="0">
                        <a:spcBef>
                          <a:spcPts val="0"/>
                        </a:spcBef>
                        <a:spcAft>
                          <a:spcPts val="0"/>
                        </a:spcAft>
                        <a:buNone/>
                      </a:pPr>
                      <a:r>
                        <a:rPr lang="en-US" altLang="ko-KR" sz="700" dirty="0">
                          <a:solidFill>
                            <a:srgbClr val="FF0000"/>
                          </a:solidFill>
                        </a:rPr>
                        <a:t>DCL -30~10 Min, Read 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2235" y="2117735"/>
            <a:ext cx="1794081"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119.9- XIY 120.95 – 124.1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126.7 – 134.15 – 128.3 – 120.35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TAE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27667"/>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E34F2FED-EB1A-4018-3EAA-D07DC1E350E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F1AD7E94-04C3-C8DF-1149-9AC5AD8DEB20}"/>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4886344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2988110"/>
            <a:ext cx="1887055"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132.8 – DLC 132.95</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latin typeface="Gulim" panose="020B0600000101010101" pitchFamily="34" charset="-127"/>
                <a:ea typeface="Gulim" panose="020B0600000101010101" pitchFamily="34" charset="-127"/>
              </a:rPr>
              <a:t>TSN APP 119.27 </a:t>
            </a:r>
          </a:p>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TWR 118.425(130.0)</a:t>
            </a:r>
          </a:p>
        </p:txBody>
      </p:sp>
      <p:graphicFrame>
        <p:nvGraphicFramePr>
          <p:cNvPr id="292" name="Google Shape;292;p18"/>
          <p:cNvGraphicFramePr/>
          <p:nvPr>
            <p:extLst>
              <p:ext uri="{D42A27DB-BD31-4B8C-83A1-F6EECF244321}">
                <p14:modId xmlns:p14="http://schemas.microsoft.com/office/powerpoint/2010/main" val="3701214694"/>
              </p:ext>
            </p:extLst>
          </p:nvPr>
        </p:nvGraphicFramePr>
        <p:xfrm>
          <a:off x="4472" y="3934290"/>
          <a:ext cx="2333879" cy="1624079"/>
        </p:xfrm>
        <a:graphic>
          <a:graphicData uri="http://schemas.openxmlformats.org/drawingml/2006/table">
            <a:tbl>
              <a:tblPr firstRow="1" bandRow="1">
                <a:noFill/>
                <a:tableStyleId>{A521BE36-7E6F-4EC9-8D66-1CF97A6895EC}</a:tableStyleId>
              </a:tblPr>
              <a:tblGrid>
                <a:gridCol w="476174">
                  <a:extLst>
                    <a:ext uri="{9D8B030D-6E8A-4147-A177-3AD203B41FA5}">
                      <a16:colId xmlns:a16="http://schemas.microsoft.com/office/drawing/2014/main" val="20000"/>
                    </a:ext>
                  </a:extLst>
                </a:gridCol>
                <a:gridCol w="790414">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177180">
                <a:tc gridSpan="4">
                  <a:txBody>
                    <a:bodyPr/>
                    <a:lstStyle/>
                    <a:p>
                      <a:pPr marL="0" marR="0" lvl="0" indent="0" algn="ctr" rtl="0">
                        <a:spcBef>
                          <a:spcPts val="0"/>
                        </a:spcBef>
                        <a:spcAft>
                          <a:spcPts val="0"/>
                        </a:spcAft>
                        <a:buNone/>
                      </a:pPr>
                      <a:r>
                        <a:rPr lang="en-US" sz="800" dirty="0"/>
                        <a:t>TSN </a:t>
                      </a:r>
                      <a:r>
                        <a:rPr lang="en-US" sz="800" dirty="0">
                          <a:solidFill>
                            <a:srgbClr val="00B0F0"/>
                          </a:solidFill>
                        </a:rPr>
                        <a:t>[161/341]</a:t>
                      </a:r>
                      <a:r>
                        <a:rPr lang="en-US" sz="800" dirty="0"/>
                        <a:t> : STAR </a:t>
                      </a:r>
                      <a:r>
                        <a:rPr lang="en-US" sz="800" dirty="0">
                          <a:solidFill>
                            <a:schemeClr val="accent4"/>
                          </a:solidFill>
                        </a:rPr>
                        <a:t>(Missed App 1970’ Initially)</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62270">
                <a:tc>
                  <a:txBody>
                    <a:bodyPr/>
                    <a:lstStyle/>
                    <a:p>
                      <a:pPr marL="0" marR="0" lvl="0" indent="0" algn="ctr" rtl="0">
                        <a:spcBef>
                          <a:spcPts val="0"/>
                        </a:spcBef>
                        <a:spcAft>
                          <a:spcPts val="0"/>
                        </a:spcAft>
                        <a:buNone/>
                      </a:pPr>
                      <a:r>
                        <a:rPr lang="en-US" sz="800" b="1" dirty="0"/>
                        <a:t>16L</a:t>
                      </a:r>
                      <a:r>
                        <a:rPr lang="en-US" sz="800" b="0" dirty="0"/>
                        <a:t>/16R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xK</a:t>
                      </a:r>
                      <a:r>
                        <a:rPr lang="en-US" sz="800" b="0" dirty="0"/>
                        <a:t>/R/H</a:t>
                      </a:r>
                    </a:p>
                  </a:txBody>
                  <a:tcPr marL="36000" marR="36000" marT="36000" marB="36000" anchor="ctr"/>
                </a:tc>
                <a:tc>
                  <a:txBody>
                    <a:bodyPr/>
                    <a:lstStyle/>
                    <a:p>
                      <a:pPr marL="0" marR="0" lvl="0" indent="0" algn="ctr" rtl="0">
                        <a:spcBef>
                          <a:spcPts val="0"/>
                        </a:spcBef>
                        <a:spcAft>
                          <a:spcPts val="0"/>
                        </a:spcAft>
                        <a:buNone/>
                      </a:pPr>
                      <a:r>
                        <a:rPr lang="en-US" sz="800" b="1" dirty="0"/>
                        <a:t>TJ960</a:t>
                      </a:r>
                    </a:p>
                    <a:p>
                      <a:pPr marL="0" marR="0" lvl="0" indent="0" algn="ctr" rtl="0">
                        <a:spcBef>
                          <a:spcPts val="0"/>
                        </a:spcBef>
                        <a:spcAft>
                          <a:spcPts val="0"/>
                        </a:spcAft>
                        <a:buNone/>
                      </a:pPr>
                      <a:r>
                        <a:rPr lang="en-US" sz="800" b="0" dirty="0"/>
                        <a:t>TJ919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16L</a:t>
                      </a:r>
                      <a:r>
                        <a:rPr lang="en-US" sz="800" b="0" dirty="0"/>
                        <a:t>/16R</a:t>
                      </a:r>
                    </a:p>
                  </a:txBody>
                  <a:tcPr marL="36000" marR="36000" marT="36000" marB="36000" anchor="ctr"/>
                </a:tc>
                <a:extLst>
                  <a:ext uri="{0D108BD9-81ED-4DB2-BD59-A6C34878D82A}">
                    <a16:rowId xmlns:a16="http://schemas.microsoft.com/office/drawing/2014/main" val="10001"/>
                  </a:ext>
                </a:extLst>
              </a:tr>
              <a:tr h="262270">
                <a:tc>
                  <a:txBody>
                    <a:bodyPr/>
                    <a:lstStyle/>
                    <a:p>
                      <a:pPr marL="0" marR="0" lvl="0" indent="0" algn="ctr" rtl="0">
                        <a:spcBef>
                          <a:spcPts val="0"/>
                        </a:spcBef>
                        <a:spcAft>
                          <a:spcPts val="0"/>
                        </a:spcAft>
                        <a:buNone/>
                      </a:pPr>
                      <a:r>
                        <a:rPr lang="en-US" sz="800" b="1" dirty="0"/>
                        <a:t>34R</a:t>
                      </a:r>
                      <a:r>
                        <a:rPr lang="en-US" sz="800" b="0" dirty="0"/>
                        <a:t>/34L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xQ</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TJ841</a:t>
                      </a:r>
                    </a:p>
                  </a:txBody>
                  <a:tcPr marL="36000" marR="36000" marT="36000" marB="36000" anchor="ctr"/>
                </a:tc>
                <a:tc>
                  <a:txBody>
                    <a:bodyPr/>
                    <a:lstStyle/>
                    <a:p>
                      <a:pPr marL="0" marR="0" lvl="0" indent="0" algn="ctr" rtl="0">
                        <a:spcBef>
                          <a:spcPts val="0"/>
                        </a:spcBef>
                        <a:spcAft>
                          <a:spcPts val="0"/>
                        </a:spcAft>
                        <a:buNone/>
                      </a:pPr>
                      <a:r>
                        <a:rPr lang="en-US" sz="800" b="1" dirty="0"/>
                        <a:t>ILS 34R</a:t>
                      </a:r>
                      <a:r>
                        <a:rPr lang="en-US" altLang="ko-Kore-KR" sz="800" b="0" dirty="0"/>
                        <a:t>/34L</a:t>
                      </a:r>
                      <a:endParaRPr sz="800" b="1" dirty="0"/>
                    </a:p>
                  </a:txBody>
                  <a:tcPr marL="36000" marR="36000" marT="36000" marB="36000" anchor="ctr"/>
                </a:tc>
                <a:extLst>
                  <a:ext uri="{0D108BD9-81ED-4DB2-BD59-A6C34878D82A}">
                    <a16:rowId xmlns:a16="http://schemas.microsoft.com/office/drawing/2014/main" val="10002"/>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TAJ, </a:t>
                      </a:r>
                      <a:r>
                        <a:rPr lang="en-US" sz="800" b="1" dirty="0">
                          <a:solidFill>
                            <a:srgbClr val="C00000"/>
                          </a:solidFill>
                        </a:rPr>
                        <a:t>16L ICU, 34R IKD, 16R IJS, 34L ICG</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 </a:t>
                      </a:r>
                      <a:r>
                        <a:rPr kumimoji="0" lang="en-US" altLang="ko-Kore-KR" sz="800" b="1" i="0" u="none" strike="noStrike" kern="0" cap="none" spc="0" normalizeH="0" baseline="0" noProof="0" dirty="0" err="1">
                          <a:ln>
                            <a:noFill/>
                          </a:ln>
                          <a:solidFill>
                            <a:srgbClr val="0070C0"/>
                          </a:solidFill>
                          <a:effectLst/>
                          <a:uLnTx/>
                          <a:uFillTx/>
                          <a:latin typeface="Calibri"/>
                          <a:cs typeface="Calibri"/>
                          <a:sym typeface="Arial"/>
                        </a:rPr>
                        <a:t>RWxx</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/6 160kts</a:t>
                      </a:r>
                      <a:r>
                        <a:rPr kumimoji="0" lang="en-US" altLang="ko-KR" sz="800" b="1" i="0" u="none" strike="noStrike" kern="0" cap="none" spc="0" normalizeH="0" baseline="0" noProof="0" dirty="0">
                          <a:ln>
                            <a:noFill/>
                          </a:ln>
                          <a:solidFill>
                            <a:srgbClr val="0070C0"/>
                          </a:solidFill>
                          <a:effectLst/>
                          <a:uLnTx/>
                          <a:uFillTx/>
                          <a:latin typeface="Calibri"/>
                          <a:cs typeface="Calibri"/>
                          <a:sym typeface="Arial"/>
                        </a:rPr>
                        <a:t>(JEPP REF)</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a:t>
                      </a:r>
                      <a:endParaRPr sz="800" b="0"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77481440"/>
                  </a:ext>
                </a:extLst>
              </a:tr>
              <a:tr h="26227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:W3(6269’),W2(9809’), 34R :W7(6443’),W8(7591’)</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16R :B4(5177’),B3(7191’), 34L :B5(5183’),B6(7201’)</a:t>
                      </a:r>
                      <a:r>
                        <a:rPr lang="en-US" sz="800" b="1" dirty="0">
                          <a:solidFill>
                            <a:schemeClr val="dk1"/>
                          </a:solidFill>
                        </a:rPr>
                        <a:t> </a:t>
                      </a:r>
                      <a:endParaRPr b="1"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891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on D, TAXI SPD Max 27kts</a:t>
                      </a:r>
                      <a:endParaRPr lang="en-US" altLang="ko-K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3418047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ZBTJ(TSN) 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Tianjin</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172E7694-E627-ADAE-DF67-CEC98593FD53}"/>
              </a:ext>
            </a:extLst>
          </p:cNvPr>
          <p:cNvGraphicFramePr/>
          <p:nvPr>
            <p:extLst>
              <p:ext uri="{D42A27DB-BD31-4B8C-83A1-F6EECF244321}">
                <p14:modId xmlns:p14="http://schemas.microsoft.com/office/powerpoint/2010/main" val="4075225115"/>
              </p:ext>
            </p:extLst>
          </p:nvPr>
        </p:nvGraphicFramePr>
        <p:xfrm>
          <a:off x="1" y="63005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108798D-7683-BA79-6C89-C98F19FD5A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2556107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537A4C-C378-0F58-BA1F-5505FB25729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5140A9CA-316D-FB9A-5257-AB664BC1E6CC}"/>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82A2B653-147D-4459-010F-CBEC79679F9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C83516-51EE-DD72-01AD-AAB400095B1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A9EC69C2-0557-F9CE-2B14-D788D0534D4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361408107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585854960"/>
              </p:ext>
            </p:extLst>
          </p:nvPr>
        </p:nvGraphicFramePr>
        <p:xfrm>
          <a:off x="-3430" y="676135"/>
          <a:ext cx="2333776" cy="1476730"/>
        </p:xfrm>
        <a:graphic>
          <a:graphicData uri="http://schemas.openxmlformats.org/drawingml/2006/table">
            <a:tbl>
              <a:tblPr firstRow="1" bandRow="1">
                <a:noFill/>
                <a:tableStyleId>{A521BE36-7E6F-4EC9-8D66-1CF97A6895EC}</a:tableStyleId>
              </a:tblPr>
              <a:tblGrid>
                <a:gridCol w="288853">
                  <a:extLst>
                    <a:ext uri="{9D8B030D-6E8A-4147-A177-3AD203B41FA5}">
                      <a16:colId xmlns:a16="http://schemas.microsoft.com/office/drawing/2014/main" val="20000"/>
                    </a:ext>
                  </a:extLst>
                </a:gridCol>
                <a:gridCol w="166338">
                  <a:extLst>
                    <a:ext uri="{9D8B030D-6E8A-4147-A177-3AD203B41FA5}">
                      <a16:colId xmlns:a16="http://schemas.microsoft.com/office/drawing/2014/main" val="20002"/>
                    </a:ext>
                  </a:extLst>
                </a:gridCol>
                <a:gridCol w="451612">
                  <a:extLst>
                    <a:ext uri="{9D8B030D-6E8A-4147-A177-3AD203B41FA5}">
                      <a16:colId xmlns:a16="http://schemas.microsoft.com/office/drawing/2014/main" val="2878850997"/>
                    </a:ext>
                  </a:extLst>
                </a:gridCol>
                <a:gridCol w="61400">
                  <a:extLst>
                    <a:ext uri="{9D8B030D-6E8A-4147-A177-3AD203B41FA5}">
                      <a16:colId xmlns:a16="http://schemas.microsoft.com/office/drawing/2014/main" val="488815992"/>
                    </a:ext>
                  </a:extLst>
                </a:gridCol>
                <a:gridCol w="455192">
                  <a:extLst>
                    <a:ext uri="{9D8B030D-6E8A-4147-A177-3AD203B41FA5}">
                      <a16:colId xmlns:a16="http://schemas.microsoft.com/office/drawing/2014/main" val="2821561803"/>
                    </a:ext>
                  </a:extLst>
                </a:gridCol>
                <a:gridCol w="455190">
                  <a:extLst>
                    <a:ext uri="{9D8B030D-6E8A-4147-A177-3AD203B41FA5}">
                      <a16:colId xmlns:a16="http://schemas.microsoft.com/office/drawing/2014/main" val="2901698894"/>
                    </a:ext>
                  </a:extLst>
                </a:gridCol>
                <a:gridCol w="455191">
                  <a:extLst>
                    <a:ext uri="{9D8B030D-6E8A-4147-A177-3AD203B41FA5}">
                      <a16:colId xmlns:a16="http://schemas.microsoft.com/office/drawing/2014/main" val="526455269"/>
                    </a:ext>
                  </a:extLst>
                </a:gridCol>
              </a:tblGrid>
              <a:tr h="0">
                <a:tc gridSpan="7">
                  <a:txBody>
                    <a:bodyPr/>
                    <a:lstStyle/>
                    <a:p>
                      <a:pPr marL="0" marR="0" lvl="0" indent="0" algn="ctr" rtl="0">
                        <a:spcBef>
                          <a:spcPts val="0"/>
                        </a:spcBef>
                        <a:spcAft>
                          <a:spcPts val="0"/>
                        </a:spcAft>
                        <a:buNone/>
                      </a:pPr>
                      <a:r>
                        <a:rPr lang="en-US" sz="800" u="none" strike="noStrike" cap="none" dirty="0"/>
                        <a:t>TSN : SID (NADP 1)  </a:t>
                      </a:r>
                      <a:r>
                        <a:rPr lang="en-US" sz="800" u="none" strike="noStrike" cap="none" dirty="0">
                          <a:solidFill>
                            <a:schemeClr val="accent4"/>
                          </a:solidFill>
                        </a:rPr>
                        <a:t>Caution 600</a:t>
                      </a:r>
                      <a:r>
                        <a:rPr lang="en-US" altLang="ko-KR" sz="800" u="none" strike="noStrike" cap="none" dirty="0">
                          <a:solidFill>
                            <a:schemeClr val="accent4"/>
                          </a:solidFill>
                        </a:rPr>
                        <a:t>m Level Off – SPD Inc</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16R</a:t>
                      </a:r>
                      <a:endParaRPr lang="en-US" sz="800" b="1" u="none" strike="noStrike" cap="none" dirty="0"/>
                    </a:p>
                    <a:p>
                      <a:pPr marL="0" marR="0" lvl="0" indent="0" algn="ctr" rtl="0">
                        <a:spcBef>
                          <a:spcPts val="0"/>
                        </a:spcBef>
                        <a:spcAft>
                          <a:spcPts val="0"/>
                        </a:spcAft>
                        <a:buNone/>
                      </a:pPr>
                      <a:r>
                        <a:rPr lang="en-US" sz="800" b="0" u="none" strike="noStrike" cap="none" dirty="0"/>
                        <a:t>/16L</a:t>
                      </a:r>
                      <a:endParaRPr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MUGLO </a:t>
                      </a:r>
                      <a:r>
                        <a:rPr lang="en-US" sz="800" b="1" u="none" strike="noStrike" cap="none" dirty="0" err="1">
                          <a:solidFill>
                            <a:srgbClr val="0070C0"/>
                          </a:solidFill>
                        </a:rPr>
                        <a:t>xT</a:t>
                      </a:r>
                      <a:endParaRPr lang="ko-Kore-KR" dirty="0"/>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161 </a:t>
                      </a:r>
                      <a:r>
                        <a:rPr lang="en-US" sz="800" b="1" u="none" strike="noStrike" cap="none" dirty="0">
                          <a:solidFill>
                            <a:srgbClr val="0070C0"/>
                          </a:solidFill>
                        </a:rPr>
                        <a:t>ALT ATC(600m)</a:t>
                      </a:r>
                    </a:p>
                    <a:p>
                      <a:pPr algn="ct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34L</a:t>
                      </a:r>
                    </a:p>
                    <a:p>
                      <a:pPr marL="0" marR="0" lvl="0" indent="0" algn="ctr" rtl="0">
                        <a:spcBef>
                          <a:spcPts val="0"/>
                        </a:spcBef>
                        <a:spcAft>
                          <a:spcPts val="0"/>
                        </a:spcAft>
                        <a:buNone/>
                      </a:pPr>
                      <a:r>
                        <a:rPr lang="en-US" sz="800" b="0" u="none" strike="noStrike" cap="none" dirty="0"/>
                        <a:t>/34R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MUGLO </a:t>
                      </a:r>
                      <a:r>
                        <a:rPr lang="en-US" altLang="ko-Kore-KR" sz="800" b="1" u="none" strike="noStrike" cap="none" dirty="0" err="1">
                          <a:solidFill>
                            <a:srgbClr val="0070C0"/>
                          </a:solidFill>
                        </a:rPr>
                        <a:t>xW</a:t>
                      </a:r>
                      <a:r>
                        <a:rPr lang="en-US" altLang="ko-Kore-KR" sz="800" b="1" u="none" strike="noStrike" cap="none" dirty="0">
                          <a:solidFill>
                            <a:srgbClr val="0070C0"/>
                          </a:solidFill>
                        </a:rPr>
                        <a:t>/R</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341 </a:t>
                      </a:r>
                      <a:r>
                        <a:rPr lang="en-US" sz="800" b="1" u="none" strike="noStrike" cap="none" dirty="0">
                          <a:solidFill>
                            <a:srgbClr val="0070C0"/>
                          </a:solidFill>
                        </a:rPr>
                        <a:t>ALT ATC(600m) </a:t>
                      </a:r>
                    </a:p>
                    <a:p>
                      <a:pPr algn="ctr"/>
                      <a:r>
                        <a:rPr lang="en-US" sz="800" b="1" u="none" strike="noStrike" cap="none" dirty="0">
                          <a:solidFill>
                            <a:srgbClr val="7030A0"/>
                          </a:solidFill>
                        </a:rPr>
                        <a:t>SPD 230 </a:t>
                      </a: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TAJ 112.1</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16R IJS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110.9</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34L ICG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16L ICU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34R IKD 111.5</a:t>
                      </a:r>
                    </a:p>
                  </a:txBody>
                  <a:tcPr marL="36000" marR="36000" marT="36000" marB="36000" anchor="ctr"/>
                </a:tc>
                <a:extLst>
                  <a:ext uri="{0D108BD9-81ED-4DB2-BD59-A6C34878D82A}">
                    <a16:rowId xmlns:a16="http://schemas.microsoft.com/office/drawing/2014/main" val="10003"/>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16R : Do not pass A11 </a:t>
                      </a:r>
                    </a:p>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Confirm Parking Brake Release before Push back</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895086968"/>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ZBTJ(TSN) 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Tianjin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 Back!)</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971" y="2288989"/>
            <a:ext cx="1226618"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119.27</a:t>
            </a:r>
          </a:p>
          <a:p>
            <a:pPr>
              <a:lnSpc>
                <a:spcPct val="150000"/>
              </a:lnSpc>
            </a:pPr>
            <a:r>
              <a:rPr kumimoji="1" lang="en-US" altLang="ko-Kore-KR" sz="700" b="1" u="sng" dirty="0">
                <a:latin typeface="Gulim" panose="020B0600000101010101" pitchFamily="34" charset="-127"/>
                <a:ea typeface="Gulim" panose="020B0600000101010101" pitchFamily="34" charset="-127"/>
              </a:rPr>
              <a:t>PEK 125.6</a:t>
            </a:r>
          </a:p>
          <a:p>
            <a:pPr>
              <a:lnSpc>
                <a:spcPct val="150000"/>
              </a:lnSpc>
            </a:pPr>
            <a:r>
              <a:rPr kumimoji="1" lang="en-US" altLang="ko-KR" sz="700" b="1" u="sng" dirty="0">
                <a:latin typeface="Gulim" panose="020B0600000101010101" pitchFamily="34" charset="-127"/>
                <a:ea typeface="Gulim" panose="020B0600000101010101" pitchFamily="34" charset="-127"/>
              </a:rPr>
              <a:t>DLC</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123.2 – </a:t>
            </a:r>
            <a:r>
              <a:rPr kumimoji="1" lang="en-US" altLang="ko-Kore-KR" sz="700" b="1" u="sng" dirty="0">
                <a:latin typeface="Gulim" panose="020B0600000101010101" pitchFamily="34" charset="-127"/>
                <a:ea typeface="Gulim" panose="020B0600000101010101" pitchFamily="34" charset="-127"/>
              </a:rPr>
              <a:t>132.95</a:t>
            </a: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latin typeface="Gulim" panose="020B0600000101010101" pitchFamily="34" charset="-127"/>
                <a:ea typeface="Gulim" panose="020B0600000101010101" pitchFamily="34" charset="-127"/>
              </a:rPr>
              <a:t>ICN 128.7 – APP 119.75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C29056F9-0FCD-21C9-FD87-66E9E016BDE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2292"/>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D722A2AD-126E-F46D-C046-E8A4EC830C40}"/>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37388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5A386F00-8D5D-E8A4-F45E-4012C728BC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D202D59-F2D6-A9C1-A0A9-D51DFD578FA6}"/>
              </a:ext>
            </a:extLst>
          </p:cNvPr>
          <p:cNvSpPr txBox="1"/>
          <p:nvPr/>
        </p:nvSpPr>
        <p:spPr>
          <a:xfrm>
            <a:off x="-28168" y="2835445"/>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128.7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a:t>
            </a:r>
            <a:r>
              <a:rPr kumimoji="1" lang="en-US" altLang="ko-KR" sz="700" b="1" u="sng" dirty="0">
                <a:solidFill>
                  <a:srgbClr val="0070C0"/>
                </a:solidFill>
                <a:latin typeface="Gulim" panose="020B0600000101010101" pitchFamily="34" charset="-127"/>
                <a:ea typeface="Gulim" panose="020B0600000101010101" pitchFamily="34" charset="-127"/>
              </a:rPr>
              <a:t>28</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5 – 134.85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APP 1</a:t>
            </a:r>
            <a:r>
              <a:rPr kumimoji="1" lang="en-US" altLang="ko-KR" sz="700" b="1" u="sng" dirty="0">
                <a:solidFill>
                  <a:srgbClr val="0070C0"/>
                </a:solidFill>
                <a:latin typeface="Gulim" panose="020B0600000101010101" pitchFamily="34" charset="-127"/>
                <a:ea typeface="Gulim" panose="020B0600000101010101" pitchFamily="34" charset="-127"/>
              </a:rPr>
              <a:t>19</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77</a:t>
            </a:r>
            <a:r>
              <a:rPr kumimoji="1" lang="en-US" altLang="ko-Kore-KR" sz="700" b="1" u="sng" dirty="0">
                <a:solidFill>
                  <a:srgbClr val="0070C0"/>
                </a:solidFill>
                <a:latin typeface="Gulim" panose="020B0600000101010101" pitchFamily="34" charset="-127"/>
                <a:ea typeface="Gulim" panose="020B0600000101010101" pitchFamily="34" charset="-127"/>
              </a:rPr>
              <a:t> – 119.4 </a:t>
            </a:r>
          </a:p>
        </p:txBody>
      </p:sp>
      <p:graphicFrame>
        <p:nvGraphicFramePr>
          <p:cNvPr id="292" name="Google Shape;292;p18">
            <a:extLst>
              <a:ext uri="{FF2B5EF4-FFF2-40B4-BE49-F238E27FC236}">
                <a16:creationId xmlns:a16="http://schemas.microsoft.com/office/drawing/2014/main" id="{0101752F-937C-D3D5-A021-153D080880AB}"/>
              </a:ext>
            </a:extLst>
          </p:cNvPr>
          <p:cNvGraphicFramePr/>
          <p:nvPr>
            <p:extLst>
              <p:ext uri="{D42A27DB-BD31-4B8C-83A1-F6EECF244321}">
                <p14:modId xmlns:p14="http://schemas.microsoft.com/office/powerpoint/2010/main" val="2594726955"/>
              </p:ext>
            </p:extLst>
          </p:nvPr>
        </p:nvGraphicFramePr>
        <p:xfrm>
          <a:off x="55" y="3820222"/>
          <a:ext cx="2333879" cy="173176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TAO </a:t>
                      </a:r>
                      <a:r>
                        <a:rPr lang="en-US" sz="800" dirty="0">
                          <a:solidFill>
                            <a:srgbClr val="00B0F0"/>
                          </a:solidFill>
                        </a:rPr>
                        <a:t>[350/170]</a:t>
                      </a:r>
                      <a:r>
                        <a:rPr lang="en-US" sz="800" dirty="0"/>
                        <a:t> : </a:t>
                      </a:r>
                      <a:r>
                        <a:rPr lang="en-US" sz="800" dirty="0">
                          <a:solidFill>
                            <a:srgbClr val="FFC000"/>
                          </a:solidFill>
                        </a:rPr>
                        <a:t>AFT AGAVO – IKEKA- LATUX</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35</a:t>
                      </a:r>
                      <a:r>
                        <a:rPr lang="en-US" sz="800" b="0" dirty="0"/>
                        <a:t>/34</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LAT 91A/01A </a:t>
                      </a:r>
                    </a:p>
                  </a:txBody>
                  <a:tcPr marL="36000" marR="36000" marT="36000" marB="36000" anchor="ctr"/>
                </a:tc>
                <a:tc>
                  <a:txBody>
                    <a:bodyPr/>
                    <a:lstStyle/>
                    <a:p>
                      <a:pPr marL="0" marR="0" lvl="0" indent="0" algn="ctr" rtl="0">
                        <a:spcBef>
                          <a:spcPts val="0"/>
                        </a:spcBef>
                        <a:spcAft>
                          <a:spcPts val="0"/>
                        </a:spcAft>
                        <a:buNone/>
                      </a:pPr>
                      <a:r>
                        <a:rPr lang="en-US" sz="800" b="1" dirty="0"/>
                        <a:t>JD405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35</a:t>
                      </a:r>
                      <a:r>
                        <a:rPr lang="en-US" sz="800" b="0" dirty="0"/>
                        <a:t>(34)</a:t>
                      </a:r>
                      <a:endParaRPr lang="en-US" sz="800" b="0"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17</a:t>
                      </a:r>
                      <a:r>
                        <a:rPr lang="en-US" altLang="ko-KR" sz="800" b="0" dirty="0"/>
                        <a:t>/</a:t>
                      </a:r>
                      <a:r>
                        <a:rPr lang="en-US" sz="800" b="0" dirty="0"/>
                        <a:t>16</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LAT 81A/11A</a:t>
                      </a:r>
                    </a:p>
                  </a:txBody>
                  <a:tcPr marL="36000" marR="36000" marT="36000" marB="36000" anchor="ctr"/>
                </a:tc>
                <a:tc>
                  <a:txBody>
                    <a:bodyPr/>
                    <a:lstStyle/>
                    <a:p>
                      <a:pPr marL="0" marR="0" lvl="0" indent="0" algn="ctr" rtl="0">
                        <a:spcBef>
                          <a:spcPts val="0"/>
                        </a:spcBef>
                        <a:spcAft>
                          <a:spcPts val="0"/>
                        </a:spcAft>
                        <a:buNone/>
                      </a:pPr>
                      <a:r>
                        <a:rPr lang="en-US" sz="800" b="1" dirty="0"/>
                        <a:t>JD305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17</a:t>
                      </a:r>
                      <a:r>
                        <a:rPr lang="en-US" sz="800" b="0" dirty="0"/>
                        <a:t>(16)</a:t>
                      </a:r>
                      <a:endParaRPr sz="800" b="0"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JDG, </a:t>
                      </a:r>
                      <a:r>
                        <a:rPr lang="en-US" sz="800" b="1" dirty="0">
                          <a:solidFill>
                            <a:srgbClr val="C00000"/>
                          </a:solidFill>
                        </a:rPr>
                        <a:t>35 IQX, 17 IQD, </a:t>
                      </a:r>
                      <a:r>
                        <a:rPr lang="en-US" sz="800" b="0" dirty="0">
                          <a:solidFill>
                            <a:srgbClr val="C00000"/>
                          </a:solidFill>
                        </a:rPr>
                        <a:t>34 IIN, 16 IDA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a:solidFill>
                            <a:schemeClr val="bg1"/>
                          </a:solidFill>
                        </a:rPr>
                        <a:t>RW xx /6 160kts</a:t>
                      </a:r>
                    </a:p>
                    <a:p>
                      <a:pPr marL="0" marR="0" lvl="0" indent="0" algn="ctr" rtl="0">
                        <a:lnSpc>
                          <a:spcPct val="100000"/>
                        </a:lnSpc>
                        <a:spcBef>
                          <a:spcPts val="0"/>
                        </a:spcBef>
                        <a:spcAft>
                          <a:spcPts val="0"/>
                        </a:spcAft>
                        <a:buClr>
                          <a:srgbClr val="00B050"/>
                        </a:buClr>
                        <a:buSzPts val="800"/>
                        <a:buFont typeface="Calibri"/>
                        <a:buNone/>
                      </a:pPr>
                      <a:r>
                        <a:rPr lang="en-US" sz="700" b="1" dirty="0">
                          <a:solidFill>
                            <a:srgbClr val="C00000"/>
                          </a:solidFill>
                        </a:rPr>
                        <a:t>AVBIK R014, LAROP R159, R183 (</a:t>
                      </a:r>
                      <a:r>
                        <a:rPr lang="en-US" sz="700" b="1" dirty="0" err="1">
                          <a:solidFill>
                            <a:srgbClr val="C00000"/>
                          </a:solidFill>
                        </a:rPr>
                        <a:t>두</a:t>
                      </a:r>
                      <a:r>
                        <a:rPr lang="ko-KR" altLang="en-US" sz="700" b="1" dirty="0">
                          <a:solidFill>
                            <a:srgbClr val="C00000"/>
                          </a:solidFill>
                        </a:rPr>
                        <a:t>점 연결</a:t>
                      </a:r>
                      <a:r>
                        <a:rPr lang="en-US" altLang="ko-KR" sz="700" b="1" dirty="0">
                          <a:solidFill>
                            <a:srgbClr val="C00000"/>
                          </a:solidFill>
                        </a:rPr>
                        <a:t>)</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04729124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35 : S2(5255’), S4(6624’), 17 : S1(5282’), S3(6604’)</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34 : R2(5278’), R4(6650’), 16 : R1(5318’), R3(6706’) </a:t>
                      </a:r>
                      <a:endParaRPr b="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ko-KR" altLang="en-US" sz="800" dirty="0">
                          <a:solidFill>
                            <a:srgbClr val="0070C0"/>
                          </a:solidFill>
                        </a:rPr>
                        <a:t>위의 </a:t>
                      </a:r>
                      <a:r>
                        <a:rPr lang="en-US" altLang="ko-KR" sz="800" dirty="0">
                          <a:solidFill>
                            <a:srgbClr val="0070C0"/>
                          </a:solidFill>
                        </a:rPr>
                        <a:t>Point </a:t>
                      </a:r>
                      <a:r>
                        <a:rPr lang="ko-KR" altLang="en-US" sz="800" dirty="0">
                          <a:solidFill>
                            <a:srgbClr val="0070C0"/>
                          </a:solidFill>
                        </a:rPr>
                        <a:t>불가시 </a:t>
                      </a:r>
                      <a:r>
                        <a:rPr lang="en-US" altLang="ko-KR" sz="800" dirty="0">
                          <a:solidFill>
                            <a:srgbClr val="0070C0"/>
                          </a:solidFill>
                        </a:rPr>
                        <a:t>TWR</a:t>
                      </a:r>
                      <a:r>
                        <a:rPr lang="ko-KR" altLang="en-US" sz="800" dirty="0">
                          <a:solidFill>
                            <a:srgbClr val="0070C0"/>
                          </a:solidFill>
                        </a:rPr>
                        <a:t> 보고</a:t>
                      </a:r>
                      <a:r>
                        <a:rPr lang="en-US" altLang="ko-KR" sz="800" dirty="0"/>
                        <a:t>,  </a:t>
                      </a:r>
                      <a:r>
                        <a:rPr lang="en-US" altLang="ko-KR" sz="800" dirty="0">
                          <a:solidFill>
                            <a:srgbClr val="C00000"/>
                          </a:solidFill>
                        </a:rPr>
                        <a:t>Apron CTC </a:t>
                      </a:r>
                      <a:r>
                        <a:rPr lang="ko-KR" altLang="en-US" sz="800" dirty="0">
                          <a:solidFill>
                            <a:srgbClr val="C00000"/>
                          </a:solidFill>
                        </a:rPr>
                        <a:t>주의</a:t>
                      </a:r>
                      <a:endParaRPr lang="en-US" altLang="ko-K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altLang="ko-KR" sz="800" dirty="0"/>
                        <a:t> </a:t>
                      </a:r>
                      <a:r>
                        <a:rPr lang="en-US" sz="800" dirty="0"/>
                        <a:t>Follow Me Car on </a:t>
                      </a:r>
                      <a:r>
                        <a:rPr lang="en-US" sz="800" dirty="0" err="1"/>
                        <a:t>Lxx</a:t>
                      </a:r>
                      <a:r>
                        <a:rPr lang="en-US" sz="800" dirty="0"/>
                        <a:t> APU off Procedure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2AADAA9-ECE8-66EA-FC58-DB2D69AEE3F1}"/>
              </a:ext>
            </a:extLst>
          </p:cNvPr>
          <p:cNvGraphicFramePr/>
          <p:nvPr>
            <p:extLst>
              <p:ext uri="{D42A27DB-BD31-4B8C-83A1-F6EECF244321}">
                <p14:modId xmlns:p14="http://schemas.microsoft.com/office/powerpoint/2010/main" val="2109258745"/>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ZSQD(TAO) 30ft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24679CE-739A-7A83-499E-7E1C840499F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6002EB2-64E2-C324-6FAC-CB6E3BAF4C32}"/>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9565358-05EF-DF8E-656F-B91788E3B7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134248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70BD9-D9EA-B4D2-2D60-DE443D1A211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01AFF59-07B0-3DBA-46A8-52C61954C820}"/>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5E2EAE8-F889-1437-B115-DD478B11A35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D427601-ABE9-A5EF-B947-A04B4E16815A}"/>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6777C057-7E8B-EB48-3A12-DEC89831F216}"/>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11476752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8A6643A2-E915-A221-9657-9E97E34197C6}"/>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34263078-E3A7-E4B4-C046-62B08AAE6590}"/>
              </a:ext>
            </a:extLst>
          </p:cNvPr>
          <p:cNvGraphicFramePr/>
          <p:nvPr>
            <p:extLst>
              <p:ext uri="{D42A27DB-BD31-4B8C-83A1-F6EECF244321}">
                <p14:modId xmlns:p14="http://schemas.microsoft.com/office/powerpoint/2010/main" val="3913554380"/>
              </p:ext>
            </p:extLst>
          </p:nvPr>
        </p:nvGraphicFramePr>
        <p:xfrm>
          <a:off x="-4046" y="756451"/>
          <a:ext cx="2330557" cy="154873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97400">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22307">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altLang="ko-Kore-KR" sz="800" u="none" strike="noStrike" cap="none" dirty="0"/>
                        <a:t>TAO : SID (NADP 1) </a:t>
                      </a:r>
                      <a:r>
                        <a:rPr lang="en-US" altLang="ko-Kore-KR" sz="800" u="none" strike="noStrike" cap="none" dirty="0">
                          <a:solidFill>
                            <a:srgbClr val="FFC000"/>
                          </a:solidFill>
                        </a:rPr>
                        <a:t>Walk Around Ramp Pass &amp; PW</a:t>
                      </a:r>
                    </a:p>
                  </a:txBody>
                  <a:tcPr marL="36000" marR="7200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lang="en-US" altLang="ko-Kore-KR" sz="800" u="none" strike="noStrike" cap="none" dirty="0">
                        <a:solidFill>
                          <a:srgbClr val="FFC000"/>
                        </a:solidFill>
                      </a:endParaRPr>
                    </a:p>
                  </a:txBody>
                  <a:tcPr marL="36000" marR="7200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34</a:t>
                      </a:r>
                      <a:endParaRPr lang="en-US" sz="800" b="1" u="none" strike="noStrike" cap="none" dirty="0"/>
                    </a:p>
                    <a:p>
                      <a:pPr marL="0" marR="0" lvl="0" indent="0" algn="ctr" rtl="0">
                        <a:spcBef>
                          <a:spcPts val="0"/>
                        </a:spcBef>
                        <a:spcAft>
                          <a:spcPts val="0"/>
                        </a:spcAft>
                        <a:buNone/>
                      </a:pPr>
                      <a:r>
                        <a:rPr lang="en-US" sz="800" b="0" u="none" strike="noStrike" cap="none" dirty="0"/>
                        <a:t>(</a:t>
                      </a:r>
                      <a:r>
                        <a:rPr lang="en-US" altLang="ko-KR" sz="800" b="0" u="none" strike="noStrike" cap="none" dirty="0"/>
                        <a:t>35</a:t>
                      </a:r>
                      <a:r>
                        <a:rPr lang="en-US" sz="800" b="0" u="none" strike="noStrike" cap="none" dirty="0"/>
                        <a:t>)</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LAT 91D/01D</a:t>
                      </a:r>
                    </a:p>
                  </a:txBody>
                  <a:tcPr marL="36000" marR="36000" marT="36000" marB="36000" anchor="ctr"/>
                </a:tc>
                <a:tc hMerge="1">
                  <a:txBody>
                    <a:bodyPr/>
                    <a:lstStyle/>
                    <a:p>
                      <a:pPr marL="0" marR="0" lvl="0" indent="0" algn="ctr" rtl="0">
                        <a:spcBef>
                          <a:spcPts val="0"/>
                        </a:spcBef>
                        <a:spcAft>
                          <a:spcPts val="0"/>
                        </a:spcAft>
                        <a:buNone/>
                      </a:pP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a:t>
                      </a:r>
                      <a:r>
                        <a:rPr lang="en-US" altLang="ko-KR" sz="800" b="1" u="none" strike="noStrike" cap="none" dirty="0"/>
                        <a:t>350</a:t>
                      </a:r>
                      <a:r>
                        <a:rPr lang="en-US" sz="800" b="1" u="none" strike="noStrike" cap="none" dirty="0"/>
                        <a:t> </a:t>
                      </a:r>
                      <a:r>
                        <a:rPr lang="en-US" sz="800" b="1" u="none" strike="noStrike" cap="none" dirty="0">
                          <a:solidFill>
                            <a:srgbClr val="0070C0"/>
                          </a:solidFill>
                        </a:rPr>
                        <a:t>ALT </a:t>
                      </a:r>
                      <a:r>
                        <a:rPr lang="en-US" altLang="ko-KR" sz="800" b="1" u="none" strike="noStrike" cap="none" dirty="0">
                          <a:solidFill>
                            <a:srgbClr val="0070C0"/>
                          </a:solidFill>
                        </a:rPr>
                        <a:t>30</a:t>
                      </a:r>
                      <a:r>
                        <a:rPr lang="en-US" sz="800" b="1" u="none" strike="noStrike" cap="none" dirty="0">
                          <a:solidFill>
                            <a:srgbClr val="0070C0"/>
                          </a:solidFill>
                        </a:rPr>
                        <a:t>00(</a:t>
                      </a:r>
                      <a:r>
                        <a:rPr lang="en-US" altLang="ko-KR" sz="800" b="1" u="none" strike="noStrike" cap="none" dirty="0">
                          <a:solidFill>
                            <a:srgbClr val="0070C0"/>
                          </a:solidFill>
                        </a:rPr>
                        <a:t>900</a:t>
                      </a:r>
                      <a:r>
                        <a:rPr lang="en-US" sz="800" b="1" u="none" strike="noStrike" cap="none" dirty="0">
                          <a:solidFill>
                            <a:srgbClr val="0070C0"/>
                          </a:solidFill>
                        </a:rPr>
                        <a:t>m)</a:t>
                      </a:r>
                    </a:p>
                    <a:p>
                      <a:pPr algn="ctr"/>
                      <a:r>
                        <a:rPr lang="en-US" altLang="ko-Kore-KR" sz="800" b="1" u="none" strike="noStrike" cap="none" dirty="0">
                          <a:solidFill>
                            <a:srgbClr val="AA47F5"/>
                          </a:solidFill>
                        </a:rPr>
                        <a:t>SPD 250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a:t>
                      </a:r>
                      <a:r>
                        <a:rPr lang="en-US" altLang="ko-KR" sz="800" b="1" u="none" strike="noStrike" cap="none" dirty="0"/>
                        <a:t>6</a:t>
                      </a:r>
                      <a:endParaRPr lang="en-US" sz="800" b="1" u="none" strike="noStrike" cap="none" dirty="0"/>
                    </a:p>
                    <a:p>
                      <a:pPr marL="0" marR="0" lvl="0" indent="0" algn="ctr" rtl="0">
                        <a:spcBef>
                          <a:spcPts val="0"/>
                        </a:spcBef>
                        <a:spcAft>
                          <a:spcPts val="0"/>
                        </a:spcAft>
                        <a:buNone/>
                      </a:pPr>
                      <a:r>
                        <a:rPr lang="en-US" sz="800" b="0" u="none" strike="noStrike" cap="none" dirty="0"/>
                        <a:t>(1</a:t>
                      </a:r>
                      <a:r>
                        <a:rPr lang="en-US" altLang="ko-KR" sz="800" b="0" u="none" strike="noStrike" cap="none" dirty="0"/>
                        <a:t>7</a:t>
                      </a:r>
                      <a:r>
                        <a:rPr lang="en-US" sz="800" b="0" u="none" strike="noStrike" cap="none" dirty="0"/>
                        <a:t>)</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LAT 81D/11D</a:t>
                      </a:r>
                    </a:p>
                  </a:txBody>
                  <a:tcPr marL="36000" marR="36000" marT="36000" marB="36000" anchor="ctr"/>
                </a:tc>
                <a:tc hMerge="1">
                  <a:txBody>
                    <a:bodyPr/>
                    <a:lstStyle/>
                    <a:p>
                      <a:pPr marL="0" marR="0" lvl="0" indent="0" algn="ctr" rtl="0">
                        <a:spcBef>
                          <a:spcPts val="0"/>
                        </a:spcBef>
                        <a:spcAft>
                          <a:spcPts val="0"/>
                        </a:spcAft>
                        <a:buNone/>
                      </a:pP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a:t>
                      </a:r>
                      <a:r>
                        <a:rPr lang="en-US" altLang="ko-KR" sz="800" b="1" u="none" strike="noStrike" cap="none" dirty="0"/>
                        <a:t>70</a:t>
                      </a:r>
                      <a:r>
                        <a:rPr lang="en-US" sz="800" b="1" u="none" strike="noStrike" cap="none" dirty="0"/>
                        <a:t> </a:t>
                      </a:r>
                      <a:r>
                        <a:rPr lang="en-US" sz="800" b="1" u="none" strike="noStrike" cap="none" dirty="0">
                          <a:solidFill>
                            <a:srgbClr val="0070C0"/>
                          </a:solidFill>
                        </a:rPr>
                        <a:t>ALT </a:t>
                      </a:r>
                      <a:r>
                        <a:rPr lang="en-US" altLang="ko-KR" sz="800" b="1" u="none" strike="noStrike" cap="none" dirty="0">
                          <a:solidFill>
                            <a:srgbClr val="0070C0"/>
                          </a:solidFill>
                        </a:rPr>
                        <a:t>3000</a:t>
                      </a:r>
                      <a:r>
                        <a:rPr lang="en-US" sz="800" b="1" u="none" strike="noStrike" cap="none" dirty="0">
                          <a:solidFill>
                            <a:srgbClr val="0070C0"/>
                          </a:solidFill>
                        </a:rPr>
                        <a:t>(</a:t>
                      </a:r>
                      <a:r>
                        <a:rPr lang="en-US" altLang="ko-KR" sz="800" b="1" u="none" strike="noStrike" cap="none" dirty="0">
                          <a:solidFill>
                            <a:srgbClr val="0070C0"/>
                          </a:solidFill>
                        </a:rPr>
                        <a:t>9</a:t>
                      </a:r>
                      <a:r>
                        <a:rPr lang="en-US" sz="800" b="1" u="none" strike="noStrike" cap="none" dirty="0">
                          <a:solidFill>
                            <a:srgbClr val="0070C0"/>
                          </a:solidFill>
                        </a:rPr>
                        <a:t>00m)</a:t>
                      </a:r>
                    </a:p>
                    <a:p>
                      <a:pPr algn="ctr"/>
                      <a:r>
                        <a:rPr lang="en-US" altLang="ko-Kore-KR" sz="800" b="1" u="none" strike="noStrike" cap="none" dirty="0">
                          <a:solidFill>
                            <a:srgbClr val="AA47F5"/>
                          </a:solidFill>
                        </a:rPr>
                        <a:t>SPD 250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JDG 114.45</a:t>
                      </a:r>
                    </a:p>
                  </a:txBody>
                  <a:tcPr marL="36000" marR="36000" marT="36000" marB="36000" anchor="ctr"/>
                </a:tc>
                <a:tc hMerge="1">
                  <a:txBody>
                    <a:bodyPr/>
                    <a:lstStyle/>
                    <a:p>
                      <a:endParaRPr lang="ko-Kore-KR" altLang="en-US"/>
                    </a:p>
                  </a:txBody>
                  <a:tcPr/>
                </a:tc>
                <a:tc hMerge="1">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endParaRPr lang="en-US" altLang="ko-Kore-KR" sz="800" b="1" u="none" strike="noStrike" cap="none" dirty="0">
                        <a:solidFill>
                          <a:srgbClr val="0070C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35 IQX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109.75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 IIN 108.55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17 IQD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110.15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16 IDA 111.9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IK R014, LAROP R159, R183 (</a:t>
                      </a:r>
                      <a:r>
                        <a:rPr kumimoji="0" lang="ko-KR" altLang="en-US" sz="800" b="0" i="0" u="none" strike="noStrike" kern="0" cap="none" spc="0" normalizeH="0" baseline="0" noProof="0" dirty="0" err="1">
                          <a:ln>
                            <a:noFill/>
                          </a:ln>
                          <a:solidFill>
                            <a:srgbClr val="000000"/>
                          </a:solidFill>
                          <a:effectLst/>
                          <a:uLnTx/>
                          <a:uFillTx/>
                          <a:latin typeface="Calibri"/>
                          <a:cs typeface="Calibri"/>
                          <a:sym typeface="Arial"/>
                        </a:rPr>
                        <a:t>두점</a:t>
                      </a:r>
                      <a:r>
                        <a:rPr kumimoji="0" lang="ko-KR" altLang="en-US" sz="800" b="0" i="0" u="none" strike="noStrike" kern="0" cap="none" spc="0" normalizeH="0" baseline="0" noProof="0" dirty="0">
                          <a:ln>
                            <a:noFill/>
                          </a:ln>
                          <a:solidFill>
                            <a:srgbClr val="000000"/>
                          </a:solidFill>
                          <a:effectLst/>
                          <a:uLnTx/>
                          <a:uFillTx/>
                          <a:latin typeface="Calibri"/>
                          <a:cs typeface="Calibri"/>
                          <a:sym typeface="Arial"/>
                        </a:rPr>
                        <a:t> 연결</a:t>
                      </a:r>
                      <a:r>
                        <a:rPr kumimoji="0" lang="en-US" altLang="ko-KR" sz="800" b="0" i="0" u="none" strike="noStrike" kern="0" cap="none" spc="0" normalizeH="0" baseline="0" noProof="0" dirty="0">
                          <a:ln>
                            <a:noFill/>
                          </a:ln>
                          <a:solidFill>
                            <a:srgbClr val="000000"/>
                          </a:solidFill>
                          <a:effectLst/>
                          <a:uLnTx/>
                          <a:uFillTx/>
                          <a:latin typeface="Calibri"/>
                          <a:cs typeface="Calibri"/>
                          <a:sym typeface="Arial"/>
                        </a:rPr>
                        <a:t>)</a:t>
                      </a:r>
                      <a:endParaRPr lang="en-US" altLang="ko-Kore-KR" sz="800" b="0" u="none" strike="noStrike" cap="none"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u="none" strike="noStrike" cap="none" dirty="0">
                          <a:solidFill>
                            <a:srgbClr val="0070C0"/>
                          </a:solidFill>
                        </a:rPr>
                        <a:t>Heading 190, Join W209 -&gt;  DCT LATUX CRS 148</a:t>
                      </a:r>
                      <a:endParaRPr lang="en-US" altLang="ko-Kore-KR" sz="600" b="1" dirty="0">
                        <a:solidFill>
                          <a:srgbClr val="0070C0"/>
                        </a:solidFill>
                      </a:endParaRPr>
                    </a:p>
                  </a:txBody>
                  <a:tcPr marL="0" marR="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b="1" dirty="0">
                        <a:solidFill>
                          <a:srgbClr val="0070C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A48A7E4-CFC6-A084-6F72-2EF4F5E002FC}"/>
              </a:ext>
            </a:extLst>
          </p:cNvPr>
          <p:cNvGraphicFramePr/>
          <p:nvPr>
            <p:extLst>
              <p:ext uri="{D42A27DB-BD31-4B8C-83A1-F6EECF244321}">
                <p14:modId xmlns:p14="http://schemas.microsoft.com/office/powerpoint/2010/main" val="3931470084"/>
              </p:ext>
            </p:extLst>
          </p:nvPr>
        </p:nvGraphicFramePr>
        <p:xfrm>
          <a:off x="-2501" y="16504"/>
          <a:ext cx="2328850" cy="7270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ZSQD(TAO)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1000" dirty="0"/>
                        <a:t>None</a:t>
                      </a:r>
                      <a:endParaRPr lang="en-US" altLang="ko-Kore-KR" sz="600" dirty="0"/>
                    </a:p>
                    <a:p>
                      <a:pPr marL="0" marR="0" lvl="0" indent="0" algn="ctr" rtl="0">
                        <a:spcBef>
                          <a:spcPts val="0"/>
                        </a:spcBef>
                        <a:spcAft>
                          <a:spcPts val="0"/>
                        </a:spcAft>
                        <a:buNone/>
                      </a:pPr>
                      <a:r>
                        <a:rPr lang="en-US" altLang="ko-Kore-KR" sz="800" dirty="0">
                          <a:solidFill>
                            <a:srgbClr val="FF0000"/>
                          </a:solidFill>
                        </a:rPr>
                        <a:t>DCL </a:t>
                      </a:r>
                      <a:r>
                        <a:rPr lang="ko-KR" altLang="en-US" sz="800" dirty="0">
                          <a:solidFill>
                            <a:srgbClr val="FF0000"/>
                          </a:solidFill>
                        </a:rPr>
                        <a:t>가능</a:t>
                      </a:r>
                      <a:r>
                        <a:rPr lang="en-US" altLang="ko-KR" sz="800" dirty="0">
                          <a:solidFill>
                            <a:srgbClr val="FF0000"/>
                          </a:solidFill>
                        </a:rPr>
                        <a:t>, </a:t>
                      </a:r>
                      <a:r>
                        <a:rPr lang="en-US" altLang="ko-Kore-KR" sz="800" dirty="0">
                          <a:solidFill>
                            <a:srgbClr val="FF0000"/>
                          </a:solidFill>
                        </a:rPr>
                        <a:t>No READ BACK!</a:t>
                      </a:r>
                    </a:p>
                    <a:p>
                      <a:pPr marL="0" marR="0" lvl="0" indent="0" algn="ctr" rtl="0">
                        <a:spcBef>
                          <a:spcPts val="0"/>
                        </a:spcBef>
                        <a:spcAft>
                          <a:spcPts val="0"/>
                        </a:spcAft>
                        <a:buNone/>
                      </a:pPr>
                      <a:r>
                        <a:rPr lang="en-US" altLang="ko-Kore-KR" sz="800" dirty="0">
                          <a:solidFill>
                            <a:srgbClr val="FF0000"/>
                          </a:solidFill>
                        </a:rPr>
                        <a:t>(Voice 10</a:t>
                      </a:r>
                      <a:r>
                        <a:rPr lang="ko-KR" altLang="en-US" sz="800" dirty="0">
                          <a:solidFill>
                            <a:srgbClr val="FF0000"/>
                          </a:solidFill>
                        </a:rPr>
                        <a:t>분전 </a:t>
                      </a:r>
                      <a:r>
                        <a:rPr lang="ko-KR" altLang="en-US" sz="800" dirty="0" err="1">
                          <a:solidFill>
                            <a:srgbClr val="FF0000"/>
                          </a:solidFill>
                        </a:rPr>
                        <a:t>부터</a:t>
                      </a:r>
                      <a:r>
                        <a:rPr lang="en-US" altLang="ko-KR" sz="800" dirty="0">
                          <a:solidFill>
                            <a:srgbClr val="FF0000"/>
                          </a:solidFill>
                        </a:rPr>
                        <a:t>)</a:t>
                      </a:r>
                      <a:endParaRPr lang="ko-KR" altLang="en-US" sz="8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41B8C403-5D19-C421-91CA-A25AE8B16F8D}"/>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C2F4C15-1516-4539-64A9-46FD942BF17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37251"/>
            <a:ext cx="457200" cy="457200"/>
          </a:xfrm>
          <a:prstGeom prst="rect">
            <a:avLst/>
          </a:prstGeom>
          <a:effectLst>
            <a:outerShdw blurRad="50800" dist="50800" dir="3660000" algn="ctr" rotWithShape="0">
              <a:schemeClr val="bg1">
                <a:alpha val="82714"/>
              </a:schemeClr>
            </a:outerShdw>
          </a:effectLst>
        </p:spPr>
      </p:pic>
      <p:sp>
        <p:nvSpPr>
          <p:cNvPr id="8" name="TextBox 7">
            <a:extLst>
              <a:ext uri="{FF2B5EF4-FFF2-40B4-BE49-F238E27FC236}">
                <a16:creationId xmlns:a16="http://schemas.microsoft.com/office/drawing/2014/main" id="{B6CBF371-47B2-03BD-BF23-D67CE2863BCE}"/>
              </a:ext>
            </a:extLst>
          </p:cNvPr>
          <p:cNvSpPr txBox="1"/>
          <p:nvPr/>
        </p:nvSpPr>
        <p:spPr>
          <a:xfrm>
            <a:off x="-4047" y="2345690"/>
            <a:ext cx="1485605" cy="713529"/>
          </a:xfrm>
          <a:prstGeom prst="rect">
            <a:avLst/>
          </a:prstGeom>
          <a:noFill/>
        </p:spPr>
        <p:txBody>
          <a:bodyPr wrap="square">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0070C0"/>
                </a:solidFill>
                <a:effectLst/>
                <a:uLnTx/>
                <a:uFillTx/>
                <a:latin typeface="Gulim" panose="020B0600000101010101" pitchFamily="34" charset="-127"/>
                <a:ea typeface="Gulim" panose="020B0600000101010101" pitchFamily="34" charset="-127"/>
                <a:cs typeface="+mn-cs"/>
              </a:rPr>
              <a:t>TAO APP 119.4</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0070C0"/>
                </a:solidFill>
                <a:effectLst/>
                <a:uLnTx/>
                <a:uFillTx/>
                <a:latin typeface="Gulim" panose="020B0600000101010101" pitchFamily="34" charset="-127"/>
                <a:ea typeface="Gulim" panose="020B0600000101010101" pitchFamily="34" charset="-127"/>
                <a:cs typeface="+mn-cs"/>
              </a:rPr>
              <a:t>TAO 119.73</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700" b="1" i="0" u="sng" strike="noStrike" kern="1200" cap="none" spc="0" normalizeH="0" baseline="0" noProof="0" dirty="0">
                <a:ln>
                  <a:noFill/>
                </a:ln>
                <a:solidFill>
                  <a:srgbClr val="0070C0"/>
                </a:solidFill>
                <a:effectLst/>
                <a:uLnTx/>
                <a:uFillTx/>
                <a:latin typeface="Gulim" panose="020B0600000101010101" pitchFamily="34" charset="-127"/>
                <a:ea typeface="Gulim" panose="020B0600000101010101" pitchFamily="34" charset="-127"/>
                <a:cs typeface="+mn-cs"/>
              </a:rPr>
              <a:t>TAO</a:t>
            </a:r>
            <a:r>
              <a:rPr kumimoji="1" lang="ko-KR" altLang="en-US" sz="700" b="1" i="0" u="sng" strike="noStrike" kern="1200" cap="none" spc="0" normalizeH="0" baseline="0" noProof="0" dirty="0">
                <a:ln>
                  <a:noFill/>
                </a:ln>
                <a:solidFill>
                  <a:srgbClr val="0070C0"/>
                </a:solidFill>
                <a:effectLst/>
                <a:uLnTx/>
                <a:uFillTx/>
                <a:latin typeface="Gulim" panose="020B0600000101010101" pitchFamily="34" charset="-127"/>
                <a:ea typeface="Gulim" panose="020B0600000101010101" pitchFamily="34" charset="-127"/>
                <a:cs typeface="+mn-cs"/>
              </a:rPr>
              <a:t> </a:t>
            </a:r>
            <a:r>
              <a:rPr kumimoji="1" lang="en-US" altLang="ko-KR" sz="700" b="1" i="0" u="sng" strike="noStrike" kern="1200" cap="none" spc="0" normalizeH="0" baseline="0" noProof="0" dirty="0">
                <a:ln>
                  <a:noFill/>
                </a:ln>
                <a:solidFill>
                  <a:srgbClr val="0070C0"/>
                </a:solidFill>
                <a:effectLst/>
                <a:uLnTx/>
                <a:uFillTx/>
                <a:latin typeface="Gulim" panose="020B0600000101010101" pitchFamily="34" charset="-127"/>
                <a:ea typeface="Gulim" panose="020B0600000101010101" pitchFamily="34" charset="-127"/>
                <a:cs typeface="+mn-cs"/>
              </a:rPr>
              <a:t>134.85 – DLC </a:t>
            </a:r>
            <a:r>
              <a:rPr kumimoji="1" lang="en-US" altLang="ko-Kore-KR" sz="700" b="1" i="0" u="sng" strike="noStrike" kern="1200" cap="none" spc="0" normalizeH="0" baseline="0" noProof="0" dirty="0">
                <a:ln>
                  <a:noFill/>
                </a:ln>
                <a:solidFill>
                  <a:srgbClr val="0070C0"/>
                </a:solidFill>
                <a:effectLst/>
                <a:uLnTx/>
                <a:uFillTx/>
                <a:latin typeface="Gulim" panose="020B0600000101010101" pitchFamily="34" charset="-127"/>
                <a:ea typeface="Gulim" panose="020B0600000101010101" pitchFamily="34" charset="-127"/>
                <a:cs typeface="+mn-cs"/>
              </a:rPr>
              <a:t>132.95</a:t>
            </a:r>
            <a:endParaRPr kumimoji="1" lang="en-US" altLang="ko-KR" sz="700" b="1" i="0" u="sng" strike="noStrike" kern="1200" cap="none" spc="0" normalizeH="0" baseline="0" noProof="0" dirty="0">
              <a:ln>
                <a:noFill/>
              </a:ln>
              <a:solidFill>
                <a:srgbClr val="0070C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700" b="1" i="0" u="sng" strike="noStrike" kern="1200" cap="none" spc="0" normalizeH="0" baseline="0" noProof="0" dirty="0">
                <a:ln>
                  <a:noFill/>
                </a:ln>
                <a:solidFill>
                  <a:srgbClr val="0070C0"/>
                </a:solidFill>
                <a:effectLst/>
                <a:uLnTx/>
                <a:uFillTx/>
                <a:latin typeface="Gulim" panose="020B0600000101010101" pitchFamily="34" charset="-127"/>
                <a:ea typeface="Gulim" panose="020B0600000101010101" pitchFamily="34" charset="-127"/>
                <a:cs typeface="+mn-cs"/>
              </a:rPr>
              <a:t>ICN 128.7 – APP 119.75</a:t>
            </a:r>
          </a:p>
        </p:txBody>
      </p:sp>
      <p:graphicFrame>
        <p:nvGraphicFramePr>
          <p:cNvPr id="3" name="Google Shape;283;p17">
            <a:extLst>
              <a:ext uri="{FF2B5EF4-FFF2-40B4-BE49-F238E27FC236}">
                <a16:creationId xmlns:a16="http://schemas.microsoft.com/office/drawing/2014/main" id="{4CFE8B20-24BF-EA17-B1CE-432BA2828CCB}"/>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955467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D4158903-5729-C96D-2B02-A1C1D766C5D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1067CE2-018D-3A1E-BA37-FBAE6BB9A796}"/>
              </a:ext>
            </a:extLst>
          </p:cNvPr>
          <p:cNvSpPr txBox="1"/>
          <p:nvPr/>
        </p:nvSpPr>
        <p:spPr>
          <a:xfrm>
            <a:off x="12776" y="2830851"/>
            <a:ext cx="1842171" cy="693899"/>
          </a:xfrm>
          <a:prstGeom prst="rect">
            <a:avLst/>
          </a:prstGeom>
          <a:noFill/>
        </p:spPr>
        <p:txBody>
          <a:bodyPr wrap="none" tIns="36000" bIns="36000" rtlCol="0" anchor="ctr">
            <a:spAutoFit/>
          </a:bodyPr>
          <a:lstStyle/>
          <a:p>
            <a:pPr>
              <a:lnSpc>
                <a:spcPct val="150000"/>
              </a:lnSpc>
            </a:pPr>
            <a:r>
              <a:rPr kumimoji="1" lang="en-US" altLang="ko-KR" sz="700" b="1" dirty="0">
                <a:latin typeface="Gulim" panose="020B0600000101010101" pitchFamily="34" charset="-127"/>
                <a:ea typeface="Gulim" panose="020B0600000101010101" pitchFamily="34" charset="-127"/>
              </a:rPr>
              <a:t>Detour RTE : L01 (NOTAM)</a:t>
            </a:r>
          </a:p>
          <a:p>
            <a:pPr>
              <a:lnSpc>
                <a:spcPct val="150000"/>
              </a:lnSpc>
            </a:pPr>
            <a:r>
              <a:rPr kumimoji="1" lang="en-US" altLang="ko-KR" sz="700" b="1" dirty="0">
                <a:latin typeface="Gulim" panose="020B0600000101010101" pitchFamily="34" charset="-127"/>
                <a:ea typeface="Gulim" panose="020B0600000101010101" pitchFamily="34" charset="-127"/>
              </a:rPr>
              <a:t>SHR - FP02(N282500E1164500)</a:t>
            </a:r>
          </a:p>
          <a:p>
            <a:pPr>
              <a:lnSpc>
                <a:spcPct val="150000"/>
              </a:lnSpc>
            </a:pPr>
            <a:r>
              <a:rPr kumimoji="1" lang="en-US" altLang="ko-KR" sz="700" b="1" dirty="0">
                <a:latin typeface="Gulim" panose="020B0600000101010101" pitchFamily="34" charset="-127"/>
                <a:ea typeface="Gulim" panose="020B0600000101010101" pitchFamily="34" charset="-127"/>
              </a:rPr>
              <a:t>       - FP01(N274500E1160000) </a:t>
            </a:r>
          </a:p>
          <a:p>
            <a:pPr>
              <a:lnSpc>
                <a:spcPct val="150000"/>
              </a:lnSpc>
            </a:pPr>
            <a:r>
              <a:rPr kumimoji="1" lang="en-US" altLang="ko-KR" sz="700" b="1" dirty="0">
                <a:latin typeface="Gulim" panose="020B0600000101010101" pitchFamily="34" charset="-127"/>
                <a:ea typeface="Gulim" panose="020B0600000101010101" pitchFamily="34" charset="-127"/>
              </a:rPr>
              <a:t>       - ZP01(N261500E1152000)-PLT</a:t>
            </a:r>
            <a:r>
              <a:rPr kumimoji="1" lang="ko-KR" altLang="en-US" sz="700" b="1" dirty="0">
                <a:latin typeface="Gulim" panose="020B0600000101010101" pitchFamily="34" charset="-127"/>
                <a:ea typeface="Gulim" panose="020B0600000101010101" pitchFamily="34" charset="-127"/>
              </a:rPr>
              <a:t> </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47F98870-0ED9-0A03-B0CC-1D6D20C06ADC}"/>
              </a:ext>
            </a:extLst>
          </p:cNvPr>
          <p:cNvGraphicFramePr/>
          <p:nvPr>
            <p:extLst>
              <p:ext uri="{D42A27DB-BD31-4B8C-83A1-F6EECF244321}">
                <p14:modId xmlns:p14="http://schemas.microsoft.com/office/powerpoint/2010/main" val="3546889883"/>
              </p:ext>
            </p:extLst>
          </p:nvPr>
        </p:nvGraphicFramePr>
        <p:xfrm>
          <a:off x="55" y="3571898"/>
          <a:ext cx="2328808" cy="198649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573199">
                  <a:extLst>
                    <a:ext uri="{9D8B030D-6E8A-4147-A177-3AD203B41FA5}">
                      <a16:colId xmlns:a16="http://schemas.microsoft.com/office/drawing/2014/main" val="20002"/>
                    </a:ext>
                  </a:extLst>
                </a:gridCol>
                <a:gridCol w="523212">
                  <a:extLst>
                    <a:ext uri="{9D8B030D-6E8A-4147-A177-3AD203B41FA5}">
                      <a16:colId xmlns:a16="http://schemas.microsoft.com/office/drawing/2014/main" val="20003"/>
                    </a:ext>
                  </a:extLst>
                </a:gridCol>
              </a:tblGrid>
              <a:tr h="196892">
                <a:tc gridSpan="4">
                  <a:txBody>
                    <a:bodyPr/>
                    <a:lstStyle/>
                    <a:p>
                      <a:pPr marL="0" marR="0" lvl="0" indent="0" algn="ctr" rtl="0">
                        <a:spcBef>
                          <a:spcPts val="0"/>
                        </a:spcBef>
                        <a:spcAft>
                          <a:spcPts val="0"/>
                        </a:spcAft>
                        <a:buNone/>
                      </a:pPr>
                      <a:r>
                        <a:rPr lang="en-US" sz="800" dirty="0"/>
                        <a:t>SZX </a:t>
                      </a:r>
                      <a:r>
                        <a:rPr lang="en-US" sz="800" dirty="0">
                          <a:solidFill>
                            <a:srgbClr val="00B0F0"/>
                          </a:solidFill>
                        </a:rPr>
                        <a:t>[335/155]</a:t>
                      </a:r>
                      <a:r>
                        <a:rPr lang="en-US" sz="800" dirty="0"/>
                        <a:t> TL 108 : </a:t>
                      </a:r>
                      <a:r>
                        <a:rPr lang="en-US" sz="800" dirty="0">
                          <a:solidFill>
                            <a:srgbClr val="FFC000"/>
                          </a:solidFill>
                        </a:rPr>
                        <a:t>SPD Restriction JEPP </a:t>
                      </a:r>
                    </a:p>
                    <a:p>
                      <a:pPr marL="0" marR="0" lvl="0" indent="0" algn="ctr" rtl="0">
                        <a:spcBef>
                          <a:spcPts val="0"/>
                        </a:spcBef>
                        <a:spcAft>
                          <a:spcPts val="0"/>
                        </a:spcAft>
                        <a:buNone/>
                      </a:pPr>
                      <a:r>
                        <a:rPr lang="en-US" sz="800" dirty="0">
                          <a:solidFill>
                            <a:srgbClr val="FFC000"/>
                          </a:solidFill>
                        </a:rPr>
                        <a:t>Caution Freq CHG &amp; RDR Vectoring (TERR)</a:t>
                      </a:r>
                    </a:p>
                    <a:p>
                      <a:pPr marL="0" marR="0" lvl="0" indent="0" algn="ctr" rtl="0">
                        <a:spcBef>
                          <a:spcPts val="0"/>
                        </a:spcBef>
                        <a:spcAft>
                          <a:spcPts val="0"/>
                        </a:spcAft>
                        <a:buNone/>
                      </a:pPr>
                      <a:r>
                        <a:rPr lang="en-US" sz="800" dirty="0">
                          <a:solidFill>
                            <a:srgbClr val="FFC000"/>
                          </a:solidFill>
                        </a:rPr>
                        <a:t>Do not Cross HKG Boundary</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6430">
                <a:tc>
                  <a:txBody>
                    <a:bodyPr/>
                    <a:lstStyle/>
                    <a:p>
                      <a:pPr marL="0" marR="0" lvl="0" indent="0" algn="ctr" rtl="0">
                        <a:spcBef>
                          <a:spcPts val="0"/>
                        </a:spcBef>
                        <a:spcAft>
                          <a:spcPts val="0"/>
                        </a:spcAft>
                        <a:buNone/>
                      </a:pPr>
                      <a:r>
                        <a:rPr lang="en-US" altLang="ko-Kore-KR" sz="800" b="1" dirty="0">
                          <a:solidFill>
                            <a:srgbClr val="0070C0"/>
                          </a:solidFill>
                        </a:rPr>
                        <a:t>16</a:t>
                      </a:r>
                      <a:r>
                        <a:rPr lang="en-US" altLang="ko-Kore-KR" sz="800" b="0" dirty="0"/>
                        <a:t>/15</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t>SAR 9/8 XA</a:t>
                      </a:r>
                    </a:p>
                  </a:txBody>
                  <a:tcPr marL="36000" marR="36000" marT="36000" marB="36000" anchor="ctr"/>
                </a:tc>
                <a:tc>
                  <a:txBody>
                    <a:bodyPr/>
                    <a:lstStyle/>
                    <a:p>
                      <a:pPr marL="0" marR="0" lvl="0" indent="0" algn="ctr" rtl="0">
                        <a:spcBef>
                          <a:spcPts val="0"/>
                        </a:spcBef>
                        <a:spcAft>
                          <a:spcPts val="0"/>
                        </a:spcAft>
                        <a:buNone/>
                      </a:pPr>
                      <a:r>
                        <a:rPr lang="en-US" sz="800" b="1" dirty="0"/>
                        <a:t>SZ462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13875">
                <a:tc>
                  <a:txBody>
                    <a:bodyPr/>
                    <a:lstStyle/>
                    <a:p>
                      <a:pPr marL="0" marR="0" lvl="0" indent="0" algn="ctr" rtl="0">
                        <a:spcBef>
                          <a:spcPts val="0"/>
                        </a:spcBef>
                        <a:spcAft>
                          <a:spcPts val="0"/>
                        </a:spcAft>
                        <a:buNone/>
                      </a:pPr>
                      <a:r>
                        <a:rPr lang="en-US" altLang="ko-KR" sz="800" b="1" dirty="0">
                          <a:solidFill>
                            <a:srgbClr val="0070C0"/>
                          </a:solidFill>
                        </a:rPr>
                        <a:t>34</a:t>
                      </a:r>
                      <a:r>
                        <a:rPr lang="en-US" altLang="ko-KR" sz="800" b="0" dirty="0"/>
                        <a:t>/33</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SAR 9/8 ZA</a:t>
                      </a:r>
                    </a:p>
                  </a:txBody>
                  <a:tcPr marL="36000" marR="36000" marT="36000" marB="36000" anchor="ctr"/>
                </a:tc>
                <a:tc>
                  <a:txBody>
                    <a:bodyPr/>
                    <a:lstStyle/>
                    <a:p>
                      <a:pPr marL="0" marR="0" lvl="0" indent="0" algn="ctr" rtl="0">
                        <a:spcBef>
                          <a:spcPts val="0"/>
                        </a:spcBef>
                        <a:spcAft>
                          <a:spcPts val="0"/>
                        </a:spcAft>
                        <a:buNone/>
                      </a:pPr>
                      <a:r>
                        <a:rPr lang="en-US" sz="800" b="1" dirty="0"/>
                        <a:t>NLG</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547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VOR, </a:t>
                      </a:r>
                      <a:r>
                        <a:rPr lang="en-US" sz="800" b="1" dirty="0">
                          <a:solidFill>
                            <a:srgbClr val="C00000"/>
                          </a:solidFill>
                        </a:rPr>
                        <a:t>16 ISZ, 34 IBA, </a:t>
                      </a:r>
                      <a:r>
                        <a:rPr lang="en-US" sz="800" b="0" dirty="0">
                          <a:solidFill>
                            <a:srgbClr val="C00000"/>
                          </a:solidFill>
                        </a:rPr>
                        <a:t>15 IQJ, 33 IMH</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3875">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30NM 220kts,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/5(160kts)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06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a:t>
                      </a:r>
                      <a:r>
                        <a:rPr lang="en-US" sz="800" b="1" dirty="0">
                          <a:solidFill>
                            <a:schemeClr val="dk1"/>
                          </a:solidFill>
                        </a:rPr>
                        <a:t>: E6(5948’), E7(7227’), 34 : E4(6535’), E3(7887’)</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15: C8(6725’), C9(8152’), 33 : C5(6548’), C4(8175’)</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Be </a:t>
                      </a:r>
                      <a:r>
                        <a:rPr lang="en-US" sz="800" b="1" dirty="0" err="1">
                          <a:solidFill>
                            <a:srgbClr val="C00000"/>
                          </a:solidFill>
                        </a:rPr>
                        <a:t>carefull</a:t>
                      </a:r>
                      <a:r>
                        <a:rPr lang="en-US" sz="800" b="1" dirty="0">
                          <a:solidFill>
                            <a:srgbClr val="C00000"/>
                          </a:solidFill>
                        </a:rPr>
                        <a:t> RWY 16 then TWY Q,R</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8547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CTC Apron Before Entering, MAX wingspan in JEPP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APU OFF but Remain</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6C531076-A80F-F575-681A-1ED857478E27}"/>
              </a:ext>
            </a:extLst>
          </p:cNvPr>
          <p:cNvGraphicFramePr/>
          <p:nvPr>
            <p:extLst>
              <p:ext uri="{D42A27DB-BD31-4B8C-83A1-F6EECF244321}">
                <p14:modId xmlns:p14="http://schemas.microsoft.com/office/powerpoint/2010/main" val="1660934063"/>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ZGSZ(SZX)</a:t>
                      </a:r>
                      <a:r>
                        <a:rPr lang="en-US" sz="1400" dirty="0">
                          <a:solidFill>
                            <a:schemeClr val="tx1"/>
                          </a:solidFill>
                          <a:hlinkClick r:id="rId4">
                            <a:extLst>
                              <a:ext uri="{A12FA001-AC4F-418D-AE19-62706E023703}">
                                <ahyp:hlinkClr xmlns:ahyp="http://schemas.microsoft.com/office/drawing/2018/hyperlinkcolor" val="tx"/>
                              </a:ext>
                            </a:extLst>
                          </a:hlinkClick>
                        </a:rPr>
                        <a:t> 13ft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Shenzhen Dispatch Southern 131.3</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51FBC07-B021-0458-FBF4-6B586DAD91AD}"/>
              </a:ext>
            </a:extLst>
          </p:cNvPr>
          <p:cNvSpPr/>
          <p:nvPr/>
        </p:nvSpPr>
        <p:spPr>
          <a:xfrm>
            <a:off x="837575"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28D54ED-9B28-56E6-E196-1BF5AA2DF2B8}"/>
              </a:ext>
            </a:extLst>
          </p:cNvPr>
          <p:cNvGraphicFramePr/>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A772123-28D4-53E6-FAAD-7A1B0D342BB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2376"/>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5702331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235E8-878D-1C0A-DBF3-7D54ABB7D31F}"/>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166D8EB4-92E8-EF56-DB6D-8606809661E6}"/>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B00C10ED-D069-B73B-7835-C2CBD4B60808}"/>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B916FFC5-BD82-A064-1408-94FF14519CC5}"/>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5300731-C3F8-99F4-27F7-AE937B8DBEA7}"/>
              </a:ext>
            </a:extLst>
          </p:cNvPr>
          <p:cNvGraphicFramePr>
            <a:graphicFrameLocks noGrp="1"/>
          </p:cNvGraphicFramePr>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직사각형 1">
            <a:extLst>
              <a:ext uri="{FF2B5EF4-FFF2-40B4-BE49-F238E27FC236}">
                <a16:creationId xmlns:a16="http://schemas.microsoft.com/office/drawing/2014/main" id="{7625AFA3-613D-1E87-9184-97ED614204F9}"/>
              </a:ext>
            </a:extLst>
          </p:cNvPr>
          <p:cNvSpPr/>
          <p:nvPr/>
        </p:nvSpPr>
        <p:spPr>
          <a:xfrm>
            <a:off x="1219200" y="3217333"/>
            <a:ext cx="1070207" cy="34544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8" name="TextBox 7">
            <a:extLst>
              <a:ext uri="{FF2B5EF4-FFF2-40B4-BE49-F238E27FC236}">
                <a16:creationId xmlns:a16="http://schemas.microsoft.com/office/drawing/2014/main" id="{169FF0A0-5783-C107-DFB7-58FF1659A183}"/>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dirty="0">
                <a:solidFill>
                  <a:prstClr val="white"/>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285571317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07139F12-DC57-E251-2FE1-9148724153E6}"/>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CFEE6E1B-D041-509E-A9C2-9C82FA9365EA}"/>
              </a:ext>
            </a:extLst>
          </p:cNvPr>
          <p:cNvGraphicFramePr/>
          <p:nvPr>
            <p:extLst>
              <p:ext uri="{D42A27DB-BD31-4B8C-83A1-F6EECF244321}">
                <p14:modId xmlns:p14="http://schemas.microsoft.com/office/powerpoint/2010/main" val="3026876671"/>
              </p:ext>
            </p:extLst>
          </p:nvPr>
        </p:nvGraphicFramePr>
        <p:xfrm>
          <a:off x="-4046" y="682516"/>
          <a:ext cx="2334602" cy="154873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24198">
                <a:tc gridSpan="7">
                  <a:txBody>
                    <a:bodyPr/>
                    <a:lstStyle/>
                    <a:p>
                      <a:pPr marL="0" marR="0" lvl="0" indent="0" algn="ctr" rtl="0">
                        <a:spcBef>
                          <a:spcPts val="0"/>
                        </a:spcBef>
                        <a:spcAft>
                          <a:spcPts val="0"/>
                        </a:spcAft>
                        <a:buNone/>
                      </a:pPr>
                      <a:r>
                        <a:rPr lang="en-US" sz="800" u="none" strike="noStrike" cap="none" dirty="0"/>
                        <a:t>SZX : TA 8900 SID </a:t>
                      </a:r>
                      <a:endParaRPr lang="en-US" sz="800" u="none" strike="noStrike" cap="none" dirty="0">
                        <a:solidFill>
                          <a:srgbClr val="FFC00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3843">
                <a:tc>
                  <a:txBody>
                    <a:bodyPr/>
                    <a:lstStyle/>
                    <a:p>
                      <a:pPr marL="0" marR="0" lvl="0" indent="0" algn="ctr" rtl="0">
                        <a:spcBef>
                          <a:spcPts val="0"/>
                        </a:spcBef>
                        <a:spcAft>
                          <a:spcPts val="0"/>
                        </a:spcAft>
                        <a:buNone/>
                      </a:pPr>
                      <a:r>
                        <a:rPr lang="en-US" altLang="ko-KR" sz="800" b="1" u="none" strike="noStrike" cap="none" dirty="0">
                          <a:solidFill>
                            <a:srgbClr val="0070C0"/>
                          </a:solidFill>
                        </a:rPr>
                        <a:t>15</a:t>
                      </a:r>
                      <a:r>
                        <a:rPr lang="en-US" altLang="ko-KR" sz="800" b="0" u="none" strike="noStrike" cap="none" dirty="0"/>
                        <a:t>/</a:t>
                      </a:r>
                      <a:r>
                        <a:rPr lang="en-US" altLang="ko-KR" sz="800" b="1" u="none" strike="noStrike" cap="none" dirty="0"/>
                        <a:t>16</a:t>
                      </a:r>
                      <a:endParaRPr sz="800" b="0" u="none" strike="noStrike" cap="none" dirty="0">
                        <a:solidFill>
                          <a:schemeClr val="bg1"/>
                        </a:solidFill>
                      </a:endParaRP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IDU 9WD/XD</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155 </a:t>
                      </a:r>
                      <a:r>
                        <a:rPr lang="en-US" sz="800" b="1" u="none" strike="noStrike" cap="none" dirty="0">
                          <a:solidFill>
                            <a:srgbClr val="0070C0"/>
                          </a:solidFill>
                        </a:rPr>
                        <a:t>ALT 1200m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8900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83843">
                <a:tc>
                  <a:txBody>
                    <a:bodyPr/>
                    <a:lstStyle/>
                    <a:p>
                      <a:pPr marL="0" marR="0" lvl="0" indent="0" algn="ctr" rtl="0">
                        <a:spcBef>
                          <a:spcPts val="0"/>
                        </a:spcBef>
                        <a:spcAft>
                          <a:spcPts val="0"/>
                        </a:spcAft>
                        <a:buNone/>
                      </a:pPr>
                      <a:r>
                        <a:rPr lang="en-US" sz="800" b="1" u="none" strike="noStrike" cap="none" dirty="0">
                          <a:solidFill>
                            <a:srgbClr val="0070C0"/>
                          </a:solidFill>
                        </a:rPr>
                        <a:t>33</a:t>
                      </a:r>
                      <a:r>
                        <a:rPr lang="en-US" sz="800" b="0" u="none" strike="noStrike" cap="none" dirty="0"/>
                        <a:t>/34</a:t>
                      </a:r>
                      <a:endParaRPr sz="800" b="0" u="none" strike="noStrike" cap="none" dirty="0">
                        <a:solidFill>
                          <a:schemeClr val="bg1"/>
                        </a:solidFill>
                      </a:endParaRP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IDU 9YD/ZD</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355 </a:t>
                      </a:r>
                      <a:r>
                        <a:rPr lang="en-US" sz="800" b="1" u="none" strike="noStrike" cap="none" dirty="0">
                          <a:solidFill>
                            <a:srgbClr val="0070C0"/>
                          </a:solidFill>
                        </a:rPr>
                        <a:t>ATC 1200m</a:t>
                      </a:r>
                    </a:p>
                    <a:p>
                      <a:pPr algn="ctr"/>
                      <a:r>
                        <a:rPr lang="en-US" altLang="ko-Kore-KR" sz="800" b="1" u="none" strike="noStrike" cap="none" dirty="0">
                          <a:solidFill>
                            <a:srgbClr val="7030A0"/>
                          </a:solidFill>
                        </a:rPr>
                        <a:t>SPD 230/250kts </a:t>
                      </a:r>
                      <a:r>
                        <a:rPr lang="en-US" altLang="ko-Kore-KR" sz="800" b="1" u="none" strike="noStrike" cap="none" dirty="0">
                          <a:solidFill>
                            <a:srgbClr val="F28943"/>
                          </a:solidFill>
                        </a:rPr>
                        <a:t>TA 8900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83843">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 ISZ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108.1</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34 IBA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109.1</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15 IQJ</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33 IMH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a:t>
                      </a:r>
                    </a:p>
                  </a:txBody>
                  <a:tcPr marL="36000" marR="36000" marT="36000" marB="36000" anchor="ctr"/>
                </a:tc>
                <a:extLst>
                  <a:ext uri="{0D108BD9-81ED-4DB2-BD59-A6C34878D82A}">
                    <a16:rowId xmlns:a16="http://schemas.microsoft.com/office/drawing/2014/main" val="1446403819"/>
                  </a:ext>
                </a:extLst>
              </a:tr>
              <a:tr h="112876">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800" b="0" dirty="0"/>
                        <a:t>15 : IQJ 155/3.5, R205, 16 : ISZ 155/3.5, R205</a:t>
                      </a:r>
                      <a:endParaRPr lang="ko-Kore-KR" altLang="en-US" sz="8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112876">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CTC DEP AUTO Report RWY</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1DBAD63A-69E7-48EA-368A-E7884E31FE10}"/>
              </a:ext>
            </a:extLst>
          </p:cNvPr>
          <p:cNvGraphicFramePr/>
          <p:nvPr>
            <p:extLst>
              <p:ext uri="{D42A27DB-BD31-4B8C-83A1-F6EECF244321}">
                <p14:modId xmlns:p14="http://schemas.microsoft.com/office/powerpoint/2010/main" val="1242698028"/>
              </p:ext>
            </p:extLst>
          </p:nvPr>
        </p:nvGraphicFramePr>
        <p:xfrm>
          <a:off x="-2501" y="1512"/>
          <a:ext cx="2328850" cy="681004"/>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763">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ZGSZ(SZX)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2241">
                <a:tc>
                  <a:txBody>
                    <a:bodyPr/>
                    <a:lstStyle/>
                    <a:p>
                      <a:pPr marL="0" marR="0" lvl="0" indent="0" algn="ctr" rtl="0">
                        <a:spcBef>
                          <a:spcPts val="0"/>
                        </a:spcBef>
                        <a:spcAft>
                          <a:spcPts val="0"/>
                        </a:spcAft>
                        <a:buNone/>
                      </a:pPr>
                      <a:r>
                        <a:rPr lang="en-US" sz="800" dirty="0"/>
                        <a:t>SZX Dispatch 131.3</a:t>
                      </a:r>
                      <a:endParaRPr sz="1200" dirty="0"/>
                    </a:p>
                    <a:p>
                      <a:pPr marL="0" marR="0" lvl="0" indent="0" algn="ctr" rtl="0">
                        <a:spcBef>
                          <a:spcPts val="0"/>
                        </a:spcBef>
                        <a:spcAft>
                          <a:spcPts val="0"/>
                        </a:spcAft>
                        <a:buNone/>
                      </a:pPr>
                      <a:r>
                        <a:rPr lang="en-US" sz="900" dirty="0">
                          <a:solidFill>
                            <a:srgbClr val="FF0000"/>
                          </a:solidFill>
                        </a:rPr>
                        <a:t>DCL Avail</a:t>
                      </a:r>
                      <a:endParaRPr lang="en-US" altLang="ko-K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31F4551-2CAF-5A07-F86B-5CE0FD7B0762}"/>
              </a:ext>
            </a:extLst>
          </p:cNvPr>
          <p:cNvSpPr txBox="1"/>
          <p:nvPr/>
        </p:nvSpPr>
        <p:spPr>
          <a:xfrm>
            <a:off x="666868" y="2260257"/>
            <a:ext cx="1749197" cy="855482"/>
          </a:xfrm>
          <a:prstGeom prst="rect">
            <a:avLst/>
          </a:prstGeom>
          <a:noFill/>
        </p:spPr>
        <p:txBody>
          <a:bodyPr wrap="none" tIns="36000" bIns="36000" rtlCol="0" anchor="ctr">
            <a:spAutoFit/>
          </a:bodyPr>
          <a:lstStyle/>
          <a:p>
            <a:pPr>
              <a:lnSpc>
                <a:spcPct val="150000"/>
              </a:lnSpc>
            </a:pPr>
            <a:r>
              <a:rPr kumimoji="1" lang="en-US" altLang="ko-Kore-KR" sz="700" b="1" dirty="0">
                <a:solidFill>
                  <a:srgbClr val="00B0F0"/>
                </a:solidFill>
                <a:latin typeface="Gulim" panose="020B0600000101010101" pitchFamily="34" charset="-127"/>
                <a:ea typeface="Gulim" panose="020B0600000101010101" pitchFamily="34" charset="-127"/>
              </a:rPr>
              <a:t>DEP ATIS (AUTO) Report DEP RWY</a:t>
            </a: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Detour RTE L01 (PLT-SHR)</a:t>
            </a:r>
          </a:p>
          <a:p>
            <a:pPr>
              <a:lnSpc>
                <a:spcPct val="150000"/>
              </a:lnSpc>
            </a:pPr>
            <a:r>
              <a:rPr kumimoji="1" lang="en-US" altLang="ko-Kore-KR" sz="700" b="1" dirty="0">
                <a:latin typeface="Gulim" panose="020B0600000101010101" pitchFamily="34" charset="-127"/>
                <a:ea typeface="Gulim" panose="020B0600000101010101" pitchFamily="34" charset="-127"/>
              </a:rPr>
              <a:t>- Using Pilot Way Point</a:t>
            </a:r>
          </a:p>
          <a:p>
            <a:pPr>
              <a:lnSpc>
                <a:spcPct val="150000"/>
              </a:lnSpc>
            </a:pPr>
            <a:r>
              <a:rPr kumimoji="1" lang="en-US" altLang="ko-Kore-KR" sz="700" b="1" dirty="0">
                <a:latin typeface="Gulim" panose="020B0600000101010101" pitchFamily="34" charset="-127"/>
                <a:ea typeface="Gulim" panose="020B0600000101010101" pitchFamily="34" charset="-127"/>
              </a:rPr>
              <a:t>- Vise Versa </a:t>
            </a:r>
          </a:p>
        </p:txBody>
      </p:sp>
      <p:sp>
        <p:nvSpPr>
          <p:cNvPr id="2" name="직사각형 1">
            <a:hlinkClick r:id="" action="ppaction://hlinkshowjump?jump=firstslide"/>
            <a:extLst>
              <a:ext uri="{FF2B5EF4-FFF2-40B4-BE49-F238E27FC236}">
                <a16:creationId xmlns:a16="http://schemas.microsoft.com/office/drawing/2014/main" id="{5F457DCC-21E0-694C-411B-836F6ADA3F8A}"/>
              </a:ext>
            </a:extLst>
          </p:cNvPr>
          <p:cNvSpPr/>
          <p:nvPr/>
        </p:nvSpPr>
        <p:spPr>
          <a:xfrm>
            <a:off x="838919" y="323931"/>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BBE01274-B466-1618-4926-1110BC40902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13091"/>
            <a:ext cx="457200" cy="457200"/>
          </a:xfrm>
          <a:prstGeom prst="rect">
            <a:avLst/>
          </a:prstGeom>
          <a:effectLst>
            <a:outerShdw blurRad="50800" dist="50800" dir="3660000" algn="ctr" rotWithShape="0">
              <a:schemeClr val="bg1">
                <a:alpha val="82714"/>
              </a:schemeClr>
            </a:outerShdw>
          </a:effectLst>
        </p:spPr>
      </p:pic>
      <p:pic>
        <p:nvPicPr>
          <p:cNvPr id="8" name="그림 7" descr="텍스트, 폰트, 번호, 스크린샷이(가) 표시된 사진&#10;&#10;자동 생성된 설명">
            <a:extLst>
              <a:ext uri="{FF2B5EF4-FFF2-40B4-BE49-F238E27FC236}">
                <a16:creationId xmlns:a16="http://schemas.microsoft.com/office/drawing/2014/main" id="{EBD0702D-06F5-9BCF-3F6A-55F680424F2A}"/>
              </a:ext>
            </a:extLst>
          </p:cNvPr>
          <p:cNvPicPr>
            <a:picLocks noChangeAspect="1"/>
          </p:cNvPicPr>
          <p:nvPr/>
        </p:nvPicPr>
        <p:blipFill>
          <a:blip r:embed="rId8"/>
          <a:stretch>
            <a:fillRect/>
          </a:stretch>
        </p:blipFill>
        <p:spPr>
          <a:xfrm>
            <a:off x="-4046" y="2237109"/>
            <a:ext cx="725085" cy="781007"/>
          </a:xfrm>
          <a:prstGeom prst="rect">
            <a:avLst/>
          </a:prstGeom>
        </p:spPr>
      </p:pic>
      <p:graphicFrame>
        <p:nvGraphicFramePr>
          <p:cNvPr id="5" name="Google Shape;283;p17">
            <a:extLst>
              <a:ext uri="{FF2B5EF4-FFF2-40B4-BE49-F238E27FC236}">
                <a16:creationId xmlns:a16="http://schemas.microsoft.com/office/drawing/2014/main" id="{5865F84E-CAF4-2786-A719-400EE6E848B3}"/>
              </a:ext>
            </a:extLst>
          </p:cNvPr>
          <p:cNvGraphicFramePr/>
          <p:nvPr>
            <p:extLst>
              <p:ext uri="{D42A27DB-BD31-4B8C-83A1-F6EECF244321}">
                <p14:modId xmlns:p14="http://schemas.microsoft.com/office/powerpoint/2010/main" val="286984156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2568455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340231134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6">
            <a:alphaModFix/>
          </a:blip>
          <a:srcRect/>
          <a:stretch/>
        </p:blipFill>
        <p:spPr>
          <a:xfrm>
            <a:off x="4472" y="2216136"/>
            <a:ext cx="1217055" cy="455380"/>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4D090B14-9910-1A84-57B2-E03615840B3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019665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14455764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02F7FFC0-85BA-846B-71CC-16E37B8BC27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30218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714389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408044257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A14B28D3-CBB6-1BDE-D81C-9FDAC95B33E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2990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92950946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4036233516"/>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574679"/>
            <a:ext cx="1987724" cy="621196"/>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래픽 8" descr="집 Wi-Fi에서 작업 단색으로 채워진">
            <a:hlinkClick r:id="" action="ppaction://hlinkshowjump?jump=firstslide"/>
            <a:extLst>
              <a:ext uri="{FF2B5EF4-FFF2-40B4-BE49-F238E27FC236}">
                <a16:creationId xmlns:a16="http://schemas.microsoft.com/office/drawing/2014/main" id="{A6CD9B32-BC74-09E5-253C-98CE54C8F6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6685"/>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75EBF574-B998-0BA5-115C-F273713908E5}"/>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737285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1946" y="2780313"/>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ETA KABAM 119.3 – ETA MIGUG </a:t>
            </a:r>
          </a:p>
          <a:p>
            <a:pPr>
              <a:lnSpc>
                <a:spcPct val="150000"/>
              </a:lnSpc>
            </a:pPr>
            <a:r>
              <a:rPr kumimoji="1" lang="en-US" altLang="ko-KR" sz="700" b="1" u="sng" dirty="0">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latin typeface="Gulim" panose="020B0600000101010101" pitchFamily="34" charset="-127"/>
                <a:ea typeface="Gulim" panose="020B0600000101010101" pitchFamily="34" charset="-127"/>
              </a:rPr>
              <a:t>Rep MAPNO </a:t>
            </a:r>
          </a:p>
          <a:p>
            <a:pPr>
              <a:lnSpc>
                <a:spcPct val="150000"/>
              </a:lnSpc>
            </a:pPr>
            <a:r>
              <a:rPr kumimoji="1" lang="en-US" altLang="ko-KR" sz="700" b="1" u="sng" dirty="0">
                <a:latin typeface="Gulim" panose="020B0600000101010101" pitchFamily="34" charset="-127"/>
                <a:ea typeface="Gulim" panose="020B0600000101010101" pitchFamily="34" charset="-127"/>
              </a:rPr>
              <a:t>(RPHI – VVHM CPDLC Tx Manual)</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2375536302"/>
              </p:ext>
            </p:extLst>
          </p:nvPr>
        </p:nvGraphicFramePr>
        <p:xfrm>
          <a:off x="-2500" y="3525251"/>
          <a:ext cx="2328849" cy="202311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2BFC2019-5193-EE74-E241-BE1E1108C95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104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8784056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1168871605"/>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a:t>
                      </a:r>
                      <a:r>
                        <a:rPr lang="en-US" sz="800" b="1" u="none" strike="noStrike" cap="none" dirty="0">
                          <a:solidFill>
                            <a:srgbClr val="7030A0"/>
                          </a:solidFill>
                        </a:rPr>
                        <a:t>Standard P/B</a:t>
                      </a:r>
                      <a:r>
                        <a:rPr lang="en-US" sz="800" b="0" u="none" strike="noStrike" cap="none" dirty="0">
                          <a:solidFill>
                            <a:schemeClr val="bg1"/>
                          </a:solidFill>
                        </a:rPr>
                        <a:t>,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LUSMO/AKMON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224855411"/>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 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2252220" cy="782778"/>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120.3 </a:t>
            </a:r>
          </a:p>
          <a:p>
            <a:pPr>
              <a:lnSpc>
                <a:spcPct val="150000"/>
              </a:lnSpc>
            </a:pPr>
            <a:r>
              <a:rPr kumimoji="1" lang="en-US" altLang="ko-Kore-KR" sz="700" b="1" u="sng" dirty="0">
                <a:latin typeface="Gulim" panose="020B0600000101010101" pitchFamily="34" charset="-127"/>
                <a:ea typeface="Gulim" panose="020B0600000101010101" pitchFamily="34" charset="-127"/>
              </a:rPr>
              <a:t>GUTUP 6556/8942 – AKMON 133.05 - UDOSI 120.7</a:t>
            </a:r>
          </a:p>
          <a:p>
            <a:pPr>
              <a:lnSpc>
                <a:spcPct val="150000"/>
              </a:lnSpc>
            </a:pPr>
            <a:r>
              <a:rPr kumimoji="1" lang="en-US" altLang="ko-Kore-KR" sz="700" b="1" u="sng" dirty="0">
                <a:latin typeface="Gulim" panose="020B0600000101010101" pitchFamily="34" charset="-127"/>
                <a:ea typeface="Gulim" panose="020B0600000101010101" pitchFamily="34" charset="-127"/>
              </a:rPr>
              <a:t>ARESI 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9" name="그래픽 8" descr="집 Wi-Fi에서 작업 단색으로 채워진">
            <a:hlinkClick r:id="" action="ppaction://hlinkshowjump?jump=firstslide"/>
            <a:extLst>
              <a:ext uri="{FF2B5EF4-FFF2-40B4-BE49-F238E27FC236}">
                <a16:creationId xmlns:a16="http://schemas.microsoft.com/office/drawing/2014/main" id="{89A00C7D-BA29-4591-22CD-220D9BA33D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56086"/>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2357DB2-BE8F-7354-C626-01FA1BF17381}"/>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0946307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3783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1407258747"/>
              </p:ext>
            </p:extLst>
          </p:nvPr>
        </p:nvGraphicFramePr>
        <p:xfrm>
          <a:off x="-2500" y="3399832"/>
          <a:ext cx="2321630" cy="215833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a:t>
                      </a:r>
                      <a:r>
                        <a:rPr lang="en-US" altLang="ko-KR" sz="800" dirty="0">
                          <a:solidFill>
                            <a:srgbClr val="00B0F0"/>
                          </a:solidFill>
                        </a:rPr>
                        <a:t>3</a:t>
                      </a:r>
                      <a:r>
                        <a:rPr lang="en-US" altLang="ko-Kore-KR" sz="800" dirty="0">
                          <a:solidFill>
                            <a:srgbClr val="00B0F0"/>
                          </a:solidFill>
                        </a:rPr>
                        <a:t>]</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lang="en-US" sz="800" b="0" dirty="0"/>
                    </a:p>
                    <a:p>
                      <a:pPr marL="0" marR="0" lvl="0" indent="0" algn="ctr" rtl="0">
                        <a:spcBef>
                          <a:spcPts val="0"/>
                        </a:spcBef>
                        <a:spcAft>
                          <a:spcPts val="0"/>
                        </a:spcAft>
                        <a:buNone/>
                      </a:pPr>
                      <a:r>
                        <a:rPr lang="en-US" sz="800" b="1" dirty="0">
                          <a:solidFill>
                            <a:srgbClr val="7030A0"/>
                          </a:solidFill>
                        </a:rPr>
                        <a:t>Long STAR Primary</a:t>
                      </a:r>
                      <a:endParaRPr sz="800" b="1" dirty="0">
                        <a:solidFill>
                          <a:srgbClr val="7030A0"/>
                        </a:solidFill>
                      </a:endParaRPr>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a:t>
                      </a:r>
                      <a:r>
                        <a:rPr lang="en-US" sz="800" b="1" dirty="0">
                          <a:solidFill>
                            <a:srgbClr val="C00000"/>
                          </a:solidFill>
                        </a:rPr>
                        <a:t>G4(6702’), </a:t>
                      </a:r>
                      <a:r>
                        <a:rPr lang="en-US" sz="800" b="1" dirty="0">
                          <a:solidFill>
                            <a:srgbClr val="0070C0"/>
                          </a:solidFill>
                        </a:rPr>
                        <a:t>G6(9803’), </a:t>
                      </a:r>
                      <a:r>
                        <a:rPr lang="en-US" sz="800" b="0" dirty="0">
                          <a:solidFill>
                            <a:schemeClr val="bg1"/>
                          </a:solidFill>
                        </a:rPr>
                        <a:t>17R : </a:t>
                      </a:r>
                      <a:r>
                        <a:rPr lang="en-US" sz="800" b="1" dirty="0">
                          <a:solidFill>
                            <a:srgbClr val="C00000"/>
                          </a:solidFill>
                        </a:rPr>
                        <a:t>G2(7089’), </a:t>
                      </a:r>
                      <a:r>
                        <a:rPr lang="en-US" sz="800" b="0" dirty="0">
                          <a:solidFill>
                            <a:schemeClr val="bg1"/>
                          </a:solidFill>
                        </a:rPr>
                        <a:t>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a:t>
                      </a:r>
                      <a:r>
                        <a:rPr lang="en-US" altLang="ko-Kore-KR" sz="800" b="0" dirty="0">
                          <a:solidFill>
                            <a:srgbClr val="F28943"/>
                          </a:solidFill>
                        </a:rPr>
                        <a:t>E4(7198’), </a:t>
                      </a:r>
                      <a:r>
                        <a:rPr lang="en-US" altLang="ko-Kore-KR" sz="800" b="0" dirty="0">
                          <a:solidFill>
                            <a:srgbClr val="0070C0"/>
                          </a:solidFill>
                        </a:rPr>
                        <a:t>E6(10275’), </a:t>
                      </a:r>
                      <a:r>
                        <a:rPr lang="en-US" altLang="ko-Kore-KR" sz="800" b="0" dirty="0">
                          <a:solidFill>
                            <a:schemeClr val="bg1"/>
                          </a:solidFill>
                        </a:rPr>
                        <a:t>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 </a:t>
                      </a:r>
                      <a:r>
                        <a:rPr lang="en-US" altLang="ko-Kore-KR" sz="800" b="1" dirty="0">
                          <a:solidFill>
                            <a:srgbClr val="F28943"/>
                          </a:solidFill>
                        </a:rPr>
                        <a:t>AFT LD CONF 1</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2664613212"/>
              </p:ext>
            </p:extLst>
          </p:nvPr>
        </p:nvGraphicFramePr>
        <p:xfrm>
          <a:off x="-2501" y="9878"/>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700" b="1" dirty="0">
                          <a:solidFill>
                            <a:srgbClr val="0070C0"/>
                          </a:solidFill>
                        </a:rPr>
                        <a:t>ATIS 30’</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F0DF12D0-B1A6-A2D8-382D-8E7A4686F2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2895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1173829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46EF57-4CAC-7273-2CF3-68DE2059620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DD550C3F-3FFD-3B86-2FE0-B291DD8C292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0833E022-8486-377C-3478-4B064DA6EA99}"/>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7FFAE851-AD1A-185E-AF07-1704DB7E50DD}"/>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F9A24D33-F07E-EAC7-ADF0-A0AB331A95F5}"/>
              </a:ext>
            </a:extLst>
          </p:cNvPr>
          <p:cNvGraphicFramePr>
            <a:graphicFrameLocks noGrp="1"/>
          </p:cNvGraphicFramePr>
          <p:nvPr>
            <p:extLst>
              <p:ext uri="{D42A27DB-BD31-4B8C-83A1-F6EECF244321}">
                <p14:modId xmlns:p14="http://schemas.microsoft.com/office/powerpoint/2010/main" val="272006979"/>
              </p:ext>
            </p:extLst>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F4515631-49B8-5C44-FC86-2ED0D319C8FE}"/>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192798833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497750581"/>
              </p:ext>
            </p:extLst>
          </p:nvPr>
        </p:nvGraphicFramePr>
        <p:xfrm>
          <a:off x="-11023" y="643000"/>
          <a:ext cx="2340701" cy="1914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a:t>
                      </a:r>
                      <a:r>
                        <a:rPr lang="ko-KR" altLang="en-US" sz="800" u="none" strike="noStrike" cap="none" dirty="0">
                          <a:solidFill>
                            <a:srgbClr val="FFC000"/>
                          </a:solidFill>
                        </a:rPr>
                        <a:t> </a:t>
                      </a:r>
                      <a:r>
                        <a:rPr lang="en-US" altLang="ko-KR" sz="800" u="none" strike="noStrike" cap="none" dirty="0">
                          <a:solidFill>
                            <a:srgbClr val="FFC000"/>
                          </a:solidFill>
                        </a:rPr>
                        <a:t>Due FL</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353 </a:t>
                      </a:r>
                      <a:r>
                        <a:rPr lang="en-US" sz="800" b="1" u="none" strike="noStrike" cap="none" dirty="0">
                          <a:solidFill>
                            <a:srgbClr val="0070C0"/>
                          </a:solidFill>
                        </a:rPr>
                        <a:t>ALT 8000/ATC </a:t>
                      </a:r>
                      <a:r>
                        <a:rPr lang="en-US" sz="800" b="1" u="none" strike="noStrike" cap="none" dirty="0">
                          <a:solidFill>
                            <a:srgbClr val="F28943"/>
                          </a:solidFill>
                        </a:rPr>
                        <a:t>TA9000</a:t>
                      </a:r>
                      <a:endParaRPr lang="en-US" altLang="ko-Kore-KR" sz="800" b="1" u="none" strike="noStrike" cap="none"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 </a:t>
                      </a:r>
                      <a:r>
                        <a:rPr lang="en-US" altLang="ko-Kore-KR" sz="800" b="1" u="none" strike="noStrike" cap="none" dirty="0">
                          <a:solidFill>
                            <a:srgbClr val="F28943"/>
                          </a:solidFill>
                        </a:rPr>
                        <a:t>TA9000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52988271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 </a:t>
                      </a:r>
                      <a:r>
                        <a:rPr lang="en-US" sz="700" b="1" dirty="0">
                          <a:solidFill>
                            <a:srgbClr val="0070C0"/>
                          </a:solidFill>
                        </a:rPr>
                        <a:t>ATIS 30’</a:t>
                      </a:r>
                      <a:endParaRPr sz="1400" b="1" dirty="0">
                        <a:solidFill>
                          <a:srgbClr val="0070C0"/>
                        </a:solidFill>
                      </a:endParaRPr>
                    </a:p>
                    <a:p>
                      <a:pPr marL="0" marR="0" lvl="0" indent="0" algn="ctr" rtl="0">
                        <a:spcBef>
                          <a:spcPts val="0"/>
                        </a:spcBef>
                        <a:spcAft>
                          <a:spcPts val="0"/>
                        </a:spcAft>
                        <a:buNone/>
                      </a:pPr>
                      <a:r>
                        <a:rPr lang="en-US" altLang="ko-KR" sz="700" dirty="0">
                          <a:solidFill>
                            <a:srgbClr val="FF0000"/>
                          </a:solidFill>
                        </a:rPr>
                        <a:t>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959586" y="2649710"/>
            <a:ext cx="1053173" cy="459613"/>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120.45</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6"/>
          <a:stretch>
            <a:fillRect/>
          </a:stretch>
        </p:blipFill>
        <p:spPr>
          <a:xfrm>
            <a:off x="-11024" y="2569112"/>
            <a:ext cx="874753" cy="676499"/>
          </a:xfrm>
          <a:prstGeom prst="rect">
            <a:avLst/>
          </a:prstGeom>
        </p:spPr>
      </p:pic>
      <p:pic>
        <p:nvPicPr>
          <p:cNvPr id="10" name="그래픽 9" descr="집 Wi-Fi에서 작업 단색으로 채워진">
            <a:hlinkClick r:id="" action="ppaction://hlinkshowjump?jump=firstslide"/>
            <a:extLst>
              <a:ext uri="{FF2B5EF4-FFF2-40B4-BE49-F238E27FC236}">
                <a16:creationId xmlns:a16="http://schemas.microsoft.com/office/drawing/2014/main" id="{01E5A0C6-C561-2DA8-C19D-D0AA3133822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62038"/>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93D825C-9D6D-2FE0-4CE3-5B87D9A56002}"/>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96124096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2191747821"/>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2384208151"/>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Follow Me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Sensitive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57320" y="2733931"/>
            <a:ext cx="2438488"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 – </a:t>
            </a:r>
            <a:r>
              <a:rPr kumimoji="1" lang="en-US" altLang="ko-KR" sz="700" b="1" u="sng" dirty="0">
                <a:solidFill>
                  <a:srgbClr val="00B0F0"/>
                </a:solidFill>
                <a:latin typeface="Gulim" panose="020B0600000101010101" pitchFamily="34" charset="-127"/>
                <a:ea typeface="Gulim" panose="020B0600000101010101" pitchFamily="34" charset="-127"/>
              </a:rPr>
              <a:t>Monitor</a:t>
            </a:r>
            <a:r>
              <a:rPr kumimoji="1" lang="en-US" altLang="ko-KR" sz="700" b="1" u="sng" dirty="0">
                <a:latin typeface="Gulim" panose="020B0600000101010101" pitchFamily="34" charset="-127"/>
                <a:ea typeface="Gulim" panose="020B0600000101010101" pitchFamily="34" charset="-127"/>
              </a:rPr>
              <a:t> </a:t>
            </a:r>
            <a:r>
              <a:rPr kumimoji="1" lang="en-US" altLang="ko-Kore-KR" sz="700" b="1" u="sng" dirty="0">
                <a:latin typeface="Gulim" panose="020B0600000101010101" pitchFamily="34" charset="-127"/>
                <a:ea typeface="Gulim" panose="020B0600000101010101" pitchFamily="34" charset="-127"/>
              </a:rPr>
              <a:t>MNL RDO 8942(5655) </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MIGUG </a:t>
            </a:r>
            <a:r>
              <a:rPr kumimoji="1" lang="en-US" altLang="ko-Kore-KR" sz="700" b="1" u="sng" dirty="0">
                <a:latin typeface="Gulim" panose="020B0600000101010101" pitchFamily="34" charset="-127"/>
                <a:ea typeface="Gulim" panose="020B0600000101010101" pitchFamily="34" charset="-127"/>
              </a:rPr>
              <a:t>HCM 120.7 - 132.35 </a:t>
            </a:r>
          </a:p>
          <a:p>
            <a:pPr>
              <a:lnSpc>
                <a:spcPct val="150000"/>
              </a:lnSpc>
            </a:pPr>
            <a:r>
              <a:rPr kumimoji="1" lang="en-US" altLang="ko-Kore-KR" sz="700" b="1" u="sng" dirty="0">
                <a:latin typeface="Gulim" panose="020B0600000101010101" pitchFamily="34" charset="-127"/>
                <a:ea typeface="Gulim" panose="020B0600000101010101" pitchFamily="34" charset="-127"/>
              </a:rPr>
              <a:t>SGN APP 125.5</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5A5FD3C2-4F46-E9CA-20AD-03EDE67B054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340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6214639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1771673893"/>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407539484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 </a:t>
                      </a:r>
                      <a:r>
                        <a:rPr lang="en-US" altLang="ko-Kore-KR" sz="800" b="1" u="none" strike="noStrike" cap="none" dirty="0">
                          <a:solidFill>
                            <a:srgbClr val="F28943"/>
                          </a:solidFill>
                        </a:rPr>
                        <a:t>TA 18000</a:t>
                      </a:r>
                      <a:endParaRPr lang="ko-Kore-KR" altLang="en-US"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 </a:t>
                      </a:r>
                      <a:r>
                        <a:rPr lang="en-US" sz="800" b="1" u="none" strike="noStrike" cap="none" dirty="0">
                          <a:solidFill>
                            <a:srgbClr val="F28943"/>
                          </a:solidFill>
                        </a:rPr>
                        <a:t>TA 18000</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182A3967-06B9-3A50-34D0-51C8CFE23F4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4679"/>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CEAC64AC-A7B3-55DB-0C03-13D6360E1527}"/>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3909704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516B428-136F-957C-05EC-6052993CEE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EFC303-98DC-9D7B-E956-B1F84FF6D307}"/>
              </a:ext>
            </a:extLst>
          </p:cNvPr>
          <p:cNvSpPr txBox="1"/>
          <p:nvPr/>
        </p:nvSpPr>
        <p:spPr>
          <a:xfrm>
            <a:off x="-58296" y="2891699"/>
            <a:ext cx="200086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p:txBody>
      </p:sp>
      <p:graphicFrame>
        <p:nvGraphicFramePr>
          <p:cNvPr id="292" name="Google Shape;292;p18">
            <a:extLst>
              <a:ext uri="{FF2B5EF4-FFF2-40B4-BE49-F238E27FC236}">
                <a16:creationId xmlns:a16="http://schemas.microsoft.com/office/drawing/2014/main" id="{8FE53CC5-5C56-DF31-DDD9-A687D50B1569}"/>
              </a:ext>
            </a:extLst>
          </p:cNvPr>
          <p:cNvGraphicFramePr/>
          <p:nvPr>
            <p:extLst>
              <p:ext uri="{D42A27DB-BD31-4B8C-83A1-F6EECF244321}">
                <p14:modId xmlns:p14="http://schemas.microsoft.com/office/powerpoint/2010/main" val="2384650463"/>
              </p:ext>
            </p:extLst>
          </p:nvPr>
        </p:nvGraphicFramePr>
        <p:xfrm>
          <a:off x="-2500" y="3775686"/>
          <a:ext cx="2328849" cy="178053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CNX </a:t>
                      </a:r>
                      <a:r>
                        <a:rPr lang="en-US" altLang="ko-Kore-KR" sz="800" dirty="0">
                          <a:solidFill>
                            <a:srgbClr val="00B0F0"/>
                          </a:solidFill>
                        </a:rPr>
                        <a:t>[001/181]</a:t>
                      </a:r>
                      <a:r>
                        <a:rPr lang="en-US" altLang="ko-Kore-KR" sz="800" dirty="0"/>
                        <a:t> :  TL130 UTC+7, </a:t>
                      </a:r>
                      <a:r>
                        <a:rPr lang="en-US" altLang="ko-Kore-KR" sz="800" dirty="0">
                          <a:solidFill>
                            <a:srgbClr val="C00000"/>
                          </a:solidFill>
                        </a:rPr>
                        <a:t>Caution TERR</a:t>
                      </a:r>
                    </a:p>
                    <a:p>
                      <a:pPr marL="0" marR="0" lvl="0" indent="0" algn="ctr" rtl="0">
                        <a:spcBef>
                          <a:spcPts val="0"/>
                        </a:spcBef>
                        <a:spcAft>
                          <a:spcPts val="0"/>
                        </a:spcAft>
                        <a:buNone/>
                      </a:pPr>
                      <a:r>
                        <a:rPr lang="en-US" altLang="ko-Kore-KR" sz="800" dirty="0">
                          <a:solidFill>
                            <a:srgbClr val="00B050"/>
                          </a:solidFill>
                        </a:rPr>
                        <a:t>BKK to CNX APP 80NM, FL160 – Rep PSN, ALT, SQ</a:t>
                      </a:r>
                    </a:p>
                    <a:p>
                      <a:pPr marL="0" marR="0" lvl="0" indent="0" algn="ctr" rtl="0">
                        <a:spcBef>
                          <a:spcPts val="0"/>
                        </a:spcBef>
                        <a:spcAft>
                          <a:spcPts val="0"/>
                        </a:spcAft>
                        <a:buNone/>
                      </a:pPr>
                      <a:r>
                        <a:rPr lang="en-US" altLang="ko-Kore-KR" sz="800" dirty="0">
                          <a:solidFill>
                            <a:srgbClr val="FFC000"/>
                          </a:solidFill>
                        </a:rPr>
                        <a:t>(SPD 220kts 20-25 TRK Mile, 180kts IF, 150-160kts FAF)</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MONLO xx A</a:t>
                      </a:r>
                    </a:p>
                  </a:txBody>
                  <a:tcPr marL="36000" marR="36000" marT="36000" marB="36000" anchor="ctr"/>
                </a:tc>
                <a:tc>
                  <a:txBody>
                    <a:bodyPr/>
                    <a:lstStyle/>
                    <a:p>
                      <a:pPr algn="ctr"/>
                      <a:r>
                        <a:rPr lang="en-US" altLang="ko-Kore-KR" sz="800" b="1" dirty="0"/>
                        <a:t>PUKAT</a:t>
                      </a:r>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0" dirty="0"/>
                        <a:t>18</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MONLO xx B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PILEX</a:t>
                      </a:r>
                      <a:endParaRPr lang="ko-Kore-KR" altLang="en-US" dirty="0"/>
                    </a:p>
                  </a:txBody>
                  <a:tcPr marL="36000" marR="36000" marT="36000" marB="36000" anchor="ctr"/>
                </a:tc>
                <a:tc>
                  <a:txBody>
                    <a:bodyPr/>
                    <a:lstStyle/>
                    <a:p>
                      <a:pPr algn="ctr"/>
                      <a:r>
                        <a:rPr lang="en-US" sz="800" b="1" dirty="0"/>
                        <a:t>RNP 18</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CMA, </a:t>
                      </a:r>
                      <a:r>
                        <a:rPr lang="en-US" altLang="ko-KR" sz="800" b="1" dirty="0">
                          <a:solidFill>
                            <a:srgbClr val="C00000"/>
                          </a:solidFill>
                        </a:rPr>
                        <a:t>36 ICMA</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36</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E(</a:t>
                      </a:r>
                      <a:r>
                        <a:rPr lang="en-US" altLang="ko-KR" sz="800" b="0" dirty="0">
                          <a:solidFill>
                            <a:schemeClr val="bg1"/>
                          </a:solidFill>
                        </a:rPr>
                        <a:t>6558</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D(7483’)</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18</a:t>
                      </a:r>
                      <a:r>
                        <a:rPr lang="ko-KR" altLang="en-US" sz="800" b="0" dirty="0">
                          <a:solidFill>
                            <a:srgbClr val="0070C0"/>
                          </a:solidFill>
                        </a:rPr>
                        <a:t> </a:t>
                      </a:r>
                      <a:r>
                        <a:rPr lang="en-US" altLang="ko-KR" sz="800" b="1" dirty="0">
                          <a:solidFill>
                            <a:srgbClr val="C00000"/>
                          </a:solidFill>
                        </a:rPr>
                        <a:t>DIS</a:t>
                      </a:r>
                      <a:r>
                        <a:rPr lang="ko-KR" altLang="en-US" sz="800" b="0" dirty="0">
                          <a:solidFill>
                            <a:srgbClr val="C00000"/>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F(6853’,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G(9199’,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TWY CL L/T, Yellow Center Line</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Difference VDGS,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CA31BAD-049C-1AD5-2835-8E917AD59DCF}"/>
              </a:ext>
            </a:extLst>
          </p:cNvPr>
          <p:cNvGraphicFramePr/>
          <p:nvPr>
            <p:extLst>
              <p:ext uri="{D42A27DB-BD31-4B8C-83A1-F6EECF244321}">
                <p14:modId xmlns:p14="http://schemas.microsoft.com/office/powerpoint/2010/main" val="174803458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4">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CNX Traffic 131.5</a:t>
                      </a:r>
                    </a:p>
                    <a:p>
                      <a:pPr marL="0" marR="0" lvl="0" indent="0" algn="ctr" rtl="0">
                        <a:spcBef>
                          <a:spcPts val="0"/>
                        </a:spcBef>
                        <a:spcAft>
                          <a:spcPts val="0"/>
                        </a:spcAft>
                        <a:buNone/>
                      </a:pPr>
                      <a:r>
                        <a:rPr lang="en-US" sz="900" dirty="0">
                          <a:solidFill>
                            <a:srgbClr val="0070C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6EEBC08-5900-E14B-6C6B-B00F1F15290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FB2548-B39C-52D0-6356-468B3EE0A5C0}"/>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56EC76DA-A6E4-A615-244B-8462D37B9D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230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3692137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58FD6-8169-A8D2-0B5A-C82D72906028}"/>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6D1C0C3-725E-D788-C4C3-B074301EAD24}"/>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FF703819-1F54-F0CC-13D5-68E714D94FEC}"/>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BD9D897-6614-4BD6-F98B-91DD9B07BB72}"/>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4EDA6B7-4547-E5C9-2919-78B2B0C0808C}"/>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011252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33816BC-4C04-BDD4-FF40-7052DEB935E6}"/>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6425D7D8-16B9-95B0-AE1D-3C2677D92516}"/>
              </a:ext>
            </a:extLst>
          </p:cNvPr>
          <p:cNvGraphicFramePr/>
          <p:nvPr>
            <p:extLst>
              <p:ext uri="{D42A27DB-BD31-4B8C-83A1-F6EECF244321}">
                <p14:modId xmlns:p14="http://schemas.microsoft.com/office/powerpoint/2010/main" val="1815773757"/>
              </p:ext>
            </p:extLst>
          </p:nvPr>
        </p:nvGraphicFramePr>
        <p:xfrm>
          <a:off x="-11023"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203148">
                  <a:extLst>
                    <a:ext uri="{9D8B030D-6E8A-4147-A177-3AD203B41FA5}">
                      <a16:colId xmlns:a16="http://schemas.microsoft.com/office/drawing/2014/main" val="1047496764"/>
                    </a:ext>
                  </a:extLst>
                </a:gridCol>
                <a:gridCol w="957376">
                  <a:extLst>
                    <a:ext uri="{9D8B030D-6E8A-4147-A177-3AD203B41FA5}">
                      <a16:colId xmlns:a16="http://schemas.microsoft.com/office/drawing/2014/main" val="4072365767"/>
                    </a:ext>
                  </a:extLst>
                </a:gridCol>
              </a:tblGrid>
              <a:tr h="0">
                <a:tc gridSpan="5">
                  <a:txBody>
                    <a:bodyPr/>
                    <a:lstStyle/>
                    <a:p>
                      <a:pPr marL="0" marR="0" lvl="0" indent="0" algn="ctr" rtl="0">
                        <a:spcBef>
                          <a:spcPts val="0"/>
                        </a:spcBef>
                        <a:spcAft>
                          <a:spcPts val="0"/>
                        </a:spcAft>
                        <a:buNone/>
                      </a:pPr>
                      <a:r>
                        <a:rPr lang="en-US" sz="800" u="none" strike="noStrike" cap="none" dirty="0"/>
                        <a:t>CNX : RNAV SID (NADP 1) TA 11000</a:t>
                      </a:r>
                    </a:p>
                    <a:p>
                      <a:pPr marL="0" marR="0" lvl="0" indent="0" algn="ctr" rtl="0">
                        <a:spcBef>
                          <a:spcPts val="0"/>
                        </a:spcBef>
                        <a:spcAft>
                          <a:spcPts val="0"/>
                        </a:spcAft>
                        <a:buNone/>
                      </a:pPr>
                      <a:r>
                        <a:rPr lang="en-US" sz="800" u="none" strike="noStrike" cap="none" dirty="0">
                          <a:solidFill>
                            <a:srgbClr val="FFC000"/>
                          </a:solidFill>
                        </a:rPr>
                        <a:t>After Airborne L TURN DCT MONLO then R-207</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36</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MONLO </a:t>
                      </a:r>
                      <a:r>
                        <a:rPr lang="en-US" sz="800" b="1" u="none" strike="noStrike" cap="none" dirty="0" err="1">
                          <a:solidFill>
                            <a:srgbClr val="0070C0"/>
                          </a:solidFill>
                        </a:rPr>
                        <a:t>xN</a:t>
                      </a:r>
                      <a:endParaRPr lang="ko-Kore-KR" dirty="0"/>
                    </a:p>
                  </a:txBody>
                  <a:tcPr marL="36000" marR="36000" marT="36000" marB="36000" anchor="ctr"/>
                </a:tc>
                <a:tc gridSpan="3">
                  <a:txBody>
                    <a:bodyPr/>
                    <a:lstStyle/>
                    <a:p>
                      <a:pPr algn="ctr"/>
                      <a:r>
                        <a:rPr lang="en-US" sz="800" b="1" u="none" strike="noStrike" cap="none" dirty="0"/>
                        <a:t>HD 001 </a:t>
                      </a:r>
                      <a:r>
                        <a:rPr lang="en-US" sz="800" b="1" u="none" strike="noStrike" cap="none" dirty="0">
                          <a:solidFill>
                            <a:srgbClr val="0070C0"/>
                          </a:solidFill>
                        </a:rPr>
                        <a:t>ALT 11000 </a:t>
                      </a:r>
                      <a:r>
                        <a:rPr lang="en-US" altLang="ko-Kore-KR" sz="800" b="1" u="none" strike="noStrike" cap="none" dirty="0">
                          <a:solidFill>
                            <a:srgbClr val="AA47F5"/>
                          </a:solidFill>
                        </a:rPr>
                        <a:t>SPD 250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18</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MONLO </a:t>
                      </a:r>
                      <a:r>
                        <a:rPr lang="en-US" altLang="ko-Kore-KR" sz="800" b="1" u="none" strike="noStrike" cap="none" dirty="0" err="1">
                          <a:solidFill>
                            <a:srgbClr val="0070C0"/>
                          </a:solidFill>
                        </a:rPr>
                        <a:t>xS</a:t>
                      </a:r>
                      <a:endParaRPr lang="ko-Kore-KR" dirty="0"/>
                    </a:p>
                  </a:txBody>
                  <a:tcPr marL="36000" marR="36000" marT="36000" marB="36000" anchor="ctr"/>
                </a:tc>
                <a:tc gridSpan="3">
                  <a:txBody>
                    <a:bodyPr/>
                    <a:lstStyle/>
                    <a:p>
                      <a:pPr algn="ctr"/>
                      <a:r>
                        <a:rPr lang="en-US" sz="800" b="1" u="none" strike="noStrike" cap="none" dirty="0"/>
                        <a:t>HD 181 </a:t>
                      </a:r>
                      <a:r>
                        <a:rPr lang="en-US" sz="800" b="1" u="none" strike="noStrike" cap="none" dirty="0">
                          <a:solidFill>
                            <a:srgbClr val="0070C0"/>
                          </a:solidFill>
                        </a:rPr>
                        <a:t>ALT 6000(Init CL)  </a:t>
                      </a:r>
                      <a:r>
                        <a:rPr lang="en-US" altLang="ko-Kore-KR" sz="800" b="1" u="none" strike="noStrike" cap="none" dirty="0">
                          <a:solidFill>
                            <a:srgbClr val="AA47F5"/>
                          </a:solidFill>
                        </a:rPr>
                        <a:t>SPD 230 </a:t>
                      </a: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CMA 116.9</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ICMA 109.9</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36 : CMA /4,/7, R180</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l" rtl="0">
                        <a:spcBef>
                          <a:spcPts val="0"/>
                        </a:spcBef>
                        <a:spcAft>
                          <a:spcPts val="0"/>
                        </a:spcAft>
                        <a:buNone/>
                      </a:pPr>
                      <a:r>
                        <a:rPr kumimoji="0" lang="en-US" altLang="ko-Kore-KR" sz="800" b="0" i="0" u="none" strike="noStrike" kern="1200" cap="none" spc="0" normalizeH="0" baseline="0" noProof="0" dirty="0">
                          <a:ln>
                            <a:noFill/>
                          </a:ln>
                          <a:solidFill>
                            <a:prstClr val="black"/>
                          </a:solidFill>
                          <a:effectLst/>
                          <a:uLnTx/>
                          <a:uFillTx/>
                          <a:latin typeface="Calibri"/>
                          <a:cs typeface="Calibri"/>
                        </a:rPr>
                        <a:t>18 : CMA /7, R180 </a:t>
                      </a:r>
                      <a:endParaRPr lang="en-US" altLang="ko-Kore-KR" sz="458" dirty="0"/>
                    </a:p>
                  </a:txBody>
                  <a:tcPr marL="36000" marR="36000" marT="36000" marB="36000" anchor="ctr"/>
                </a:tc>
                <a:extLst>
                  <a:ext uri="{0D108BD9-81ED-4DB2-BD59-A6C34878D82A}">
                    <a16:rowId xmlns:a16="http://schemas.microsoft.com/office/drawing/2014/main" val="1218381178"/>
                  </a:ext>
                </a:extLst>
              </a:tr>
              <a:tr h="115700">
                <a:tc gridSpan="5">
                  <a:txBody>
                    <a:bodyPr/>
                    <a:lstStyle/>
                    <a:p>
                      <a:pPr marL="0" marR="0" lvl="0" indent="0" algn="ctr" rtl="0">
                        <a:spcBef>
                          <a:spcPts val="0"/>
                        </a:spcBef>
                        <a:spcAft>
                          <a:spcPts val="0"/>
                        </a:spcAft>
                        <a:buNone/>
                      </a:pPr>
                      <a:r>
                        <a:rPr lang="en-US" sz="800" dirty="0">
                          <a:solidFill>
                            <a:srgbClr val="7030A0"/>
                          </a:solidFill>
                        </a:rPr>
                        <a:t>CHK CLB Gradient, RECMD FLEX Due EGT Limit</a:t>
                      </a:r>
                      <a:endParaRPr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3B1748E5-662D-E915-F1FE-C009167D9EB3}"/>
              </a:ext>
            </a:extLst>
          </p:cNvPr>
          <p:cNvGraphicFramePr/>
          <p:nvPr>
            <p:extLst>
              <p:ext uri="{D42A27DB-BD31-4B8C-83A1-F6EECF244321}">
                <p14:modId xmlns:p14="http://schemas.microsoft.com/office/powerpoint/2010/main" val="4165156567"/>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3">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CNX Traffic 131.5</a:t>
                      </a:r>
                      <a:endParaRPr sz="1200" dirty="0"/>
                    </a:p>
                    <a:p>
                      <a:pPr marL="0" marR="0" lvl="0" indent="0" algn="ctr" rtl="0">
                        <a:spcBef>
                          <a:spcPts val="0"/>
                        </a:spcBef>
                        <a:spcAft>
                          <a:spcPts val="0"/>
                        </a:spcAft>
                        <a:buNone/>
                      </a:pPr>
                      <a:r>
                        <a:rPr lang="en-US" altLang="ko-KR" sz="700" dirty="0">
                          <a:solidFill>
                            <a:srgbClr val="FF0000"/>
                          </a:solidFill>
                        </a:rPr>
                        <a:t>-5min, By Voice GND</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26A9CBC-7A8A-9D2C-2B3C-CD01C8FB95F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D5A8483-9827-529E-5652-157A296D15B9}"/>
              </a:ext>
            </a:extLst>
          </p:cNvPr>
          <p:cNvSpPr txBox="1"/>
          <p:nvPr/>
        </p:nvSpPr>
        <p:spPr>
          <a:xfrm>
            <a:off x="857104" y="2213973"/>
            <a:ext cx="143789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129.6 – BKK 133.1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VIE 128.3 - HNI 123.3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림 8" descr="텍스트, 도표, 클립아트, 지도이(가) 표시된 사진&#10;&#10;자동 생성된 설명">
            <a:extLst>
              <a:ext uri="{FF2B5EF4-FFF2-40B4-BE49-F238E27FC236}">
                <a16:creationId xmlns:a16="http://schemas.microsoft.com/office/drawing/2014/main" id="{9A9998A5-330B-0E91-394E-0C9903B0AC1D}"/>
              </a:ext>
            </a:extLst>
          </p:cNvPr>
          <p:cNvPicPr>
            <a:picLocks noChangeAspect="1"/>
          </p:cNvPicPr>
          <p:nvPr/>
        </p:nvPicPr>
        <p:blipFill>
          <a:blip r:embed="rId6"/>
          <a:stretch>
            <a:fillRect/>
          </a:stretch>
        </p:blipFill>
        <p:spPr>
          <a:xfrm>
            <a:off x="0" y="2210530"/>
            <a:ext cx="786984" cy="873769"/>
          </a:xfrm>
          <a:prstGeom prst="rect">
            <a:avLst/>
          </a:prstGeom>
        </p:spPr>
      </p:pic>
      <p:pic>
        <p:nvPicPr>
          <p:cNvPr id="12" name="그래픽 11" descr="집 Wi-Fi에서 작업 단색으로 채워진">
            <a:hlinkClick r:id="" action="ppaction://hlinkshowjump?jump=firstslide"/>
            <a:extLst>
              <a:ext uri="{FF2B5EF4-FFF2-40B4-BE49-F238E27FC236}">
                <a16:creationId xmlns:a16="http://schemas.microsoft.com/office/drawing/2014/main" id="{4DC646C0-B47F-C0A1-C7BA-7ED6BF4EB1D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61339"/>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B61C4FD-A4CA-181C-1340-8AE58D839052}"/>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01518004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CF84A11-4838-0C4D-DAA7-FFF226E7A7B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6B5FA7B-D0C4-481F-4F2C-CEE0679C2D81}"/>
              </a:ext>
            </a:extLst>
          </p:cNvPr>
          <p:cNvSpPr txBox="1"/>
          <p:nvPr/>
        </p:nvSpPr>
        <p:spPr>
          <a:xfrm>
            <a:off x="22980" y="2899449"/>
            <a:ext cx="1343638" cy="693899"/>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a:t>
            </a:r>
            <a:endParaRPr kumimoji="1" lang="en-US" altLang="ko-KR" sz="700" b="1"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a:t>
            </a:r>
          </a:p>
          <a:p>
            <a:pPr>
              <a:lnSpc>
                <a:spcPct val="150000"/>
              </a:lnSpc>
            </a:pPr>
            <a:r>
              <a:rPr kumimoji="1" lang="en-US" altLang="ko-KR" sz="700" b="1" dirty="0">
                <a:latin typeface="Gulim" panose="020B0600000101010101" pitchFamily="34" charset="-127"/>
                <a:ea typeface="Gulim" panose="020B0600000101010101" pitchFamily="34" charset="-127"/>
              </a:rPr>
              <a:t>– MAMOK 15-30min WAAF</a:t>
            </a:r>
          </a:p>
        </p:txBody>
      </p:sp>
      <p:graphicFrame>
        <p:nvGraphicFramePr>
          <p:cNvPr id="292" name="Google Shape;292;p18">
            <a:extLst>
              <a:ext uri="{FF2B5EF4-FFF2-40B4-BE49-F238E27FC236}">
                <a16:creationId xmlns:a16="http://schemas.microsoft.com/office/drawing/2014/main" id="{0C5E373F-54E0-CC8C-DEAA-8E58AA906BC7}"/>
              </a:ext>
            </a:extLst>
          </p:cNvPr>
          <p:cNvGraphicFramePr/>
          <p:nvPr>
            <p:extLst>
              <p:ext uri="{D42A27DB-BD31-4B8C-83A1-F6EECF244321}">
                <p14:modId xmlns:p14="http://schemas.microsoft.com/office/powerpoint/2010/main" val="2997780217"/>
              </p:ext>
            </p:extLst>
          </p:nvPr>
        </p:nvGraphicFramePr>
        <p:xfrm>
          <a:off x="-2500" y="3660536"/>
          <a:ext cx="2328849" cy="190245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70472">
                  <a:extLst>
                    <a:ext uri="{9D8B030D-6E8A-4147-A177-3AD203B41FA5}">
                      <a16:colId xmlns:a16="http://schemas.microsoft.com/office/drawing/2014/main" val="20001"/>
                    </a:ext>
                  </a:extLst>
                </a:gridCol>
                <a:gridCol w="440267">
                  <a:extLst>
                    <a:ext uri="{9D8B030D-6E8A-4147-A177-3AD203B41FA5}">
                      <a16:colId xmlns:a16="http://schemas.microsoft.com/office/drawing/2014/main" val="502366202"/>
                    </a:ext>
                  </a:extLst>
                </a:gridCol>
                <a:gridCol w="456909">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DPS </a:t>
                      </a:r>
                      <a:r>
                        <a:rPr lang="en-US" altLang="ko-Kore-KR" sz="800" dirty="0">
                          <a:solidFill>
                            <a:srgbClr val="00B0F0"/>
                          </a:solidFill>
                        </a:rPr>
                        <a:t>[087/267]</a:t>
                      </a:r>
                      <a:r>
                        <a:rPr lang="en-US" altLang="ko-Kore-KR" sz="800" dirty="0"/>
                        <a:t> :  TL130 UTC+8</a:t>
                      </a:r>
                      <a:endParaRPr lang="en-US" altLang="ko-Kore-KR" sz="800" dirty="0">
                        <a:solidFill>
                          <a:srgbClr val="C00000"/>
                        </a:solidFill>
                      </a:endParaRPr>
                    </a:p>
                    <a:p>
                      <a:pPr marL="0" marR="0" lvl="0" indent="0" algn="ctr" rtl="0">
                        <a:spcBef>
                          <a:spcPts val="0"/>
                        </a:spcBef>
                        <a:spcAft>
                          <a:spcPts val="0"/>
                        </a:spcAft>
                        <a:buNone/>
                      </a:pPr>
                      <a:r>
                        <a:rPr lang="en-US" altLang="ko-Kore-KR" sz="800" dirty="0">
                          <a:solidFill>
                            <a:srgbClr val="00B050"/>
                          </a:solidFill>
                        </a:rPr>
                        <a:t>RWY27 Before DOBMA(EMTAS) FL300 </a:t>
                      </a:r>
                    </a:p>
                    <a:p>
                      <a:pPr marL="0" marR="0" lvl="0" indent="0" algn="ctr" rtl="0">
                        <a:spcBef>
                          <a:spcPts val="0"/>
                        </a:spcBef>
                        <a:spcAft>
                          <a:spcPts val="0"/>
                        </a:spcAft>
                        <a:buNone/>
                      </a:pPr>
                      <a:r>
                        <a:rPr lang="en-US" altLang="ko-Kore-KR" sz="800" dirty="0">
                          <a:solidFill>
                            <a:srgbClr val="00B050"/>
                          </a:solidFill>
                        </a:rPr>
                        <a:t>for CTC Bali 119.7 (Prevent Late DES)</a:t>
                      </a:r>
                    </a:p>
                    <a:p>
                      <a:pPr marL="0" marR="0" lvl="0" indent="0" algn="ctr" rtl="0">
                        <a:spcBef>
                          <a:spcPts val="0"/>
                        </a:spcBef>
                        <a:spcAft>
                          <a:spcPts val="0"/>
                        </a:spcAft>
                        <a:buNone/>
                      </a:pPr>
                      <a:r>
                        <a:rPr lang="en-US" altLang="ko-Kore-KR" sz="800" dirty="0">
                          <a:solidFill>
                            <a:srgbClr val="C00000"/>
                          </a:solidFill>
                        </a:rPr>
                        <a:t>Late DES due TERR</a:t>
                      </a:r>
                      <a:r>
                        <a:rPr lang="en-US" altLang="ko-Kore-KR" sz="800" dirty="0">
                          <a:solidFill>
                            <a:srgbClr val="FFC000"/>
                          </a:solidFill>
                        </a:rPr>
                        <a:t>SPD MAX 180kts 10NM, 150kts 4NM</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DOBMA/EMTAS xx C</a:t>
                      </a:r>
                    </a:p>
                  </a:txBody>
                  <a:tcPr marL="36000" marR="36000" marT="36000" marB="36000" anchor="ctr"/>
                </a:tc>
                <a:tc>
                  <a:txBody>
                    <a:bodyPr/>
                    <a:lstStyle/>
                    <a:p>
                      <a:pPr algn="ctr"/>
                      <a:r>
                        <a:rPr lang="en-US" altLang="ko-Kore-KR" sz="800" b="1" dirty="0"/>
                        <a:t>KHUTA</a:t>
                      </a:r>
                    </a:p>
                  </a:txBody>
                  <a:tcPr marL="36000" marR="36000" marT="36000" marB="36000" anchor="ctr"/>
                </a:tc>
                <a:tc>
                  <a:txBody>
                    <a:bodyPr/>
                    <a:lstStyle/>
                    <a:p>
                      <a:pPr marL="0" marR="0" lvl="0" indent="0" algn="ctr" rtl="0">
                        <a:spcBef>
                          <a:spcPts val="0"/>
                        </a:spcBef>
                        <a:spcAft>
                          <a:spcPts val="0"/>
                        </a:spcAft>
                        <a:buNone/>
                      </a:pPr>
                      <a:r>
                        <a:rPr lang="en-US" sz="800" b="1" dirty="0"/>
                        <a:t>RNP 09</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27</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DOBMA/EMTAS xx D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BENOA</a:t>
                      </a:r>
                      <a:endParaRPr lang="ko-Kore-KR" altLang="en-US" dirty="0"/>
                    </a:p>
                  </a:txBody>
                  <a:tcPr marL="36000" marR="36000" marT="36000" marB="36000" anchor="ctr"/>
                </a:tc>
                <a:tc>
                  <a:txBody>
                    <a:bodyPr/>
                    <a:lstStyle/>
                    <a:p>
                      <a:pPr algn="ctr"/>
                      <a:r>
                        <a:rPr lang="en-US" sz="800" b="1" dirty="0"/>
                        <a:t>ILS 27</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BLI, </a:t>
                      </a:r>
                      <a:r>
                        <a:rPr lang="en-US" altLang="ko-KR" sz="800" b="1" dirty="0">
                          <a:solidFill>
                            <a:srgbClr val="C00000"/>
                          </a:solidFill>
                        </a:rPr>
                        <a:t>27 IDPS</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09</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N3</a:t>
                      </a:r>
                      <a:r>
                        <a:rPr lang="en-US" sz="800" b="0" dirty="0">
                          <a:solidFill>
                            <a:schemeClr val="bg1"/>
                          </a:solidFill>
                        </a:rPr>
                        <a:t>(</a:t>
                      </a:r>
                      <a:r>
                        <a:rPr lang="en-US" altLang="ko-KR" sz="800" b="0" dirty="0">
                          <a:solidFill>
                            <a:schemeClr val="bg1"/>
                          </a:solidFill>
                        </a:rPr>
                        <a:t>6817</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N2</a:t>
                      </a:r>
                      <a:r>
                        <a:rPr lang="en-US" sz="800" b="0" dirty="0">
                          <a:solidFill>
                            <a:schemeClr val="bg1"/>
                          </a:solidFill>
                        </a:rPr>
                        <a:t>(8448’, </a:t>
                      </a:r>
                      <a:r>
                        <a:rPr lang="en-US" altLang="ko-Kore-KR" sz="800" b="0" i="0" kern="1200" dirty="0">
                          <a:solidFill>
                            <a:srgbClr val="C00000"/>
                          </a:solidFill>
                          <a:latin typeface="+mn-ea"/>
                          <a:ea typeface="Calibri"/>
                          <a:cs typeface="Calibri"/>
                        </a:rPr>
                        <a:t>90</a:t>
                      </a:r>
                      <a:r>
                        <a:rPr lang="ko-KR" altLang="en-US" sz="800" b="0" i="0" kern="1200" dirty="0">
                          <a:solidFill>
                            <a:srgbClr val="C00000"/>
                          </a:solidFill>
                          <a:latin typeface="+mn-ea"/>
                          <a:ea typeface="Calibri"/>
                          <a:cs typeface="Calibri"/>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27</a:t>
                      </a:r>
                      <a:r>
                        <a:rPr lang="ko-KR" altLang="en-US" sz="800" b="0" dirty="0">
                          <a:solidFill>
                            <a:srgbClr val="0070C0"/>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N6</a:t>
                      </a:r>
                      <a:r>
                        <a:rPr lang="en-US" sz="800" b="0" dirty="0">
                          <a:solidFill>
                            <a:schemeClr val="bg1"/>
                          </a:solidFill>
                        </a:rPr>
                        <a:t>(7513’, </a:t>
                      </a:r>
                      <a:r>
                        <a:rPr lang="en-US" sz="800" b="0" dirty="0">
                          <a:solidFill>
                            <a:srgbClr val="C00000"/>
                          </a:solidFill>
                        </a:rPr>
                        <a:t>Rapid</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N7</a:t>
                      </a:r>
                      <a:r>
                        <a:rPr lang="en-US" sz="800" b="0" dirty="0">
                          <a:solidFill>
                            <a:schemeClr val="bg1"/>
                          </a:solidFill>
                        </a:rPr>
                        <a:t>(9645’,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RWY/TWY CL L/T, Yellow C/L Only</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VDGS but Marshaller, </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GND REG No,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4366B7D4-376B-5B4D-81C1-3F3E8652DFFF}"/>
              </a:ext>
            </a:extLst>
          </p:cNvPr>
          <p:cNvGraphicFramePr/>
          <p:nvPr>
            <p:extLst>
              <p:ext uri="{D42A27DB-BD31-4B8C-83A1-F6EECF244321}">
                <p14:modId xmlns:p14="http://schemas.microsoft.com/office/powerpoint/2010/main" val="3197370869"/>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WADD(DPS) 14ft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Gapura</a:t>
                      </a:r>
                      <a:r>
                        <a:rPr lang="en-US" sz="900" dirty="0"/>
                        <a:t> Operation Bali 131.95 </a:t>
                      </a:r>
                      <a:r>
                        <a:rPr lang="en-US" sz="900"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FB7D3F1-D5E2-EBB1-4FF1-C7CAD3FAC81F}"/>
              </a:ext>
            </a:extLst>
          </p:cNvPr>
          <p:cNvSpPr/>
          <p:nvPr/>
        </p:nvSpPr>
        <p:spPr>
          <a:xfrm>
            <a:off x="829010" y="222556"/>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827B294-8B9F-19DC-335A-7F06016CE7AC}"/>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BE95BDC3-FC43-776E-9DEC-CDDD80085E3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8477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3412338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4C63AFCC-67A9-CEAE-2B4A-88F7951B528C}"/>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52E0A1F-E899-F60E-9295-A95E4D0D9031}"/>
              </a:ext>
            </a:extLst>
          </p:cNvPr>
          <p:cNvGraphicFramePr/>
          <p:nvPr>
            <p:extLst>
              <p:ext uri="{D42A27DB-BD31-4B8C-83A1-F6EECF244321}">
                <p14:modId xmlns:p14="http://schemas.microsoft.com/office/powerpoint/2010/main" val="3510528349"/>
              </p:ext>
            </p:extLst>
          </p:nvPr>
        </p:nvGraphicFramePr>
        <p:xfrm>
          <a:off x="-4250"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1160524">
                  <a:extLst>
                    <a:ext uri="{9D8B030D-6E8A-4147-A177-3AD203B41FA5}">
                      <a16:colId xmlns:a16="http://schemas.microsoft.com/office/drawing/2014/main" val="1047496764"/>
                    </a:ext>
                  </a:extLst>
                </a:gridCol>
              </a:tblGrid>
              <a:tr h="0">
                <a:tc gridSpan="4">
                  <a:txBody>
                    <a:bodyPr/>
                    <a:lstStyle/>
                    <a:p>
                      <a:pPr marL="0" marR="0" lvl="0" indent="0" algn="ctr" rtl="0">
                        <a:spcBef>
                          <a:spcPts val="0"/>
                        </a:spcBef>
                        <a:spcAft>
                          <a:spcPts val="0"/>
                        </a:spcAft>
                        <a:buNone/>
                      </a:pPr>
                      <a:r>
                        <a:rPr lang="en-US" sz="800" u="none" strike="noStrike" cap="none" dirty="0"/>
                        <a:t>DPS : RNAV SID (NADP 1) TA 11000</a:t>
                      </a:r>
                    </a:p>
                    <a:p>
                      <a:pPr marL="0" marR="0" lvl="0" indent="0" algn="ctr" rtl="0">
                        <a:spcBef>
                          <a:spcPts val="0"/>
                        </a:spcBef>
                        <a:spcAft>
                          <a:spcPts val="0"/>
                        </a:spcAft>
                        <a:buNone/>
                      </a:pPr>
                      <a:r>
                        <a:rPr lang="en-US" sz="800" u="none" strike="noStrike" cap="none" dirty="0">
                          <a:solidFill>
                            <a:srgbClr val="FFC000"/>
                          </a:solidFill>
                        </a:rPr>
                        <a:t>+-15min Req Pushback, Report Bay, Res No, POB</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09</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DOBMA/</a:t>
                      </a:r>
                    </a:p>
                    <a:p>
                      <a:pPr algn="ctr"/>
                      <a:r>
                        <a:rPr lang="en-US" sz="800" b="1" u="none" strike="noStrike" cap="none" dirty="0">
                          <a:solidFill>
                            <a:srgbClr val="0070C0"/>
                          </a:solidFill>
                        </a:rPr>
                        <a:t>EMTAS x A</a:t>
                      </a:r>
                      <a:endParaRPr lang="ko-Kore-KR" dirty="0"/>
                    </a:p>
                  </a:txBody>
                  <a:tcPr marL="36000" marR="36000" marT="36000" marB="36000" anchor="ctr"/>
                </a:tc>
                <a:tc gridSpan="2">
                  <a:txBody>
                    <a:bodyPr/>
                    <a:lstStyle/>
                    <a:p>
                      <a:pPr algn="ctr"/>
                      <a:r>
                        <a:rPr lang="en-US" sz="800" b="1" u="none" strike="noStrike" cap="none" dirty="0"/>
                        <a:t>HD 087 </a:t>
                      </a:r>
                      <a:r>
                        <a:rPr lang="en-US" sz="800" b="1" u="none" strike="noStrike" cap="none" dirty="0">
                          <a:solidFill>
                            <a:srgbClr val="0070C0"/>
                          </a:solidFill>
                        </a:rPr>
                        <a:t>ALT 9000 </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27</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DOBMA/</a:t>
                      </a:r>
                    </a:p>
                    <a:p>
                      <a:pPr algn="ctr"/>
                      <a:r>
                        <a:rPr lang="en-US" altLang="ko-Kore-KR" sz="800" b="1" u="none" strike="noStrike" cap="none" dirty="0">
                          <a:solidFill>
                            <a:srgbClr val="0070C0"/>
                          </a:solidFill>
                        </a:rPr>
                        <a:t>EMTAS x B </a:t>
                      </a:r>
                      <a:endParaRPr lang="ko-Kore-KR" dirty="0"/>
                    </a:p>
                  </a:txBody>
                  <a:tcPr marL="36000" marR="36000" marT="36000" marB="36000" anchor="ctr"/>
                </a:tc>
                <a:tc gridSpan="2">
                  <a:txBody>
                    <a:bodyPr/>
                    <a:lstStyle/>
                    <a:p>
                      <a:pPr algn="ctr"/>
                      <a:r>
                        <a:rPr lang="en-US" sz="800" b="1" u="none" strike="noStrike" cap="none" dirty="0"/>
                        <a:t>HD 267 </a:t>
                      </a:r>
                      <a:r>
                        <a:rPr lang="en-US" sz="800" b="1" u="none" strike="noStrike" cap="none" dirty="0">
                          <a:solidFill>
                            <a:srgbClr val="0070C0"/>
                          </a:solidFill>
                        </a:rPr>
                        <a:t>ALT FL240(ATC)  </a:t>
                      </a:r>
                      <a:endParaRPr lang="en-US" sz="800" b="1" u="none" strike="noStrike" cap="none" dirty="0">
                        <a:solidFill>
                          <a:srgbClr val="AA47F5"/>
                        </a:solidFill>
                      </a:endParaRP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BLI 116.2</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27 IDPS 110.3</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dirty="0"/>
                        <a:t>09 : BLI 087/6, R130</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218381178"/>
                  </a:ext>
                </a:extLst>
              </a:tr>
              <a:tr h="115700">
                <a:tc gridSpan="4">
                  <a:txBody>
                    <a:bodyPr/>
                    <a:lstStyle/>
                    <a:p>
                      <a:pPr marL="0" marR="0" lvl="0" indent="0" algn="ctr" rtl="0">
                        <a:spcBef>
                          <a:spcPts val="0"/>
                        </a:spcBef>
                        <a:spcAft>
                          <a:spcPts val="0"/>
                        </a:spcAft>
                        <a:buNone/>
                      </a:pPr>
                      <a:r>
                        <a:rPr lang="en-US" sz="800" b="1" dirty="0">
                          <a:solidFill>
                            <a:srgbClr val="C00000"/>
                          </a:solidFill>
                        </a:rPr>
                        <a:t>Caution </a:t>
                      </a:r>
                      <a:r>
                        <a:rPr lang="en-US" sz="800" b="1" dirty="0" err="1">
                          <a:solidFill>
                            <a:srgbClr val="C00000"/>
                          </a:solidFill>
                        </a:rPr>
                        <a:t>Interm</a:t>
                      </a:r>
                      <a:r>
                        <a:rPr lang="en-US" sz="800" b="1" dirty="0">
                          <a:solidFill>
                            <a:srgbClr val="C00000"/>
                          </a:solidFill>
                        </a:rPr>
                        <a:t> HP W/E</a:t>
                      </a:r>
                      <a:r>
                        <a:rPr lang="en-US" sz="800" dirty="0">
                          <a:solidFill>
                            <a:srgbClr val="7030A0"/>
                          </a:solidFill>
                        </a:rPr>
                        <a:t>, </a:t>
                      </a:r>
                      <a:r>
                        <a:rPr lang="en-US" sz="800" b="1" dirty="0">
                          <a:solidFill>
                            <a:srgbClr val="7030A0"/>
                          </a:solidFill>
                        </a:rPr>
                        <a:t>CPDLC Before DEP WAAF</a:t>
                      </a:r>
                      <a:endParaRPr b="1"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E5C24CF9-3914-1456-1571-D927392EB69E}"/>
              </a:ext>
            </a:extLst>
          </p:cNvPr>
          <p:cNvGraphicFramePr/>
          <p:nvPr>
            <p:extLst>
              <p:ext uri="{D42A27DB-BD31-4B8C-83A1-F6EECF244321}">
                <p14:modId xmlns:p14="http://schemas.microsoft.com/office/powerpoint/2010/main" val="2168695821"/>
              </p:ext>
            </p:extLst>
          </p:nvPr>
        </p:nvGraphicFramePr>
        <p:xfrm>
          <a:off x="-2501" y="9731"/>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WADD(DPS) 14ft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err="1"/>
                        <a:t>Gapaura</a:t>
                      </a:r>
                      <a:r>
                        <a:rPr lang="en-US" sz="800" dirty="0"/>
                        <a:t> Op Bali 131.95</a:t>
                      </a:r>
                      <a:endParaRPr sz="1200" dirty="0"/>
                    </a:p>
                    <a:p>
                      <a:pPr marL="0" marR="0" lvl="0" indent="0" algn="ctr" rtl="0">
                        <a:spcBef>
                          <a:spcPts val="0"/>
                        </a:spcBef>
                        <a:spcAft>
                          <a:spcPts val="0"/>
                        </a:spcAft>
                        <a:buNone/>
                      </a:pPr>
                      <a:r>
                        <a:rPr lang="en-US" altLang="ko-KR" sz="700" dirty="0">
                          <a:solidFill>
                            <a:srgbClr val="FF0000"/>
                          </a:solidFill>
                        </a:rPr>
                        <a:t>-20min, By Voice GND/TWR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3D32499-1BF0-C45B-6D3A-25FC014DB538}"/>
              </a:ext>
            </a:extLst>
          </p:cNvPr>
          <p:cNvSpPr/>
          <p:nvPr/>
        </p:nvSpPr>
        <p:spPr>
          <a:xfrm>
            <a:off x="884049" y="29374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0BC2B864-1A7E-B9DD-9123-C0DF1469A997}"/>
              </a:ext>
            </a:extLst>
          </p:cNvPr>
          <p:cNvSpPr txBox="1"/>
          <p:nvPr/>
        </p:nvSpPr>
        <p:spPr>
          <a:xfrm>
            <a:off x="1080621" y="2275893"/>
            <a:ext cx="1075615" cy="782778"/>
          </a:xfrm>
          <a:prstGeom prst="rect">
            <a:avLst/>
          </a:prstGeom>
          <a:noFill/>
        </p:spPr>
        <p:txBody>
          <a:bodyPr wrap="none" lIns="0" tIns="0" rIns="0" bIns="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a:t>
            </a:r>
          </a:p>
          <a:p>
            <a:pPr>
              <a:lnSpc>
                <a:spcPct val="150000"/>
              </a:lnSpc>
            </a:pPr>
            <a:r>
              <a:rPr kumimoji="1" lang="en-US" altLang="ko-KR" sz="700" b="1" dirty="0">
                <a:latin typeface="Gulim" panose="020B0600000101010101" pitchFamily="34" charset="-127"/>
                <a:ea typeface="Gulim" panose="020B0600000101010101" pitchFamily="34" charset="-127"/>
              </a:rPr>
              <a:t>CPDLC</a:t>
            </a:r>
          </a:p>
          <a:p>
            <a:pPr>
              <a:lnSpc>
                <a:spcPct val="150000"/>
              </a:lnSpc>
            </a:pPr>
            <a:r>
              <a:rPr kumimoji="1" lang="en-US" altLang="ko-KR" sz="700" b="1" dirty="0">
                <a:latin typeface="Gulim" panose="020B0600000101010101" pitchFamily="34" charset="-127"/>
                <a:ea typeface="Gulim" panose="020B0600000101010101" pitchFamily="34" charset="-127"/>
              </a:rPr>
              <a:t>- Before DEP WAAF</a:t>
            </a:r>
          </a:p>
          <a:p>
            <a:pPr>
              <a:lnSpc>
                <a:spcPct val="150000"/>
              </a:lnSpc>
            </a:pPr>
            <a:r>
              <a:rPr kumimoji="1" lang="en-US" altLang="ko-KR" sz="700" b="1" dirty="0">
                <a:latin typeface="Gulim" panose="020B0600000101010101" pitchFamily="34" charset="-127"/>
                <a:ea typeface="Gulim" panose="020B0600000101010101" pitchFamily="34" charset="-127"/>
              </a:rPr>
              <a:t>- GORAI 10-25min RPHI</a:t>
            </a:r>
          </a:p>
          <a:p>
            <a:pPr>
              <a:lnSpc>
                <a:spcPct val="150000"/>
              </a:lnSpc>
            </a:pPr>
            <a:r>
              <a:rPr kumimoji="1" lang="en-US" altLang="ko-KR" sz="700" b="1" dirty="0">
                <a:latin typeface="Gulim" panose="020B0600000101010101" pitchFamily="34" charset="-127"/>
                <a:ea typeface="Gulim" panose="020B0600000101010101" pitchFamily="34" charset="-127"/>
              </a:rPr>
              <a:t>- GURAG RJJJ</a:t>
            </a:r>
          </a:p>
        </p:txBody>
      </p:sp>
      <p:pic>
        <p:nvPicPr>
          <p:cNvPr id="12" name="그래픽 11" descr="집 Wi-Fi에서 작업 단색으로 채워진">
            <a:hlinkClick r:id="" action="ppaction://hlinkshowjump?jump=firstslide"/>
            <a:extLst>
              <a:ext uri="{FF2B5EF4-FFF2-40B4-BE49-F238E27FC236}">
                <a16:creationId xmlns:a16="http://schemas.microsoft.com/office/drawing/2014/main" id="{7C19F6FA-8D71-F2CF-BFB4-CECC2E0BAED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47179"/>
            <a:ext cx="457200" cy="457200"/>
          </a:xfrm>
          <a:prstGeom prst="rect">
            <a:avLst/>
          </a:prstGeom>
          <a:effectLst>
            <a:outerShdw blurRad="50800" dist="50800" dir="3660000" algn="ctr" rotWithShape="0">
              <a:schemeClr val="bg1">
                <a:alpha val="82714"/>
              </a:schemeClr>
            </a:outerShdw>
          </a:effectLst>
        </p:spPr>
      </p:pic>
      <p:pic>
        <p:nvPicPr>
          <p:cNvPr id="4" name="그림 3">
            <a:extLst>
              <a:ext uri="{FF2B5EF4-FFF2-40B4-BE49-F238E27FC236}">
                <a16:creationId xmlns:a16="http://schemas.microsoft.com/office/drawing/2014/main" id="{A885D743-EA40-D5EA-DD7C-BB3219EB31AC}"/>
              </a:ext>
            </a:extLst>
          </p:cNvPr>
          <p:cNvPicPr>
            <a:picLocks noChangeAspect="1"/>
          </p:cNvPicPr>
          <p:nvPr/>
        </p:nvPicPr>
        <p:blipFill>
          <a:blip r:embed="rId8"/>
          <a:stretch>
            <a:fillRect/>
          </a:stretch>
        </p:blipFill>
        <p:spPr>
          <a:xfrm>
            <a:off x="2522" y="2204818"/>
            <a:ext cx="998597" cy="626496"/>
          </a:xfrm>
          <a:prstGeom prst="rect">
            <a:avLst/>
          </a:prstGeom>
        </p:spPr>
      </p:pic>
      <p:graphicFrame>
        <p:nvGraphicFramePr>
          <p:cNvPr id="5" name="Google Shape;283;p17">
            <a:extLst>
              <a:ext uri="{FF2B5EF4-FFF2-40B4-BE49-F238E27FC236}">
                <a16:creationId xmlns:a16="http://schemas.microsoft.com/office/drawing/2014/main" id="{27E85F47-60BD-5CB9-692F-F7007C07EDFB}"/>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1218726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42237" y="2811754"/>
            <a:ext cx="2504212" cy="1017064"/>
          </a:xfrm>
          <a:prstGeom prst="rect">
            <a:avLst/>
          </a:prstGeom>
          <a:noFill/>
        </p:spPr>
        <p:txBody>
          <a:bodyPr wrap="none" tIns="36000" bIns="36000" rtlCol="0" anchor="ctr">
            <a:spAutoFit/>
          </a:bodyPr>
          <a:lstStyle/>
          <a:p>
            <a:pPr>
              <a:lnSpc>
                <a:spcPct val="150000"/>
              </a:lnSpc>
            </a:pPr>
            <a:r>
              <a:rPr kumimoji="1" lang="en-US" altLang="ko-Kore-KR" sz="700" b="1"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MONBO 15–45min VVHM  </a:t>
            </a:r>
            <a:endParaRPr kumimoji="1" lang="en-US" altLang="ko-Kore-KR" sz="700" b="1"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ETA KABAM(RTA) – ETA MIGUG</a:t>
            </a:r>
          </a:p>
          <a:p>
            <a:pPr>
              <a:lnSpc>
                <a:spcPct val="150000"/>
              </a:lnSpc>
            </a:pPr>
            <a:r>
              <a:rPr kumimoji="1" lang="en-US" altLang="ko-KR" sz="700" b="1" dirty="0">
                <a:latin typeface="Gulim" panose="020B0600000101010101" pitchFamily="34" charset="-127"/>
                <a:ea typeface="Gulim" panose="020B0600000101010101" pitchFamily="34" charset="-127"/>
              </a:rPr>
              <a:t>Report MAVRA, Report MIGUG</a:t>
            </a:r>
          </a:p>
          <a:p>
            <a:pPr>
              <a:lnSpc>
                <a:spcPct val="150000"/>
              </a:lnSpc>
            </a:pPr>
            <a:r>
              <a:rPr kumimoji="1" lang="en-US" altLang="ko-KR" sz="700" b="1" dirty="0">
                <a:latin typeface="Gulim" panose="020B0600000101010101" pitchFamily="34" charset="-127"/>
                <a:ea typeface="Gulim" panose="020B0600000101010101" pitchFamily="34" charset="-127"/>
              </a:rPr>
              <a:t>At MIGUG CTC HCM 120.7</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3455648541"/>
              </p:ext>
            </p:extLst>
          </p:nvPr>
        </p:nvGraphicFramePr>
        <p:xfrm>
          <a:off x="6883" y="4123699"/>
          <a:ext cx="2321979" cy="1426810"/>
        </p:xfrm>
        <a:graphic>
          <a:graphicData uri="http://schemas.openxmlformats.org/drawingml/2006/table">
            <a:tbl>
              <a:tblPr firstRow="1" bandRow="1">
                <a:noFill/>
                <a:tableStyleId>{A521BE36-7E6F-4EC9-8D66-1CF97A6895EC}</a:tableStyleId>
              </a:tblPr>
              <a:tblGrid>
                <a:gridCol w="352336">
                  <a:extLst>
                    <a:ext uri="{9D8B030D-6E8A-4147-A177-3AD203B41FA5}">
                      <a16:colId xmlns:a16="http://schemas.microsoft.com/office/drawing/2014/main" val="20000"/>
                    </a:ext>
                  </a:extLst>
                </a:gridCol>
                <a:gridCol w="857980">
                  <a:extLst>
                    <a:ext uri="{9D8B030D-6E8A-4147-A177-3AD203B41FA5}">
                      <a16:colId xmlns:a16="http://schemas.microsoft.com/office/drawing/2014/main" val="20001"/>
                    </a:ext>
                  </a:extLst>
                </a:gridCol>
                <a:gridCol w="715252">
                  <a:extLst>
                    <a:ext uri="{9D8B030D-6E8A-4147-A177-3AD203B41FA5}">
                      <a16:colId xmlns:a16="http://schemas.microsoft.com/office/drawing/2014/main" val="689142997"/>
                    </a:ext>
                  </a:extLst>
                </a:gridCol>
                <a:gridCol w="396411">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KTI </a:t>
                      </a:r>
                      <a:r>
                        <a:rPr lang="en-US" sz="800" dirty="0">
                          <a:solidFill>
                            <a:srgbClr val="00B0F0"/>
                          </a:solidFill>
                        </a:rPr>
                        <a:t>[048/228]</a:t>
                      </a:r>
                      <a:r>
                        <a:rPr lang="en-US" sz="800" dirty="0"/>
                        <a:t> : TL ATIS, UTC+7</a:t>
                      </a:r>
                      <a:endParaRPr lang="en-US" altLang="ko-KR" sz="800" dirty="0">
                        <a:solidFill>
                          <a:srgbClr val="FFC000"/>
                        </a:solidFill>
                      </a:endParaRPr>
                    </a:p>
                    <a:p>
                      <a:pPr marL="0" marR="0" lvl="0" indent="0" algn="ctr" rtl="0">
                        <a:spcBef>
                          <a:spcPts val="0"/>
                        </a:spcBef>
                        <a:spcAft>
                          <a:spcPts val="0"/>
                        </a:spcAft>
                        <a:buNone/>
                      </a:pPr>
                      <a:r>
                        <a:rPr lang="en-US" sz="800" b="0" dirty="0">
                          <a:solidFill>
                            <a:srgbClr val="FFC000"/>
                          </a:solidFill>
                        </a:rPr>
                        <a:t>Do not Confuse ANAT, ANAB, </a:t>
                      </a:r>
                      <a:r>
                        <a:rPr lang="en-US" sz="800" b="1" dirty="0">
                          <a:solidFill>
                            <a:srgbClr val="FF0000"/>
                          </a:solidFill>
                        </a:rPr>
                        <a:t>TCAS RA</a:t>
                      </a:r>
                      <a:endParaRPr sz="800" b="1" dirty="0">
                        <a:solidFill>
                          <a:srgbClr val="FF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05</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SUSEL/ELNAK </a:t>
                      </a:r>
                      <a:r>
                        <a:rPr lang="en-US" sz="800" b="1" dirty="0" err="1"/>
                        <a:t>xxD</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NULPI/IKOMO</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Z 05</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23</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SUSEL/ELNAK </a:t>
                      </a:r>
                      <a:r>
                        <a:rPr lang="en-US" sz="800" b="1" dirty="0" err="1"/>
                        <a:t>xxC</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AKPEG/LELUN </a:t>
                      </a:r>
                    </a:p>
                  </a:txBody>
                  <a:tcPr marL="36000" marR="36000" marT="36000" marB="36000" anchor="ctr"/>
                </a:tc>
                <a:tc>
                  <a:txBody>
                    <a:bodyPr/>
                    <a:lstStyle/>
                    <a:p>
                      <a:pPr algn="ctr"/>
                      <a:r>
                        <a:rPr lang="en-US" sz="800" b="1" dirty="0"/>
                        <a:t>ILS Z 23</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TIA,</a:t>
                      </a:r>
                      <a:r>
                        <a:rPr lang="en-US" sz="800" b="1" dirty="0">
                          <a:solidFill>
                            <a:srgbClr val="00B050"/>
                          </a:solidFill>
                        </a:rPr>
                        <a:t> </a:t>
                      </a:r>
                      <a:r>
                        <a:rPr lang="en-US" sz="800" b="1" dirty="0">
                          <a:solidFill>
                            <a:srgbClr val="C00000"/>
                          </a:solidFill>
                        </a:rPr>
                        <a:t>05 IKTA, 23 IKTI</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05 : </a:t>
                      </a:r>
                      <a:r>
                        <a:rPr lang="en-US" sz="800" b="1" dirty="0">
                          <a:solidFill>
                            <a:srgbClr val="0070C0"/>
                          </a:solidFill>
                        </a:rPr>
                        <a:t>A5(6562’), A6(7677’)</a:t>
                      </a:r>
                      <a:r>
                        <a:rPr lang="en-US" sz="800" b="1" dirty="0">
                          <a:solidFill>
                            <a:schemeClr val="bg1"/>
                          </a:solidFill>
                        </a:rPr>
                        <a:t>, 23 </a:t>
                      </a:r>
                      <a:r>
                        <a:rPr lang="en-US" altLang="ko-Kore-KR" sz="800" b="1" dirty="0">
                          <a:solidFill>
                            <a:schemeClr val="bg1"/>
                          </a:solidFill>
                        </a:rPr>
                        <a:t>: </a:t>
                      </a:r>
                      <a:r>
                        <a:rPr lang="en-US" altLang="ko-Kore-KR" sz="800" b="1" dirty="0">
                          <a:solidFill>
                            <a:srgbClr val="0070C0"/>
                          </a:solidFill>
                        </a:rPr>
                        <a:t>A4(6562’), A3(7677’)</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Rapid Exit, Non-Grooved RWY</a:t>
                      </a:r>
                      <a:endParaRPr lang="en-US" altLang="ko-K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AA47F5"/>
                          </a:solidFill>
                        </a:rPr>
                        <a:t>Caution Complex Lead Line into MARS</a:t>
                      </a:r>
                      <a:r>
                        <a:rPr lang="en-US" sz="800" b="1" dirty="0">
                          <a:solidFill>
                            <a:srgbClr val="0070C0"/>
                          </a:solidFill>
                        </a:rPr>
                        <a:t>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864086184"/>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VDTI(KTI)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Techo</a:t>
                      </a:r>
                      <a:r>
                        <a:rPr lang="en-US" sz="900" dirty="0"/>
                        <a:t> DIS 129.0</a:t>
                      </a:r>
                    </a:p>
                    <a:p>
                      <a:pPr marL="0" marR="0" lvl="0" indent="0" algn="ctr" rtl="0">
                        <a:spcBef>
                          <a:spcPts val="0"/>
                        </a:spcBef>
                        <a:spcAft>
                          <a:spcPts val="0"/>
                        </a:spcAft>
                        <a:buNone/>
                      </a:pPr>
                      <a:r>
                        <a:rPr lang="en-US" sz="800" b="1" dirty="0">
                          <a:solidFill>
                            <a:srgbClr val="00B05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304DB22-750F-4097-365B-79B389FA238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EF9992-AF81-001B-CCA2-F3309D2FDCF9}"/>
              </a:ext>
            </a:extLst>
          </p:cNvPr>
          <p:cNvGraphicFramePr/>
          <p:nvPr>
            <p:extLst>
              <p:ext uri="{D42A27DB-BD31-4B8C-83A1-F6EECF244321}">
                <p14:modId xmlns:p14="http://schemas.microsoft.com/office/powerpoint/2010/main" val="3963641945"/>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23C5656-F0A2-2385-7D2B-CB2D9225E22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516132"/>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4169301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940138562"/>
              </p:ext>
            </p:extLst>
          </p:nvPr>
        </p:nvGraphicFramePr>
        <p:xfrm>
          <a:off x="-15808" y="580010"/>
          <a:ext cx="2349161" cy="1403441"/>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441564">
                  <a:extLst>
                    <a:ext uri="{9D8B030D-6E8A-4147-A177-3AD203B41FA5}">
                      <a16:colId xmlns:a16="http://schemas.microsoft.com/office/drawing/2014/main" val="20002"/>
                    </a:ext>
                  </a:extLst>
                </a:gridCol>
                <a:gridCol w="147154">
                  <a:extLst>
                    <a:ext uri="{9D8B030D-6E8A-4147-A177-3AD203B41FA5}">
                      <a16:colId xmlns:a16="http://schemas.microsoft.com/office/drawing/2014/main" val="598001574"/>
                    </a:ext>
                  </a:extLst>
                </a:gridCol>
                <a:gridCol w="635899">
                  <a:extLst>
                    <a:ext uri="{9D8B030D-6E8A-4147-A177-3AD203B41FA5}">
                      <a16:colId xmlns:a16="http://schemas.microsoft.com/office/drawing/2014/main" val="20004"/>
                    </a:ext>
                  </a:extLst>
                </a:gridCol>
                <a:gridCol w="783054">
                  <a:extLst>
                    <a:ext uri="{9D8B030D-6E8A-4147-A177-3AD203B41FA5}">
                      <a16:colId xmlns:a16="http://schemas.microsoft.com/office/drawing/2014/main" val="3334668455"/>
                    </a:ext>
                  </a:extLst>
                </a:gridCol>
              </a:tblGrid>
              <a:tr h="297551">
                <a:tc gridSpan="5">
                  <a:txBody>
                    <a:bodyPr/>
                    <a:lstStyle/>
                    <a:p>
                      <a:pPr marL="0" marR="0" lvl="0" indent="0" algn="ctr" rtl="0">
                        <a:spcBef>
                          <a:spcPts val="0"/>
                        </a:spcBef>
                        <a:spcAft>
                          <a:spcPts val="0"/>
                        </a:spcAft>
                        <a:buNone/>
                      </a:pPr>
                      <a:r>
                        <a:rPr lang="en-US" sz="800" u="none" strike="noStrike" cap="none" dirty="0"/>
                        <a:t>KTI : RNAV SID (NADP 1) TA 10000’</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80290">
                <a:tc>
                  <a:txBody>
                    <a:bodyPr/>
                    <a:lstStyle/>
                    <a:p>
                      <a:pPr marL="0" marR="0" lvl="0" indent="0" algn="ctr" rtl="0">
                        <a:spcBef>
                          <a:spcPts val="0"/>
                        </a:spcBef>
                        <a:spcAft>
                          <a:spcPts val="0"/>
                        </a:spcAft>
                        <a:buNone/>
                      </a:pPr>
                      <a:r>
                        <a:rPr lang="en-US" altLang="ko-KR" sz="800" b="1" u="none" strike="noStrike" cap="none" dirty="0"/>
                        <a:t>0</a:t>
                      </a:r>
                      <a:r>
                        <a:rPr lang="en-US" sz="800" b="1" u="none" strike="noStrike" cap="none" dirty="0"/>
                        <a:t>5</a:t>
                      </a:r>
                      <a:endParaRPr lang="en-US" sz="800" b="0" u="none" strike="noStrike" cap="none" dirty="0"/>
                    </a:p>
                  </a:txBody>
                  <a:tcPr marL="36000" marR="36000" marT="36000" marB="36000" anchor="ctr"/>
                </a:tc>
                <a:tc rowSpan="2" gridSpan="2">
                  <a:txBody>
                    <a:bodyPr/>
                    <a:lstStyle/>
                    <a:p>
                      <a:pPr algn="ctr"/>
                      <a:r>
                        <a:rPr lang="en-US" sz="800" b="1" u="none" strike="noStrike" cap="none" dirty="0">
                          <a:solidFill>
                            <a:srgbClr val="0070C0"/>
                          </a:solidFill>
                        </a:rPr>
                        <a:t>ELNAK xx</a:t>
                      </a:r>
                    </a:p>
                    <a:p>
                      <a:pPr algn="ctr"/>
                      <a:r>
                        <a:rPr lang="en-US" altLang="ko-Kore-KR" sz="800" b="1" u="none" strike="noStrike" cap="none" dirty="0">
                          <a:solidFill>
                            <a:srgbClr val="0070C0"/>
                          </a:solidFill>
                        </a:rPr>
                        <a:t>SUSEL xx</a:t>
                      </a:r>
                      <a:endParaRPr lang="ko-Kore-KR" altLang="en-US" dirty="0"/>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048 </a:t>
                      </a:r>
                      <a:r>
                        <a:rPr lang="en-US" sz="800" b="1" u="none" strike="noStrike" cap="none" dirty="0">
                          <a:solidFill>
                            <a:srgbClr val="0070C0"/>
                          </a:solidFill>
                        </a:rPr>
                        <a:t>ATC (6000) FL170 </a:t>
                      </a:r>
                    </a:p>
                    <a:p>
                      <a:pPr marL="0" marR="0" lvl="0" indent="0" algn="ctr" rtl="0">
                        <a:spcBef>
                          <a:spcPts val="0"/>
                        </a:spcBef>
                        <a:spcAft>
                          <a:spcPts val="0"/>
                        </a:spcAft>
                        <a:buNone/>
                      </a:pPr>
                      <a:r>
                        <a:rPr lang="en-US" sz="800" b="1" u="none" strike="noStrike" cap="none" dirty="0">
                          <a:solidFill>
                            <a:srgbClr val="AA47F5"/>
                          </a:solidFill>
                        </a:rPr>
                        <a:t>SPD 230 </a:t>
                      </a:r>
                      <a:r>
                        <a:rPr lang="en-US" altLang="ko-Kore-KR" sz="800" b="1" u="none" strike="noStrike" cap="none" dirty="0">
                          <a:solidFill>
                            <a:srgbClr val="F28943"/>
                          </a:solidFill>
                        </a:rPr>
                        <a:t>TA 10000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72093">
                <a:tc>
                  <a:txBody>
                    <a:bodyPr/>
                    <a:lstStyle/>
                    <a:p>
                      <a:pPr marL="0" marR="0" lvl="0" indent="0" algn="ctr" rtl="0">
                        <a:spcBef>
                          <a:spcPts val="0"/>
                        </a:spcBef>
                        <a:spcAft>
                          <a:spcPts val="0"/>
                        </a:spcAft>
                        <a:buNone/>
                      </a:pPr>
                      <a:r>
                        <a:rPr lang="en-US" altLang="ko-KR" sz="800" b="1" u="none" strike="noStrike" cap="none" dirty="0"/>
                        <a:t>23</a:t>
                      </a:r>
                      <a:endParaRPr sz="800" b="0" u="none" strike="noStrike" cap="none" dirty="0"/>
                    </a:p>
                  </a:txBody>
                  <a:tcPr marL="36000" marR="36000" marT="36000" marB="36000" anchor="ctr"/>
                </a:tc>
                <a:tc gridSpan="2" vMerge="1">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xxE</a:t>
                      </a:r>
                      <a:r>
                        <a:rPr lang="en-US" altLang="ko-Kore-KR" sz="800" b="1" u="none" strike="noStrike" cap="none" dirty="0">
                          <a:solidFill>
                            <a:srgbClr val="0070C0"/>
                          </a:solidFill>
                        </a:rPr>
                        <a:t>/A</a:t>
                      </a:r>
                      <a:endParaRPr lang="ko-Kore-KR" dirty="0"/>
                    </a:p>
                  </a:txBody>
                  <a:tcPr marL="36000" marR="36000" marT="36000" marB="36000" anchor="ctr"/>
                </a:tc>
                <a:tc hMerge="1" vMerge="1">
                  <a:txBody>
                    <a:bodyPr/>
                    <a:lstStyle/>
                    <a:p>
                      <a:endParaRPr lang="ko-Kore-KR" altLang="en-US" dirty="0"/>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sz="800" b="1" u="none" strike="noStrike" cap="none" dirty="0"/>
                        <a:t>HD 228 </a:t>
                      </a:r>
                      <a:r>
                        <a:rPr lang="en-US" sz="800" b="1" u="none" strike="noStrike" cap="none" dirty="0">
                          <a:solidFill>
                            <a:srgbClr val="0070C0"/>
                          </a:solidFill>
                        </a:rPr>
                        <a:t>ATC(6000) </a:t>
                      </a:r>
                      <a:r>
                        <a:rPr lang="en-US" altLang="ko-Kore-KR" sz="800" b="1" u="none" strike="noStrike" cap="none" dirty="0">
                          <a:solidFill>
                            <a:srgbClr val="AA47F5"/>
                          </a:solidFill>
                        </a:rPr>
                        <a:t>SPD 230</a:t>
                      </a:r>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u="none" strike="noStrike" cap="none" dirty="0">
                          <a:solidFill>
                            <a:srgbClr val="F28943"/>
                          </a:solidFill>
                        </a:rPr>
                        <a:t>TA 10000</a:t>
                      </a:r>
                      <a:endParaRPr lang="ko-Kore-KR" altLang="en-US" sz="6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7209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TIA 111.0</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 IKTI 110.1</a:t>
                      </a: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 IKTA 108.75</a:t>
                      </a:r>
                    </a:p>
                  </a:txBody>
                  <a:tcPr marL="36000" marR="36000" marT="36000" marB="36000" anchor="ctr"/>
                </a:tc>
                <a:extLst>
                  <a:ext uri="{0D108BD9-81ED-4DB2-BD59-A6C34878D82A}">
                    <a16:rowId xmlns:a16="http://schemas.microsoft.com/office/drawing/2014/main" val="10003"/>
                  </a:ext>
                </a:extLst>
              </a:tr>
              <a:tr h="28029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RWY23 Do not Overshoot B17</a:t>
                      </a:r>
                      <a:endParaRPr lang="en-US" sz="800" b="1" u="none" strike="noStrike" cap="none" dirty="0">
                        <a:solidFill>
                          <a:schemeClr val="tx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717440997"/>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VDTI(KTI)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err="1">
                          <a:solidFill>
                            <a:schemeClr val="bg1"/>
                          </a:solidFill>
                        </a:rPr>
                        <a:t>Techo</a:t>
                      </a:r>
                      <a:r>
                        <a:rPr lang="en-US" sz="800" dirty="0">
                          <a:solidFill>
                            <a:schemeClr val="bg1"/>
                          </a:solidFill>
                        </a:rPr>
                        <a:t> DIS 129.0</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-10min</a:t>
                      </a:r>
                      <a:r>
                        <a:rPr lang="ko-KR" altLang="en-US" sz="700" dirty="0">
                          <a:solidFill>
                            <a:srgbClr val="FF0000"/>
                          </a:solidFill>
                        </a:rPr>
                        <a:t> </a:t>
                      </a:r>
                      <a:r>
                        <a:rPr lang="en-US" altLang="ko-KR" sz="700" dirty="0">
                          <a:solidFill>
                            <a:srgbClr val="FF0000"/>
                          </a:solidFill>
                        </a:rPr>
                        <a:t>GND 121.9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58973" y="2097526"/>
            <a:ext cx="1718740" cy="1340230"/>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APP 123.8</a:t>
            </a:r>
          </a:p>
          <a:p>
            <a:pPr>
              <a:lnSpc>
                <a:spcPct val="150000"/>
              </a:lnSpc>
            </a:pPr>
            <a:r>
              <a:rPr kumimoji="1" lang="en-US" altLang="ko-KR" sz="700" b="1" dirty="0">
                <a:latin typeface="Gulim" panose="020B0600000101010101" pitchFamily="34" charset="-127"/>
                <a:ea typeface="Gulim" panose="020B0600000101010101" pitchFamily="34" charset="-127"/>
              </a:rPr>
              <a:t>CPDLC  - AKOTA 15-45min VVHM </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 POTIB 10-25min RPHI</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ETA ARESI</a:t>
            </a:r>
          </a:p>
          <a:p>
            <a:pPr>
              <a:lnSpc>
                <a:spcPct val="150000"/>
              </a:lnSpc>
            </a:pPr>
            <a:r>
              <a:rPr kumimoji="1" lang="en-US" altLang="ko-Kore-KR" sz="700" b="1" dirty="0">
                <a:latin typeface="Gulim" panose="020B0600000101010101" pitchFamily="34" charset="-127"/>
                <a:ea typeface="Gulim" panose="020B0600000101010101" pitchFamily="34" charset="-127"/>
              </a:rPr>
              <a:t>MNL RDO 8942/5655 At ARESI </a:t>
            </a:r>
          </a:p>
          <a:p>
            <a:pPr>
              <a:lnSpc>
                <a:spcPct val="150000"/>
              </a:lnSpc>
            </a:pPr>
            <a:r>
              <a:rPr kumimoji="1" lang="en-US" altLang="ko-Kore-KR" sz="700" b="1" dirty="0">
                <a:latin typeface="Gulim" panose="020B0600000101010101" pitchFamily="34" charset="-127"/>
                <a:ea typeface="Gulim" panose="020B0600000101010101" pitchFamily="34" charset="-127"/>
              </a:rPr>
              <a:t>MNL 119.3 At AKOTA </a:t>
            </a:r>
          </a:p>
          <a:p>
            <a:pPr>
              <a:lnSpc>
                <a:spcPct val="150000"/>
              </a:lnSpc>
            </a:pPr>
            <a:r>
              <a:rPr kumimoji="1" lang="en-US" altLang="ko-KR" sz="700" b="1" dirty="0">
                <a:latin typeface="Gulim" panose="020B0600000101010101" pitchFamily="34" charset="-127"/>
                <a:ea typeface="Gulim" panose="020B0600000101010101" pitchFamily="34" charset="-127"/>
              </a:rPr>
              <a:t>ETA POTIB</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A271B0A-E414-C9F5-151D-200BBB86EC5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10" name="그래픽 9" descr="집 Wi-Fi에서 작업 단색으로 채워진">
            <a:hlinkClick r:id="" action="ppaction://hlinkshowjump?jump=firstslide"/>
            <a:extLst>
              <a:ext uri="{FF2B5EF4-FFF2-40B4-BE49-F238E27FC236}">
                <a16:creationId xmlns:a16="http://schemas.microsoft.com/office/drawing/2014/main" id="{C9F481C6-C01C-4F73-A549-FCB9F933ACC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460"/>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D3CF3225-7BEB-B30D-440D-047BFAC9BC83}"/>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6359318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2501" y="2824124"/>
            <a:ext cx="689612" cy="209151"/>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 </a:t>
            </a:r>
            <a:endParaRPr kumimoji="1" lang="en-US" altLang="ko-KR" sz="700" b="1"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3474712196"/>
              </p:ext>
            </p:extLst>
          </p:nvPr>
        </p:nvGraphicFramePr>
        <p:xfrm>
          <a:off x="-2501" y="3523141"/>
          <a:ext cx="2327659" cy="154873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782392">
                  <a:extLst>
                    <a:ext uri="{9D8B030D-6E8A-4147-A177-3AD203B41FA5}">
                      <a16:colId xmlns:a16="http://schemas.microsoft.com/office/drawing/2014/main" val="20001"/>
                    </a:ext>
                  </a:extLst>
                </a:gridCol>
                <a:gridCol w="550869">
                  <a:extLst>
                    <a:ext uri="{9D8B030D-6E8A-4147-A177-3AD203B41FA5}">
                      <a16:colId xmlns:a16="http://schemas.microsoft.com/office/drawing/2014/main" val="502366202"/>
                    </a:ext>
                  </a:extLst>
                </a:gridCol>
                <a:gridCol w="629851">
                  <a:extLst>
                    <a:ext uri="{9D8B030D-6E8A-4147-A177-3AD203B41FA5}">
                      <a16:colId xmlns:a16="http://schemas.microsoft.com/office/drawing/2014/main" val="992510185"/>
                    </a:ext>
                  </a:extLst>
                </a:gridCol>
              </a:tblGrid>
              <a:tr h="250971">
                <a:tc gridSpan="4">
                  <a:txBody>
                    <a:bodyPr/>
                    <a:lstStyle/>
                    <a:p>
                      <a:pPr marL="0" marR="0" lvl="0" indent="0" algn="ctr" rtl="0">
                        <a:spcBef>
                          <a:spcPts val="0"/>
                        </a:spcBef>
                        <a:spcAft>
                          <a:spcPts val="0"/>
                        </a:spcAft>
                        <a:buNone/>
                      </a:pPr>
                      <a:r>
                        <a:rPr lang="en-US" sz="800" dirty="0"/>
                        <a:t>TPE </a:t>
                      </a:r>
                      <a:r>
                        <a:rPr lang="en-US" sz="800" dirty="0">
                          <a:solidFill>
                            <a:srgbClr val="00B0F0"/>
                          </a:solidFill>
                        </a:rPr>
                        <a:t>[054/234]</a:t>
                      </a:r>
                      <a:r>
                        <a:rPr lang="en-US" sz="800" dirty="0"/>
                        <a:t> : TL130 </a:t>
                      </a:r>
                      <a:r>
                        <a:rPr lang="en-US" sz="800" dirty="0">
                          <a:solidFill>
                            <a:schemeClr val="accent4"/>
                          </a:solidFill>
                        </a:rPr>
                        <a:t>COPRA FL200 (</a:t>
                      </a:r>
                      <a:r>
                        <a:rPr lang="en-US" sz="800" b="0" dirty="0">
                          <a:solidFill>
                            <a:srgbClr val="FFC000"/>
                          </a:solidFill>
                        </a:rPr>
                        <a:t>FL250-130 : 280kts, FL130-10000ft : Max 280kts, APP Chart Text)</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2316">
                <a:tc>
                  <a:txBody>
                    <a:bodyPr/>
                    <a:lstStyle/>
                    <a:p>
                      <a:pPr marL="0" marR="0" lvl="0" indent="0" algn="ctr" rtl="0">
                        <a:spcBef>
                          <a:spcPts val="0"/>
                        </a:spcBef>
                        <a:spcAft>
                          <a:spcPts val="0"/>
                        </a:spcAft>
                        <a:buNone/>
                      </a:pPr>
                      <a:r>
                        <a:rPr lang="en-US" altLang="ko-KR" sz="800" b="1" dirty="0"/>
                        <a:t>05</a:t>
                      </a:r>
                      <a:r>
                        <a:rPr lang="en-US" sz="800" b="1" dirty="0"/>
                        <a:t>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BAKER xx A</a:t>
                      </a:r>
                      <a:endParaRPr lang="en-US" sz="700" b="1" dirty="0"/>
                    </a:p>
                  </a:txBody>
                  <a:tcPr marL="36000" marR="36000" marT="36000" marB="36000" anchor="ctr"/>
                </a:tc>
                <a:tc>
                  <a:txBody>
                    <a:bodyPr/>
                    <a:lstStyle/>
                    <a:p>
                      <a:pPr algn="ctr"/>
                      <a:r>
                        <a:rPr lang="en-US" altLang="ko-Kore-KR" sz="800" b="1" dirty="0"/>
                        <a:t>JAMMY</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ILS 05L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145153">
                <a:tc>
                  <a:txBody>
                    <a:bodyPr/>
                    <a:lstStyle/>
                    <a:p>
                      <a:pPr marL="0" marR="0" lvl="0" indent="0" algn="ctr" rtl="0">
                        <a:spcBef>
                          <a:spcPts val="0"/>
                        </a:spcBef>
                        <a:spcAft>
                          <a:spcPts val="0"/>
                        </a:spcAft>
                        <a:buNone/>
                      </a:pPr>
                      <a:r>
                        <a:rPr lang="en-US" altLang="ko-KR" sz="800" b="1" dirty="0"/>
                        <a:t>23</a:t>
                      </a:r>
                      <a:r>
                        <a:rPr lang="en-US" sz="800" b="1" dirty="0"/>
                        <a:t>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BAKER xx B</a:t>
                      </a:r>
                      <a:endParaRPr lang="en-US" altLang="ko-Kore-KR" sz="800" b="1"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AUGUR</a:t>
                      </a:r>
                      <a:endParaRPr lang="ko-Kore-KR" altLang="en-US" dirty="0"/>
                    </a:p>
                  </a:txBody>
                  <a:tcPr marL="36000" marR="36000" marT="36000" marB="36000" anchor="ctr"/>
                </a:tc>
                <a:tc>
                  <a:txBody>
                    <a:bodyPr/>
                    <a:lstStyle/>
                    <a:p>
                      <a:pPr algn="ctr"/>
                      <a:r>
                        <a:rPr lang="en-US" sz="800" b="1" dirty="0"/>
                        <a:t>ILS 23R</a:t>
                      </a:r>
                      <a:r>
                        <a:rPr lang="en-US" sz="800" b="0" dirty="0"/>
                        <a:t>/L</a:t>
                      </a:r>
                      <a:endParaRPr lang="ko-Kore-KR" altLang="en-US" b="0" dirty="0"/>
                    </a:p>
                  </a:txBody>
                  <a:tcPr marL="36000" marR="36000" marT="36000" marB="36000" anchor="ctr"/>
                </a:tc>
                <a:extLst>
                  <a:ext uri="{0D108BD9-81ED-4DB2-BD59-A6C34878D82A}">
                    <a16:rowId xmlns:a16="http://schemas.microsoft.com/office/drawing/2014/main" val="10002"/>
                  </a:ext>
                </a:extLst>
              </a:tr>
              <a:tr h="145153">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VOR, </a:t>
                      </a:r>
                      <a:r>
                        <a:rPr lang="en-US" sz="800" b="1" dirty="0">
                          <a:solidFill>
                            <a:srgbClr val="C00000"/>
                          </a:solidFill>
                        </a:rPr>
                        <a:t>05L ITIA, 23R ITYA, 05R ICKS, 23L ICJN</a:t>
                      </a:r>
                    </a:p>
                  </a:txBody>
                  <a:tcPr marL="0" marR="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3641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05L : N7(5787’), N8(7411’),  23R : N4(6656’), N3(9340’)</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a:t>
                      </a:r>
                      <a:r>
                        <a:rPr lang="en-US" sz="800" b="1" dirty="0">
                          <a:solidFill>
                            <a:srgbClr val="C00000"/>
                          </a:solidFill>
                        </a:rPr>
                        <a:t>DIS</a:t>
                      </a:r>
                      <a:r>
                        <a:rPr lang="en-US" sz="800" b="1" dirty="0">
                          <a:solidFill>
                            <a:schemeClr val="dk1"/>
                          </a:solidFill>
                        </a:rPr>
                        <a:t>:S6(5419’),S7(7244’),23L</a:t>
                      </a:r>
                      <a:r>
                        <a:rPr lang="en-US" sz="800" b="1" dirty="0">
                          <a:solidFill>
                            <a:srgbClr val="C00000"/>
                          </a:solidFill>
                        </a:rPr>
                        <a:t>DIS</a:t>
                      </a:r>
                      <a:r>
                        <a:rPr lang="en-US" sz="800" b="1" dirty="0">
                          <a:solidFill>
                            <a:schemeClr val="dk1"/>
                          </a:solidFill>
                        </a:rPr>
                        <a:t>:S5(5442’),S4(7470’)</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451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No VOR at TPE</a:t>
                      </a:r>
                      <a:r>
                        <a:rPr lang="en-US" sz="800" b="1" dirty="0">
                          <a:solidFill>
                            <a:srgbClr val="C00000"/>
                          </a:solidFill>
                        </a:rPr>
                        <a:t>, A-VDGS see below</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B050"/>
                          </a:solidFill>
                        </a:rPr>
                        <a:t>Center Green, </a:t>
                      </a:r>
                      <a:r>
                        <a:rPr lang="en-US" sz="800" b="1" dirty="0">
                          <a:solidFill>
                            <a:srgbClr val="C00000"/>
                          </a:solidFill>
                        </a:rPr>
                        <a:t>Deviation by Arrow,</a:t>
                      </a:r>
                      <a:r>
                        <a:rPr lang="en-US" sz="800" b="1" dirty="0">
                          <a:solidFill>
                            <a:srgbClr val="00B050"/>
                          </a:solidFill>
                        </a:rPr>
                        <a:t> </a:t>
                      </a:r>
                      <a:r>
                        <a:rPr lang="en-US" sz="800" b="1" dirty="0">
                          <a:solidFill>
                            <a:srgbClr val="F28943"/>
                          </a:solidFill>
                        </a:rPr>
                        <a:t>Distance Yellow</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579294130"/>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Dynasty Operation 131.3</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70852D-DC5C-881C-39DB-E6EA2011E0C7}"/>
              </a:ext>
            </a:extLst>
          </p:cNvPr>
          <p:cNvGraphicFramePr/>
          <p:nvPr>
            <p:extLst>
              <p:ext uri="{D42A27DB-BD31-4B8C-83A1-F6EECF244321}">
                <p14:modId xmlns:p14="http://schemas.microsoft.com/office/powerpoint/2010/main" val="2020466050"/>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01D93FA4-FA06-DBB2-6430-29E387D3E58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8026"/>
            <a:ext cx="457200" cy="457200"/>
          </a:xfrm>
          <a:prstGeom prst="rect">
            <a:avLst/>
          </a:prstGeom>
          <a:effectLst>
            <a:outerShdw blurRad="50800" dist="50800" dir="3660000" algn="ctr" rotWithShape="0">
              <a:schemeClr val="bg1">
                <a:alpha val="82714"/>
              </a:schemeClr>
            </a:outerShdw>
          </a:effectLst>
        </p:spPr>
      </p:pic>
      <p:pic>
        <p:nvPicPr>
          <p:cNvPr id="1026" name="Picture 2">
            <a:extLst>
              <a:ext uri="{FF2B5EF4-FFF2-40B4-BE49-F238E27FC236}">
                <a16:creationId xmlns:a16="http://schemas.microsoft.com/office/drawing/2014/main" id="{FBE1AC80-6BA0-7BB6-1502-6019541141A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54757" y="5108359"/>
            <a:ext cx="1833674" cy="4574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96950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1034066550"/>
              </p:ext>
            </p:extLst>
          </p:nvPr>
        </p:nvGraphicFramePr>
        <p:xfrm>
          <a:off x="-4046" y="586900"/>
          <a:ext cx="2333616" cy="1354810"/>
        </p:xfrm>
        <a:graphic>
          <a:graphicData uri="http://schemas.openxmlformats.org/drawingml/2006/table">
            <a:tbl>
              <a:tblPr firstRow="1" bandRow="1">
                <a:noFill/>
                <a:tableStyleId>{A521BE36-7E6F-4EC9-8D66-1CF97A6895EC}</a:tableStyleId>
              </a:tblPr>
              <a:tblGrid>
                <a:gridCol w="328558">
                  <a:extLst>
                    <a:ext uri="{9D8B030D-6E8A-4147-A177-3AD203B41FA5}">
                      <a16:colId xmlns:a16="http://schemas.microsoft.com/office/drawing/2014/main" val="20000"/>
                    </a:ext>
                  </a:extLst>
                </a:gridCol>
                <a:gridCol w="246255">
                  <a:extLst>
                    <a:ext uri="{9D8B030D-6E8A-4147-A177-3AD203B41FA5}">
                      <a16:colId xmlns:a16="http://schemas.microsoft.com/office/drawing/2014/main" val="20002"/>
                    </a:ext>
                  </a:extLst>
                </a:gridCol>
                <a:gridCol w="509735">
                  <a:extLst>
                    <a:ext uri="{9D8B030D-6E8A-4147-A177-3AD203B41FA5}">
                      <a16:colId xmlns:a16="http://schemas.microsoft.com/office/drawing/2014/main" val="3074145424"/>
                    </a:ext>
                  </a:extLst>
                </a:gridCol>
                <a:gridCol w="65078">
                  <a:extLst>
                    <a:ext uri="{9D8B030D-6E8A-4147-A177-3AD203B41FA5}">
                      <a16:colId xmlns:a16="http://schemas.microsoft.com/office/drawing/2014/main" val="20005"/>
                    </a:ext>
                  </a:extLst>
                </a:gridCol>
                <a:gridCol w="609178">
                  <a:extLst>
                    <a:ext uri="{9D8B030D-6E8A-4147-A177-3AD203B41FA5}">
                      <a16:colId xmlns:a16="http://schemas.microsoft.com/office/drawing/2014/main" val="1340331702"/>
                    </a:ext>
                  </a:extLst>
                </a:gridCol>
                <a:gridCol w="574812">
                  <a:extLst>
                    <a:ext uri="{9D8B030D-6E8A-4147-A177-3AD203B41FA5}">
                      <a16:colId xmlns:a16="http://schemas.microsoft.com/office/drawing/2014/main" val="456264174"/>
                    </a:ext>
                  </a:extLst>
                </a:gridCol>
              </a:tblGrid>
              <a:tr h="0">
                <a:tc gridSpan="6">
                  <a:txBody>
                    <a:bodyPr/>
                    <a:lstStyle/>
                    <a:p>
                      <a:pPr marL="0" marR="0" lvl="0" indent="0" algn="ctr" rtl="0">
                        <a:spcBef>
                          <a:spcPts val="0"/>
                        </a:spcBef>
                        <a:spcAft>
                          <a:spcPts val="0"/>
                        </a:spcAft>
                        <a:buNone/>
                      </a:pPr>
                      <a:r>
                        <a:rPr lang="en-US" sz="800" u="none" strike="noStrike" cap="none" dirty="0"/>
                        <a:t>TPE : RNAV SID (NADP 1) TA 11000</a:t>
                      </a:r>
                    </a:p>
                    <a:p>
                      <a:pPr marL="0" marR="0" lvl="0" indent="0" algn="ctr" rtl="0">
                        <a:spcBef>
                          <a:spcPts val="0"/>
                        </a:spcBef>
                        <a:spcAft>
                          <a:spcPts val="0"/>
                        </a:spcAft>
                        <a:buNone/>
                      </a:pPr>
                      <a:r>
                        <a:rPr lang="en-US" sz="800" u="none" strike="noStrike" cap="none" dirty="0">
                          <a:solidFill>
                            <a:schemeClr val="accent4"/>
                          </a:solidFill>
                        </a:rPr>
                        <a:t>Be Ready Intersection T/O, A030 -&gt; 3000ft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05R</a:t>
                      </a:r>
                      <a:r>
                        <a:rPr lang="en-US" sz="800" b="0" u="none" strike="noStrike" cap="none" dirty="0"/>
                        <a:t>/L</a:t>
                      </a:r>
                    </a:p>
                  </a:txBody>
                  <a:tcPr marL="36000" marR="36000" marT="36000" marB="36000" anchor="ctr"/>
                </a:tc>
                <a:tc gridSpan="2">
                  <a:txBody>
                    <a:bodyPr/>
                    <a:lstStyle/>
                    <a:p>
                      <a:pPr algn="ctr"/>
                      <a:r>
                        <a:rPr lang="en-US" sz="800" b="1" u="none" strike="noStrike" cap="none" dirty="0">
                          <a:solidFill>
                            <a:srgbClr val="0070C0"/>
                          </a:solidFill>
                        </a:rPr>
                        <a:t>PIANO </a:t>
                      </a:r>
                      <a:r>
                        <a:rPr lang="en-US" sz="800" b="1" u="none" strike="noStrike" cap="none" dirty="0" err="1">
                          <a:solidFill>
                            <a:srgbClr val="0070C0"/>
                          </a:solidFill>
                        </a:rPr>
                        <a:t>xxA</a:t>
                      </a:r>
                      <a:r>
                        <a:rPr lang="en-US" sz="800" b="1" u="none" strike="noStrike" cap="none" dirty="0">
                          <a:solidFill>
                            <a:srgbClr val="0070C0"/>
                          </a:solidFill>
                        </a:rPr>
                        <a:t>/C</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054</a:t>
                      </a:r>
                      <a:r>
                        <a:rPr lang="en-US" sz="800" b="1" u="none" strike="noStrike" cap="none" dirty="0">
                          <a:solidFill>
                            <a:schemeClr val="dk1"/>
                          </a:solidFill>
                        </a:rPr>
                        <a:t> </a:t>
                      </a:r>
                      <a:r>
                        <a:rPr lang="en-US" sz="800" b="1" u="none" strike="noStrike" cap="none" dirty="0">
                          <a:solidFill>
                            <a:srgbClr val="0070C0"/>
                          </a:solidFill>
                        </a:rPr>
                        <a:t>ALT ATC </a:t>
                      </a:r>
                      <a:r>
                        <a:rPr lang="en-US" sz="800" b="1" u="none" strike="noStrike" cap="none" dirty="0">
                          <a:solidFill>
                            <a:srgbClr val="F28943"/>
                          </a:solidFill>
                        </a:rPr>
                        <a:t>TA 11000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23L</a:t>
                      </a:r>
                      <a:r>
                        <a:rPr lang="en-US" sz="800" b="0" u="none" strike="noStrike" cap="none" dirty="0"/>
                        <a:t>/R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PIANO </a:t>
                      </a:r>
                      <a:r>
                        <a:rPr lang="en-US" altLang="ko-Kore-KR" sz="800" b="1" u="none" strike="noStrike" cap="none" dirty="0" err="1">
                          <a:solidFill>
                            <a:srgbClr val="0070C0"/>
                          </a:solidFill>
                        </a:rPr>
                        <a:t>xxD</a:t>
                      </a:r>
                      <a:r>
                        <a:rPr lang="en-US" altLang="ko-Kore-KR" sz="800" b="1" u="none" strike="noStrike" cap="none" dirty="0">
                          <a:solidFill>
                            <a:srgbClr val="0070C0"/>
                          </a:solidFill>
                        </a:rPr>
                        <a:t>/B</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234 </a:t>
                      </a:r>
                      <a:r>
                        <a:rPr lang="en-US" sz="800" b="1" u="none" strike="noStrike" cap="none" dirty="0">
                          <a:solidFill>
                            <a:srgbClr val="0070C0"/>
                          </a:solidFill>
                        </a:rPr>
                        <a:t>ALT ATC </a:t>
                      </a:r>
                      <a:r>
                        <a:rPr lang="en-US" altLang="ko-Kore-KR" sz="800" b="1" u="none" strike="noStrike" cap="none" dirty="0">
                          <a:solidFill>
                            <a:srgbClr val="7030A0"/>
                          </a:solidFill>
                        </a:rPr>
                        <a:t>SPD 210 </a:t>
                      </a:r>
                    </a:p>
                    <a:p>
                      <a:pPr algn="ctr"/>
                      <a:r>
                        <a:rPr lang="en-US" altLang="ko-Kore-KR" sz="800" b="1" u="none" strike="noStrike" cap="none" dirty="0">
                          <a:solidFill>
                            <a:srgbClr val="F28943"/>
                          </a:solidFill>
                        </a:rPr>
                        <a:t>TA 11000</a:t>
                      </a:r>
                      <a:endParaRPr lang="ko-Kore-KR" altLang="en-US"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ITIA 111.1</a:t>
                      </a: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ITYA 109.3</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ICKS 110.7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ICJN 111.9</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“DCT PIANO then L3 RNAV Transition”</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738924263"/>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Dynasty Operation 131.3</a:t>
                      </a:r>
                      <a:endParaRPr sz="1200" dirty="0"/>
                    </a:p>
                    <a:p>
                      <a:pPr marL="0" marR="0" lvl="0" indent="0" algn="ctr" rtl="0">
                        <a:spcBef>
                          <a:spcPts val="0"/>
                        </a:spcBef>
                        <a:spcAft>
                          <a:spcPts val="0"/>
                        </a:spcAft>
                        <a:buNone/>
                      </a:pPr>
                      <a:r>
                        <a:rPr lang="en-US" altLang="ko-KR" sz="700" dirty="0">
                          <a:solidFill>
                            <a:srgbClr val="FF0000"/>
                          </a:solidFill>
                        </a:rPr>
                        <a:t>DCL </a:t>
                      </a:r>
                      <a:r>
                        <a:rPr lang="en-US" altLang="ko-KR" sz="700">
                          <a:solidFill>
                            <a:srgbClr val="FF0000"/>
                          </a:solidFill>
                        </a:rPr>
                        <a:t>no time, </a:t>
                      </a:r>
                      <a:r>
                        <a:rPr lang="en-US" altLang="ko-KR" sz="700" dirty="0">
                          <a:solidFill>
                            <a:srgbClr val="FF0000"/>
                          </a:solidFill>
                        </a:rPr>
                        <a:t>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0" y="1976954"/>
            <a:ext cx="659155" cy="370733"/>
          </a:xfrm>
          <a:prstGeom prst="rect">
            <a:avLst/>
          </a:prstGeom>
          <a:noFill/>
        </p:spPr>
        <p:txBody>
          <a:bodyPr wrap="none" tIns="36000" bIns="36000" rtlCol="0" anchor="ctr">
            <a:spAutoFit/>
          </a:bodyPr>
          <a:lstStyle/>
          <a:p>
            <a:pPr>
              <a:lnSpc>
                <a:spcPct val="150000"/>
              </a:lnSpc>
            </a:pPr>
            <a:r>
              <a:rPr kumimoji="1" lang="en-US" altLang="ko-KR" sz="700" b="1"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912590"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24C865EB-9186-4C7B-72B8-4A2B02005AF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41502"/>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8CBBF8A0-E6B8-21AA-1228-2F4DABB2218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8624304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5A22679A-520A-91C6-D941-83AF99EF4102}"/>
            </a:ext>
          </a:extLst>
        </p:cNvPr>
        <p:cNvGrpSpPr/>
        <p:nvPr/>
      </p:nvGrpSpPr>
      <p:grpSpPr>
        <a:xfrm>
          <a:off x="0" y="0"/>
          <a:ext cx="0" cy="0"/>
          <a:chOff x="0" y="0"/>
          <a:chExt cx="0" cy="0"/>
        </a:xfrm>
      </p:grpSpPr>
      <p:graphicFrame>
        <p:nvGraphicFramePr>
          <p:cNvPr id="292" name="Google Shape;292;p18">
            <a:extLst>
              <a:ext uri="{FF2B5EF4-FFF2-40B4-BE49-F238E27FC236}">
                <a16:creationId xmlns:a16="http://schemas.microsoft.com/office/drawing/2014/main" id="{E3755076-0569-5E5D-34B7-7C6519A36E2D}"/>
              </a:ext>
            </a:extLst>
          </p:cNvPr>
          <p:cNvGraphicFramePr/>
          <p:nvPr>
            <p:extLst>
              <p:ext uri="{D42A27DB-BD31-4B8C-83A1-F6EECF244321}">
                <p14:modId xmlns:p14="http://schemas.microsoft.com/office/powerpoint/2010/main" val="444888600"/>
              </p:ext>
            </p:extLst>
          </p:nvPr>
        </p:nvGraphicFramePr>
        <p:xfrm>
          <a:off x="9886" y="3759406"/>
          <a:ext cx="2307264" cy="1792570"/>
        </p:xfrm>
        <a:graphic>
          <a:graphicData uri="http://schemas.openxmlformats.org/drawingml/2006/table">
            <a:tbl>
              <a:tblPr firstRow="1" bandRow="1">
                <a:noFill/>
                <a:tableStyleId>{A521BE36-7E6F-4EC9-8D66-1CF97A6895EC}</a:tableStyleId>
              </a:tblPr>
              <a:tblGrid>
                <a:gridCol w="350103">
                  <a:extLst>
                    <a:ext uri="{9D8B030D-6E8A-4147-A177-3AD203B41FA5}">
                      <a16:colId xmlns:a16="http://schemas.microsoft.com/office/drawing/2014/main" val="20000"/>
                    </a:ext>
                  </a:extLst>
                </a:gridCol>
                <a:gridCol w="687873">
                  <a:extLst>
                    <a:ext uri="{9D8B030D-6E8A-4147-A177-3AD203B41FA5}">
                      <a16:colId xmlns:a16="http://schemas.microsoft.com/office/drawing/2014/main" val="20001"/>
                    </a:ext>
                  </a:extLst>
                </a:gridCol>
                <a:gridCol w="668058">
                  <a:extLst>
                    <a:ext uri="{9D8B030D-6E8A-4147-A177-3AD203B41FA5}">
                      <a16:colId xmlns:a16="http://schemas.microsoft.com/office/drawing/2014/main" val="689142997"/>
                    </a:ext>
                  </a:extLst>
                </a:gridCol>
                <a:gridCol w="601230">
                  <a:extLst>
                    <a:ext uri="{9D8B030D-6E8A-4147-A177-3AD203B41FA5}">
                      <a16:colId xmlns:a16="http://schemas.microsoft.com/office/drawing/2014/main" val="992510185"/>
                    </a:ext>
                  </a:extLst>
                </a:gridCol>
              </a:tblGrid>
              <a:tr h="191924">
                <a:tc gridSpan="4">
                  <a:txBody>
                    <a:bodyPr/>
                    <a:lstStyle/>
                    <a:p>
                      <a:pPr marL="0" marR="0" lvl="0" indent="0" algn="ctr" rtl="0">
                        <a:spcBef>
                          <a:spcPts val="0"/>
                        </a:spcBef>
                        <a:spcAft>
                          <a:spcPts val="0"/>
                        </a:spcAft>
                        <a:buNone/>
                      </a:pPr>
                      <a:r>
                        <a:rPr lang="en-US" sz="800" dirty="0"/>
                        <a:t>RGN </a:t>
                      </a:r>
                      <a:r>
                        <a:rPr lang="en-US" sz="800" dirty="0">
                          <a:solidFill>
                            <a:srgbClr val="00B0F0"/>
                          </a:solidFill>
                        </a:rPr>
                        <a:t>[214/034]</a:t>
                      </a:r>
                      <a:r>
                        <a:rPr lang="en-US" sz="800" dirty="0"/>
                        <a:t> : TL 075, UTC+6:30</a:t>
                      </a:r>
                    </a:p>
                    <a:p>
                      <a:pPr marL="0" marR="0" lvl="0" indent="0" algn="ctr" rtl="0">
                        <a:spcBef>
                          <a:spcPts val="0"/>
                        </a:spcBef>
                        <a:spcAft>
                          <a:spcPts val="0"/>
                        </a:spcAft>
                        <a:buNone/>
                      </a:pPr>
                      <a:r>
                        <a:rPr lang="en-US" altLang="ko-KR" sz="800" dirty="0">
                          <a:solidFill>
                            <a:srgbClr val="92D050"/>
                          </a:solidFill>
                        </a:rPr>
                        <a:t>BGO(BAGOO),</a:t>
                      </a:r>
                      <a:r>
                        <a:rPr lang="ko-KR" altLang="en-US" sz="800" dirty="0">
                          <a:solidFill>
                            <a:srgbClr val="92D050"/>
                          </a:solidFill>
                        </a:rPr>
                        <a:t> </a:t>
                      </a:r>
                      <a:r>
                        <a:rPr lang="en-US" altLang="ko-KR" sz="800" dirty="0">
                          <a:solidFill>
                            <a:srgbClr val="92D050"/>
                          </a:solidFill>
                        </a:rPr>
                        <a:t>HGU(HLEGU)</a:t>
                      </a:r>
                      <a:r>
                        <a:rPr lang="ko-KR" altLang="en-US" sz="800" dirty="0">
                          <a:solidFill>
                            <a:srgbClr val="92D050"/>
                          </a:solidFill>
                        </a:rPr>
                        <a:t> </a:t>
                      </a:r>
                      <a:r>
                        <a:rPr lang="en-US" altLang="ko-KR" sz="800" dirty="0">
                          <a:solidFill>
                            <a:srgbClr val="C00000"/>
                          </a:solidFill>
                        </a:rPr>
                        <a:t>ILS Z 21 GNSS Required</a:t>
                      </a:r>
                    </a:p>
                    <a:p>
                      <a:pPr marL="0" marR="0" lvl="0" indent="0" algn="ctr" rtl="0">
                        <a:spcBef>
                          <a:spcPts val="0"/>
                        </a:spcBef>
                        <a:spcAft>
                          <a:spcPts val="0"/>
                        </a:spcAft>
                        <a:buNone/>
                      </a:pPr>
                      <a:r>
                        <a:rPr lang="en-US" sz="800" b="1" dirty="0">
                          <a:solidFill>
                            <a:srgbClr val="FFC000"/>
                          </a:solidFill>
                        </a:rPr>
                        <a:t>GPS  Interference --&gt; RDR Vector + ILS Y 21</a:t>
                      </a:r>
                      <a:endParaRP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0790">
                <a:tc>
                  <a:txBody>
                    <a:bodyPr/>
                    <a:lstStyle/>
                    <a:p>
                      <a:pPr marL="0" marR="0" lvl="0" indent="0" algn="ctr" rtl="0">
                        <a:spcBef>
                          <a:spcPts val="0"/>
                        </a:spcBef>
                        <a:spcAft>
                          <a:spcPts val="0"/>
                        </a:spcAft>
                        <a:buNone/>
                      </a:pPr>
                      <a:r>
                        <a:rPr lang="en-US" sz="800" b="1" dirty="0"/>
                        <a:t>21</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GPS OUT</a:t>
                      </a:r>
                    </a:p>
                    <a:p>
                      <a:pPr marL="0" marR="0" lvl="0" indent="0" algn="ctr" rtl="0">
                        <a:spcBef>
                          <a:spcPts val="0"/>
                        </a:spcBef>
                        <a:spcAft>
                          <a:spcPts val="0"/>
                        </a:spcAft>
                        <a:buNone/>
                      </a:pPr>
                      <a:r>
                        <a:rPr lang="en-US" sz="800" b="0" dirty="0"/>
                        <a:t>RELAP </a:t>
                      </a:r>
                      <a:r>
                        <a:rPr lang="en-US" sz="800" b="0" dirty="0" err="1"/>
                        <a:t>xxA</a:t>
                      </a:r>
                      <a:endParaRPr lang="en-US" sz="7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RDR Vector</a:t>
                      </a:r>
                    </a:p>
                    <a:p>
                      <a:pPr marL="0" marR="0" lvl="0" indent="0" algn="ctr" rtl="0">
                        <a:spcBef>
                          <a:spcPts val="0"/>
                        </a:spcBef>
                        <a:spcAft>
                          <a:spcPts val="0"/>
                        </a:spcAft>
                        <a:buNone/>
                      </a:pPr>
                      <a:r>
                        <a:rPr lang="en-US" sz="800" b="0" dirty="0"/>
                        <a:t>PAKSU</a:t>
                      </a:r>
                      <a:endParaRPr lang="en-US" sz="7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ILS Y 21</a:t>
                      </a:r>
                    </a:p>
                    <a:p>
                      <a:pPr marL="0" marR="0" lvl="0" indent="0" algn="ctr" rtl="0">
                        <a:spcBef>
                          <a:spcPts val="0"/>
                        </a:spcBef>
                        <a:spcAft>
                          <a:spcPts val="0"/>
                        </a:spcAft>
                        <a:buNone/>
                      </a:pPr>
                      <a:r>
                        <a:rPr lang="en-US" sz="800" b="0" dirty="0"/>
                        <a:t>ILS Z 21</a:t>
                      </a:r>
                      <a:endParaRPr lang="ko-Kore-KR" altLang="en-US" b="0" dirty="0"/>
                    </a:p>
                  </a:txBody>
                  <a:tcPr marL="36000" marR="36000" marT="36000" marB="36000" anchor="ctr"/>
                </a:tc>
                <a:extLst>
                  <a:ext uri="{0D108BD9-81ED-4DB2-BD59-A6C34878D82A}">
                    <a16:rowId xmlns:a16="http://schemas.microsoft.com/office/drawing/2014/main" val="10001"/>
                  </a:ext>
                </a:extLst>
              </a:tr>
              <a:tr h="111002">
                <a:tc>
                  <a:txBody>
                    <a:bodyPr/>
                    <a:lstStyle/>
                    <a:p>
                      <a:pPr algn="ctr"/>
                      <a:r>
                        <a:rPr lang="en-US" altLang="ko-Kore-KR" sz="800" b="0" dirty="0"/>
                        <a:t>03</a:t>
                      </a:r>
                      <a:endParaRPr lang="ko-Kore-KR" altLang="en-US" b="0" dirty="0"/>
                    </a:p>
                  </a:txBody>
                  <a:tcPr marL="36000" marR="36000" marT="36000" marB="36000" anchor="ctr"/>
                </a:tc>
                <a:tc>
                  <a:txBody>
                    <a:bodyPr/>
                    <a:lstStyle/>
                    <a:p>
                      <a:pPr marL="0" marR="0" lvl="0" indent="0" algn="ctr" rtl="0">
                        <a:spcBef>
                          <a:spcPts val="0"/>
                        </a:spcBef>
                        <a:spcAft>
                          <a:spcPts val="0"/>
                        </a:spcAft>
                        <a:buNone/>
                      </a:pPr>
                      <a:r>
                        <a:rPr lang="en-US" sz="800" b="0" dirty="0"/>
                        <a:t>BAGOO </a:t>
                      </a:r>
                      <a:r>
                        <a:rPr lang="en-US" sz="800" b="0" dirty="0" err="1"/>
                        <a:t>xxB</a:t>
                      </a:r>
                      <a:endParaRPr lang="en-US" sz="800" b="0" dirty="0"/>
                    </a:p>
                  </a:txBody>
                  <a:tcPr marL="36000" marR="36000" marT="36000" marB="36000" anchor="ctr"/>
                </a:tc>
                <a:tc>
                  <a:txBody>
                    <a:bodyPr/>
                    <a:lstStyle/>
                    <a:p>
                      <a:pPr marL="0" marR="0" lvl="0" indent="0" algn="ctr" rtl="0">
                        <a:spcBef>
                          <a:spcPts val="0"/>
                        </a:spcBef>
                        <a:spcAft>
                          <a:spcPts val="0"/>
                        </a:spcAft>
                        <a:buNone/>
                      </a:pPr>
                      <a:r>
                        <a:rPr lang="en-US" sz="800" b="0" dirty="0"/>
                        <a:t>KOSDA </a:t>
                      </a:r>
                    </a:p>
                  </a:txBody>
                  <a:tcPr marL="36000" marR="36000" marT="36000" marB="36000" anchor="ctr"/>
                </a:tc>
                <a:tc>
                  <a:txBody>
                    <a:bodyPr/>
                    <a:lstStyle/>
                    <a:p>
                      <a:pPr algn="ctr"/>
                      <a:r>
                        <a:rPr lang="en-US" altLang="ko-Kore-KR" sz="800" b="0" dirty="0"/>
                        <a:t>RNP 03</a:t>
                      </a:r>
                      <a:endParaRPr lang="ko-Kore-KR" altLang="en-US" b="0" dirty="0"/>
                    </a:p>
                  </a:txBody>
                  <a:tcPr marL="36000" marR="36000" marT="36000" marB="36000" anchor="ctr"/>
                </a:tc>
                <a:extLst>
                  <a:ext uri="{0D108BD9-81ED-4DB2-BD59-A6C34878D82A}">
                    <a16:rowId xmlns:a16="http://schemas.microsoft.com/office/drawing/2014/main" val="4277695380"/>
                  </a:ext>
                </a:extLst>
              </a:tr>
              <a:tr h="111002">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A/P VOR, BGO, HGU,</a:t>
                      </a:r>
                      <a:r>
                        <a:rPr lang="en-US" sz="800" b="1" dirty="0">
                          <a:solidFill>
                            <a:srgbClr val="00B050"/>
                          </a:solidFill>
                        </a:rPr>
                        <a:t> </a:t>
                      </a:r>
                      <a:r>
                        <a:rPr lang="en-US" sz="800" b="1" dirty="0">
                          <a:solidFill>
                            <a:srgbClr val="C00000"/>
                          </a:solidFill>
                        </a:rPr>
                        <a:t>21 IYGN</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80790">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21 : A3(8152’), R1(8415’),   03 : A5</a:t>
                      </a:r>
                      <a:r>
                        <a:rPr lang="en-US" altLang="ko-Kore-KR" sz="800" b="1" dirty="0">
                          <a:solidFill>
                            <a:schemeClr val="bg1"/>
                          </a:solidFill>
                        </a:rPr>
                        <a:t>(7972’), A6(11069’)</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RWY 21 Upslope(0.6%), </a:t>
                      </a:r>
                      <a:r>
                        <a:rPr lang="en-US" altLang="ko-KR" sz="800" b="1" dirty="0">
                          <a:solidFill>
                            <a:srgbClr val="C00000"/>
                          </a:solidFill>
                        </a:rPr>
                        <a:t>Exit End of RWY or</a:t>
                      </a:r>
                      <a:r>
                        <a:rPr lang="ko-KR" altLang="en-US" sz="800" b="1" dirty="0">
                          <a:solidFill>
                            <a:srgbClr val="C00000"/>
                          </a:solidFill>
                        </a:rPr>
                        <a:t> </a:t>
                      </a:r>
                      <a:r>
                        <a:rPr lang="en-US" altLang="ko-KR" sz="800" b="1" dirty="0">
                          <a:solidFill>
                            <a:srgbClr val="C00000"/>
                          </a:solidFill>
                        </a:rPr>
                        <a:t>By</a:t>
                      </a:r>
                      <a:r>
                        <a:rPr lang="ko-KR" altLang="en-US" sz="800" b="1" dirty="0">
                          <a:solidFill>
                            <a:srgbClr val="C00000"/>
                          </a:solidFill>
                        </a:rPr>
                        <a:t> </a:t>
                      </a:r>
                      <a:r>
                        <a:rPr lang="en-US" altLang="ko-KR" sz="800" b="1" dirty="0">
                          <a:solidFill>
                            <a:srgbClr val="C00000"/>
                          </a:solidFill>
                        </a:rPr>
                        <a:t>ATC</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8079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Caution </a:t>
                      </a:r>
                      <a:r>
                        <a:rPr lang="en-US" altLang="ko-KR" sz="800" b="1" dirty="0" err="1">
                          <a:solidFill>
                            <a:srgbClr val="C00000"/>
                          </a:solidFill>
                        </a:rPr>
                        <a:t>WingTip</a:t>
                      </a:r>
                      <a:r>
                        <a:rPr lang="en-US" altLang="ko-KR" sz="800" b="1" dirty="0">
                          <a:solidFill>
                            <a:srgbClr val="C00000"/>
                          </a:solidFill>
                        </a:rPr>
                        <a:t> (Watch out Safety Line)</a:t>
                      </a:r>
                      <a:endParaRPr lang="en-US" sz="800"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Ramp Area Dark(Consider LD L/T)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DDFEE7E-DBFA-BCF3-1E57-2DE6760D9533}"/>
              </a:ext>
            </a:extLst>
          </p:cNvPr>
          <p:cNvGraphicFramePr/>
          <p:nvPr>
            <p:extLst>
              <p:ext uri="{D42A27DB-BD31-4B8C-83A1-F6EECF244321}">
                <p14:modId xmlns:p14="http://schemas.microsoft.com/office/powerpoint/2010/main" val="2700042385"/>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VYYY(RGN)110ft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Oscar Papa 131.8</a:t>
                      </a:r>
                    </a:p>
                    <a:p>
                      <a:pPr marL="0" marR="0" lvl="0" indent="0" algn="ctr" rtl="0">
                        <a:spcBef>
                          <a:spcPts val="0"/>
                        </a:spcBef>
                        <a:spcAft>
                          <a:spcPts val="0"/>
                        </a:spcAft>
                        <a:buNone/>
                      </a:pPr>
                      <a:r>
                        <a:rPr lang="en-US" sz="800" b="1"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C67737E-482C-7AEB-6CE7-CD1D6C2E0C77}"/>
              </a:ext>
            </a:extLst>
          </p:cNvPr>
          <p:cNvSpPr/>
          <p:nvPr/>
        </p:nvSpPr>
        <p:spPr>
          <a:xfrm>
            <a:off x="842228" y="249682"/>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038CF97-0646-6366-DB0E-AE1E6971392C}"/>
              </a:ext>
            </a:extLst>
          </p:cNvPr>
          <p:cNvGraphicFramePr/>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4911BB5-FABD-409D-C0F9-9C47035D989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06574"/>
            <a:ext cx="457200" cy="457200"/>
          </a:xfrm>
          <a:prstGeom prst="rect">
            <a:avLst/>
          </a:prstGeom>
          <a:effectLst>
            <a:outerShdw blurRad="50800" dist="50800" dir="3660000" algn="ctr" rotWithShape="0">
              <a:schemeClr val="bg1">
                <a:alpha val="82714"/>
              </a:schemeClr>
            </a:outerShdw>
          </a:effectLst>
        </p:spPr>
      </p:pic>
      <p:sp>
        <p:nvSpPr>
          <p:cNvPr id="4" name="TextBox 3">
            <a:extLst>
              <a:ext uri="{FF2B5EF4-FFF2-40B4-BE49-F238E27FC236}">
                <a16:creationId xmlns:a16="http://schemas.microsoft.com/office/drawing/2014/main" id="{8E724134-8195-066C-2EAA-9C135A7F92C5}"/>
              </a:ext>
            </a:extLst>
          </p:cNvPr>
          <p:cNvSpPr txBox="1"/>
          <p:nvPr/>
        </p:nvSpPr>
        <p:spPr>
          <a:xfrm>
            <a:off x="31774" y="2864818"/>
            <a:ext cx="1493486" cy="842145"/>
          </a:xfrm>
          <a:prstGeom prst="rect">
            <a:avLst/>
          </a:prstGeom>
          <a:noFill/>
        </p:spPr>
        <p:txBody>
          <a:bodyPr wrap="none" tIns="36000" bIns="36000" rtlCol="0" anchor="ctr">
            <a:spAutoFit/>
          </a:bodyPr>
          <a:lstStyle/>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FFC000"/>
                </a:solidFill>
                <a:effectLst/>
                <a:uLnTx/>
                <a:uFillTx/>
                <a:latin typeface="Calibri"/>
                <a:cs typeface="Calibri"/>
              </a:rPr>
              <a:t>NAR not apply</a:t>
            </a:r>
            <a:r>
              <a:rPr kumimoji="0" lang="ko-KR" altLang="en-US" sz="800" b="1" i="0" u="none" strike="noStrike" kern="1200" cap="none" spc="0" normalizeH="0" baseline="0" noProof="0" dirty="0">
                <a:ln>
                  <a:noFill/>
                </a:ln>
                <a:solidFill>
                  <a:srgbClr val="FFC000"/>
                </a:solidFill>
                <a:effectLst/>
                <a:uLnTx/>
                <a:uFillTx/>
                <a:latin typeface="Calibri"/>
                <a:cs typeface="Calibri"/>
              </a:rPr>
              <a:t> </a:t>
            </a:r>
            <a:r>
              <a:rPr kumimoji="0" lang="en-US" altLang="ko-KR" sz="800" b="1" i="0" u="none" strike="noStrike" kern="1200" cap="none" spc="0" normalizeH="0" baseline="0" noProof="0" dirty="0">
                <a:ln>
                  <a:noFill/>
                </a:ln>
                <a:solidFill>
                  <a:srgbClr val="FFC000"/>
                </a:solidFill>
                <a:effectLst/>
                <a:uLnTx/>
                <a:uFillTx/>
                <a:latin typeface="Calibri"/>
                <a:cs typeface="Calibri"/>
              </a:rPr>
              <a:t>due Single RWY</a:t>
            </a:r>
          </a:p>
        </p:txBody>
      </p:sp>
    </p:spTree>
    <p:extLst>
      <p:ext uri="{BB962C8B-B14F-4D97-AF65-F5344CB8AC3E}">
        <p14:creationId xmlns:p14="http://schemas.microsoft.com/office/powerpoint/2010/main" val="262736892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47D23-131D-AB8E-81CC-F4FD0EA32E19}"/>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40CF242E-9870-F725-F359-95440544087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89EF7E5-6F63-8DB9-C720-3C245C9E5E1F}"/>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FD7C36C-30E0-84B2-D14E-7DF8D571BE63}"/>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339C31E-4131-3C38-B966-2657C956F205}"/>
              </a:ext>
            </a:extLst>
          </p:cNvPr>
          <p:cNvGraphicFramePr>
            <a:graphicFrameLocks noGrp="1"/>
          </p:cNvGraphicFramePr>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5CDEC037-1E9E-421D-7664-A9CA4D8C290F}"/>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174908310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B938242-2B18-4D90-EEBB-55A1D7B11ED7}"/>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F188A28-7F70-8440-DBD7-AE00A1C75709}"/>
              </a:ext>
            </a:extLst>
          </p:cNvPr>
          <p:cNvGraphicFramePr/>
          <p:nvPr>
            <p:extLst>
              <p:ext uri="{D42A27DB-BD31-4B8C-83A1-F6EECF244321}">
                <p14:modId xmlns:p14="http://schemas.microsoft.com/office/powerpoint/2010/main" val="1024242523"/>
              </p:ext>
            </p:extLst>
          </p:nvPr>
        </p:nvGraphicFramePr>
        <p:xfrm>
          <a:off x="0" y="580010"/>
          <a:ext cx="2314761" cy="1969879"/>
        </p:xfrm>
        <a:graphic>
          <a:graphicData uri="http://schemas.openxmlformats.org/drawingml/2006/table">
            <a:tbl>
              <a:tblPr firstRow="1" bandRow="1">
                <a:noFill/>
                <a:tableStyleId>{A521BE36-7E6F-4EC9-8D66-1CF97A6895EC}</a:tableStyleId>
              </a:tblPr>
              <a:tblGrid>
                <a:gridCol w="336489">
                  <a:extLst>
                    <a:ext uri="{9D8B030D-6E8A-4147-A177-3AD203B41FA5}">
                      <a16:colId xmlns:a16="http://schemas.microsoft.com/office/drawing/2014/main" val="20000"/>
                    </a:ext>
                  </a:extLst>
                </a:gridCol>
                <a:gridCol w="683243">
                  <a:extLst>
                    <a:ext uri="{9D8B030D-6E8A-4147-A177-3AD203B41FA5}">
                      <a16:colId xmlns:a16="http://schemas.microsoft.com/office/drawing/2014/main" val="20002"/>
                    </a:ext>
                  </a:extLst>
                </a:gridCol>
                <a:gridCol w="549478">
                  <a:extLst>
                    <a:ext uri="{9D8B030D-6E8A-4147-A177-3AD203B41FA5}">
                      <a16:colId xmlns:a16="http://schemas.microsoft.com/office/drawing/2014/main" val="20004"/>
                    </a:ext>
                  </a:extLst>
                </a:gridCol>
                <a:gridCol w="745551">
                  <a:extLst>
                    <a:ext uri="{9D8B030D-6E8A-4147-A177-3AD203B41FA5}">
                      <a16:colId xmlns:a16="http://schemas.microsoft.com/office/drawing/2014/main" val="20005"/>
                    </a:ext>
                  </a:extLst>
                </a:gridCol>
              </a:tblGrid>
              <a:tr h="247676">
                <a:tc gridSpan="4">
                  <a:txBody>
                    <a:bodyPr/>
                    <a:lstStyle/>
                    <a:p>
                      <a:pPr marL="0" marR="0" lvl="0" indent="0" algn="ctr" rtl="0">
                        <a:spcBef>
                          <a:spcPts val="0"/>
                        </a:spcBef>
                        <a:spcAft>
                          <a:spcPts val="0"/>
                        </a:spcAft>
                        <a:buNone/>
                      </a:pPr>
                      <a:r>
                        <a:rPr lang="en-US" sz="800" u="none" strike="noStrike" cap="none" dirty="0"/>
                        <a:t>RGN : RDR Vector/RNAV SID (NADP 1) </a:t>
                      </a:r>
                      <a:r>
                        <a:rPr lang="en-US" sz="800" u="none" strike="noStrike" cap="none" dirty="0">
                          <a:solidFill>
                            <a:srgbClr val="FFC000"/>
                          </a:solidFill>
                        </a:rPr>
                        <a:t>TA 6000’</a:t>
                      </a:r>
                    </a:p>
                    <a:p>
                      <a:pPr marL="0" marR="0" lvl="0" indent="0" algn="ctr" rtl="0">
                        <a:spcBef>
                          <a:spcPts val="0"/>
                        </a:spcBef>
                        <a:spcAft>
                          <a:spcPts val="0"/>
                        </a:spcAft>
                        <a:buNone/>
                      </a:pPr>
                      <a:r>
                        <a:rPr lang="en-US" sz="800" u="none" strike="noStrike" cap="none" dirty="0">
                          <a:solidFill>
                            <a:srgbClr val="C00000"/>
                          </a:solidFill>
                        </a:rPr>
                        <a:t>GPS 1+2 Fail Defer MEL 34-50-08F, 34-50-09B</a:t>
                      </a:r>
                      <a:r>
                        <a:rPr lang="en-US" sz="800" u="none" strike="noStrike" cap="none" dirty="0">
                          <a:solidFill>
                            <a:srgbClr val="FFC000"/>
                          </a:solidFill>
                        </a:rPr>
                        <a:t> (RTG)</a:t>
                      </a:r>
                    </a:p>
                    <a:p>
                      <a:pPr marL="0" marR="0" lvl="0" indent="0" algn="ctr" rtl="0">
                        <a:spcBef>
                          <a:spcPts val="0"/>
                        </a:spcBef>
                        <a:spcAft>
                          <a:spcPts val="0"/>
                        </a:spcAft>
                        <a:buNone/>
                      </a:pPr>
                      <a:r>
                        <a:rPr lang="en-US" sz="800" u="none" strike="noStrike" cap="none" dirty="0">
                          <a:solidFill>
                            <a:srgbClr val="FFC000"/>
                          </a:solidFill>
                        </a:rPr>
                        <a:t>No RNP RTE, ADS-B No RVSM Equipment</a:t>
                      </a:r>
                    </a:p>
                    <a:p>
                      <a:pPr marL="0" marR="0" lvl="0" indent="0" algn="ctr" rtl="0">
                        <a:spcBef>
                          <a:spcPts val="0"/>
                        </a:spcBef>
                        <a:spcAft>
                          <a:spcPts val="0"/>
                        </a:spcAft>
                        <a:buNone/>
                      </a:pPr>
                      <a:r>
                        <a:rPr lang="en-US" sz="800" u="none" strike="noStrike" cap="none" dirty="0">
                          <a:solidFill>
                            <a:srgbClr val="00B0F0"/>
                          </a:solidFill>
                        </a:rPr>
                        <a:t>RADIONAV Update within 1NM no Problem</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347687">
                <a:tc>
                  <a:txBody>
                    <a:bodyPr/>
                    <a:lstStyle/>
                    <a:p>
                      <a:pPr marL="0" marR="0" lvl="0" indent="0" algn="ctr" rtl="0">
                        <a:spcBef>
                          <a:spcPts val="0"/>
                        </a:spcBef>
                        <a:spcAft>
                          <a:spcPts val="0"/>
                        </a:spcAft>
                        <a:buNone/>
                      </a:pPr>
                      <a:r>
                        <a:rPr lang="en-US" sz="800" b="1" u="none" strike="noStrike" cap="none" dirty="0"/>
                        <a:t>21</a:t>
                      </a:r>
                      <a:endParaRPr lang="en-US" sz="800" b="0" u="none" strike="noStrike" cap="none" dirty="0"/>
                    </a:p>
                  </a:txBody>
                  <a:tcPr marL="36000" marR="36000" marT="36000" marB="36000" anchor="ctr"/>
                </a:tc>
                <a:tc>
                  <a:txBody>
                    <a:bodyPr/>
                    <a:lstStyle/>
                    <a:p>
                      <a:pPr algn="ctr"/>
                      <a:r>
                        <a:rPr lang="en-US" sz="800" b="1" u="none" strike="noStrike" cap="none" dirty="0">
                          <a:solidFill>
                            <a:srgbClr val="0070C0"/>
                          </a:solidFill>
                        </a:rPr>
                        <a:t>RDR Vector</a:t>
                      </a:r>
                    </a:p>
                    <a:p>
                      <a:pPr algn="ctr"/>
                      <a:r>
                        <a:rPr lang="en-US" altLang="ko-Kore-KR" sz="800" b="0" u="none" strike="noStrike" cap="none" dirty="0">
                          <a:solidFill>
                            <a:schemeClr val="bg1"/>
                          </a:solidFill>
                        </a:rPr>
                        <a:t>(VISAM </a:t>
                      </a:r>
                      <a:r>
                        <a:rPr lang="en-US" altLang="ko-Kore-KR" sz="800" b="0" u="none" strike="noStrike" cap="none" dirty="0" err="1">
                          <a:solidFill>
                            <a:schemeClr val="bg1"/>
                          </a:solidFill>
                        </a:rPr>
                        <a:t>xxA</a:t>
                      </a:r>
                      <a:r>
                        <a:rPr lang="en-US" altLang="ko-Kore-KR" sz="800" b="0" u="none" strike="noStrike" cap="none" dirty="0">
                          <a:solidFill>
                            <a:schemeClr val="bg1"/>
                          </a:solidFill>
                        </a:rPr>
                        <a:t>/C)</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HD 214 </a:t>
                      </a:r>
                      <a:r>
                        <a:rPr lang="en-US" sz="800" b="1" u="none" strike="noStrike" cap="none" dirty="0">
                          <a:solidFill>
                            <a:srgbClr val="0070C0"/>
                          </a:solidFill>
                        </a:rPr>
                        <a:t>ATC </a:t>
                      </a:r>
                      <a:r>
                        <a:rPr lang="en-US" altLang="ko-Kore-KR" sz="800" b="1" u="none" strike="noStrike" cap="none" dirty="0">
                          <a:solidFill>
                            <a:srgbClr val="F28943"/>
                          </a:solidFill>
                        </a:rPr>
                        <a:t>TA 6000 </a:t>
                      </a:r>
                      <a:r>
                        <a:rPr lang="en-US" altLang="ko-Kore-KR" sz="800" b="1" u="none" strike="noStrike" cap="none" dirty="0">
                          <a:solidFill>
                            <a:srgbClr val="AA47F5"/>
                          </a:solidFill>
                        </a:rPr>
                        <a:t>SPD 230</a:t>
                      </a:r>
                    </a:p>
                    <a:p>
                      <a:pPr marL="0" marR="0" lvl="0" indent="0" algn="ctr" rtl="0">
                        <a:spcBef>
                          <a:spcPts val="0"/>
                        </a:spcBef>
                        <a:spcAft>
                          <a:spcPts val="0"/>
                        </a:spcAft>
                        <a:buNone/>
                      </a:pPr>
                      <a:r>
                        <a:rPr lang="en-US" altLang="ko-Kore-KR" sz="800" b="0" u="none" strike="noStrike" cap="none" dirty="0">
                          <a:solidFill>
                            <a:srgbClr val="C00000"/>
                          </a:solidFill>
                        </a:rPr>
                        <a:t>SID GNSS Required</a:t>
                      </a:r>
                      <a:endParaRPr lang="ko-Kore-KR" altLang="en-US" b="0" dirty="0">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347687">
                <a:tc>
                  <a:txBody>
                    <a:bodyPr/>
                    <a:lstStyle/>
                    <a:p>
                      <a:pPr algn="ctr"/>
                      <a:r>
                        <a:rPr lang="en-US" altLang="ko-KR" sz="800" b="1" u="none" strike="noStrike" cap="none" dirty="0"/>
                        <a:t>03</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RDR Vector</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(BAGOO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xxA</a:t>
                      </a:r>
                      <a:r>
                        <a:rPr kumimoji="0" lang="en-US" altLang="ko-Kore-KR" sz="800" b="0" i="0" u="none" strike="noStrike" kern="1200" cap="none" spc="0" normalizeH="0" baseline="0" noProof="0" dirty="0">
                          <a:ln>
                            <a:noFill/>
                          </a:ln>
                          <a:solidFill>
                            <a:prstClr val="black"/>
                          </a:solidFill>
                          <a:effectLst/>
                          <a:uLnTx/>
                          <a:uFillTx/>
                          <a:latin typeface="Calibri"/>
                          <a:cs typeface="Calibri"/>
                        </a:rPr>
                        <a:t>)</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gridSpan="2">
                  <a:txBody>
                    <a:bodyPr/>
                    <a:lstStyle/>
                    <a:p>
                      <a:r>
                        <a:rPr lang="en-US" sz="800" b="1" u="none" strike="noStrike" cap="none" dirty="0"/>
                        <a:t>HD 034 </a:t>
                      </a:r>
                      <a:r>
                        <a:rPr lang="en-US" sz="800" b="1" u="none" strike="noStrike" cap="none" dirty="0">
                          <a:solidFill>
                            <a:srgbClr val="0070C0"/>
                          </a:solidFill>
                        </a:rPr>
                        <a:t>ATC </a:t>
                      </a:r>
                      <a:r>
                        <a:rPr lang="en-US" altLang="ko-Kore-KR" sz="800" b="1" u="none" strike="noStrike" cap="none" dirty="0">
                          <a:solidFill>
                            <a:srgbClr val="F28943"/>
                          </a:solidFill>
                        </a:rPr>
                        <a:t>TA 6000 </a:t>
                      </a:r>
                      <a:r>
                        <a:rPr lang="en-US" altLang="ko-Kore-KR" sz="800" b="1" u="none" strike="noStrike" cap="none" dirty="0">
                          <a:solidFill>
                            <a:srgbClr val="AA47F5"/>
                          </a:solidFill>
                        </a:rPr>
                        <a:t>SPD 230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SID GNSS Required</a:t>
                      </a:r>
                      <a:endParaRPr kumimoji="0" lang="ko-Kore-KR" altLang="en-US" sz="458" b="0"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4228625192"/>
                  </a:ext>
                </a:extLst>
              </a:tr>
              <a:tr h="213474">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no VOR, BGO</a:t>
                      </a:r>
                      <a:r>
                        <a:rPr lang="en-US" sz="700" b="1" u="none" strike="noStrike" cap="none" dirty="0">
                          <a:solidFill>
                            <a:srgbClr val="0070C0"/>
                          </a:solidFill>
                        </a:rPr>
                        <a:t>(BAGOO), </a:t>
                      </a:r>
                      <a:r>
                        <a:rPr lang="en-US" sz="800" b="1" u="none" strike="noStrike" cap="none" dirty="0">
                          <a:solidFill>
                            <a:srgbClr val="0070C0"/>
                          </a:solidFill>
                        </a:rPr>
                        <a:t>HGU</a:t>
                      </a:r>
                      <a:r>
                        <a:rPr lang="en-US" sz="700" b="1" u="none" strike="noStrike" cap="none" dirty="0">
                          <a:solidFill>
                            <a:srgbClr val="0070C0"/>
                          </a:solidFill>
                        </a:rPr>
                        <a:t>(HLEGU)</a:t>
                      </a:r>
                      <a:endParaRPr lang="en-US"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21 IYGN 109.9</a:t>
                      </a:r>
                    </a:p>
                  </a:txBody>
                  <a:tcPr marL="36000" marR="36000" marT="36000" marB="36000" anchor="ctr"/>
                </a:tc>
                <a:extLst>
                  <a:ext uri="{0D108BD9-81ED-4DB2-BD59-A6C34878D82A}">
                    <a16:rowId xmlns:a16="http://schemas.microsoft.com/office/drawing/2014/main" val="10003"/>
                  </a:ext>
                </a:extLst>
              </a:tr>
              <a:tr h="481901">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RWY 03 Taxi Upslope(more PWR), </a:t>
                      </a:r>
                    </a:p>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Caution </a:t>
                      </a:r>
                      <a:r>
                        <a:rPr lang="en-US" altLang="ko-KR" sz="800" b="1" dirty="0" err="1">
                          <a:solidFill>
                            <a:srgbClr val="C00000"/>
                          </a:solidFill>
                        </a:rPr>
                        <a:t>WingTip</a:t>
                      </a:r>
                      <a:r>
                        <a:rPr lang="en-US" altLang="ko-KR" sz="800" b="1" dirty="0">
                          <a:solidFill>
                            <a:srgbClr val="C00000"/>
                          </a:solidFill>
                        </a:rPr>
                        <a:t> (Watch out Safety Line)</a:t>
                      </a:r>
                      <a:endParaRPr lang="en-US" altLang="ko-Kore-KR" sz="800"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Ramp Area Dark(Consider LD L/T) </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D8C12F45-53F3-E393-0649-521D53C78F79}"/>
              </a:ext>
            </a:extLst>
          </p:cNvPr>
          <p:cNvGraphicFramePr/>
          <p:nvPr>
            <p:extLst>
              <p:ext uri="{D42A27DB-BD31-4B8C-83A1-F6EECF244321}">
                <p14:modId xmlns:p14="http://schemas.microsoft.com/office/powerpoint/2010/main" val="2647249102"/>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VYYY(RGN)110ft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solidFill>
                            <a:schemeClr val="bg1"/>
                          </a:solidFill>
                        </a:rPr>
                        <a:t>Oscar Papa 131.8</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-15 Min</a:t>
                      </a:r>
                      <a:r>
                        <a:rPr lang="ko-KR" altLang="en-US" sz="700" dirty="0">
                          <a:solidFill>
                            <a:srgbClr val="FF0000"/>
                          </a:solidFill>
                        </a:rPr>
                        <a:t> </a:t>
                      </a:r>
                      <a:r>
                        <a:rPr lang="en-US" altLang="ko-KR" sz="700" dirty="0">
                          <a:solidFill>
                            <a:srgbClr val="FF0000"/>
                          </a:solidFill>
                        </a:rPr>
                        <a:t>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83AD77D5-35D2-9EB9-E2A4-C339DCA4A4BE}"/>
              </a:ext>
            </a:extLst>
          </p:cNvPr>
          <p:cNvSpPr txBox="1"/>
          <p:nvPr/>
        </p:nvSpPr>
        <p:spPr>
          <a:xfrm>
            <a:off x="28030" y="2559484"/>
            <a:ext cx="636713" cy="370733"/>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APP 119.7</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5032A2-5F95-62DB-1E35-BBCDDD9DE9E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10" name="그래픽 9" descr="집 Wi-Fi에서 작업 단색으로 채워진">
            <a:hlinkClick r:id="" action="ppaction://hlinkshowjump?jump=firstslide"/>
            <a:extLst>
              <a:ext uri="{FF2B5EF4-FFF2-40B4-BE49-F238E27FC236}">
                <a16:creationId xmlns:a16="http://schemas.microsoft.com/office/drawing/2014/main" id="{A1057DBC-8B7B-E1A0-C969-57BB1B180B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61660"/>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DDE77380-AACA-00B3-297B-012DFEB21BC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95419009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801CEB07-D6BC-AE38-8DE2-E8A762AE379E}"/>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765B2828-0155-86C5-917D-DE4148564CD1}"/>
              </a:ext>
            </a:extLst>
          </p:cNvPr>
          <p:cNvGraphicFramePr/>
          <p:nvPr>
            <p:extLst>
              <p:ext uri="{D42A27DB-BD31-4B8C-83A1-F6EECF244321}">
                <p14:modId xmlns:p14="http://schemas.microsoft.com/office/powerpoint/2010/main" val="816526713"/>
              </p:ext>
            </p:extLst>
          </p:nvPr>
        </p:nvGraphicFramePr>
        <p:xfrm>
          <a:off x="-2501" y="9878"/>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VVPQ(PQC)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700" dirty="0">
                          <a:solidFill>
                            <a:srgbClr val="FF0000"/>
                          </a:solidFill>
                        </a:rPr>
                        <a:t>No ATIS</a:t>
                      </a:r>
                      <a:endParaRPr lang="en-US" sz="900" dirty="0">
                        <a:solidFill>
                          <a:srgbClr val="FF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3A5061-2858-4C5A-0562-DDDC0ECA7F0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6BF8FBC-7C18-4902-30D3-5B04204F46AF}"/>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528EB11E-68BD-7631-DB63-FD4BA665A9B5}"/>
              </a:ext>
            </a:extLst>
          </p:cNvPr>
          <p:cNvGraphicFramePr/>
          <p:nvPr>
            <p:extLst>
              <p:ext uri="{D42A27DB-BD31-4B8C-83A1-F6EECF244321}">
                <p14:modId xmlns:p14="http://schemas.microsoft.com/office/powerpoint/2010/main" val="1991773067"/>
              </p:ext>
            </p:extLst>
          </p:nvPr>
        </p:nvGraphicFramePr>
        <p:xfrm>
          <a:off x="-17467" y="3888183"/>
          <a:ext cx="2365375" cy="167065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PQC </a:t>
                      </a:r>
                      <a:r>
                        <a:rPr lang="en-US" sz="800" dirty="0">
                          <a:solidFill>
                            <a:srgbClr val="00B0F0"/>
                          </a:solidFill>
                        </a:rPr>
                        <a:t>[096/276]</a:t>
                      </a:r>
                      <a:r>
                        <a:rPr lang="en-US" sz="800" dirty="0"/>
                        <a:t> : STAR TL100 UTC+7 </a:t>
                      </a:r>
                      <a:r>
                        <a:rPr lang="en-US" sz="800" dirty="0">
                          <a:solidFill>
                            <a:srgbClr val="FFC000"/>
                          </a:solidFill>
                        </a:rPr>
                        <a:t> (CPDLC : VVHM)</a:t>
                      </a:r>
                    </a:p>
                    <a:p>
                      <a:pPr marL="0" marR="0" lvl="0" indent="0" algn="ctr" rtl="0">
                        <a:spcBef>
                          <a:spcPts val="0"/>
                        </a:spcBef>
                        <a:spcAft>
                          <a:spcPts val="0"/>
                        </a:spcAft>
                        <a:buNone/>
                      </a:pPr>
                      <a:r>
                        <a:rPr lang="en-US" sz="800" b="1" dirty="0">
                          <a:solidFill>
                            <a:srgbClr val="FFC000"/>
                          </a:solidFill>
                        </a:rPr>
                        <a:t>STAR RWY </a:t>
                      </a:r>
                      <a:r>
                        <a:rPr lang="en-US" sz="800" b="1" dirty="0" err="1">
                          <a:solidFill>
                            <a:srgbClr val="FFC000"/>
                          </a:solidFill>
                        </a:rPr>
                        <a:t>Wx</a:t>
                      </a:r>
                      <a:r>
                        <a:rPr lang="en-US" sz="800" b="1" dirty="0">
                          <a:solidFill>
                            <a:srgbClr val="FFC000"/>
                          </a:solidFill>
                        </a:rPr>
                        <a:t> From PHN or HCM Control(120.9)</a:t>
                      </a:r>
                      <a:endParaRP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28</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OSOTA </a:t>
                      </a:r>
                      <a:r>
                        <a:rPr lang="en-US" sz="800" b="1" dirty="0" err="1"/>
                        <a:t>xxE</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PQ328</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Z 28</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10</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OSOTA </a:t>
                      </a:r>
                      <a:r>
                        <a:rPr lang="en-US" sz="800" b="1" dirty="0" err="1"/>
                        <a:t>xxF</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PQ310</a:t>
                      </a:r>
                      <a:endParaRPr lang="en-US" sz="700" b="1" dirty="0"/>
                    </a:p>
                  </a:txBody>
                  <a:tcPr marL="36000" marR="36000" marT="36000" marB="36000" anchor="ctr"/>
                </a:tc>
                <a:tc>
                  <a:txBody>
                    <a:bodyPr/>
                    <a:lstStyle/>
                    <a:p>
                      <a:pPr algn="ctr"/>
                      <a:r>
                        <a:rPr lang="en-US" sz="800" b="1" dirty="0"/>
                        <a:t>ILS Z 10</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PQU , </a:t>
                      </a:r>
                      <a:r>
                        <a:rPr kumimoji="0" lang="en-US" altLang="ko-KR" sz="800" b="1" i="0" u="none" strike="noStrike" kern="1200" cap="none" spc="0" normalizeH="0" baseline="0" noProof="0" dirty="0">
                          <a:ln>
                            <a:noFill/>
                          </a:ln>
                          <a:solidFill>
                            <a:srgbClr val="C00000"/>
                          </a:solidFill>
                          <a:effectLst/>
                          <a:uLnTx/>
                          <a:uFillTx/>
                          <a:latin typeface="Calibri"/>
                          <a:cs typeface="Calibri"/>
                        </a:rPr>
                        <a:t>28 IPH, 10 IPQ</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28 : S6(6758’), S8(9662’), 10</a:t>
                      </a:r>
                      <a:r>
                        <a:rPr lang="en-US" altLang="ko-Kore-KR" sz="800" b="1" dirty="0">
                          <a:solidFill>
                            <a:schemeClr val="dk1"/>
                          </a:solidFill>
                        </a:rPr>
                        <a:t> : S4(6761’), S2(9665’)</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RWY 28 PAPI R/H not Accurate, </a:t>
                      </a:r>
                      <a:r>
                        <a:rPr lang="en-US" altLang="ko-Kore-KR" sz="800" b="1" dirty="0">
                          <a:solidFill>
                            <a:srgbClr val="C00000"/>
                          </a:solidFill>
                        </a:rPr>
                        <a:t>A2 Small A/C</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Stand 13A only </a:t>
                      </a:r>
                      <a:r>
                        <a:rPr lang="en-US" sz="800" dirty="0" err="1"/>
                        <a:t>Widebod</a:t>
                      </a:r>
                      <a:endParaRPr lang="en-US" sz="800" dirty="0"/>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dirty="0"/>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6C6E904F-975A-57A1-EF73-C83BE1F308E2}"/>
              </a:ext>
            </a:extLst>
          </p:cNvPr>
          <p:cNvSpPr txBox="1"/>
          <p:nvPr/>
        </p:nvSpPr>
        <p:spPr>
          <a:xfrm>
            <a:off x="-57320" y="2803378"/>
            <a:ext cx="2438488"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119.3 - </a:t>
            </a:r>
            <a:r>
              <a:rPr kumimoji="1" lang="en-US" altLang="ko-Kore-KR" sz="700" b="1" u="sng" dirty="0">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120.9(</a:t>
            </a:r>
            <a:r>
              <a:rPr kumimoji="1" lang="en-US" altLang="ko-Kore-KR" sz="700" b="1" u="sng" dirty="0" err="1">
                <a:solidFill>
                  <a:srgbClr val="00B0F0"/>
                </a:solidFill>
                <a:latin typeface="Gulim" panose="020B0600000101010101" pitchFamily="34" charset="-127"/>
                <a:ea typeface="Gulim" panose="020B0600000101010101" pitchFamily="34" charset="-127"/>
              </a:rPr>
              <a:t>STAR,RWY,Wx</a:t>
            </a:r>
            <a:r>
              <a:rPr kumimoji="1" lang="en-US" altLang="ko-Kore-KR" sz="700" b="1" u="sng" dirty="0">
                <a:solidFill>
                  <a:srgbClr val="00B0F0"/>
                </a:solidFill>
                <a:latin typeface="Gulim" panose="020B0600000101010101" pitchFamily="34" charset="-127"/>
                <a:ea typeface="Gulim" panose="020B0600000101010101" pitchFamily="34" charset="-127"/>
              </a:rPr>
              <a:t>)</a:t>
            </a:r>
            <a:r>
              <a:rPr kumimoji="1" lang="en-US" altLang="ko-Kore-KR" sz="700" b="1" u="sng" dirty="0">
                <a:latin typeface="Gulim" panose="020B0600000101010101" pitchFamily="34" charset="-127"/>
                <a:ea typeface="Gulim" panose="020B0600000101010101" pitchFamily="34" charset="-127"/>
              </a:rPr>
              <a:t> – </a:t>
            </a:r>
            <a:r>
              <a:rPr kumimoji="1" lang="en-US" altLang="ko-Kore-KR" sz="700" b="1" u="sng" dirty="0">
                <a:solidFill>
                  <a:srgbClr val="FF0000"/>
                </a:solidFill>
                <a:latin typeface="Gulim" panose="020B0600000101010101" pitchFamily="34" charset="-127"/>
                <a:ea typeface="Gulim" panose="020B0600000101010101" pitchFamily="34" charset="-127"/>
              </a:rPr>
              <a:t>No APP Freq</a:t>
            </a:r>
            <a:endParaRPr kumimoji="1" lang="en-US" altLang="ko-Kore-KR" sz="700" b="1" u="sng" dirty="0">
              <a:solidFill>
                <a:srgbClr val="00B0F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OSOTA PQC TWR 118.6</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6A0891E6-F0B6-EAEA-FD83-9D4B2EBB3B8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8698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5471247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11FBA564-C531-2A40-C8AF-C489334E1285}"/>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21261D91-7E28-BDEC-9C61-F4DF4B745037}"/>
              </a:ext>
            </a:extLst>
          </p:cNvPr>
          <p:cNvGraphicFramePr/>
          <p:nvPr>
            <p:extLst>
              <p:ext uri="{D42A27DB-BD31-4B8C-83A1-F6EECF244321}">
                <p14:modId xmlns:p14="http://schemas.microsoft.com/office/powerpoint/2010/main" val="405183482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VVPQ(PQC)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 </a:t>
                      </a:r>
                      <a:r>
                        <a:rPr lang="en-US" sz="900" dirty="0">
                          <a:solidFill>
                            <a:srgbClr val="FF0000"/>
                          </a:solidFill>
                        </a:rPr>
                        <a:t>No ATIS</a:t>
                      </a:r>
                      <a:endParaRPr sz="1400" dirty="0">
                        <a:solidFill>
                          <a:srgbClr val="FF0000"/>
                        </a:solidFill>
                      </a:endParaRPr>
                    </a:p>
                    <a:p>
                      <a:pPr marL="0" marR="0" lvl="0" indent="0" algn="ctr" rtl="0">
                        <a:spcBef>
                          <a:spcPts val="0"/>
                        </a:spcBef>
                        <a:spcAft>
                          <a:spcPts val="0"/>
                        </a:spcAft>
                        <a:buNone/>
                      </a:pPr>
                      <a:r>
                        <a:rPr lang="en-US" altLang="ko-KR" sz="700" dirty="0">
                          <a:solidFill>
                            <a:srgbClr val="FF0000"/>
                          </a:solidFill>
                        </a:rPr>
                        <a:t>GND 121.92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5284C3E-8BEF-37D4-303F-71D99571E17B}"/>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117;p3">
            <a:extLst>
              <a:ext uri="{FF2B5EF4-FFF2-40B4-BE49-F238E27FC236}">
                <a16:creationId xmlns:a16="http://schemas.microsoft.com/office/drawing/2014/main" id="{000E7AE2-F15F-A142-1B8E-B160A013438D}"/>
              </a:ext>
            </a:extLst>
          </p:cNvPr>
          <p:cNvGraphicFramePr/>
          <p:nvPr>
            <p:extLst>
              <p:ext uri="{D42A27DB-BD31-4B8C-83A1-F6EECF244321}">
                <p14:modId xmlns:p14="http://schemas.microsoft.com/office/powerpoint/2010/main" val="2095875310"/>
              </p:ext>
            </p:extLst>
          </p:nvPr>
        </p:nvGraphicFramePr>
        <p:xfrm>
          <a:off x="-15808" y="659525"/>
          <a:ext cx="2349161" cy="123289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441564">
                  <a:extLst>
                    <a:ext uri="{9D8B030D-6E8A-4147-A177-3AD203B41FA5}">
                      <a16:colId xmlns:a16="http://schemas.microsoft.com/office/drawing/2014/main" val="20002"/>
                    </a:ext>
                  </a:extLst>
                </a:gridCol>
                <a:gridCol w="251832">
                  <a:extLst>
                    <a:ext uri="{9D8B030D-6E8A-4147-A177-3AD203B41FA5}">
                      <a16:colId xmlns:a16="http://schemas.microsoft.com/office/drawing/2014/main" val="3172768267"/>
                    </a:ext>
                  </a:extLst>
                </a:gridCol>
                <a:gridCol w="531221">
                  <a:extLst>
                    <a:ext uri="{9D8B030D-6E8A-4147-A177-3AD203B41FA5}">
                      <a16:colId xmlns:a16="http://schemas.microsoft.com/office/drawing/2014/main" val="20004"/>
                    </a:ext>
                  </a:extLst>
                </a:gridCol>
                <a:gridCol w="783054">
                  <a:extLst>
                    <a:ext uri="{9D8B030D-6E8A-4147-A177-3AD203B41FA5}">
                      <a16:colId xmlns:a16="http://schemas.microsoft.com/office/drawing/2014/main" val="2219221630"/>
                    </a:ext>
                  </a:extLst>
                </a:gridCol>
              </a:tblGrid>
              <a:tr h="0">
                <a:tc gridSpan="5">
                  <a:txBody>
                    <a:bodyPr/>
                    <a:lstStyle/>
                    <a:p>
                      <a:pPr marL="0" marR="0" lvl="0" indent="0" algn="ctr" rtl="0">
                        <a:spcBef>
                          <a:spcPts val="0"/>
                        </a:spcBef>
                        <a:spcAft>
                          <a:spcPts val="0"/>
                        </a:spcAft>
                        <a:buNone/>
                      </a:pPr>
                      <a:r>
                        <a:rPr lang="en-US" sz="800" u="none" strike="noStrike" cap="none" dirty="0"/>
                        <a:t>PQC : RNP SID (NADP 1) TA 9000’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28</a:t>
                      </a:r>
                      <a:endParaRPr lang="en-US"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OSOTA </a:t>
                      </a:r>
                      <a:r>
                        <a:rPr lang="en-US" sz="800" b="1" u="none" strike="noStrike" cap="none" dirty="0" err="1">
                          <a:solidFill>
                            <a:srgbClr val="0070C0"/>
                          </a:solidFill>
                        </a:rPr>
                        <a:t>xxC</a:t>
                      </a:r>
                      <a:endParaRPr lang="ko-Kore-KR"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276 </a:t>
                      </a:r>
                      <a:r>
                        <a:rPr lang="en-US" sz="800" b="1" u="none" strike="noStrike" cap="none" dirty="0">
                          <a:solidFill>
                            <a:srgbClr val="0070C0"/>
                          </a:solidFill>
                        </a:rPr>
                        <a:t>ALT 6000</a:t>
                      </a:r>
                    </a:p>
                    <a:p>
                      <a:pPr algn="ctr"/>
                      <a:r>
                        <a:rPr lang="en-US" altLang="ko-Kore-KR" sz="800" b="1" u="none" strike="noStrike" cap="none" dirty="0">
                          <a:solidFill>
                            <a:srgbClr val="7030A0"/>
                          </a:solidFill>
                        </a:rPr>
                        <a:t>SPD 250 </a:t>
                      </a:r>
                      <a:r>
                        <a:rPr lang="en-US" altLang="ko-Kore-KR" sz="800" b="1" u="none" strike="noStrike" cap="none" dirty="0">
                          <a:solidFill>
                            <a:srgbClr val="F28943"/>
                          </a:solidFill>
                        </a:rPr>
                        <a:t>TA 9000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10</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OSOTA </a:t>
                      </a:r>
                      <a:r>
                        <a:rPr lang="en-US" altLang="ko-Kore-KR" sz="800" b="1" u="none" strike="noStrike" cap="none" dirty="0" err="1">
                          <a:solidFill>
                            <a:srgbClr val="0070C0"/>
                          </a:solidFill>
                        </a:rPr>
                        <a:t>xxD</a:t>
                      </a:r>
                      <a:endParaRPr lang="ko-Kore-KR"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096 </a:t>
                      </a:r>
                      <a:r>
                        <a:rPr lang="en-US" sz="800" b="1" u="none" strike="noStrike" cap="none" dirty="0">
                          <a:solidFill>
                            <a:srgbClr val="0070C0"/>
                          </a:solidFill>
                        </a:rPr>
                        <a:t>ALT ATC </a:t>
                      </a:r>
                      <a:r>
                        <a:rPr lang="en-US" sz="800" b="1" u="none" strike="noStrike" cap="none" dirty="0">
                          <a:solidFill>
                            <a:srgbClr val="F28943"/>
                          </a:solidFill>
                        </a:rPr>
                        <a:t>TA 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PQU 113.0</a:t>
                      </a: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28 IPH 108.7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 IPQ 108.1</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10003"/>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LINE UP via RWY 28 S2/S1 or RWY 10 S8/S9</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0EB1F10-20F6-C837-8DC7-ABF2AAFE2E7D}"/>
              </a:ext>
            </a:extLst>
          </p:cNvPr>
          <p:cNvSpPr txBox="1"/>
          <p:nvPr/>
        </p:nvSpPr>
        <p:spPr>
          <a:xfrm>
            <a:off x="4512" y="2046718"/>
            <a:ext cx="2071401" cy="1178647"/>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TWR 118.6 </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10000ft  PNH 132.4/127.5 or HCM 120.9</a:t>
            </a:r>
          </a:p>
          <a:p>
            <a:pPr>
              <a:lnSpc>
                <a:spcPct val="150000"/>
              </a:lnSpc>
            </a:pPr>
            <a:r>
              <a:rPr kumimoji="1" lang="en-US" altLang="ko-Kore-KR" sz="700" b="1" u="sng" dirty="0">
                <a:latin typeface="Gulim" panose="020B0600000101010101" pitchFamily="34" charset="-127"/>
                <a:ea typeface="Gulim" panose="020B0600000101010101" pitchFamily="34" charset="-127"/>
              </a:rPr>
              <a:t>HCM 120.1 - 134.05</a:t>
            </a:r>
          </a:p>
          <a:p>
            <a:pPr>
              <a:lnSpc>
                <a:spcPct val="150000"/>
              </a:lnSpc>
            </a:pPr>
            <a:r>
              <a:rPr kumimoji="1" lang="en-US" altLang="ko-Kore-KR" sz="700" b="1" u="sng" dirty="0">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AA2F5277-420D-31CE-038B-DF300B053FD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62992"/>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9B5FD8FA-4E42-AD59-2A59-4D0055715E5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46971335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2122D84-F1F0-7924-D5B2-E7AD4B8CC41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474643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333575172"/>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 </a:t>
                      </a:r>
                      <a:r>
                        <a:rPr lang="en-US" sz="800" b="1" dirty="0">
                          <a:solidFill>
                            <a:srgbClr val="F28943"/>
                          </a:solidFill>
                        </a:rPr>
                        <a:t>TA18000</a:t>
                      </a:r>
                      <a:endParaRPr lang="ko-Kore-KR" altLang="en-US" dirty="0">
                        <a:solidFill>
                          <a:srgbClr val="F28943"/>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 </a:t>
                      </a:r>
                      <a:r>
                        <a:rPr lang="en-US" sz="800" dirty="0">
                          <a:solidFill>
                            <a:srgbClr val="F28943"/>
                          </a:solidFill>
                        </a:rPr>
                        <a:t>TA18000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pic>
        <p:nvPicPr>
          <p:cNvPr id="4" name="그래픽 3" descr="집 Wi-Fi에서 작업 단색으로 채워진">
            <a:hlinkClick r:id="" action="ppaction://hlinkshowjump?jump=firstslide"/>
            <a:extLst>
              <a:ext uri="{FF2B5EF4-FFF2-40B4-BE49-F238E27FC236}">
                <a16:creationId xmlns:a16="http://schemas.microsoft.com/office/drawing/2014/main" id="{640B8F90-F592-DDAB-EFF4-9602FEA2D1F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421023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B5FA85F4-F279-9339-2887-30099F425A2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75853213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220619331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dirty="0">
                          <a:solidFill>
                            <a:srgbClr val="0070C0"/>
                          </a:solidFill>
                        </a:rPr>
                        <a:t>ALT ATC</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EA7A4F61-E791-AE7A-2251-38C033672DC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94022"/>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0763C149-D220-A6F2-4D0A-49E610144998}"/>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9185289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3664685500"/>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Unable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68271" y="2747513"/>
            <a:ext cx="2161169" cy="855482"/>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CPDLC &amp; PSN Report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RJJJ – KZAK(FIR) – AYPM(FIR) – YBBB(FIR)</a:t>
            </a:r>
          </a:p>
          <a:p>
            <a:pPr lvl="0">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(Cross GUM airspace 250NM 118.7, SQ2100)</a:t>
            </a:r>
          </a:p>
          <a:p>
            <a:pPr lvl="0">
              <a:lnSpc>
                <a:spcPct val="150000"/>
              </a:lnSpc>
            </a:pPr>
            <a:r>
              <a:rPr kumimoji="1" lang="en-US" altLang="ko-KR" sz="700" b="1" u="sng" dirty="0">
                <a:latin typeface="Gulim" panose="020B0600000101010101" pitchFamily="34" charset="-127"/>
                <a:ea typeface="Gulim" panose="020B0600000101010101" pitchFamily="34" charset="-127"/>
              </a:rPr>
              <a:t>FIR PSN Report Caution </a:t>
            </a:r>
            <a:r>
              <a:rPr kumimoji="1" lang="en-US" altLang="ko-KR" sz="700" b="1" u="sng" dirty="0" err="1">
                <a:latin typeface="Gulim" panose="020B0600000101010101" pitchFamily="34" charset="-127"/>
                <a:ea typeface="Gulim" panose="020B0600000101010101" pitchFamily="34" charset="-127"/>
              </a:rPr>
              <a:t>Wx</a:t>
            </a:r>
            <a:r>
              <a:rPr kumimoji="1" lang="en-US" altLang="ko-KR" sz="700" b="1" u="sng" dirty="0">
                <a:latin typeface="Gulim" panose="020B0600000101010101" pitchFamily="34" charset="-127"/>
                <a:ea typeface="Gulim" panose="020B0600000101010101" pitchFamily="34" charset="-127"/>
              </a:rPr>
              <a:t> DEV Sequence</a:t>
            </a:r>
          </a:p>
          <a:p>
            <a:pPr lvl="0">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EDB8CF7-4F7D-9EA3-71B0-31F64BCD33D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0358816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3351564994"/>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 </a:t>
                      </a: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 </a:t>
                      </a:r>
                      <a:r>
                        <a:rPr lang="en-US" altLang="ko-Kore-KR" sz="800" b="1" dirty="0">
                          <a:solidFill>
                            <a:srgbClr val="F28943"/>
                          </a:solidFill>
                        </a:rPr>
                        <a:t>TA 10000</a:t>
                      </a:r>
                      <a:endParaRPr lang="en-US" sz="800" b="1"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5356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079DEC8B-8F7C-717B-62B8-9329A921994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75156"/>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1B3E68C1-DEAE-46A5-D089-98534D121C33}"/>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71955187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B7C0E99-F4ED-0D96-0D56-3E79B45D0E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7FF0D5-064A-09CB-C6F2-F143ACAD2A1F}"/>
              </a:ext>
            </a:extLst>
          </p:cNvPr>
          <p:cNvSpPr txBox="1"/>
          <p:nvPr/>
        </p:nvSpPr>
        <p:spPr>
          <a:xfrm>
            <a:off x="-22708" y="2888697"/>
            <a:ext cx="1531188"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5min Before POLHO </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Boundary Report to UBN 126.5</a:t>
            </a:r>
          </a:p>
        </p:txBody>
      </p:sp>
      <p:graphicFrame>
        <p:nvGraphicFramePr>
          <p:cNvPr id="292" name="Google Shape;292;p18">
            <a:extLst>
              <a:ext uri="{FF2B5EF4-FFF2-40B4-BE49-F238E27FC236}">
                <a16:creationId xmlns:a16="http://schemas.microsoft.com/office/drawing/2014/main" id="{8C5E93A8-6B6E-2C1C-8472-3D0B62508795}"/>
              </a:ext>
            </a:extLst>
          </p:cNvPr>
          <p:cNvGraphicFramePr/>
          <p:nvPr>
            <p:extLst>
              <p:ext uri="{D42A27DB-BD31-4B8C-83A1-F6EECF244321}">
                <p14:modId xmlns:p14="http://schemas.microsoft.com/office/powerpoint/2010/main" val="221406458"/>
              </p:ext>
            </p:extLst>
          </p:nvPr>
        </p:nvGraphicFramePr>
        <p:xfrm>
          <a:off x="-6571" y="4008267"/>
          <a:ext cx="2333879" cy="1538482"/>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735496">
                  <a:extLst>
                    <a:ext uri="{9D8B030D-6E8A-4147-A177-3AD203B41FA5}">
                      <a16:colId xmlns:a16="http://schemas.microsoft.com/office/drawing/2014/main" val="20001"/>
                    </a:ext>
                  </a:extLst>
                </a:gridCol>
                <a:gridCol w="530536">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UBN </a:t>
                      </a:r>
                      <a:r>
                        <a:rPr lang="en-US" sz="800" dirty="0">
                          <a:solidFill>
                            <a:srgbClr val="00B0F0"/>
                          </a:solidFill>
                        </a:rPr>
                        <a:t>[110/290]</a:t>
                      </a:r>
                      <a:r>
                        <a:rPr lang="en-US" sz="800" dirty="0"/>
                        <a:t> TL 148 :</a:t>
                      </a:r>
                      <a:r>
                        <a:rPr lang="en-US" sz="800" dirty="0">
                          <a:solidFill>
                            <a:srgbClr val="FFC000"/>
                          </a:solidFill>
                        </a:rPr>
                        <a:t> Hi FE,TERR/Restrict Area</a:t>
                      </a:r>
                    </a:p>
                    <a:p>
                      <a:pPr marL="0" marR="0" lvl="0" indent="0" algn="ctr" rtl="0">
                        <a:spcBef>
                          <a:spcPts val="0"/>
                        </a:spcBef>
                        <a:spcAft>
                          <a:spcPts val="0"/>
                        </a:spcAft>
                        <a:buNone/>
                      </a:pPr>
                      <a:r>
                        <a:rPr lang="en-US" sz="800" b="0" dirty="0">
                          <a:solidFill>
                            <a:srgbClr val="FCFCFC"/>
                          </a:solidFill>
                        </a:rPr>
                        <a:t>CTC UBT CTL 5min Before FIR(POLHO, INTIK)</a:t>
                      </a:r>
                    </a:p>
                    <a:p>
                      <a:pPr marL="0" marR="0" lvl="0" indent="0" algn="ctr" rtl="0">
                        <a:spcBef>
                          <a:spcPts val="0"/>
                        </a:spcBef>
                        <a:spcAft>
                          <a:spcPts val="0"/>
                        </a:spcAft>
                        <a:buNone/>
                      </a:pPr>
                      <a:r>
                        <a:rPr lang="en-US" sz="800" b="0" dirty="0">
                          <a:solidFill>
                            <a:srgbClr val="FCFCFC"/>
                          </a:solidFill>
                        </a:rPr>
                        <a:t>UBT CTL ask L/D Time, </a:t>
                      </a:r>
                      <a:r>
                        <a:rPr lang="en-US" sz="800" b="1" dirty="0">
                          <a:solidFill>
                            <a:srgbClr val="C00000"/>
                          </a:solidFill>
                        </a:rPr>
                        <a:t>Hi FE &amp; Sink Rate due TAS</a:t>
                      </a:r>
                      <a:endParaRPr sz="800" b="1"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29</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MENUG xx W</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ZONAM</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X 29</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sz="800" b="1" dirty="0"/>
                        <a:t>11</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0070C0"/>
                          </a:solidFill>
                        </a:rPr>
                        <a:t>MENUG xx V</a:t>
                      </a:r>
                      <a:endParaRPr lang="en-US" altLang="ko-Kore-KR" sz="800" b="0" dirty="0"/>
                    </a:p>
                  </a:txBody>
                  <a:tcPr marL="36000" marR="36000" marT="36000" marB="36000" anchor="ctr"/>
                </a:tc>
                <a:tc>
                  <a:txBody>
                    <a:bodyPr/>
                    <a:lstStyle/>
                    <a:p>
                      <a:pPr marL="0" marR="0" lvl="0" indent="0" algn="ctr" rtl="0">
                        <a:spcBef>
                          <a:spcPts val="0"/>
                        </a:spcBef>
                        <a:spcAft>
                          <a:spcPts val="0"/>
                        </a:spcAft>
                        <a:buNone/>
                      </a:pPr>
                      <a:r>
                        <a:rPr lang="en-US" sz="800" b="1" dirty="0"/>
                        <a:t>CK113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11 </a:t>
                      </a:r>
                      <a:r>
                        <a:rPr lang="en-US" altLang="ko-Kore-KR" sz="800" b="1" dirty="0">
                          <a:solidFill>
                            <a:srgbClr val="0070C0"/>
                          </a:solidFill>
                        </a:rPr>
                        <a:t>(Req)</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SER, </a:t>
                      </a:r>
                      <a:r>
                        <a:rPr lang="en-US" sz="800" b="1" dirty="0">
                          <a:solidFill>
                            <a:srgbClr val="C00000"/>
                          </a:solidFill>
                        </a:rPr>
                        <a:t>29 CDA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96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29 :C(5761’), </a:t>
                      </a:r>
                      <a:r>
                        <a:rPr lang="en-US" sz="800" b="1" dirty="0">
                          <a:solidFill>
                            <a:srgbClr val="FF0000"/>
                          </a:solidFill>
                        </a:rPr>
                        <a:t>B(8241’),</a:t>
                      </a:r>
                      <a:r>
                        <a:rPr lang="en-US" sz="800" b="1" dirty="0">
                          <a:solidFill>
                            <a:srgbClr val="0070C0"/>
                          </a:solidFill>
                        </a:rPr>
                        <a:t>END RWY, </a:t>
                      </a:r>
                      <a:r>
                        <a:rPr lang="en-US" sz="800" b="1" dirty="0">
                          <a:solidFill>
                            <a:srgbClr val="FF0000"/>
                          </a:solidFill>
                        </a:rPr>
                        <a:t> </a:t>
                      </a:r>
                      <a:r>
                        <a:rPr lang="en-US" sz="800" b="1" dirty="0">
                          <a:solidFill>
                            <a:schemeClr val="dk1"/>
                          </a:solidFill>
                        </a:rPr>
                        <a:t>11 : C(5761’),D(8231’)</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2 A330 Must Follow Dashed Line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24A1E274-C74B-8377-4D89-C9950BBBA6DF}"/>
              </a:ext>
            </a:extLst>
          </p:cNvPr>
          <p:cNvGraphicFramePr/>
          <p:nvPr>
            <p:extLst>
              <p:ext uri="{D42A27DB-BD31-4B8C-83A1-F6EECF244321}">
                <p14:modId xmlns:p14="http://schemas.microsoft.com/office/powerpoint/2010/main" val="78167838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ZMCK(UBN)</a:t>
                      </a:r>
                      <a:r>
                        <a:rPr lang="en-US" sz="1100" dirty="0">
                          <a:solidFill>
                            <a:srgbClr val="C00000"/>
                          </a:solidFill>
                          <a:hlinkClick r:id="rId4">
                            <a:extLst>
                              <a:ext uri="{A12FA001-AC4F-418D-AE19-62706E023703}">
                                <ahyp:hlinkClr xmlns:ahyp="http://schemas.microsoft.com/office/drawing/2018/hyperlinkcolor" val="tx"/>
                              </a:ext>
                            </a:extLst>
                          </a:hlinkClick>
                        </a:rPr>
                        <a:t>4485ft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900" dirty="0">
                          <a:solidFill>
                            <a:srgbClr val="C00000"/>
                          </a:solidFill>
                        </a:rPr>
                        <a:t>No D-ATIS</a:t>
                      </a:r>
                      <a:endParaRPr sz="9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C3817D0-25C7-46CF-B3FF-984C5520644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6D6F5FF-E7B4-AD02-4852-10514DAA0400}"/>
              </a:ext>
            </a:extLst>
          </p:cNvPr>
          <p:cNvGraphicFramePr/>
          <p:nvPr>
            <p:extLst>
              <p:ext uri="{D42A27DB-BD31-4B8C-83A1-F6EECF244321}">
                <p14:modId xmlns:p14="http://schemas.microsoft.com/office/powerpoint/2010/main" val="2238132683"/>
              </p:ext>
            </p:extLst>
          </p:nvPr>
        </p:nvGraphicFramePr>
        <p:xfrm>
          <a:off x="1" y="643197"/>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E50BE71-2FC0-F0B3-E7D2-729DA77C0BD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24051147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022B1-085A-75F9-1CF1-572381D6DDB3}"/>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12F796F-1AAA-4ED2-0ECA-9A89CE11B500}"/>
              </a:ext>
            </a:extLst>
          </p:cNvPr>
          <p:cNvGraphicFramePr>
            <a:graphicFrameLocks noGrp="1"/>
          </p:cNvGraphicFramePr>
          <p:nvPr>
            <p:ph idx="1"/>
            <p:extLst>
              <p:ext uri="{D42A27DB-BD31-4B8C-83A1-F6EECF244321}">
                <p14:modId xmlns:p14="http://schemas.microsoft.com/office/powerpoint/2010/main" val="2397723122"/>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4,500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14,800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3,900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12,800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352CADC-4005-A80E-FF0C-566D0533D6DB}"/>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C493C74-7CBF-197B-27DF-D12D34FFDA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953B317-20B9-A185-E378-C8CCB8D2925D}"/>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7205993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C94FA3D-C21B-28DC-ADF8-800E7F3FE6C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BE83C2B6-7783-7E58-83A6-2415DA236912}"/>
              </a:ext>
            </a:extLst>
          </p:cNvPr>
          <p:cNvGraphicFramePr/>
          <p:nvPr>
            <p:extLst>
              <p:ext uri="{D42A27DB-BD31-4B8C-83A1-F6EECF244321}">
                <p14:modId xmlns:p14="http://schemas.microsoft.com/office/powerpoint/2010/main" val="7598730"/>
              </p:ext>
            </p:extLst>
          </p:nvPr>
        </p:nvGraphicFramePr>
        <p:xfrm>
          <a:off x="-4046" y="704196"/>
          <a:ext cx="2332909" cy="1304890"/>
        </p:xfrm>
        <a:graphic>
          <a:graphicData uri="http://schemas.openxmlformats.org/drawingml/2006/table">
            <a:tbl>
              <a:tblPr firstRow="1" bandRow="1">
                <a:noFill/>
                <a:tableStyleId>{A521BE36-7E6F-4EC9-8D66-1CF97A6895EC}</a:tableStyleId>
              </a:tblPr>
              <a:tblGrid>
                <a:gridCol w="227615">
                  <a:extLst>
                    <a:ext uri="{9D8B030D-6E8A-4147-A177-3AD203B41FA5}">
                      <a16:colId xmlns:a16="http://schemas.microsoft.com/office/drawing/2014/main" val="20000"/>
                    </a:ext>
                  </a:extLst>
                </a:gridCol>
                <a:gridCol w="896908">
                  <a:extLst>
                    <a:ext uri="{9D8B030D-6E8A-4147-A177-3AD203B41FA5}">
                      <a16:colId xmlns:a16="http://schemas.microsoft.com/office/drawing/2014/main" val="20001"/>
                    </a:ext>
                  </a:extLst>
                </a:gridCol>
                <a:gridCol w="1208386">
                  <a:extLst>
                    <a:ext uri="{9D8B030D-6E8A-4147-A177-3AD203B41FA5}">
                      <a16:colId xmlns:a16="http://schemas.microsoft.com/office/drawing/2014/main" val="20005"/>
                    </a:ext>
                  </a:extLst>
                </a:gridCol>
              </a:tblGrid>
              <a:tr h="0">
                <a:tc gridSpan="3">
                  <a:txBody>
                    <a:bodyPr/>
                    <a:lstStyle/>
                    <a:p>
                      <a:pPr marL="0" marR="0" lvl="0" indent="0" algn="ctr" rtl="0">
                        <a:spcBef>
                          <a:spcPts val="0"/>
                        </a:spcBef>
                        <a:spcAft>
                          <a:spcPts val="0"/>
                        </a:spcAft>
                        <a:buNone/>
                      </a:pPr>
                      <a:r>
                        <a:rPr lang="en-US" sz="800" u="none" strike="noStrike" cap="none" dirty="0"/>
                        <a:t>UBN : SID (NADP 1) TA 128 </a:t>
                      </a: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29</a:t>
                      </a:r>
                      <a:endParaRPr lang="en-US"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MENUG x A</a:t>
                      </a:r>
                      <a:r>
                        <a:rPr lang="en-US" sz="800" b="0" u="none" strike="noStrike" cap="none" dirty="0">
                          <a:solidFill>
                            <a:schemeClr val="bg1"/>
                          </a:solidFill>
                        </a:rPr>
                        <a:t>/C</a:t>
                      </a:r>
                    </a:p>
                  </a:txBody>
                  <a:tcPr marL="36000" marR="36000" marT="36000" marB="36000" anchor="ctr"/>
                </a:tc>
                <a:tc>
                  <a:txBody>
                    <a:bodyPr/>
                    <a:lstStyle/>
                    <a:p>
                      <a:pPr algn="ctr"/>
                      <a:r>
                        <a:rPr lang="en-US" sz="800" b="1" u="none" strike="noStrike" cap="none" dirty="0"/>
                        <a:t>HD 290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11</a:t>
                      </a:r>
                      <a:endParaRPr sz="800" b="0" u="none" strike="noStrike" cap="none" dirty="0"/>
                    </a:p>
                  </a:txBody>
                  <a:tcPr marL="36000" marR="3600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MENUG x B</a:t>
                      </a:r>
                      <a:r>
                        <a:rPr lang="en-US" altLang="ko-Kore-KR" sz="800" b="0" u="none" strike="noStrike" cap="none" dirty="0">
                          <a:solidFill>
                            <a:schemeClr val="bg1"/>
                          </a:solidFill>
                        </a:rPr>
                        <a:t>/D</a:t>
                      </a:r>
                    </a:p>
                  </a:txBody>
                  <a:tcPr marL="36000" marR="36000" marT="36000" marB="36000" anchor="ctr"/>
                </a:tc>
                <a:tc>
                  <a:txBody>
                    <a:bodyPr/>
                    <a:lstStyle/>
                    <a:p>
                      <a:pPr algn="ctr"/>
                      <a:r>
                        <a:rPr lang="en-US" sz="800" b="1" u="none" strike="noStrike" cap="none" dirty="0"/>
                        <a:t>HD 110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SER 116.9</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29 CDA109.9</a:t>
                      </a:r>
                      <a:endParaRPr lang="ko-Kore-KR" dirty="0"/>
                    </a:p>
                  </a:txBody>
                  <a:tcPr marL="36000" marR="36000" marT="36000" marB="36000" anchor="ctr"/>
                </a:tc>
                <a:extLst>
                  <a:ext uri="{0D108BD9-81ED-4DB2-BD59-A6C34878D82A}">
                    <a16:rowId xmlns:a16="http://schemas.microsoft.com/office/drawing/2014/main" val="1446403819"/>
                  </a:ext>
                </a:extLst>
              </a:tr>
              <a:tr h="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29 : SER 290/4, R343, SER R</a:t>
                      </a:r>
                      <a:r>
                        <a:rPr lang="en-US" altLang="ko-KR" sz="800" b="0" u="none" strike="noStrike" cap="none" dirty="0">
                          <a:solidFill>
                            <a:schemeClr val="bg1"/>
                          </a:solidFill>
                        </a:rPr>
                        <a:t>133</a:t>
                      </a:r>
                      <a:r>
                        <a:rPr lang="en-US" altLang="ko-Kore-KR" sz="800" b="0" u="none" strike="noStrike" cap="none" dirty="0">
                          <a:solidFill>
                            <a:schemeClr val="bg1"/>
                          </a:solidFill>
                        </a:rPr>
                        <a:t>, SER 290/10, R260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11: SER 110/1.5, SER R313, SER 290/10, R260</a:t>
                      </a:r>
                    </a:p>
                  </a:txBody>
                  <a:tcPr marL="0" marR="0" marT="36000" marB="36000" anchor="ctr"/>
                </a:tc>
                <a:tc hMerge="1">
                  <a:txBody>
                    <a:bodyPr/>
                    <a:lstStyle/>
                    <a:p>
                      <a:endParaRPr/>
                    </a:p>
                  </a:txBody>
                  <a:tcPr marL="36000" marR="36000" marT="36000" marB="36000" anchor="ctr"/>
                </a:tc>
                <a:extLst>
                  <a:ext uri="{0D108BD9-81ED-4DB2-BD59-A6C34878D82A}">
                    <a16:rowId xmlns:a16="http://schemas.microsoft.com/office/drawing/2014/main" val="10005"/>
                  </a:ext>
                </a:extLst>
              </a:tr>
              <a:tr h="115700">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C00000"/>
                          </a:solidFill>
                        </a:rPr>
                        <a:t>TWY F very Narrow, TWY B,D Opposite Turn Prohibit</a:t>
                      </a:r>
                      <a:endParaRPr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DC0F480D-A1F5-810E-A17B-58EF566CA446}"/>
              </a:ext>
            </a:extLst>
          </p:cNvPr>
          <p:cNvGraphicFramePr/>
          <p:nvPr>
            <p:extLst>
              <p:ext uri="{D42A27DB-BD31-4B8C-83A1-F6EECF244321}">
                <p14:modId xmlns:p14="http://schemas.microsoft.com/office/powerpoint/2010/main" val="891064831"/>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ZMCK(UBN)</a:t>
                      </a:r>
                      <a:r>
                        <a:rPr kumimoji="0" lang="en-US" altLang="ko-Kore-KR" sz="11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4485ft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b="1" dirty="0"/>
                        <a:t>None</a:t>
                      </a:r>
                    </a:p>
                    <a:p>
                      <a:pPr marL="0" marR="0" lvl="0" indent="0" algn="ctr" rtl="0">
                        <a:spcBef>
                          <a:spcPts val="0"/>
                        </a:spcBef>
                        <a:spcAft>
                          <a:spcPts val="0"/>
                        </a:spcAft>
                        <a:buNone/>
                      </a:pPr>
                      <a:r>
                        <a:rPr lang="en-US" sz="800" b="1" dirty="0">
                          <a:solidFill>
                            <a:srgbClr val="C00000"/>
                          </a:solidFill>
                        </a:rPr>
                        <a:t>No D-ATIS</a:t>
                      </a:r>
                      <a:endParaRPr sz="1200" b="1" dirty="0">
                        <a:solidFill>
                          <a:srgbClr val="C00000"/>
                        </a:solidFill>
                      </a:endParaRPr>
                    </a:p>
                    <a:p>
                      <a:pPr marL="0" marR="0" lvl="0" indent="0" algn="ctr" rtl="0">
                        <a:spcBef>
                          <a:spcPts val="0"/>
                        </a:spcBef>
                        <a:spcAft>
                          <a:spcPts val="0"/>
                        </a:spcAft>
                        <a:buNone/>
                      </a:pPr>
                      <a:r>
                        <a:rPr lang="en-US" altLang="ko-KR" sz="700" b="1" dirty="0">
                          <a:solidFill>
                            <a:srgbClr val="C00000"/>
                          </a:solidFill>
                        </a:rPr>
                        <a:t>CLR by Voice to TWR 129.0</a:t>
                      </a:r>
                      <a:endParaRPr sz="7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8149120B-E31F-C8E3-0B29-F8DE8574C8E2}"/>
              </a:ext>
            </a:extLst>
          </p:cNvPr>
          <p:cNvSpPr txBox="1"/>
          <p:nvPr/>
        </p:nvSpPr>
        <p:spPr>
          <a:xfrm>
            <a:off x="916297" y="2054340"/>
            <a:ext cx="1374094" cy="1017064"/>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120.0</a:t>
            </a:r>
          </a:p>
          <a:p>
            <a:pPr>
              <a:lnSpc>
                <a:spcPct val="150000"/>
              </a:lnSpc>
            </a:pPr>
            <a:r>
              <a:rPr kumimoji="1" lang="en-US" altLang="ko-KR" sz="700" b="1" u="sng" dirty="0">
                <a:latin typeface="Gulim" panose="020B0600000101010101" pitchFamily="34" charset="-127"/>
                <a:ea typeface="Gulim" panose="020B0600000101010101" pitchFamily="34" charset="-127"/>
              </a:rPr>
              <a:t>UBN 126.0 – 126.5</a:t>
            </a:r>
          </a:p>
          <a:p>
            <a:pPr>
              <a:lnSpc>
                <a:spcPct val="150000"/>
              </a:lnSpc>
            </a:pP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Boundary Report 15-20min</a:t>
            </a: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PEK 133.025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CF5DCBE-2BDB-51F5-103C-1ACCB9F75F4F}"/>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1238F32-6407-DAD8-3BBA-E327C40F6B7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14464472-8F1F-6A3B-5705-7C3F95BE3EEB}"/>
              </a:ext>
            </a:extLst>
          </p:cNvPr>
          <p:cNvPicPr>
            <a:picLocks noChangeAspect="1"/>
          </p:cNvPicPr>
          <p:nvPr/>
        </p:nvPicPr>
        <p:blipFill>
          <a:blip r:embed="rId8"/>
          <a:stretch>
            <a:fillRect/>
          </a:stretch>
        </p:blipFill>
        <p:spPr>
          <a:xfrm>
            <a:off x="0" y="2015483"/>
            <a:ext cx="900732" cy="644331"/>
          </a:xfrm>
          <a:prstGeom prst="rect">
            <a:avLst/>
          </a:prstGeom>
        </p:spPr>
      </p:pic>
      <p:graphicFrame>
        <p:nvGraphicFramePr>
          <p:cNvPr id="3" name="Google Shape;283;p17">
            <a:extLst>
              <a:ext uri="{FF2B5EF4-FFF2-40B4-BE49-F238E27FC236}">
                <a16:creationId xmlns:a16="http://schemas.microsoft.com/office/drawing/2014/main" id="{DA9B6491-0217-DC0C-4760-227DEA905AC6}"/>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9397703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0098898-BE91-ED49-1468-6F9ED76DC8D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9E5BB5-46C7-629C-B832-ED85CEF745AA}"/>
              </a:ext>
            </a:extLst>
          </p:cNvPr>
          <p:cNvSpPr txBox="1"/>
          <p:nvPr/>
        </p:nvSpPr>
        <p:spPr>
          <a:xfrm>
            <a:off x="-35464" y="2805919"/>
            <a:ext cx="2464136" cy="1178647"/>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S RTE : </a:t>
            </a:r>
            <a:r>
              <a:rPr kumimoji="1" lang="en-US" altLang="ko-Kore-KR" sz="700" b="1" u="sng" dirty="0">
                <a:solidFill>
                  <a:srgbClr val="FFC000"/>
                </a:solidFill>
                <a:latin typeface="Gulim" panose="020B0600000101010101" pitchFamily="34" charset="-127"/>
                <a:ea typeface="Gulim" panose="020B0600000101010101" pitchFamily="34" charset="-127"/>
              </a:rPr>
              <a:t>CHILA</a:t>
            </a:r>
            <a:r>
              <a:rPr kumimoji="1" lang="en-US" altLang="ko-Kore-KR" sz="700" b="1" u="sng" dirty="0">
                <a:latin typeface="Gulim" panose="020B0600000101010101" pitchFamily="34" charset="-127"/>
                <a:ea typeface="Gulim" panose="020B0600000101010101" pitchFamily="34" charset="-127"/>
              </a:rPr>
              <a:t> Report YANGON, DAKHA, KOLKATA</a:t>
            </a:r>
          </a:p>
          <a:p>
            <a:pPr>
              <a:lnSpc>
                <a:spcPct val="150000"/>
              </a:lnSpc>
            </a:pPr>
            <a:r>
              <a:rPr kumimoji="1" lang="en-US" altLang="ko-Kore-KR" sz="700" b="1" u="sng" dirty="0">
                <a:latin typeface="Gulim" panose="020B0600000101010101" pitchFamily="34" charset="-127"/>
                <a:ea typeface="Gulim" panose="020B0600000101010101" pitchFamily="34" charset="-127"/>
              </a:rPr>
              <a:t>Boundary Report</a:t>
            </a:r>
          </a:p>
          <a:p>
            <a:pPr>
              <a:lnSpc>
                <a:spcPct val="150000"/>
              </a:lnSpc>
            </a:pPr>
            <a:r>
              <a:rPr kumimoji="1" lang="en-US" altLang="ko-Kore-KR" sz="700" b="1" u="sng" dirty="0">
                <a:latin typeface="Gulim" panose="020B0600000101010101" pitchFamily="34" charset="-127"/>
                <a:ea typeface="Gulim" panose="020B0600000101010101" pitchFamily="34" charset="-127"/>
              </a:rPr>
              <a:t>- PURPA(W112) : </a:t>
            </a:r>
            <a:r>
              <a:rPr kumimoji="1" lang="en-US" altLang="ko-Kore-KR" sz="700" b="1" u="sng" dirty="0" err="1">
                <a:latin typeface="Gulim" panose="020B0600000101010101" pitchFamily="34" charset="-127"/>
                <a:ea typeface="Gulim" panose="020B0600000101010101" pitchFamily="34" charset="-127"/>
              </a:rPr>
              <a:t>islamabad</a:t>
            </a:r>
            <a:r>
              <a:rPr kumimoji="1" lang="en-US" altLang="ko-Kore-KR" sz="700" b="1" u="sng" dirty="0">
                <a:latin typeface="Gulim" panose="020B0600000101010101" pitchFamily="34" charset="-127"/>
                <a:ea typeface="Gulim" panose="020B0600000101010101" pitchFamily="34" charset="-127"/>
              </a:rPr>
              <a:t>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APELO(B505) : Karachi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DERBO(G452) : Air Defense RDR Before10min</a:t>
            </a:r>
          </a:p>
          <a:p>
            <a:pPr>
              <a:lnSpc>
                <a:spcPct val="150000"/>
              </a:lnSpc>
            </a:pPr>
            <a:r>
              <a:rPr kumimoji="1" lang="en-US" altLang="ko-Kore-KR" sz="700" b="1" u="sng" dirty="0">
                <a:latin typeface="Gulim" panose="020B0600000101010101" pitchFamily="34" charset="-127"/>
                <a:ea typeface="Gulim" panose="020B0600000101010101" pitchFamily="34" charset="-127"/>
              </a:rPr>
              <a:t>over IRAN : Air Defense RDR (127.8/135.1) </a:t>
            </a:r>
          </a:p>
          <a:p>
            <a:pPr>
              <a:lnSpc>
                <a:spcPct val="150000"/>
              </a:lnSpc>
            </a:pPr>
            <a:r>
              <a:rPr kumimoji="1" lang="en-US" altLang="ko-Kore-KR" sz="700" b="1" u="sng" dirty="0">
                <a:latin typeface="Gulim" panose="020B0600000101010101" pitchFamily="34" charset="-127"/>
                <a:ea typeface="Gulim" panose="020B0600000101010101" pitchFamily="34" charset="-127"/>
              </a:rPr>
              <a:t>PSN+FL+DEP+DEST </a:t>
            </a:r>
            <a:r>
              <a:rPr kumimoji="1" lang="en-US" altLang="ko-Kore-KR" sz="700" b="1" u="sng" dirty="0">
                <a:solidFill>
                  <a:srgbClr val="FFC000"/>
                </a:solidFill>
                <a:latin typeface="Gulim" panose="020B0600000101010101" pitchFamily="34" charset="-127"/>
                <a:ea typeface="Gulim" panose="020B0600000101010101" pitchFamily="34" charset="-127"/>
              </a:rPr>
              <a:t>(Separate Tehran CTL)</a:t>
            </a:r>
          </a:p>
        </p:txBody>
      </p:sp>
      <p:graphicFrame>
        <p:nvGraphicFramePr>
          <p:cNvPr id="292" name="Google Shape;292;p18">
            <a:extLst>
              <a:ext uri="{FF2B5EF4-FFF2-40B4-BE49-F238E27FC236}">
                <a16:creationId xmlns:a16="http://schemas.microsoft.com/office/drawing/2014/main" id="{E730A344-8610-3AC5-A226-22111FF8B010}"/>
              </a:ext>
            </a:extLst>
          </p:cNvPr>
          <p:cNvGraphicFramePr/>
          <p:nvPr>
            <p:extLst>
              <p:ext uri="{D42A27DB-BD31-4B8C-83A1-F6EECF244321}">
                <p14:modId xmlns:p14="http://schemas.microsoft.com/office/powerpoint/2010/main" val="703168850"/>
              </p:ext>
            </p:extLst>
          </p:nvPr>
        </p:nvGraphicFramePr>
        <p:xfrm>
          <a:off x="-6571" y="4008267"/>
          <a:ext cx="2333879" cy="1548730"/>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1004460">
                  <a:extLst>
                    <a:ext uri="{9D8B030D-6E8A-4147-A177-3AD203B41FA5}">
                      <a16:colId xmlns:a16="http://schemas.microsoft.com/office/drawing/2014/main" val="20001"/>
                    </a:ext>
                  </a:extLst>
                </a:gridCol>
                <a:gridCol w="427441">
                  <a:extLst>
                    <a:ext uri="{9D8B030D-6E8A-4147-A177-3AD203B41FA5}">
                      <a16:colId xmlns:a16="http://schemas.microsoft.com/office/drawing/2014/main" val="20002"/>
                    </a:ext>
                  </a:extLst>
                </a:gridCol>
                <a:gridCol w="530972">
                  <a:extLst>
                    <a:ext uri="{9D8B030D-6E8A-4147-A177-3AD203B41FA5}">
                      <a16:colId xmlns:a16="http://schemas.microsoft.com/office/drawing/2014/main" val="20003"/>
                    </a:ext>
                  </a:extLst>
                </a:gridCol>
              </a:tblGrid>
              <a:tr h="251323">
                <a:tc gridSpan="4">
                  <a:txBody>
                    <a:bodyPr/>
                    <a:lstStyle/>
                    <a:p>
                      <a:pPr marL="0" marR="0" lvl="0" indent="0" algn="ctr" rtl="0">
                        <a:spcBef>
                          <a:spcPts val="0"/>
                        </a:spcBef>
                        <a:spcAft>
                          <a:spcPts val="0"/>
                        </a:spcAft>
                        <a:buNone/>
                      </a:pPr>
                      <a:r>
                        <a:rPr lang="en-US" sz="800" dirty="0"/>
                        <a:t>DXB </a:t>
                      </a:r>
                      <a:r>
                        <a:rPr lang="en-US" sz="800" dirty="0">
                          <a:solidFill>
                            <a:srgbClr val="00B0F0"/>
                          </a:solidFill>
                        </a:rPr>
                        <a:t>[119/299]</a:t>
                      </a:r>
                      <a:r>
                        <a:rPr lang="en-US" sz="800" dirty="0"/>
                        <a:t> UTC+4, TL 150 : </a:t>
                      </a:r>
                      <a:r>
                        <a:rPr lang="en-US" sz="800" dirty="0">
                          <a:solidFill>
                            <a:srgbClr val="92D050"/>
                          </a:solidFill>
                        </a:rPr>
                        <a:t>SPD Rest in JEPP</a:t>
                      </a:r>
                    </a:p>
                    <a:p>
                      <a:pPr marL="0" marR="0" lvl="0" indent="0" algn="ctr" rtl="0">
                        <a:spcBef>
                          <a:spcPts val="0"/>
                        </a:spcBef>
                        <a:spcAft>
                          <a:spcPts val="0"/>
                        </a:spcAft>
                        <a:buNone/>
                      </a:pPr>
                      <a:r>
                        <a:rPr lang="en-US" sz="800" dirty="0" err="1">
                          <a:solidFill>
                            <a:srgbClr val="FFC000"/>
                          </a:solidFill>
                        </a:rPr>
                        <a:t>Arr</a:t>
                      </a:r>
                      <a:r>
                        <a:rPr lang="en-US" sz="800" dirty="0">
                          <a:solidFill>
                            <a:srgbClr val="FFC000"/>
                          </a:solidFill>
                        </a:rPr>
                        <a:t> : C/S, A333, passing FL -&gt;</a:t>
                      </a:r>
                      <a:r>
                        <a:rPr lang="en-US" sz="800" dirty="0"/>
                        <a:t> </a:t>
                      </a:r>
                      <a:r>
                        <a:rPr lang="en-US" sz="800" b="1" dirty="0">
                          <a:solidFill>
                            <a:srgbClr val="FFC000"/>
                          </a:solidFill>
                        </a:rPr>
                        <a:t>Director : C/S Only</a:t>
                      </a:r>
                      <a:endParaRPr sz="800" b="1"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3123">
                <a:tc>
                  <a:txBody>
                    <a:bodyPr/>
                    <a:lstStyle/>
                    <a:p>
                      <a:pPr marL="0" marR="0" lvl="0" indent="0" algn="ctr" rtl="0">
                        <a:spcBef>
                          <a:spcPts val="0"/>
                        </a:spcBef>
                        <a:spcAft>
                          <a:spcPts val="0"/>
                        </a:spcAft>
                        <a:buNone/>
                      </a:pPr>
                      <a:r>
                        <a:rPr lang="en-US" sz="800" b="1" dirty="0">
                          <a:solidFill>
                            <a:srgbClr val="0070C0"/>
                          </a:solidFill>
                        </a:rPr>
                        <a:t>12L</a:t>
                      </a:r>
                      <a:r>
                        <a:rPr lang="en-US" sz="800" b="1" dirty="0">
                          <a:solidFill>
                            <a:schemeClr val="bg1"/>
                          </a:solidFill>
                        </a:rPr>
                        <a:t>/R</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PUVAL, IMPED x B</a:t>
                      </a:r>
                    </a:p>
                  </a:txBody>
                  <a:tcPr marL="36000" marR="36000" marT="36000" marB="36000" anchor="ctr"/>
                </a:tc>
                <a:tc>
                  <a:txBody>
                    <a:bodyPr/>
                    <a:lstStyle/>
                    <a:p>
                      <a:pPr marL="0" marR="0" lvl="0" indent="0" algn="ctr" rtl="0">
                        <a:spcBef>
                          <a:spcPts val="0"/>
                        </a:spcBef>
                        <a:spcAft>
                          <a:spcPts val="0"/>
                        </a:spcAft>
                        <a:buNone/>
                      </a:pPr>
                      <a:r>
                        <a:rPr lang="en-US" sz="800" b="1" dirty="0"/>
                        <a:t>REREK</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45357">
                <a:tc>
                  <a:txBody>
                    <a:bodyPr/>
                    <a:lstStyle/>
                    <a:p>
                      <a:pPr marL="0" marR="0" lvl="0" indent="0" algn="ctr" rtl="0">
                        <a:spcBef>
                          <a:spcPts val="0"/>
                        </a:spcBef>
                        <a:spcAft>
                          <a:spcPts val="0"/>
                        </a:spcAft>
                        <a:buNone/>
                      </a:pPr>
                      <a:r>
                        <a:rPr lang="en-US" sz="800" b="1" dirty="0">
                          <a:solidFill>
                            <a:srgbClr val="0070C0"/>
                          </a:solidFill>
                        </a:rPr>
                        <a:t>30L</a:t>
                      </a:r>
                      <a:r>
                        <a:rPr lang="en-US" sz="800" b="1" dirty="0"/>
                        <a:t>/R</a:t>
                      </a:r>
                      <a:endParaRPr sz="800" b="0" dirty="0"/>
                    </a:p>
                  </a:txBody>
                  <a:tcPr marL="36000" marR="36000" marT="36000" marB="36000" anchor="ctr"/>
                </a:tc>
                <a:tc>
                  <a:txBody>
                    <a:bodyPr/>
                    <a:lstStyle/>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PUVAL, IMPED x C</a:t>
                      </a:r>
                      <a:endParaRPr dirty="0"/>
                    </a:p>
                  </a:txBody>
                  <a:tcPr marL="36000" marR="36000" marT="36000" marB="36000" anchor="ctr"/>
                </a:tc>
                <a:tc>
                  <a:txBody>
                    <a:bodyPr/>
                    <a:lstStyle/>
                    <a:p>
                      <a:pPr marL="0" marR="0" lvl="0" indent="0" algn="ctr" rtl="0">
                        <a:spcBef>
                          <a:spcPts val="0"/>
                        </a:spcBef>
                        <a:spcAft>
                          <a:spcPts val="0"/>
                        </a:spcAft>
                        <a:buNone/>
                      </a:pPr>
                      <a:r>
                        <a:rPr lang="en-US" sz="800" b="1" dirty="0"/>
                        <a:t>ULDOT</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453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 </a:t>
                      </a:r>
                      <a:r>
                        <a:rPr lang="en-US" sz="800" b="1" dirty="0">
                          <a:solidFill>
                            <a:srgbClr val="C00000"/>
                          </a:solidFill>
                        </a:rPr>
                        <a:t>12L IDBL, 30L IDBW, 12R IDBE, 30R IDBR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12L:</a:t>
                      </a:r>
                      <a:r>
                        <a:rPr lang="en-US" sz="800" b="1" dirty="0">
                          <a:solidFill>
                            <a:srgbClr val="0070C0"/>
                          </a:solidFill>
                        </a:rPr>
                        <a:t>M7A(6135’)</a:t>
                      </a:r>
                      <a:r>
                        <a:rPr lang="en-US" sz="800" b="1" dirty="0">
                          <a:solidFill>
                            <a:schemeClr val="dk1"/>
                          </a:solidFill>
                        </a:rPr>
                        <a:t>, M9(7253’), 30L:</a:t>
                      </a:r>
                      <a:r>
                        <a:rPr lang="en-US" sz="800" b="1" dirty="0">
                          <a:solidFill>
                            <a:srgbClr val="0070C0"/>
                          </a:solidFill>
                        </a:rPr>
                        <a:t>K9(6811’)</a:t>
                      </a:r>
                      <a:r>
                        <a:rPr lang="en-US" sz="800" b="1" dirty="0">
                          <a:solidFill>
                            <a:schemeClr val="dk1"/>
                          </a:solidFill>
                        </a:rPr>
                        <a:t>, K8(8041’)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Late L/D CLR</a:t>
                      </a:r>
                      <a:r>
                        <a:rPr lang="en-US" sz="800" b="1" dirty="0">
                          <a:solidFill>
                            <a:schemeClr val="dk1"/>
                          </a:solidFill>
                        </a:rPr>
                        <a:t>, </a:t>
                      </a:r>
                      <a:r>
                        <a:rPr lang="en-US" sz="800" b="1" dirty="0">
                          <a:solidFill>
                            <a:srgbClr val="0070C0"/>
                          </a:solidFill>
                        </a:rPr>
                        <a:t>Assigned Rapid Exit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TWY J,J1,J2,J3,U,W,Y,Z Max 15kts, </a:t>
                      </a:r>
                      <a:r>
                        <a:rPr lang="en-US" sz="800" b="1" dirty="0">
                          <a:solidFill>
                            <a:srgbClr val="00B050"/>
                          </a:solidFill>
                        </a:rPr>
                        <a:t>VDGS 2kts</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TWY Holding Point</a:t>
                      </a:r>
                      <a:r>
                        <a:rPr lang="en-US" sz="800" b="1" dirty="0">
                          <a:solidFill>
                            <a:srgbClr val="0070C0"/>
                          </a:solidFill>
                        </a:rPr>
                        <a:t>, No Wing Walker</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A2D4F49D-F1D2-B283-5CBE-DF08E682EB65}"/>
              </a:ext>
            </a:extLst>
          </p:cNvPr>
          <p:cNvGraphicFramePr/>
          <p:nvPr>
            <p:extLst>
              <p:ext uri="{D42A27DB-BD31-4B8C-83A1-F6EECF244321}">
                <p14:modId xmlns:p14="http://schemas.microsoft.com/office/powerpoint/2010/main" val="3863032767"/>
              </p:ext>
            </p:extLst>
          </p:nvPr>
        </p:nvGraphicFramePr>
        <p:xfrm>
          <a:off x="-2501" y="16504"/>
          <a:ext cx="2328850" cy="646571"/>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06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R" sz="1300" dirty="0">
                          <a:solidFill>
                            <a:schemeClr val="tx1"/>
                          </a:solidFill>
                          <a:hlinkClick r:id="rId4">
                            <a:extLst>
                              <a:ext uri="{A12FA001-AC4F-418D-AE19-62706E023703}">
                                <ahyp:hlinkClr xmlns:ahyp="http://schemas.microsoft.com/office/drawing/2018/hyperlinkcolor" val="tx"/>
                              </a:ext>
                            </a:extLst>
                          </a:hlinkClick>
                        </a:rPr>
                        <a:t>OMDB</a:t>
                      </a:r>
                      <a:r>
                        <a:rPr lang="en-US" sz="1300" dirty="0">
                          <a:solidFill>
                            <a:schemeClr val="tx1"/>
                          </a:solidFill>
                          <a:hlinkClick r:id="rId4">
                            <a:extLst>
                              <a:ext uri="{A12FA001-AC4F-418D-AE19-62706E023703}">
                                <ahyp:hlinkClr xmlns:ahyp="http://schemas.microsoft.com/office/drawing/2018/hyperlinkcolor" val="tx"/>
                              </a:ext>
                            </a:extLst>
                          </a:hlinkClick>
                        </a:rPr>
                        <a:t>(</a:t>
                      </a:r>
                      <a:r>
                        <a:rPr lang="en-US" altLang="ko-KR" sz="1300" dirty="0">
                          <a:solidFill>
                            <a:schemeClr val="tx1"/>
                          </a:solidFill>
                          <a:hlinkClick r:id="rId4">
                            <a:extLst>
                              <a:ext uri="{A12FA001-AC4F-418D-AE19-62706E023703}">
                                <ahyp:hlinkClr xmlns:ahyp="http://schemas.microsoft.com/office/drawing/2018/hyperlinkcolor" val="tx"/>
                              </a:ext>
                            </a:extLst>
                          </a:hlinkClick>
                        </a:rPr>
                        <a:t>DXB)</a:t>
                      </a:r>
                      <a:r>
                        <a:rPr lang="ko-KR" altLang="en-US" sz="1300" dirty="0">
                          <a:solidFill>
                            <a:schemeClr val="tx1"/>
                          </a:solidFill>
                          <a:hlinkClick r:id="rId4">
                            <a:extLst>
                              <a:ext uri="{A12FA001-AC4F-418D-AE19-62706E023703}">
                                <ahyp:hlinkClr xmlns:ahyp="http://schemas.microsoft.com/office/drawing/2018/hyperlinkcolor" val="tx"/>
                              </a:ext>
                            </a:extLst>
                          </a:hlinkClick>
                        </a:rPr>
                        <a:t> </a:t>
                      </a:r>
                      <a:r>
                        <a:rPr lang="en-US" altLang="ko-KR" sz="1300" dirty="0">
                          <a:solidFill>
                            <a:schemeClr val="tx1"/>
                          </a:solidFill>
                          <a:hlinkClick r:id="rId4">
                            <a:extLst>
                              <a:ext uri="{A12FA001-AC4F-418D-AE19-62706E023703}">
                                <ahyp:hlinkClr xmlns:ahyp="http://schemas.microsoft.com/office/drawing/2018/hyperlinkcolor" val="tx"/>
                              </a:ext>
                            </a:extLst>
                          </a:hlinkClick>
                        </a:rPr>
                        <a:t>62ft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57504">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DNATA </a:t>
                      </a:r>
                      <a:r>
                        <a:rPr lang="en-US" sz="900" dirty="0" err="1"/>
                        <a:t>Oper</a:t>
                      </a:r>
                      <a:r>
                        <a:rPr lang="en-US" sz="900" dirty="0"/>
                        <a:t> 131.6</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3E98E07-8DF6-5B5A-5457-AF6E78BD1CDD}"/>
              </a:ext>
            </a:extLst>
          </p:cNvPr>
          <p:cNvSpPr/>
          <p:nvPr/>
        </p:nvSpPr>
        <p:spPr>
          <a:xfrm>
            <a:off x="837445" y="272392"/>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371FE366-4F73-80CD-80D4-909650C76A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6054"/>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76;p16">
            <a:extLst>
              <a:ext uri="{FF2B5EF4-FFF2-40B4-BE49-F238E27FC236}">
                <a16:creationId xmlns:a16="http://schemas.microsoft.com/office/drawing/2014/main" id="{FB7E00EE-7FED-45DF-2D68-818E00C82BC7}"/>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2370572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24283-B57B-ACD9-5BAB-A475D00872D0}"/>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9909619-B80A-65FD-F1BE-D15FE3D832FB}"/>
              </a:ext>
            </a:extLst>
          </p:cNvPr>
          <p:cNvGraphicFramePr>
            <a:graphicFrameLocks noGrp="1"/>
          </p:cNvGraphicFramePr>
          <p:nvPr>
            <p:ph idx="1"/>
            <p:extLst>
              <p:ext uri="{D42A27DB-BD31-4B8C-83A1-F6EECF244321}">
                <p14:modId xmlns:p14="http://schemas.microsoft.com/office/powerpoint/2010/main" val="2630546695"/>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4,500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14,800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3,900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12,800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FEF8B47-C363-F8D6-E25B-BCA0A7D2949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113C11C-9CEA-3F50-D2CD-5A7670B52CC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06C6D58-E590-6C7E-57A4-C4DF535F9FEE}"/>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2502454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74FFC5A-8195-297C-8276-2423FBF5F89D}"/>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00D72E41-11D9-FABB-6F8C-BEA21EFB6ED9}"/>
              </a:ext>
            </a:extLst>
          </p:cNvPr>
          <p:cNvGraphicFramePr/>
          <p:nvPr>
            <p:extLst>
              <p:ext uri="{D42A27DB-BD31-4B8C-83A1-F6EECF244321}">
                <p14:modId xmlns:p14="http://schemas.microsoft.com/office/powerpoint/2010/main" val="2845794789"/>
              </p:ext>
            </p:extLst>
          </p:nvPr>
        </p:nvGraphicFramePr>
        <p:xfrm>
          <a:off x="-2500" y="613652"/>
          <a:ext cx="2331363" cy="1232890"/>
        </p:xfrm>
        <a:graphic>
          <a:graphicData uri="http://schemas.openxmlformats.org/drawingml/2006/table">
            <a:tbl>
              <a:tblPr firstRow="1" bandRow="1">
                <a:noFill/>
                <a:tableStyleId>{A521BE36-7E6F-4EC9-8D66-1CF97A6895EC}</a:tableStyleId>
              </a:tblPr>
              <a:tblGrid>
                <a:gridCol w="269634">
                  <a:extLst>
                    <a:ext uri="{9D8B030D-6E8A-4147-A177-3AD203B41FA5}">
                      <a16:colId xmlns:a16="http://schemas.microsoft.com/office/drawing/2014/main" val="20000"/>
                    </a:ext>
                  </a:extLst>
                </a:gridCol>
                <a:gridCol w="431910">
                  <a:extLst>
                    <a:ext uri="{9D8B030D-6E8A-4147-A177-3AD203B41FA5}">
                      <a16:colId xmlns:a16="http://schemas.microsoft.com/office/drawing/2014/main" val="20001"/>
                    </a:ext>
                  </a:extLst>
                </a:gridCol>
                <a:gridCol w="471793">
                  <a:extLst>
                    <a:ext uri="{9D8B030D-6E8A-4147-A177-3AD203B41FA5}">
                      <a16:colId xmlns:a16="http://schemas.microsoft.com/office/drawing/2014/main" val="803511504"/>
                    </a:ext>
                  </a:extLst>
                </a:gridCol>
                <a:gridCol w="162876">
                  <a:extLst>
                    <a:ext uri="{9D8B030D-6E8A-4147-A177-3AD203B41FA5}">
                      <a16:colId xmlns:a16="http://schemas.microsoft.com/office/drawing/2014/main" val="20005"/>
                    </a:ext>
                  </a:extLst>
                </a:gridCol>
                <a:gridCol w="497575">
                  <a:extLst>
                    <a:ext uri="{9D8B030D-6E8A-4147-A177-3AD203B41FA5}">
                      <a16:colId xmlns:a16="http://schemas.microsoft.com/office/drawing/2014/main" val="1933115834"/>
                    </a:ext>
                  </a:extLst>
                </a:gridCol>
                <a:gridCol w="497575">
                  <a:extLst>
                    <a:ext uri="{9D8B030D-6E8A-4147-A177-3AD203B41FA5}">
                      <a16:colId xmlns:a16="http://schemas.microsoft.com/office/drawing/2014/main" val="288610891"/>
                    </a:ext>
                  </a:extLst>
                </a:gridCol>
              </a:tblGrid>
              <a:tr h="0">
                <a:tc gridSpan="6">
                  <a:txBody>
                    <a:bodyPr/>
                    <a:lstStyle/>
                    <a:p>
                      <a:pPr marL="0" marR="0" lvl="0" indent="0" algn="ctr" rtl="0">
                        <a:spcBef>
                          <a:spcPts val="0"/>
                        </a:spcBef>
                        <a:spcAft>
                          <a:spcPts val="0"/>
                        </a:spcAft>
                        <a:buNone/>
                      </a:pPr>
                      <a:r>
                        <a:rPr lang="en-US" sz="800" u="none" strike="noStrike" cap="none" dirty="0"/>
                        <a:t>DXB : SID (NADP 1) UTC+4,TA 130  </a:t>
                      </a:r>
                      <a:r>
                        <a:rPr lang="en-US" sz="800" u="none" strike="noStrike" cap="none" dirty="0">
                          <a:solidFill>
                            <a:srgbClr val="FFC000"/>
                          </a:solidFill>
                        </a:rPr>
                        <a:t>Full Length to ATC</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30R</a:t>
                      </a:r>
                      <a:endParaRPr lang="en-US"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DAVMO,IVURO x F</a:t>
                      </a:r>
                      <a:endParaRPr lang="en-US"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299 </a:t>
                      </a:r>
                      <a:r>
                        <a:rPr lang="en-US" sz="800" b="1" u="none" strike="noStrike" cap="none" dirty="0">
                          <a:solidFill>
                            <a:srgbClr val="0070C0"/>
                          </a:solidFill>
                        </a:rPr>
                        <a:t>ALT 4000 </a:t>
                      </a:r>
                      <a:r>
                        <a:rPr lang="en-US" sz="800" b="1" u="none" strike="noStrike" cap="none" dirty="0">
                          <a:solidFill>
                            <a:srgbClr val="7030A0"/>
                          </a:solidFill>
                        </a:rPr>
                        <a:t>SPD 220</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12R</a:t>
                      </a:r>
                      <a:endParaRPr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DAVMO,IVURO x G</a:t>
                      </a:r>
                      <a:endParaRPr lang="en-US" altLang="ko-Kore-KR"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119 </a:t>
                      </a:r>
                      <a:r>
                        <a:rPr lang="en-US" sz="800" b="1" u="none" strike="noStrike" cap="none" dirty="0">
                          <a:solidFill>
                            <a:srgbClr val="0070C0"/>
                          </a:solidFill>
                        </a:rPr>
                        <a:t>ALT 4000 </a:t>
                      </a:r>
                      <a:r>
                        <a:rPr lang="en-US" sz="800" b="1" u="none" strike="noStrike" cap="none" dirty="0">
                          <a:solidFill>
                            <a:srgbClr val="7030A0"/>
                          </a:solidFill>
                        </a:rPr>
                        <a:t>SPD 220 </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C00000"/>
                          </a:solidFill>
                        </a:rPr>
                        <a:t>12R IDBE 109.5</a:t>
                      </a:r>
                      <a:endParaRPr lang="ko-Kore-KR" altLang="en-US" dirty="0"/>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30R IDBR 110.9</a:t>
                      </a:r>
                      <a:endParaRPr lang="ko-Kore-KR" altLang="en-US" dirty="0"/>
                    </a:p>
                  </a:txBody>
                  <a:tcPr marL="36000" marR="36000" marT="36000" marB="36000" anchor="ctr"/>
                </a:tc>
                <a:tc hMerge="1">
                  <a:txBody>
                    <a:bodyPr/>
                    <a:lstStyle/>
                    <a:p>
                      <a:endParaRPr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12L IDBL 110.1</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30L IDBW 111.3</a:t>
                      </a:r>
                      <a:endParaRPr lang="ko-Kore-KR" altLang="en-US" dirty="0"/>
                    </a:p>
                  </a:txBody>
                  <a:tcPr marL="36000" marR="36000" marT="36000" marB="36000" anchor="ctr"/>
                </a:tc>
                <a:extLst>
                  <a:ext uri="{0D108BD9-81ED-4DB2-BD59-A6C34878D82A}">
                    <a16:rowId xmlns:a16="http://schemas.microsoft.com/office/drawing/2014/main" val="1446403819"/>
                  </a:ext>
                </a:extLst>
              </a:tr>
              <a:tr h="115700">
                <a:tc gridSpan="6">
                  <a:txBody>
                    <a:bodyPr/>
                    <a:lstStyle/>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TWY J,J1,J2,J3,U,W,Y,Z Max 15kts</a:t>
                      </a:r>
                      <a:endParaRPr lang="en-US" sz="800" b="1" u="none" strike="noStrike" cap="none"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28943"/>
                          </a:solidFill>
                        </a:rPr>
                        <a:t>Caution TWY Holding Point</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23860676-B46E-43CE-F1C9-491B77F0F159}"/>
              </a:ext>
            </a:extLst>
          </p:cNvPr>
          <p:cNvGraphicFramePr/>
          <p:nvPr>
            <p:extLst>
              <p:ext uri="{D42A27DB-BD31-4B8C-83A1-F6EECF244321}">
                <p14:modId xmlns:p14="http://schemas.microsoft.com/office/powerpoint/2010/main" val="2204109780"/>
              </p:ext>
            </p:extLst>
          </p:nvPr>
        </p:nvGraphicFramePr>
        <p:xfrm>
          <a:off x="-2501" y="16504"/>
          <a:ext cx="2328850" cy="5898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OMDB(DXB) 62ft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b="0" dirty="0"/>
                        <a:t>DNATA </a:t>
                      </a:r>
                      <a:r>
                        <a:rPr lang="en-US" sz="900" b="0" dirty="0" err="1"/>
                        <a:t>Oper</a:t>
                      </a:r>
                      <a:r>
                        <a:rPr lang="en-US" sz="900" b="0" dirty="0"/>
                        <a:t> 131.6</a:t>
                      </a:r>
                      <a:endParaRPr sz="900" b="0" dirty="0">
                        <a:solidFill>
                          <a:srgbClr val="C00000"/>
                        </a:solidFill>
                      </a:endParaRPr>
                    </a:p>
                    <a:p>
                      <a:pPr marL="0" marR="0" lvl="0" indent="0" algn="ctr" rtl="0">
                        <a:spcBef>
                          <a:spcPts val="0"/>
                        </a:spcBef>
                        <a:spcAft>
                          <a:spcPts val="0"/>
                        </a:spcAft>
                        <a:buNone/>
                      </a:pPr>
                      <a:r>
                        <a:rPr lang="en-US" altLang="ko-KR" sz="800" b="1" dirty="0">
                          <a:solidFill>
                            <a:srgbClr val="C00000"/>
                          </a:solidFill>
                        </a:rPr>
                        <a:t>DCL Avail, -10min Voice</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C977D57B-C92E-C488-35FF-652AC7B5091B}"/>
              </a:ext>
            </a:extLst>
          </p:cNvPr>
          <p:cNvSpPr txBox="1"/>
          <p:nvPr/>
        </p:nvSpPr>
        <p:spPr>
          <a:xfrm>
            <a:off x="-10224" y="1824657"/>
            <a:ext cx="2396810" cy="1663395"/>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DEP CTC by TWR 118.75</a:t>
            </a:r>
          </a:p>
          <a:p>
            <a:pPr>
              <a:lnSpc>
                <a:spcPct val="150000"/>
              </a:lnSpc>
            </a:pPr>
            <a:r>
              <a:rPr kumimoji="1" lang="en-US" altLang="ko-Kore-KR" sz="700" b="1" u="sng" dirty="0">
                <a:latin typeface="Gulim" panose="020B0600000101010101" pitchFamily="34" charset="-127"/>
                <a:ea typeface="Gulim" panose="020B0600000101010101" pitchFamily="34" charset="-127"/>
              </a:rPr>
              <a:t>DEP 124.675 C/S, Passing LVL, Unable SPD</a:t>
            </a:r>
          </a:p>
          <a:p>
            <a:pPr>
              <a:lnSpc>
                <a:spcPct val="150000"/>
              </a:lnSpc>
            </a:pPr>
            <a:r>
              <a:rPr kumimoji="1" lang="en-US" altLang="ko-Kore-KR" sz="700" b="1" u="sng" dirty="0">
                <a:latin typeface="Gulim" panose="020B0600000101010101" pitchFamily="34" charset="-127"/>
                <a:ea typeface="Gulim" panose="020B0600000101010101" pitchFamily="34" charset="-127"/>
              </a:rPr>
              <a:t>CTC Air Defense RDR 127.8/135.1 Before 10min </a:t>
            </a:r>
          </a:p>
          <a:p>
            <a:pPr>
              <a:lnSpc>
                <a:spcPct val="150000"/>
              </a:lnSpc>
            </a:pPr>
            <a:r>
              <a:rPr kumimoji="1" lang="en-US" altLang="ko-Kore-KR" sz="700" b="1" u="sng" dirty="0">
                <a:latin typeface="Gulim" panose="020B0600000101010101" pitchFamily="34" charset="-127"/>
                <a:ea typeface="Gulim" panose="020B0600000101010101" pitchFamily="34" charset="-127"/>
              </a:rPr>
              <a:t>Tehran FIR(GABKO FL190)</a:t>
            </a: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MUM HF : 6661/8</a:t>
            </a:r>
            <a:r>
              <a:rPr kumimoji="1" lang="en-US" altLang="ko-Kore-KR" sz="700" b="1" u="sng" dirty="0">
                <a:solidFill>
                  <a:srgbClr val="FFC000"/>
                </a:solidFill>
                <a:latin typeface="Gulim" panose="020B0600000101010101" pitchFamily="34" charset="-127"/>
                <a:ea typeface="Gulim" panose="020B0600000101010101" pitchFamily="34" charset="-127"/>
              </a:rPr>
              <a:t>879/5658</a:t>
            </a:r>
            <a:endPar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 RTE : </a:t>
            </a: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CHILA</a:t>
            </a: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Report YANGON, DAKHA, KOLKATA</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Boundary Report</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KMG 125.75(15-20min FIR)</a:t>
            </a:r>
          </a:p>
        </p:txBody>
      </p:sp>
      <p:sp>
        <p:nvSpPr>
          <p:cNvPr id="2" name="직사각형 1">
            <a:hlinkClick r:id="" action="ppaction://hlinkshowjump?jump=firstslide"/>
            <a:extLst>
              <a:ext uri="{FF2B5EF4-FFF2-40B4-BE49-F238E27FC236}">
                <a16:creationId xmlns:a16="http://schemas.microsoft.com/office/drawing/2014/main" id="{D6EFEF65-6CED-D32B-2313-D3C51E922C3B}"/>
              </a:ext>
            </a:extLst>
          </p:cNvPr>
          <p:cNvSpPr/>
          <p:nvPr/>
        </p:nvSpPr>
        <p:spPr>
          <a:xfrm>
            <a:off x="891778" y="28068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7B3053B9-8089-BDAE-5CB9-8BE7146C9E3D}"/>
              </a:ext>
            </a:extLst>
          </p:cNvPr>
          <p:cNvGraphicFramePr/>
          <p:nvPr>
            <p:extLst>
              <p:ext uri="{D42A27DB-BD31-4B8C-83A1-F6EECF244321}">
                <p14:modId xmlns:p14="http://schemas.microsoft.com/office/powerpoint/2010/main" val="94548055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6DFDB6B5-C8D7-9192-2B32-C634488A91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6803712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312842"/>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103469"/>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pic>
        <p:nvPicPr>
          <p:cNvPr id="15" name="그래픽 14" descr="집 Wi-Fi에서 작업 단색으로 채워진">
            <a:hlinkClick r:id="" action="ppaction://hlinkshowjump?jump=firstslide"/>
            <a:extLst>
              <a:ext uri="{FF2B5EF4-FFF2-40B4-BE49-F238E27FC236}">
                <a16:creationId xmlns:a16="http://schemas.microsoft.com/office/drawing/2014/main" id="{8A716D6E-34BD-CF91-69C6-F7774B9C47E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8590726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7B6D3FA-CA08-0C61-8430-D0EEC186AD8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8076159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63D5603B-EFED-76F2-BE27-3683BBBE5E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270571121"/>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CB9A69EC-5074-67EA-BB93-96CA384FDF6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77628" y="2630831"/>
            <a:ext cx="321623" cy="321623"/>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16167801"/>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FB399ED-C222-F6FA-4BE9-D2801A10B8D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58269834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11AD4EBE-7260-7598-A427-A3B9DBCBE5C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32467"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30007039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CBDA6B3-38AC-2807-0F8D-0DFCBF6633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DA0CD715-5FBD-243E-3B4B-CF9DA26E5EC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619822" y="513906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2536B5C3-9E66-28BE-B890-12A13404EBB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817129"/>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D3CA9FD4-B981-CDD0-942F-FC439F849B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12588"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345701" y="5287626"/>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0617EA81-24BF-09EC-0EC3-CA21BA6EAF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45109"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D891116-FCAC-4CB1-ED21-BEE7C87421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52761750"/>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4"/>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5"/>
          <a:stretch>
            <a:fillRect/>
          </a:stretch>
        </p:blipFill>
        <p:spPr>
          <a:xfrm>
            <a:off x="-4041" y="273766"/>
            <a:ext cx="1226390" cy="421572"/>
          </a:xfrm>
          <a:prstGeom prst="rect">
            <a:avLst/>
          </a:prstGeom>
          <a:ln w="12700">
            <a:solidFill>
              <a:schemeClr val="accent1"/>
            </a:solidFill>
          </a:ln>
        </p:spPr>
      </p:pic>
      <p:pic>
        <p:nvPicPr>
          <p:cNvPr id="3" name="그래픽 2" descr="집 Wi-Fi에서 작업 단색으로 채워진">
            <a:hlinkClick r:id="" action="ppaction://hlinkshowjump?jump=firstslide"/>
            <a:extLst>
              <a:ext uri="{FF2B5EF4-FFF2-40B4-BE49-F238E27FC236}">
                <a16:creationId xmlns:a16="http://schemas.microsoft.com/office/drawing/2014/main" id="{07ED1B04-C768-A104-5A8F-3143CFB435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5139595"/>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8CFF7454-ECF1-25AA-7AC1-F6CA6A31CBF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1389871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B0CB0C4A-AF08-6912-D0B6-B834094FB9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25840" y="480776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97131734"/>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C282941-F433-57AE-6173-9C4397F44A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92102" y="26675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0877260"/>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BD10FE9-9684-3F51-6BB9-93B56402865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4959557"/>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2B7BB68-C2C3-8A8A-A873-67FA51C2C34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5231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83194</TotalTime>
  <Words>27447</Words>
  <Application>Microsoft Macintosh PowerPoint</Application>
  <PresentationFormat>사용자 지정</PresentationFormat>
  <Paragraphs>6729</Paragraphs>
  <Slides>120</Slides>
  <Notes>107</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120</vt:i4>
      </vt:variant>
    </vt:vector>
  </HeadingPairs>
  <TitlesOfParts>
    <vt:vector size="130" baseType="lpstr">
      <vt:lpstr>Lato</vt:lpstr>
      <vt:lpstr>Century Gothic</vt:lpstr>
      <vt:lpstr>Calibri</vt:lpstr>
      <vt:lpstr>Cambria Math</vt:lpstr>
      <vt:lpstr>Britannic Bold</vt:lpstr>
      <vt:lpstr>맑은 고딕</vt:lpstr>
      <vt:lpstr>Gulim</vt:lpstr>
      <vt:lpstr>Arial</vt:lpstr>
      <vt:lpstr>Helvetica Neue</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595</cp:revision>
  <dcterms:created xsi:type="dcterms:W3CDTF">2022-05-17T08:00:10Z</dcterms:created>
  <dcterms:modified xsi:type="dcterms:W3CDTF">2025-11-21T07:18:09Z</dcterms:modified>
</cp:coreProperties>
</file>