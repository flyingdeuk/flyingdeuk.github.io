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42"/>
  </p:notesMasterIdLst>
  <p:sldIdLst>
    <p:sldId id="292" r:id="rId2"/>
    <p:sldId id="422" r:id="rId3"/>
    <p:sldId id="345" r:id="rId4"/>
    <p:sldId id="349" r:id="rId5"/>
    <p:sldId id="367" r:id="rId6"/>
    <p:sldId id="346" r:id="rId7"/>
    <p:sldId id="350" r:id="rId8"/>
    <p:sldId id="347" r:id="rId9"/>
    <p:sldId id="351" r:id="rId10"/>
    <p:sldId id="348" r:id="rId11"/>
    <p:sldId id="282" r:id="rId12"/>
    <p:sldId id="333" r:id="rId13"/>
    <p:sldId id="257" r:id="rId14"/>
    <p:sldId id="258" r:id="rId15"/>
    <p:sldId id="259" r:id="rId16"/>
    <p:sldId id="260" r:id="rId17"/>
    <p:sldId id="267" r:id="rId18"/>
    <p:sldId id="268" r:id="rId19"/>
    <p:sldId id="355" r:id="rId20"/>
    <p:sldId id="356" r:id="rId21"/>
    <p:sldId id="273" r:id="rId22"/>
    <p:sldId id="274" r:id="rId23"/>
    <p:sldId id="275" r:id="rId24"/>
    <p:sldId id="276" r:id="rId25"/>
    <p:sldId id="279" r:id="rId26"/>
    <p:sldId id="280" r:id="rId27"/>
    <p:sldId id="385" r:id="rId28"/>
    <p:sldId id="365" r:id="rId29"/>
    <p:sldId id="366" r:id="rId30"/>
    <p:sldId id="423" r:id="rId31"/>
    <p:sldId id="384" r:id="rId32"/>
    <p:sldId id="283" r:id="rId33"/>
    <p:sldId id="286" r:id="rId34"/>
    <p:sldId id="288" r:id="rId35"/>
    <p:sldId id="289" r:id="rId36"/>
    <p:sldId id="290" r:id="rId37"/>
    <p:sldId id="424" r:id="rId38"/>
    <p:sldId id="302" r:id="rId39"/>
    <p:sldId id="303" r:id="rId40"/>
    <p:sldId id="281" r:id="rId41"/>
  </p:sldIdLst>
  <p:sldSz cx="2328863" cy="5572125"/>
  <p:notesSz cx="6858000" cy="9144000"/>
  <p:embeddedFontLst>
    <p:embeddedFont>
      <p:font typeface="Cambria Math" panose="02040503050406030204" pitchFamily="18" charset="0"/>
      <p:regular r:id="rId43"/>
    </p:embeddedFont>
    <p:embeddedFont>
      <p:font typeface="Century Gothic" panose="020B0502020202020204" pitchFamily="34" charset="0"/>
      <p:regular r:id="rId44"/>
      <p:bold r:id="rId45"/>
      <p:italic r:id="rId46"/>
      <p:boldItalic r:id="rId47"/>
    </p:embeddedFont>
    <p:embeddedFont>
      <p:font typeface="Helvetica Neue" panose="02000503000000020004" pitchFamily="2" charset="0"/>
      <p:regular r:id="rId48"/>
      <p:bold r:id="rId49"/>
      <p:italic r:id="rId50"/>
      <p:boldItalic r:id="rId5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6059"/>
    <p:restoredTop sz="94607"/>
  </p:normalViewPr>
  <p:slideViewPr>
    <p:cSldViewPr snapToGrid="0" showGuides="1">
      <p:cViewPr varScale="1">
        <p:scale>
          <a:sx n="182" d="100"/>
          <a:sy n="182" d="100"/>
        </p:scale>
        <p:origin x="1104"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font" Target="fonts/font5.fntdata"/><Relationship Id="rId50" Type="http://schemas.openxmlformats.org/officeDocument/2006/relationships/font" Target="fonts/font8.fntdata"/><Relationship Id="rId17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3.fntdata"/><Relationship Id="rId178"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2.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font" Target="fonts/font6.fntdata"/><Relationship Id="rId8" Type="http://schemas.openxmlformats.org/officeDocument/2006/relationships/slide" Target="slides/slide7.xml"/><Relationship Id="rId51" Type="http://schemas.openxmlformats.org/officeDocument/2006/relationships/font" Target="fonts/font9.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slide" Target="slides/slide40.xml"/><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21035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34.xml"/><Relationship Id="rId3" Type="http://schemas.openxmlformats.org/officeDocument/2006/relationships/slide" Target="slide3.xml"/><Relationship Id="rId7" Type="http://schemas.openxmlformats.org/officeDocument/2006/relationships/hyperlink" Target="https://flyingdeuk.github.io/posts/B737-kneeboard/" TargetMode="External"/><Relationship Id="rId12" Type="http://schemas.openxmlformats.org/officeDocument/2006/relationships/slide" Target="slide33.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10.xml"/><Relationship Id="rId11" Type="http://schemas.openxmlformats.org/officeDocument/2006/relationships/slide" Target="slide31.xml"/><Relationship Id="rId5" Type="http://schemas.openxmlformats.org/officeDocument/2006/relationships/slide" Target="slide8.xml"/><Relationship Id="rId10" Type="http://schemas.openxmlformats.org/officeDocument/2006/relationships/slide" Target="slide28.xml"/><Relationship Id="rId4" Type="http://schemas.openxmlformats.org/officeDocument/2006/relationships/slide" Target="slide6.xml"/><Relationship Id="rId9" Type="http://schemas.openxmlformats.org/officeDocument/2006/relationships/slide" Target="slide27.xml"/><Relationship Id="rId14" Type="http://schemas.openxmlformats.org/officeDocument/2006/relationships/slide" Target="slide3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4.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slide" Target="slide26.xml"/><Relationship Id="rId3" Type="http://schemas.openxmlformats.org/officeDocument/2006/relationships/slide" Target="slide21.xml"/><Relationship Id="rId7" Type="http://schemas.openxmlformats.org/officeDocument/2006/relationships/slide" Target="slide25.xml"/><Relationship Id="rId12" Type="http://schemas.openxmlformats.org/officeDocument/2006/relationships/slide" Target="slide32.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slide" Target="slide24.xml"/><Relationship Id="rId11" Type="http://schemas.openxmlformats.org/officeDocument/2006/relationships/slide" Target="slide31.xml"/><Relationship Id="rId5" Type="http://schemas.openxmlformats.org/officeDocument/2006/relationships/slide" Target="slide23.xml"/><Relationship Id="rId10" Type="http://schemas.openxmlformats.org/officeDocument/2006/relationships/slide" Target="slide30.xml"/><Relationship Id="rId4" Type="http://schemas.openxmlformats.org/officeDocument/2006/relationships/slide" Target="slide22.xml"/><Relationship Id="rId9" Type="http://schemas.openxmlformats.org/officeDocument/2006/relationships/slide" Target="slide29.xml"/></Relationships>
</file>

<file path=ppt/slides/_rels/slide7.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slide" Target="slide39.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4.jpg"/><Relationship Id="rId7"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38.xml"/><Relationship Id="rId9" Type="http://schemas.openxmlformats.org/officeDocument/2006/relationships/slide" Target="slide4.xml"/></Relationships>
</file>

<file path=ppt/slides/_rels/slide16.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7.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38.xml"/><Relationship Id="rId5" Type="http://schemas.openxmlformats.org/officeDocument/2006/relationships/image" Target="../media/image8.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9.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38.xml"/><Relationship Id="rId7" Type="http://schemas.openxmlformats.org/officeDocument/2006/relationships/slide" Target="slide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4.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4.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10.png"/><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slide" Target="slide3.xml"/><Relationship Id="rId4" Type="http://schemas.openxmlformats.org/officeDocument/2006/relationships/slide" Target="slide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slide" Target="slide33.xml"/></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3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9278449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bg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bg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3276498700"/>
              </p:ext>
            </p:extLst>
          </p:nvPr>
        </p:nvGraphicFramePr>
        <p:xfrm>
          <a:off x="185895" y="3288168"/>
          <a:ext cx="1969476" cy="197794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329658">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chemeClr val="bg1">
                              <a:lumMod val="50000"/>
                              <a:lumOff val="50000"/>
                            </a:schemeClr>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329658">
                <a:tc gridSpan="2">
                  <a:txBody>
                    <a:bodyPr/>
                    <a:lstStyle/>
                    <a:p>
                      <a:pPr marL="0" marR="0" lvl="0" indent="0" algn="ctr" rtl="0">
                        <a:spcBef>
                          <a:spcPts val="0"/>
                        </a:spcBef>
                        <a:spcAft>
                          <a:spcPts val="0"/>
                        </a:spcAft>
                        <a:buNone/>
                      </a:pP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Wx</a:t>
                      </a: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Operation</a:t>
                      </a:r>
                      <a:endParaRP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329658">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25.1.23</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3431025797"/>
              </p:ext>
            </p:extLst>
          </p:nvPr>
        </p:nvGraphicFramePr>
        <p:xfrm>
          <a:off x="3659" y="55636"/>
          <a:ext cx="2306998" cy="1770040"/>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8026, 8027 </a:t>
                      </a:r>
                    </a:p>
                    <a:p>
                      <a:pPr marL="0" marR="0" lvl="0" indent="0" algn="ctr" rtl="0">
                        <a:spcBef>
                          <a:spcPts val="0"/>
                        </a:spcBef>
                        <a:spcAft>
                          <a:spcPts val="0"/>
                        </a:spcAft>
                        <a:buNone/>
                      </a:pPr>
                      <a:r>
                        <a:rPr lang="en-US" sz="700" b="1" dirty="0">
                          <a:solidFill>
                            <a:srgbClr val="00B050"/>
                          </a:solidFill>
                        </a:rPr>
                        <a:t>PAX AUTO</a:t>
                      </a:r>
                      <a:endParaRPr sz="700" b="1" dirty="0">
                        <a:solidFill>
                          <a:srgbClr val="00B050"/>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94349698"/>
              </p:ext>
            </p:extLst>
          </p:nvPr>
        </p:nvGraphicFramePr>
        <p:xfrm>
          <a:off x="10990" y="3109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Tree>
    <p:extLst>
      <p:ext uri="{BB962C8B-B14F-4D97-AF65-F5344CB8AC3E}">
        <p14:creationId xmlns:p14="http://schemas.microsoft.com/office/powerpoint/2010/main" val="2209153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578093620"/>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8633629"/>
              </p:ext>
            </p:extLst>
          </p:nvPr>
        </p:nvGraphicFramePr>
        <p:xfrm>
          <a:off x="104230" y="114852"/>
          <a:ext cx="2115458" cy="4114077"/>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0849911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4241014981"/>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1" y="2873940"/>
            <a:ext cx="926931" cy="924966"/>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905201653"/>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886248390"/>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2487107848"/>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3251774391"/>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446130722"/>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172060770"/>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532354565"/>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667764376"/>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726047760"/>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55500596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28841379"/>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481624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452625623"/>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1807FED8-19DC-287C-67F1-5201945FE40B}"/>
              </a:ext>
            </a:extLst>
          </p:cNvPr>
          <p:cNvGraphicFramePr/>
          <p:nvPr>
            <p:extLst>
              <p:ext uri="{D42A27DB-BD31-4B8C-83A1-F6EECF244321}">
                <p14:modId xmlns:p14="http://schemas.microsoft.com/office/powerpoint/2010/main" val="2047632114"/>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45601082"/>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262146153"/>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1192011018"/>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07866061"/>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653185980"/>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2503259219"/>
              </p:ext>
            </p:extLst>
          </p:nvPr>
        </p:nvGraphicFramePr>
        <p:xfrm>
          <a:off x="1596" y="3347934"/>
          <a:ext cx="2313550" cy="218041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34R</a:t>
                      </a:r>
                      <a:r>
                        <a:rPr lang="en-US" altLang="ko-Kore-KR" sz="800" b="1" dirty="0">
                          <a:solidFill>
                            <a:srgbClr val="C00000"/>
                          </a:solidFill>
                        </a:rPr>
                        <a:t>(DIS)</a:t>
                      </a:r>
                      <a:r>
                        <a:rPr lang="en-US" altLang="ko-Kore-KR" sz="800" b="1" dirty="0">
                          <a:solidFill>
                            <a:schemeClr val="dk1"/>
                          </a:solidFill>
                        </a:rPr>
                        <a:t>:C10(5780),C11(7270)</a:t>
                      </a: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16L</a:t>
                      </a:r>
                      <a:r>
                        <a:rPr lang="en-US" altLang="ko-Kore-KR" sz="800" b="1" dirty="0">
                          <a:solidFill>
                            <a:srgbClr val="C00000"/>
                          </a:solidFill>
                        </a:rPr>
                        <a:t>(DIS)</a:t>
                      </a:r>
                      <a:r>
                        <a:rPr lang="en-US" altLang="ko-Kore-KR" sz="8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269725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73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309;p20">
            <a:extLst>
              <a:ext uri="{FF2B5EF4-FFF2-40B4-BE49-F238E27FC236}">
                <a16:creationId xmlns:a16="http://schemas.microsoft.com/office/drawing/2014/main" id="{7AF94529-0EDC-6D66-BE0C-1745672CD0D3}"/>
              </a:ext>
            </a:extLst>
          </p:cNvPr>
          <p:cNvGraphicFramePr/>
          <p:nvPr>
            <p:extLst>
              <p:ext uri="{D42A27DB-BD31-4B8C-83A1-F6EECF244321}">
                <p14:modId xmlns:p14="http://schemas.microsoft.com/office/powerpoint/2010/main" val="3820361943"/>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65810851"/>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pP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1667303521"/>
              </p:ext>
            </p:extLst>
          </p:nvPr>
        </p:nvGraphicFramePr>
        <p:xfrm>
          <a:off x="-5861" y="3900677"/>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1413801618"/>
              </p:ext>
            </p:extLst>
          </p:nvPr>
        </p:nvGraphicFramePr>
        <p:xfrm>
          <a:off x="1933" y="923306"/>
          <a:ext cx="2328875" cy="2219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Calibri" panose="020F0502020204030204" pitchFamily="34" charset="0"/>
                          <a:cs typeface="Calibri" panose="020F0502020204030204" pitchFamily="34" charset="0"/>
                        </a:rPr>
                        <a:t>APU</a:t>
                      </a: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GND : 438 LBS/</a:t>
                      </a:r>
                      <a:r>
                        <a:rPr lang="en-US" sz="900" b="0" dirty="0" err="1">
                          <a:solidFill>
                            <a:srgbClr val="0070C0"/>
                          </a:solidFill>
                          <a:latin typeface="Calibri" panose="020F0502020204030204" pitchFamily="34" charset="0"/>
                          <a:cs typeface="Calibri" panose="020F0502020204030204" pitchFamily="34" charset="0"/>
                        </a:rPr>
                        <a:t>hr</a:t>
                      </a:r>
                      <a:r>
                        <a:rPr lang="en-US" sz="900" b="0" dirty="0">
                          <a:solidFill>
                            <a:srgbClr val="0070C0"/>
                          </a:solidFill>
                          <a:latin typeface="Calibri" panose="020F0502020204030204" pitchFamily="34" charset="0"/>
                          <a:cs typeface="Calibri" panose="020F0502020204030204" pitchFamily="34" charset="0"/>
                        </a:rPr>
                        <a:t> (BLOCK FUEL</a:t>
                      </a:r>
                      <a:r>
                        <a:rPr lang="ko-KR" altLang="en-US" sz="900" b="0" dirty="0">
                          <a:solidFill>
                            <a:srgbClr val="0070C0"/>
                          </a:solidFill>
                          <a:latin typeface="Calibri" panose="020F0502020204030204" pitchFamily="34" charset="0"/>
                          <a:cs typeface="Calibri" panose="020F0502020204030204" pitchFamily="34" charset="0"/>
                        </a:rPr>
                        <a:t>산정</a:t>
                      </a:r>
                      <a:r>
                        <a:rPr lang="en-US" altLang="ko-KR" sz="900" b="0" dirty="0">
                          <a:solidFill>
                            <a:srgbClr val="0070C0"/>
                          </a:solidFill>
                          <a:latin typeface="Calibri" panose="020F0502020204030204" pitchFamily="34" charset="0"/>
                          <a:cs typeface="Calibri" panose="020F0502020204030204" pitchFamily="34" charset="0"/>
                        </a:rPr>
                        <a:t>)</a:t>
                      </a:r>
                      <a:endParaRPr lang="en-US" sz="900" b="0" dirty="0">
                        <a:solidFill>
                          <a:srgbClr val="0070C0"/>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IN FLT : </a:t>
                      </a:r>
                      <a:r>
                        <a:rPr lang="en-US" altLang="ko-KR" sz="900" b="0" dirty="0">
                          <a:solidFill>
                            <a:srgbClr val="0070C0"/>
                          </a:solidFill>
                          <a:latin typeface="Calibri" panose="020F0502020204030204" pitchFamily="34" charset="0"/>
                          <a:cs typeface="Calibri" panose="020F0502020204030204" pitchFamily="34" charset="0"/>
                        </a:rPr>
                        <a:t>286</a:t>
                      </a:r>
                      <a:r>
                        <a:rPr lang="ko-KR" altLang="en-US" sz="900" b="0" dirty="0">
                          <a:solidFill>
                            <a:srgbClr val="0070C0"/>
                          </a:solidFill>
                          <a:latin typeface="Calibri" panose="020F0502020204030204" pitchFamily="34" charset="0"/>
                          <a:cs typeface="Calibri" panose="020F0502020204030204" pitchFamily="34" charset="0"/>
                        </a:rPr>
                        <a:t> </a:t>
                      </a:r>
                      <a:r>
                        <a:rPr lang="en-US" sz="900" b="0" dirty="0">
                          <a:solidFill>
                            <a:srgbClr val="0070C0"/>
                          </a:solidFill>
                          <a:latin typeface="Calibri" panose="020F0502020204030204" pitchFamily="34" charset="0"/>
                          <a:cs typeface="Calibri" panose="020F0502020204030204" pitchFamily="34" charset="0"/>
                        </a:rPr>
                        <a:t>LBS/</a:t>
                      </a:r>
                      <a:r>
                        <a:rPr lang="en-US" sz="900" b="0" dirty="0" err="1">
                          <a:solidFill>
                            <a:srgbClr val="0070C0"/>
                          </a:solidFill>
                          <a:latin typeface="Calibri" panose="020F0502020204030204" pitchFamily="34" charset="0"/>
                          <a:cs typeface="Calibri" panose="020F0502020204030204" pitchFamily="34" charset="0"/>
                        </a:rPr>
                        <a:t>hr</a:t>
                      </a:r>
                      <a:endParaRPr lang="en-US" sz="900" b="0" dirty="0">
                        <a:solidFill>
                          <a:srgbClr val="0070C0"/>
                        </a:solidFill>
                        <a:latin typeface="Calibri" panose="020F0502020204030204" pitchFamily="34" charset="0"/>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TAXI</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2 ENG, no APU : </a:t>
                      </a:r>
                      <a:r>
                        <a:rPr lang="en-US" altLang="ko-KR" sz="900" b="0" i="0" u="none" strike="noStrike" cap="none" dirty="0">
                          <a:solidFill>
                            <a:srgbClr val="0070C0"/>
                          </a:solidFill>
                          <a:latin typeface="Calibri"/>
                          <a:ea typeface="Calibri"/>
                          <a:cs typeface="Calibri"/>
                          <a:sym typeface="Arial"/>
                        </a:rPr>
                        <a:t>3300</a:t>
                      </a:r>
                      <a:r>
                        <a:rPr lang="ko-KR" altLang="en-US" sz="900" b="0" i="0" u="none" strike="noStrike" cap="none" dirty="0">
                          <a:solidFill>
                            <a:srgbClr val="0070C0"/>
                          </a:solidFill>
                          <a:latin typeface="Calibri"/>
                          <a:ea typeface="Calibri"/>
                          <a:cs typeface="Calibri"/>
                          <a:sym typeface="Arial"/>
                        </a:rPr>
                        <a:t> </a:t>
                      </a:r>
                      <a:r>
                        <a:rPr lang="en-US" altLang="ko-Kore-KR" sz="900" b="0" i="0" u="none" strike="noStrike" cap="none" dirty="0">
                          <a:solidFill>
                            <a:srgbClr val="0070C0"/>
                          </a:solidFill>
                          <a:latin typeface="Calibri"/>
                          <a:ea typeface="Calibri"/>
                          <a:cs typeface="Calibri"/>
                          <a:sym typeface="Arial"/>
                        </a:rPr>
                        <a:t>LBS/</a:t>
                      </a:r>
                      <a:r>
                        <a:rPr lang="en-US" altLang="ko-Kore-KR" sz="900" b="0" i="0" u="none" strike="noStrike" cap="none" dirty="0" err="1">
                          <a:solidFill>
                            <a:srgbClr val="0070C0"/>
                          </a:solidFill>
                          <a:latin typeface="Calibri"/>
                          <a:ea typeface="Calibri"/>
                          <a:cs typeface="Calibri"/>
                          <a:sym typeface="Arial"/>
                        </a:rPr>
                        <a:t>hr</a:t>
                      </a:r>
                      <a:r>
                        <a:rPr lang="en-US" altLang="ko-Kore-KR"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55 LBS/</a:t>
                      </a:r>
                      <a:r>
                        <a:rPr lang="en-US" altLang="ko-KR" sz="900" b="0" i="0" u="none" strike="noStrike" cap="none" dirty="0" err="1">
                          <a:solidFill>
                            <a:srgbClr val="0070C0"/>
                          </a:solidFill>
                          <a:latin typeface="Calibri"/>
                          <a:ea typeface="Calibri"/>
                          <a:cs typeface="Calibri"/>
                          <a:sym typeface="Arial"/>
                        </a:rPr>
                        <a:t>hr</a:t>
                      </a:r>
                      <a:r>
                        <a:rPr lang="en-US" altLang="ko-KR" sz="900" b="0" i="0" u="none" strike="noStrike" cap="none" dirty="0">
                          <a:solidFill>
                            <a:srgbClr val="0070C0"/>
                          </a:solidFill>
                          <a:latin typeface="Calibri"/>
                          <a:ea typeface="Calibri"/>
                          <a:cs typeface="Calibri"/>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CRZ</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- 100ft </a:t>
                      </a:r>
                      <a:r>
                        <a:rPr lang="ko-Kore-KR" altLang="en-US" sz="900" b="0" i="0" u="none" strike="noStrike" cap="none" dirty="0">
                          <a:solidFill>
                            <a:srgbClr val="0070C0"/>
                          </a:solidFill>
                          <a:latin typeface="Calibri"/>
                          <a:ea typeface="Calibri"/>
                          <a:cs typeface="Calibri"/>
                          <a:sym typeface="Arial"/>
                        </a:rPr>
                        <a:t>당</a:t>
                      </a:r>
                      <a:r>
                        <a:rPr lang="ko-KR" altLang="en-US"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8</a:t>
                      </a:r>
                      <a:r>
                        <a:rPr lang="ko-KR" altLang="en-US"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min </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 ex) 1000ft </a:t>
                      </a:r>
                      <a:r>
                        <a:rPr lang="ko-KR" altLang="en-US" sz="900" b="0" i="0" u="none" strike="noStrike" cap="none" dirty="0">
                          <a:solidFill>
                            <a:srgbClr val="0070C0"/>
                          </a:solidFill>
                          <a:latin typeface="Calibri"/>
                          <a:ea typeface="Calibri"/>
                          <a:cs typeface="Calibri"/>
                          <a:sym typeface="Arial"/>
                        </a:rPr>
                        <a:t>상승 </a:t>
                      </a:r>
                      <a:r>
                        <a:rPr lang="en-US" altLang="ko-KR" sz="900" b="0" i="0" u="none" strike="noStrike" cap="none" dirty="0">
                          <a:solidFill>
                            <a:srgbClr val="0070C0"/>
                          </a:solidFill>
                          <a:latin typeface="Calibri"/>
                          <a:ea typeface="Calibri"/>
                          <a:cs typeface="Calibri"/>
                          <a:sym typeface="Arial"/>
                        </a:rPr>
                        <a:t>80</a:t>
                      </a:r>
                      <a:r>
                        <a:rPr lang="ko-KR" altLang="en-US"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min, 1hr 20min</a:t>
                      </a:r>
                      <a:endParaRPr lang="en-US" altLang="ko-Kore-KR" sz="900" b="0" i="0" u="none" strike="noStrike" cap="none" dirty="0">
                        <a:solidFill>
                          <a:srgbClr val="0070C0"/>
                        </a:solidFill>
                        <a:latin typeface="Calibri"/>
                        <a:ea typeface="Calibri"/>
                        <a:cs typeface="Calibri"/>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Holding</a:t>
                      </a:r>
                    </a:p>
                    <a:p>
                      <a:pPr marL="0" marR="0" lvl="0" indent="0" algn="l" rtl="0">
                        <a:spcBef>
                          <a:spcPts val="0"/>
                        </a:spcBef>
                        <a:spcAft>
                          <a:spcPts val="0"/>
                        </a:spcAft>
                        <a:buNone/>
                      </a:pPr>
                      <a:r>
                        <a:rPr lang="ko-KR" altLang="en-US" sz="900" b="0" i="0" u="none" strike="noStrike" cap="none" dirty="0">
                          <a:solidFill>
                            <a:srgbClr val="0070C0"/>
                          </a:solidFill>
                          <a:latin typeface="Calibri"/>
                          <a:ea typeface="Calibri"/>
                          <a:cs typeface="Calibri"/>
                          <a:sym typeface="Arial"/>
                        </a:rPr>
                        <a:t>분당 </a:t>
                      </a:r>
                      <a:r>
                        <a:rPr lang="en-US" altLang="ko-KR" sz="900" b="0" i="0" u="none" strike="noStrike" cap="none" dirty="0">
                          <a:solidFill>
                            <a:srgbClr val="0070C0"/>
                          </a:solidFill>
                          <a:latin typeface="Calibri"/>
                          <a:ea typeface="Calibri"/>
                          <a:cs typeface="Calibri"/>
                          <a:sym typeface="Arial"/>
                        </a:rPr>
                        <a:t>200LBS (Actual F/F </a:t>
                      </a:r>
                      <a:r>
                        <a:rPr lang="ko-KR" altLang="en-US" sz="900" b="0" i="0" u="none" strike="noStrike" cap="none" dirty="0">
                          <a:solidFill>
                            <a:srgbClr val="0070C0"/>
                          </a:solidFill>
                          <a:latin typeface="Calibri"/>
                          <a:ea typeface="Calibri"/>
                          <a:cs typeface="Calibri"/>
                          <a:sym typeface="Arial"/>
                        </a:rPr>
                        <a:t>참조</a:t>
                      </a:r>
                      <a:r>
                        <a:rPr lang="en-US" altLang="ko-KR" sz="900" b="0" i="0" u="none" strike="noStrike" cap="none" dirty="0">
                          <a:solidFill>
                            <a:srgbClr val="0070C0"/>
                          </a:solidFill>
                          <a:latin typeface="Calibri"/>
                          <a:ea typeface="Calibri"/>
                          <a:cs typeface="Calibri"/>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Calibri"/>
                          <a:ea typeface="Calibri"/>
                          <a:cs typeface="Calibri"/>
                          <a:sym typeface="Arial"/>
                        </a:rPr>
                        <a:t>Missed App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&amp;</a:t>
                      </a:r>
                      <a:r>
                        <a:rPr kumimoji="0" lang="ko-KR" altLang="en-US" sz="1000" b="1"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3000</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LBS (</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과거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EDTO</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자료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1</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Missed App + L/D)</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endPar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2115559560"/>
              </p:ext>
            </p:extLst>
          </p:nvPr>
        </p:nvGraphicFramePr>
        <p:xfrm>
          <a:off x="3864" y="3227435"/>
          <a:ext cx="2328875" cy="109694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Tail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a:t>
                      </a:r>
                      <a:r>
                        <a:rPr lang="ko-KR" altLang="en-US" sz="900" b="0" dirty="0">
                          <a:solidFill>
                            <a:srgbClr val="0070C0"/>
                          </a:solidFill>
                          <a:latin typeface="Calibri" panose="020F0502020204030204" pitchFamily="34" charset="0"/>
                          <a:ea typeface="+mn-ea"/>
                          <a:cs typeface="Calibri" panose="020F0502020204030204" pitchFamily="34" charset="0"/>
                        </a:rPr>
                        <a:t> </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FUEL Overfill :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42941435"/>
              </p:ext>
            </p:extLst>
          </p:nvPr>
        </p:nvGraphicFramePr>
        <p:xfrm>
          <a:off x="0" y="2006053"/>
          <a:ext cx="2328875" cy="17889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6832">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p>
                  </a:txBody>
                  <a:tcPr marL="36000" marR="36000" marT="36000" marB="36000"/>
                </a:tc>
                <a:extLst>
                  <a:ext uri="{0D108BD9-81ED-4DB2-BD59-A6C34878D82A}">
                    <a16:rowId xmlns:a16="http://schemas.microsoft.com/office/drawing/2014/main" val="10000"/>
                  </a:ext>
                </a:extLst>
              </a:tr>
              <a:tr h="20207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52556">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39193">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절차 </a:t>
                      </a:r>
                      <a:r>
                        <a:rPr kumimoji="0" lang="en-US" altLang="ko-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POM, FCOM</a:t>
                      </a:r>
                      <a:r>
                        <a:rPr kumimoji="0" lang="ko-KR" altLang="en-US"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에</a:t>
                      </a: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없음</a:t>
                      </a:r>
                      <a:endParaRPr kumimoji="0" lang="en-US" altLang="ko-Kore-KR" sz="1050" b="1" i="0" u="none" strike="noStrike" kern="0" cap="none" spc="0" normalizeH="0" baseline="0" noProof="0" dirty="0">
                        <a:ln>
                          <a:noFill/>
                        </a:ln>
                        <a:solidFill>
                          <a:srgbClr val="00B05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1837196046"/>
              </p:ext>
            </p:extLst>
          </p:nvPr>
        </p:nvGraphicFramePr>
        <p:xfrm>
          <a:off x="-12" y="9492"/>
          <a:ext cx="2328875" cy="188167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a:t>
                      </a: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180813606"/>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3600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679774961"/>
              </p:ext>
            </p:extLst>
          </p:nvPr>
        </p:nvGraphicFramePr>
        <p:xfrm>
          <a:off x="0" y="2"/>
          <a:ext cx="2328875" cy="47319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1375">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25872">
                <a:tc>
                  <a:txBody>
                    <a:bodyPr/>
                    <a:lstStyle/>
                    <a:p>
                      <a:pPr marL="0" marR="0" lvl="0" indent="0" algn="l" rtl="0">
                        <a:spcBef>
                          <a:spcPts val="0"/>
                        </a:spcBef>
                        <a:spcAft>
                          <a:spcPts val="0"/>
                        </a:spcAft>
                        <a:buNone/>
                      </a:pPr>
                      <a:r>
                        <a:rPr lang="en-US" sz="800" dirty="0">
                          <a:latin typeface="Arial" panose="020B0604020202020204" pitchFamily="34" charset="0"/>
                          <a:cs typeface="Arial" panose="020B0604020202020204" pitchFamily="34" charset="0"/>
                        </a:rPr>
                        <a:t>#1 ENGBLEED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EXT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PWR</a:t>
                      </a:r>
                      <a:r>
                        <a:rPr lang="ko-KR" altLang="en-US" sz="800" dirty="0">
                          <a:latin typeface="Arial" panose="020B0604020202020204" pitchFamily="34" charset="0"/>
                          <a:cs typeface="Arial" panose="020B0604020202020204" pitchFamily="34" charset="0"/>
                        </a:rPr>
                        <a:t> 필요</a:t>
                      </a:r>
                      <a:endParaRPr sz="8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663412">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Suppy</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eng</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Area CLR</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626376">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AREA CLEAR OF OBS ........... CONF CAP</a:t>
                      </a:r>
                      <a:endParaRPr lang="en-US" sz="100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864912">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242546721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bg1"/>
                          </a:solidFill>
                        </a:rPr>
                        <a:t>5</a:t>
                      </a:r>
                      <a:r>
                        <a:rPr lang="ko-KR" altLang="en-US" sz="700" b="0" dirty="0">
                          <a:solidFill>
                            <a:schemeClr val="bg1"/>
                          </a:solidFill>
                        </a:rPr>
                        <a:t>도 간격은 보수적으로 </a:t>
                      </a:r>
                      <a:r>
                        <a:rPr lang="ko-KR" altLang="en-US" sz="700" b="0" dirty="0" err="1">
                          <a:solidFill>
                            <a:schemeClr val="bg1"/>
                          </a:solidFill>
                        </a:rPr>
                        <a:t>보간법</a:t>
                      </a:r>
                      <a:r>
                        <a:rPr lang="ko-KR" altLang="en-US" sz="700" b="0" dirty="0">
                          <a:solidFill>
                            <a:schemeClr val="bg1"/>
                          </a:solidFill>
                        </a:rPr>
                        <a:t> 적용됨</a:t>
                      </a:r>
                      <a:endParaRPr sz="700" b="0" dirty="0">
                        <a:solidFill>
                          <a:schemeClr val="bg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821158505"/>
              </p:ext>
            </p:extLst>
          </p:nvPr>
        </p:nvGraphicFramePr>
        <p:xfrm>
          <a:off x="12706" y="8861"/>
          <a:ext cx="2328875" cy="5512521"/>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31051">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701803">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34089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59196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5005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 PARKING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2345691541"/>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a:t>
                      </a:r>
                      <a:endParaRPr lang="en-US" sz="700"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rgbClr val="FFC000"/>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452341" y="633587"/>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3165188743"/>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48645136"/>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46562</TotalTime>
  <Words>6897</Words>
  <Application>Microsoft Macintosh PowerPoint</Application>
  <PresentationFormat>사용자 지정</PresentationFormat>
  <Paragraphs>1689</Paragraphs>
  <Slides>40</Slides>
  <Notes>39</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40</vt:i4>
      </vt:variant>
    </vt:vector>
  </HeadingPairs>
  <TitlesOfParts>
    <vt:vector size="48" baseType="lpstr">
      <vt:lpstr>Arial</vt:lpstr>
      <vt:lpstr>Century Gothic</vt:lpstr>
      <vt:lpstr>Calibri</vt:lpstr>
      <vt:lpstr>Cambria Math</vt:lpstr>
      <vt:lpstr>Britannic Bold</vt:lpstr>
      <vt:lpstr>Helvetica Neue</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397</cp:revision>
  <dcterms:created xsi:type="dcterms:W3CDTF">2022-05-17T08:00:10Z</dcterms:created>
  <dcterms:modified xsi:type="dcterms:W3CDTF">2025-01-23T04:28:26Z</dcterms:modified>
</cp:coreProperties>
</file>