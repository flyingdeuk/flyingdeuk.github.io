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30"/>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483" r:id="rId57"/>
    <p:sldId id="484" r:id="rId58"/>
    <p:sldId id="485" r:id="rId59"/>
    <p:sldId id="486" r:id="rId60"/>
    <p:sldId id="487" r:id="rId61"/>
    <p:sldId id="488" r:id="rId62"/>
    <p:sldId id="389" r:id="rId63"/>
    <p:sldId id="390" r:id="rId64"/>
    <p:sldId id="442" r:id="rId65"/>
    <p:sldId id="443" r:id="rId66"/>
    <p:sldId id="447" r:id="rId67"/>
    <p:sldId id="448" r:id="rId68"/>
    <p:sldId id="449" r:id="rId69"/>
    <p:sldId id="479" r:id="rId70"/>
    <p:sldId id="450" r:id="rId71"/>
    <p:sldId id="452" r:id="rId72"/>
    <p:sldId id="453" r:id="rId73"/>
    <p:sldId id="460" r:id="rId74"/>
    <p:sldId id="462" r:id="rId75"/>
    <p:sldId id="461" r:id="rId76"/>
    <p:sldId id="476" r:id="rId77"/>
    <p:sldId id="478" r:id="rId78"/>
    <p:sldId id="359" r:id="rId79"/>
    <p:sldId id="360" r:id="rId80"/>
    <p:sldId id="374" r:id="rId81"/>
    <p:sldId id="375" r:id="rId82"/>
    <p:sldId id="480" r:id="rId83"/>
    <p:sldId id="482" r:id="rId84"/>
    <p:sldId id="481" r:id="rId85"/>
    <p:sldId id="489" r:id="rId86"/>
    <p:sldId id="490" r:id="rId87"/>
    <p:sldId id="491" r:id="rId88"/>
    <p:sldId id="492" r:id="rId89"/>
    <p:sldId id="326" r:id="rId90"/>
    <p:sldId id="327" r:id="rId91"/>
    <p:sldId id="436" r:id="rId92"/>
    <p:sldId id="376" r:id="rId93"/>
    <p:sldId id="434" r:id="rId94"/>
    <p:sldId id="437" r:id="rId95"/>
    <p:sldId id="439" r:id="rId96"/>
    <p:sldId id="438" r:id="rId97"/>
    <p:sldId id="444" r:id="rId98"/>
    <p:sldId id="445" r:id="rId99"/>
    <p:sldId id="446" r:id="rId100"/>
    <p:sldId id="469" r:id="rId101"/>
    <p:sldId id="470" r:id="rId102"/>
    <p:sldId id="471" r:id="rId103"/>
    <p:sldId id="472" r:id="rId104"/>
    <p:sldId id="473" r:id="rId105"/>
    <p:sldId id="474" r:id="rId106"/>
    <p:sldId id="493" r:id="rId107"/>
    <p:sldId id="496" r:id="rId108"/>
    <p:sldId id="494" r:id="rId109"/>
    <p:sldId id="495" r:id="rId110"/>
    <p:sldId id="422" r:id="rId111"/>
    <p:sldId id="385" r:id="rId112"/>
    <p:sldId id="365" r:id="rId113"/>
    <p:sldId id="366" r:id="rId114"/>
    <p:sldId id="423" r:id="rId115"/>
    <p:sldId id="384" r:id="rId116"/>
    <p:sldId id="283" r:id="rId117"/>
    <p:sldId id="286" r:id="rId118"/>
    <p:sldId id="428" r:id="rId119"/>
    <p:sldId id="288" r:id="rId120"/>
    <p:sldId id="289" r:id="rId121"/>
    <p:sldId id="290" r:id="rId122"/>
    <p:sldId id="424" r:id="rId123"/>
    <p:sldId id="302" r:id="rId124"/>
    <p:sldId id="303" r:id="rId125"/>
    <p:sldId id="426" r:id="rId126"/>
    <p:sldId id="427" r:id="rId127"/>
    <p:sldId id="430" r:id="rId128"/>
    <p:sldId id="281" r:id="rId129"/>
  </p:sldIdLst>
  <p:sldSz cx="2328863" cy="5572125"/>
  <p:notesSz cx="6858000" cy="9144000"/>
  <p:embeddedFontLst>
    <p:embeddedFont>
      <p:font typeface="맑은 고딕" panose="020B0503020000020004" pitchFamily="34" charset="-127"/>
      <p:regular r:id="rId131"/>
      <p:bold r:id="rId132"/>
    </p:embeddedFont>
    <p:embeddedFont>
      <p:font typeface="Cambria Math" panose="02040503050406030204" pitchFamily="18" charset="0"/>
      <p:regular r:id="rId133"/>
    </p:embeddedFont>
    <p:embeddedFont>
      <p:font typeface="Century Gothic" panose="020B0502020202020204" pitchFamily="34" charset="0"/>
      <p:regular r:id="rId134"/>
      <p:bold r:id="rId135"/>
      <p:italic r:id="rId136"/>
      <p:boldItalic r:id="rId137"/>
    </p:embeddedFont>
    <p:embeddedFont>
      <p:font typeface="Helvetica Neue" panose="02000503000000020004" pitchFamily="2" charset="0"/>
      <p:regular r:id="rId138"/>
      <p:bold r:id="rId139"/>
      <p:italic r:id="rId140"/>
      <p:boldItalic r:id="rId141"/>
    </p:embeddedFont>
    <p:embeddedFont>
      <p:font typeface="Lato" panose="020F0502020204030203" pitchFamily="34" charset="0"/>
      <p:regular r:id="rId142"/>
      <p:bold r:id="rId143"/>
      <p:italic r:id="rId144"/>
      <p:boldItalic r:id="rId14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157"/>
    <p:restoredTop sz="96966"/>
  </p:normalViewPr>
  <p:slideViewPr>
    <p:cSldViewPr snapToGrid="0" showGuides="1">
      <p:cViewPr>
        <p:scale>
          <a:sx n="255" d="100"/>
          <a:sy n="255" d="100"/>
        </p:scale>
        <p:origin x="2056" y="208"/>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font" Target="fonts/font8.fntdata"/><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font" Target="fonts/font4.fntdata"/><Relationship Id="rId139" Type="http://schemas.openxmlformats.org/officeDocument/2006/relationships/font" Target="fonts/font9.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font" Target="fonts/font10.fntdata"/><Relationship Id="rId145" Type="http://schemas.openxmlformats.org/officeDocument/2006/relationships/font" Target="fonts/font15.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notesMaster" Target="notesMasters/notesMaster1.xml"/><Relationship Id="rId135" Type="http://schemas.openxmlformats.org/officeDocument/2006/relationships/font" Target="fonts/font5.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font" Target="fonts/font1.fntdata"/><Relationship Id="rId136" Type="http://schemas.openxmlformats.org/officeDocument/2006/relationships/font" Target="fonts/font6.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font" Target="fonts/font12.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font" Target="fonts/font2.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font" Target="fonts/font3.fntdata"/><Relationship Id="rId175"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font" Target="fonts/font14.fntdata"/><Relationship Id="rId90"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1FF93BF-508E-CF4F-5AC7-31AD1900C59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02F6920-F028-A8AA-7695-A4ACD3B7E21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FDC43B7B-4A30-8C0E-1A19-EC744F1D528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5601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75664AE-AD5F-BE4A-CC07-E504D150751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6A6417D-B2BB-90C9-1C10-1DD6227DC75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305CC4E3-0F65-A4A4-587E-79FB8ED5F47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616157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0AB9BBD-47B2-C548-F51D-4243F985FFA2}"/>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9A27EE0-30EF-6FF2-9960-E674EEDE056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7575E27F-48A6-8255-53E9-44DF6F7F03C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44341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1A6927A-89ED-B2E5-8B9E-96A15CF8C98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782C6369-4A45-CC4F-5E6A-89E8F30385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4613D65-A925-7DBC-7E52-11FCEC235E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6170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3A05C23-C04D-095A-7BD0-7F686EF6DB5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6CF72FC-CD0E-9D4F-8070-48FF2B948D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FE1C4BF-6721-F604-6FFC-51CDE1415C2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322876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D2006-D2CB-6D12-D3FC-17526D5D558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40846F7-1786-72D3-7E3A-6256A60E95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6C590D3-F071-6353-539D-773F927160F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8213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4F39ABDB-F67B-937E-DB92-03C331365D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58690F7-C671-2913-E422-71B0F8CCED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2AAF833-F310-CAE7-B040-11F57202564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5152607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9BF61BA2-E665-3B0C-CDF9-47143FD0996A}"/>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95A1E52-FCC0-C746-12FD-8BA4D063A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C7D008BA-1199-EEA5-680D-E9E989DBC7A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594156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3523544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2795562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B4EDF986-54BB-FD60-11B3-51600D4CE0A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DA09911-C2EE-FB13-14DE-CA42E2B27B3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D1D4853A-C05F-2C04-CF71-0DA6E4E791D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285785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64F84F33-E9A7-59ED-B23E-2EE6B81522EE}"/>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7E6CFA1F-3252-ACF2-7DF1-C346FDC5DC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7A0ED6C4-B8C0-0F72-FF68-312FD3C8FEA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4013073"/>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C3414617-3170-9DC0-DB91-D0B46B0FE4B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C581A382-F3C2-5EB6-F83D-D15651D0A8C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A7835AC-9DFF-202B-F7DD-804F3A1ECEA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049178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110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128</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112.xml"/><Relationship Id="rId18" Type="http://schemas.openxmlformats.org/officeDocument/2006/relationships/slide" Target="slide125.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111.xml"/><Relationship Id="rId17" Type="http://schemas.openxmlformats.org/officeDocument/2006/relationships/slide" Target="slide121.xml"/><Relationship Id="rId2" Type="http://schemas.openxmlformats.org/officeDocument/2006/relationships/notesSlide" Target="../notesSlides/notesSlide1.xml"/><Relationship Id="rId16" Type="http://schemas.openxmlformats.org/officeDocument/2006/relationships/slide" Target="slide119.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110.xml"/><Relationship Id="rId5" Type="http://schemas.openxmlformats.org/officeDocument/2006/relationships/slide" Target="slide7.xml"/><Relationship Id="rId15" Type="http://schemas.openxmlformats.org/officeDocument/2006/relationships/slide" Target="slide117.xml"/><Relationship Id="rId10" Type="http://schemas.openxmlformats.org/officeDocument/2006/relationships/hyperlink" Target="https://flyingdeuk.github.io/posts/A330-kneeboard/" TargetMode="External"/><Relationship Id="rId19" Type="http://schemas.openxmlformats.org/officeDocument/2006/relationships/slide" Target="slide126.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115.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18" Type="http://schemas.openxmlformats.org/officeDocument/2006/relationships/slide" Target="slide61.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17" Type="http://schemas.openxmlformats.org/officeDocument/2006/relationships/slide" Target="slide59.xml"/><Relationship Id="rId2" Type="http://schemas.openxmlformats.org/officeDocument/2006/relationships/notesSlide" Target="../notesSlides/notesSlide7.xml"/><Relationship Id="rId16" Type="http://schemas.openxmlformats.org/officeDocument/2006/relationships/slide" Target="slide58.xml"/><Relationship Id="rId20"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slide" Target="slide56.xml"/><Relationship Id="rId10" Type="http://schemas.openxmlformats.org/officeDocument/2006/relationships/slide" Target="slide49.xml"/><Relationship Id="rId19" Type="http://schemas.openxmlformats.org/officeDocument/2006/relationships/image" Target="../media/image2.png"/><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73.xml"/><Relationship Id="rId18" Type="http://schemas.openxmlformats.org/officeDocument/2006/relationships/slide" Target="slide79.xml"/><Relationship Id="rId26" Type="http://schemas.openxmlformats.org/officeDocument/2006/relationships/slide" Target="slide88.xml"/><Relationship Id="rId3" Type="http://schemas.openxmlformats.org/officeDocument/2006/relationships/slide" Target="slide62.xml"/><Relationship Id="rId21" Type="http://schemas.openxmlformats.org/officeDocument/2006/relationships/slide" Target="slide82.xml"/><Relationship Id="rId7" Type="http://schemas.openxmlformats.org/officeDocument/2006/relationships/slide" Target="slide66.xml"/><Relationship Id="rId12" Type="http://schemas.openxmlformats.org/officeDocument/2006/relationships/slide" Target="slide72.xml"/><Relationship Id="rId17" Type="http://schemas.openxmlformats.org/officeDocument/2006/relationships/slide" Target="slide78.xml"/><Relationship Id="rId25" Type="http://schemas.openxmlformats.org/officeDocument/2006/relationships/slide" Target="slide87.xml"/><Relationship Id="rId2" Type="http://schemas.openxmlformats.org/officeDocument/2006/relationships/notesSlide" Target="../notesSlides/notesSlide9.xml"/><Relationship Id="rId16" Type="http://schemas.openxmlformats.org/officeDocument/2006/relationships/slide" Target="slide77.xml"/><Relationship Id="rId20" Type="http://schemas.openxmlformats.org/officeDocument/2006/relationships/slide" Target="slide81.xml"/><Relationship Id="rId29"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 Target="slide65.xml"/><Relationship Id="rId11" Type="http://schemas.openxmlformats.org/officeDocument/2006/relationships/slide" Target="slide71.xml"/><Relationship Id="rId24" Type="http://schemas.openxmlformats.org/officeDocument/2006/relationships/slide" Target="slide86.xml"/><Relationship Id="rId5" Type="http://schemas.openxmlformats.org/officeDocument/2006/relationships/slide" Target="slide64.xml"/><Relationship Id="rId15" Type="http://schemas.openxmlformats.org/officeDocument/2006/relationships/slide" Target="slide76.xml"/><Relationship Id="rId23" Type="http://schemas.openxmlformats.org/officeDocument/2006/relationships/slide" Target="slide85.xml"/><Relationship Id="rId28" Type="http://schemas.openxmlformats.org/officeDocument/2006/relationships/slide" Target="slide90.xml"/><Relationship Id="rId10" Type="http://schemas.openxmlformats.org/officeDocument/2006/relationships/slide" Target="slide70.xml"/><Relationship Id="rId19" Type="http://schemas.openxmlformats.org/officeDocument/2006/relationships/slide" Target="slide80.xml"/><Relationship Id="rId4" Type="http://schemas.openxmlformats.org/officeDocument/2006/relationships/slide" Target="slide63.xml"/><Relationship Id="rId9" Type="http://schemas.openxmlformats.org/officeDocument/2006/relationships/slide" Target="slide68.xml"/><Relationship Id="rId14" Type="http://schemas.openxmlformats.org/officeDocument/2006/relationships/slide" Target="slide75.xml"/><Relationship Id="rId22" Type="http://schemas.openxmlformats.org/officeDocument/2006/relationships/slide" Target="slide84.xml"/><Relationship Id="rId27" Type="http://schemas.openxmlformats.org/officeDocument/2006/relationships/slide" Target="slide89.xml"/><Relationship Id="rId30" Type="http://schemas.openxmlformats.org/officeDocument/2006/relationships/image" Target="../media/image3.svg"/></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99.xml"/><Relationship Id="rId3" Type="http://schemas.openxmlformats.org/officeDocument/2006/relationships/slide" Target="slide91.xml"/><Relationship Id="rId7" Type="http://schemas.openxmlformats.org/officeDocument/2006/relationships/slide" Target="slide97.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96.xml"/><Relationship Id="rId5" Type="http://schemas.openxmlformats.org/officeDocument/2006/relationships/slide" Target="slide94.xml"/><Relationship Id="rId10" Type="http://schemas.openxmlformats.org/officeDocument/2006/relationships/image" Target="../media/image3.svg"/><Relationship Id="rId4" Type="http://schemas.openxmlformats.org/officeDocument/2006/relationships/slide" Target="slide93.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slide" Target="slide109.xml"/><Relationship Id="rId3" Type="http://schemas.openxmlformats.org/officeDocument/2006/relationships/slide" Target="slide100.xml"/><Relationship Id="rId7" Type="http://schemas.openxmlformats.org/officeDocument/2006/relationships/slide" Target="slide106.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105.xml"/><Relationship Id="rId5" Type="http://schemas.openxmlformats.org/officeDocument/2006/relationships/slide" Target="slide103.xml"/><Relationship Id="rId10" Type="http://schemas.openxmlformats.org/officeDocument/2006/relationships/image" Target="../media/image3.svg"/><Relationship Id="rId4" Type="http://schemas.openxmlformats.org/officeDocument/2006/relationships/slide" Target="slide102.xml"/><Relationship Id="rId9"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23.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23.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23.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slide" Target="slide3.xml"/><Relationship Id="rId4" Type="http://schemas.openxmlformats.org/officeDocument/2006/relationships/hyperlink" Target="https://flyingdeuk.github.io/posts/RKSS-GMP/" TargetMode="External"/><Relationship Id="rId9"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flyingdeuk.github.io/posts/RJTT-HND/" TargetMode="External"/><Relationship Id="rId7"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SZ-SZX/"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flyingdeuk.github.io/posts/ZGSZ-SZX/"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23.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TI-KTI/"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VDTI-KTI/"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PQ-PQC/" TargetMode="External"/></Relationships>
</file>

<file path=ppt/slides/_rels/slide86.xml.rels><?xml version="1.0" encoding="UTF-8" standalone="yes"?>
<Relationships xmlns="http://schemas.openxmlformats.org/package/2006/relationships"><Relationship Id="rId3" Type="http://schemas.openxmlformats.org/officeDocument/2006/relationships/hyperlink" Target="https://flyingdeuk.github.io/posts/VVPQ-PQC/"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MKK-KUL/" TargetMode="External"/></Relationships>
</file>

<file path=ppt/slides/_rels/slide88.xml.rels><?xml version="1.0" encoding="UTF-8" standalone="yes"?>
<Relationships xmlns="http://schemas.openxmlformats.org/package/2006/relationships"><Relationship Id="rId3" Type="http://schemas.openxmlformats.org/officeDocument/2006/relationships/hyperlink" Target="https://flyingdeuk.github.io/posts/WMKK-KUL/" TargetMode="External"/><Relationship Id="rId7" Type="http://schemas.openxmlformats.org/officeDocument/2006/relationships/image" Target="../media/image3.svg"/><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CR-CXR/" TargetMode="External"/></Relationships>
</file>

<file path=ppt/slides/_rels/slide9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CR-CXR/" TargetMode="External"/><Relationship Id="rId7"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23.jpeg"/><Relationship Id="rId4" Type="http://schemas.openxmlformats.org/officeDocument/2006/relationships/hyperlink" Target="https://flyingdeuk.github.io/posts/RKSI-ICN/" TargetMode="External"/></Relationships>
</file>

<file path=ppt/slides/_rels/slide91.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image" Target="../media/image2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9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9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VNKT-KTM/" TargetMode="External"/></Relationships>
</file>

<file path=ppt/slides/_rels/slide10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hyperlink" Target="https://flyingdeuk.github.io/posts/VNKT-KTM/" TargetMode="External"/><Relationship Id="rId7" Type="http://schemas.openxmlformats.org/officeDocument/2006/relationships/image" Target="../media/image3.svg"/><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10.xml.rels><?xml version="1.0" encoding="UTF-8" standalone="yes"?>
<Relationships xmlns="http://schemas.openxmlformats.org/package/2006/relationships"><Relationship Id="rId8" Type="http://schemas.openxmlformats.org/officeDocument/2006/relationships/image" Target="../media/image32.jpg"/><Relationship Id="rId3" Type="http://schemas.openxmlformats.org/officeDocument/2006/relationships/image" Target="../media/image29.png"/><Relationship Id="rId7" Type="http://schemas.openxmlformats.org/officeDocument/2006/relationships/image" Target="../media/image31.jpg"/><Relationship Id="rId2" Type="http://schemas.openxmlformats.org/officeDocument/2006/relationships/notesSlide" Target="../notesSlides/notesSlide97.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30.png"/></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9.xml.rels><?xml version="1.0" encoding="UTF-8" standalone="yes"?>
<Relationships xmlns="http://schemas.openxmlformats.org/package/2006/relationships"><Relationship Id="rId3" Type="http://schemas.openxmlformats.org/officeDocument/2006/relationships/slide" Target="slide117.xml"/><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6.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1.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07.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17.xml"/></Relationships>
</file>

<file path=ppt/slides/_rels/slide1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3.xml.rels><?xml version="1.0" encoding="UTF-8" standalone="yes"?>
<Relationships xmlns="http://schemas.openxmlformats.org/package/2006/relationships"><Relationship Id="rId3" Type="http://schemas.openxmlformats.org/officeDocument/2006/relationships/image" Target="../media/image34.jpeg"/><Relationship Id="rId7" Type="http://schemas.openxmlformats.org/officeDocument/2006/relationships/image" Target="../media/image3.svg"/><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6.jpeg"/><Relationship Id="rId4" Type="http://schemas.openxmlformats.org/officeDocument/2006/relationships/image" Target="../media/image35.jpeg"/></Relationships>
</file>

<file path=ppt/slides/_rels/slide124.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1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4.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363553593"/>
              </p:ext>
            </p:extLst>
          </p:nvPr>
        </p:nvGraphicFramePr>
        <p:xfrm>
          <a:off x="185895" y="3531746"/>
          <a:ext cx="1969476" cy="188263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0">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332359"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a:t>
            </a:r>
            <a:r>
              <a:rPr lang="en-US" sz="1100" b="1">
                <a:solidFill>
                  <a:srgbClr val="92D050"/>
                </a:solidFill>
                <a:latin typeface="Calibri"/>
                <a:ea typeface="Calibri"/>
                <a:cs typeface="Calibri"/>
                <a:sym typeface="Calibri"/>
              </a:rPr>
              <a:t>26.3.25</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84794830"/>
              </p:ext>
            </p:extLst>
          </p:nvPr>
        </p:nvGraphicFramePr>
        <p:xfrm>
          <a:off x="98101" y="132865"/>
          <a:ext cx="2132650" cy="3311190"/>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766418">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636193">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636193">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63619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63619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992881808"/>
              </p:ext>
            </p:extLst>
          </p:nvPr>
        </p:nvGraphicFramePr>
        <p:xfrm>
          <a:off x="98101" y="132867"/>
          <a:ext cx="2132650" cy="372732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545462">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1393679"/>
              </p:ext>
            </p:extLst>
          </p:nvPr>
        </p:nvGraphicFramePr>
        <p:xfrm>
          <a:off x="104230" y="114852"/>
          <a:ext cx="2115458" cy="3695978"/>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2392428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SZX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09224305"/>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73965251"/>
              </p:ext>
            </p:extLst>
          </p:nvPr>
        </p:nvGraphicFramePr>
        <p:xfrm>
          <a:off x="121884" y="3798834"/>
          <a:ext cx="2069883" cy="1242387"/>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TAO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칭다오</a:t>
                      </a:r>
                      <a:r>
                        <a:rPr lang="en-US" altLang="ko-KR" sz="900" dirty="0">
                          <a:solidFill>
                            <a:srgbClr val="00B050"/>
                          </a:solidFill>
                        </a:rPr>
                        <a:t>/</a:t>
                      </a:r>
                      <a:r>
                        <a:rPr lang="ko-KR" altLang="en-US" sz="900" dirty="0" err="1">
                          <a:solidFill>
                            <a:srgbClr val="00B050"/>
                          </a:solidFill>
                        </a:rPr>
                        <a:t>자오둥</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SZX</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선전</a:t>
                      </a:r>
                      <a:r>
                        <a:rPr lang="en-US" altLang="ko-KR" sz="900" dirty="0">
                          <a:solidFill>
                            <a:srgbClr val="00B050"/>
                          </a:solidFill>
                        </a:rPr>
                        <a:t>/</a:t>
                      </a:r>
                      <a:r>
                        <a:rPr lang="ko-KR" altLang="en-US" sz="900" dirty="0" err="1">
                          <a:solidFill>
                            <a:srgbClr val="00B050"/>
                          </a:solidFill>
                        </a:rPr>
                        <a:t>바오안</a:t>
                      </a:r>
                      <a:endParaRPr lang="en-US" altLang="ko-Kore-KR" sz="900" dirty="0">
                        <a:solidFill>
                          <a:srgbClr val="AA47F5"/>
                        </a:solidFill>
                      </a:endParaRPr>
                    </a:p>
                  </a:txBody>
                  <a:tcPr marL="0" marR="0" marT="0" marB="0" anchor="ctr"/>
                </a:tc>
                <a:extLst>
                  <a:ext uri="{0D108BD9-81ED-4DB2-BD59-A6C34878D82A}">
                    <a16:rowId xmlns:a16="http://schemas.microsoft.com/office/drawing/2014/main" val="610266171"/>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86950444"/>
              </p:ext>
            </p:extLst>
          </p:nvPr>
        </p:nvGraphicFramePr>
        <p:xfrm>
          <a:off x="98101" y="86099"/>
          <a:ext cx="2132650" cy="494557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17936">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KTI</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PQC</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47193720"/>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6" action="ppaction://hlinksldjump">
                            <a:extLst>
                              <a:ext uri="{A12FA001-AC4F-418D-AE19-62706E023703}">
                                <ahyp:hlinkClr xmlns:ahyp="http://schemas.microsoft.com/office/drawing/2018/hyperlinkcolor" val="tx"/>
                              </a:ext>
                            </a:extLst>
                          </a:hlinkClick>
                        </a:rPr>
                        <a:t>KUL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96585432"/>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8" action="ppaction://hlinksldjump">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58501606"/>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9">
            <a:extLst>
              <a:ext uri="{96DAC541-7B7A-43D3-8B79-37D633B846F1}">
                <asvg:svgBlip xmlns:asvg="http://schemas.microsoft.com/office/drawing/2016/SVG/main" r:embed="rId3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664981655"/>
              </p:ext>
            </p:extLst>
          </p:nvPr>
        </p:nvGraphicFramePr>
        <p:xfrm>
          <a:off x="114028" y="3020215"/>
          <a:ext cx="2100805" cy="2270832"/>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56566">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502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502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502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502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502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502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502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502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50228">
                <a:tc>
                  <a:txBody>
                    <a:bodyPr/>
                    <a:lstStyle/>
                    <a:p>
                      <a:pPr marL="0" marR="0" lvl="0" indent="0" algn="ctr" rtl="0">
                        <a:spcBef>
                          <a:spcPts val="0"/>
                        </a:spcBef>
                        <a:spcAft>
                          <a:spcPts val="0"/>
                        </a:spcAft>
                        <a:buNone/>
                      </a:pPr>
                      <a:r>
                        <a:rPr lang="en-US" sz="900" dirty="0">
                          <a:solidFill>
                            <a:srgbClr val="7030A0"/>
                          </a:solidFill>
                        </a:rPr>
                        <a:t>KTI</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r>
                        <a:rPr lang="en-US" altLang="ko-KR" sz="900" b="0" dirty="0">
                          <a:solidFill>
                            <a:srgbClr val="7030A0"/>
                          </a:solidFill>
                        </a:rPr>
                        <a:t>/</a:t>
                      </a:r>
                      <a:r>
                        <a:rPr lang="ko-KR" altLang="en-US" sz="900" b="0">
                          <a:solidFill>
                            <a:srgbClr val="7030A0"/>
                          </a:solidFill>
                        </a:rPr>
                        <a:t>테초</a:t>
                      </a:r>
                      <a:endParaRPr lang="ko-KR" altLang="en-US" sz="900" b="0" dirty="0">
                        <a:solidFill>
                          <a:srgbClr val="7030A0"/>
                        </a:solidFill>
                      </a:endParaRPr>
                    </a:p>
                  </a:txBody>
                  <a:tcPr marL="0" marR="0" marT="0" marB="0" anchor="ctr"/>
                </a:tc>
                <a:extLst>
                  <a:ext uri="{0D108BD9-81ED-4DB2-BD59-A6C34878D82A}">
                    <a16:rowId xmlns:a16="http://schemas.microsoft.com/office/drawing/2014/main" val="551135157"/>
                  </a:ext>
                </a:extLst>
              </a:tr>
              <a:tr h="1502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502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r h="150228">
                <a:tc>
                  <a:txBody>
                    <a:bodyPr/>
                    <a:lstStyle/>
                    <a:p>
                      <a:pPr marL="0" marR="0" lvl="0" indent="0" algn="ctr" rtl="0">
                        <a:spcBef>
                          <a:spcPts val="0"/>
                        </a:spcBef>
                        <a:spcAft>
                          <a:spcPts val="0"/>
                        </a:spcAft>
                        <a:buNone/>
                      </a:pPr>
                      <a:r>
                        <a:rPr lang="en-US" sz="900" dirty="0">
                          <a:solidFill>
                            <a:srgbClr val="7030A0"/>
                          </a:solidFill>
                        </a:rPr>
                        <a:t>PQC</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푸꾸옥</a:t>
                      </a:r>
                      <a:endParaRPr lang="ko-KR" altLang="en-US" sz="900" b="0" dirty="0">
                        <a:solidFill>
                          <a:srgbClr val="7030A0"/>
                        </a:solidFill>
                      </a:endParaRPr>
                    </a:p>
                  </a:txBody>
                  <a:tcPr marL="0" marR="0" marT="0" marB="0" anchor="ctr"/>
                </a:tc>
                <a:extLst>
                  <a:ext uri="{0D108BD9-81ED-4DB2-BD59-A6C34878D82A}">
                    <a16:rowId xmlns:a16="http://schemas.microsoft.com/office/drawing/2014/main" val="1333652893"/>
                  </a:ext>
                </a:extLst>
              </a:tr>
              <a:tr h="150228">
                <a:tc>
                  <a:txBody>
                    <a:bodyPr/>
                    <a:lstStyle/>
                    <a:p>
                      <a:pPr marL="0" marR="0" lvl="0" indent="0" algn="ctr" rtl="0">
                        <a:spcBef>
                          <a:spcPts val="0"/>
                        </a:spcBef>
                        <a:spcAft>
                          <a:spcPts val="0"/>
                        </a:spcAft>
                        <a:buNone/>
                      </a:pPr>
                      <a:r>
                        <a:rPr lang="en-US" sz="900" dirty="0">
                          <a:solidFill>
                            <a:srgbClr val="7030A0"/>
                          </a:solidFill>
                        </a:rPr>
                        <a:t>KUL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쿠알라룸푸르</a:t>
                      </a:r>
                    </a:p>
                  </a:txBody>
                  <a:tcPr marL="0" marR="0" marT="0" marB="0" anchor="ctr"/>
                </a:tc>
                <a:extLst>
                  <a:ext uri="{0D108BD9-81ED-4DB2-BD59-A6C34878D82A}">
                    <a16:rowId xmlns:a16="http://schemas.microsoft.com/office/drawing/2014/main" val="2030899052"/>
                  </a:ext>
                </a:extLst>
              </a:tr>
              <a:tr h="1502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냐짱</a:t>
                      </a:r>
                      <a:r>
                        <a:rPr lang="en-US" altLang="ko-KR" sz="900" b="0" dirty="0">
                          <a:solidFill>
                            <a:srgbClr val="7030A0"/>
                          </a:solidFill>
                        </a:rPr>
                        <a:t>(</a:t>
                      </a:r>
                      <a:r>
                        <a:rPr lang="ko-KR" altLang="en-US" sz="900" b="0" dirty="0" err="1">
                          <a:solidFill>
                            <a:srgbClr val="7030A0"/>
                          </a:solidFill>
                        </a:rPr>
                        <a:t>나트랑</a:t>
                      </a:r>
                      <a:r>
                        <a:rPr lang="en-US" altLang="ko-KR" sz="900" b="0" dirty="0">
                          <a:solidFill>
                            <a:srgbClr val="7030A0"/>
                          </a:solidFill>
                        </a:rPr>
                        <a:t>)/</a:t>
                      </a:r>
                      <a:r>
                        <a:rPr lang="ko-KR" altLang="en-US" sz="900" b="0" dirty="0" err="1">
                          <a:solidFill>
                            <a:srgbClr val="7030A0"/>
                          </a:solidFill>
                        </a:rPr>
                        <a:t>깜라인</a:t>
                      </a:r>
                      <a:r>
                        <a:rPr lang="en-US" altLang="ko-KR" sz="900" b="0" dirty="0">
                          <a:solidFill>
                            <a:srgbClr val="7030A0"/>
                          </a:solidFill>
                        </a:rPr>
                        <a:t>(</a:t>
                      </a:r>
                      <a:r>
                        <a:rPr lang="ko-KR" altLang="en-US" sz="900" b="0" dirty="0" err="1">
                          <a:solidFill>
                            <a:srgbClr val="7030A0"/>
                          </a:solidFill>
                        </a:rPr>
                        <a:t>캄란</a:t>
                      </a:r>
                      <a:r>
                        <a:rPr lang="en-US" altLang="ko-KR" sz="900" b="0" dirty="0">
                          <a:solidFill>
                            <a:srgbClr val="7030A0"/>
                          </a:solidFill>
                        </a:rPr>
                        <a:t>)</a:t>
                      </a:r>
                      <a:endParaRPr lang="ko-KR" altLang="en-US" sz="900" b="0" dirty="0">
                        <a:solidFill>
                          <a:srgbClr val="7030A0"/>
                        </a:solidFill>
                      </a:endParaRPr>
                    </a:p>
                  </a:txBody>
                  <a:tcPr marL="0" marR="0" marT="0" marB="0" anchor="ctr"/>
                </a:tc>
                <a:extLst>
                  <a:ext uri="{0D108BD9-81ED-4DB2-BD59-A6C34878D82A}">
                    <a16:rowId xmlns:a16="http://schemas.microsoft.com/office/drawing/2014/main" val="1515515746"/>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360448728"/>
              </p:ext>
            </p:extLst>
          </p:nvPr>
        </p:nvGraphicFramePr>
        <p:xfrm>
          <a:off x="0" y="3"/>
          <a:ext cx="2328875" cy="317359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179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0" marB="0"/>
                </a:tc>
                <a:extLst>
                  <a:ext uri="{0D108BD9-81ED-4DB2-BD59-A6C34878D82A}">
                    <a16:rowId xmlns:a16="http://schemas.microsoft.com/office/drawing/2014/main" val="10000"/>
                  </a:ext>
                </a:extLst>
              </a:tr>
              <a:tr h="1215347">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0" marB="0" anchor="ctr"/>
                </a:tc>
                <a:extLst>
                  <a:ext uri="{0D108BD9-81ED-4DB2-BD59-A6C34878D82A}">
                    <a16:rowId xmlns:a16="http://schemas.microsoft.com/office/drawing/2014/main" val="10001"/>
                  </a:ext>
                </a:extLst>
              </a:tr>
              <a:tr h="1251545">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2074" y="462011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742169479"/>
              </p:ext>
            </p:extLst>
          </p:nvPr>
        </p:nvGraphicFramePr>
        <p:xfrm>
          <a:off x="98101" y="184953"/>
          <a:ext cx="2132650" cy="204902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5854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4083684553"/>
              </p:ext>
            </p:extLst>
          </p:nvPr>
        </p:nvGraphicFramePr>
        <p:xfrm>
          <a:off x="114028" y="3763936"/>
          <a:ext cx="2100805" cy="851868"/>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219636">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210744">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210744">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210744">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4141343106"/>
              </p:ext>
            </p:extLst>
          </p:nvPr>
        </p:nvGraphicFramePr>
        <p:xfrm>
          <a:off x="98101" y="184953"/>
          <a:ext cx="2132650" cy="2098308"/>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59951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KTM</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2571800154"/>
              </p:ext>
            </p:extLst>
          </p:nvPr>
        </p:nvGraphicFramePr>
        <p:xfrm>
          <a:off x="114028" y="3763935"/>
          <a:ext cx="2100805" cy="835441"/>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215401">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206680">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206680">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206680">
                <a:tc>
                  <a:txBody>
                    <a:bodyPr/>
                    <a:lstStyle/>
                    <a:p>
                      <a:pPr marL="0" marR="0" lvl="0" indent="0" algn="ctr" rtl="0">
                        <a:spcBef>
                          <a:spcPts val="0"/>
                        </a:spcBef>
                        <a:spcAft>
                          <a:spcPts val="0"/>
                        </a:spcAft>
                        <a:buNone/>
                      </a:pPr>
                      <a:r>
                        <a:rPr lang="en-US" sz="900" dirty="0">
                          <a:solidFill>
                            <a:schemeClr val="bg1"/>
                          </a:solidFill>
                        </a:rPr>
                        <a:t>KTM</a:t>
                      </a:r>
                      <a:endParaRPr sz="900" dirty="0">
                        <a:solidFill>
                          <a:schemeClr val="bg1"/>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chemeClr val="bg1"/>
                          </a:solidFill>
                        </a:rPr>
                        <a:t>카트만두</a:t>
                      </a:r>
                      <a:r>
                        <a:rPr lang="en-US" altLang="ko-KR" sz="900" b="0" dirty="0">
                          <a:solidFill>
                            <a:schemeClr val="bg1"/>
                          </a:solidFill>
                        </a:rPr>
                        <a:t>/</a:t>
                      </a:r>
                      <a:r>
                        <a:rPr lang="ko-KR" altLang="en-US" sz="900" b="0" dirty="0" err="1">
                          <a:solidFill>
                            <a:schemeClr val="bg1"/>
                          </a:solidFill>
                        </a:rPr>
                        <a:t>트리부반</a:t>
                      </a:r>
                      <a:endParaRPr lang="ko-KR" altLang="en-US" sz="900" b="0" dirty="0">
                        <a:solidFill>
                          <a:schemeClr val="bg1"/>
                        </a:solidFill>
                      </a:endParaRPr>
                    </a:p>
                  </a:txBody>
                  <a:tcPr marL="0" marR="0" marT="0" marB="0" anchor="ctr"/>
                </a:tc>
                <a:extLst>
                  <a:ext uri="{0D108BD9-81ED-4DB2-BD59-A6C34878D82A}">
                    <a16:rowId xmlns:a16="http://schemas.microsoft.com/office/drawing/2014/main" val="3544170142"/>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1202235768"/>
              </p:ext>
            </p:extLst>
          </p:nvPr>
        </p:nvGraphicFramePr>
        <p:xfrm>
          <a:off x="0" y="1059290"/>
          <a:ext cx="2339850" cy="1936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ea typeface="Calibri"/>
                          <a:cs typeface="Calibri"/>
                          <a:sym typeface="Calibri"/>
                        </a:rPr>
                        <a:t>(BOKUM, NUNPI, SAMKU)</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963375807"/>
              </p:ext>
            </p:extLst>
          </p:nvPr>
        </p:nvGraphicFramePr>
        <p:xfrm>
          <a:off x="4472" y="3819790"/>
          <a:ext cx="2310728" cy="172741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IAF(195kts),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NULDI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xM</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pPr algn="ctr"/>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NULDI 160</a:t>
                      </a:r>
                      <a:endParaRPr sz="800" b="1" u="none" strike="noStrike" cap="none" dirty="0"/>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 07 ICJU</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a:t>
                      </a:r>
                      <a:r>
                        <a:rPr lang="en-US" sz="800" b="1" u="none" strike="noStrike" cap="none" dirty="0">
                          <a:solidFill>
                            <a:srgbClr val="0070C0"/>
                          </a:solidFill>
                        </a:rPr>
                        <a:t>P6(5176’), P5(5882’)-HIRO, </a:t>
                      </a:r>
                      <a:r>
                        <a:rPr lang="en-US" sz="800" u="none" strike="noStrike" cap="none" dirty="0">
                          <a:solidFill>
                            <a:schemeClr val="bg1"/>
                          </a:solidFill>
                        </a:rPr>
                        <a:t>P4(6840’-REQ ATC)</a:t>
                      </a:r>
                      <a:endParaRPr dirty="0">
                        <a:solidFill>
                          <a:schemeClr val="bg1"/>
                        </a:solidFill>
                      </a:endParaRPr>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a:t>
                      </a:r>
                      <a:r>
                        <a:rPr lang="en-US" sz="800" b="1" u="none" strike="noStrike" cap="none" dirty="0">
                          <a:solidFill>
                            <a:srgbClr val="0070C0"/>
                          </a:solidFill>
                        </a:rPr>
                        <a:t>P7(5219’), P8(5882’)</a:t>
                      </a:r>
                      <a:r>
                        <a:rPr lang="en-US" altLang="ko-Kore-KR" sz="800" b="1" u="none" strike="noStrike" cap="none" dirty="0">
                          <a:solidFill>
                            <a:srgbClr val="0070C0"/>
                          </a:solidFill>
                        </a:rPr>
                        <a:t>-HIRO, </a:t>
                      </a:r>
                      <a:r>
                        <a:rPr lang="en-US" sz="800" u="none" strike="noStrike" cap="none" dirty="0">
                          <a:solidFill>
                            <a:schemeClr val="bg1"/>
                          </a:solidFill>
                        </a:rPr>
                        <a:t>P10(7524’-REQ ATC)</a:t>
                      </a:r>
                      <a:r>
                        <a:rPr lang="en-US" sz="800" u="none" strike="noStrike" cap="none" dirty="0">
                          <a:solidFill>
                            <a:srgbClr val="0070C0"/>
                          </a:solidFill>
                        </a:rPr>
                        <a:t>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3011690"/>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895920203"/>
              </p:ext>
            </p:extLst>
          </p:nvPr>
        </p:nvGraphicFramePr>
        <p:xfrm>
          <a:off x="0" y="1070883"/>
          <a:ext cx="2339850"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637275">
                  <a:extLst>
                    <a:ext uri="{9D8B030D-6E8A-4147-A177-3AD203B41FA5}">
                      <a16:colId xmlns:a16="http://schemas.microsoft.com/office/drawing/2014/main" val="20004"/>
                    </a:ext>
                  </a:extLst>
                </a:gridCol>
                <a:gridCol w="778600">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ICJU 109.9</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RW25 : YDM246/3, R290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Caution RW31 Holding Sign</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037088642"/>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YJU R271, P73 /2, P518 068, 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ILS 7 DME L/G DN, 14R : LOC CAPT L/G DN</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 </a:t>
                      </a:r>
                    </a:p>
                    <a:p>
                      <a:pPr marL="0" marR="0" lvl="0" indent="0" algn="l" rtl="0">
                        <a:spcBef>
                          <a:spcPts val="0"/>
                        </a:spcBef>
                        <a:spcAft>
                          <a:spcPts val="0"/>
                        </a:spcAft>
                        <a:buNone/>
                      </a:pPr>
                      <a:r>
                        <a:rPr lang="en-US" sz="800" b="1" dirty="0">
                          <a:solidFill>
                            <a:srgbClr val="0070C0"/>
                          </a:solidFill>
                          <a:latin typeface="Calibri"/>
                          <a:ea typeface="Calibri"/>
                          <a:cs typeface="Calibri"/>
                          <a:sym typeface="Calibri"/>
                        </a:rPr>
                        <a:t>RTE 1 : D3-D6-N1 H.S P5 (BOKUM, NUNPI, SAMKU)</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52179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993379"/>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79773020"/>
              </p:ext>
            </p:extLst>
          </p:nvPr>
        </p:nvGraphicFramePr>
        <p:xfrm>
          <a:off x="0" y="1049052"/>
          <a:ext cx="2339850" cy="1936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APRON(130.875) -&gt; GND(121.9)  -&gt; TWR (All by ATC)  </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ea typeface="Calibri"/>
                          <a:cs typeface="Calibri"/>
                          <a:sym typeface="Calibri"/>
                        </a:rPr>
                        <a:t>(BOKUM, NUNPI, SAMKU)</a:t>
                      </a:r>
                      <a:endParaRPr lang="en-US" altLang="ko-Kore-KR" sz="6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3398394429"/>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YJU R271, P73 /2, P518 068,278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ILS 7 DME L/G DN, 14R : LOC CAPT L/G DN</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RTE 1 : D3-D6-N1 H.S P5 (BOKUM, NUNPI, SAMKU)</a:t>
                      </a:r>
                      <a:endParaRPr lang="en-US" altLang="ko-Kore-KR" sz="6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2014079777"/>
              </p:ext>
            </p:extLst>
          </p:nvPr>
        </p:nvGraphicFramePr>
        <p:xfrm>
          <a:off x="0" y="639107"/>
          <a:ext cx="2339850"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637275">
                  <a:extLst>
                    <a:ext uri="{9D8B030D-6E8A-4147-A177-3AD203B41FA5}">
                      <a16:colId xmlns:a16="http://schemas.microsoft.com/office/drawing/2014/main" val="20004"/>
                    </a:ext>
                  </a:extLst>
                </a:gridCol>
                <a:gridCol w="778600">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ICJU 109.9</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Caution RW31 Holding Sign</a:t>
                      </a:r>
                      <a:endParaRPr kumimoji="0" lang="en-US" altLang="ko-Kore-KR" sz="458" b="1" i="0" u="none" strike="noStrike" kern="1200" cap="none" spc="0" normalizeH="0" baseline="0" noProof="0" dirty="0">
                        <a:ln>
                          <a:noFill/>
                        </a:ln>
                        <a:solidFill>
                          <a:srgbClr val="0070C0"/>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2084933"/>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1051214526"/>
              </p:ext>
            </p:extLst>
          </p:nvPr>
        </p:nvGraphicFramePr>
        <p:xfrm>
          <a:off x="4472" y="3801933"/>
          <a:ext cx="2326800" cy="1743468"/>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IAF(195kts),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 07 ICJU</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ore-KR" sz="800" b="1" u="none" strike="noStrike" cap="none" dirty="0">
                          <a:solidFill>
                            <a:schemeClr val="dk1"/>
                          </a:solidFill>
                        </a:rPr>
                        <a:t>07 : </a:t>
                      </a:r>
                      <a:r>
                        <a:rPr lang="en-US" altLang="ko-Kore-KR" sz="800" b="1" u="none" strike="noStrike" cap="none" dirty="0">
                          <a:solidFill>
                            <a:srgbClr val="0070C0"/>
                          </a:solidFill>
                        </a:rPr>
                        <a:t>P6(5176’), P5(5882’)-HIRO, </a:t>
                      </a:r>
                      <a:r>
                        <a:rPr lang="en-US" altLang="ko-Kore-KR" sz="800" u="none" strike="noStrike" cap="none" dirty="0">
                          <a:solidFill>
                            <a:schemeClr val="bg1"/>
                          </a:solidFill>
                        </a:rPr>
                        <a:t>P4(6840’-REQ ATC)</a:t>
                      </a:r>
                      <a:endParaRPr lang="en-US" altLang="ko-Kore-KR" sz="600" dirty="0">
                        <a:solidFill>
                          <a:schemeClr val="bg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800" b="1" u="none" strike="noStrike" cap="none" dirty="0">
                          <a:solidFill>
                            <a:schemeClr val="dk1"/>
                          </a:solidFill>
                        </a:rPr>
                        <a:t>25 : </a:t>
                      </a:r>
                      <a:r>
                        <a:rPr lang="en-US" altLang="ko-Kore-KR" sz="800" b="1" u="none" strike="noStrike" cap="none" dirty="0">
                          <a:solidFill>
                            <a:srgbClr val="0070C0"/>
                          </a:solidFill>
                        </a:rPr>
                        <a:t>P7(5219’), P8(5882’)-HIRO, </a:t>
                      </a:r>
                      <a:r>
                        <a:rPr lang="en-US" altLang="ko-Kore-KR" sz="800" u="none" strike="noStrike" cap="none" dirty="0">
                          <a:solidFill>
                            <a:schemeClr val="bg1"/>
                          </a:solidFill>
                        </a:rPr>
                        <a:t>P10(7524’-REQ ATC)</a:t>
                      </a:r>
                      <a:r>
                        <a:rPr lang="en-US" altLang="ko-Kore-KR" sz="800" u="none" strike="noStrike" cap="none" dirty="0">
                          <a:solidFill>
                            <a:srgbClr val="0070C0"/>
                          </a:solidFill>
                        </a:rPr>
                        <a:t> </a:t>
                      </a:r>
                      <a:endParaRPr lang="en-US" altLang="ko-Kore-KR" sz="6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15521"/>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FCC2624-E781-95C1-E0B0-9B50AE82A2A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879618775"/>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TTE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1514582562"/>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460565506"/>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18347175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6"/>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pic>
        <p:nvPicPr>
          <p:cNvPr id="9" name="그림 8" descr="텍스트, 도표, 폰트, 스크린샷이(가) 표시된 사진&#10;&#10;자동 생성된 설명">
            <a:extLst>
              <a:ext uri="{FF2B5EF4-FFF2-40B4-BE49-F238E27FC236}">
                <a16:creationId xmlns:a16="http://schemas.microsoft.com/office/drawing/2014/main" id="{5AAE61DA-EABE-45F6-7BE8-656B4FC1438C}"/>
              </a:ext>
            </a:extLst>
          </p:cNvPr>
          <p:cNvPicPr>
            <a:picLocks noChangeAspect="1"/>
          </p:cNvPicPr>
          <p:nvPr/>
        </p:nvPicPr>
        <p:blipFill>
          <a:blip r:embed="rId9"/>
          <a:stretch>
            <a:fillRect/>
          </a:stretch>
        </p:blipFill>
        <p:spPr>
          <a:xfrm>
            <a:off x="1" y="2689627"/>
            <a:ext cx="973712" cy="744177"/>
          </a:xfrm>
          <a:prstGeom prst="rect">
            <a:avLst/>
          </a:prstGeom>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184"/>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01C0916-67C6-33D9-879E-9C9DA320619D}"/>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496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78C43CE0-36E4-0AF6-2E54-CF306B6F8B82}"/>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976296007"/>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TTE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a:t>
            </a:r>
            <a:r>
              <a:rPr kumimoji="1" lang="en-US" altLang="ko-Kore-KR" sz="700" b="1" u="sng" dirty="0">
                <a:latin typeface="Gulim" panose="020B0600000101010101" pitchFamily="34" charset="-127"/>
                <a:ea typeface="Gulim" panose="020B0600000101010101" pitchFamily="34" charset="-127"/>
              </a:rPr>
              <a:t> 133.02  </a:t>
            </a:r>
          </a:p>
          <a:p>
            <a:pPr>
              <a:lnSpc>
                <a:spcPct val="150000"/>
              </a:lnSpc>
            </a:pPr>
            <a:r>
              <a:rPr kumimoji="1" lang="en-US" altLang="ko-Kore-KR" sz="700" b="1" u="sng" dirty="0">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latin typeface="Gulim" panose="020B0600000101010101" pitchFamily="34" charset="-127"/>
                <a:ea typeface="Gulim" panose="020B0600000101010101" pitchFamily="34" charset="-127"/>
              </a:rPr>
              <a:t>TKO APP 119.1 – 119.65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extLst>
              <p:ext uri="{D42A27DB-BD31-4B8C-83A1-F6EECF244321}">
                <p14:modId xmlns:p14="http://schemas.microsoft.com/office/powerpoint/2010/main" val="2064894858"/>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extLst>
              <p:ext uri="{D42A27DB-BD31-4B8C-83A1-F6EECF244321}">
                <p14:modId xmlns:p14="http://schemas.microsoft.com/office/powerpoint/2010/main" val="3302484684"/>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latin typeface="Gulim" panose="020B0600000101010101" pitchFamily="34" charset="-127"/>
                <a:ea typeface="Gulim" panose="020B0600000101010101" pitchFamily="34" charset="-127"/>
              </a:rPr>
              <a:t>TKO 120.5 – FUK 133.02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305581196"/>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2617"/>
            <a:ext cx="457200" cy="457200"/>
          </a:xfrm>
          <a:prstGeom prst="rect">
            <a:avLst/>
          </a:prstGeom>
          <a:effectLst>
            <a:outerShdw blurRad="50800" dist="50800" dir="3660000" algn="ctr" rotWithShape="0">
              <a:schemeClr val="bg1">
                <a:alpha val="82714"/>
              </a:schemeClr>
            </a:outerShdw>
          </a:effectLst>
        </p:spPr>
      </p:pic>
      <p:pic>
        <p:nvPicPr>
          <p:cNvPr id="7" name="그림 6" descr="텍스트, 도표, 폰트, 스크린샷이(가) 표시된 사진&#10;&#10;자동 생성된 설명">
            <a:extLst>
              <a:ext uri="{FF2B5EF4-FFF2-40B4-BE49-F238E27FC236}">
                <a16:creationId xmlns:a16="http://schemas.microsoft.com/office/drawing/2014/main" id="{CBE4F2F1-4C9A-E184-62A3-F8EA85EBBF4E}"/>
              </a:ext>
            </a:extLst>
          </p:cNvPr>
          <p:cNvPicPr>
            <a:picLocks noChangeAspect="1"/>
          </p:cNvPicPr>
          <p:nvPr/>
        </p:nvPicPr>
        <p:blipFill>
          <a:blip r:embed="rId8"/>
          <a:stretch>
            <a:fillRect/>
          </a:stretch>
        </p:blipFill>
        <p:spPr>
          <a:xfrm>
            <a:off x="-2501" y="2229999"/>
            <a:ext cx="953780" cy="728943"/>
          </a:xfrm>
          <a:prstGeom prst="rect">
            <a:avLst/>
          </a:prstGeom>
        </p:spPr>
      </p:pic>
      <p:graphicFrame>
        <p:nvGraphicFramePr>
          <p:cNvPr id="4" name="Google Shape;283;p17">
            <a:extLst>
              <a:ext uri="{FF2B5EF4-FFF2-40B4-BE49-F238E27FC236}">
                <a16:creationId xmlns:a16="http://schemas.microsoft.com/office/drawing/2014/main" id="{7CE926EF-2955-EFE8-E1DB-12CAAC3F05A5}"/>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48655"/>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605B7DF-8A6B-ACE4-EBBD-78C25223B1F4}"/>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1853"/>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6995A1D0-6BC0-59D8-498C-1537F94121BC}"/>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124.7</a:t>
            </a:r>
          </a:p>
          <a:p>
            <a:pPr>
              <a:lnSpc>
                <a:spcPct val="150000"/>
              </a:lnSpc>
            </a:pPr>
            <a:r>
              <a:rPr kumimoji="1" lang="en-US" altLang="ko-KR" sz="700" b="1" u="sng" dirty="0">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latin typeface="Gulim" panose="020B0600000101010101" pitchFamily="34" charset="-127"/>
                <a:ea typeface="Gulim" panose="020B0600000101010101" pitchFamily="34" charset="-127"/>
              </a:rPr>
              <a:t>FUK 133.02 – 124.15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3993184712"/>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72985"/>
            <a:ext cx="1498808" cy="459613"/>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9750"/>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5204D4C-BEA5-EAB6-46B3-FEBC20C1800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56888552-4493-DABB-C1C9-B2A992A602E9}"/>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9076"/>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250B686-D8C8-F6E8-5889-31A0E1A8FB3B}"/>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49528"/>
            <a:ext cx="1378904" cy="693899"/>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2887"/>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ED3BB5D2-F6D9-5644-DA9B-7F55062C525D}"/>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F1AD7E94-04C3-C8DF-1149-9AC5AD8DEB2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722A2AD-126E-F46D-C046-E8A4EC830C4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386F00-8D5D-E8A4-F45E-4012C728BC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202D59-F2D6-A9C1-A0A9-D51DFD578FA6}"/>
              </a:ext>
            </a:extLst>
          </p:cNvPr>
          <p:cNvSpPr txBox="1"/>
          <p:nvPr/>
        </p:nvSpPr>
        <p:spPr>
          <a:xfrm>
            <a:off x="-28168" y="2835445"/>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DEP 125.15</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TGU</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128.7 – DLC 132.95</a:t>
            </a:r>
            <a:endParaRPr kumimoji="1" lang="en-US" altLang="ko-Kore-KR" sz="700" b="1" u="sng" dirty="0">
              <a:solidFill>
                <a:srgbClr val="FCFCFC"/>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1</a:t>
            </a:r>
            <a:r>
              <a:rPr kumimoji="1" lang="en-US" altLang="ko-KR" sz="700" b="1" u="sng" dirty="0">
                <a:solidFill>
                  <a:srgbClr val="FCFCFC"/>
                </a:solidFill>
                <a:latin typeface="Gulim" panose="020B0600000101010101" pitchFamily="34" charset="-127"/>
                <a:ea typeface="Gulim" panose="020B0600000101010101" pitchFamily="34" charset="-127"/>
              </a:rPr>
              <a:t>28</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5</a:t>
            </a:r>
            <a:r>
              <a:rPr kumimoji="1" lang="en-US" altLang="ko-Kore-KR" sz="700" b="1" u="sng" dirty="0">
                <a:solidFill>
                  <a:srgbClr val="FCFCFC"/>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APP 1</a:t>
            </a:r>
            <a:r>
              <a:rPr kumimoji="1" lang="en-US" altLang="ko-KR" sz="700" b="1" u="sng" dirty="0">
                <a:solidFill>
                  <a:srgbClr val="FCFCFC"/>
                </a:solidFill>
                <a:latin typeface="Gulim" panose="020B0600000101010101" pitchFamily="34" charset="-127"/>
                <a:ea typeface="Gulim" panose="020B0600000101010101" pitchFamily="34" charset="-127"/>
              </a:rPr>
              <a:t>19</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77</a:t>
            </a:r>
            <a:r>
              <a:rPr kumimoji="1" lang="en-US" altLang="ko-Kore-KR" sz="700" b="1" u="sng" dirty="0">
                <a:solidFill>
                  <a:srgbClr val="FCFCFC"/>
                </a:solidFill>
                <a:latin typeface="Gulim" panose="020B0600000101010101" pitchFamily="34" charset="-127"/>
                <a:ea typeface="Gulim" panose="020B0600000101010101" pitchFamily="34" charset="-127"/>
              </a:rPr>
              <a:t> – 119.4 </a:t>
            </a:r>
          </a:p>
        </p:txBody>
      </p:sp>
      <p:graphicFrame>
        <p:nvGraphicFramePr>
          <p:cNvPr id="292" name="Google Shape;292;p18">
            <a:extLst>
              <a:ext uri="{FF2B5EF4-FFF2-40B4-BE49-F238E27FC236}">
                <a16:creationId xmlns:a16="http://schemas.microsoft.com/office/drawing/2014/main" id="{0101752F-937C-D3D5-A021-153D080880AB}"/>
              </a:ext>
            </a:extLst>
          </p:cNvPr>
          <p:cNvGraphicFramePr/>
          <p:nvPr>
            <p:extLst>
              <p:ext uri="{D42A27DB-BD31-4B8C-83A1-F6EECF244321}">
                <p14:modId xmlns:p14="http://schemas.microsoft.com/office/powerpoint/2010/main" val="2150391323"/>
              </p:ext>
            </p:extLst>
          </p:nvPr>
        </p:nvGraphicFramePr>
        <p:xfrm>
          <a:off x="-7530" y="380862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TAO </a:t>
                      </a:r>
                      <a:r>
                        <a:rPr lang="en-US" sz="800" dirty="0">
                          <a:solidFill>
                            <a:srgbClr val="00B0F0"/>
                          </a:solidFill>
                        </a:rPr>
                        <a:t>[350/170]</a:t>
                      </a:r>
                      <a:r>
                        <a:rPr lang="en-US" sz="800" dirty="0"/>
                        <a:t> : </a:t>
                      </a:r>
                      <a:r>
                        <a:rPr lang="en-US" sz="800" dirty="0">
                          <a:solidFill>
                            <a:srgbClr val="FFC000"/>
                          </a:solidFill>
                        </a:rPr>
                        <a:t>AFT AGAVO – IKEKA-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35</a:t>
                      </a:r>
                      <a:r>
                        <a:rPr lang="en-US" sz="800" b="0"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 </a:t>
                      </a:r>
                    </a:p>
                  </a:txBody>
                  <a:tcPr marL="36000" marR="36000" marT="36000" marB="36000" anchor="ctr"/>
                </a:tc>
                <a:tc>
                  <a:txBody>
                    <a:bodyPr/>
                    <a:lstStyle/>
                    <a:p>
                      <a:pPr marL="0" marR="0" lvl="0" indent="0" algn="ctr" rtl="0">
                        <a:spcBef>
                          <a:spcPts val="0"/>
                        </a:spcBef>
                        <a:spcAft>
                          <a:spcPts val="0"/>
                        </a:spcAft>
                        <a:buNone/>
                      </a:pPr>
                      <a:r>
                        <a:rPr lang="en-US" sz="800" b="1" dirty="0"/>
                        <a:t>QD700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endParaRPr lang="en-US" sz="800" b="0"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17</a:t>
                      </a:r>
                      <a:r>
                        <a:rPr lang="en-US" altLang="ko-KR" sz="800" b="0" dirty="0"/>
                        <a:t>/</a:t>
                      </a: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QD305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sz="800" b="0" dirty="0"/>
                        <a:t>(16)</a:t>
                      </a:r>
                      <a:endParaRPr sz="800" b="0"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JDG, </a:t>
                      </a:r>
                      <a:r>
                        <a:rPr lang="en-US" sz="800" b="1" dirty="0">
                          <a:solidFill>
                            <a:srgbClr val="C00000"/>
                          </a:solidFill>
                        </a:rPr>
                        <a:t>35 IQX, 17 IQD, </a:t>
                      </a:r>
                      <a:r>
                        <a:rPr lang="en-US" sz="800" b="0" dirty="0">
                          <a:solidFill>
                            <a:srgbClr val="C00000"/>
                          </a:solidFill>
                        </a:rPr>
                        <a:t>34 IIN, 16 IDA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bg1"/>
                          </a:solidFill>
                        </a:rPr>
                        <a:t>RW xx /6 160kts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04729124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34 : R2(5278’), R4(6650’), 16 : R1(5318’), R3(6706’) </a:t>
                      </a:r>
                      <a:endParaRPr b="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0070C0"/>
                          </a:solidFill>
                        </a:rPr>
                        <a:t>1</a:t>
                      </a:r>
                      <a:r>
                        <a:rPr lang="en-US" altLang="ko-KR" sz="800" baseline="30000" dirty="0">
                          <a:solidFill>
                            <a:srgbClr val="0070C0"/>
                          </a:solidFill>
                        </a:rPr>
                        <a:t>st</a:t>
                      </a:r>
                      <a:r>
                        <a:rPr lang="en-US" altLang="ko-KR" sz="800" dirty="0">
                          <a:solidFill>
                            <a:srgbClr val="0070C0"/>
                          </a:solidFill>
                        </a:rPr>
                        <a:t> TWY GND, 2</a:t>
                      </a:r>
                      <a:r>
                        <a:rPr lang="en-US" altLang="ko-KR" sz="800" baseline="30000" dirty="0">
                          <a:solidFill>
                            <a:srgbClr val="0070C0"/>
                          </a:solidFill>
                        </a:rPr>
                        <a:t>nd</a:t>
                      </a:r>
                      <a:r>
                        <a:rPr lang="en-US" altLang="ko-KR" sz="800" dirty="0">
                          <a:solidFill>
                            <a:srgbClr val="0070C0"/>
                          </a:solidFill>
                        </a:rPr>
                        <a:t> TWY Apron, </a:t>
                      </a:r>
                      <a:r>
                        <a:rPr lang="en-US" altLang="ko-KR" sz="800" dirty="0">
                          <a:solidFill>
                            <a:srgbClr val="C00000"/>
                          </a:solidFill>
                        </a:rPr>
                        <a:t>CTC</a:t>
                      </a:r>
                      <a:r>
                        <a:rPr lang="en-US" altLang="ko-KR" sz="800" dirty="0"/>
                        <a:t> </a:t>
                      </a:r>
                      <a:r>
                        <a:rPr lang="en-US" altLang="ko-KR" sz="800" dirty="0">
                          <a:solidFill>
                            <a:srgbClr val="C00000"/>
                          </a:solidFill>
                        </a:rPr>
                        <a:t>Apron</a:t>
                      </a:r>
                    </a:p>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C00000"/>
                          </a:solidFill>
                        </a:rPr>
                        <a:t>Caution HOT SPOT (HP01,HP02)  </a:t>
                      </a: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2AADAA9-ECE8-66EA-FC58-DB2D69AEE3F1}"/>
              </a:ext>
            </a:extLst>
          </p:cNvPr>
          <p:cNvGraphicFramePr/>
          <p:nvPr>
            <p:extLst>
              <p:ext uri="{D42A27DB-BD31-4B8C-83A1-F6EECF244321}">
                <p14:modId xmlns:p14="http://schemas.microsoft.com/office/powerpoint/2010/main" val="2109258745"/>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ZSQD(TAO) 30ft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24679CE-739A-7A83-499E-7E1C840499F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002EB2-64E2-C324-6FAC-CB6E3BAF4C32}"/>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9565358-05EF-DF8E-656F-B91788E3B7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34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70BD9-D9EA-B4D2-2D60-DE443D1A211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01AFF59-07B0-3DBA-46A8-52C61954C820}"/>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5E2EAE8-F889-1437-B115-DD478B11A35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D427601-ABE9-A5EF-B947-A04B4E16815A}"/>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6777C057-7E8B-EB48-3A12-DEC89831F216}"/>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1147675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A6643A2-E915-A221-9657-9E97E34197C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34263078-E3A7-E4B4-C046-62B08AAE6590}"/>
              </a:ext>
            </a:extLst>
          </p:cNvPr>
          <p:cNvGraphicFramePr/>
          <p:nvPr>
            <p:extLst>
              <p:ext uri="{D42A27DB-BD31-4B8C-83A1-F6EECF244321}">
                <p14:modId xmlns:p14="http://schemas.microsoft.com/office/powerpoint/2010/main" val="135456099"/>
              </p:ext>
            </p:extLst>
          </p:nvPr>
        </p:nvGraphicFramePr>
        <p:xfrm>
          <a:off x="-4046" y="756451"/>
          <a:ext cx="2330557" cy="147673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50079">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22307">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altLang="ko-Kore-KR" sz="800" u="none" strike="noStrike" cap="none" dirty="0"/>
                        <a:t>TAO : SID (NADP 1) </a:t>
                      </a:r>
                      <a:r>
                        <a:rPr lang="en-US" altLang="ko-Kore-KR"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91D/01D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a:t>
                      </a:r>
                      <a:r>
                        <a:rPr lang="en-US" altLang="ko-KR" sz="800" b="1" u="none" strike="noStrike" cap="none" dirty="0"/>
                        <a:t>350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a:t>
                      </a:r>
                      <a:r>
                        <a:rPr lang="en-US" sz="800" b="1" u="none" strike="noStrike" cap="none" dirty="0">
                          <a:solidFill>
                            <a:srgbClr val="0070C0"/>
                          </a:solidFill>
                        </a:rPr>
                        <a:t>00(</a:t>
                      </a:r>
                      <a:r>
                        <a:rPr lang="en-US" altLang="ko-KR" sz="800" b="1" u="none" strike="noStrike" cap="none" dirty="0">
                          <a:solidFill>
                            <a:srgbClr val="0070C0"/>
                          </a:solidFill>
                        </a:rPr>
                        <a:t>900</a:t>
                      </a:r>
                      <a:r>
                        <a:rPr lang="en-US" sz="800" b="1" u="none" strike="noStrike" cap="none" dirty="0">
                          <a:solidFill>
                            <a:srgbClr val="0070C0"/>
                          </a:solidFill>
                        </a:rPr>
                        <a:t>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a:t>
                      </a:r>
                      <a:r>
                        <a:rPr lang="en-US" altLang="ko-KR" sz="800" b="1" u="none" strike="noStrike" cap="none" dirty="0"/>
                        <a:t>6</a:t>
                      </a:r>
                      <a:endParaRPr lang="en-US" sz="800" b="1" u="none" strike="noStrike" cap="none" dirty="0"/>
                    </a:p>
                    <a:p>
                      <a:pPr marL="0" marR="0" lvl="0" indent="0" algn="ctr" rtl="0">
                        <a:spcBef>
                          <a:spcPts val="0"/>
                        </a:spcBef>
                        <a:spcAft>
                          <a:spcPts val="0"/>
                        </a:spcAft>
                        <a:buNone/>
                      </a:pPr>
                      <a:r>
                        <a:rPr lang="en-US" sz="800" b="0" u="none" strike="noStrike" cap="none" dirty="0"/>
                        <a:t>(1</a:t>
                      </a:r>
                      <a:r>
                        <a:rPr lang="en-US" altLang="ko-KR" sz="800" b="0" u="none" strike="noStrike" cap="none" dirty="0"/>
                        <a:t>7</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a:t>
                      </a:r>
                      <a:r>
                        <a:rPr lang="en-US" altLang="ko-KR" sz="800" b="1" u="none" strike="noStrike" cap="none" dirty="0"/>
                        <a:t>70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3000</a:t>
                      </a:r>
                      <a:r>
                        <a:rPr lang="en-US" sz="800" b="1" u="none" strike="noStrike" cap="none" dirty="0">
                          <a:solidFill>
                            <a:srgbClr val="0070C0"/>
                          </a:solidFill>
                        </a:rPr>
                        <a:t>(</a:t>
                      </a:r>
                      <a:r>
                        <a:rPr lang="en-US" altLang="ko-KR" sz="800" b="1" u="none" strike="noStrike" cap="none" dirty="0">
                          <a:solidFill>
                            <a:srgbClr val="0070C0"/>
                          </a:solidFill>
                        </a:rPr>
                        <a:t>9</a:t>
                      </a:r>
                      <a:r>
                        <a:rPr lang="en-US" sz="800" b="1" u="none" strike="noStrike" cap="none" dirty="0">
                          <a:solidFill>
                            <a:srgbClr val="0070C0"/>
                          </a:solidFill>
                        </a:rPr>
                        <a:t>00m)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JDG 114.45</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35 IQX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109.75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IIN 108.55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17 IQD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110.15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 IDA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Heading 190, Join W209 -&gt;  DCT LATUX CRS 148(328)</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R" sz="800" b="0" i="0" u="none" strike="noStrike" kern="1200" cap="none" spc="0" normalizeH="0" baseline="0" noProof="0" dirty="0">
                          <a:ln>
                            <a:noFill/>
                          </a:ln>
                          <a:solidFill>
                            <a:srgbClr val="C00000"/>
                          </a:solidFill>
                          <a:effectLst/>
                          <a:uLnTx/>
                          <a:uFillTx/>
                          <a:latin typeface="Calibri"/>
                          <a:cs typeface="Calibri"/>
                        </a:rPr>
                        <a:t>Caution HOT SPOT (HP01,HP02)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A48A7E4-CFC6-A084-6F72-2EF4F5E002FC}"/>
              </a:ext>
            </a:extLst>
          </p:cNvPr>
          <p:cNvGraphicFramePr/>
          <p:nvPr>
            <p:extLst>
              <p:ext uri="{D42A27DB-BD31-4B8C-83A1-F6EECF244321}">
                <p14:modId xmlns:p14="http://schemas.microsoft.com/office/powerpoint/2010/main" val="3931470084"/>
              </p:ext>
            </p:extLst>
          </p:nvPr>
        </p:nvGraphicFramePr>
        <p:xfrm>
          <a:off x="-2501" y="16504"/>
          <a:ext cx="2328850" cy="7270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1000" dirty="0"/>
                        <a:t>None</a:t>
                      </a:r>
                      <a:endParaRPr lang="en-US" altLang="ko-Kore-KR" sz="600" dirty="0"/>
                    </a:p>
                    <a:p>
                      <a:pPr marL="0" marR="0" lvl="0" indent="0" algn="ctr" rtl="0">
                        <a:spcBef>
                          <a:spcPts val="0"/>
                        </a:spcBef>
                        <a:spcAft>
                          <a:spcPts val="0"/>
                        </a:spcAft>
                        <a:buNone/>
                      </a:pPr>
                      <a:r>
                        <a:rPr lang="en-US" altLang="ko-Kore-KR" sz="800" dirty="0">
                          <a:solidFill>
                            <a:srgbClr val="FF0000"/>
                          </a:solidFill>
                        </a:rPr>
                        <a:t>DCL </a:t>
                      </a:r>
                      <a:r>
                        <a:rPr lang="ko-KR" altLang="en-US" sz="800" dirty="0">
                          <a:solidFill>
                            <a:srgbClr val="FF0000"/>
                          </a:solidFill>
                        </a:rPr>
                        <a:t>가능</a:t>
                      </a:r>
                      <a:r>
                        <a:rPr lang="en-US" altLang="ko-KR" sz="800" dirty="0">
                          <a:solidFill>
                            <a:srgbClr val="FF0000"/>
                          </a:solidFill>
                        </a:rPr>
                        <a:t>, </a:t>
                      </a:r>
                      <a:r>
                        <a:rPr lang="en-US" altLang="ko-Kore-KR" sz="800" dirty="0">
                          <a:solidFill>
                            <a:srgbClr val="FF0000"/>
                          </a:solidFill>
                        </a:rPr>
                        <a:t>No READ BACK!</a:t>
                      </a:r>
                    </a:p>
                    <a:p>
                      <a:pPr marL="0" marR="0" lvl="0" indent="0" algn="ctr" rtl="0">
                        <a:spcBef>
                          <a:spcPts val="0"/>
                        </a:spcBef>
                        <a:spcAft>
                          <a:spcPts val="0"/>
                        </a:spcAft>
                        <a:buNone/>
                      </a:pPr>
                      <a:r>
                        <a:rPr lang="en-US" altLang="ko-Kore-KR" sz="800" dirty="0">
                          <a:solidFill>
                            <a:srgbClr val="FF0000"/>
                          </a:solidFill>
                        </a:rPr>
                        <a:t>(Voice 10</a:t>
                      </a:r>
                      <a:r>
                        <a:rPr lang="ko-KR" altLang="en-US" sz="800" dirty="0">
                          <a:solidFill>
                            <a:srgbClr val="FF0000"/>
                          </a:solidFill>
                        </a:rPr>
                        <a:t>분전 </a:t>
                      </a:r>
                      <a:r>
                        <a:rPr lang="ko-KR" altLang="en-US" sz="800" dirty="0" err="1">
                          <a:solidFill>
                            <a:srgbClr val="FF0000"/>
                          </a:solidFill>
                        </a:rPr>
                        <a:t>부터</a:t>
                      </a:r>
                      <a:r>
                        <a:rPr lang="en-US" altLang="ko-KR" sz="800" dirty="0">
                          <a:solidFill>
                            <a:srgbClr val="FF0000"/>
                          </a:solidFill>
                        </a:rPr>
                        <a:t>)</a:t>
                      </a:r>
                      <a:endParaRPr lang="ko-KR" altLang="en-US" sz="8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41B8C403-5D19-C421-91CA-A25AE8B16F8D}"/>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C2F4C15-1516-4539-64A9-46FD942BF17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7251"/>
            <a:ext cx="457200" cy="457200"/>
          </a:xfrm>
          <a:prstGeom prst="rect">
            <a:avLst/>
          </a:prstGeom>
          <a:effectLst>
            <a:outerShdw blurRad="50800" dist="50800" dir="3660000" algn="ctr" rotWithShape="0">
              <a:schemeClr val="bg1">
                <a:alpha val="82714"/>
              </a:schemeClr>
            </a:outerShdw>
          </a:effectLst>
        </p:spPr>
      </p:pic>
      <p:sp>
        <p:nvSpPr>
          <p:cNvPr id="8" name="TextBox 7">
            <a:extLst>
              <a:ext uri="{FF2B5EF4-FFF2-40B4-BE49-F238E27FC236}">
                <a16:creationId xmlns:a16="http://schemas.microsoft.com/office/drawing/2014/main" id="{B6CBF371-47B2-03BD-BF23-D67CE2863BCE}"/>
              </a:ext>
            </a:extLst>
          </p:cNvPr>
          <p:cNvSpPr txBox="1"/>
          <p:nvPr/>
        </p:nvSpPr>
        <p:spPr>
          <a:xfrm>
            <a:off x="-4047" y="2228461"/>
            <a:ext cx="1645278" cy="713529"/>
          </a:xfrm>
          <a:prstGeom prst="rect">
            <a:avLst/>
          </a:prstGeom>
          <a:noFill/>
        </p:spPr>
        <p:txBody>
          <a:bodyPr wrap="square">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AA47F5"/>
                </a:solidFill>
                <a:effectLst/>
                <a:uLnTx/>
                <a:uFillTx/>
                <a:latin typeface="Gulim" panose="020B0600000101010101" pitchFamily="34" charset="-127"/>
                <a:ea typeface="Gulim" panose="020B0600000101010101" pitchFamily="34" charset="-127"/>
                <a:cs typeface="+mn-cs"/>
              </a:rPr>
              <a:t>TAO APP 119.4 (RWY, INI ALT)</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 119.73</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a:t>
            </a:r>
            <a:r>
              <a:rPr kumimoji="1" lang="ko-KR" altLang="en-US"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 </a:t>
            </a: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134.85 – DLC </a:t>
            </a: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132.95</a:t>
            </a:r>
            <a:endPar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ICN 128.7 – APP 119.75</a:t>
            </a:r>
          </a:p>
        </p:txBody>
      </p:sp>
      <p:graphicFrame>
        <p:nvGraphicFramePr>
          <p:cNvPr id="3" name="Google Shape;283;p17">
            <a:extLst>
              <a:ext uri="{FF2B5EF4-FFF2-40B4-BE49-F238E27FC236}">
                <a16:creationId xmlns:a16="http://schemas.microsoft.com/office/drawing/2014/main" id="{4CFE8B20-24BF-EA17-B1CE-432BA2828CCB}"/>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95546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D4158903-5729-C96D-2B02-A1C1D766C5D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067CE2-018D-3A1E-BA37-FBAE6BB9A796}"/>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47F98870-0ED9-0A03-B0CC-1D6D20C06ADC}"/>
              </a:ext>
            </a:extLst>
          </p:cNvPr>
          <p:cNvGraphicFramePr/>
          <p:nvPr>
            <p:extLst>
              <p:ext uri="{D42A27DB-BD31-4B8C-83A1-F6EECF244321}">
                <p14:modId xmlns:p14="http://schemas.microsoft.com/office/powerpoint/2010/main" val="2303186036"/>
              </p:ext>
            </p:extLst>
          </p:nvPr>
        </p:nvGraphicFramePr>
        <p:xfrm>
          <a:off x="55" y="357189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573199">
                  <a:extLst>
                    <a:ext uri="{9D8B030D-6E8A-4147-A177-3AD203B41FA5}">
                      <a16:colId xmlns:a16="http://schemas.microsoft.com/office/drawing/2014/main" val="20002"/>
                    </a:ext>
                  </a:extLst>
                </a:gridCol>
                <a:gridCol w="523212">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SZX </a:t>
                      </a:r>
                      <a:r>
                        <a:rPr lang="en-US" sz="800" dirty="0">
                          <a:solidFill>
                            <a:srgbClr val="00B0F0"/>
                          </a:solidFill>
                        </a:rPr>
                        <a:t>[336/156]</a:t>
                      </a:r>
                      <a:r>
                        <a:rPr lang="en-US" sz="800" dirty="0"/>
                        <a:t> TL 108 : </a:t>
                      </a:r>
                      <a:r>
                        <a:rPr lang="en-US" sz="800" dirty="0">
                          <a:solidFill>
                            <a:srgbClr val="FFC000"/>
                          </a:solidFill>
                        </a:rPr>
                        <a:t>SPD Restriction JEPP </a:t>
                      </a:r>
                    </a:p>
                    <a:p>
                      <a:pPr marL="0" marR="0" lvl="0" indent="0" algn="ctr" rtl="0">
                        <a:spcBef>
                          <a:spcPts val="0"/>
                        </a:spcBef>
                        <a:spcAft>
                          <a:spcPts val="0"/>
                        </a:spcAft>
                        <a:buNone/>
                      </a:pPr>
                      <a:r>
                        <a:rPr lang="en-US" sz="800" dirty="0">
                          <a:solidFill>
                            <a:srgbClr val="FFC000"/>
                          </a:solidFill>
                        </a:rPr>
                        <a:t>Caution Freq CHG &amp; RDR Vectoring (TERR</a:t>
                      </a:r>
                      <a:r>
                        <a:rPr lang="en-US" altLang="ko-KR" sz="800" dirty="0">
                          <a:solidFill>
                            <a:srgbClr val="FFC000"/>
                          </a:solidFill>
                        </a:rPr>
                        <a:t>!!</a:t>
                      </a:r>
                      <a:r>
                        <a:rPr lang="en-US" sz="800" dirty="0">
                          <a:solidFill>
                            <a:srgbClr val="FFC000"/>
                          </a:solidFill>
                        </a:rPr>
                        <a:t>)</a:t>
                      </a:r>
                    </a:p>
                    <a:p>
                      <a:pPr marL="0" marR="0" lvl="0" indent="0" algn="ctr" rtl="0">
                        <a:spcBef>
                          <a:spcPts val="0"/>
                        </a:spcBef>
                        <a:spcAft>
                          <a:spcPts val="0"/>
                        </a:spcAft>
                        <a:buNone/>
                      </a:pPr>
                      <a:r>
                        <a:rPr lang="en-US" sz="800" dirty="0">
                          <a:solidFill>
                            <a:srgbClr val="FFC000"/>
                          </a:solidFill>
                        </a:rPr>
                        <a:t>Do not Cross HKG Boundary</a:t>
                      </a:r>
                      <a:r>
                        <a:rPr lang="ko-KR" altLang="en-US" sz="800" dirty="0">
                          <a:solidFill>
                            <a:srgbClr val="FFC000"/>
                          </a:solidFill>
                        </a:rPr>
                        <a:t> </a:t>
                      </a:r>
                      <a:r>
                        <a:rPr lang="en-US" altLang="ko-KR" sz="800" dirty="0">
                          <a:solidFill>
                            <a:srgbClr val="FFC000"/>
                          </a:solidFill>
                        </a:rPr>
                        <a:t>(No more)</a:t>
                      </a:r>
                      <a:endParaRPr lang="en-US" sz="80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altLang="ko-Kore-KR" sz="800" b="1" dirty="0">
                          <a:solidFill>
                            <a:srgbClr val="0070C0"/>
                          </a:solidFill>
                        </a:rPr>
                        <a:t>15/16R</a:t>
                      </a:r>
                      <a:r>
                        <a:rPr lang="en-US" altLang="ko-Kore-KR" sz="800" b="0" dirty="0">
                          <a:solidFill>
                            <a:schemeClr val="bg1"/>
                          </a:solidFill>
                        </a:rPr>
                        <a:t>/16L</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XA</a:t>
                      </a:r>
                    </a:p>
                  </a:txBody>
                  <a:tcPr marL="36000" marR="36000" marT="36000" marB="36000" anchor="ctr"/>
                </a:tc>
                <a:tc>
                  <a:txBody>
                    <a:bodyPr/>
                    <a:lstStyle/>
                    <a:p>
                      <a:pPr marL="0" marR="0" lvl="0" indent="0" algn="ctr" rtl="0">
                        <a:spcBef>
                          <a:spcPts val="0"/>
                        </a:spcBef>
                        <a:spcAft>
                          <a:spcPts val="0"/>
                        </a:spcAft>
                        <a:buNone/>
                      </a:pPr>
                      <a:r>
                        <a:rPr lang="en-US" sz="800" b="1" dirty="0"/>
                        <a:t>SZ462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33/34L</a:t>
                      </a:r>
                      <a:r>
                        <a:rPr lang="en-US" altLang="ko-KR" sz="800" b="0" dirty="0">
                          <a:solidFill>
                            <a:schemeClr val="bg1"/>
                          </a:solidFill>
                        </a:rPr>
                        <a:t>/34R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ZA</a:t>
                      </a:r>
                    </a:p>
                  </a:txBody>
                  <a:tcPr marL="36000" marR="36000" marT="36000" marB="36000" anchor="ctr"/>
                </a:tc>
                <a:tc>
                  <a:txBody>
                    <a:bodyPr/>
                    <a:lstStyle/>
                    <a:p>
                      <a:pPr marL="0" marR="0" lvl="0" indent="0" algn="ctr" rtl="0">
                        <a:spcBef>
                          <a:spcPts val="0"/>
                        </a:spcBef>
                        <a:spcAft>
                          <a:spcPts val="0"/>
                        </a:spcAft>
                        <a:buNone/>
                      </a:pPr>
                      <a:r>
                        <a:rPr lang="en-US" sz="800" b="1" dirty="0"/>
                        <a:t>NLG</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16 ISZ, 34 IBA, </a:t>
                      </a:r>
                      <a:r>
                        <a:rPr lang="en-US" sz="800" b="0" dirty="0">
                          <a:solidFill>
                            <a:srgbClr val="C00000"/>
                          </a:solidFill>
                        </a:rPr>
                        <a:t>15 IQJ, 33 IMH</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30NM 220kts,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/5(160kts)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dk1"/>
                          </a:solidFill>
                        </a:rPr>
                        <a:t>16R </a:t>
                      </a:r>
                      <a:r>
                        <a:rPr lang="en-US" sz="800" b="0" dirty="0">
                          <a:solidFill>
                            <a:schemeClr val="dk1"/>
                          </a:solidFill>
                        </a:rPr>
                        <a:t>: H6(5449’), H8(6676’), 34L : H6(5413’), H5(6561’)</a:t>
                      </a:r>
                      <a:endParaRPr sz="800" b="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15: C8(6725’), C9(8152’), 33 : C5(6548’), C4(8175’)</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Be </a:t>
                      </a:r>
                      <a:r>
                        <a:rPr lang="en-US" sz="800" b="1" dirty="0" err="1">
                          <a:solidFill>
                            <a:srgbClr val="C00000"/>
                          </a:solidFill>
                        </a:rPr>
                        <a:t>carefull</a:t>
                      </a:r>
                      <a:r>
                        <a:rPr lang="en-US" sz="800" b="1" dirty="0">
                          <a:solidFill>
                            <a:srgbClr val="C00000"/>
                          </a:solidFill>
                        </a:rPr>
                        <a:t> RWY 16L then TWY Q,R</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CTC Apron Before Entering, MAX wingspan in JEPP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APU OFF but Remain</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6C531076-A80F-F575-681A-1ED857478E27}"/>
              </a:ext>
            </a:extLst>
          </p:cNvPr>
          <p:cNvGraphicFramePr/>
          <p:nvPr>
            <p:extLst>
              <p:ext uri="{D42A27DB-BD31-4B8C-83A1-F6EECF244321}">
                <p14:modId xmlns:p14="http://schemas.microsoft.com/office/powerpoint/2010/main" val="1660934063"/>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ZGSZ(SZX)</a:t>
                      </a:r>
                      <a:r>
                        <a:rPr lang="en-US" sz="1400" dirty="0">
                          <a:solidFill>
                            <a:schemeClr val="tx1"/>
                          </a:solidFill>
                          <a:hlinkClick r:id="rId4">
                            <a:extLst>
                              <a:ext uri="{A12FA001-AC4F-418D-AE19-62706E023703}">
                                <ahyp:hlinkClr xmlns:ahyp="http://schemas.microsoft.com/office/drawing/2018/hyperlinkcolor" val="tx"/>
                              </a:ext>
                            </a:extLst>
                          </a:hlinkClick>
                        </a:rPr>
                        <a:t> 13ft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Shenzhen Dispatch Southern 131.3</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51FBC07-B021-0458-FBF4-6B586DAD91AD}"/>
              </a:ext>
            </a:extLst>
          </p:cNvPr>
          <p:cNvSpPr/>
          <p:nvPr/>
        </p:nvSpPr>
        <p:spPr>
          <a:xfrm>
            <a:off x="837575"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28D54ED-9B28-56E6-E196-1BF5AA2DF2B8}"/>
              </a:ext>
            </a:extLst>
          </p:cNvPr>
          <p:cNvGraphicFramePr/>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A772123-28D4-53E6-FAAD-7A1B0D342BB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57023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235E8-878D-1C0A-DBF3-7D54ABB7D31F}"/>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166D8EB4-92E8-EF56-DB6D-8606809661E6}"/>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B00C10ED-D069-B73B-7835-C2CBD4B60808}"/>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B916FFC5-BD82-A064-1408-94FF14519CC5}"/>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5300731-C3F8-99F4-27F7-AE937B8DBEA7}"/>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7625AFA3-613D-1E87-9184-97ED614204F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169FF0A0-5783-C107-DFB7-58FF1659A183}"/>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2855713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07139F12-DC57-E251-2FE1-9148724153E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CFEE6E1B-D041-509E-A9C2-9C82FA9365EA}"/>
              </a:ext>
            </a:extLst>
          </p:cNvPr>
          <p:cNvGraphicFramePr/>
          <p:nvPr>
            <p:extLst>
              <p:ext uri="{D42A27DB-BD31-4B8C-83A1-F6EECF244321}">
                <p14:modId xmlns:p14="http://schemas.microsoft.com/office/powerpoint/2010/main" val="865898652"/>
              </p:ext>
            </p:extLst>
          </p:nvPr>
        </p:nvGraphicFramePr>
        <p:xfrm>
          <a:off x="-4046" y="682516"/>
          <a:ext cx="2334602" cy="154873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SZX : TA 8900 SID </a:t>
                      </a:r>
                      <a:endParaRPr lang="en-US" sz="80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15</a:t>
                      </a:r>
                      <a:r>
                        <a:rPr lang="en-US" altLang="ko-KR" sz="800" b="0" u="none" strike="noStrike" cap="none" dirty="0"/>
                        <a:t>/</a:t>
                      </a:r>
                      <a:r>
                        <a:rPr lang="en-US" altLang="ko-KR" sz="800" b="1" u="none" strike="noStrike" cap="none" dirty="0"/>
                        <a:t>16L</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9WD/XD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156 </a:t>
                      </a:r>
                      <a:r>
                        <a:rPr lang="en-US" sz="800" b="1" u="none" strike="noStrike" cap="none" dirty="0">
                          <a:solidFill>
                            <a:srgbClr val="0070C0"/>
                          </a:solidFill>
                        </a:rPr>
                        <a:t>ALT 1200m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33</a:t>
                      </a:r>
                      <a:r>
                        <a:rPr lang="en-US" sz="800" b="0" u="none" strike="noStrike" cap="none" dirty="0"/>
                        <a:t>/34R</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9YD/ZD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356 </a:t>
                      </a:r>
                      <a:r>
                        <a:rPr lang="en-US" sz="800" b="1" u="none" strike="noStrike" cap="none" dirty="0">
                          <a:solidFill>
                            <a:srgbClr val="0070C0"/>
                          </a:solidFill>
                        </a:rPr>
                        <a:t>ATC 1200m</a:t>
                      </a:r>
                    </a:p>
                    <a:p>
                      <a:pPr algn="ctr"/>
                      <a:r>
                        <a:rPr lang="en-US" altLang="ko-Kore-KR" sz="800" b="1" u="none" strike="noStrike" cap="none" dirty="0">
                          <a:solidFill>
                            <a:srgbClr val="7030A0"/>
                          </a:solidFill>
                        </a:rPr>
                        <a:t>SPD 230/250kts </a:t>
                      </a:r>
                      <a:r>
                        <a:rPr lang="en-US" altLang="ko-Kore-KR"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VOR</a:t>
                      </a:r>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 ISZ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108.1</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34 IBA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109.1</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15 IQJ</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33 IMH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a:t>
                      </a:r>
                    </a:p>
                  </a:txBody>
                  <a:tcPr marL="36000" marR="36000" marT="36000" marB="36000" anchor="ctr"/>
                </a:tc>
                <a:extLst>
                  <a:ext uri="{0D108BD9-81ED-4DB2-BD59-A6C34878D82A}">
                    <a16:rowId xmlns:a16="http://schemas.microsoft.com/office/drawing/2014/main" val="1446403819"/>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800" b="0" dirty="0"/>
                        <a:t>15 : IQJ 155/3.5, R205, 16 : ISZ 155/3.5, R205</a:t>
                      </a:r>
                      <a:endParaRPr lang="ko-Kore-KR" altLang="en-US" sz="8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CTC DEP AUTO Report RWY</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1DBAD63A-69E7-48EA-368A-E7884E31FE10}"/>
              </a:ext>
            </a:extLst>
          </p:cNvPr>
          <p:cNvGraphicFramePr/>
          <p:nvPr>
            <p:extLst>
              <p:ext uri="{D42A27DB-BD31-4B8C-83A1-F6EECF244321}">
                <p14:modId xmlns:p14="http://schemas.microsoft.com/office/powerpoint/2010/main" val="1242698028"/>
              </p:ext>
            </p:extLst>
          </p:nvPr>
        </p:nvGraphicFramePr>
        <p:xfrm>
          <a:off x="-2501" y="1512"/>
          <a:ext cx="2328850" cy="68100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76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ZGSZ(SZX)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2241">
                <a:tc>
                  <a:txBody>
                    <a:bodyPr/>
                    <a:lstStyle/>
                    <a:p>
                      <a:pPr marL="0" marR="0" lvl="0" indent="0" algn="ctr" rtl="0">
                        <a:spcBef>
                          <a:spcPts val="0"/>
                        </a:spcBef>
                        <a:spcAft>
                          <a:spcPts val="0"/>
                        </a:spcAft>
                        <a:buNone/>
                      </a:pPr>
                      <a:r>
                        <a:rPr lang="en-US" sz="800" dirty="0"/>
                        <a:t>SZX Dispatch 131.3</a:t>
                      </a:r>
                      <a:endParaRPr sz="1200" dirty="0"/>
                    </a:p>
                    <a:p>
                      <a:pPr marL="0" marR="0" lvl="0" indent="0" algn="ctr" rtl="0">
                        <a:spcBef>
                          <a:spcPts val="0"/>
                        </a:spcBef>
                        <a:spcAft>
                          <a:spcPts val="0"/>
                        </a:spcAft>
                        <a:buNone/>
                      </a:pPr>
                      <a:r>
                        <a:rPr lang="en-US" sz="900" dirty="0">
                          <a:solidFill>
                            <a:srgbClr val="FF0000"/>
                          </a:solidFill>
                        </a:rPr>
                        <a:t>DCL Avail</a:t>
                      </a:r>
                      <a:endParaRPr lang="en-US" altLang="ko-K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1F4551-2CAF-5A07-F86B-5CE0FD7B0762}"/>
              </a:ext>
            </a:extLst>
          </p:cNvPr>
          <p:cNvSpPr txBox="1"/>
          <p:nvPr/>
        </p:nvSpPr>
        <p:spPr>
          <a:xfrm>
            <a:off x="666868" y="2260257"/>
            <a:ext cx="1749197" cy="855482"/>
          </a:xfrm>
          <a:prstGeom prst="rect">
            <a:avLst/>
          </a:prstGeom>
          <a:noFill/>
        </p:spPr>
        <p:txBody>
          <a:bodyPr wrap="none" tIns="36000" bIns="36000" rtlCol="0" anchor="ctr">
            <a:spAutoFit/>
          </a:bodyPr>
          <a:lstStyle/>
          <a:p>
            <a:pPr>
              <a:lnSpc>
                <a:spcPct val="150000"/>
              </a:lnSpc>
            </a:pPr>
            <a:r>
              <a:rPr kumimoji="1" lang="en-US" altLang="ko-Kore-KR" sz="700" b="1" dirty="0">
                <a:solidFill>
                  <a:srgbClr val="00B0F0"/>
                </a:solidFill>
                <a:latin typeface="Gulim" panose="020B0600000101010101" pitchFamily="34" charset="-127"/>
                <a:ea typeface="Gulim" panose="020B0600000101010101" pitchFamily="34" charset="-127"/>
              </a:rPr>
              <a:t>DEP ATIS (AUTO) Report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5F457DCC-21E0-694C-411B-836F6ADA3F8A}"/>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BBE01274-B466-1618-4926-1110BC4090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091"/>
            <a:ext cx="457200" cy="457200"/>
          </a:xfrm>
          <a:prstGeom prst="rect">
            <a:avLst/>
          </a:prstGeom>
          <a:effectLst>
            <a:outerShdw blurRad="50800" dist="50800" dir="3660000" algn="ctr" rotWithShape="0">
              <a:schemeClr val="bg1">
                <a:alpha val="82714"/>
              </a:schemeClr>
            </a:outerShdw>
          </a:effectLst>
        </p:spPr>
      </p:pic>
      <p:pic>
        <p:nvPicPr>
          <p:cNvPr id="8" name="그림 7" descr="텍스트, 폰트, 번호, 스크린샷이(가) 표시된 사진&#10;&#10;자동 생성된 설명">
            <a:extLst>
              <a:ext uri="{FF2B5EF4-FFF2-40B4-BE49-F238E27FC236}">
                <a16:creationId xmlns:a16="http://schemas.microsoft.com/office/drawing/2014/main" id="{EBD0702D-06F5-9BCF-3F6A-55F680424F2A}"/>
              </a:ext>
            </a:extLst>
          </p:cNvPr>
          <p:cNvPicPr>
            <a:picLocks noChangeAspect="1"/>
          </p:cNvPicPr>
          <p:nvPr/>
        </p:nvPicPr>
        <p:blipFill>
          <a:blip r:embed="rId8"/>
          <a:stretch>
            <a:fillRect/>
          </a:stretch>
        </p:blipFill>
        <p:spPr>
          <a:xfrm>
            <a:off x="-4046" y="2237109"/>
            <a:ext cx="725085" cy="781007"/>
          </a:xfrm>
          <a:prstGeom prst="rect">
            <a:avLst/>
          </a:prstGeom>
        </p:spPr>
      </p:pic>
      <p:graphicFrame>
        <p:nvGraphicFramePr>
          <p:cNvPr id="5" name="Google Shape;283;p17">
            <a:extLst>
              <a:ext uri="{FF2B5EF4-FFF2-40B4-BE49-F238E27FC236}">
                <a16:creationId xmlns:a16="http://schemas.microsoft.com/office/drawing/2014/main" id="{5865F84E-CAF4-2786-A719-400EE6E848B3}"/>
              </a:ext>
            </a:extLst>
          </p:cNvPr>
          <p:cNvGraphicFramePr/>
          <p:nvPr>
            <p:extLst>
              <p:ext uri="{D42A27DB-BD31-4B8C-83A1-F6EECF244321}">
                <p14:modId xmlns:p14="http://schemas.microsoft.com/office/powerpoint/2010/main" val="286984156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25684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574679"/>
            <a:ext cx="1987724" cy="621196"/>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6685"/>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75EBF574-B998-0BA5-115C-F273713908E5}"/>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552475639"/>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(180kts),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61940"/>
            <a:ext cx="1697581" cy="621196"/>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 GUTUP (SIN 6556/8942) </a:t>
            </a:r>
          </a:p>
          <a:p>
            <a:pPr>
              <a:lnSpc>
                <a:spcPct val="150000"/>
              </a:lnSpc>
            </a:pPr>
            <a:r>
              <a:rPr kumimoji="1" lang="en-US" altLang="ko-Kore-KR" sz="700" b="1" u="sng" dirty="0">
                <a:latin typeface="Gulim" panose="020B0600000101010101" pitchFamily="34" charset="-127"/>
                <a:ea typeface="Gulim" panose="020B0600000101010101" pitchFamily="34" charset="-127"/>
              </a:rPr>
              <a:t>HCM AKMON 133.05 - UDOSI 120.7 </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2357DB2-BE8F-7354-C626-01FA1BF17381}"/>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1407258747"/>
              </p:ext>
            </p:extLst>
          </p:nvPr>
        </p:nvGraphicFramePr>
        <p:xfrm>
          <a:off x="-2500" y="3399832"/>
          <a:ext cx="2321630" cy="215833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lang="en-US" sz="800" b="0" dirty="0"/>
                    </a:p>
                    <a:p>
                      <a:pPr marL="0" marR="0" lvl="0" indent="0" algn="ctr" rtl="0">
                        <a:spcBef>
                          <a:spcPts val="0"/>
                        </a:spcBef>
                        <a:spcAft>
                          <a:spcPts val="0"/>
                        </a:spcAft>
                        <a:buNone/>
                      </a:pPr>
                      <a:r>
                        <a:rPr lang="en-US" sz="800" b="1" dirty="0">
                          <a:solidFill>
                            <a:srgbClr val="7030A0"/>
                          </a:solidFill>
                        </a:rPr>
                        <a:t>Long STAR Primary</a:t>
                      </a:r>
                      <a:endParaRPr sz="800" b="1" dirty="0">
                        <a:solidFill>
                          <a:srgbClr val="7030A0"/>
                        </a:solidFill>
                      </a:endParaRPr>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895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2038"/>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93D825C-9D6D-2FE0-4CE3-5B87D9A5600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961240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2191747821"/>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384208151"/>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Follow Me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Sensitive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57320" y="2733931"/>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R" sz="700" b="1" u="sng" dirty="0">
                <a:solidFill>
                  <a:srgbClr val="00B0F0"/>
                </a:solidFill>
                <a:latin typeface="Gulim" panose="020B0600000101010101" pitchFamily="34" charset="-127"/>
                <a:ea typeface="Gulim" panose="020B0600000101010101" pitchFamily="34" charset="-127"/>
              </a:rPr>
              <a:t>Monitor</a:t>
            </a:r>
            <a:r>
              <a:rPr kumimoji="1" lang="en-US" altLang="ko-KR"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MNL RDO 8942(5655)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MIGUG </a:t>
            </a:r>
            <a:r>
              <a:rPr kumimoji="1" lang="en-US" altLang="ko-Kore-KR" sz="700" b="1" u="sng" dirty="0">
                <a:latin typeface="Gulim" panose="020B0600000101010101" pitchFamily="34" charset="-127"/>
                <a:ea typeface="Gulim" panose="020B0600000101010101" pitchFamily="34" charset="-127"/>
              </a:rPr>
              <a:t>HCM 120.7 - 132.35 </a:t>
            </a:r>
          </a:p>
          <a:p>
            <a:pPr>
              <a:lnSpc>
                <a:spcPct val="150000"/>
              </a:lnSpc>
            </a:pPr>
            <a:r>
              <a:rPr kumimoji="1" lang="en-US" altLang="ko-Kore-KR" sz="700" b="1" u="sng" dirty="0">
                <a:latin typeface="Gulim" panose="020B0600000101010101" pitchFamily="34" charset="-127"/>
                <a:ea typeface="Gulim" panose="020B0600000101010101" pitchFamily="34" charset="-127"/>
              </a:rPr>
              <a:t>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177167389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4679"/>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CEAC64AC-A7B3-55DB-0C03-13D6360E1527}"/>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390970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213973"/>
            <a:ext cx="143789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1339"/>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B61C4FD-A4CA-181C-1340-8AE58D83905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0151800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7179"/>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graphicFrame>
        <p:nvGraphicFramePr>
          <p:cNvPr id="5" name="Google Shape;283;p17">
            <a:extLst>
              <a:ext uri="{FF2B5EF4-FFF2-40B4-BE49-F238E27FC236}">
                <a16:creationId xmlns:a16="http://schemas.microsoft.com/office/drawing/2014/main" id="{27E85F47-60BD-5CB9-692F-F7007C07EDF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21872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2172909628"/>
              </p:ext>
            </p:extLst>
          </p:nvPr>
        </p:nvGraphicFramePr>
        <p:xfrm>
          <a:off x="6883" y="4123699"/>
          <a:ext cx="2321979" cy="1426810"/>
        </p:xfrm>
        <a:graphic>
          <a:graphicData uri="http://schemas.openxmlformats.org/drawingml/2006/table">
            <a:tbl>
              <a:tblPr firstRow="1" bandRow="1">
                <a:noFill/>
                <a:tableStyleId>{A521BE36-7E6F-4EC9-8D66-1CF97A6895EC}</a:tableStyleId>
              </a:tblPr>
              <a:tblGrid>
                <a:gridCol w="352336">
                  <a:extLst>
                    <a:ext uri="{9D8B030D-6E8A-4147-A177-3AD203B41FA5}">
                      <a16:colId xmlns:a16="http://schemas.microsoft.com/office/drawing/2014/main" val="20000"/>
                    </a:ext>
                  </a:extLst>
                </a:gridCol>
                <a:gridCol w="857980">
                  <a:extLst>
                    <a:ext uri="{9D8B030D-6E8A-4147-A177-3AD203B41FA5}">
                      <a16:colId xmlns:a16="http://schemas.microsoft.com/office/drawing/2014/main" val="20001"/>
                    </a:ext>
                  </a:extLst>
                </a:gridCol>
                <a:gridCol w="715252">
                  <a:extLst>
                    <a:ext uri="{9D8B030D-6E8A-4147-A177-3AD203B41FA5}">
                      <a16:colId xmlns:a16="http://schemas.microsoft.com/office/drawing/2014/main" val="689142997"/>
                    </a:ext>
                  </a:extLst>
                </a:gridCol>
                <a:gridCol w="396411">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KTI </a:t>
                      </a:r>
                      <a:r>
                        <a:rPr lang="en-US" sz="800" dirty="0">
                          <a:solidFill>
                            <a:srgbClr val="00B0F0"/>
                          </a:solidFill>
                        </a:rPr>
                        <a:t>[048/228]</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Do not Confuse ANAT, ANAB, </a:t>
                      </a:r>
                      <a:r>
                        <a:rPr lang="en-US" sz="800" b="1" dirty="0">
                          <a:solidFill>
                            <a:srgbClr val="FF0000"/>
                          </a:solidFill>
                        </a:rPr>
                        <a:t>TCAS RA</a:t>
                      </a:r>
                      <a:r>
                        <a:rPr lang="ko-KR" altLang="en-US" sz="800" b="1" dirty="0">
                          <a:solidFill>
                            <a:srgbClr val="FF0000"/>
                          </a:solidFill>
                        </a:rPr>
                        <a:t> </a:t>
                      </a:r>
                      <a:r>
                        <a:rPr lang="en-US" altLang="ko-KR" sz="800" b="1" dirty="0">
                          <a:solidFill>
                            <a:srgbClr val="FF0000"/>
                          </a:solidFill>
                        </a:rPr>
                        <a:t>Des Rate!</a:t>
                      </a:r>
                      <a:endParaRPr sz="800" b="1" dirty="0">
                        <a:solidFill>
                          <a:srgbClr val="FF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xxD</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NULPI/IKOMO</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xxC</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AKPEG/LELUN </a:t>
                      </a:r>
                    </a:p>
                  </a:txBody>
                  <a:tcPr marL="36000" marR="36000" marT="36000" marB="36000" anchor="ctr"/>
                </a:tc>
                <a:tc>
                  <a:txBody>
                    <a:bodyPr/>
                    <a:lstStyle/>
                    <a:p>
                      <a:pPr algn="ctr"/>
                      <a:r>
                        <a:rPr lang="en-US" sz="800" b="1" dirty="0"/>
                        <a:t>ILS Z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TIA,</a:t>
                      </a:r>
                      <a:r>
                        <a:rPr lang="en-US" sz="800" b="1" dirty="0">
                          <a:solidFill>
                            <a:srgbClr val="00B050"/>
                          </a:solidFill>
                        </a:rPr>
                        <a:t> </a:t>
                      </a:r>
                      <a:r>
                        <a:rPr lang="en-US" sz="800" b="1" dirty="0">
                          <a:solidFill>
                            <a:srgbClr val="C00000"/>
                          </a:solidFill>
                        </a:rPr>
                        <a:t>05 IKTA, 23 IKTI</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a:t>
                      </a:r>
                      <a:r>
                        <a:rPr lang="en-US" sz="800" b="1" dirty="0">
                          <a:solidFill>
                            <a:srgbClr val="0070C0"/>
                          </a:solidFill>
                        </a:rPr>
                        <a:t>A5(6562’), A6(7677’)</a:t>
                      </a:r>
                      <a:r>
                        <a:rPr lang="en-US" sz="800" b="1" dirty="0">
                          <a:solidFill>
                            <a:schemeClr val="bg1"/>
                          </a:solidFill>
                        </a:rPr>
                        <a:t>, 23 </a:t>
                      </a:r>
                      <a:r>
                        <a:rPr lang="en-US" altLang="ko-Kore-KR" sz="800" b="1" dirty="0">
                          <a:solidFill>
                            <a:schemeClr val="bg1"/>
                          </a:solidFill>
                        </a:rPr>
                        <a:t>: </a:t>
                      </a:r>
                      <a:r>
                        <a:rPr lang="en-US" altLang="ko-Kore-KR" sz="800" b="1" dirty="0">
                          <a:solidFill>
                            <a:srgbClr val="0070C0"/>
                          </a:solidFill>
                        </a:rPr>
                        <a:t>A4(6562’), A3(7677’)</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Rapid Exit, Non-Grooved RWY</a:t>
                      </a:r>
                      <a:endParaRPr lang="en-US" altLang="ko-K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Caution Complex Lead Line into MARS</a:t>
                      </a:r>
                      <a:r>
                        <a:rPr lang="en-US" sz="800" b="1" dirty="0">
                          <a:solidFill>
                            <a:srgbClr val="0070C0"/>
                          </a:solidFill>
                        </a:rPr>
                        <a: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6408618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Techo</a:t>
                      </a:r>
                      <a:r>
                        <a:rPr lang="en-US" sz="900" dirty="0"/>
                        <a:t>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16132"/>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762416676"/>
              </p:ext>
            </p:extLst>
          </p:nvPr>
        </p:nvGraphicFramePr>
        <p:xfrm>
          <a:off x="-15808" y="580010"/>
          <a:ext cx="2349161" cy="1403441"/>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147154">
                  <a:extLst>
                    <a:ext uri="{9D8B030D-6E8A-4147-A177-3AD203B41FA5}">
                      <a16:colId xmlns:a16="http://schemas.microsoft.com/office/drawing/2014/main" val="598001574"/>
                    </a:ext>
                  </a:extLst>
                </a:gridCol>
                <a:gridCol w="635899">
                  <a:extLst>
                    <a:ext uri="{9D8B030D-6E8A-4147-A177-3AD203B41FA5}">
                      <a16:colId xmlns:a16="http://schemas.microsoft.com/office/drawing/2014/main" val="20004"/>
                    </a:ext>
                  </a:extLst>
                </a:gridCol>
                <a:gridCol w="783054">
                  <a:extLst>
                    <a:ext uri="{9D8B030D-6E8A-4147-A177-3AD203B41FA5}">
                      <a16:colId xmlns:a16="http://schemas.microsoft.com/office/drawing/2014/main" val="3334668455"/>
                    </a:ext>
                  </a:extLst>
                </a:gridCol>
              </a:tblGrid>
              <a:tr h="297551">
                <a:tc gridSpan="5">
                  <a:txBody>
                    <a:bodyPr/>
                    <a:lstStyle/>
                    <a:p>
                      <a:pPr marL="0" marR="0" lvl="0" indent="0" algn="ctr" rtl="0">
                        <a:spcBef>
                          <a:spcPts val="0"/>
                        </a:spcBef>
                        <a:spcAft>
                          <a:spcPts val="0"/>
                        </a:spcAft>
                        <a:buNone/>
                      </a:pPr>
                      <a:r>
                        <a:rPr lang="en-US" sz="800" u="none" strike="noStrike" cap="none" dirty="0"/>
                        <a:t>KTI : RNAV SID (NADP 1) TA 10000’</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gridSpan="2">
                  <a:txBody>
                    <a:bodyPr/>
                    <a:lstStyle/>
                    <a:p>
                      <a:pPr algn="ctr"/>
                      <a:r>
                        <a:rPr lang="en-US" sz="800" b="1" u="none" strike="noStrike" cap="none" dirty="0">
                          <a:solidFill>
                            <a:srgbClr val="0070C0"/>
                          </a:solidFill>
                        </a:rPr>
                        <a:t>ELNAK xx</a:t>
                      </a:r>
                    </a:p>
                    <a:p>
                      <a:pPr algn="ctr"/>
                      <a:r>
                        <a:rPr lang="en-US" altLang="ko-Kore-KR" sz="800" b="1" u="none" strike="noStrike" cap="none" dirty="0">
                          <a:solidFill>
                            <a:srgbClr val="0070C0"/>
                          </a:solidFill>
                        </a:rPr>
                        <a:t>SUSEL xx</a:t>
                      </a:r>
                      <a:endParaRPr lang="ko-Kore-KR" altLang="en-US" dirty="0"/>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048 </a:t>
                      </a:r>
                      <a:r>
                        <a:rPr lang="en-US" sz="800" b="1" u="none" strike="noStrike" cap="none" dirty="0">
                          <a:solidFill>
                            <a:srgbClr val="0070C0"/>
                          </a:solidFill>
                        </a:rPr>
                        <a:t>ATC (6000) FL170 </a:t>
                      </a:r>
                    </a:p>
                    <a:p>
                      <a:pPr marL="0" marR="0" lvl="0" indent="0" algn="ctr" rtl="0">
                        <a:spcBef>
                          <a:spcPts val="0"/>
                        </a:spcBef>
                        <a:spcAft>
                          <a:spcPts val="0"/>
                        </a:spcAft>
                        <a:buNone/>
                      </a:pP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gridSpan="2"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vMerge="1">
                  <a:txBody>
                    <a:bodyPr/>
                    <a:lstStyle/>
                    <a:p>
                      <a:endParaRPr lang="ko-Kore-KR" altLang="en-US" dirty="0"/>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228 </a:t>
                      </a:r>
                      <a:r>
                        <a:rPr lang="en-US" sz="800" b="1" u="none" strike="noStrike" cap="none" dirty="0">
                          <a:solidFill>
                            <a:srgbClr val="0070C0"/>
                          </a:solidFill>
                        </a:rPr>
                        <a:t>ATC(6000)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7209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TIA 111.0</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IKTI 110.1</a:t>
                      </a: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 IKTA 108.75</a:t>
                      </a:r>
                    </a:p>
                  </a:txBody>
                  <a:tcPr marL="36000" marR="36000" marT="36000" marB="36000" anchor="ctr"/>
                </a:tc>
                <a:extLst>
                  <a:ext uri="{0D108BD9-81ED-4DB2-BD59-A6C34878D82A}">
                    <a16:rowId xmlns:a16="http://schemas.microsoft.com/office/drawing/2014/main" val="10003"/>
                  </a:ext>
                </a:extLst>
              </a:tr>
              <a:tr h="28029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RWY23 Do not Overshoot B17</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56530683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solidFill>
                            <a:schemeClr val="bg1"/>
                          </a:solidFill>
                        </a:rPr>
                        <a:t>Techo</a:t>
                      </a:r>
                      <a:r>
                        <a:rPr lang="en-US" sz="800" dirty="0">
                          <a:solidFill>
                            <a:schemeClr val="bg1"/>
                          </a:solidFill>
                        </a:rPr>
                        <a:t>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PUSHBACK -10min</a:t>
                      </a:r>
                      <a:r>
                        <a:rPr lang="ko-KR" altLang="en-US" sz="700" dirty="0">
                          <a:solidFill>
                            <a:srgbClr val="FF0000"/>
                          </a:solidFill>
                        </a:rPr>
                        <a:t> </a:t>
                      </a:r>
                      <a:r>
                        <a:rPr lang="en-US" altLang="ko-KR" sz="700" dirty="0">
                          <a:solidFill>
                            <a:srgbClr val="FF0000"/>
                          </a:solidFill>
                        </a:rPr>
                        <a:t>GND 121.9 </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58973" y="2052008"/>
            <a:ext cx="1718740" cy="1340230"/>
          </a:xfrm>
          <a:prstGeom prst="rect">
            <a:avLst/>
          </a:prstGeom>
          <a:noFill/>
        </p:spPr>
        <p:txBody>
          <a:bodyPr wrap="none" tIns="36000" bIns="36000" rtlCol="0" anchor="ctr">
            <a:spAutoFit/>
          </a:bodyPr>
          <a:lstStyle/>
          <a:p>
            <a:pPr>
              <a:lnSpc>
                <a:spcPct val="150000"/>
              </a:lnSpc>
            </a:pPr>
            <a:r>
              <a:rPr kumimoji="1" lang="en-US" altLang="ko-Kore-KR" sz="700" b="1" dirty="0">
                <a:solidFill>
                  <a:srgbClr val="AA47F5"/>
                </a:solidFill>
                <a:latin typeface="Gulim" panose="020B0600000101010101" pitchFamily="34" charset="-127"/>
                <a:ea typeface="Gulim" panose="020B0600000101010101" pitchFamily="34" charset="-127"/>
              </a:rPr>
              <a:t>APP 123.8 (AUTO)</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-10NM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32566" y="169688"/>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4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3CF3225-7BEB-B30D-440D-047BFAC9BC83}"/>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635931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8CBBF8A0-E6B8-21AA-1228-2F4DABB2218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444888600"/>
              </p:ext>
            </p:extLst>
          </p:nvPr>
        </p:nvGraphicFramePr>
        <p:xfrm>
          <a:off x="9886" y="3759406"/>
          <a:ext cx="2307264" cy="1792570"/>
        </p:xfrm>
        <a:graphic>
          <a:graphicData uri="http://schemas.openxmlformats.org/drawingml/2006/table">
            <a:tbl>
              <a:tblPr firstRow="1" bandRow="1">
                <a:noFill/>
                <a:tableStyleId>{A521BE36-7E6F-4EC9-8D66-1CF97A6895EC}</a:tableStyleId>
              </a:tblPr>
              <a:tblGrid>
                <a:gridCol w="350103">
                  <a:extLst>
                    <a:ext uri="{9D8B030D-6E8A-4147-A177-3AD203B41FA5}">
                      <a16:colId xmlns:a16="http://schemas.microsoft.com/office/drawing/2014/main" val="20000"/>
                    </a:ext>
                  </a:extLst>
                </a:gridCol>
                <a:gridCol w="687873">
                  <a:extLst>
                    <a:ext uri="{9D8B030D-6E8A-4147-A177-3AD203B41FA5}">
                      <a16:colId xmlns:a16="http://schemas.microsoft.com/office/drawing/2014/main" val="20001"/>
                    </a:ext>
                  </a:extLst>
                </a:gridCol>
                <a:gridCol w="668058">
                  <a:extLst>
                    <a:ext uri="{9D8B030D-6E8A-4147-A177-3AD203B41FA5}">
                      <a16:colId xmlns:a16="http://schemas.microsoft.com/office/drawing/2014/main" val="689142997"/>
                    </a:ext>
                  </a:extLst>
                </a:gridCol>
                <a:gridCol w="601230">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p>
                    <a:p>
                      <a:pPr marL="0" marR="0" lvl="0" indent="0" algn="ctr" rtl="0">
                        <a:spcBef>
                          <a:spcPts val="0"/>
                        </a:spcBef>
                        <a:spcAft>
                          <a:spcPts val="0"/>
                        </a:spcAft>
                        <a:buNone/>
                      </a:pPr>
                      <a:r>
                        <a:rPr lang="en-US" altLang="ko-KR" sz="800" dirty="0">
                          <a:solidFill>
                            <a:srgbClr val="92D050"/>
                          </a:solidFill>
                        </a:rPr>
                        <a:t>BGO(BAGOO),</a:t>
                      </a:r>
                      <a:r>
                        <a:rPr lang="ko-KR" altLang="en-US" sz="800" dirty="0">
                          <a:solidFill>
                            <a:srgbClr val="92D050"/>
                          </a:solidFill>
                        </a:rPr>
                        <a:t> </a:t>
                      </a:r>
                      <a:r>
                        <a:rPr lang="en-US" altLang="ko-KR" sz="800" dirty="0">
                          <a:solidFill>
                            <a:srgbClr val="92D050"/>
                          </a:solidFill>
                        </a:rPr>
                        <a:t>HGU(HLEGU)</a:t>
                      </a:r>
                      <a:r>
                        <a:rPr lang="ko-KR" altLang="en-US" sz="800" dirty="0">
                          <a:solidFill>
                            <a:srgbClr val="92D050"/>
                          </a:solidFill>
                        </a:rPr>
                        <a:t> </a:t>
                      </a:r>
                      <a:r>
                        <a:rPr lang="en-US" altLang="ko-KR" sz="800" dirty="0">
                          <a:solidFill>
                            <a:srgbClr val="C00000"/>
                          </a:solidFill>
                        </a:rPr>
                        <a:t>ILS Z 21 GNSS Required</a:t>
                      </a: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or</a:t>
                      </a:r>
                      <a:r>
                        <a:rPr lang="ko-KR" altLang="en-US" sz="800" b="1" dirty="0">
                          <a:solidFill>
                            <a:srgbClr val="C00000"/>
                          </a:solidFill>
                        </a:rPr>
                        <a:t> </a:t>
                      </a:r>
                      <a:r>
                        <a:rPr lang="en-US" altLang="ko-KR" sz="800" b="1" dirty="0">
                          <a:solidFill>
                            <a:srgbClr val="C00000"/>
                          </a:solidFill>
                        </a:rPr>
                        <a:t>By</a:t>
                      </a:r>
                      <a:r>
                        <a:rPr lang="ko-KR" altLang="en-US" sz="800" b="1" dirty="0">
                          <a:solidFill>
                            <a:srgbClr val="C00000"/>
                          </a:solidFill>
                        </a:rPr>
                        <a:t> </a:t>
                      </a:r>
                      <a:r>
                        <a:rPr lang="en-US" altLang="ko-KR" sz="800" b="1" dirty="0">
                          <a:solidFill>
                            <a:srgbClr val="C00000"/>
                          </a:solidFill>
                        </a:rPr>
                        <a:t>ATC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3228400038"/>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D-ATIS Avail BUT</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06574"/>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864818"/>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2963030864"/>
              </p:ext>
            </p:extLst>
          </p:nvPr>
        </p:nvGraphicFramePr>
        <p:xfrm>
          <a:off x="0" y="580010"/>
          <a:ext cx="2314761" cy="1969879"/>
        </p:xfrm>
        <a:graphic>
          <a:graphicData uri="http://schemas.openxmlformats.org/drawingml/2006/table">
            <a:tbl>
              <a:tblPr firstRow="1" bandRow="1">
                <a:noFill/>
                <a:tableStyleId>{A521BE36-7E6F-4EC9-8D66-1CF97A6895EC}</a:tableStyleId>
              </a:tblPr>
              <a:tblGrid>
                <a:gridCol w="336489">
                  <a:extLst>
                    <a:ext uri="{9D8B030D-6E8A-4147-A177-3AD203B41FA5}">
                      <a16:colId xmlns:a16="http://schemas.microsoft.com/office/drawing/2014/main" val="20000"/>
                    </a:ext>
                  </a:extLst>
                </a:gridCol>
                <a:gridCol w="683243">
                  <a:extLst>
                    <a:ext uri="{9D8B030D-6E8A-4147-A177-3AD203B41FA5}">
                      <a16:colId xmlns:a16="http://schemas.microsoft.com/office/drawing/2014/main" val="20002"/>
                    </a:ext>
                  </a:extLst>
                </a:gridCol>
                <a:gridCol w="549478">
                  <a:extLst>
                    <a:ext uri="{9D8B030D-6E8A-4147-A177-3AD203B41FA5}">
                      <a16:colId xmlns:a16="http://schemas.microsoft.com/office/drawing/2014/main" val="20004"/>
                    </a:ext>
                  </a:extLst>
                </a:gridCol>
                <a:gridCol w="745551">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p>
                      <a:pPr marL="0" marR="0" lvl="0" indent="0" algn="ctr" rtl="0">
                        <a:spcBef>
                          <a:spcPts val="0"/>
                        </a:spcBef>
                        <a:spcAft>
                          <a:spcPts val="0"/>
                        </a:spcAft>
                        <a:buNone/>
                      </a:pPr>
                      <a:r>
                        <a:rPr lang="en-US" sz="800" u="none" strike="noStrike" cap="none" dirty="0">
                          <a:solidFill>
                            <a:srgbClr val="C00000"/>
                          </a:solidFill>
                        </a:rPr>
                        <a:t>GPS 1+2 Fail Defer MEL 34-50-08F, 34-50-09B </a:t>
                      </a:r>
                      <a:r>
                        <a:rPr lang="en-US" sz="800" u="none" strike="noStrike" cap="none" dirty="0">
                          <a:solidFill>
                            <a:srgbClr val="FFC000"/>
                          </a:solidFill>
                        </a:rPr>
                        <a:t>(RTG)</a:t>
                      </a:r>
                    </a:p>
                    <a:p>
                      <a:pPr marL="0" marR="0" lvl="0" indent="0" algn="ctr" rtl="0">
                        <a:spcBef>
                          <a:spcPts val="0"/>
                        </a:spcBef>
                        <a:spcAft>
                          <a:spcPts val="0"/>
                        </a:spcAft>
                        <a:buNone/>
                      </a:pPr>
                      <a:r>
                        <a:rPr lang="en-US" sz="800" u="none" strike="noStrike" cap="none" dirty="0">
                          <a:solidFill>
                            <a:srgbClr val="FFC000"/>
                          </a:solidFill>
                        </a:rPr>
                        <a:t>No RNP RTE, ADS-B No RVSM Equipment</a:t>
                      </a:r>
                    </a:p>
                    <a:p>
                      <a:pPr marL="0" marR="0" lvl="0" indent="0" algn="ctr" rtl="0">
                        <a:spcBef>
                          <a:spcPts val="0"/>
                        </a:spcBef>
                        <a:spcAft>
                          <a:spcPts val="0"/>
                        </a:spcAft>
                        <a:buNone/>
                      </a:pPr>
                      <a:r>
                        <a:rPr lang="en-US" sz="800" u="none" strike="noStrike" cap="none" dirty="0">
                          <a:solidFill>
                            <a:srgbClr val="00B0F0"/>
                          </a:solidFill>
                        </a:rPr>
                        <a:t>RADIONAV Update within 1NM no Problem</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solidFill>
                            <a:srgbClr val="C00000"/>
                          </a:solidFill>
                        </a:rPr>
                        <a:t>SEL</a:t>
                      </a:r>
                      <a:r>
                        <a:rPr lang="en-US" sz="800" b="1" u="none" strike="noStrike" cap="none" dirty="0"/>
                        <a:t> </a:t>
                      </a:r>
                    </a:p>
                    <a:p>
                      <a:pPr marL="0" marR="0" lvl="0" indent="0" algn="ctr" rtl="0">
                        <a:spcBef>
                          <a:spcPts val="0"/>
                        </a:spcBef>
                        <a:spcAft>
                          <a:spcPts val="0"/>
                        </a:spcAft>
                        <a:buNone/>
                      </a:pPr>
                      <a:r>
                        <a:rPr lang="en-US" sz="800" b="1" u="none" strike="noStrike" cap="none" dirty="0"/>
                        <a:t>RW21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SEL</a:t>
                      </a:r>
                      <a:r>
                        <a:rPr lang="en-US" sz="800" b="1" u="none" strike="noStrike" cap="none" dirty="0"/>
                        <a:t> HD 214 </a:t>
                      </a:r>
                      <a:r>
                        <a:rPr lang="en-US" sz="800" b="1" u="none" strike="noStrike" cap="none" dirty="0">
                          <a:solidFill>
                            <a:srgbClr val="0070C0"/>
                          </a:solidFill>
                        </a:rPr>
                        <a:t>ATC </a:t>
                      </a:r>
                      <a:r>
                        <a:rPr lang="en-US" altLang="ko-Kore-KR" sz="800" b="1" u="none" strike="noStrike" cap="none" dirty="0">
                          <a:solidFill>
                            <a:srgbClr val="F28943"/>
                          </a:solidFill>
                        </a:rPr>
                        <a:t>TA 6000</a:t>
                      </a:r>
                      <a:endParaRPr lang="en-US" altLang="ko-Kore-KR" sz="800" b="1" u="none" strike="noStrike" cap="none" dirty="0">
                        <a:solidFill>
                          <a:srgbClr val="AA47F5"/>
                        </a:solidFill>
                      </a:endParaRPr>
                    </a:p>
                    <a:p>
                      <a:pPr marL="0" marR="0" lvl="0" indent="0" algn="ctr" rtl="0">
                        <a:spcBef>
                          <a:spcPts val="0"/>
                        </a:spcBef>
                        <a:spcAft>
                          <a:spcPts val="0"/>
                        </a:spcAft>
                        <a:buNone/>
                      </a:pPr>
                      <a:r>
                        <a:rPr lang="en-US" altLang="ko-Kore-KR" sz="800" b="0" u="none" strike="noStrike" cap="none" dirty="0">
                          <a:solidFill>
                            <a:srgbClr val="C00000"/>
                          </a:solidFill>
                        </a:rPr>
                        <a:t>SID GNSS Required</a:t>
                      </a:r>
                      <a:endParaRPr lang="ko-Kore-KR" altLang="en-US" b="0"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solidFill>
                            <a:srgbClr val="C00000"/>
                          </a:solidFill>
                        </a:rPr>
                        <a:t>SEL</a:t>
                      </a:r>
                    </a:p>
                    <a:p>
                      <a:pPr algn="ctr"/>
                      <a:r>
                        <a:rPr lang="en-US" altLang="ko-KR" sz="800" b="1" u="none" strike="noStrike" cap="none" dirty="0"/>
                        <a:t>RW03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pPr algn="ctr"/>
                      <a:r>
                        <a:rPr lang="en-US" sz="800" b="1" u="none" strike="noStrike" cap="none" dirty="0">
                          <a:solidFill>
                            <a:srgbClr val="C00000"/>
                          </a:solidFill>
                        </a:rPr>
                        <a:t>SEL</a:t>
                      </a:r>
                      <a:r>
                        <a:rPr lang="en-US" sz="800" b="1" u="none" strike="noStrike" cap="none" dirty="0"/>
                        <a:t> HD 034 </a:t>
                      </a:r>
                      <a:r>
                        <a:rPr lang="en-US" sz="800" b="1" u="none" strike="noStrike" cap="none" dirty="0">
                          <a:solidFill>
                            <a:srgbClr val="0070C0"/>
                          </a:solidFill>
                        </a:rPr>
                        <a:t>ATC </a:t>
                      </a:r>
                      <a:r>
                        <a:rPr lang="en-US" altLang="ko-Kore-KR" sz="800" b="1" u="none" strike="noStrike" cap="none" dirty="0">
                          <a:solidFill>
                            <a:srgbClr val="F28943"/>
                          </a:solidFill>
                        </a:rPr>
                        <a:t>TA 6000</a:t>
                      </a:r>
                      <a:endParaRPr lang="en-US" altLang="ko-Kore-KR" sz="800" b="1" u="none" strike="noStrike" cap="none" dirty="0">
                        <a:solidFill>
                          <a:srgbClr val="AA47F5"/>
                        </a:solidFill>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SID GNSS Required</a:t>
                      </a:r>
                      <a:endParaRPr kumimoji="0" lang="ko-Kore-KR" altLang="en-US" sz="458" b="0"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VOR, BGO</a:t>
                      </a:r>
                      <a:r>
                        <a:rPr lang="en-US" sz="700" b="1" u="none" strike="noStrike" cap="none" dirty="0">
                          <a:solidFill>
                            <a:srgbClr val="0070C0"/>
                          </a:solidFill>
                        </a:rPr>
                        <a:t>(BAGOO), </a:t>
                      </a:r>
                      <a:r>
                        <a:rPr lang="en-US" sz="800" b="1" u="none" strike="noStrike" cap="none" dirty="0">
                          <a:solidFill>
                            <a:srgbClr val="0070C0"/>
                          </a:solidFill>
                        </a:rPr>
                        <a:t>HGU</a:t>
                      </a:r>
                      <a:r>
                        <a:rPr lang="en-US" sz="700" b="1" u="none" strike="noStrike" cap="none" dirty="0">
                          <a:solidFill>
                            <a:srgbClr val="0070C0"/>
                          </a:solidFill>
                        </a:rPr>
                        <a:t>(HLEGU)</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28030" y="2533660"/>
            <a:ext cx="1675459" cy="532316"/>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RGN RDR 128.75</a:t>
            </a:r>
          </a:p>
          <a:p>
            <a:pPr>
              <a:lnSpc>
                <a:spcPct val="150000"/>
              </a:lnSpc>
            </a:pPr>
            <a:r>
              <a:rPr kumimoji="1" lang="en-US" altLang="ko-Kore-KR" sz="700" b="1" dirty="0">
                <a:latin typeface="Gulim" panose="020B0600000101010101" pitchFamily="34" charset="-127"/>
                <a:ea typeface="Gulim" panose="020B0600000101010101" pitchFamily="34" charset="-127"/>
              </a:rPr>
              <a:t>- After BOMAS GPS Back to NOR </a:t>
            </a:r>
          </a:p>
          <a:p>
            <a:pPr>
              <a:lnSpc>
                <a:spcPct val="150000"/>
              </a:lnSpc>
            </a:pPr>
            <a:r>
              <a:rPr kumimoji="1" lang="en-US" altLang="ko-Kore-KR" sz="700" b="1" dirty="0">
                <a:latin typeface="Gulim" panose="020B0600000101010101" pitchFamily="34" charset="-127"/>
                <a:ea typeface="Gulim" panose="020B0600000101010101" pitchFamily="34" charset="-127"/>
              </a:rPr>
              <a:t>- Sometimes Spoofing</a:t>
            </a: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16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DE77380-AACA-00B3-297B-012DFEB21BC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541900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801CEB07-D6BC-AE38-8DE2-E8A762AE379E}"/>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765B2828-0155-86C5-917D-DE4148564CD1}"/>
              </a:ext>
            </a:extLst>
          </p:cNvPr>
          <p:cNvGraphicFramePr/>
          <p:nvPr>
            <p:extLst>
              <p:ext uri="{D42A27DB-BD31-4B8C-83A1-F6EECF244321}">
                <p14:modId xmlns:p14="http://schemas.microsoft.com/office/powerpoint/2010/main" val="816526713"/>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dirty="0">
                          <a:solidFill>
                            <a:srgbClr val="FF0000"/>
                          </a:solidFill>
                        </a:rPr>
                        <a:t>No ATIS</a:t>
                      </a:r>
                      <a:endParaRPr lang="en-US"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3A5061-2858-4C5A-0562-DDDC0ECA7F0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BF8FBC-7C18-4902-30D3-5B04204F46AF}"/>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528EB11E-68BD-7631-DB63-FD4BA665A9B5}"/>
              </a:ext>
            </a:extLst>
          </p:cNvPr>
          <p:cNvGraphicFramePr/>
          <p:nvPr>
            <p:extLst>
              <p:ext uri="{D42A27DB-BD31-4B8C-83A1-F6EECF244321}">
                <p14:modId xmlns:p14="http://schemas.microsoft.com/office/powerpoint/2010/main" val="3985064560"/>
              </p:ext>
            </p:extLst>
          </p:nvPr>
        </p:nvGraphicFramePr>
        <p:xfrm>
          <a:off x="-17467" y="3635049"/>
          <a:ext cx="2365375" cy="1914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01639">
                  <a:extLst>
                    <a:ext uri="{9D8B030D-6E8A-4147-A177-3AD203B41FA5}">
                      <a16:colId xmlns:a16="http://schemas.microsoft.com/office/drawing/2014/main" val="20001"/>
                    </a:ext>
                  </a:extLst>
                </a:gridCol>
                <a:gridCol w="883403">
                  <a:extLst>
                    <a:ext uri="{9D8B030D-6E8A-4147-A177-3AD203B41FA5}">
                      <a16:colId xmlns:a16="http://schemas.microsoft.com/office/drawing/2014/main" val="689142997"/>
                    </a:ext>
                  </a:extLst>
                </a:gridCol>
                <a:gridCol w="415786">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PQC </a:t>
                      </a:r>
                      <a:r>
                        <a:rPr lang="en-US" sz="800" dirty="0">
                          <a:solidFill>
                            <a:srgbClr val="00B0F0"/>
                          </a:solidFill>
                        </a:rPr>
                        <a:t>[096/276]</a:t>
                      </a:r>
                      <a:r>
                        <a:rPr lang="en-US" sz="800" dirty="0"/>
                        <a:t> : STAR TL100 UTC+7 </a:t>
                      </a:r>
                      <a:r>
                        <a:rPr lang="en-US" sz="800" dirty="0">
                          <a:solidFill>
                            <a:srgbClr val="FFC000"/>
                          </a:solidFill>
                        </a:rPr>
                        <a:t> (CPDLC : VVHM)</a:t>
                      </a:r>
                    </a:p>
                    <a:p>
                      <a:pPr marL="0" marR="0" lvl="0" indent="0" algn="ctr" rtl="0">
                        <a:spcBef>
                          <a:spcPts val="0"/>
                        </a:spcBef>
                        <a:spcAft>
                          <a:spcPts val="0"/>
                        </a:spcAft>
                        <a:buNone/>
                      </a:pPr>
                      <a:r>
                        <a:rPr lang="en-US" sz="800" b="1" dirty="0">
                          <a:solidFill>
                            <a:srgbClr val="FFC000"/>
                          </a:solidFill>
                        </a:rPr>
                        <a:t>STAR RWY </a:t>
                      </a:r>
                      <a:r>
                        <a:rPr lang="en-US" sz="800" b="1" dirty="0" err="1">
                          <a:solidFill>
                            <a:srgbClr val="FFC000"/>
                          </a:solidFill>
                        </a:rPr>
                        <a:t>Wx</a:t>
                      </a:r>
                      <a:r>
                        <a:rPr lang="en-US" sz="800" b="1" dirty="0">
                          <a:solidFill>
                            <a:srgbClr val="FFC000"/>
                          </a:solidFill>
                        </a:rPr>
                        <a:t> From PHN or HCM Control(120.9)</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28</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OSOTA x</a:t>
                      </a:r>
                      <a:r>
                        <a:rPr lang="ko-KR" altLang="en-US" sz="800" b="1" dirty="0"/>
                        <a:t> </a:t>
                      </a:r>
                      <a:r>
                        <a:rPr lang="en-US" sz="800" b="1" dirty="0"/>
                        <a:t>E</a:t>
                      </a:r>
                    </a:p>
                    <a:p>
                      <a:pPr marL="0" marR="0" lvl="0" indent="0" algn="ctr" rtl="0">
                        <a:spcBef>
                          <a:spcPts val="0"/>
                        </a:spcBef>
                        <a:spcAft>
                          <a:spcPts val="0"/>
                        </a:spcAft>
                        <a:buNone/>
                      </a:pPr>
                      <a:r>
                        <a:rPr lang="en-US" sz="800" b="1" dirty="0"/>
                        <a:t>TRUMI x C</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PQ328</a:t>
                      </a:r>
                    </a:p>
                    <a:p>
                      <a:pPr marL="0" marR="0" lvl="0" indent="0" algn="ctr" rtl="0">
                        <a:spcBef>
                          <a:spcPts val="0"/>
                        </a:spcBef>
                        <a:spcAft>
                          <a:spcPts val="0"/>
                        </a:spcAft>
                        <a:buNone/>
                      </a:pPr>
                      <a:r>
                        <a:rPr lang="en-US" sz="800" b="1" dirty="0"/>
                        <a:t>TUNPO </a:t>
                      </a:r>
                      <a:r>
                        <a:rPr lang="en-US" sz="800" b="1" dirty="0" err="1"/>
                        <a:t>tx</a:t>
                      </a:r>
                      <a:r>
                        <a:rPr lang="en-US" sz="800" b="1" dirty="0"/>
                        <a:t>, PQ428</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28</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10</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OSOTA x F</a:t>
                      </a:r>
                    </a:p>
                    <a:p>
                      <a:pPr marL="0" marR="0" lvl="0" indent="0" algn="ctr" rtl="0">
                        <a:spcBef>
                          <a:spcPts val="0"/>
                        </a:spcBef>
                        <a:spcAft>
                          <a:spcPts val="0"/>
                        </a:spcAft>
                        <a:buNone/>
                      </a:pPr>
                      <a:r>
                        <a:rPr lang="en-US" sz="800" b="1" dirty="0"/>
                        <a:t>TRUMI x B</a:t>
                      </a:r>
                    </a:p>
                  </a:txBody>
                  <a:tcPr marL="36000" marR="36000" marT="36000" marB="36000" anchor="ctr"/>
                </a:tc>
                <a:tc>
                  <a:txBody>
                    <a:bodyPr/>
                    <a:lstStyle/>
                    <a:p>
                      <a:pPr marL="0" marR="0" lvl="0" indent="0" algn="ctr" rtl="0">
                        <a:spcBef>
                          <a:spcPts val="0"/>
                        </a:spcBef>
                        <a:spcAft>
                          <a:spcPts val="0"/>
                        </a:spcAft>
                        <a:buNone/>
                      </a:pPr>
                      <a:r>
                        <a:rPr lang="en-US" sz="800" b="1" dirty="0"/>
                        <a:t>PQ310</a:t>
                      </a:r>
                    </a:p>
                    <a:p>
                      <a:pPr marL="0" marR="0" lvl="0" indent="0" algn="ctr" rtl="0">
                        <a:spcBef>
                          <a:spcPts val="0"/>
                        </a:spcBef>
                        <a:spcAft>
                          <a:spcPts val="0"/>
                        </a:spcAft>
                        <a:buNone/>
                      </a:pPr>
                      <a:r>
                        <a:rPr lang="en-US" sz="800" b="1" dirty="0"/>
                        <a:t>TUNPO </a:t>
                      </a:r>
                      <a:r>
                        <a:rPr lang="en-US" sz="800" b="1" dirty="0" err="1"/>
                        <a:t>tx</a:t>
                      </a:r>
                      <a:r>
                        <a:rPr lang="en-US" sz="800" b="1" dirty="0"/>
                        <a:t>, PQ210</a:t>
                      </a:r>
                      <a:endParaRPr lang="en-US" sz="700" b="1" dirty="0"/>
                    </a:p>
                  </a:txBody>
                  <a:tcPr marL="36000" marR="36000" marT="36000" marB="36000" anchor="ctr"/>
                </a:tc>
                <a:tc>
                  <a:txBody>
                    <a:bodyPr/>
                    <a:lstStyle/>
                    <a:p>
                      <a:pPr algn="ctr"/>
                      <a:r>
                        <a:rPr lang="en-US" sz="800" b="1" dirty="0"/>
                        <a:t>ILS Z 10</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PQU , </a:t>
                      </a:r>
                      <a:r>
                        <a:rPr kumimoji="0" lang="en-US" altLang="ko-KR" sz="800" b="1" i="0" u="none" strike="noStrike" kern="1200" cap="none" spc="0" normalizeH="0" baseline="0" noProof="0" dirty="0">
                          <a:ln>
                            <a:noFill/>
                          </a:ln>
                          <a:solidFill>
                            <a:srgbClr val="C00000"/>
                          </a:solidFill>
                          <a:effectLst/>
                          <a:uLnTx/>
                          <a:uFillTx/>
                          <a:latin typeface="Calibri"/>
                          <a:cs typeface="Calibri"/>
                        </a:rPr>
                        <a:t>28 IPH, 10 IPQ</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28 : S6(6758’), S8(9662’), 10</a:t>
                      </a:r>
                      <a:r>
                        <a:rPr lang="en-US" altLang="ko-Kore-KR" sz="800" b="1" dirty="0">
                          <a:solidFill>
                            <a:schemeClr val="dk1"/>
                          </a:solidFill>
                        </a:rPr>
                        <a:t> : S4(6761’), S2(9665’)</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RWY 28 PAPI R/H not Accurate</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Stand 13A only Widebody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6C6E904F-975A-57A1-EF73-C83BE1F308E2}"/>
              </a:ext>
            </a:extLst>
          </p:cNvPr>
          <p:cNvSpPr txBox="1"/>
          <p:nvPr/>
        </p:nvSpPr>
        <p:spPr>
          <a:xfrm>
            <a:off x="-57320" y="2803378"/>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120.9(</a:t>
            </a:r>
            <a:r>
              <a:rPr kumimoji="1" lang="en-US" altLang="ko-Kore-KR" sz="700" b="1" u="sng" dirty="0" err="1">
                <a:solidFill>
                  <a:srgbClr val="00B0F0"/>
                </a:solidFill>
                <a:latin typeface="Gulim" panose="020B0600000101010101" pitchFamily="34" charset="-127"/>
                <a:ea typeface="Gulim" panose="020B0600000101010101" pitchFamily="34" charset="-127"/>
              </a:rPr>
              <a:t>STAR,RWY,Wx</a:t>
            </a:r>
            <a:r>
              <a:rPr kumimoji="1" lang="en-US" altLang="ko-Kore-KR" sz="700" b="1" u="sng" dirty="0">
                <a:solidFill>
                  <a:srgbClr val="00B0F0"/>
                </a:solidFill>
                <a:latin typeface="Gulim" panose="020B0600000101010101" pitchFamily="34" charset="-127"/>
                <a:ea typeface="Gulim" panose="020B0600000101010101" pitchFamily="34" charset="-127"/>
              </a:rPr>
              <a:t>)</a:t>
            </a:r>
            <a:r>
              <a:rPr kumimoji="1" lang="en-US" altLang="ko-Kore-KR" sz="700" b="1" u="sng" dirty="0">
                <a:latin typeface="Gulim" panose="020B0600000101010101" pitchFamily="34" charset="-127"/>
                <a:ea typeface="Gulim" panose="020B0600000101010101" pitchFamily="34" charset="-127"/>
              </a:rPr>
              <a:t> – </a:t>
            </a:r>
            <a:r>
              <a:rPr kumimoji="1" lang="en-US" altLang="ko-Kore-KR" sz="700" b="1" u="sng" dirty="0">
                <a:solidFill>
                  <a:srgbClr val="FF0000"/>
                </a:solidFill>
                <a:latin typeface="Gulim" panose="020B0600000101010101" pitchFamily="34" charset="-127"/>
                <a:ea typeface="Gulim" panose="020B0600000101010101" pitchFamily="34" charset="-127"/>
              </a:rPr>
              <a:t>No APP Freq</a:t>
            </a:r>
            <a:endParaRPr kumimoji="1" lang="en-US" altLang="ko-Kore-KR" sz="700" b="1" u="sng" dirty="0">
              <a:solidFill>
                <a:srgbClr val="00B0F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OSOTA PQC TWR 118.6</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6A0891E6-F0B6-EAEA-FD83-9D4B2EBB3B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9067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547124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11FBA564-C531-2A40-C8AF-C489334E1285}"/>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21261D91-7E28-BDEC-9C61-F4DF4B745037}"/>
              </a:ext>
            </a:extLst>
          </p:cNvPr>
          <p:cNvGraphicFramePr/>
          <p:nvPr>
            <p:extLst>
              <p:ext uri="{D42A27DB-BD31-4B8C-83A1-F6EECF244321}">
                <p14:modId xmlns:p14="http://schemas.microsoft.com/office/powerpoint/2010/main" val="405183482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endParaRPr sz="1400" dirty="0">
                        <a:solidFill>
                          <a:srgbClr val="FF0000"/>
                        </a:solidFill>
                      </a:endParaRPr>
                    </a:p>
                    <a:p>
                      <a:pPr marL="0" marR="0" lvl="0" indent="0" algn="ctr" rtl="0">
                        <a:spcBef>
                          <a:spcPts val="0"/>
                        </a:spcBef>
                        <a:spcAft>
                          <a:spcPts val="0"/>
                        </a:spcAft>
                        <a:buNone/>
                      </a:pPr>
                      <a:r>
                        <a:rPr lang="en-US" altLang="ko-KR" sz="700" dirty="0">
                          <a:solidFill>
                            <a:srgbClr val="FF0000"/>
                          </a:solidFill>
                        </a:rPr>
                        <a:t>GND 121.92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5284C3E-8BEF-37D4-303F-71D99571E17B}"/>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000E7AE2-F15F-A142-1B8E-B160A013438D}"/>
              </a:ext>
            </a:extLst>
          </p:cNvPr>
          <p:cNvGraphicFramePr/>
          <p:nvPr>
            <p:extLst>
              <p:ext uri="{D42A27DB-BD31-4B8C-83A1-F6EECF244321}">
                <p14:modId xmlns:p14="http://schemas.microsoft.com/office/powerpoint/2010/main" val="2095875310"/>
              </p:ext>
            </p:extLst>
          </p:nvPr>
        </p:nvGraphicFramePr>
        <p:xfrm>
          <a:off x="-15808" y="659525"/>
          <a:ext cx="2349161" cy="123289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251832">
                  <a:extLst>
                    <a:ext uri="{9D8B030D-6E8A-4147-A177-3AD203B41FA5}">
                      <a16:colId xmlns:a16="http://schemas.microsoft.com/office/drawing/2014/main" val="3172768267"/>
                    </a:ext>
                  </a:extLst>
                </a:gridCol>
                <a:gridCol w="531221">
                  <a:extLst>
                    <a:ext uri="{9D8B030D-6E8A-4147-A177-3AD203B41FA5}">
                      <a16:colId xmlns:a16="http://schemas.microsoft.com/office/drawing/2014/main" val="20004"/>
                    </a:ext>
                  </a:extLst>
                </a:gridCol>
                <a:gridCol w="783054">
                  <a:extLst>
                    <a:ext uri="{9D8B030D-6E8A-4147-A177-3AD203B41FA5}">
                      <a16:colId xmlns:a16="http://schemas.microsoft.com/office/drawing/2014/main" val="2219221630"/>
                    </a:ext>
                  </a:extLst>
                </a:gridCol>
              </a:tblGrid>
              <a:tr h="0">
                <a:tc gridSpan="5">
                  <a:txBody>
                    <a:bodyPr/>
                    <a:lstStyle/>
                    <a:p>
                      <a:pPr marL="0" marR="0" lvl="0" indent="0" algn="ctr" rtl="0">
                        <a:spcBef>
                          <a:spcPts val="0"/>
                        </a:spcBef>
                        <a:spcAft>
                          <a:spcPts val="0"/>
                        </a:spcAft>
                        <a:buNone/>
                      </a:pPr>
                      <a:r>
                        <a:rPr lang="en-US" sz="800" u="none" strike="noStrike" cap="none" dirty="0"/>
                        <a:t>PQC : RNP SID (NADP 1) TA 9000’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28</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OSOTA </a:t>
                      </a:r>
                      <a:r>
                        <a:rPr lang="en-US" sz="800" b="1" u="none" strike="noStrike" cap="none" dirty="0" err="1">
                          <a:solidFill>
                            <a:srgbClr val="0070C0"/>
                          </a:solidFill>
                        </a:rPr>
                        <a:t>xxC</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276 </a:t>
                      </a:r>
                      <a:r>
                        <a:rPr lang="en-US" sz="800" b="1" u="none" strike="noStrike" cap="none" dirty="0">
                          <a:solidFill>
                            <a:srgbClr val="0070C0"/>
                          </a:solidFill>
                        </a:rPr>
                        <a:t>ALT 6000</a:t>
                      </a:r>
                    </a:p>
                    <a:p>
                      <a:pPr algn="ctr"/>
                      <a:r>
                        <a:rPr lang="en-US" altLang="ko-Kore-KR" sz="800" b="1" u="none" strike="noStrike" cap="none" dirty="0">
                          <a:solidFill>
                            <a:srgbClr val="7030A0"/>
                          </a:solidFill>
                        </a:rPr>
                        <a:t>SPD 250 </a:t>
                      </a:r>
                      <a:r>
                        <a:rPr lang="en-US" altLang="ko-Kore-KR" sz="800" b="1" u="none" strike="noStrike" cap="none" dirty="0">
                          <a:solidFill>
                            <a:srgbClr val="F28943"/>
                          </a:solidFill>
                        </a:rPr>
                        <a:t>TA 9000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10</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OSOTA </a:t>
                      </a:r>
                      <a:r>
                        <a:rPr lang="en-US" altLang="ko-Kore-KR" sz="800" b="1" u="none" strike="noStrike" cap="none" dirty="0" err="1">
                          <a:solidFill>
                            <a:srgbClr val="0070C0"/>
                          </a:solidFill>
                        </a:rPr>
                        <a:t>xxD</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096 </a:t>
                      </a:r>
                      <a:r>
                        <a:rPr lang="en-US" sz="800" b="1" u="none" strike="noStrike" cap="none" dirty="0">
                          <a:solidFill>
                            <a:srgbClr val="0070C0"/>
                          </a:solidFill>
                        </a:rPr>
                        <a:t>ALT ATC </a:t>
                      </a:r>
                      <a:r>
                        <a:rPr lang="en-US" sz="800" b="1" u="none" strike="noStrike" cap="none" dirty="0">
                          <a:solidFill>
                            <a:srgbClr val="F28943"/>
                          </a:solidFill>
                        </a:rPr>
                        <a:t>TA 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PQU 113.0</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28 IPH 108.7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IPQ 108.1</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LINE UP via RWY 28 S2/S1 or RWY 10 S8/S9</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0EB1F10-20F6-C837-8DC7-ABF2AAFE2E7D}"/>
              </a:ext>
            </a:extLst>
          </p:cNvPr>
          <p:cNvSpPr txBox="1"/>
          <p:nvPr/>
        </p:nvSpPr>
        <p:spPr>
          <a:xfrm>
            <a:off x="4512" y="2046718"/>
            <a:ext cx="2207656"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TWR 118.6 </a:t>
            </a:r>
          </a:p>
          <a:p>
            <a:pPr>
              <a:lnSpc>
                <a:spcPct val="150000"/>
              </a:lnSpc>
            </a:pPr>
            <a:r>
              <a:rPr kumimoji="1" lang="en-US" altLang="ko-Kore-KR" sz="700" b="1" u="sng">
                <a:solidFill>
                  <a:srgbClr val="00B0F0"/>
                </a:solidFill>
                <a:latin typeface="Gulim" panose="020B0600000101010101" pitchFamily="34" charset="-127"/>
                <a:ea typeface="Gulim" panose="020B0600000101010101" pitchFamily="34" charset="-127"/>
              </a:rPr>
              <a:t>Report FL100  </a:t>
            </a:r>
            <a:r>
              <a:rPr kumimoji="1" lang="en-US" altLang="ko-Kore-KR" sz="700" b="1" u="sng" dirty="0">
                <a:solidFill>
                  <a:srgbClr val="00B0F0"/>
                </a:solidFill>
                <a:latin typeface="Gulim" panose="020B0600000101010101" pitchFamily="34" charset="-127"/>
                <a:ea typeface="Gulim" panose="020B0600000101010101" pitchFamily="34" charset="-127"/>
              </a:rPr>
              <a:t>PNH 132.4/127.5 or HCM 120.9</a:t>
            </a:r>
          </a:p>
          <a:p>
            <a:pPr>
              <a:lnSpc>
                <a:spcPct val="150000"/>
              </a:lnSpc>
            </a:pPr>
            <a:r>
              <a:rPr kumimoji="1" lang="en-US" altLang="ko-Kore-KR" sz="700" b="1" u="sng" dirty="0">
                <a:latin typeface="Gulim" panose="020B0600000101010101" pitchFamily="34" charset="-127"/>
                <a:ea typeface="Gulim" panose="020B0600000101010101" pitchFamily="34" charset="-127"/>
              </a:rPr>
              <a:t>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AA2F5277-420D-31CE-038B-DF300B053FD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299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9B5FD8FA-4E42-AD59-2A59-4D0055715E5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4697133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3508734-4FA8-1FB3-7622-7F55073BEB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742AF3C-E774-B64E-710F-F506281D74DD}"/>
              </a:ext>
            </a:extLst>
          </p:cNvPr>
          <p:cNvSpPr txBox="1"/>
          <p:nvPr/>
        </p:nvSpPr>
        <p:spPr>
          <a:xfrm>
            <a:off x="-51946" y="2792727"/>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 WSJC - WMFC)</a:t>
            </a:r>
          </a:p>
        </p:txBody>
      </p:sp>
      <p:graphicFrame>
        <p:nvGraphicFramePr>
          <p:cNvPr id="292" name="Google Shape;292;p18">
            <a:extLst>
              <a:ext uri="{FF2B5EF4-FFF2-40B4-BE49-F238E27FC236}">
                <a16:creationId xmlns:a16="http://schemas.microsoft.com/office/drawing/2014/main" id="{0E3CD912-B210-1495-0E75-798723FF0C26}"/>
              </a:ext>
            </a:extLst>
          </p:cNvPr>
          <p:cNvGraphicFramePr/>
          <p:nvPr>
            <p:extLst>
              <p:ext uri="{D42A27DB-BD31-4B8C-83A1-F6EECF244321}">
                <p14:modId xmlns:p14="http://schemas.microsoft.com/office/powerpoint/2010/main" val="640000280"/>
              </p:ext>
            </p:extLst>
          </p:nvPr>
        </p:nvGraphicFramePr>
        <p:xfrm>
          <a:off x="-2500" y="3723859"/>
          <a:ext cx="2328849" cy="182919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644200">
                  <a:extLst>
                    <a:ext uri="{9D8B030D-6E8A-4147-A177-3AD203B41FA5}">
                      <a16:colId xmlns:a16="http://schemas.microsoft.com/office/drawing/2014/main" val="502366202"/>
                    </a:ext>
                  </a:extLst>
                </a:gridCol>
                <a:gridCol w="290671">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KUL </a:t>
                      </a:r>
                      <a:r>
                        <a:rPr lang="en-US" altLang="ko-Kore-KR" sz="800" dirty="0">
                          <a:solidFill>
                            <a:srgbClr val="00B0F0"/>
                          </a:solidFill>
                        </a:rPr>
                        <a:t>[326/146]</a:t>
                      </a:r>
                      <a:r>
                        <a:rPr lang="en-US" altLang="ko-Kore-KR" sz="800" dirty="0"/>
                        <a:t> TL130 UTC+8, </a:t>
                      </a:r>
                      <a:r>
                        <a:rPr lang="en-US" altLang="ko-Kore-KR" sz="800" dirty="0">
                          <a:solidFill>
                            <a:srgbClr val="00B0F0"/>
                          </a:solidFill>
                        </a:rPr>
                        <a:t>ATC Req POB</a:t>
                      </a:r>
                    </a:p>
                    <a:p>
                      <a:pPr marL="0" marR="0" lvl="0" indent="0" algn="ctr" rtl="0">
                        <a:spcBef>
                          <a:spcPts val="0"/>
                        </a:spcBef>
                        <a:spcAft>
                          <a:spcPts val="0"/>
                        </a:spcAft>
                        <a:buNone/>
                      </a:pPr>
                      <a:r>
                        <a:rPr lang="en-US" altLang="ko-Kore-KR" sz="800" dirty="0">
                          <a:solidFill>
                            <a:srgbClr val="FFC000"/>
                          </a:solidFill>
                        </a:rPr>
                        <a:t>Long Track STAR Expect Short Cut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32R/33</a:t>
                      </a:r>
                      <a:endParaRPr sz="800" b="1" dirty="0">
                        <a:solidFill>
                          <a:srgbClr val="0070C0"/>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SAROX x G/H</a:t>
                      </a:r>
                    </a:p>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Initial APP Chart</a:t>
                      </a:r>
                    </a:p>
                  </a:txBody>
                  <a:tcPr marL="36000" marR="36000" marT="36000" marB="36000" anchor="ctr"/>
                </a:tc>
                <a:tc rowSpan="2">
                  <a:txBody>
                    <a:bodyPr/>
                    <a:lstStyle/>
                    <a:p>
                      <a:pPr algn="ctr"/>
                      <a:r>
                        <a:rPr lang="en-US" altLang="ko-Kore-KR" sz="800" b="1" dirty="0"/>
                        <a:t>EGURI</a:t>
                      </a:r>
                    </a:p>
                    <a:p>
                      <a:pPr algn="ctr"/>
                      <a:r>
                        <a:rPr lang="en-US" altLang="ko-Kore-KR" sz="800" b="1" dirty="0"/>
                        <a:t>MESUP</a:t>
                      </a:r>
                      <a:endParaRPr lang="ko-Kore-KR" altLang="en-US" dirty="0"/>
                    </a:p>
                  </a:txBody>
                  <a:tcPr marL="36000" marR="36000" marT="36000" marB="36000" anchor="ctr"/>
                </a:tc>
                <a:tc rowSpan="2">
                  <a:txBody>
                    <a:bodyPr/>
                    <a:lstStyle/>
                    <a:p>
                      <a:pPr marL="0" marR="0" lvl="0" indent="0" algn="ctr" rtl="0">
                        <a:spcBef>
                          <a:spcPts val="0"/>
                        </a:spcBef>
                        <a:spcAft>
                          <a:spcPts val="0"/>
                        </a:spcAft>
                        <a:buNone/>
                      </a:pPr>
                      <a:r>
                        <a:rPr lang="en-US" sz="800" b="1" dirty="0"/>
                        <a:t>ILS</a:t>
                      </a:r>
                      <a:endParaRPr lang="en-US" sz="800"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14L/15</a:t>
                      </a:r>
                      <a:endParaRPr sz="800" b="1" dirty="0">
                        <a:solidFill>
                          <a:srgbClr val="0070C0"/>
                        </a:solidFill>
                      </a:endParaRPr>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VKL </a:t>
                      </a:r>
                      <a:r>
                        <a:rPr lang="en-US" altLang="ko-KR" sz="800" b="1" dirty="0">
                          <a:solidFill>
                            <a:srgbClr val="C00000"/>
                          </a:solidFill>
                        </a:rPr>
                        <a:t>32R IER, 33 IWM, 14L IEL, 15 IWK</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700" b="1" dirty="0">
                          <a:solidFill>
                            <a:schemeClr val="bg1"/>
                          </a:solidFill>
                        </a:rPr>
                        <a:t>20NM 220kts, 15NM 185kts, 10-5NM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32R : A5(6938’), A4(8343’), 14L : A6(6922’), A7(8425’)</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33: Y5(6948’), Y4(8425’), 15 : Y6(6948’), Y7(8415’)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32L via C5 Caution D5,6 </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r>
                        <a:rPr kumimoji="0" lang="en-US" altLang="ko-Kore-KR" sz="800" b="1" i="0" u="none" strike="noStrike" kern="1200" cap="none" spc="0" normalizeH="0" baseline="0" noProof="0" dirty="0">
                          <a:ln>
                            <a:noFill/>
                          </a:ln>
                          <a:solidFill>
                            <a:srgbClr val="00B0F0"/>
                          </a:solidFill>
                          <a:effectLst/>
                          <a:uLnTx/>
                          <a:uFillTx/>
                          <a:latin typeface="Calibri"/>
                          <a:cs typeface="Calibri"/>
                        </a:rPr>
                        <a:t>ATC Req </a:t>
                      </a:r>
                      <a:r>
                        <a:rPr kumimoji="0" lang="en-US" altLang="ko-Kore-KR" sz="800" b="1" i="0" u="none" strike="noStrike" kern="1200" cap="none" spc="0" normalizeH="0" baseline="0" noProof="0" dirty="0" err="1">
                          <a:ln>
                            <a:noFill/>
                          </a:ln>
                          <a:solidFill>
                            <a:srgbClr val="00B0F0"/>
                          </a:solidFill>
                          <a:effectLst/>
                          <a:uLnTx/>
                          <a:uFillTx/>
                          <a:latin typeface="Calibri"/>
                          <a:cs typeface="Calibri"/>
                        </a:rPr>
                        <a:t>HLxx</a:t>
                      </a:r>
                      <a:r>
                        <a:rPr kumimoji="0" lang="en-US" altLang="ko-Kore-KR" sz="800" b="1" i="0" u="none" strike="noStrike" kern="1200" cap="none" spc="0" normalizeH="0" baseline="0" noProof="0" dirty="0">
                          <a:ln>
                            <a:noFill/>
                          </a:ln>
                          <a:solidFill>
                            <a:srgbClr val="00B0F0"/>
                          </a:solidFill>
                          <a:effectLst/>
                          <a:uLnTx/>
                          <a:uFillTx/>
                          <a:latin typeface="Calibri"/>
                          <a:cs typeface="Calibri"/>
                        </a:rPr>
                        <a:t>/LD Time</a:t>
                      </a:r>
                      <a:endParaRPr kumimoji="0" lang="en-US" altLang="ko-Kore-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TWY RTE,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937DEB5-95DE-4023-B29A-2D66304C2880}"/>
              </a:ext>
            </a:extLst>
          </p:cNvPr>
          <p:cNvGraphicFramePr/>
          <p:nvPr>
            <p:extLst>
              <p:ext uri="{D42A27DB-BD31-4B8C-83A1-F6EECF244321}">
                <p14:modId xmlns:p14="http://schemas.microsoft.com/office/powerpoint/2010/main" val="3707680220"/>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Layang</a:t>
                      </a:r>
                      <a:r>
                        <a:rPr lang="en-US" sz="900" dirty="0"/>
                        <a:t> Satellite</a:t>
                      </a:r>
                    </a:p>
                    <a:p>
                      <a:pPr marL="0" marR="0" lvl="0" indent="0" algn="ctr" rtl="0">
                        <a:spcBef>
                          <a:spcPts val="0"/>
                        </a:spcBef>
                        <a:spcAft>
                          <a:spcPts val="0"/>
                        </a:spcAft>
                        <a:buNone/>
                      </a:pPr>
                      <a:r>
                        <a:rPr lang="en-US" sz="900" dirty="0"/>
                        <a:t>132.9</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1671F43A-9691-8F08-A7CD-171544A2B15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FCF1A1C-09BD-F8DD-7D0E-52B0602B85CB}"/>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6FF2384-8D4D-1CD6-6B77-31DE34365B8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2999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694787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5F7D1C9-FFC4-A133-B9BB-C42F0C9EA3A5}"/>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044C55F4-4208-E125-E94B-6A866961BAFE}"/>
              </a:ext>
            </a:extLst>
          </p:cNvPr>
          <p:cNvGraphicFramePr/>
          <p:nvPr>
            <p:extLst>
              <p:ext uri="{D42A27DB-BD31-4B8C-83A1-F6EECF244321}">
                <p14:modId xmlns:p14="http://schemas.microsoft.com/office/powerpoint/2010/main" val="66603825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KUL : RNAV SID (NADP 1) TA 11000</a:t>
                      </a:r>
                    </a:p>
                    <a:p>
                      <a:pPr marL="0" marR="0" lvl="0" indent="0" algn="ctr" rtl="0">
                        <a:spcBef>
                          <a:spcPts val="0"/>
                        </a:spcBef>
                        <a:spcAft>
                          <a:spcPts val="0"/>
                        </a:spcAft>
                        <a:buNone/>
                      </a:pPr>
                      <a:r>
                        <a:rPr lang="en-US" sz="800" u="none" strike="noStrike" cap="none" dirty="0">
                          <a:solidFill>
                            <a:srgbClr val="FFC000"/>
                          </a:solidFill>
                        </a:rPr>
                        <a:t>REQ P/B +-5min of TSAT</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32L/33</a:t>
                      </a:r>
                      <a:endParaRPr lang="en-US" sz="800" b="0" u="none" strike="noStrike" cap="none" dirty="0">
                        <a:solidFill>
                          <a:schemeClr val="bg1"/>
                        </a:solidFill>
                      </a:endParaRPr>
                    </a:p>
                  </a:txBody>
                  <a:tcPr marL="36000" marR="36000" marT="36000" marB="36000" anchor="ctr"/>
                </a:tc>
                <a:tc gridSpan="3">
                  <a:txBody>
                    <a:bodyPr/>
                    <a:lstStyle/>
                    <a:p>
                      <a:pPr algn="ctr"/>
                      <a:r>
                        <a:rPr lang="en-US" sz="800" b="1" u="none" strike="noStrike" cap="none" dirty="0">
                          <a:solidFill>
                            <a:srgbClr val="0070C0"/>
                          </a:solidFill>
                        </a:rPr>
                        <a:t>KIMAT x E/F</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326 </a:t>
                      </a:r>
                      <a:r>
                        <a:rPr lang="en-US" sz="800" b="1" u="none" strike="noStrike" cap="none" dirty="0">
                          <a:solidFill>
                            <a:srgbClr val="0070C0"/>
                          </a:solidFill>
                        </a:rPr>
                        <a:t>ALT ATC (6000)</a:t>
                      </a:r>
                      <a:r>
                        <a:rPr lang="en-US" sz="800" b="1" u="none" strike="noStrike" cap="none" dirty="0">
                          <a:solidFill>
                            <a:srgbClr val="AA47F5"/>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14R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KIMAT x B</a:t>
                      </a:r>
                    </a:p>
                    <a:p>
                      <a:pPr algn="ctr"/>
                      <a:r>
                        <a:rPr lang="en-US" altLang="ko-Kore-KR" sz="600" b="1" u="none" strike="noStrike" cap="none" dirty="0">
                          <a:solidFill>
                            <a:schemeClr val="bg1"/>
                          </a:solidFill>
                        </a:rPr>
                        <a:t>RNP 1600-2100Z</a:t>
                      </a:r>
                      <a:endParaRPr lang="ko-Kore-KR" sz="3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146 </a:t>
                      </a:r>
                      <a:r>
                        <a:rPr lang="en-US" sz="800" b="1" u="none" strike="noStrike" cap="none" dirty="0">
                          <a:solidFill>
                            <a:srgbClr val="0070C0"/>
                          </a:solidFill>
                        </a:rPr>
                        <a:t>ALT ATC (6000)</a:t>
                      </a:r>
                      <a:r>
                        <a:rPr lang="en-US" altLang="ko-Kore-KR" sz="800" b="1" u="none" strike="noStrike" cap="none" dirty="0">
                          <a:solidFill>
                            <a:srgbClr val="00B050"/>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VKL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116.1</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32L IWL</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111.9</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33 IWM</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14R IWR</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110.7</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15 IWK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Standard TAXI RTE</a:t>
                      </a:r>
                      <a:r>
                        <a:rPr lang="en-US" sz="800" b="0" u="none" strike="noStrike" cap="none" dirty="0">
                          <a:solidFill>
                            <a:schemeClr val="bg1"/>
                          </a:solidFill>
                        </a:rPr>
                        <a:t>, P/B Exit S8 -&gt; Taxi out S8</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DUDIS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232C6E61-6C9F-BA12-5806-0C1F95D6CAB8}"/>
              </a:ext>
            </a:extLst>
          </p:cNvPr>
          <p:cNvGraphicFramePr/>
          <p:nvPr>
            <p:extLst>
              <p:ext uri="{D42A27DB-BD31-4B8C-83A1-F6EECF244321}">
                <p14:modId xmlns:p14="http://schemas.microsoft.com/office/powerpoint/2010/main" val="44490218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altLang="ko-Kore-KR" sz="800" dirty="0" err="1"/>
                        <a:t>Layang</a:t>
                      </a:r>
                      <a:r>
                        <a:rPr lang="en-US" altLang="ko-Kore-KR" sz="800" dirty="0"/>
                        <a:t> Satellite 132.9</a:t>
                      </a:r>
                      <a:endParaRPr sz="1200" dirty="0"/>
                    </a:p>
                    <a:p>
                      <a:pPr marL="0" marR="0" lvl="0" indent="0" algn="ctr" rtl="0">
                        <a:spcBef>
                          <a:spcPts val="0"/>
                        </a:spcBef>
                        <a:spcAft>
                          <a:spcPts val="0"/>
                        </a:spcAft>
                        <a:buNone/>
                      </a:pPr>
                      <a:r>
                        <a:rPr lang="en-US" altLang="ko-KR" sz="700" dirty="0">
                          <a:solidFill>
                            <a:srgbClr val="FF0000"/>
                          </a:solidFill>
                        </a:rPr>
                        <a:t>TSAT -10min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1EEBD74-74B6-6AD2-A138-733A38D8B245}"/>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6580AA8-B1B4-BB28-2E33-C867D3A61C8A}"/>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135.25(Before 2000ft)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FEDFC53-4C5E-7540-87D1-E4E9CB7210A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4CCA8696-B1A0-2A6F-244E-0D296C8C7D68}"/>
              </a:ext>
            </a:extLst>
          </p:cNvPr>
          <p:cNvGraphicFramePr/>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03730256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7576" y="2858861"/>
            <a:ext cx="210506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ore-KR" sz="700" b="1" u="sng">
                <a:latin typeface="Gulim" panose="020B0600000101010101" pitchFamily="34" charset="-127"/>
                <a:ea typeface="Gulim" panose="020B0600000101010101" pitchFamily="34" charset="-127"/>
              </a:rPr>
              <a:t>CPDLC RPHI </a:t>
            </a:r>
            <a:r>
              <a:rPr kumimoji="1" lang="en-US" altLang="ko-Kore-KR" sz="700" b="1" u="sng" dirty="0">
                <a:latin typeface="Gulim" panose="020B0600000101010101" pitchFamily="34" charset="-127"/>
                <a:ea typeface="Gulim" panose="020B0600000101010101" pitchFamily="34" charset="-127"/>
              </a:rPr>
              <a:t>RDO 8942(5655) </a:t>
            </a:r>
          </a:p>
          <a:p>
            <a:pPr>
              <a:lnSpc>
                <a:spcPct val="150000"/>
              </a:lnSpc>
            </a:pPr>
            <a:r>
              <a:rPr kumimoji="1" lang="en-US" altLang="ko-Kore-KR" sz="700" b="1" u="sng" dirty="0">
                <a:latin typeface="Gulim" panose="020B0600000101010101" pitchFamily="34" charset="-127"/>
                <a:ea typeface="Gulim" panose="020B0600000101010101" pitchFamily="34" charset="-127"/>
              </a:rPr>
              <a:t>HCM 120.7</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132.35 – 134.05 </a:t>
            </a:r>
          </a:p>
          <a:p>
            <a:pPr>
              <a:lnSpc>
                <a:spcPct val="150000"/>
              </a:lnSpc>
            </a:pPr>
            <a:r>
              <a:rPr kumimoji="1" lang="en-US" altLang="ko-Kore-KR" sz="700" b="1" u="sng" dirty="0">
                <a:latin typeface="Gulim" panose="020B0600000101010101" pitchFamily="34" charset="-127"/>
                <a:ea typeface="Gulim" panose="020B0600000101010101" pitchFamily="34" charset="-127"/>
              </a:rPr>
              <a:t>CXR APP 127.9</a:t>
            </a:r>
          </a:p>
        </p:txBody>
      </p:sp>
      <p:graphicFrame>
        <p:nvGraphicFramePr>
          <p:cNvPr id="292" name="Google Shape;292;p18"/>
          <p:cNvGraphicFramePr/>
          <p:nvPr>
            <p:extLst>
              <p:ext uri="{D42A27DB-BD31-4B8C-83A1-F6EECF244321}">
                <p14:modId xmlns:p14="http://schemas.microsoft.com/office/powerpoint/2010/main" val="361101824"/>
              </p:ext>
            </p:extLst>
          </p:nvPr>
        </p:nvGraphicFramePr>
        <p:xfrm>
          <a:off x="-2501" y="3879427"/>
          <a:ext cx="2327658" cy="16748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945929">
                  <a:extLst>
                    <a:ext uri="{9D8B030D-6E8A-4147-A177-3AD203B41FA5}">
                      <a16:colId xmlns:a16="http://schemas.microsoft.com/office/drawing/2014/main" val="20001"/>
                    </a:ext>
                  </a:extLst>
                </a:gridCol>
                <a:gridCol w="387331">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324137">
                <a:tc gridSpan="4">
                  <a:txBody>
                    <a:bodyPr/>
                    <a:lstStyle/>
                    <a:p>
                      <a:pPr marL="0" marR="0" lvl="0" indent="0" algn="ctr" rtl="0">
                        <a:spcBef>
                          <a:spcPts val="0"/>
                        </a:spcBef>
                        <a:spcAft>
                          <a:spcPts val="0"/>
                        </a:spcAft>
                        <a:buNone/>
                      </a:pPr>
                      <a:r>
                        <a:rPr lang="en-US" sz="800" dirty="0"/>
                        <a:t>CXR </a:t>
                      </a:r>
                      <a:r>
                        <a:rPr lang="en-US" sz="800" dirty="0">
                          <a:solidFill>
                            <a:srgbClr val="00B0F0"/>
                          </a:solidFill>
                        </a:rPr>
                        <a:t>[200/020] </a:t>
                      </a:r>
                      <a:r>
                        <a:rPr lang="en-US" sz="800" dirty="0"/>
                        <a:t>: STAR  </a:t>
                      </a:r>
                      <a:r>
                        <a:rPr lang="en-US" sz="800" dirty="0">
                          <a:solidFill>
                            <a:schemeClr val="accent4"/>
                          </a:solidFill>
                        </a:rPr>
                        <a:t>(</a:t>
                      </a:r>
                      <a:r>
                        <a:rPr lang="en-US" sz="800" dirty="0" err="1">
                          <a:solidFill>
                            <a:schemeClr val="accent4"/>
                          </a:solidFill>
                        </a:rPr>
                        <a:t>Wx</a:t>
                      </a:r>
                      <a:r>
                        <a:rPr lang="en-US" sz="800" dirty="0">
                          <a:solidFill>
                            <a:schemeClr val="accent4"/>
                          </a:solidFill>
                        </a:rPr>
                        <a:t>, Using RWY from HCM CTL)</a:t>
                      </a:r>
                    </a:p>
                    <a:p>
                      <a:pPr marL="0" marR="0" lvl="0" indent="0" algn="ctr" rtl="0">
                        <a:spcBef>
                          <a:spcPts val="0"/>
                        </a:spcBef>
                        <a:spcAft>
                          <a:spcPts val="0"/>
                        </a:spcAft>
                        <a:buNone/>
                      </a:pPr>
                      <a:r>
                        <a:rPr lang="en-US" sz="800" b="0" dirty="0">
                          <a:solidFill>
                            <a:srgbClr val="FFC000"/>
                          </a:solidFill>
                        </a:rPr>
                        <a:t>RWY20 Max Tail Wind 15kts / </a:t>
                      </a:r>
                      <a:r>
                        <a:rPr lang="en-US" sz="800" b="0" dirty="0">
                          <a:solidFill>
                            <a:srgbClr val="92D050"/>
                          </a:solidFill>
                        </a:rPr>
                        <a:t>CHK LDW due to PCR</a:t>
                      </a:r>
                    </a:p>
                    <a:p>
                      <a:pPr marL="0" marR="0" lvl="0" indent="0" algn="ctr" rtl="0">
                        <a:spcBef>
                          <a:spcPts val="0"/>
                        </a:spcBef>
                        <a:spcAft>
                          <a:spcPts val="0"/>
                        </a:spcAft>
                        <a:buNone/>
                      </a:pPr>
                      <a:r>
                        <a:rPr lang="en-US" sz="800" b="1" dirty="0">
                          <a:solidFill>
                            <a:srgbClr val="C00000"/>
                          </a:solidFill>
                        </a:rPr>
                        <a:t>CAAV STAR, APP not Authorized</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23913">
                <a:tc>
                  <a:txBody>
                    <a:bodyPr/>
                    <a:lstStyle/>
                    <a:p>
                      <a:pPr marL="0" marR="0" lvl="0" indent="0" algn="ctr" rtl="0">
                        <a:spcBef>
                          <a:spcPts val="0"/>
                        </a:spcBef>
                        <a:spcAft>
                          <a:spcPts val="0"/>
                        </a:spcAft>
                        <a:buNone/>
                      </a:pPr>
                      <a:r>
                        <a:rPr lang="en-US" sz="800" b="1" dirty="0"/>
                        <a:t>20L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COTUN, BANKE, HUNTA, NHATA xx</a:t>
                      </a:r>
                      <a:endParaRPr lang="en-US" sz="700" b="1" dirty="0"/>
                    </a:p>
                  </a:txBody>
                  <a:tcPr marL="36000" marR="36000" marT="36000" marB="36000" anchor="ctr"/>
                </a:tc>
                <a:tc rowSpan="2">
                  <a:txBody>
                    <a:bodyPr/>
                    <a:lstStyle/>
                    <a:p>
                      <a:r>
                        <a:rPr lang="en-US" sz="800" b="1" dirty="0"/>
                        <a:t>CR xxx </a:t>
                      </a:r>
                      <a:r>
                        <a:rPr lang="en-US" sz="700" b="0" dirty="0">
                          <a:solidFill>
                            <a:srgbClr val="C00000"/>
                          </a:solidFill>
                        </a:rPr>
                        <a:t>AFT IAF STEEP DES(3.8)</a:t>
                      </a:r>
                    </a:p>
                  </a:txBody>
                  <a:tcPr marL="36000" marR="36000" marT="36000" marB="36000" anchor="ctr"/>
                </a:tc>
                <a:tc>
                  <a:txBody>
                    <a:bodyPr/>
                    <a:lstStyle/>
                    <a:p>
                      <a:pPr marL="0" marR="0" lvl="0" indent="0" algn="ctr" rtl="0">
                        <a:spcBef>
                          <a:spcPts val="0"/>
                        </a:spcBef>
                        <a:spcAft>
                          <a:spcPts val="0"/>
                        </a:spcAft>
                        <a:buNone/>
                      </a:pPr>
                      <a:r>
                        <a:rPr lang="en-US" sz="800" b="1" dirty="0"/>
                        <a:t>ILS Y 20L</a:t>
                      </a:r>
                    </a:p>
                    <a:p>
                      <a:pPr marL="0" marR="0" lvl="0" indent="0" algn="ctr" rtl="0">
                        <a:spcBef>
                          <a:spcPts val="0"/>
                        </a:spcBef>
                        <a:spcAft>
                          <a:spcPts val="0"/>
                        </a:spcAft>
                        <a:buNone/>
                      </a:pPr>
                      <a:r>
                        <a:rPr lang="en-US" sz="800" b="0" dirty="0"/>
                        <a:t>RNP 20R</a:t>
                      </a:r>
                      <a:endParaRPr lang="ko-Kore-KR" altLang="en-US" dirty="0"/>
                    </a:p>
                  </a:txBody>
                  <a:tcPr marL="36000" marR="36000" marT="36000" marB="36000" anchor="ctr"/>
                </a:tc>
                <a:extLst>
                  <a:ext uri="{0D108BD9-81ED-4DB2-BD59-A6C34878D82A}">
                    <a16:rowId xmlns:a16="http://schemas.microsoft.com/office/drawing/2014/main" val="10001"/>
                  </a:ext>
                </a:extLst>
              </a:tr>
              <a:tr h="137479">
                <a:tc>
                  <a:txBody>
                    <a:bodyPr/>
                    <a:lstStyle/>
                    <a:p>
                      <a:pPr marL="0" marR="0" lvl="0" indent="0" algn="ctr" rtl="0">
                        <a:spcBef>
                          <a:spcPts val="0"/>
                        </a:spcBef>
                        <a:spcAft>
                          <a:spcPts val="0"/>
                        </a:spcAft>
                        <a:buNone/>
                      </a:pPr>
                      <a:r>
                        <a:rPr lang="en-US" sz="800" b="1" dirty="0"/>
                        <a:t>02R</a:t>
                      </a:r>
                      <a:r>
                        <a:rPr lang="en-US" sz="800" b="0" dirty="0"/>
                        <a:t>/L</a:t>
                      </a:r>
                      <a:endParaRPr sz="800" b="0" dirty="0"/>
                    </a:p>
                  </a:txBody>
                  <a:tcPr marL="36000" marR="36000" marT="36000" marB="36000" anchor="ctr"/>
                </a:tc>
                <a:tc vMerge="1">
                  <a:txBody>
                    <a:bodyPr/>
                    <a:lstStyle/>
                    <a:p>
                      <a:pPr marL="0" marR="0" lvl="0" indent="0" algn="ctr" rtl="0">
                        <a:spcBef>
                          <a:spcPts val="0"/>
                        </a:spcBef>
                        <a:spcAft>
                          <a:spcPts val="0"/>
                        </a:spcAft>
                        <a:buNone/>
                      </a:pPr>
                      <a:endParaRPr lang="en-US" altLang="ko-Kore-KR" sz="800" b="1" dirty="0"/>
                    </a:p>
                  </a:txBody>
                  <a:tcPr marL="36000" marR="36000" marT="36000" marB="36000" anchor="ctr"/>
                </a:tc>
                <a:tc vMerge="1">
                  <a:txBody>
                    <a:bodyPr/>
                    <a:lstStyle/>
                    <a:p>
                      <a:endParaRPr lang="ko-Kore-KR" altLang="en-US"/>
                    </a:p>
                  </a:txBody>
                  <a:tcPr/>
                </a:tc>
                <a:tc>
                  <a:txBody>
                    <a:bodyPr/>
                    <a:lstStyle/>
                    <a:p>
                      <a:r>
                        <a:rPr lang="en-US" sz="800" b="1" dirty="0"/>
                        <a:t>ILS X/Z 02L/R</a:t>
                      </a:r>
                      <a:endParaRPr lang="ko-Kore-KR" altLang="en-US" dirty="0"/>
                    </a:p>
                  </a:txBody>
                  <a:tcPr marL="36000" marR="36000" marT="36000" marB="36000" anchor="ctr"/>
                </a:tc>
                <a:extLst>
                  <a:ext uri="{0D108BD9-81ED-4DB2-BD59-A6C34878D82A}">
                    <a16:rowId xmlns:a16="http://schemas.microsoft.com/office/drawing/2014/main" val="10002"/>
                  </a:ext>
                </a:extLst>
              </a:tr>
              <a:tr h="16624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CRA </a:t>
                      </a:r>
                      <a:r>
                        <a:rPr lang="en-US" sz="800" b="1" dirty="0">
                          <a:solidFill>
                            <a:srgbClr val="C00000"/>
                          </a:solidFill>
                        </a:rPr>
                        <a:t>20L ICA 02R ICX 02L ICR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20L : G3(6735’), G1(9603’),   02R : G5(6528’), </a:t>
                      </a:r>
                      <a:r>
                        <a:rPr lang="en-US" sz="800" b="1" dirty="0">
                          <a:solidFill>
                            <a:srgbClr val="0070C0"/>
                          </a:solidFill>
                        </a:rPr>
                        <a:t>G7(9662’)</a:t>
                      </a:r>
                      <a:endParaRPr sz="800" dirty="0">
                        <a:solidFill>
                          <a:srgbClr val="0070C0"/>
                        </a:solidFill>
                      </a:endParaRPr>
                    </a:p>
                    <a:p>
                      <a:pPr marL="0" marR="0" lvl="0" indent="0" algn="l" rtl="0">
                        <a:lnSpc>
                          <a:spcPct val="100000"/>
                        </a:lnSpc>
                        <a:spcBef>
                          <a:spcPts val="0"/>
                        </a:spcBef>
                        <a:spcAft>
                          <a:spcPts val="0"/>
                        </a:spcAft>
                        <a:buClr>
                          <a:schemeClr val="dk1"/>
                        </a:buClr>
                        <a:buSzPts val="800"/>
                        <a:buFont typeface="Calibri"/>
                        <a:buNone/>
                      </a:pPr>
                      <a:r>
                        <a:rPr lang="en-US" sz="800" b="0" dirty="0">
                          <a:solidFill>
                            <a:schemeClr val="dk1"/>
                          </a:solidFill>
                        </a:rPr>
                        <a:t>20R : W4(5971’), W3(7680’), 02L : W5(5606’), W6(7345’)</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a:t>
                      </a:r>
                      <a:r>
                        <a:rPr lang="en-US" sz="800" b="1" dirty="0" err="1">
                          <a:solidFill>
                            <a:srgbClr val="C00000"/>
                          </a:solidFill>
                        </a:rPr>
                        <a:t>Sensitie</a:t>
                      </a:r>
                      <a:r>
                        <a:rPr lang="en-US" sz="800" b="1" dirty="0">
                          <a:solidFill>
                            <a:srgbClr val="C00000"/>
                          </a:solidFill>
                        </a:rPr>
                        <a:t> VDGS Caution!!</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735704380"/>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VVCR(CXR) 46ft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b="1" dirty="0">
                          <a:solidFill>
                            <a:srgbClr val="00B050"/>
                          </a:solidFill>
                        </a:rPr>
                        <a:t>D-ATIS</a:t>
                      </a:r>
                      <a:r>
                        <a:rPr lang="ko-KR" altLang="en-US" sz="800" b="1" dirty="0">
                          <a:solidFill>
                            <a:srgbClr val="00B050"/>
                          </a:solidFill>
                        </a:rPr>
                        <a:t> </a:t>
                      </a:r>
                      <a:r>
                        <a:rPr lang="en-US" altLang="ko-KR" sz="800" b="1" dirty="0">
                          <a:solidFill>
                            <a:srgbClr val="00B050"/>
                          </a:solidFill>
                        </a:rPr>
                        <a:t>Avail</a:t>
                      </a:r>
                      <a:endParaRPr lang="en-US" sz="800" b="1" dirty="0">
                        <a:solidFill>
                          <a:srgbClr val="00B05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B882660-9EE1-6391-25C3-1EE439E63B98}"/>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4819243-81C7-B4AD-B7F3-FC00667085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436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2246992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2254549114"/>
              </p:ext>
            </p:extLst>
          </p:nvPr>
        </p:nvGraphicFramePr>
        <p:xfrm>
          <a:off x="-4046" y="586900"/>
          <a:ext cx="2347194" cy="167065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424897">
                  <a:extLst>
                    <a:ext uri="{9D8B030D-6E8A-4147-A177-3AD203B41FA5}">
                      <a16:colId xmlns:a16="http://schemas.microsoft.com/office/drawing/2014/main" val="20003"/>
                    </a:ext>
                  </a:extLst>
                </a:gridCol>
                <a:gridCol w="178013">
                  <a:extLst>
                    <a:ext uri="{9D8B030D-6E8A-4147-A177-3AD203B41FA5}">
                      <a16:colId xmlns:a16="http://schemas.microsoft.com/office/drawing/2014/main" val="20004"/>
                    </a:ext>
                  </a:extLst>
                </a:gridCol>
                <a:gridCol w="625635">
                  <a:extLst>
                    <a:ext uri="{9D8B030D-6E8A-4147-A177-3AD203B41FA5}">
                      <a16:colId xmlns:a16="http://schemas.microsoft.com/office/drawing/2014/main" val="20005"/>
                    </a:ext>
                  </a:extLst>
                </a:gridCol>
                <a:gridCol w="614397">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CNX : RNP SID (NADP 1)  </a:t>
                      </a:r>
                      <a:r>
                        <a:rPr lang="en-US" sz="800" u="none" strike="noStrike" cap="none" dirty="0">
                          <a:solidFill>
                            <a:srgbClr val="92D050"/>
                          </a:solidFill>
                        </a:rPr>
                        <a:t>CHK TOW due to PCR</a:t>
                      </a:r>
                    </a:p>
                    <a:p>
                      <a:pPr marL="0" marR="0" lvl="0" indent="0" algn="ctr" rtl="0">
                        <a:spcBef>
                          <a:spcPts val="0"/>
                        </a:spcBef>
                        <a:spcAft>
                          <a:spcPts val="0"/>
                        </a:spcAft>
                        <a:buNone/>
                      </a:pPr>
                      <a:r>
                        <a:rPr lang="en-US" sz="800" u="none" strike="noStrike" cap="none" dirty="0">
                          <a:solidFill>
                            <a:schemeClr val="accent4"/>
                          </a:solidFill>
                        </a:rPr>
                        <a:t>Follow Restrictions due to Military Traffic</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02L</a:t>
                      </a:r>
                      <a:r>
                        <a:rPr lang="en-US" sz="800" b="0" u="none" strike="noStrike" cap="none" dirty="0"/>
                        <a:t>/R</a:t>
                      </a:r>
                    </a:p>
                  </a:txBody>
                  <a:tcPr marL="36000" marR="36000" marT="36000" marB="36000" anchor="ctr"/>
                </a:tc>
                <a:tc gridSpan="2">
                  <a:txBody>
                    <a:bodyPr/>
                    <a:lstStyle/>
                    <a:p>
                      <a:pPr algn="ctr"/>
                      <a:r>
                        <a:rPr lang="en-US" sz="800" b="1" u="none" strike="noStrike" cap="none" dirty="0">
                          <a:solidFill>
                            <a:srgbClr val="0070C0"/>
                          </a:solidFill>
                        </a:rPr>
                        <a:t>NIHOA </a:t>
                      </a:r>
                      <a:r>
                        <a:rPr lang="en-US"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HD020 </a:t>
                      </a:r>
                      <a:r>
                        <a:rPr lang="en-US" sz="800" b="1" u="none" strike="noStrike" cap="none" dirty="0">
                          <a:solidFill>
                            <a:srgbClr val="0070C0"/>
                          </a:solidFill>
                        </a:rPr>
                        <a:t>7000 </a:t>
                      </a:r>
                      <a:r>
                        <a:rPr lang="en-US" sz="800" b="1" u="none" strike="noStrike" cap="none" dirty="0">
                          <a:solidFill>
                            <a:srgbClr val="F28943"/>
                          </a:solidFill>
                        </a:rPr>
                        <a:t>TA9000</a:t>
                      </a:r>
                      <a:endParaRPr lang="en-US" altLang="ko-KR" sz="800" b="1" u="none" strike="noStrike" cap="none"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20R</a:t>
                      </a:r>
                      <a:r>
                        <a:rPr lang="en-US" sz="800" b="0" u="none" strike="noStrike" cap="none" dirty="0"/>
                        <a:t>/L</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NIHOA </a:t>
                      </a:r>
                      <a:r>
                        <a:rPr lang="en-US" altLang="ko-Kore-KR" sz="800" b="1" u="none" strike="noStrike" cap="none" dirty="0" err="1">
                          <a:solidFill>
                            <a:srgbClr val="0070C0"/>
                          </a:solidFill>
                        </a:rPr>
                        <a:t>xxB</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HD200 </a:t>
                      </a:r>
                      <a:r>
                        <a:rPr lang="en-US" sz="800" b="1" u="none" strike="noStrike" cap="none" dirty="0">
                          <a:solidFill>
                            <a:srgbClr val="0070C0"/>
                          </a:solidFill>
                        </a:rPr>
                        <a:t>ATC/FL100 </a:t>
                      </a:r>
                      <a:r>
                        <a:rPr lang="en-US" altLang="ko-Kore-KR" sz="800" b="1" u="none" strike="noStrike" cap="none" dirty="0">
                          <a:solidFill>
                            <a:srgbClr val="7030A0"/>
                          </a:solidFill>
                        </a:rPr>
                        <a:t>SPD250</a:t>
                      </a:r>
                      <a:r>
                        <a:rPr lang="en-US" altLang="ko-Kore-KR" sz="800" b="1" u="none" strike="noStrike" cap="none" dirty="0">
                          <a:solidFill>
                            <a:srgbClr val="C00000"/>
                          </a:solidFill>
                        </a:rPr>
                        <a:t> </a:t>
                      </a:r>
                      <a:r>
                        <a:rPr kumimoji="0" lang="en-US" altLang="ko-Kore-KR" sz="800" b="1" i="0" u="none" strike="noStrike" kern="1200" cap="none" spc="0" normalizeH="0" baseline="0" noProof="0" dirty="0">
                          <a:ln>
                            <a:noFill/>
                          </a:ln>
                          <a:solidFill>
                            <a:srgbClr val="F28943"/>
                          </a:solidFill>
                          <a:effectLst/>
                          <a:uLnTx/>
                          <a:uFillTx/>
                          <a:latin typeface="Calibri"/>
                          <a:cs typeface="Calibri"/>
                        </a:rPr>
                        <a:t>TA9000</a:t>
                      </a:r>
                      <a:endParaRPr lang="ko-Kore-KR" altLang="en-US" dirty="0"/>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CRA 116.5</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ICR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ICR 110.7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ICA 110.3</a:t>
                      </a:r>
                      <a:endParaRPr lang="ko-Kore-KR" dirty="0"/>
                    </a:p>
                  </a:txBody>
                  <a:tcPr marL="36000" marR="36000" marT="36000" marB="36000" anchor="ctr"/>
                </a:tc>
                <a:extLst>
                  <a:ext uri="{0D108BD9-81ED-4DB2-BD59-A6C34878D82A}">
                    <a16:rowId xmlns:a16="http://schemas.microsoft.com/office/drawing/2014/main" val="10003"/>
                  </a:ext>
                </a:extLst>
              </a:tr>
              <a:tr h="2032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5">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0" u="none" strike="noStrike" cap="none" dirty="0">
                          <a:solidFill>
                            <a:schemeClr val="bg1"/>
                          </a:solidFill>
                        </a:rPr>
                        <a:t>02 : CRA 020/3, R090</a:t>
                      </a:r>
                    </a:p>
                    <a:p>
                      <a:pPr marL="0" marR="0" lvl="0" indent="0" algn="ctr" rtl="0">
                        <a:lnSpc>
                          <a:spcPct val="100000"/>
                        </a:lnSpc>
                        <a:spcBef>
                          <a:spcPts val="0"/>
                        </a:spcBef>
                        <a:spcAft>
                          <a:spcPts val="0"/>
                        </a:spcAft>
                        <a:buClr>
                          <a:srgbClr val="0070C0"/>
                        </a:buClr>
                        <a:buSzPts val="800"/>
                        <a:buFont typeface="Calibri"/>
                        <a:buNone/>
                      </a:pPr>
                      <a:r>
                        <a:rPr lang="en-US" altLang="ko-Kore-KR" sz="800" b="0" u="none" strike="noStrike" cap="none" dirty="0">
                          <a:solidFill>
                            <a:schemeClr val="bg1"/>
                          </a:solidFill>
                        </a:rPr>
                        <a:t> 20 : CRA 200/6, R150</a:t>
                      </a:r>
                      <a:endParaRPr lang="en-US" sz="800" b="1" u="none" strike="noStrike" cap="none" dirty="0">
                        <a:solidFill>
                          <a:srgbClr val="00B050"/>
                        </a:solidFill>
                        <a:latin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TWY Y5 only below wingspan 36m/118ft</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961610941"/>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VVCR(CXR) 46ft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TWR 118.2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775855" y="2254522"/>
            <a:ext cx="161294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127.9 – HCM 134.05</a:t>
            </a:r>
          </a:p>
          <a:p>
            <a:pPr>
              <a:lnSpc>
                <a:spcPct val="150000"/>
              </a:lnSpc>
            </a:pPr>
            <a:r>
              <a:rPr kumimoji="1" lang="en-US" altLang="ko-Kore-KR" sz="700" b="1" u="sng" dirty="0">
                <a:latin typeface="Gulim" panose="020B0600000101010101" pitchFamily="34" charset="-127"/>
                <a:ea typeface="Gulim" panose="020B0600000101010101" pitchFamily="34" charset="-127"/>
              </a:rPr>
              <a:t>DAD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 </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a:t>
            </a:r>
          </a:p>
          <a:p>
            <a:pPr>
              <a:lnSpc>
                <a:spcPct val="150000"/>
              </a:lnSpc>
            </a:pPr>
            <a:r>
              <a:rPr kumimoji="1" lang="en-US" altLang="ko-KR" sz="700" b="1" u="sng" dirty="0">
                <a:latin typeface="Gulim" panose="020B0600000101010101" pitchFamily="34" charset="-127"/>
                <a:ea typeface="Gulim" panose="020B0600000101010101" pitchFamily="34" charset="-127"/>
              </a:rPr>
              <a:t>125.5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림 8" descr="지도, 텍스트, 도표이(가) 표시된 사진&#10;&#10;자동 생성된 설명">
            <a:extLst>
              <a:ext uri="{FF2B5EF4-FFF2-40B4-BE49-F238E27FC236}">
                <a16:creationId xmlns:a16="http://schemas.microsoft.com/office/drawing/2014/main" id="{40FAD37A-76DB-4884-AE7F-03831C74A2DB}"/>
              </a:ext>
            </a:extLst>
          </p:cNvPr>
          <p:cNvPicPr>
            <a:picLocks noChangeAspect="1"/>
          </p:cNvPicPr>
          <p:nvPr/>
        </p:nvPicPr>
        <p:blipFill>
          <a:blip r:embed="rId5"/>
          <a:stretch>
            <a:fillRect/>
          </a:stretch>
        </p:blipFill>
        <p:spPr>
          <a:xfrm>
            <a:off x="0" y="2272055"/>
            <a:ext cx="845389" cy="825728"/>
          </a:xfrm>
          <a:prstGeom prst="rect">
            <a:avLst/>
          </a:prstGeom>
        </p:spPr>
      </p:pic>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38544" y="25152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EE2AF8B-92A3-3200-5056-D6DC5A2B215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74121"/>
            <a:ext cx="457200" cy="457200"/>
          </a:xfrm>
          <a:prstGeom prst="rect">
            <a:avLst/>
          </a:prstGeom>
          <a:effectLst>
            <a:outerShdw blurRad="50800" dist="50800" dir="3660000" algn="ctr" rotWithShape="0">
              <a:schemeClr val="bg1">
                <a:alpha val="82714"/>
              </a:schemeClr>
            </a:outerShdw>
          </a:effectLst>
        </p:spPr>
      </p:pic>
      <p:graphicFrame>
        <p:nvGraphicFramePr>
          <p:cNvPr id="10" name="Google Shape;283;p17">
            <a:extLst>
              <a:ext uri="{FF2B5EF4-FFF2-40B4-BE49-F238E27FC236}">
                <a16:creationId xmlns:a16="http://schemas.microsoft.com/office/drawing/2014/main" id="{9222A090-F0B0-E386-7E5B-7B2098B75601}"/>
              </a:ext>
            </a:extLst>
          </p:cNvPr>
          <p:cNvGraphicFramePr/>
          <p:nvPr>
            <p:extLst>
              <p:ext uri="{D42A27DB-BD31-4B8C-83A1-F6EECF244321}">
                <p14:modId xmlns:p14="http://schemas.microsoft.com/office/powerpoint/2010/main" val="3284132159"/>
              </p:ext>
            </p:extLst>
          </p:nvPr>
        </p:nvGraphicFramePr>
        <p:xfrm>
          <a:off x="11589" y="3302008"/>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74026387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4022"/>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0763C149-D220-A6F2-4D0A-49E610144998}"/>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918528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75156"/>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1B3E68C1-DEAE-46A5-D089-98534D121C33}"/>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71955187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graphicFrame>
        <p:nvGraphicFramePr>
          <p:cNvPr id="3" name="Google Shape;283;p17">
            <a:extLst>
              <a:ext uri="{FF2B5EF4-FFF2-40B4-BE49-F238E27FC236}">
                <a16:creationId xmlns:a16="http://schemas.microsoft.com/office/drawing/2014/main" id="{DA9B6491-0217-DC0C-4760-227DEA905AC6}"/>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9397703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extLst>
              <p:ext uri="{D42A27DB-BD31-4B8C-83A1-F6EECF244321}">
                <p14:modId xmlns:p14="http://schemas.microsoft.com/office/powerpoint/2010/main" val="94548055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E821D096-B8E3-6111-29C7-56CA5A1A96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6362BF-8152-2201-B947-10FF2A9E2FCA}"/>
              </a:ext>
            </a:extLst>
          </p:cNvPr>
          <p:cNvSpPr txBox="1"/>
          <p:nvPr/>
        </p:nvSpPr>
        <p:spPr>
          <a:xfrm>
            <a:off x="-35464" y="2886710"/>
            <a:ext cx="248978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CPDLC VYYF(Yangon), VECF(Kolkata)</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p>
          <a:p>
            <a:pPr>
              <a:lnSpc>
                <a:spcPct val="150000"/>
              </a:lnSpc>
            </a:pPr>
            <a:r>
              <a:rPr kumimoji="1" lang="en-US" altLang="ko-Kore-KR" sz="700" b="1" u="sng" dirty="0">
                <a:latin typeface="Gulim" panose="020B0600000101010101" pitchFamily="34" charset="-127"/>
                <a:ea typeface="Gulim" panose="020B0600000101010101" pitchFamily="34" charset="-127"/>
              </a:rPr>
              <a:t>-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KTM -10min (126.5) C/S, A333, PSN, FL, FIR Time</a:t>
            </a:r>
          </a:p>
          <a:p>
            <a:pPr>
              <a:lnSpc>
                <a:spcPct val="150000"/>
              </a:lnSpc>
            </a:pPr>
            <a:r>
              <a:rPr kumimoji="1" lang="en-US" altLang="ko-Kore-KR" sz="700" b="1" u="sng" dirty="0">
                <a:latin typeface="Gulim" panose="020B0600000101010101" pitchFamily="34" charset="-127"/>
                <a:ea typeface="Gulim" panose="020B0600000101010101" pitchFamily="34" charset="-127"/>
              </a:rPr>
              <a:t>   RTE, L/D type “Req Entering CLR”</a:t>
            </a:r>
          </a:p>
          <a:p>
            <a:pPr>
              <a:lnSpc>
                <a:spcPct val="150000"/>
              </a:lnSpc>
            </a:pPr>
            <a:r>
              <a:rPr kumimoji="1" lang="en-US" altLang="ko-Kore-KR" sz="700" b="1" u="sng" dirty="0">
                <a:latin typeface="Gulim" panose="020B0600000101010101" pitchFamily="34" charset="-127"/>
                <a:ea typeface="Gulim" panose="020B0600000101010101" pitchFamily="34" charset="-127"/>
              </a:rPr>
              <a:t>- Report </a:t>
            </a:r>
            <a:r>
              <a:rPr kumimoji="1" lang="en-US" altLang="ko-Kore-KR" sz="700" b="1" u="sng" dirty="0" err="1">
                <a:latin typeface="Gulim" panose="020B0600000101010101" pitchFamily="34" charset="-127"/>
                <a:ea typeface="Gulim" panose="020B0600000101010101" pitchFamily="34" charset="-127"/>
              </a:rPr>
              <a:t>Kolkatka</a:t>
            </a:r>
            <a:r>
              <a:rPr kumimoji="1" lang="en-US" altLang="ko-Kore-KR" sz="700" b="1" u="sng" dirty="0">
                <a:latin typeface="Gulim" panose="020B0600000101010101" pitchFamily="34" charset="-127"/>
                <a:ea typeface="Gulim" panose="020B0600000101010101" pitchFamily="34" charset="-127"/>
              </a:rPr>
              <a:t> Establish with KTM</a:t>
            </a:r>
            <a:endParaRPr kumimoji="1" lang="en-US" altLang="ko-Kore-KR" sz="700" b="1" u="sng" dirty="0">
              <a:solidFill>
                <a:srgbClr val="FFC00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FE54DE9-7095-CCC5-80FB-91179A866955}"/>
              </a:ext>
            </a:extLst>
          </p:cNvPr>
          <p:cNvGraphicFramePr/>
          <p:nvPr>
            <p:extLst>
              <p:ext uri="{D42A27DB-BD31-4B8C-83A1-F6EECF244321}">
                <p14:modId xmlns:p14="http://schemas.microsoft.com/office/powerpoint/2010/main" val="3979693881"/>
              </p:ext>
            </p:extLst>
          </p:nvPr>
        </p:nvGraphicFramePr>
        <p:xfrm>
          <a:off x="-6570" y="4016888"/>
          <a:ext cx="2335434" cy="1553418"/>
        </p:xfrm>
        <a:graphic>
          <a:graphicData uri="http://schemas.openxmlformats.org/drawingml/2006/table">
            <a:tbl>
              <a:tblPr firstRow="1" bandRow="1">
                <a:noFill/>
                <a:tableStyleId>{A521BE36-7E6F-4EC9-8D66-1CF97A6895EC}</a:tableStyleId>
              </a:tblPr>
              <a:tblGrid>
                <a:gridCol w="360131">
                  <a:extLst>
                    <a:ext uri="{9D8B030D-6E8A-4147-A177-3AD203B41FA5}">
                      <a16:colId xmlns:a16="http://schemas.microsoft.com/office/drawing/2014/main" val="20000"/>
                    </a:ext>
                  </a:extLst>
                </a:gridCol>
                <a:gridCol w="617580">
                  <a:extLst>
                    <a:ext uri="{9D8B030D-6E8A-4147-A177-3AD203B41FA5}">
                      <a16:colId xmlns:a16="http://schemas.microsoft.com/office/drawing/2014/main" val="20001"/>
                    </a:ext>
                  </a:extLst>
                </a:gridCol>
                <a:gridCol w="244368">
                  <a:extLst>
                    <a:ext uri="{9D8B030D-6E8A-4147-A177-3AD203B41FA5}">
                      <a16:colId xmlns:a16="http://schemas.microsoft.com/office/drawing/2014/main" val="20002"/>
                    </a:ext>
                  </a:extLst>
                </a:gridCol>
                <a:gridCol w="202096">
                  <a:extLst>
                    <a:ext uri="{9D8B030D-6E8A-4147-A177-3AD203B41FA5}">
                      <a16:colId xmlns:a16="http://schemas.microsoft.com/office/drawing/2014/main" val="4076744984"/>
                    </a:ext>
                  </a:extLst>
                </a:gridCol>
                <a:gridCol w="911259">
                  <a:extLst>
                    <a:ext uri="{9D8B030D-6E8A-4147-A177-3AD203B41FA5}">
                      <a16:colId xmlns:a16="http://schemas.microsoft.com/office/drawing/2014/main" val="20003"/>
                    </a:ext>
                  </a:extLst>
                </a:gridCol>
              </a:tblGrid>
              <a:tr h="277959">
                <a:tc gridSpan="5">
                  <a:txBody>
                    <a:bodyPr/>
                    <a:lstStyle/>
                    <a:p>
                      <a:pPr marL="0" marR="0" lvl="0" indent="0" algn="ctr" rtl="0">
                        <a:spcBef>
                          <a:spcPts val="0"/>
                        </a:spcBef>
                        <a:spcAft>
                          <a:spcPts val="0"/>
                        </a:spcAft>
                        <a:buNone/>
                      </a:pPr>
                      <a:r>
                        <a:rPr lang="en-US" sz="800" dirty="0"/>
                        <a:t>KTM</a:t>
                      </a:r>
                      <a:r>
                        <a:rPr lang="en-US" sz="800" dirty="0">
                          <a:solidFill>
                            <a:srgbClr val="00B0F0"/>
                          </a:solidFill>
                        </a:rPr>
                        <a:t>[022/202]</a:t>
                      </a:r>
                      <a:r>
                        <a:rPr lang="en-US" sz="800" dirty="0"/>
                        <a:t> UTC+5:45 TL 150 </a:t>
                      </a:r>
                      <a:r>
                        <a:rPr lang="en-US" sz="700" dirty="0">
                          <a:solidFill>
                            <a:srgbClr val="92D050"/>
                          </a:solidFill>
                        </a:rPr>
                        <a:t>Curfew 1915-0015Z</a:t>
                      </a:r>
                    </a:p>
                    <a:p>
                      <a:pPr marL="0" marR="0" lvl="0" indent="0" algn="ctr" rtl="0">
                        <a:spcBef>
                          <a:spcPts val="0"/>
                        </a:spcBef>
                        <a:spcAft>
                          <a:spcPts val="0"/>
                        </a:spcAft>
                        <a:buNone/>
                      </a:pPr>
                      <a:r>
                        <a:rPr lang="en-US" sz="800" dirty="0">
                          <a:solidFill>
                            <a:srgbClr val="FFC000"/>
                          </a:solidFill>
                        </a:rPr>
                        <a:t>Night : Only RNP Z 02(AR) Comm Policy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60762">
                <a:tc>
                  <a:txBody>
                    <a:bodyPr/>
                    <a:lstStyle/>
                    <a:p>
                      <a:pPr marL="0" marR="0" lvl="0" indent="0" algn="ctr" rtl="0">
                        <a:spcBef>
                          <a:spcPts val="0"/>
                        </a:spcBef>
                        <a:spcAft>
                          <a:spcPts val="0"/>
                        </a:spcAft>
                        <a:buNone/>
                      </a:pPr>
                      <a:r>
                        <a:rPr lang="en-US" sz="800" b="1" dirty="0">
                          <a:solidFill>
                            <a:srgbClr val="0070C0"/>
                          </a:solidFill>
                        </a:rPr>
                        <a:t>02</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ROMEO x R </a:t>
                      </a:r>
                    </a:p>
                  </a:txBody>
                  <a:tcPr marL="36000" marR="36000" marT="36000" marB="36000" anchor="ctr"/>
                </a:tc>
                <a:tc gridSpan="2">
                  <a:txBody>
                    <a:bodyPr/>
                    <a:lstStyle/>
                    <a:p>
                      <a:pPr marL="0" marR="0" lvl="0" indent="0" algn="ctr" rtl="0">
                        <a:spcBef>
                          <a:spcPts val="0"/>
                        </a:spcBef>
                        <a:spcAft>
                          <a:spcPts val="0"/>
                        </a:spcAft>
                        <a:buNone/>
                      </a:pPr>
                      <a:r>
                        <a:rPr lang="en-US" sz="800" b="1" dirty="0"/>
                        <a:t>RATAN</a:t>
                      </a:r>
                      <a:endParaRPr sz="800" b="1"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RNP Z 02 </a:t>
                      </a:r>
                      <a:r>
                        <a:rPr lang="en-US" sz="800" b="0" dirty="0"/>
                        <a:t>/ VOR 02</a:t>
                      </a:r>
                    </a:p>
                    <a:p>
                      <a:pPr marL="0" marR="0" lvl="0" indent="0" algn="ctr" rtl="0">
                        <a:spcBef>
                          <a:spcPts val="0"/>
                        </a:spcBef>
                        <a:spcAft>
                          <a:spcPts val="0"/>
                        </a:spcAft>
                        <a:buNone/>
                      </a:pPr>
                      <a:r>
                        <a:rPr lang="en-US" sz="800" b="1" dirty="0">
                          <a:solidFill>
                            <a:srgbClr val="7030A0"/>
                          </a:solidFill>
                        </a:rPr>
                        <a:t>KT530/D9.0 (</a:t>
                      </a:r>
                      <a:r>
                        <a:rPr lang="en-US" sz="800" b="1" dirty="0" err="1">
                          <a:solidFill>
                            <a:srgbClr val="7030A0"/>
                          </a:solidFill>
                        </a:rPr>
                        <a:t>Vapp</a:t>
                      </a:r>
                      <a:r>
                        <a:rPr lang="en-US" sz="800" b="1" dirty="0">
                          <a:solidFill>
                            <a:srgbClr val="7030A0"/>
                          </a:solidFill>
                        </a:rPr>
                        <a:t>)</a:t>
                      </a:r>
                    </a:p>
                  </a:txBody>
                  <a:tcPr marL="36000" marR="36000" marT="36000" marB="36000" anchor="ctr"/>
                </a:tc>
                <a:extLst>
                  <a:ext uri="{0D108BD9-81ED-4DB2-BD59-A6C34878D82A}">
                    <a16:rowId xmlns:a16="http://schemas.microsoft.com/office/drawing/2014/main" val="10001"/>
                  </a:ext>
                </a:extLst>
              </a:tr>
              <a:tr h="16076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7030A0"/>
                          </a:solidFill>
                        </a:rPr>
                        <a:t> Set KTM 105&amp;288 </a:t>
                      </a:r>
                      <a:endParaRPr sz="800" b="0" dirty="0">
                        <a:solidFill>
                          <a:srgbClr val="7030A0"/>
                        </a:solidFill>
                      </a:endParaRP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solidFill>
                            <a:schemeClr val="lt1"/>
                          </a:solidFill>
                        </a:rPr>
                        <a:t>FIX</a:t>
                      </a:r>
                    </a:p>
                  </a:txBody>
                  <a:tcPr marL="36000" marR="36000" marT="36000" marB="36000" anchor="ctr">
                    <a:solidFill>
                      <a:schemeClr val="accent1"/>
                    </a:solidFill>
                  </a:tcPr>
                </a:tc>
                <a:tc>
                  <a:txBody>
                    <a:bodyPr/>
                    <a:lstStyle/>
                    <a:p>
                      <a:r>
                        <a:rPr lang="en-US" altLang="ko-Kore-KR" sz="800" b="1" dirty="0">
                          <a:solidFill>
                            <a:srgbClr val="7030A0"/>
                          </a:solidFill>
                        </a:rPr>
                        <a:t>Set KTM </a:t>
                      </a:r>
                      <a:r>
                        <a:rPr lang="en-US" altLang="ko-KR" sz="800" b="1" dirty="0">
                          <a:solidFill>
                            <a:srgbClr val="7030A0"/>
                          </a:solidFill>
                        </a:rPr>
                        <a:t>/4, DANFE</a:t>
                      </a:r>
                      <a:endParaRPr lang="ko-Kore-KR" dirty="0"/>
                    </a:p>
                  </a:txBody>
                  <a:tcPr marL="36000" marR="36000" marT="36000" marB="36000" anchor="ctr"/>
                </a:tc>
                <a:extLst>
                  <a:ext uri="{0D108BD9-81ED-4DB2-BD59-A6C34878D82A}">
                    <a16:rowId xmlns:a16="http://schemas.microsoft.com/office/drawing/2014/main" val="10004"/>
                  </a:ext>
                </a:extLst>
              </a:tr>
              <a:tr h="26183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02 : </a:t>
                      </a:r>
                      <a:r>
                        <a:rPr lang="en-US" sz="800" b="1" dirty="0">
                          <a:solidFill>
                            <a:srgbClr val="0070C0"/>
                          </a:solidFill>
                        </a:rPr>
                        <a:t>B(6814’)</a:t>
                      </a:r>
                      <a:r>
                        <a:rPr lang="en-US" sz="800" b="1" dirty="0">
                          <a:solidFill>
                            <a:schemeClr val="dk1"/>
                          </a:solidFill>
                        </a:rPr>
                        <a:t>, A(8395’), 20 : </a:t>
                      </a:r>
                      <a:r>
                        <a:rPr lang="en-US" sz="800" b="1" dirty="0">
                          <a:solidFill>
                            <a:srgbClr val="0070C0"/>
                          </a:solidFill>
                        </a:rPr>
                        <a:t>E(6387’, 90º)</a:t>
                      </a:r>
                      <a:r>
                        <a:rPr lang="en-US" sz="800" b="1" dirty="0">
                          <a:solidFill>
                            <a:schemeClr val="dk1"/>
                          </a:solidFill>
                        </a:rPr>
                        <a:t>, 180 Back</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High FE + Upslope = 50’ Flare (No 40’, 30’)</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Ramp Slippery NOT Rel Brake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0070C0"/>
                          </a:solidFill>
                        </a:rPr>
                        <a:t>RNP 02(AR) Procedure Next Page =&gt;</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26199551"/>
                  </a:ext>
                </a:extLst>
              </a:tr>
            </a:tbl>
          </a:graphicData>
        </a:graphic>
      </p:graphicFrame>
      <p:graphicFrame>
        <p:nvGraphicFramePr>
          <p:cNvPr id="293" name="Google Shape;293;p18">
            <a:extLst>
              <a:ext uri="{FF2B5EF4-FFF2-40B4-BE49-F238E27FC236}">
                <a16:creationId xmlns:a16="http://schemas.microsoft.com/office/drawing/2014/main" id="{A5543E64-B69C-87E1-DE5A-D5FA9BD4866F}"/>
              </a:ext>
            </a:extLst>
          </p:cNvPr>
          <p:cNvGraphicFramePr/>
          <p:nvPr>
            <p:extLst>
              <p:ext uri="{D42A27DB-BD31-4B8C-83A1-F6EECF244321}">
                <p14:modId xmlns:p14="http://schemas.microsoft.com/office/powerpoint/2010/main" val="3810605760"/>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rgbClr val="C00000"/>
                          </a:solidFill>
                          <a:hlinkClick r:id="rId4">
                            <a:extLst>
                              <a:ext uri="{A12FA001-AC4F-418D-AE19-62706E023703}">
                                <ahyp:hlinkClr xmlns:ahyp="http://schemas.microsoft.com/office/drawing/2018/hyperlinkcolor" val="tx"/>
                              </a:ext>
                            </a:extLst>
                          </a:hlinkClick>
                        </a:rPr>
                        <a:t>VNKT(KTM</a:t>
                      </a:r>
                      <a:r>
                        <a:rPr lang="en-US" altLang="ko-KR" sz="1200" dirty="0">
                          <a:solidFill>
                            <a:srgbClr val="C00000"/>
                          </a:solidFill>
                          <a:hlinkClick r:id="rId4">
                            <a:extLst>
                              <a:ext uri="{A12FA001-AC4F-418D-AE19-62706E023703}">
                                <ahyp:hlinkClr xmlns:ahyp="http://schemas.microsoft.com/office/drawing/2018/hyperlinkcolor" val="tx"/>
                              </a:ext>
                            </a:extLst>
                          </a:hlinkClick>
                        </a:rPr>
                        <a:t>)4395ft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800" dirty="0"/>
                        <a:t>Nepal Airline Corp. 131.6 </a:t>
                      </a:r>
                      <a:r>
                        <a:rPr lang="en-US" sz="800" b="1" dirty="0">
                          <a:solidFill>
                            <a:srgbClr val="C00000"/>
                          </a:solidFill>
                        </a:rPr>
                        <a:t>No DATIS</a:t>
                      </a:r>
                      <a:endParaRPr lang="en-US" sz="900" b="1"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3B8597B3-D353-FA18-F792-666B4204C212}"/>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91D71E8A-4C6B-8C4A-917C-A356E679CD8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28746"/>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0C17837-0B12-6BC4-C4CC-7EC734B38309}"/>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4519766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B5D8D918-D757-C0E4-5E8A-9DD899E8F356}"/>
            </a:ext>
          </a:extLst>
        </p:cNvPr>
        <p:cNvGrpSpPr/>
        <p:nvPr/>
      </p:nvGrpSpPr>
      <p:grpSpPr>
        <a:xfrm>
          <a:off x="0" y="0"/>
          <a:ext cx="0" cy="0"/>
          <a:chOff x="0" y="0"/>
          <a:chExt cx="0" cy="0"/>
        </a:xfrm>
      </p:grpSpPr>
      <p:pic>
        <p:nvPicPr>
          <p:cNvPr id="17" name="그림 16" descr="텍스트, 스크린샷, 원, 도표이(가) 표시된 사진&#10;&#10;자동 생성된 설명">
            <a:extLst>
              <a:ext uri="{FF2B5EF4-FFF2-40B4-BE49-F238E27FC236}">
                <a16:creationId xmlns:a16="http://schemas.microsoft.com/office/drawing/2014/main" id="{D38D985D-A3CF-2D21-EC39-1DE751FEF108}"/>
              </a:ext>
            </a:extLst>
          </p:cNvPr>
          <p:cNvPicPr>
            <a:picLocks noChangeAspect="1"/>
          </p:cNvPicPr>
          <p:nvPr/>
        </p:nvPicPr>
        <p:blipFill>
          <a:blip r:embed="rId3"/>
          <a:stretch>
            <a:fillRect/>
          </a:stretch>
        </p:blipFill>
        <p:spPr>
          <a:xfrm>
            <a:off x="0" y="1797304"/>
            <a:ext cx="2328863" cy="2132784"/>
          </a:xfrm>
          <a:prstGeom prst="rect">
            <a:avLst/>
          </a:prstGeom>
        </p:spPr>
      </p:pic>
      <p:grpSp>
        <p:nvGrpSpPr>
          <p:cNvPr id="13" name="그룹 12">
            <a:extLst>
              <a:ext uri="{FF2B5EF4-FFF2-40B4-BE49-F238E27FC236}">
                <a16:creationId xmlns:a16="http://schemas.microsoft.com/office/drawing/2014/main" id="{66A0AB6C-8FF2-0228-D79F-205F1C6F018D}"/>
              </a:ext>
            </a:extLst>
          </p:cNvPr>
          <p:cNvGrpSpPr/>
          <p:nvPr/>
        </p:nvGrpSpPr>
        <p:grpSpPr>
          <a:xfrm>
            <a:off x="-4129" y="-5376"/>
            <a:ext cx="2328863" cy="2094945"/>
            <a:chOff x="-4129" y="443195"/>
            <a:chExt cx="2328863" cy="2094945"/>
          </a:xfrm>
        </p:grpSpPr>
        <p:pic>
          <p:nvPicPr>
            <p:cNvPr id="6" name="그림 5" descr="텍스트, 스크린샷, 도표, 폰트이(가) 표시된 사진&#10;&#10;자동 생성된 설명">
              <a:extLst>
                <a:ext uri="{FF2B5EF4-FFF2-40B4-BE49-F238E27FC236}">
                  <a16:creationId xmlns:a16="http://schemas.microsoft.com/office/drawing/2014/main" id="{FE2DDF6E-55D7-0FCF-EF51-F6E24777FB4D}"/>
                </a:ext>
              </a:extLst>
            </p:cNvPr>
            <p:cNvPicPr>
              <a:picLocks noChangeAspect="1"/>
            </p:cNvPicPr>
            <p:nvPr/>
          </p:nvPicPr>
          <p:blipFill>
            <a:blip r:embed="rId4"/>
            <a:stretch>
              <a:fillRect/>
            </a:stretch>
          </p:blipFill>
          <p:spPr>
            <a:xfrm>
              <a:off x="-4129" y="443195"/>
              <a:ext cx="2328863" cy="2094945"/>
            </a:xfrm>
            <a:prstGeom prst="rect">
              <a:avLst/>
            </a:prstGeom>
          </p:spPr>
        </p:pic>
        <p:sp>
          <p:nvSpPr>
            <p:cNvPr id="7" name="사각형 설명선[R] 6">
              <a:extLst>
                <a:ext uri="{FF2B5EF4-FFF2-40B4-BE49-F238E27FC236}">
                  <a16:creationId xmlns:a16="http://schemas.microsoft.com/office/drawing/2014/main" id="{7EBD4023-1455-72DB-5AA5-E0BD3BBA03B2}"/>
                </a:ext>
              </a:extLst>
            </p:cNvPr>
            <p:cNvSpPr/>
            <p:nvPr/>
          </p:nvSpPr>
          <p:spPr>
            <a:xfrm>
              <a:off x="1305624" y="2109949"/>
              <a:ext cx="376527" cy="155275"/>
            </a:xfrm>
            <a:prstGeom prst="wedgeRectCallout">
              <a:avLst>
                <a:gd name="adj1" fmla="val -80198"/>
                <a:gd name="adj2" fmla="val 1527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ko-Kore-KR" sz="500" b="1" dirty="0">
                  <a:latin typeface="+mn-ea"/>
                </a:rPr>
                <a:t>Flap 1</a:t>
              </a:r>
              <a:endParaRPr kumimoji="1" lang="ko-Kore-KR" altLang="en-US" sz="500" b="1" dirty="0">
                <a:latin typeface="+mn-ea"/>
              </a:endParaRPr>
            </a:p>
          </p:txBody>
        </p:sp>
        <p:sp>
          <p:nvSpPr>
            <p:cNvPr id="10" name="사각형 설명선[R] 9">
              <a:extLst>
                <a:ext uri="{FF2B5EF4-FFF2-40B4-BE49-F238E27FC236}">
                  <a16:creationId xmlns:a16="http://schemas.microsoft.com/office/drawing/2014/main" id="{11BB98E8-8AEA-0890-0741-5FCFB40F3640}"/>
                </a:ext>
              </a:extLst>
            </p:cNvPr>
            <p:cNvSpPr/>
            <p:nvPr/>
          </p:nvSpPr>
          <p:spPr>
            <a:xfrm>
              <a:off x="73379" y="1729336"/>
              <a:ext cx="713293" cy="380613"/>
            </a:xfrm>
            <a:prstGeom prst="wedgeRectCallout">
              <a:avLst>
                <a:gd name="adj1" fmla="val 54902"/>
                <a:gd name="adj2" fmla="val 13552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Both ALT within 100ft</a:t>
              </a:r>
            </a:p>
            <a:p>
              <a:pPr algn="ctr"/>
              <a:r>
                <a:rPr kumimoji="1" lang="en-US" altLang="ko-Kore-KR" sz="500" b="1" dirty="0">
                  <a:latin typeface="+mn-ea"/>
                </a:rPr>
                <a:t>TERR ND </a:t>
              </a:r>
              <a:r>
                <a:rPr kumimoji="1" lang="en-US" altLang="ko-KR" sz="500" b="1" dirty="0">
                  <a:latin typeface="+mn-ea"/>
                </a:rPr>
                <a:t>10NM</a:t>
              </a:r>
              <a:endParaRPr kumimoji="1" lang="en-US" altLang="ko-Kore-KR" sz="500" b="1" dirty="0">
                <a:latin typeface="+mn-ea"/>
              </a:endParaRPr>
            </a:p>
            <a:p>
              <a:pPr algn="ctr"/>
              <a:r>
                <a:rPr kumimoji="1" lang="en-US" altLang="ko-Kore-KR" sz="500" b="1" dirty="0">
                  <a:latin typeface="+mn-ea"/>
                </a:rPr>
                <a:t>PF-F PLN / PM</a:t>
              </a:r>
              <a:r>
                <a:rPr kumimoji="1" lang="en-US" altLang="ko-KR" sz="500" b="1" dirty="0">
                  <a:latin typeface="+mn-ea"/>
                </a:rPr>
                <a:t>-</a:t>
              </a:r>
              <a:r>
                <a:rPr kumimoji="1" lang="en-US" altLang="ko-Kore-KR" sz="500" b="1" dirty="0">
                  <a:latin typeface="+mn-ea"/>
                </a:rPr>
                <a:t>PROG</a:t>
              </a:r>
            </a:p>
            <a:p>
              <a:pPr algn="ctr"/>
              <a:r>
                <a:rPr kumimoji="1" lang="en-US" altLang="ko-Kore-KR" sz="500" b="1" dirty="0">
                  <a:latin typeface="+mn-ea"/>
                </a:rPr>
                <a:t>RNP 0.3NM PROG</a:t>
              </a:r>
              <a:endParaRPr kumimoji="1" lang="ko-Kore-KR" altLang="en-US" sz="500" b="1" dirty="0">
                <a:latin typeface="+mn-ea"/>
              </a:endParaRPr>
            </a:p>
          </p:txBody>
        </p:sp>
        <p:sp>
          <p:nvSpPr>
            <p:cNvPr id="11" name="사각형 설명선[R] 10">
              <a:extLst>
                <a:ext uri="{FF2B5EF4-FFF2-40B4-BE49-F238E27FC236}">
                  <a16:creationId xmlns:a16="http://schemas.microsoft.com/office/drawing/2014/main" id="{5139A124-940F-FBD9-706B-A8285B35E684}"/>
                </a:ext>
              </a:extLst>
            </p:cNvPr>
            <p:cNvSpPr/>
            <p:nvPr/>
          </p:nvSpPr>
          <p:spPr>
            <a:xfrm>
              <a:off x="1360152" y="1484042"/>
              <a:ext cx="713293" cy="380613"/>
            </a:xfrm>
            <a:prstGeom prst="wedgeRectCallout">
              <a:avLst>
                <a:gd name="adj1" fmla="val -68454"/>
                <a:gd name="adj2" fmla="val 3353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FINAL APP </a:t>
              </a:r>
            </a:p>
            <a:p>
              <a:pPr algn="ctr"/>
              <a:r>
                <a:rPr kumimoji="1" lang="en-US" altLang="ko-Kore-KR" sz="500" b="1" dirty="0">
                  <a:latin typeface="+mn-ea"/>
                </a:rPr>
                <a:t>GA ALT 10500’ set</a:t>
              </a:r>
              <a:endParaRPr kumimoji="1" lang="ko-Kore-KR" altLang="en-US" sz="500" b="1" dirty="0">
                <a:latin typeface="+mn-ea"/>
              </a:endParaRPr>
            </a:p>
          </p:txBody>
        </p:sp>
        <p:sp>
          <p:nvSpPr>
            <p:cNvPr id="12" name="사각형 설명선[R] 11">
              <a:extLst>
                <a:ext uri="{FF2B5EF4-FFF2-40B4-BE49-F238E27FC236}">
                  <a16:creationId xmlns:a16="http://schemas.microsoft.com/office/drawing/2014/main" id="{C71D5ADA-4460-8D41-1BFE-004BD0547E03}"/>
                </a:ext>
              </a:extLst>
            </p:cNvPr>
            <p:cNvSpPr/>
            <p:nvPr/>
          </p:nvSpPr>
          <p:spPr>
            <a:xfrm>
              <a:off x="147455" y="904591"/>
              <a:ext cx="713293" cy="380613"/>
            </a:xfrm>
            <a:prstGeom prst="wedgeRectCallout">
              <a:avLst>
                <a:gd name="adj1" fmla="val 62763"/>
                <a:gd name="adj2" fmla="val 13439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R" sz="500" b="1" dirty="0">
                  <a:latin typeface="+mn-ea"/>
                </a:rPr>
                <a:t>Must </a:t>
              </a:r>
              <a:r>
                <a:rPr kumimoji="1" lang="en-US" altLang="ko-Kore-KR" sz="500" b="1" dirty="0">
                  <a:latin typeface="+mn-ea"/>
                </a:rPr>
                <a:t>GA </a:t>
              </a:r>
            </a:p>
            <a:p>
              <a:pPr algn="ctr"/>
              <a:r>
                <a:rPr kumimoji="1" lang="en-US" altLang="ko-KR" sz="500" b="1" dirty="0">
                  <a:latin typeface="+mn-ea"/>
                </a:rPr>
                <a:t>- </a:t>
              </a:r>
              <a:r>
                <a:rPr kumimoji="1" lang="en-US" altLang="ko-Kore-KR" sz="500" b="1" dirty="0">
                  <a:latin typeface="+mn-ea"/>
                </a:rPr>
                <a:t>V/DEV 75ft</a:t>
              </a:r>
            </a:p>
            <a:p>
              <a:pPr algn="ctr"/>
              <a:r>
                <a:rPr kumimoji="1" lang="en-US" altLang="ko-KR" sz="500" b="1" dirty="0">
                  <a:latin typeface="+mn-ea"/>
                </a:rPr>
                <a:t>- </a:t>
              </a:r>
              <a:r>
                <a:rPr kumimoji="1" lang="en-US" altLang="ko-Kore-KR" sz="500" b="1" dirty="0">
                  <a:latin typeface="+mn-ea"/>
                </a:rPr>
                <a:t>D/DEV</a:t>
              </a:r>
              <a:r>
                <a:rPr kumimoji="1" lang="ko-Kore-KR" altLang="en-US" sz="500" b="1" dirty="0">
                  <a:latin typeface="+mn-ea"/>
                </a:rPr>
                <a:t> </a:t>
              </a:r>
              <a:r>
                <a:rPr kumimoji="1" lang="en-US" altLang="ko-Kore-KR" sz="500" b="1" dirty="0">
                  <a:latin typeface="+mn-ea"/>
                </a:rPr>
                <a:t>0</a:t>
              </a:r>
              <a:r>
                <a:rPr kumimoji="1" lang="en-US" altLang="ko-KR" sz="500" b="1" dirty="0">
                  <a:latin typeface="+mn-ea"/>
                </a:rPr>
                <a:t>.3NM</a:t>
              </a:r>
            </a:p>
            <a:p>
              <a:pPr algn="ctr"/>
              <a:r>
                <a:rPr kumimoji="1" lang="en-US" altLang="ko-KR" sz="500" b="1" dirty="0">
                  <a:latin typeface="+mn-ea"/>
                </a:rPr>
                <a:t>- SYS Malfunction</a:t>
              </a:r>
              <a:endParaRPr kumimoji="1" lang="ko-Kore-KR" altLang="en-US" sz="500" b="1" dirty="0">
                <a:latin typeface="+mn-ea"/>
              </a:endParaRPr>
            </a:p>
          </p:txBody>
        </p:sp>
      </p:grpSp>
      <p:graphicFrame>
        <p:nvGraphicFramePr>
          <p:cNvPr id="145" name="Google Shape;138;p4">
            <a:extLst>
              <a:ext uri="{FF2B5EF4-FFF2-40B4-BE49-F238E27FC236}">
                <a16:creationId xmlns:a16="http://schemas.microsoft.com/office/drawing/2014/main" id="{4DC62EE1-445D-DD0C-F803-22F1A01AA5ED}"/>
              </a:ext>
            </a:extLst>
          </p:cNvPr>
          <p:cNvGraphicFramePr/>
          <p:nvPr>
            <p:extLst>
              <p:ext uri="{D42A27DB-BD31-4B8C-83A1-F6EECF244321}">
                <p14:modId xmlns:p14="http://schemas.microsoft.com/office/powerpoint/2010/main" val="3849082299"/>
              </p:ext>
            </p:extLst>
          </p:nvPr>
        </p:nvGraphicFramePr>
        <p:xfrm>
          <a:off x="-4122" y="3917622"/>
          <a:ext cx="2328850" cy="165960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73626">
                <a:tc>
                  <a:txBody>
                    <a:bodyPr/>
                    <a:lstStyle/>
                    <a:p>
                      <a:pPr marL="0" marR="0" lvl="0" indent="0" algn="ctr" rtl="0">
                        <a:spcBef>
                          <a:spcPts val="0"/>
                        </a:spcBef>
                        <a:spcAft>
                          <a:spcPts val="0"/>
                        </a:spcAft>
                        <a:buNone/>
                      </a:pPr>
                      <a:r>
                        <a:rPr lang="en-US" sz="1000" dirty="0"/>
                        <a:t>SYS Fail / GA </a:t>
                      </a:r>
                      <a:r>
                        <a:rPr lang="en-US" sz="1000" dirty="0">
                          <a:solidFill>
                            <a:srgbClr val="FFC000"/>
                          </a:solidFill>
                        </a:rPr>
                        <a:t>(Dual-GA, Single-GA or CONT)</a:t>
                      </a:r>
                    </a:p>
                  </a:txBody>
                  <a:tcPr marL="36000" marR="36000" marT="36000" marB="36000" anchor="ctr"/>
                </a:tc>
                <a:extLst>
                  <a:ext uri="{0D108BD9-81ED-4DB2-BD59-A6C34878D82A}">
                    <a16:rowId xmlns:a16="http://schemas.microsoft.com/office/drawing/2014/main" val="10000"/>
                  </a:ext>
                </a:extLst>
              </a:tr>
              <a:tr h="244377">
                <a:tc>
                  <a:txBody>
                    <a:bodyPr/>
                    <a:lstStyle/>
                    <a:p>
                      <a:pPr marL="0" marR="0" lvl="0" indent="0" algn="l" rtl="0">
                        <a:spcBef>
                          <a:spcPts val="0"/>
                        </a:spcBef>
                        <a:spcAft>
                          <a:spcPts val="0"/>
                        </a:spcAft>
                        <a:buNone/>
                      </a:pPr>
                      <a:r>
                        <a:rPr lang="en-US" altLang="ko-KR" sz="800" b="1" dirty="0"/>
                        <a:t>if Follow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 up – Req DANFE</a:t>
                      </a:r>
                    </a:p>
                  </a:txBody>
                  <a:tcPr marL="36000" marR="36000" marT="36000" marB="36000" anchor="ctr"/>
                </a:tc>
                <a:extLst>
                  <a:ext uri="{0D108BD9-81ED-4DB2-BD59-A6C34878D82A}">
                    <a16:rowId xmlns:a16="http://schemas.microsoft.com/office/drawing/2014/main" val="10001"/>
                  </a:ext>
                </a:extLst>
              </a:tr>
              <a:tr h="52737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b="1" dirty="0"/>
                        <a:t>Dual FMGC (NO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Man GA, 15</a:t>
                      </a:r>
                      <a:r>
                        <a:rPr lang="en-US" altLang="ko-Kore-KR" sz="800" b="0" dirty="0">
                          <a:solidFill>
                            <a:schemeClr val="bg1"/>
                          </a:solidFill>
                        </a:rPr>
                        <a:t>º, 10-20kts ADD </a:t>
                      </a:r>
                      <a:r>
                        <a:rPr lang="en-US" altLang="ko-Kore-KR" sz="800" b="1" dirty="0">
                          <a:solidFill>
                            <a:srgbClr val="0070C0"/>
                          </a:solidFill>
                        </a:rPr>
                        <a:t>(At RW02 R/H Turn)</a:t>
                      </a:r>
                    </a:p>
                    <a:p>
                      <a:pPr marL="0" marR="0" lvl="0" indent="0" algn="l" rtl="0">
                        <a:spcBef>
                          <a:spcPts val="0"/>
                        </a:spcBef>
                        <a:spcAft>
                          <a:spcPts val="0"/>
                        </a:spcAft>
                        <a:buNone/>
                      </a:pPr>
                      <a:r>
                        <a:rPr lang="en-US" altLang="ko-KR" sz="800" b="0" dirty="0">
                          <a:solidFill>
                            <a:schemeClr val="bg1"/>
                          </a:solidFill>
                        </a:rPr>
                        <a:t>- PM </a:t>
                      </a:r>
                      <a:r>
                        <a:rPr lang="en-US" altLang="ko-KR" sz="800" b="1" dirty="0">
                          <a:solidFill>
                            <a:srgbClr val="0070C0"/>
                          </a:solidFill>
                        </a:rPr>
                        <a:t>NAV B/UP </a:t>
                      </a:r>
                      <a:r>
                        <a:rPr lang="en-US" altLang="ko-KR" sz="800" b="0" dirty="0">
                          <a:solidFill>
                            <a:schemeClr val="bg1"/>
                          </a:solidFill>
                        </a:rPr>
                        <a:t>both </a:t>
                      </a:r>
                      <a:r>
                        <a:rPr lang="en-US" altLang="ko-KR" sz="800" b="1" dirty="0">
                          <a:solidFill>
                            <a:srgbClr val="0070C0"/>
                          </a:solidFill>
                        </a:rPr>
                        <a:t>MCDU Menu </a:t>
                      </a:r>
                      <a:r>
                        <a:rPr lang="en-US" altLang="ko-KR" sz="800" b="0" dirty="0">
                          <a:solidFill>
                            <a:schemeClr val="bg1"/>
                          </a:solidFill>
                        </a:rPr>
                        <a:t>– TRK/FRA – Follow TRK (A/P ON) - </a:t>
                      </a:r>
                      <a:r>
                        <a:rPr lang="en-US" altLang="ko-KR" sz="800" b="0" dirty="0">
                          <a:solidFill>
                            <a:srgbClr val="F28943"/>
                          </a:solidFill>
                        </a:rPr>
                        <a:t>if No GA RTE Follow VOR GA Procedure</a:t>
                      </a:r>
                      <a:r>
                        <a:rPr lang="en-US" altLang="ko-KR" sz="800" b="0" dirty="0">
                          <a:solidFill>
                            <a:schemeClr val="bg1"/>
                          </a:solidFill>
                        </a:rPr>
                        <a:t> </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Flaps-up – Req DANFE</a:t>
                      </a:r>
                    </a:p>
                  </a:txBody>
                  <a:tcPr marL="36000" marR="36000" marT="36000" marB="36000" anchor="ctr"/>
                </a:tc>
                <a:extLst>
                  <a:ext uri="{0D108BD9-81ED-4DB2-BD59-A6C34878D82A}">
                    <a16:rowId xmlns:a16="http://schemas.microsoft.com/office/drawing/2014/main" val="1896719678"/>
                  </a:ext>
                </a:extLst>
              </a:tr>
              <a:tr h="33871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dirty="0">
                          <a:solidFill>
                            <a:srgbClr val="0070C0"/>
                          </a:solidFill>
                        </a:rPr>
                        <a:t>VOR GA Procedure </a:t>
                      </a:r>
                      <a:r>
                        <a:rPr lang="en-US" altLang="ko-KR" sz="800" b="1" dirty="0">
                          <a:solidFill>
                            <a:srgbClr val="C00000"/>
                          </a:solidFill>
                        </a:rPr>
                        <a:t>(Acc HT 10500ft)</a:t>
                      </a:r>
                      <a:endParaRPr lang="en-US" altLang="ko-KR" sz="800" dirty="0"/>
                    </a:p>
                    <a:p>
                      <a:pPr marL="0" marR="0" lvl="0" indent="0" algn="l" rtl="0">
                        <a:spcBef>
                          <a:spcPts val="0"/>
                        </a:spcBef>
                        <a:spcAft>
                          <a:spcPts val="0"/>
                        </a:spcAft>
                        <a:buNone/>
                      </a:pPr>
                      <a:r>
                        <a:rPr lang="en-US" altLang="ko-KR" sz="800" dirty="0"/>
                        <a:t>At RW02 R/H Turn(Max 185kts) – 4 DME Arc(IN 5 DME)</a:t>
                      </a:r>
                    </a:p>
                    <a:p>
                      <a:pPr marL="0" marR="0" lvl="0" indent="0" algn="l" rtl="0">
                        <a:spcBef>
                          <a:spcPts val="0"/>
                        </a:spcBef>
                        <a:spcAft>
                          <a:spcPts val="0"/>
                        </a:spcAft>
                        <a:buNone/>
                      </a:pPr>
                      <a:r>
                        <a:rPr lang="en-US" altLang="ko-KR" sz="800" dirty="0"/>
                        <a:t>After RW02 Track 288 OUTBD Until Reach 10500ft</a:t>
                      </a:r>
                    </a:p>
                  </a:txBody>
                  <a:tcPr marL="36000" marR="36000" marT="36000" marB="36000" anchor="ctr"/>
                </a:tc>
                <a:extLst>
                  <a:ext uri="{0D108BD9-81ED-4DB2-BD59-A6C34878D82A}">
                    <a16:rowId xmlns:a16="http://schemas.microsoft.com/office/drawing/2014/main" val="950271664"/>
                  </a:ext>
                </a:extLst>
              </a:tr>
            </a:tbl>
          </a:graphicData>
        </a:graphic>
      </p:graphicFrame>
      <p:graphicFrame>
        <p:nvGraphicFramePr>
          <p:cNvPr id="138" name="Google Shape;138;p4">
            <a:extLst>
              <a:ext uri="{FF2B5EF4-FFF2-40B4-BE49-F238E27FC236}">
                <a16:creationId xmlns:a16="http://schemas.microsoft.com/office/drawing/2014/main" id="{65F5884E-F0F3-2BA4-9E72-216F2C242866}"/>
              </a:ext>
            </a:extLst>
          </p:cNvPr>
          <p:cNvGraphicFramePr/>
          <p:nvPr>
            <p:extLst>
              <p:ext uri="{D42A27DB-BD31-4B8C-83A1-F6EECF244321}">
                <p14:modId xmlns:p14="http://schemas.microsoft.com/office/powerpoint/2010/main" val="1479577861"/>
              </p:ext>
            </p:extLst>
          </p:nvPr>
        </p:nvGraphicFramePr>
        <p:xfrm>
          <a:off x="0" y="-1"/>
          <a:ext cx="2328850" cy="392503"/>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KTM RNP Z 02(AR)</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15286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Calibri"/>
                          <a:cs typeface="Calibri"/>
                        </a:rPr>
                        <a:t>Before TOD </a:t>
                      </a:r>
                      <a:r>
                        <a:rPr kumimoji="0" lang="en-US" altLang="ko-Kore-KR" sz="800" b="1" i="0" u="none" strike="noStrike" kern="1200" cap="none" spc="0" normalizeH="0" baseline="0" noProof="0" dirty="0">
                          <a:ln>
                            <a:noFill/>
                          </a:ln>
                          <a:solidFill>
                            <a:srgbClr val="0070C0"/>
                          </a:solidFill>
                          <a:effectLst/>
                          <a:uLnTx/>
                          <a:uFillTx/>
                          <a:latin typeface="Calibri"/>
                          <a:cs typeface="Calibri"/>
                        </a:rPr>
                        <a:t>: STATUS, Review VOR 02, Temp -10℃</a:t>
                      </a:r>
                    </a:p>
                  </a:txBody>
                  <a:tcPr marL="36000" marR="36000" marT="0" marB="0" anchor="ctr"/>
                </a:tc>
                <a:extLst>
                  <a:ext uri="{0D108BD9-81ED-4DB2-BD59-A6C34878D82A}">
                    <a16:rowId xmlns:a16="http://schemas.microsoft.com/office/drawing/2014/main" val="10001"/>
                  </a:ext>
                </a:extLst>
              </a:tr>
            </a:tbl>
          </a:graphicData>
        </a:graphic>
      </p:graphicFrame>
      <p:graphicFrame>
        <p:nvGraphicFramePr>
          <p:cNvPr id="15" name="Google Shape;138;p4">
            <a:extLst>
              <a:ext uri="{FF2B5EF4-FFF2-40B4-BE49-F238E27FC236}">
                <a16:creationId xmlns:a16="http://schemas.microsoft.com/office/drawing/2014/main" id="{C9999CB1-EC85-1233-88C7-FBD668618C56}"/>
              </a:ext>
            </a:extLst>
          </p:cNvPr>
          <p:cNvGraphicFramePr/>
          <p:nvPr>
            <p:extLst>
              <p:ext uri="{D42A27DB-BD31-4B8C-83A1-F6EECF244321}">
                <p14:modId xmlns:p14="http://schemas.microsoft.com/office/powerpoint/2010/main" val="4293150963"/>
              </p:ext>
            </p:extLst>
          </p:nvPr>
        </p:nvGraphicFramePr>
        <p:xfrm>
          <a:off x="8684" y="2101324"/>
          <a:ext cx="2328850" cy="361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233539">
                <a:tc>
                  <a:txBody>
                    <a:bodyPr/>
                    <a:lstStyle/>
                    <a:p>
                      <a:pPr marL="0" marR="0" lvl="0" indent="0" algn="ctr" rtl="0">
                        <a:spcBef>
                          <a:spcPts val="0"/>
                        </a:spcBef>
                        <a:spcAft>
                          <a:spcPts val="0"/>
                        </a:spcAft>
                        <a:buNone/>
                      </a:pPr>
                      <a:r>
                        <a:rPr lang="en-US" sz="1100" dirty="0"/>
                        <a:t>A330 KTM VOR 02</a:t>
                      </a:r>
                    </a:p>
                    <a:p>
                      <a:pPr marL="0" marR="0" lvl="0" indent="0" algn="ctr" rtl="0">
                        <a:spcBef>
                          <a:spcPts val="0"/>
                        </a:spcBef>
                        <a:spcAft>
                          <a:spcPts val="0"/>
                        </a:spcAft>
                        <a:buNone/>
                      </a:pPr>
                      <a:r>
                        <a:rPr lang="en-US" sz="800" dirty="0">
                          <a:solidFill>
                            <a:srgbClr val="FFC000"/>
                          </a:solidFill>
                        </a:rPr>
                        <a:t>Do not use FINAL APP</a:t>
                      </a:r>
                      <a:endParaRPr lang="en-US" sz="1100" dirty="0">
                        <a:solidFill>
                          <a:srgbClr val="FFC000"/>
                        </a:solidFill>
                      </a:endParaRPr>
                    </a:p>
                  </a:txBody>
                  <a:tcPr marL="90000" marR="91450" marT="36000" marB="36000" anchor="ctr"/>
                </a:tc>
                <a:extLst>
                  <a:ext uri="{0D108BD9-81ED-4DB2-BD59-A6C34878D82A}">
                    <a16:rowId xmlns:a16="http://schemas.microsoft.com/office/drawing/2014/main" val="10000"/>
                  </a:ext>
                </a:extLst>
              </a:tr>
            </a:tbl>
          </a:graphicData>
        </a:graphic>
      </p:graphicFrame>
      <p:sp>
        <p:nvSpPr>
          <p:cNvPr id="18" name="사각형 설명선[R] 17">
            <a:extLst>
              <a:ext uri="{FF2B5EF4-FFF2-40B4-BE49-F238E27FC236}">
                <a16:creationId xmlns:a16="http://schemas.microsoft.com/office/drawing/2014/main" id="{A55F9FAE-8F5A-B018-8BA9-5BB8BDBCD1AF}"/>
              </a:ext>
            </a:extLst>
          </p:cNvPr>
          <p:cNvSpPr/>
          <p:nvPr/>
        </p:nvSpPr>
        <p:spPr>
          <a:xfrm>
            <a:off x="1272396" y="3679166"/>
            <a:ext cx="345056" cy="142830"/>
          </a:xfrm>
          <a:prstGeom prst="wedgeRectCallout">
            <a:avLst>
              <a:gd name="adj1" fmla="val -108333"/>
              <a:gd name="adj2" fmla="val 6250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t>FLAP 1</a:t>
            </a:r>
            <a:endParaRPr kumimoji="1" lang="ko-Kore-KR" altLang="en-US" sz="500" b="1" dirty="0"/>
          </a:p>
        </p:txBody>
      </p:sp>
      <p:sp>
        <p:nvSpPr>
          <p:cNvPr id="20" name="사각형 설명선[R] 19">
            <a:extLst>
              <a:ext uri="{FF2B5EF4-FFF2-40B4-BE49-F238E27FC236}">
                <a16:creationId xmlns:a16="http://schemas.microsoft.com/office/drawing/2014/main" id="{E579EC1B-7300-7783-E610-4266AFB7B4F9}"/>
              </a:ext>
            </a:extLst>
          </p:cNvPr>
          <p:cNvSpPr/>
          <p:nvPr/>
        </p:nvSpPr>
        <p:spPr>
          <a:xfrm>
            <a:off x="288985" y="3221965"/>
            <a:ext cx="629728" cy="322341"/>
          </a:xfrm>
          <a:prstGeom prst="wedgeRectCallout">
            <a:avLst>
              <a:gd name="adj1" fmla="val 81188"/>
              <a:gd name="adj2" fmla="val 26861"/>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Before D9.0</a:t>
            </a:r>
          </a:p>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SPD </a:t>
            </a:r>
            <a:r>
              <a:rPr kumimoji="1" lang="en-US" altLang="ko-Kore-KR" sz="500" b="1" dirty="0" err="1">
                <a:latin typeface="+mn-ea"/>
              </a:rPr>
              <a:t>Vapp</a:t>
            </a:r>
            <a:endParaRPr kumimoji="1" lang="en-US" altLang="ko-Kore-KR" sz="500" b="1" dirty="0">
              <a:latin typeface="+mn-ea"/>
            </a:endParaRPr>
          </a:p>
        </p:txBody>
      </p:sp>
      <p:sp>
        <p:nvSpPr>
          <p:cNvPr id="22" name="사각형 설명선[R] 21">
            <a:extLst>
              <a:ext uri="{FF2B5EF4-FFF2-40B4-BE49-F238E27FC236}">
                <a16:creationId xmlns:a16="http://schemas.microsoft.com/office/drawing/2014/main" id="{987E06B3-A615-4CDA-76CC-2C75E3709CBB}"/>
              </a:ext>
            </a:extLst>
          </p:cNvPr>
          <p:cNvSpPr/>
          <p:nvPr/>
        </p:nvSpPr>
        <p:spPr>
          <a:xfrm>
            <a:off x="1493887" y="3033376"/>
            <a:ext cx="629728" cy="425816"/>
          </a:xfrm>
          <a:prstGeom prst="wedgeRectCallout">
            <a:avLst>
              <a:gd name="adj1" fmla="val -90045"/>
              <a:gd name="adj2" fmla="val 2895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8900ft ALT HOLD</a:t>
            </a:r>
          </a:p>
          <a:p>
            <a:pPr algn="ctr"/>
            <a:r>
              <a:rPr kumimoji="1" lang="en-US" altLang="ko-Kore-KR" sz="500" b="1" dirty="0">
                <a:solidFill>
                  <a:srgbClr val="C00000"/>
                </a:solidFill>
                <a:latin typeface="+mn-ea"/>
              </a:rPr>
              <a:t>D9.3</a:t>
            </a:r>
            <a:r>
              <a:rPr kumimoji="1" lang="en-US" altLang="ko-Kore-KR" sz="500" b="1" dirty="0">
                <a:latin typeface="+mn-ea"/>
              </a:rPr>
              <a:t> set GA ALT</a:t>
            </a:r>
          </a:p>
          <a:p>
            <a:pPr algn="ctr"/>
            <a:r>
              <a:rPr kumimoji="1" lang="en-US" altLang="ko-Kore-KR" sz="500" b="1" dirty="0">
                <a:solidFill>
                  <a:srgbClr val="0070C0"/>
                </a:solidFill>
                <a:latin typeface="+mn-ea"/>
              </a:rPr>
              <a:t>FPA -5.3 </a:t>
            </a:r>
            <a:r>
              <a:rPr kumimoji="1" lang="en-US" altLang="ko-Kore-KR" sz="500" b="1" dirty="0">
                <a:latin typeface="+mn-ea"/>
              </a:rPr>
              <a:t>Set &amp; Pull</a:t>
            </a:r>
          </a:p>
          <a:p>
            <a:pPr algn="ctr"/>
            <a:r>
              <a:rPr kumimoji="1" lang="en-US" altLang="ko-Kore-KR" sz="500" b="1" dirty="0">
                <a:latin typeface="+mn-ea"/>
              </a:rPr>
              <a:t>Monitor Pass ALT</a:t>
            </a:r>
          </a:p>
          <a:p>
            <a:pPr algn="ctr"/>
            <a:r>
              <a:rPr kumimoji="1" lang="en-US" altLang="ko-Kore-KR" sz="500" b="1" dirty="0">
                <a:solidFill>
                  <a:srgbClr val="FFC000"/>
                </a:solidFill>
                <a:latin typeface="+mn-ea"/>
              </a:rPr>
              <a:t>S/B Needed</a:t>
            </a:r>
          </a:p>
        </p:txBody>
      </p:sp>
      <p:sp>
        <p:nvSpPr>
          <p:cNvPr id="23" name="사각형 설명선[R] 22">
            <a:extLst>
              <a:ext uri="{FF2B5EF4-FFF2-40B4-BE49-F238E27FC236}">
                <a16:creationId xmlns:a16="http://schemas.microsoft.com/office/drawing/2014/main" id="{83359F3C-AF3A-DA6C-36D6-67863B6E87C3}"/>
              </a:ext>
            </a:extLst>
          </p:cNvPr>
          <p:cNvSpPr/>
          <p:nvPr/>
        </p:nvSpPr>
        <p:spPr>
          <a:xfrm>
            <a:off x="504101" y="2590795"/>
            <a:ext cx="565574" cy="245406"/>
          </a:xfrm>
          <a:prstGeom prst="wedgeRectCallout">
            <a:avLst>
              <a:gd name="adj1" fmla="val 112658"/>
              <a:gd name="adj2" fmla="val 3572"/>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At D3.0 </a:t>
            </a:r>
            <a:r>
              <a:rPr kumimoji="1" lang="en-US" altLang="ko-Kore-KR" sz="500" b="1" dirty="0">
                <a:solidFill>
                  <a:srgbClr val="0070C0"/>
                </a:solidFill>
                <a:latin typeface="+mn-ea"/>
              </a:rPr>
              <a:t>FPA -3</a:t>
            </a:r>
          </a:p>
          <a:p>
            <a:pPr algn="ctr"/>
            <a:r>
              <a:rPr kumimoji="1" lang="en-US" altLang="ko-Kore-KR" sz="500" b="1" dirty="0">
                <a:latin typeface="+mn-ea"/>
              </a:rPr>
              <a:t>Visual L/D </a:t>
            </a:r>
            <a:endParaRPr kumimoji="1" lang="en-US" altLang="ko-Kore-KR" sz="500" b="1" dirty="0">
              <a:solidFill>
                <a:srgbClr val="0070C0"/>
              </a:solidFill>
              <a:latin typeface="+mn-ea"/>
            </a:endParaRPr>
          </a:p>
        </p:txBody>
      </p:sp>
    </p:spTree>
    <p:extLst>
      <p:ext uri="{BB962C8B-B14F-4D97-AF65-F5344CB8AC3E}">
        <p14:creationId xmlns:p14="http://schemas.microsoft.com/office/powerpoint/2010/main" val="233813534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FDE56-44CF-F935-238C-E81DD605CE8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2010E56-BB7C-8742-E1CB-A952F04C1A8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2841EA3-CF1C-1CDC-8082-F654897399B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615A7259-F6FB-9C60-6F07-A9A70FBFE2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8820AF4-CD92-ED9B-2FD4-774ECFEC4193}"/>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46324274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AD34735C-D647-24C0-01B4-EE72DD3E7615}"/>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F6B90DD3-A8DC-C08B-7F3E-9FE138C327F6}"/>
              </a:ext>
            </a:extLst>
          </p:cNvPr>
          <p:cNvGraphicFramePr/>
          <p:nvPr>
            <p:extLst>
              <p:ext uri="{D42A27DB-BD31-4B8C-83A1-F6EECF244321}">
                <p14:modId xmlns:p14="http://schemas.microsoft.com/office/powerpoint/2010/main" val="2767880240"/>
              </p:ext>
            </p:extLst>
          </p:nvPr>
        </p:nvGraphicFramePr>
        <p:xfrm>
          <a:off x="-2500" y="597552"/>
          <a:ext cx="2330298" cy="1696930"/>
        </p:xfrm>
        <a:graphic>
          <a:graphicData uri="http://schemas.openxmlformats.org/drawingml/2006/table">
            <a:tbl>
              <a:tblPr firstRow="1" bandRow="1">
                <a:noFill/>
                <a:tableStyleId>{A521BE36-7E6F-4EC9-8D66-1CF97A6895EC}</a:tableStyleId>
              </a:tblPr>
              <a:tblGrid>
                <a:gridCol w="215736">
                  <a:extLst>
                    <a:ext uri="{9D8B030D-6E8A-4147-A177-3AD203B41FA5}">
                      <a16:colId xmlns:a16="http://schemas.microsoft.com/office/drawing/2014/main" val="20000"/>
                    </a:ext>
                  </a:extLst>
                </a:gridCol>
                <a:gridCol w="958741">
                  <a:extLst>
                    <a:ext uri="{9D8B030D-6E8A-4147-A177-3AD203B41FA5}">
                      <a16:colId xmlns:a16="http://schemas.microsoft.com/office/drawing/2014/main" val="20001"/>
                    </a:ext>
                  </a:extLst>
                </a:gridCol>
                <a:gridCol w="1155821">
                  <a:extLst>
                    <a:ext uri="{9D8B030D-6E8A-4147-A177-3AD203B41FA5}">
                      <a16:colId xmlns:a16="http://schemas.microsoft.com/office/drawing/2014/main" val="768624876"/>
                    </a:ext>
                  </a:extLst>
                </a:gridCol>
              </a:tblGrid>
              <a:tr h="347488">
                <a:tc gridSpan="3">
                  <a:txBody>
                    <a:bodyPr/>
                    <a:lstStyle/>
                    <a:p>
                      <a:pPr marL="0" marR="0" lvl="0" indent="0" algn="ctr" rtl="0">
                        <a:spcBef>
                          <a:spcPts val="0"/>
                        </a:spcBef>
                        <a:spcAft>
                          <a:spcPts val="0"/>
                        </a:spcAft>
                        <a:buNone/>
                      </a:pPr>
                      <a:r>
                        <a:rPr lang="en-US" sz="800" u="none" strike="noStrike" cap="none" dirty="0"/>
                        <a:t>KTM : SID (NADP 1) UTC+5:45 TA 135  </a:t>
                      </a:r>
                    </a:p>
                    <a:p>
                      <a:pPr marL="0" marR="0" lvl="0" indent="0" algn="ctr" rtl="0">
                        <a:spcBef>
                          <a:spcPts val="0"/>
                        </a:spcBef>
                        <a:spcAft>
                          <a:spcPts val="0"/>
                        </a:spcAft>
                        <a:buNone/>
                      </a:pPr>
                      <a:r>
                        <a:rPr lang="en-US" sz="800" u="none" strike="noStrike" cap="none" dirty="0">
                          <a:solidFill>
                            <a:srgbClr val="FFC000"/>
                          </a:solidFill>
                        </a:rPr>
                        <a:t>Req ADC &amp; FIC, P/B with POB, </a:t>
                      </a:r>
                      <a:r>
                        <a:rPr lang="en-US" sz="800" u="none" strike="noStrike" cap="none" dirty="0">
                          <a:solidFill>
                            <a:srgbClr val="00B0F0"/>
                          </a:solidFill>
                        </a:rPr>
                        <a:t>Intersection A,E</a:t>
                      </a:r>
                    </a:p>
                    <a:p>
                      <a:pPr marL="0" marR="0" lvl="0" indent="0" algn="ctr" rtl="0">
                        <a:spcBef>
                          <a:spcPts val="0"/>
                        </a:spcBef>
                        <a:spcAft>
                          <a:spcPts val="0"/>
                        </a:spcAft>
                        <a:buNone/>
                      </a:pPr>
                      <a:r>
                        <a:rPr lang="en-US" sz="800" u="none" strike="noStrike" cap="none" dirty="0">
                          <a:solidFill>
                            <a:schemeClr val="bg1"/>
                          </a:solidFill>
                        </a:rPr>
                        <a:t>if </a:t>
                      </a:r>
                      <a:r>
                        <a:rPr lang="en-US" sz="800" u="none" strike="noStrike" cap="none" dirty="0" err="1">
                          <a:solidFill>
                            <a:schemeClr val="bg1"/>
                          </a:solidFill>
                        </a:rPr>
                        <a:t>Wx</a:t>
                      </a:r>
                      <a:r>
                        <a:rPr lang="en-US" sz="800" u="none" strike="noStrike" cap="none" dirty="0">
                          <a:solidFill>
                            <a:schemeClr val="bg1"/>
                          </a:solidFill>
                        </a:rPr>
                        <a:t> is Severe, Stand-by at GATE</a:t>
                      </a:r>
                    </a:p>
                  </a:txBody>
                  <a:tcPr marL="36000" marR="72000" marT="45725" marB="45725"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47383">
                <a:tc>
                  <a:txBody>
                    <a:bodyPr/>
                    <a:lstStyle/>
                    <a:p>
                      <a:pPr marL="0" marR="0" lvl="0" indent="0" algn="ctr" rtl="0">
                        <a:spcBef>
                          <a:spcPts val="0"/>
                        </a:spcBef>
                        <a:spcAft>
                          <a:spcPts val="0"/>
                        </a:spcAft>
                        <a:buNone/>
                      </a:pPr>
                      <a:r>
                        <a:rPr lang="en-US" altLang="ko-KR" sz="800" b="1" u="none" strike="noStrike" cap="none" dirty="0"/>
                        <a:t>20</a:t>
                      </a:r>
                      <a:endParaRPr lang="en-US"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IGRIS x A</a:t>
                      </a:r>
                      <a:endParaRPr lang="en-US" sz="800" b="0" u="none" strike="noStrike" cap="none" dirty="0">
                        <a:solidFill>
                          <a:schemeClr val="bg1"/>
                        </a:solidFill>
                      </a:endParaRPr>
                    </a:p>
                  </a:txBody>
                  <a:tcPr marL="0" marR="0" marT="36000" marB="36000" anchor="ctr"/>
                </a:tc>
                <a:tc>
                  <a:txBody>
                    <a:bodyPr/>
                    <a:lstStyle/>
                    <a:p>
                      <a:pPr algn="ctr"/>
                      <a:r>
                        <a:rPr lang="en-US" sz="800" b="1" u="none" strike="noStrike" cap="none"/>
                        <a:t>HD 202 </a:t>
                      </a:r>
                      <a:r>
                        <a:rPr lang="en-US" sz="800" b="1" u="none" strike="noStrike" cap="none">
                          <a:solidFill>
                            <a:srgbClr val="0070C0"/>
                          </a:solidFill>
                        </a:rPr>
                        <a:t>ALT ATC </a:t>
                      </a:r>
                      <a:r>
                        <a:rPr lang="en-US" sz="800" b="1" u="none" strike="noStrike" cap="none">
                          <a:solidFill>
                            <a:srgbClr val="F28943"/>
                          </a:solidFill>
                        </a:rPr>
                        <a:t>TA 13500</a:t>
                      </a:r>
                      <a:endParaRPr lang="ko-Kore-KR" altLang="en-US"/>
                    </a:p>
                  </a:txBody>
                  <a:tcPr marL="0" marR="0" marT="36000" marB="36000" anchor="ctr"/>
                </a:tc>
                <a:extLst>
                  <a:ext uri="{0D108BD9-81ED-4DB2-BD59-A6C34878D82A}">
                    <a16:rowId xmlns:a16="http://schemas.microsoft.com/office/drawing/2014/main" val="10001"/>
                  </a:ext>
                </a:extLst>
              </a:tr>
              <a:tr h="147383">
                <a:tc>
                  <a:txBody>
                    <a:bodyPr/>
                    <a:lstStyle/>
                    <a:p>
                      <a:pPr marL="0" marR="0" lvl="0" indent="0" algn="ctr" rtl="0">
                        <a:spcBef>
                          <a:spcPts val="0"/>
                        </a:spcBef>
                        <a:spcAft>
                          <a:spcPts val="0"/>
                        </a:spcAft>
                        <a:buNone/>
                      </a:pPr>
                      <a:r>
                        <a:rPr lang="en-US" sz="800" b="1" u="none" strike="noStrike" cap="none" dirty="0"/>
                        <a:t>02</a:t>
                      </a:r>
                      <a:endParaRPr sz="800" b="1" u="none" strike="noStrike" cap="none" dirty="0"/>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0070C0"/>
                          </a:solidFill>
                        </a:rPr>
                        <a:t>IGRIS x B</a:t>
                      </a:r>
                      <a:endParaRPr lang="en-US" altLang="ko-Kore-KR" sz="800" b="0" u="none" strike="noStrike" cap="none" dirty="0">
                        <a:solidFill>
                          <a:schemeClr val="bg1"/>
                        </a:solidFill>
                      </a:endParaRPr>
                    </a:p>
                  </a:txBody>
                  <a:tcPr marL="0" marR="0" marT="36000" marB="36000" anchor="ctr"/>
                </a:tc>
                <a:tc>
                  <a:txBody>
                    <a:bodyPr/>
                    <a:lstStyle/>
                    <a:p>
                      <a:pPr algn="ctr"/>
                      <a:r>
                        <a:rPr lang="en-US" sz="800" b="1" u="none" strike="noStrike" cap="none" dirty="0"/>
                        <a:t>HD 022 </a:t>
                      </a:r>
                      <a:r>
                        <a:rPr lang="en-US" sz="800" b="1" u="none" strike="noStrike" cap="none" dirty="0">
                          <a:solidFill>
                            <a:srgbClr val="0070C0"/>
                          </a:solidFill>
                        </a:rPr>
                        <a:t>ALT ATC </a:t>
                      </a:r>
                      <a:r>
                        <a:rPr lang="en-US" altLang="ko-Kore-KR" sz="800" b="1" u="none" strike="noStrike" cap="none" dirty="0">
                          <a:solidFill>
                            <a:srgbClr val="F28943"/>
                          </a:solidFill>
                        </a:rPr>
                        <a:t>TA 13500</a:t>
                      </a:r>
                      <a:endParaRPr lang="ko-Kore-KR" altLang="en-US" dirty="0"/>
                    </a:p>
                  </a:txBody>
                  <a:tcPr marL="0" marR="0" marT="36000" marB="36000" anchor="ctr"/>
                </a:tc>
                <a:extLst>
                  <a:ext uri="{0D108BD9-81ED-4DB2-BD59-A6C34878D82A}">
                    <a16:rowId xmlns:a16="http://schemas.microsoft.com/office/drawing/2014/main" val="10002"/>
                  </a:ext>
                </a:extLst>
              </a:tr>
              <a:tr h="14738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KTM 113.2</a:t>
                      </a:r>
                    </a:p>
                  </a:txBody>
                  <a:tcPr marL="36000" marR="36000" marT="36000" marB="36000" anchor="ctr"/>
                </a:tc>
                <a:tc hMerge="1">
                  <a:txBody>
                    <a:bodyPr/>
                    <a:lstStyle/>
                    <a:p>
                      <a:endParaRPr lang="ko-Kore-KR" altLang="en-US"/>
                    </a:p>
                  </a:txBody>
                  <a:tcP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02 IKT 108.1</a:t>
                      </a:r>
                      <a:endParaRPr lang="ko-Kore-KR" altLang="en-US" dirty="0"/>
                    </a:p>
                  </a:txBody>
                  <a:tcPr marL="36000" marR="36000" marT="36000" marB="36000" anchor="ctr"/>
                </a:tc>
                <a:extLst>
                  <a:ext uri="{0D108BD9-81ED-4DB2-BD59-A6C34878D82A}">
                    <a16:rowId xmlns:a16="http://schemas.microsoft.com/office/drawing/2014/main" val="1446403819"/>
                  </a:ext>
                </a:extLst>
              </a:tr>
              <a:tr h="147383">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cs typeface="Calibri"/>
                        </a:rPr>
                        <a:t>20 : KTM /4, R340, R288</a:t>
                      </a:r>
                      <a:endParaRPr kumimoji="0" lang="en-US" altLang="ko-Kore-KR" sz="4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02 : KTM /3, R288</a:t>
                      </a:r>
                    </a:p>
                  </a:txBody>
                  <a:tcPr marL="36000" marR="36000" marT="36000" marB="36000" anchor="ctr"/>
                </a:tc>
                <a:extLst>
                  <a:ext uri="{0D108BD9-81ED-4DB2-BD59-A6C34878D82A}">
                    <a16:rowId xmlns:a16="http://schemas.microsoft.com/office/drawing/2014/main" val="3014284346"/>
                  </a:ext>
                </a:extLst>
              </a:tr>
              <a:tr h="147383">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500" b="1" i="0" u="none" strike="noStrike" kern="1200" cap="none" spc="0" normalizeH="0" baseline="0" noProof="0" dirty="0">
                          <a:ln>
                            <a:noFill/>
                          </a:ln>
                          <a:solidFill>
                            <a:srgbClr val="C00000"/>
                          </a:solidFill>
                          <a:effectLst/>
                          <a:uLnTx/>
                          <a:uFillTx/>
                          <a:latin typeface="Calibri"/>
                          <a:cs typeface="Calibri"/>
                        </a:rPr>
                        <a:t>Maintain CONF Until 10500ft, 8000ft LVR MCT (Limit 10min)</a:t>
                      </a:r>
                    </a:p>
                  </a:txBody>
                  <a:tcPr marL="36000" marR="36000" marT="36000" marB="36000" anchor="ctr"/>
                </a:tc>
                <a:tc hMerge="1">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60757442"/>
                  </a:ext>
                </a:extLst>
              </a:tr>
              <a:tr h="240044">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C000"/>
                          </a:solidFill>
                        </a:rPr>
                        <a:t>RW20 Takeoff at Painted Threshold</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C00000"/>
                          </a:solidFill>
                        </a:rPr>
                        <a:t>D2.5 KTM/KTM Turn Even Below 400ft (Max 180kts)</a:t>
                      </a:r>
                    </a:p>
                  </a:txBody>
                  <a:tcPr marL="0" marR="0" marT="36000" marB="36000"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4172A3F3-B863-E542-A274-B740D6A28EB1}"/>
              </a:ext>
            </a:extLst>
          </p:cNvPr>
          <p:cNvGraphicFramePr/>
          <p:nvPr>
            <p:extLst>
              <p:ext uri="{D42A27DB-BD31-4B8C-83A1-F6EECF244321}">
                <p14:modId xmlns:p14="http://schemas.microsoft.com/office/powerpoint/2010/main" val="830186955"/>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VNKT(KTM</a:t>
                      </a:r>
                      <a:r>
                        <a:rPr kumimoji="0" lang="en-US" altLang="ko-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)4395ft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Nepal Airline Corp. 131.6 </a:t>
                      </a:r>
                      <a:r>
                        <a:rPr kumimoji="0" lang="en-US" altLang="ko-Kore-KR" sz="800" b="1" i="0" u="none" strike="noStrike" kern="1200" cap="none" spc="0" normalizeH="0" baseline="0" noProof="0" dirty="0">
                          <a:ln>
                            <a:noFill/>
                          </a:ln>
                          <a:solidFill>
                            <a:srgbClr val="C00000"/>
                          </a:solidFill>
                          <a:effectLst/>
                          <a:uLnTx/>
                          <a:uFillTx/>
                          <a:latin typeface="Calibri"/>
                          <a:cs typeface="Calibri"/>
                        </a:rPr>
                        <a:t>No DATIS, Boarding ATC</a:t>
                      </a:r>
                      <a:endParaRPr kumimoji="0" lang="en-US" altLang="ko-Kore-KR" sz="900" b="1" i="0" u="none" strike="noStrike" kern="1200" cap="none" spc="0" normalizeH="0" baseline="0" noProof="0" dirty="0">
                        <a:ln>
                          <a:noFill/>
                        </a:ln>
                        <a:solidFill>
                          <a:srgbClr val="C00000"/>
                        </a:solidFill>
                        <a:effectLst/>
                        <a:uLnTx/>
                        <a:uFillTx/>
                        <a:latin typeface="Calibri"/>
                        <a:cs typeface="Calibri"/>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08F0D27B-A230-0F40-B0F3-FA52596D4A78}"/>
              </a:ext>
            </a:extLst>
          </p:cNvPr>
          <p:cNvSpPr txBox="1"/>
          <p:nvPr/>
        </p:nvSpPr>
        <p:spPr>
          <a:xfrm>
            <a:off x="-24198" y="2391194"/>
            <a:ext cx="2438488"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                           DEP 120.6</a:t>
            </a:r>
          </a:p>
          <a:p>
            <a:pPr>
              <a:lnSpc>
                <a:spcPct val="150000"/>
              </a:lnSpc>
            </a:pPr>
            <a:r>
              <a:rPr kumimoji="1" lang="en-US" altLang="ko-Kore-KR" sz="700" b="1" u="sng" dirty="0">
                <a:latin typeface="Gulim" panose="020B0600000101010101" pitchFamily="34" charset="-127"/>
                <a:ea typeface="Gulim" panose="020B0600000101010101" pitchFamily="34" charset="-127"/>
              </a:rPr>
              <a:t>                           CPDLC VECF, VYYF</a:t>
            </a:r>
          </a:p>
          <a:p>
            <a:pPr>
              <a:lnSpc>
                <a:spcPct val="150000"/>
              </a:lnSpc>
            </a:pPr>
            <a:r>
              <a:rPr kumimoji="1" lang="en-US" altLang="ko-Kore-KR" sz="700" b="1"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 -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Radio Problem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u="sng" dirty="0">
                <a:solidFill>
                  <a:srgbClr val="FFC000"/>
                </a:solidFill>
                <a:latin typeface="Gulim" panose="020B0600000101010101" pitchFamily="34" charset="-127"/>
                <a:ea typeface="Gulim" panose="020B0600000101010101" pitchFamily="34" charset="-127"/>
              </a:rPr>
              <a:t>- -80NM KTM FIR to Kolkata FIR +30NM</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47B4337E-9610-BA91-576D-CE6091098AE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E2C2462-D852-CA0F-4189-70D9F86116FC}"/>
              </a:ext>
            </a:extLst>
          </p:cNvPr>
          <p:cNvGraphicFramePr/>
          <p:nvPr>
            <p:extLst>
              <p:ext uri="{D42A27DB-BD31-4B8C-83A1-F6EECF244321}">
                <p14:modId xmlns:p14="http://schemas.microsoft.com/office/powerpoint/2010/main" val="700250059"/>
              </p:ext>
            </p:extLst>
          </p:nvPr>
        </p:nvGraphicFramePr>
        <p:xfrm>
          <a:off x="11589" y="355620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8D7EE267-C02A-83CF-0254-EA24D2656D5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7B000F7F-F813-BE10-D64A-8391F9AD8B72}"/>
              </a:ext>
            </a:extLst>
          </p:cNvPr>
          <p:cNvPicPr>
            <a:picLocks noChangeAspect="1"/>
          </p:cNvPicPr>
          <p:nvPr/>
        </p:nvPicPr>
        <p:blipFill>
          <a:blip r:embed="rId8"/>
          <a:stretch>
            <a:fillRect/>
          </a:stretch>
        </p:blipFill>
        <p:spPr>
          <a:xfrm>
            <a:off x="-2501" y="2309619"/>
            <a:ext cx="827468" cy="610666"/>
          </a:xfrm>
          <a:prstGeom prst="rect">
            <a:avLst/>
          </a:prstGeom>
        </p:spPr>
      </p:pic>
    </p:spTree>
    <p:extLst>
      <p:ext uri="{BB962C8B-B14F-4D97-AF65-F5344CB8AC3E}">
        <p14:creationId xmlns:p14="http://schemas.microsoft.com/office/powerpoint/2010/main" val="352747426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252617"/>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065144"/>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56654" y="5086053"/>
            <a:ext cx="457200" cy="457200"/>
          </a:xfrm>
          <a:prstGeom prst="rect">
            <a:avLst/>
          </a:prstGeom>
          <a:effectLst>
            <a:outerShdw blurRad="50800" dist="50800" dir="3660000" algn="ctr" rotWithShape="0">
              <a:schemeClr val="bg1">
                <a:alpha val="82714"/>
              </a:schemeClr>
            </a:outerShdw>
          </a:effectLst>
        </p:spPr>
      </p:pic>
      <p:pic>
        <p:nvPicPr>
          <p:cNvPr id="17" name="그림 16" descr="스크린샷, 텍스트, 폰트, 디자인이(가) 표시된 사진&#10;&#10;자동 생성된 설명">
            <a:extLst>
              <a:ext uri="{FF2B5EF4-FFF2-40B4-BE49-F238E27FC236}">
                <a16:creationId xmlns:a16="http://schemas.microsoft.com/office/drawing/2014/main" id="{6CE49F10-0CCB-850F-389F-505179BFF037}"/>
              </a:ext>
            </a:extLst>
          </p:cNvPr>
          <p:cNvPicPr>
            <a:picLocks noChangeAspect="1"/>
          </p:cNvPicPr>
          <p:nvPr/>
        </p:nvPicPr>
        <p:blipFill>
          <a:blip r:embed="rId7"/>
          <a:stretch>
            <a:fillRect/>
          </a:stretch>
        </p:blipFill>
        <p:spPr>
          <a:xfrm>
            <a:off x="111519" y="4814850"/>
            <a:ext cx="790437" cy="705356"/>
          </a:xfrm>
          <a:prstGeom prst="rect">
            <a:avLst/>
          </a:prstGeom>
        </p:spPr>
      </p:pic>
      <p:pic>
        <p:nvPicPr>
          <p:cNvPr id="19" name="그림 18" descr="스크린샷, 원, 로고, 디자인이(가) 표시된 사진&#10;&#10;자동 생성된 설명">
            <a:extLst>
              <a:ext uri="{FF2B5EF4-FFF2-40B4-BE49-F238E27FC236}">
                <a16:creationId xmlns:a16="http://schemas.microsoft.com/office/drawing/2014/main" id="{7B420F84-AAA2-8201-B1C8-64DCCCB2F211}"/>
              </a:ext>
            </a:extLst>
          </p:cNvPr>
          <p:cNvPicPr>
            <a:picLocks noChangeAspect="1"/>
          </p:cNvPicPr>
          <p:nvPr/>
        </p:nvPicPr>
        <p:blipFill>
          <a:blip r:embed="rId8"/>
          <a:stretch>
            <a:fillRect/>
          </a:stretch>
        </p:blipFill>
        <p:spPr>
          <a:xfrm>
            <a:off x="1476436" y="4814849"/>
            <a:ext cx="736625" cy="715318"/>
          </a:xfrm>
          <a:prstGeom prst="rect">
            <a:avLst/>
          </a:prstGeom>
        </p:spPr>
      </p:pic>
    </p:spTree>
    <p:extLst>
      <p:ext uri="{BB962C8B-B14F-4D97-AF65-F5344CB8AC3E}">
        <p14:creationId xmlns:p14="http://schemas.microsoft.com/office/powerpoint/2010/main" val="398590726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594004568"/>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r>
                        <a:rPr lang="ko-KR" altLang="en-US" sz="600" b="1"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600" b="1" u="sng" dirty="0">
                          <a:solidFill>
                            <a:srgbClr val="C00000"/>
                          </a:solidFill>
                          <a:latin typeface="+mn-ea"/>
                          <a:ea typeface="+mn-ea"/>
                          <a:cs typeface="Arial" panose="020B0604020202020204" pitchFamily="34" charset="0"/>
                          <a:sym typeface="Helvetica Neue"/>
                        </a:rPr>
                        <a:t>OFF L/T </a:t>
                      </a:r>
                      <a:r>
                        <a:rPr lang="ko-KR" altLang="en-US" sz="600" b="1" u="sng" dirty="0" err="1">
                          <a:solidFill>
                            <a:srgbClr val="C00000"/>
                          </a:solidFill>
                          <a:latin typeface="+mn-ea"/>
                          <a:ea typeface="+mn-ea"/>
                          <a:cs typeface="Arial" panose="020B0604020202020204" pitchFamily="34" charset="0"/>
                          <a:sym typeface="Helvetica Neue"/>
                        </a:rPr>
                        <a:t>들어와야함</a:t>
                      </a:r>
                      <a:r>
                        <a:rPr lang="en-US" altLang="ko-KR" sz="600" b="1" u="sng" dirty="0">
                          <a:solidFill>
                            <a:srgbClr val="C00000"/>
                          </a:solidFill>
                          <a:latin typeface="+mn-ea"/>
                          <a:ea typeface="+mn-ea"/>
                          <a:cs typeface="Arial" panose="020B0604020202020204" pitchFamily="34" charset="0"/>
                          <a:sym typeface="Helvetica Neue"/>
                        </a:rPr>
                        <a:t>.</a:t>
                      </a:r>
                      <a:r>
                        <a:rPr lang="ko-KR" altLang="en-US" sz="600" b="1" u="sng" dirty="0">
                          <a:solidFill>
                            <a:srgbClr val="C00000"/>
                          </a:solidFill>
                          <a:latin typeface="+mn-ea"/>
                          <a:ea typeface="+mn-ea"/>
                          <a:cs typeface="Arial" panose="020B0604020202020204" pitchFamily="34" charset="0"/>
                          <a:sym typeface="Helvetica Neue"/>
                        </a:rPr>
                        <a:t> </a:t>
                      </a:r>
                      <a:endParaRPr lang="en-US" sz="600" b="1" u="sng" dirty="0">
                        <a:solidFill>
                          <a:srgbClr val="C00000"/>
                        </a:solidFill>
                        <a:latin typeface="+mn-ea"/>
                        <a:ea typeface="+mn-ea"/>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 </a:t>
                      </a:r>
                      <a:r>
                        <a:rPr kumimoji="0" lang="en-US" altLang="ko-Kore-KR" sz="800" b="1" i="0" u="none" strike="noStrike" kern="1200" cap="none" spc="0" normalizeH="0" baseline="0" noProof="0" dirty="0">
                          <a:ln>
                            <a:noFill/>
                          </a:ln>
                          <a:solidFill>
                            <a:srgbClr val="C00000"/>
                          </a:solidFill>
                          <a:effectLst/>
                          <a:uLnTx/>
                          <a:uFillTx/>
                          <a:latin typeface="+mn-ea"/>
                          <a:ea typeface="+mn-ea"/>
                          <a:cs typeface="Arial" panose="020B0604020202020204" pitchFamily="34" charset="0"/>
                          <a:sym typeface="Helvetica Neue"/>
                        </a:rPr>
                        <a:t>AVOD </a:t>
                      </a:r>
                      <a:r>
                        <a:rPr kumimoji="0" lang="ko-KR" altLang="en-US" sz="800" b="1" i="0" u="none" strike="noStrike" kern="1200" cap="none" spc="0" normalizeH="0" baseline="0" noProof="0" dirty="0">
                          <a:ln>
                            <a:noFill/>
                          </a:ln>
                          <a:solidFill>
                            <a:srgbClr val="C00000"/>
                          </a:solidFill>
                          <a:effectLst/>
                          <a:uLnTx/>
                          <a:uFillTx/>
                          <a:latin typeface="+mn-ea"/>
                          <a:ea typeface="+mn-ea"/>
                          <a:cs typeface="Arial" panose="020B0604020202020204" pitchFamily="34" charset="0"/>
                          <a:sym typeface="Helvetica Neue"/>
                        </a:rPr>
                        <a:t>다 꺼짐</a:t>
                      </a:r>
                      <a:endParaRPr kumimoji="0" lang="en-US" altLang="ko-Kore-KR" sz="800" b="1" i="0" u="none" strike="noStrike" kern="1200" cap="none" spc="0" normalizeH="0" baseline="0" noProof="0" dirty="0">
                        <a:ln>
                          <a:noFill/>
                        </a:ln>
                        <a:solidFill>
                          <a:srgbClr val="C00000"/>
                        </a:solidFill>
                        <a:effectLst/>
                        <a:uLnTx/>
                        <a:uFillTx/>
                        <a:latin typeface="+mn-ea"/>
                        <a:ea typeface="+mn-ea"/>
                        <a:cs typeface="Arial" panose="020B0604020202020204" pitchFamily="34" charset="0"/>
                        <a:sym typeface="Helvetica Neue"/>
                      </a:endParaRP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r>
                        <a:rPr kumimoji="0" lang="en-US" altLang="ko-Kore-KR" sz="700" b="1" i="0" u="sng"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EXT PWR – AVAIL first!!!</a:t>
                      </a:r>
                      <a:endParaRPr kumimoji="0" lang="en-US" altLang="ko-Kore-KR" sz="500" b="1" i="0" u="sng"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A907B538-5DA4-6C49-F1EC-F2EA24F5DEA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94267</TotalTime>
  <Words>29679</Words>
  <Application>Microsoft Macintosh PowerPoint</Application>
  <PresentationFormat>사용자 지정</PresentationFormat>
  <Paragraphs>7241</Paragraphs>
  <Slides>128</Slides>
  <Notes>114</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128</vt:i4>
      </vt:variant>
    </vt:vector>
  </HeadingPairs>
  <TitlesOfParts>
    <vt:vector size="138" baseType="lpstr">
      <vt:lpstr>Helvetica Neue</vt:lpstr>
      <vt:lpstr>Century Gothic</vt:lpstr>
      <vt:lpstr>Calibri</vt:lpstr>
      <vt:lpstr>Cambria Math</vt:lpstr>
      <vt:lpstr>Lato</vt:lpstr>
      <vt:lpstr>Britannic Bold</vt:lpstr>
      <vt:lpstr>맑은 고딕</vt:lpstr>
      <vt:lpstr>Gulim</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634</cp:revision>
  <dcterms:created xsi:type="dcterms:W3CDTF">2022-05-17T08:00:10Z</dcterms:created>
  <dcterms:modified xsi:type="dcterms:W3CDTF">2026-03-25T08:24:34Z</dcterms:modified>
</cp:coreProperties>
</file>